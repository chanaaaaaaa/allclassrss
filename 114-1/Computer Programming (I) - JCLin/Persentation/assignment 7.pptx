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2"/>
  </p:notesMasterIdLst>
  <p:handoutMasterIdLst>
    <p:handoutMasterId r:id="rId33"/>
  </p:handoutMasterIdLst>
  <p:sldIdLst>
    <p:sldId id="808" r:id="rId2"/>
    <p:sldId id="969" r:id="rId3"/>
    <p:sldId id="970" r:id="rId4"/>
    <p:sldId id="971" r:id="rId5"/>
    <p:sldId id="972" r:id="rId6"/>
    <p:sldId id="919" r:id="rId7"/>
    <p:sldId id="922" r:id="rId8"/>
    <p:sldId id="923" r:id="rId9"/>
    <p:sldId id="926" r:id="rId10"/>
    <p:sldId id="921" r:id="rId11"/>
    <p:sldId id="928" r:id="rId12"/>
    <p:sldId id="929" r:id="rId13"/>
    <p:sldId id="932" r:id="rId14"/>
    <p:sldId id="934" r:id="rId15"/>
    <p:sldId id="935" r:id="rId16"/>
    <p:sldId id="936" r:id="rId17"/>
    <p:sldId id="937" r:id="rId18"/>
    <p:sldId id="938" r:id="rId19"/>
    <p:sldId id="939" r:id="rId20"/>
    <p:sldId id="940" r:id="rId21"/>
    <p:sldId id="941" r:id="rId22"/>
    <p:sldId id="942" r:id="rId23"/>
    <p:sldId id="943" r:id="rId24"/>
    <p:sldId id="944" r:id="rId25"/>
    <p:sldId id="945" r:id="rId26"/>
    <p:sldId id="946" r:id="rId27"/>
    <p:sldId id="947" r:id="rId28"/>
    <p:sldId id="948" r:id="rId29"/>
    <p:sldId id="949" r:id="rId30"/>
    <p:sldId id="950" r:id="rId31"/>
  </p:sldIdLst>
  <p:sldSz cx="9144000" cy="6858000" type="screen4x3"/>
  <p:notesSz cx="7010400" cy="9199563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1pPr>
    <a:lvl2pPr marL="4572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2pPr>
    <a:lvl3pPr marL="9144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3pPr>
    <a:lvl4pPr marL="13716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4pPr>
    <a:lvl5pPr marL="1828800" algn="ctr" rtl="0" fontAlgn="base">
      <a:spcBef>
        <a:spcPct val="50000"/>
      </a:spcBef>
      <a:spcAft>
        <a:spcPct val="0"/>
      </a:spcAft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itchFamily="49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3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9" autoAdjust="0"/>
    <p:restoredTop sz="94637" autoAdjust="0"/>
  </p:normalViewPr>
  <p:slideViewPr>
    <p:cSldViewPr showGuides="1">
      <p:cViewPr varScale="1">
        <p:scale>
          <a:sx n="95" d="100"/>
          <a:sy n="95" d="100"/>
        </p:scale>
        <p:origin x="125" y="58"/>
      </p:cViewPr>
      <p:guideLst>
        <p:guide orient="horz" pos="73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26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t" anchorCtr="0" compatLnSpc="1">
            <a:prstTxWarp prst="textNoShape">
              <a:avLst/>
            </a:prstTxWarp>
          </a:bodyPr>
          <a:lstStyle>
            <a:lvl1pPr algn="l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9188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b" anchorCtr="0" compatLnSpc="1">
            <a:prstTxWarp prst="textNoShape">
              <a:avLst/>
            </a:prstTxWarp>
          </a:bodyPr>
          <a:lstStyle>
            <a:lvl1pPr algn="l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39188"/>
            <a:ext cx="30384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20" tIns="46310" rIns="92620" bIns="46310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17456A38-10EA-45D7-A65B-673B8D5382D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0005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427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181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5427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endParaRPr lang="en-US" altLang="zh-TW"/>
          </a:p>
        </p:txBody>
      </p:sp>
      <p:sp>
        <p:nvSpPr>
          <p:cNvPr id="5427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7630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fld id="{7D753045-8815-4174-A5C7-AFFCEFE8F4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62699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91640" y="2709000"/>
            <a:ext cx="5760720" cy="14400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849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2000" y="189000"/>
            <a:ext cx="8280000" cy="1080000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448999"/>
            <a:ext cx="8280000" cy="4140001"/>
          </a:xfrm>
        </p:spPr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000" y="189000"/>
            <a:ext cx="7920000" cy="1080000"/>
          </a:xfrm>
        </p:spPr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1448999"/>
            <a:ext cx="6120000" cy="1800001"/>
          </a:xfrm>
        </p:spPr>
        <p:txBody>
          <a:bodyPr/>
          <a:lstStyle>
            <a:lvl1pPr marL="0" indent="0"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120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8641"/>
            <a:ext cx="8280000" cy="576072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3845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000" y="548641"/>
            <a:ext cx="7200000" cy="5760720"/>
          </a:xfrm>
        </p:spPr>
        <p:txBody>
          <a:bodyPr lIns="90000" rIns="90000"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042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31820" y="548639"/>
            <a:ext cx="2880360" cy="72009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0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8280000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324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549000"/>
            <a:ext cx="7560000" cy="30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7207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2000" y="549000"/>
            <a:ext cx="6840000" cy="19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990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2000" y="549000"/>
            <a:ext cx="6300000" cy="21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56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234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3066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69000"/>
            <a:ext cx="6660000" cy="30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>
                <a:latin typeface="Lucida Console" panose="020B0609040504020204" pitchFamily="49" charset="0"/>
                <a:cs typeface="Courier New" panose="020703090202050204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1290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2000" y="189000"/>
            <a:ext cx="864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2000" y="1448999"/>
            <a:ext cx="8640000" cy="5040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3" r:id="rId2"/>
    <p:sldLayoutId id="2147483669" r:id="rId3"/>
    <p:sldLayoutId id="2147483659" r:id="rId4"/>
    <p:sldLayoutId id="2147483665" r:id="rId5"/>
    <p:sldLayoutId id="2147483664" r:id="rId6"/>
    <p:sldLayoutId id="2147483663" r:id="rId7"/>
    <p:sldLayoutId id="2147483662" r:id="rId8"/>
    <p:sldLayoutId id="2147483661" r:id="rId9"/>
    <p:sldLayoutId id="2147483667" r:id="rId10"/>
    <p:sldLayoutId id="2147483666" r:id="rId11"/>
    <p:sldLayoutId id="2147483668" r:id="rId12"/>
    <p:sldLayoutId id="2147483657" r:id="rId13"/>
    <p:sldLayoutId id="2147483658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itchFamily="18" charset="0"/>
        </a:defRPr>
      </a:lvl9pPr>
    </p:titleStyle>
    <p:bodyStyle>
      <a:lvl1pPr marL="0" indent="0" algn="l" rtl="0" fontAlgn="base">
        <a:spcBef>
          <a:spcPts val="0"/>
        </a:spcBef>
        <a:spcAft>
          <a:spcPct val="0"/>
        </a:spcAft>
        <a:buFontTx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ts val="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ts val="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ts val="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ts val="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332000" y="2709000"/>
            <a:ext cx="6480360" cy="1440000"/>
          </a:xfrm>
        </p:spPr>
        <p:txBody>
          <a:bodyPr/>
          <a:lstStyle/>
          <a:p>
            <a:r>
              <a:rPr lang="en-US" altLang="zh-TW" dirty="0"/>
              <a:t>Huge integer division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992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(</a:t>
            </a:r>
            <a:r>
              <a:rPr lang="zh-TW" altLang="en-US" dirty="0" smtClean="0">
                <a:solidFill>
                  <a:srgbClr val="000000"/>
                </a:solidFill>
                <a:latin typeface="Lucida Console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350855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sv-SE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char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strA[ 251 ], strB[ 251 ];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 = 0; t &lt; T; ++t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cin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strB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dividend;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dividend.digit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dividend.digit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- 1 - i ] -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divisor;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divisor.size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strB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divisor.digit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divisor.size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divisor.size; ++i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divisor.digit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strB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divisor.size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- 1 - i ] -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'0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'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147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quotient;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remainder;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division( dividend, divisor, quotient, remainder );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i = quotient.size - 1; i &gt;= 0; i--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cout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quotient.digit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remainder.size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- 1; i &gt;= 0; i--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cout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remainder.digit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divisor.digit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quotient.digit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remainder.digit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329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size;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*digit;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cin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strA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&gt;&gt;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strB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dividend;</a:t>
            </a: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strA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i = 0; i &lt;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strA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dividend.size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- 1 - i ] - 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'0'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divisor;</a:t>
            </a: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divisor.size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strlen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strB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divisor.digit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divisor.size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]();</a:t>
            </a:r>
          </a:p>
          <a:p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i = 0; i &lt; divisor.size; ++i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divisor.digit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strB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divisor.size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- 1 - i ] - 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'0'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quotient;</a:t>
            </a:r>
          </a:p>
          <a:p>
            <a:r>
              <a:rPr lang="en-US" altLang="zh-TW" dirty="0" err="1" smtClean="0">
                <a:solidFill>
                  <a:srgbClr val="2B91AF"/>
                </a:solidFill>
                <a:ea typeface="細明體" panose="02020509000000000000" pitchFamily="49" charset="-120"/>
              </a:rPr>
              <a:t>HugeInt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remainder;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division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dividend, divisor, quotient, remainder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2645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–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 smtClean="0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=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 smtClean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 smtClean="0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</a:t>
            </a:r>
            <a:r>
              <a:rPr lang="en-US" altLang="zh-TW" dirty="0" smtClean="0">
                <a:solidFill>
                  <a:srgbClr val="008000"/>
                </a:solidFill>
                <a:ea typeface="細明體" panose="02020509000000000000" pitchFamily="49" charset="-120"/>
              </a:rPr>
              <a:t>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70251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dividend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108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848937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70251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108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</p:spTree>
    <p:extLst>
      <p:ext uri="{BB962C8B-B14F-4D97-AF65-F5344CB8AC3E}">
        <p14:creationId xmlns:p14="http://schemas.microsoft.com/office/powerpoint/2010/main" val="2102636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15444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TW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新細明體" pitchFamily="18" charset="-120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70251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108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0" name="文字方塊 29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</p:spTree>
    <p:extLst>
      <p:ext uri="{BB962C8B-B14F-4D97-AF65-F5344CB8AC3E}">
        <p14:creationId xmlns:p14="http://schemas.microsoft.com/office/powerpoint/2010/main" val="357260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270251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108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divisor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0" name="直線單箭頭接點 19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0" name="文字方塊 29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</p:spTree>
    <p:extLst>
      <p:ext uri="{BB962C8B-B14F-4D97-AF65-F5344CB8AC3E}">
        <p14:creationId xmlns:p14="http://schemas.microsoft.com/office/powerpoint/2010/main" val="292734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515554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38347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602728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4089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180740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6190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= dividend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n =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dividend.size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–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divisor.size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buffer = divisor shift left by n positions</a:t>
            </a:r>
          </a:p>
          <a:p>
            <a:pPr lvl="0">
              <a:spcAft>
                <a:spcPts val="0"/>
              </a:spcAft>
            </a:pP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= n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dividend &lt; buffer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 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8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else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/>
              </a:rPr>
              <a:t>quotient.size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++</a:t>
            </a:r>
          </a:p>
          <a:p>
            <a:pPr lvl="0"/>
            <a:r>
              <a:rPr lang="en-US" altLang="zh-TW" dirty="0">
                <a:solidFill>
                  <a:srgbClr val="000000"/>
                </a:solidFill>
                <a:ea typeface="細明體"/>
              </a:rPr>
              <a:t>quotient = 0;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292752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082520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 smtClean="0">
                <a:solidFill>
                  <a:srgbClr val="000000"/>
                </a:solidFill>
                <a:latin typeface="Lucida Console"/>
              </a:rPr>
              <a:t>quotient.size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 smtClean="0">
                <a:latin typeface="Lucida Console"/>
              </a:rPr>
              <a:t>remainder </a:t>
            </a:r>
            <a:r>
              <a:rPr lang="fr-FR" altLang="zh-TW" dirty="0" smtClean="0">
                <a:latin typeface="Lucida Console"/>
              </a:rPr>
              <a:t>-=</a:t>
            </a:r>
            <a:r>
              <a:rPr lang="en-US" altLang="zh-TW" dirty="0" smtClean="0">
                <a:latin typeface="Lucida Console"/>
              </a:rPr>
              <a:t> </a:t>
            </a:r>
            <a:r>
              <a:rPr lang="en-US" altLang="zh-TW" dirty="0">
                <a:latin typeface="Lucida Console"/>
              </a:rPr>
              <a:t>buffer</a:t>
            </a:r>
          </a:p>
          <a:p>
            <a:pPr lvl="0">
              <a:spcAft>
                <a:spcPts val="0"/>
              </a:spcAft>
            </a:pP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      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459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414098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02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62095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5698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406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73039"/>
              </p:ext>
            </p:extLst>
          </p:nvPr>
        </p:nvGraphicFramePr>
        <p:xfrm>
          <a:off x="2952000" y="270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772851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51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78804"/>
              </p:ext>
            </p:extLst>
          </p:nvPr>
        </p:nvGraphicFramePr>
        <p:xfrm>
          <a:off x="3312000" y="2709000"/>
          <a:ext cx="21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6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7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12909"/>
              </p:ext>
            </p:extLst>
          </p:nvPr>
        </p:nvGraphicFramePr>
        <p:xfrm>
          <a:off x="2952000" y="4149000"/>
          <a:ext cx="252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03849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612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78804"/>
              </p:ext>
            </p:extLst>
          </p:nvPr>
        </p:nvGraphicFramePr>
        <p:xfrm>
          <a:off x="3312000" y="2709000"/>
          <a:ext cx="21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6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6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01263"/>
              </p:ext>
            </p:extLst>
          </p:nvPr>
        </p:nvGraphicFramePr>
        <p:xfrm>
          <a:off x="3312000" y="4149000"/>
          <a:ext cx="21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080275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837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78804"/>
              </p:ext>
            </p:extLst>
          </p:nvPr>
        </p:nvGraphicFramePr>
        <p:xfrm>
          <a:off x="3312000" y="2709000"/>
          <a:ext cx="21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6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6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01263"/>
              </p:ext>
            </p:extLst>
          </p:nvPr>
        </p:nvGraphicFramePr>
        <p:xfrm>
          <a:off x="3312000" y="4149000"/>
          <a:ext cx="21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715465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94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47785"/>
              </p:ext>
            </p:extLst>
          </p:nvPr>
        </p:nvGraphicFramePr>
        <p:xfrm>
          <a:off x="3672000" y="2709000"/>
          <a:ext cx="180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5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6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001263"/>
              </p:ext>
            </p:extLst>
          </p:nvPr>
        </p:nvGraphicFramePr>
        <p:xfrm>
          <a:off x="3312000" y="4149000"/>
          <a:ext cx="216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645383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825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47785"/>
              </p:ext>
            </p:extLst>
          </p:nvPr>
        </p:nvGraphicFramePr>
        <p:xfrm>
          <a:off x="3672000" y="2709000"/>
          <a:ext cx="180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5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5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71984"/>
              </p:ext>
            </p:extLst>
          </p:nvPr>
        </p:nvGraphicFramePr>
        <p:xfrm>
          <a:off x="3672000" y="4149000"/>
          <a:ext cx="180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573399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2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731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47785"/>
              </p:ext>
            </p:extLst>
          </p:nvPr>
        </p:nvGraphicFramePr>
        <p:xfrm>
          <a:off x="3672000" y="2709000"/>
          <a:ext cx="180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5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5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71984"/>
              </p:ext>
            </p:extLst>
          </p:nvPr>
        </p:nvGraphicFramePr>
        <p:xfrm>
          <a:off x="3672000" y="4149000"/>
          <a:ext cx="180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424286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483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819965"/>
              </p:ext>
            </p:extLst>
          </p:nvPr>
        </p:nvGraphicFramePr>
        <p:xfrm>
          <a:off x="4032000" y="270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5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71984"/>
              </p:ext>
            </p:extLst>
          </p:nvPr>
        </p:nvGraphicFramePr>
        <p:xfrm>
          <a:off x="3672000" y="4149000"/>
          <a:ext cx="180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34755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704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819965"/>
              </p:ext>
            </p:extLst>
          </p:nvPr>
        </p:nvGraphicFramePr>
        <p:xfrm>
          <a:off x="4032000" y="270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958919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79124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1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233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819965"/>
              </p:ext>
            </p:extLst>
          </p:nvPr>
        </p:nvGraphicFramePr>
        <p:xfrm>
          <a:off x="4032000" y="270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958919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513349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0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88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62724"/>
              </p:ext>
            </p:extLst>
          </p:nvPr>
        </p:nvGraphicFramePr>
        <p:xfrm>
          <a:off x="4392000" y="2709000"/>
          <a:ext cx="108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958919"/>
              </p:ext>
            </p:extLst>
          </p:nvPr>
        </p:nvGraphicFramePr>
        <p:xfrm>
          <a:off x="4032000" y="414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49057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0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962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62724"/>
              </p:ext>
            </p:extLst>
          </p:nvPr>
        </p:nvGraphicFramePr>
        <p:xfrm>
          <a:off x="4392000" y="2709000"/>
          <a:ext cx="108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34569"/>
              </p:ext>
            </p:extLst>
          </p:nvPr>
        </p:nvGraphicFramePr>
        <p:xfrm>
          <a:off x="4392000" y="4149000"/>
          <a:ext cx="108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49057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0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737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369000"/>
            <a:ext cx="6120000" cy="1800000"/>
          </a:xfrm>
        </p:spPr>
        <p:txBody>
          <a:bodyPr/>
          <a:lstStyle/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k =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quotient.size - 1; k &gt;= 0; k--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while</a:t>
            </a:r>
            <a:r>
              <a:rPr lang="en-US" altLang="zh-TW">
                <a:solidFill>
                  <a:srgbClr val="000000"/>
                </a:solidFill>
                <a:latin typeface="Lucida Console"/>
              </a:rPr>
              <a:t>( </a:t>
            </a:r>
            <a:r>
              <a:rPr lang="en-US" altLang="zh-TW" smtClean="0">
                <a:solidFill>
                  <a:srgbClr val="000000"/>
                </a:solidFill>
                <a:latin typeface="Lucida Console"/>
              </a:rPr>
              <a:t>remainder &gt;= buffer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FF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remainder </a:t>
            </a:r>
            <a:r>
              <a:rPr lang="fr-FR" altLang="zh-TW" dirty="0">
                <a:solidFill>
                  <a:srgbClr val="000000"/>
                </a:solidFill>
                <a:latin typeface="Lucida Console"/>
              </a:rPr>
              <a:t>-=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buffer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/>
              </a:rPr>
              <a:t>quotient[ k ]++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( remainder == 0 )</a:t>
            </a: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/>
              </a:rPr>
              <a:t>return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  <a:p>
            <a:pPr lvl="0">
              <a:spcAft>
                <a:spcPts val="0"/>
              </a:spcAft>
            </a:pPr>
            <a:r>
              <a:rPr lang="en-US" altLang="zh-TW" dirty="0">
                <a:solidFill>
                  <a:srgbClr val="000000"/>
                </a:solidFill>
                <a:latin typeface="Lucida Console"/>
              </a:rPr>
              <a:t>   buffer = buffer / 10</a:t>
            </a:r>
            <a:r>
              <a:rPr lang="en-US" altLang="zh-TW" dirty="0">
                <a:solidFill>
                  <a:srgbClr val="008000"/>
                </a:solidFill>
                <a:latin typeface="Lucida Console"/>
              </a:rPr>
              <a:t> // </a:t>
            </a:r>
            <a:r>
              <a:rPr lang="en-US" altLang="zh-TW" dirty="0" err="1">
                <a:solidFill>
                  <a:srgbClr val="008000"/>
                </a:solidFill>
                <a:ea typeface="細明體" panose="02020509000000000000" pitchFamily="49" charset="-120"/>
              </a:rPr>
              <a:t>divideBy10</a:t>
            </a:r>
            <a:r>
              <a:rPr lang="en-US" altLang="zh-TW" dirty="0">
                <a:solidFill>
                  <a:srgbClr val="008000"/>
                </a:solidFill>
                <a:ea typeface="細明體" panose="02020509000000000000" pitchFamily="49" charset="-120"/>
              </a:rPr>
              <a:t>( buffer )</a:t>
            </a:r>
            <a:endParaRPr lang="en-US" altLang="zh-TW" dirty="0">
              <a:solidFill>
                <a:srgbClr val="000000"/>
              </a:solidFill>
              <a:latin typeface="Lucida Console"/>
            </a:endParaRPr>
          </a:p>
        </p:txBody>
      </p:sp>
      <p:graphicFrame>
        <p:nvGraphicFramePr>
          <p:cNvPr id="5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62724"/>
              </p:ext>
            </p:extLst>
          </p:nvPr>
        </p:nvGraphicFramePr>
        <p:xfrm>
          <a:off x="4392000" y="2709000"/>
          <a:ext cx="108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 bwMode="auto">
          <a:xfrm>
            <a:off x="5832000" y="234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12000" y="252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12000" y="30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92000" y="270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36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remainder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6372000" y="252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372000" y="306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832000" y="378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012000" y="396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3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012000" y="45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092000" y="4149000"/>
            <a:ext cx="900000" cy="540000"/>
          </a:xfrm>
          <a:prstGeom prst="rect">
            <a:avLst/>
          </a:prstGeom>
          <a:noFill/>
        </p:spPr>
        <p:txBody>
          <a:bodyPr wrap="square" lIns="90000" tIns="46800" rIns="72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buffer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72000" y="396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72000" y="450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5832000" y="5229000"/>
            <a:ext cx="1260000" cy="1260000"/>
          </a:xfrm>
          <a:prstGeom prst="rect">
            <a:avLst/>
          </a:prstGeom>
          <a:solidFill>
            <a:srgbClr val="00B0F0"/>
          </a:solidFill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012000" y="540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4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601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092000" y="5589000"/>
            <a:ext cx="1260000" cy="540000"/>
          </a:xfrm>
          <a:prstGeom prst="rect">
            <a:avLst/>
          </a:prstGeom>
          <a:noFill/>
        </p:spPr>
        <p:txBody>
          <a:bodyPr wrap="square" lIns="90000" tIns="46800" rIns="90000" bIns="46800" rtlCol="0" anchor="ctr" anchorCtr="0">
            <a:noAutofit/>
          </a:bodyPr>
          <a:lstStyle/>
          <a:p>
            <a:pPr algn="l"/>
            <a:r>
              <a:rPr lang="en-US" altLang="zh-TW" sz="1600" b="0" dirty="0">
                <a:latin typeface="Lucida Console" panose="020B0609040504020204" pitchFamily="49" charset="0"/>
              </a:rPr>
              <a:t>quotient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6372000" y="5409000"/>
            <a:ext cx="72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size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372000" y="5949000"/>
            <a:ext cx="540000" cy="360000"/>
          </a:xfrm>
          <a:prstGeom prst="rect">
            <a:avLst/>
          </a:prstGeom>
          <a:noFill/>
        </p:spPr>
        <p:txBody>
          <a:bodyPr wrap="square" lIns="90000" tIns="0" rIns="72000" bIns="0" rtlCol="0" anchor="ctr" anchorCtr="0">
            <a:noAutofit/>
          </a:bodyPr>
          <a:lstStyle/>
          <a:p>
            <a:pPr algn="r"/>
            <a:r>
              <a:rPr lang="en-US" altLang="zh-TW" sz="1600" b="0" dirty="0" smtClean="0">
                <a:latin typeface="Lucida Console" panose="020B0609040504020204" pitchFamily="49" charset="0"/>
              </a:rPr>
              <a:t>dig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  <p:cxnSp>
        <p:nvCxnSpPr>
          <p:cNvPr id="28" name="直線單箭頭接點 27"/>
          <p:cNvCxnSpPr/>
          <p:nvPr/>
        </p:nvCxnSpPr>
        <p:spPr bwMode="auto">
          <a:xfrm flipH="1">
            <a:off x="5472000" y="324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30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34569"/>
              </p:ext>
            </p:extLst>
          </p:nvPr>
        </p:nvGraphicFramePr>
        <p:xfrm>
          <a:off x="4392000" y="4149000"/>
          <a:ext cx="108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1" name="直線單箭頭接點 30"/>
          <p:cNvCxnSpPr/>
          <p:nvPr/>
        </p:nvCxnSpPr>
        <p:spPr bwMode="auto">
          <a:xfrm flipH="1">
            <a:off x="5472000" y="468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aphicFrame>
        <p:nvGraphicFramePr>
          <p:cNvPr id="27" name="Group 13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949057"/>
              </p:ext>
            </p:extLst>
          </p:nvPr>
        </p:nvGraphicFramePr>
        <p:xfrm>
          <a:off x="4032000" y="5589000"/>
          <a:ext cx="1440000" cy="720000"/>
        </p:xfrm>
        <a:graphic>
          <a:graphicData uri="http://schemas.openxmlformats.org/drawingml/2006/table">
            <a:tbl>
              <a:tblPr/>
              <a:tblGrid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9" name="直線單箭頭接點 28"/>
          <p:cNvCxnSpPr/>
          <p:nvPr/>
        </p:nvCxnSpPr>
        <p:spPr bwMode="auto">
          <a:xfrm flipH="1">
            <a:off x="5472000" y="6129000"/>
            <a:ext cx="7200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972000" y="5949000"/>
            <a:ext cx="360000" cy="360000"/>
          </a:xfrm>
          <a:prstGeom prst="rect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45720" rIns="3600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itchFamily="18" charset="0"/>
              </a:rPr>
              <a:t>-1</a:t>
            </a:r>
            <a:endParaRPr kumimoji="0" lang="zh-TW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Lucida Console" panose="020B0609040504020204" pitchFamily="49" charset="0"/>
              <a:cs typeface="Times New Roman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1332000" y="5949000"/>
            <a:ext cx="360000" cy="36000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l"/>
            <a:r>
              <a:rPr lang="en-US" altLang="zh-TW" sz="1600" b="0" dirty="0" smtClean="0">
                <a:latin typeface="Lucida Console" panose="020B0609040504020204" pitchFamily="49" charset="0"/>
              </a:rPr>
              <a:t>k</a:t>
            </a:r>
            <a:endParaRPr lang="zh-TW" altLang="en-US" sz="1600" b="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999321"/>
      </p:ext>
    </p:extLst>
  </p:cSld>
  <p:clrMapOvr>
    <a:masterClrMapping/>
  </p:clrMapOvr>
</p:sld>
</file>

<file path=ppt/theme/theme1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自訂 4">
      <a:majorFont>
        <a:latin typeface="Times New Roman"/>
        <a:ea typeface="新細明體"/>
        <a:cs typeface=""/>
      </a:majorFont>
      <a:minorFont>
        <a:latin typeface="Lucida Console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Designs\ppt_template_07-25-2002.pot</Template>
  <TotalTime>6874</TotalTime>
  <Words>2660</Words>
  <Application>Microsoft Office PowerPoint</Application>
  <PresentationFormat>如螢幕大小 (4:3)</PresentationFormat>
  <Paragraphs>1252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6" baseType="lpstr">
      <vt:lpstr>細明體</vt:lpstr>
      <vt:lpstr>新細明體</vt:lpstr>
      <vt:lpstr>Courier New</vt:lpstr>
      <vt:lpstr>Lucida Console</vt:lpstr>
      <vt:lpstr>Times New Roman</vt:lpstr>
      <vt:lpstr>ppt_template_07-25-2002</vt:lpstr>
      <vt:lpstr>Huge integer division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Control Structures</dc:title>
  <dc:creator>kalid</dc:creator>
  <cp:lastModifiedBy>james</cp:lastModifiedBy>
  <cp:revision>1478</cp:revision>
  <dcterms:created xsi:type="dcterms:W3CDTF">2000-06-12T17:02:08Z</dcterms:created>
  <dcterms:modified xsi:type="dcterms:W3CDTF">2024-10-27T16:41:09Z</dcterms:modified>
</cp:coreProperties>
</file>