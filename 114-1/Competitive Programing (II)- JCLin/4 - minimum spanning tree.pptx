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40"/>
  </p:notesMasterIdLst>
  <p:handoutMasterIdLst>
    <p:handoutMasterId r:id="rId141"/>
  </p:handoutMasterIdLst>
  <p:sldIdLst>
    <p:sldId id="256" r:id="rId2"/>
    <p:sldId id="271" r:id="rId3"/>
    <p:sldId id="698" r:id="rId4"/>
    <p:sldId id="664" r:id="rId5"/>
    <p:sldId id="806" r:id="rId6"/>
    <p:sldId id="665" r:id="rId7"/>
    <p:sldId id="800" r:id="rId8"/>
    <p:sldId id="801" r:id="rId9"/>
    <p:sldId id="671" r:id="rId10"/>
    <p:sldId id="672" r:id="rId11"/>
    <p:sldId id="673" r:id="rId12"/>
    <p:sldId id="674" r:id="rId13"/>
    <p:sldId id="675" r:id="rId14"/>
    <p:sldId id="679" r:id="rId15"/>
    <p:sldId id="677" r:id="rId16"/>
    <p:sldId id="680" r:id="rId17"/>
    <p:sldId id="681" r:id="rId18"/>
    <p:sldId id="682" r:id="rId19"/>
    <p:sldId id="683" r:id="rId20"/>
    <p:sldId id="684" r:id="rId21"/>
    <p:sldId id="685" r:id="rId22"/>
    <p:sldId id="686" r:id="rId23"/>
    <p:sldId id="687" r:id="rId24"/>
    <p:sldId id="688" r:id="rId25"/>
    <p:sldId id="689" r:id="rId26"/>
    <p:sldId id="805" r:id="rId27"/>
    <p:sldId id="691" r:id="rId28"/>
    <p:sldId id="693" r:id="rId29"/>
    <p:sldId id="695" r:id="rId30"/>
    <p:sldId id="697" r:id="rId31"/>
    <p:sldId id="798" r:id="rId32"/>
    <p:sldId id="666" r:id="rId33"/>
    <p:sldId id="667" r:id="rId34"/>
    <p:sldId id="668" r:id="rId35"/>
    <p:sldId id="669" r:id="rId36"/>
    <p:sldId id="670" r:id="rId37"/>
    <p:sldId id="799" r:id="rId38"/>
    <p:sldId id="699" r:id="rId39"/>
    <p:sldId id="777" r:id="rId40"/>
    <p:sldId id="778" r:id="rId41"/>
    <p:sldId id="779" r:id="rId42"/>
    <p:sldId id="780" r:id="rId43"/>
    <p:sldId id="781" r:id="rId44"/>
    <p:sldId id="782" r:id="rId45"/>
    <p:sldId id="783" r:id="rId46"/>
    <p:sldId id="784" r:id="rId47"/>
    <p:sldId id="785" r:id="rId48"/>
    <p:sldId id="786" r:id="rId49"/>
    <p:sldId id="787" r:id="rId50"/>
    <p:sldId id="788" r:id="rId51"/>
    <p:sldId id="789" r:id="rId52"/>
    <p:sldId id="790" r:id="rId53"/>
    <p:sldId id="791" r:id="rId54"/>
    <p:sldId id="792" r:id="rId55"/>
    <p:sldId id="745" r:id="rId56"/>
    <p:sldId id="746" r:id="rId57"/>
    <p:sldId id="747" r:id="rId58"/>
    <p:sldId id="748" r:id="rId59"/>
    <p:sldId id="749" r:id="rId60"/>
    <p:sldId id="750" r:id="rId61"/>
    <p:sldId id="751" r:id="rId62"/>
    <p:sldId id="752" r:id="rId63"/>
    <p:sldId id="753" r:id="rId64"/>
    <p:sldId id="754" r:id="rId65"/>
    <p:sldId id="755" r:id="rId66"/>
    <p:sldId id="756" r:id="rId67"/>
    <p:sldId id="757" r:id="rId68"/>
    <p:sldId id="758" r:id="rId69"/>
    <p:sldId id="759" r:id="rId70"/>
    <p:sldId id="760" r:id="rId71"/>
    <p:sldId id="763" r:id="rId72"/>
    <p:sldId id="761" r:id="rId73"/>
    <p:sldId id="762" r:id="rId74"/>
    <p:sldId id="764" r:id="rId75"/>
    <p:sldId id="765" r:id="rId76"/>
    <p:sldId id="766" r:id="rId77"/>
    <p:sldId id="767" r:id="rId78"/>
    <p:sldId id="768" r:id="rId79"/>
    <p:sldId id="769" r:id="rId80"/>
    <p:sldId id="770" r:id="rId81"/>
    <p:sldId id="771" r:id="rId82"/>
    <p:sldId id="772" r:id="rId83"/>
    <p:sldId id="773" r:id="rId84"/>
    <p:sldId id="774" r:id="rId85"/>
    <p:sldId id="775" r:id="rId86"/>
    <p:sldId id="776" r:id="rId87"/>
    <p:sldId id="710" r:id="rId88"/>
    <p:sldId id="701" r:id="rId89"/>
    <p:sldId id="702" r:id="rId90"/>
    <p:sldId id="703" r:id="rId91"/>
    <p:sldId id="706" r:id="rId92"/>
    <p:sldId id="708" r:id="rId93"/>
    <p:sldId id="705" r:id="rId94"/>
    <p:sldId id="709" r:id="rId95"/>
    <p:sldId id="707" r:id="rId96"/>
    <p:sldId id="802" r:id="rId97"/>
    <p:sldId id="803" r:id="rId98"/>
    <p:sldId id="713" r:id="rId99"/>
    <p:sldId id="714" r:id="rId100"/>
    <p:sldId id="715" r:id="rId101"/>
    <p:sldId id="716" r:id="rId102"/>
    <p:sldId id="717" r:id="rId103"/>
    <p:sldId id="807" r:id="rId104"/>
    <p:sldId id="718" r:id="rId105"/>
    <p:sldId id="719" r:id="rId106"/>
    <p:sldId id="720" r:id="rId107"/>
    <p:sldId id="808" r:id="rId108"/>
    <p:sldId id="721" r:id="rId109"/>
    <p:sldId id="722" r:id="rId110"/>
    <p:sldId id="723" r:id="rId111"/>
    <p:sldId id="724" r:id="rId112"/>
    <p:sldId id="725" r:id="rId113"/>
    <p:sldId id="726" r:id="rId114"/>
    <p:sldId id="727" r:id="rId115"/>
    <p:sldId id="728" r:id="rId116"/>
    <p:sldId id="729" r:id="rId117"/>
    <p:sldId id="730" r:id="rId118"/>
    <p:sldId id="731" r:id="rId119"/>
    <p:sldId id="732" r:id="rId120"/>
    <p:sldId id="733" r:id="rId121"/>
    <p:sldId id="734" r:id="rId122"/>
    <p:sldId id="735" r:id="rId123"/>
    <p:sldId id="736" r:id="rId124"/>
    <p:sldId id="737" r:id="rId125"/>
    <p:sldId id="738" r:id="rId126"/>
    <p:sldId id="739" r:id="rId127"/>
    <p:sldId id="740" r:id="rId128"/>
    <p:sldId id="741" r:id="rId129"/>
    <p:sldId id="742" r:id="rId130"/>
    <p:sldId id="743" r:id="rId131"/>
    <p:sldId id="744" r:id="rId132"/>
    <p:sldId id="804" r:id="rId133"/>
    <p:sldId id="796" r:id="rId134"/>
    <p:sldId id="797" r:id="rId135"/>
    <p:sldId id="568" r:id="rId136"/>
    <p:sldId id="569" r:id="rId137"/>
    <p:sldId id="570" r:id="rId138"/>
    <p:sldId id="571" r:id="rId139"/>
  </p:sldIdLst>
  <p:sldSz cx="9144000" cy="6858000" type="screen4x3"/>
  <p:notesSz cx="7099300" cy="10234613"/>
  <p:defaultTextStyle>
    <a:defPPr>
      <a:defRPr lang="zh-TW"/>
    </a:defPPr>
    <a:lvl1pPr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0" userDrawn="1">
          <p15:clr>
            <a:srgbClr val="A4A3A4"/>
          </p15:clr>
        </p15:guide>
        <p15:guide id="2" pos="27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00E4A8"/>
    <a:srgbClr val="DDDDDD"/>
    <a:srgbClr val="C0C0C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 autoAdjust="0"/>
    <p:restoredTop sz="95455" autoAdjust="0"/>
  </p:normalViewPr>
  <p:slideViewPr>
    <p:cSldViewPr showGuides="1">
      <p:cViewPr varScale="1">
        <p:scale>
          <a:sx n="79" d="100"/>
          <a:sy n="79" d="100"/>
        </p:scale>
        <p:origin x="100" y="68"/>
      </p:cViewPr>
      <p:guideLst>
        <p:guide orient="horz" pos="2500"/>
        <p:guide pos="27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notesMaster" Target="notesMasters/notesMaster1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66F218A2-72CD-483B-8D20-6D16CE8471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2976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5EC43725-686E-4A50-A08A-EF1F0A5CAE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77983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0"/>
          <a:lstStyle>
            <a:lvl1pPr algn="ctr">
              <a:defRPr sz="5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487" y="188594"/>
            <a:ext cx="8209025" cy="86410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83514" y="1268731"/>
            <a:ext cx="7776971" cy="4320540"/>
          </a:xfrm>
        </p:spPr>
        <p:txBody>
          <a:bodyPr/>
          <a:lstStyle>
            <a:lvl1pPr marL="270000" indent="-2700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016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 sz="2200">
                <a:latin typeface="+mn-lt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092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280000" cy="3060000"/>
          </a:xfrm>
        </p:spPr>
        <p:txBody>
          <a:bodyPr/>
          <a:lstStyle>
            <a:lvl1pPr marL="252000" indent="-252000">
              <a:spcBef>
                <a:spcPts val="3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143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7020000" cy="5759999"/>
          </a:xfrm>
        </p:spPr>
        <p:txBody>
          <a:bodyPr wrap="none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37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2889000"/>
            <a:ext cx="5940000" cy="3420001"/>
          </a:xfrm>
        </p:spPr>
        <p:txBody>
          <a:bodyPr/>
          <a:lstStyle>
            <a:lvl1pPr marL="360000" indent="-36000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847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1" y="3249000"/>
            <a:ext cx="5220000" cy="3060000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1005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1"/>
            <a:ext cx="5400000" cy="4500000"/>
          </a:xfrm>
        </p:spPr>
        <p:txBody>
          <a:bodyPr wrap="none"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405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580000" cy="1620000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219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683973" y="548980"/>
            <a:ext cx="7632053" cy="3456024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2226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只有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67487" y="404623"/>
            <a:ext cx="8209026" cy="6048756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869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269000"/>
            <a:ext cx="4860000" cy="522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 hasCustomPrompt="1"/>
          </p:nvPr>
        </p:nvSpPr>
        <p:spPr>
          <a:xfrm>
            <a:off x="5292000" y="3609000"/>
            <a:ext cx="3240000" cy="234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2656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8980"/>
            <a:ext cx="7560000" cy="3240020"/>
          </a:xfrm>
        </p:spPr>
        <p:txBody>
          <a:bodyPr/>
          <a:lstStyle>
            <a:lvl1pPr marL="0" indent="0"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3672000" y="3069000"/>
            <a:ext cx="5040000" cy="3419999"/>
          </a:xfrm>
        </p:spPr>
        <p:txBody>
          <a:bodyPr/>
          <a:lstStyle>
            <a:lvl1pPr marL="0" indent="0"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31408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4860000" cy="5759999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012000" y="549000"/>
            <a:ext cx="2520000" cy="378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39222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1" y="2889000"/>
            <a:ext cx="4500000" cy="2339999"/>
          </a:xfrm>
        </p:spPr>
        <p:txBody>
          <a:bodyPr/>
          <a:lstStyle>
            <a:lvl1pPr marL="0" indent="0"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372001" y="1989000"/>
            <a:ext cx="2159999" cy="720000"/>
          </a:xfrm>
        </p:spPr>
        <p:txBody>
          <a:bodyPr anchor="ctr" anchorCtr="0"/>
          <a:lstStyle>
            <a:lvl1pPr algn="ctr">
              <a:defRPr sz="1600">
                <a:solidFill>
                  <a:srgbClr val="008000"/>
                </a:solidFill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31445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32000" y="189000"/>
            <a:ext cx="8280000" cy="1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3686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269000"/>
            <a:ext cx="828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2" r:id="rId2"/>
    <p:sldLayoutId id="2147483653" r:id="rId3"/>
    <p:sldLayoutId id="2147483678" r:id="rId4"/>
    <p:sldLayoutId id="2147483663" r:id="rId5"/>
    <p:sldLayoutId id="2147483659" r:id="rId6"/>
    <p:sldLayoutId id="2147483672" r:id="rId7"/>
    <p:sldLayoutId id="2147483677" r:id="rId8"/>
    <p:sldLayoutId id="2147483680" r:id="rId9"/>
    <p:sldLayoutId id="2147483675" r:id="rId10"/>
    <p:sldLayoutId id="2147483674" r:id="rId11"/>
    <p:sldLayoutId id="2147483661" r:id="rId12"/>
    <p:sldLayoutId id="2147483679" r:id="rId13"/>
    <p:sldLayoutId id="2147483671" r:id="rId14"/>
    <p:sldLayoutId id="2147483664" r:id="rId15"/>
    <p:sldLayoutId id="2147483676" r:id="rId16"/>
    <p:sldLayoutId id="2147483657" r:id="rId17"/>
    <p:sldLayoutId id="2147483658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19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39888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5400" dirty="0"/>
              <a:t>Minimum Spanning 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40" name="Text Box 40"/>
          <p:cNvSpPr txBox="1">
            <a:spLocks noChangeArrowheads="1"/>
          </p:cNvSpPr>
          <p:nvPr/>
        </p:nvSpPr>
        <p:spPr bwMode="auto">
          <a:xfrm>
            <a:off x="4032000" y="46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/>
          <a:lstStyle/>
          <a:p>
            <a:r>
              <a:rPr lang="en-US" altLang="zh-TW" sz="2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Rectangle 6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52000" indent="-252000" eaLnBrk="1" hangingPunct="1">
                  <a:spcBef>
                    <a:spcPts val="300"/>
                  </a:spcBef>
                  <a:buClr>
                    <a:schemeClr val="tx1"/>
                  </a:buClr>
                  <a:buFontTx/>
                  <a:buChar char="•"/>
                </a:pPr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G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(</a:t>
                </a:r>
                <a:r>
                  <a:rPr lang="en-US" altLang="zh-TW" i="1" dirty="0" smtClean="0"/>
                  <a:t>V</a:t>
                </a:r>
                <a:r>
                  <a:rPr lang="en-US" altLang="zh-TW" dirty="0" smtClean="0"/>
                  <a:t>, </a:t>
                </a:r>
                <a:r>
                  <a:rPr lang="en-US" altLang="zh-TW" i="1" spc="300" dirty="0" smtClean="0"/>
                  <a:t>E</a:t>
                </a:r>
                <a:r>
                  <a:rPr lang="en-US" altLang="zh-TW" dirty="0" smtClean="0"/>
                  <a:t>) be a </a:t>
                </a:r>
                <a:r>
                  <a:rPr lang="en-US" altLang="zh-TW" dirty="0" smtClean="0">
                    <a:solidFill>
                      <a:schemeClr val="hlink"/>
                    </a:solidFill>
                  </a:rPr>
                  <a:t>connected undirected</a:t>
                </a:r>
                <a:r>
                  <a:rPr lang="en-US" altLang="zh-TW" dirty="0" smtClean="0"/>
                  <a:t> graph with a real-valued weight function </a:t>
                </a:r>
                <a:r>
                  <a:rPr lang="en-US" altLang="zh-TW" i="1" dirty="0" smtClean="0"/>
                  <a:t>w</a:t>
                </a:r>
                <a:r>
                  <a:rPr lang="en-US" altLang="zh-TW" dirty="0" smtClean="0"/>
                  <a:t> defined on </a:t>
                </a:r>
                <a:r>
                  <a:rPr lang="en-US" altLang="zh-TW" i="1" dirty="0" smtClean="0"/>
                  <a:t>E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buFontTx/>
                  <a:buChar char="•"/>
                </a:pPr>
                <a:r>
                  <a:rPr lang="en-US" altLang="zh-TW" dirty="0" smtClean="0"/>
                  <a:t>For any </a:t>
                </a:r>
                <a:r>
                  <a:rPr lang="en-US" altLang="zh-TW" i="1" spc="100" dirty="0" smtClean="0"/>
                  <a:t>E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′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⊆</a:t>
                </a:r>
                <a:r>
                  <a:rPr lang="en-US" altLang="zh-TW" dirty="0" smtClean="0">
                    <a:sym typeface="Symbol" pitchFamily="18" charset="2"/>
                  </a:rPr>
                  <a:t> </a:t>
                </a:r>
                <a:r>
                  <a:rPr lang="en-US" altLang="zh-TW" i="1" dirty="0" smtClean="0">
                    <a:sym typeface="Symbol" pitchFamily="18" charset="2"/>
                  </a:rPr>
                  <a:t>E</a:t>
                </a:r>
                <a:r>
                  <a:rPr lang="en-US" altLang="zh-TW" dirty="0" smtClean="0">
                    <a:sym typeface="Symbol" pitchFamily="18" charset="2"/>
                  </a:rPr>
                  <a:t>, the graph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(</a:t>
                </a:r>
                <a:r>
                  <a:rPr lang="en-US" altLang="zh-TW" i="1" dirty="0" smtClean="0"/>
                  <a:t>V</a:t>
                </a:r>
                <a:r>
                  <a:rPr lang="en-US" altLang="zh-TW" dirty="0" smtClean="0"/>
                  <a:t>, </a:t>
                </a:r>
                <a:r>
                  <a:rPr lang="en-US" altLang="zh-TW" i="1" spc="100" dirty="0" smtClean="0"/>
                  <a:t>E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′</a:t>
                </a:r>
                <a:r>
                  <a:rPr lang="en-US" altLang="zh-TW" dirty="0" smtClean="0"/>
                  <a:t>) is a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spanning subgraph</a:t>
                </a:r>
                <a:r>
                  <a:rPr lang="en-US" altLang="zh-TW" dirty="0" smtClean="0"/>
                  <a:t> of </a:t>
                </a:r>
                <a:r>
                  <a:rPr lang="en-US" altLang="zh-TW" i="1" dirty="0" smtClean="0"/>
                  <a:t>G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buFontTx/>
                  <a:buChar char="•"/>
                </a:pPr>
                <a:r>
                  <a:rPr lang="en-US" altLang="zh-TW" dirty="0" smtClean="0"/>
                  <a:t>If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 is also a tree, i.e.,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 is connected and acyclic, then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 is a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spanning tree</a:t>
                </a:r>
                <a:r>
                  <a:rPr lang="en-US" altLang="zh-TW" dirty="0" smtClean="0"/>
                  <a:t> of </a:t>
                </a:r>
                <a:r>
                  <a:rPr lang="en-US" altLang="zh-TW" i="1" dirty="0" smtClean="0"/>
                  <a:t>G</a:t>
                </a:r>
                <a:r>
                  <a:rPr lang="en-US" altLang="zh-TW" dirty="0" smtClean="0"/>
                  <a:t>.</a:t>
                </a:r>
              </a:p>
              <a:p>
                <a:pPr eaLnBrk="1" hangingPunct="1">
                  <a:buFontTx/>
                  <a:buChar char="•"/>
                </a:pPr>
                <a:r>
                  <a:rPr lang="en-US" altLang="zh-TW" dirty="0" smtClean="0"/>
                  <a:t>The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weight</a:t>
                </a:r>
                <a:r>
                  <a:rPr lang="en-US" altLang="zh-TW" dirty="0" smtClean="0"/>
                  <a:t> of </a:t>
                </a:r>
                <a:r>
                  <a:rPr lang="en-US" altLang="zh-TW" i="1" dirty="0" smtClean="0"/>
                  <a:t>T</a:t>
                </a:r>
                <a:r>
                  <a:rPr lang="en-US" altLang="zh-TW" dirty="0" smtClean="0"/>
                  <a:t> is defined as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w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i="1" spc="300" dirty="0">
                        <a:solidFill>
                          <a:srgbClr val="000000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altLang="zh-TW" dirty="0">
                        <a:solidFill>
                          <a:srgbClr val="000000"/>
                        </a:solidFill>
                      </a:rPr>
                      <m:t>)</m:t>
                    </m:r>
                    <m:r>
                      <a:rPr lang="en-US" altLang="zh-TW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600" spc="150" dirty="0">
                            <a:solidFill>
                              <a:srgbClr val="000000"/>
                            </a:solidFill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TW" sz="1600" spc="150" dirty="0">
                            <a:solidFill>
                              <a:srgbClr val="000000"/>
                            </a:solidFill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TW" sz="1600" spc="1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T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i="1" dirty="0">
                            <a:solidFill>
                              <a:srgbClr val="000000"/>
                            </a:solidFill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i="1" dirty="0">
                            <a:solidFill>
                              <a:srgbClr val="000000"/>
                            </a:solidFill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pc="150" dirty="0">
                            <a:solidFill>
                              <a:srgbClr val="000000"/>
                            </a:solidFill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i="1" dirty="0">
                            <a:solidFill>
                              <a:srgbClr val="000000"/>
                            </a:solidFill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</a:rPr>
                          <m:t>)</m:t>
                        </m:r>
                      </m:e>
                    </m:nary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marL="252000" indent="-252000" eaLnBrk="1" hangingPunct="1">
                  <a:buClr>
                    <a:schemeClr val="tx1"/>
                  </a:buClr>
                  <a:buFontTx/>
                  <a:buChar char="•"/>
                </a:pPr>
                <a:r>
                  <a:rPr lang="en-US" altLang="zh-TW" dirty="0" smtClean="0"/>
                  <a:t>A spanning tree of </a:t>
                </a:r>
                <a:r>
                  <a:rPr lang="en-US" altLang="zh-TW" i="1" dirty="0" smtClean="0"/>
                  <a:t>G</a:t>
                </a:r>
                <a:r>
                  <a:rPr lang="en-US" altLang="zh-TW" dirty="0" smtClean="0"/>
                  <a:t> with minimum weight is called a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minimum</a:t>
                </a:r>
                <a:r>
                  <a:rPr lang="en-US" altLang="zh-TW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spanning</a:t>
                </a:r>
                <a:r>
                  <a:rPr lang="en-US" altLang="zh-TW" dirty="0" smtClean="0">
                    <a:solidFill>
                      <a:srgbClr val="0000FF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FF"/>
                    </a:solidFill>
                  </a:rPr>
                  <a:t>tree</a:t>
                </a:r>
                <a:r>
                  <a:rPr lang="en-US" altLang="zh-TW" dirty="0" smtClean="0"/>
                  <a:t> of </a:t>
                </a:r>
                <a:r>
                  <a:rPr lang="en-US" altLang="zh-TW" i="1" dirty="0" smtClean="0"/>
                  <a:t>G</a:t>
                </a:r>
                <a:r>
                  <a:rPr lang="en-US" altLang="zh-TW" dirty="0" smtClean="0"/>
                  <a:t>.</a:t>
                </a:r>
              </a:p>
            </p:txBody>
          </p:sp>
        </mc:Choice>
        <mc:Fallback xmlns="">
          <p:sp>
            <p:nvSpPr>
              <p:cNvPr id="38914" name="Rectang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0" t="-1594" r="-1546" b="-1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5" name="Oval 15"/>
          <p:cNvSpPr>
            <a:spLocks noChangeArrowheads="1"/>
          </p:cNvSpPr>
          <p:nvPr/>
        </p:nvSpPr>
        <p:spPr bwMode="auto">
          <a:xfrm>
            <a:off x="22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anchor="ctr"/>
          <a:lstStyle/>
          <a:p>
            <a:pPr>
              <a:lnSpc>
                <a:spcPct val="80000"/>
              </a:lnSpc>
            </a:pPr>
            <a:r>
              <a:rPr lang="en-US" altLang="zh-TW" sz="2000" i="1" dirty="0"/>
              <a:t>a</a:t>
            </a:r>
          </a:p>
        </p:txBody>
      </p:sp>
      <p:sp>
        <p:nvSpPr>
          <p:cNvPr id="38916" name="Oval 16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r>
              <a:rPr lang="en-US" altLang="zh-TW" sz="2000" i="1" dirty="0"/>
              <a:t>b</a:t>
            </a:r>
          </a:p>
        </p:txBody>
      </p:sp>
      <p:sp>
        <p:nvSpPr>
          <p:cNvPr id="38917" name="Oval 17"/>
          <p:cNvSpPr>
            <a:spLocks noChangeArrowheads="1"/>
          </p:cNvSpPr>
          <p:nvPr/>
        </p:nvSpPr>
        <p:spPr bwMode="auto">
          <a:xfrm>
            <a:off x="2952000" y="576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r>
              <a:rPr lang="en-US" altLang="zh-TW" sz="2000" i="1" dirty="0"/>
              <a:t>h</a:t>
            </a:r>
          </a:p>
        </p:txBody>
      </p:sp>
      <p:sp>
        <p:nvSpPr>
          <p:cNvPr id="38918" name="Oval 18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46800" anchor="ctr"/>
          <a:lstStyle/>
          <a:p>
            <a:pPr>
              <a:lnSpc>
                <a:spcPct val="80000"/>
              </a:lnSpc>
            </a:pPr>
            <a:r>
              <a:rPr lang="en-US" altLang="zh-TW" sz="2000" i="1" dirty="0"/>
              <a:t>c</a:t>
            </a:r>
          </a:p>
        </p:txBody>
      </p:sp>
      <p:sp>
        <p:nvSpPr>
          <p:cNvPr id="38919" name="Oval 19"/>
          <p:cNvSpPr>
            <a:spLocks noChangeArrowheads="1"/>
          </p:cNvSpPr>
          <p:nvPr/>
        </p:nvSpPr>
        <p:spPr bwMode="auto">
          <a:xfrm>
            <a:off x="4392000" y="576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anchor="ctr"/>
          <a:lstStyle/>
          <a:p>
            <a:pPr>
              <a:lnSpc>
                <a:spcPct val="50000"/>
              </a:lnSpc>
            </a:pPr>
            <a:r>
              <a:rPr lang="en-US" altLang="zh-TW" sz="2000" i="1" dirty="0"/>
              <a:t>g</a:t>
            </a:r>
          </a:p>
        </p:txBody>
      </p:sp>
      <p:sp>
        <p:nvSpPr>
          <p:cNvPr id="38920" name="Oval 20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54000" tIns="36000" anchor="ctr"/>
          <a:lstStyle/>
          <a:p>
            <a:r>
              <a:rPr lang="en-US" altLang="zh-TW" sz="2000" i="1" dirty="0"/>
              <a:t>d</a:t>
            </a:r>
          </a:p>
        </p:txBody>
      </p:sp>
      <p:sp>
        <p:nvSpPr>
          <p:cNvPr id="38921" name="Oval 21"/>
          <p:cNvSpPr>
            <a:spLocks noChangeArrowheads="1"/>
          </p:cNvSpPr>
          <p:nvPr/>
        </p:nvSpPr>
        <p:spPr bwMode="auto">
          <a:xfrm>
            <a:off x="5832000" y="576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bIns="36000" anchor="ctr"/>
          <a:lstStyle/>
          <a:p>
            <a:pPr>
              <a:lnSpc>
                <a:spcPct val="80000"/>
              </a:lnSpc>
            </a:pPr>
            <a:r>
              <a:rPr lang="en-US" altLang="zh-TW" sz="2000" i="1" dirty="0"/>
              <a:t>f</a:t>
            </a:r>
          </a:p>
        </p:txBody>
      </p:sp>
      <p:sp>
        <p:nvSpPr>
          <p:cNvPr id="38922" name="Oval 22"/>
          <p:cNvSpPr>
            <a:spLocks noChangeArrowheads="1"/>
          </p:cNvSpPr>
          <p:nvPr/>
        </p:nvSpPr>
        <p:spPr bwMode="auto">
          <a:xfrm>
            <a:off x="655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altLang="zh-TW" sz="2000" i="1" dirty="0"/>
              <a:t>e</a:t>
            </a:r>
          </a:p>
        </p:txBody>
      </p:sp>
      <p:sp>
        <p:nvSpPr>
          <p:cNvPr id="38923" name="Oval 23"/>
          <p:cNvSpPr>
            <a:spLocks noChangeArrowheads="1"/>
          </p:cNvSpPr>
          <p:nvPr/>
        </p:nvSpPr>
        <p:spPr bwMode="auto">
          <a:xfrm>
            <a:off x="36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72000" bIns="36000" anchor="ctr"/>
          <a:lstStyle/>
          <a:p>
            <a:pPr>
              <a:lnSpc>
                <a:spcPct val="80000"/>
              </a:lnSpc>
            </a:pPr>
            <a:r>
              <a:rPr lang="en-US" altLang="zh-TW" sz="2000" i="1" dirty="0"/>
              <a:t>i</a:t>
            </a:r>
          </a:p>
        </p:txBody>
      </p:sp>
      <p:cxnSp>
        <p:nvCxnSpPr>
          <p:cNvPr id="38924" name="AutoShape 24"/>
          <p:cNvCxnSpPr>
            <a:cxnSpLocks noChangeShapeType="1"/>
            <a:stCxn id="38916" idx="3"/>
            <a:endCxn id="38915" idx="7"/>
          </p:cNvCxnSpPr>
          <p:nvPr/>
        </p:nvCxnSpPr>
        <p:spPr bwMode="auto">
          <a:xfrm flipH="1">
            <a:off x="2539279" y="4636279"/>
            <a:ext cx="465442" cy="465442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cxnSp>
        <p:nvCxnSpPr>
          <p:cNvPr id="38925" name="AutoShape 25"/>
          <p:cNvCxnSpPr>
            <a:cxnSpLocks noChangeShapeType="1"/>
            <a:stCxn id="38917" idx="1"/>
            <a:endCxn id="38915" idx="5"/>
          </p:cNvCxnSpPr>
          <p:nvPr/>
        </p:nvCxnSpPr>
        <p:spPr bwMode="auto">
          <a:xfrm flipH="1" flipV="1">
            <a:off x="2539279" y="53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8926" name="AutoShape 26"/>
          <p:cNvCxnSpPr>
            <a:cxnSpLocks noChangeShapeType="1"/>
            <a:stCxn id="38923" idx="7"/>
            <a:endCxn id="38918" idx="3"/>
          </p:cNvCxnSpPr>
          <p:nvPr/>
        </p:nvCxnSpPr>
        <p:spPr bwMode="auto">
          <a:xfrm flipV="1">
            <a:off x="3979279" y="4636279"/>
            <a:ext cx="465442" cy="465442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cxnSp>
        <p:nvCxnSpPr>
          <p:cNvPr id="38927" name="AutoShape 27"/>
          <p:cNvCxnSpPr>
            <a:cxnSpLocks noChangeShapeType="1"/>
            <a:stCxn id="38922" idx="1"/>
            <a:endCxn id="38920" idx="5"/>
          </p:cNvCxnSpPr>
          <p:nvPr/>
        </p:nvCxnSpPr>
        <p:spPr bwMode="auto">
          <a:xfrm flipH="1" flipV="1">
            <a:off x="6139279" y="4636279"/>
            <a:ext cx="465442" cy="465442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cxnSp>
        <p:nvCxnSpPr>
          <p:cNvPr id="38928" name="AutoShape 28"/>
          <p:cNvCxnSpPr>
            <a:cxnSpLocks noChangeShapeType="1"/>
            <a:stCxn id="38921" idx="1"/>
            <a:endCxn id="38918" idx="5"/>
          </p:cNvCxnSpPr>
          <p:nvPr/>
        </p:nvCxnSpPr>
        <p:spPr bwMode="auto">
          <a:xfrm flipH="1" flipV="1">
            <a:off x="4699279" y="4636279"/>
            <a:ext cx="1185442" cy="1185442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cxnSp>
        <p:nvCxnSpPr>
          <p:cNvPr id="38929" name="AutoShape 29"/>
          <p:cNvCxnSpPr>
            <a:cxnSpLocks noChangeShapeType="1"/>
            <a:stCxn id="38917" idx="7"/>
            <a:endCxn id="38923" idx="3"/>
          </p:cNvCxnSpPr>
          <p:nvPr/>
        </p:nvCxnSpPr>
        <p:spPr bwMode="auto">
          <a:xfrm flipV="1">
            <a:off x="3259279" y="53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8930" name="AutoShape 30"/>
          <p:cNvCxnSpPr>
            <a:cxnSpLocks noChangeShapeType="1"/>
            <a:stCxn id="38919" idx="1"/>
            <a:endCxn id="38923" idx="5"/>
          </p:cNvCxnSpPr>
          <p:nvPr/>
        </p:nvCxnSpPr>
        <p:spPr bwMode="auto">
          <a:xfrm flipH="1" flipV="1">
            <a:off x="3979279" y="53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8931" name="AutoShape 31"/>
          <p:cNvCxnSpPr>
            <a:cxnSpLocks noChangeShapeType="1"/>
            <a:stCxn id="38921" idx="7"/>
            <a:endCxn id="38922" idx="3"/>
          </p:cNvCxnSpPr>
          <p:nvPr/>
        </p:nvCxnSpPr>
        <p:spPr bwMode="auto">
          <a:xfrm flipV="1">
            <a:off x="6139279" y="53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/>
          </a:ln>
        </p:spPr>
      </p:cxnSp>
      <p:cxnSp>
        <p:nvCxnSpPr>
          <p:cNvPr id="38932" name="AutoShape 32"/>
          <p:cNvCxnSpPr>
            <a:cxnSpLocks noChangeShapeType="1"/>
            <a:stCxn id="38917" idx="0"/>
            <a:endCxn id="38916" idx="4"/>
          </p:cNvCxnSpPr>
          <p:nvPr/>
        </p:nvCxnSpPr>
        <p:spPr bwMode="auto">
          <a:xfrm flipV="1">
            <a:off x="3132000" y="46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8933" name="AutoShape 33"/>
          <p:cNvCxnSpPr>
            <a:cxnSpLocks noChangeShapeType="1"/>
            <a:stCxn id="38919" idx="2"/>
            <a:endCxn id="38917" idx="6"/>
          </p:cNvCxnSpPr>
          <p:nvPr/>
        </p:nvCxnSpPr>
        <p:spPr bwMode="auto">
          <a:xfrm flipH="1">
            <a:off x="3312000" y="5949000"/>
            <a:ext cx="1080000" cy="0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 type="none" w="lg" len="lg"/>
            <a:tailEnd/>
          </a:ln>
        </p:spPr>
      </p:cxnSp>
      <p:cxnSp>
        <p:nvCxnSpPr>
          <p:cNvPr id="38934" name="AutoShape 34"/>
          <p:cNvCxnSpPr>
            <a:cxnSpLocks noChangeShapeType="1"/>
            <a:stCxn id="38921" idx="2"/>
            <a:endCxn id="38919" idx="6"/>
          </p:cNvCxnSpPr>
          <p:nvPr/>
        </p:nvCxnSpPr>
        <p:spPr bwMode="auto">
          <a:xfrm flipH="1">
            <a:off x="4752000" y="5949000"/>
            <a:ext cx="1080000" cy="0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 type="none" w="lg" len="lg"/>
            <a:tailEnd/>
          </a:ln>
        </p:spPr>
      </p:cxnSp>
      <p:cxnSp>
        <p:nvCxnSpPr>
          <p:cNvPr id="38935" name="AutoShape 35"/>
          <p:cNvCxnSpPr>
            <a:cxnSpLocks noChangeShapeType="1"/>
            <a:stCxn id="38918" idx="2"/>
            <a:endCxn id="38916" idx="6"/>
          </p:cNvCxnSpPr>
          <p:nvPr/>
        </p:nvCxnSpPr>
        <p:spPr bwMode="auto">
          <a:xfrm flipH="1"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cxnSp>
        <p:nvCxnSpPr>
          <p:cNvPr id="38936" name="AutoShape 36"/>
          <p:cNvCxnSpPr>
            <a:cxnSpLocks noChangeShapeType="1"/>
            <a:stCxn id="38920" idx="2"/>
            <a:endCxn id="38918" idx="6"/>
          </p:cNvCxnSpPr>
          <p:nvPr/>
        </p:nvCxnSpPr>
        <p:spPr bwMode="auto">
          <a:xfrm flipH="1"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none" w="lg" len="lg"/>
          </a:ln>
        </p:spPr>
      </p:cxnSp>
      <p:sp>
        <p:nvSpPr>
          <p:cNvPr id="38937" name="Text Box 37"/>
          <p:cNvSpPr txBox="1">
            <a:spLocks noChangeArrowheads="1"/>
          </p:cNvSpPr>
          <p:nvPr/>
        </p:nvSpPr>
        <p:spPr bwMode="auto">
          <a:xfrm>
            <a:off x="367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/>
              <a:t>8</a:t>
            </a:r>
          </a:p>
        </p:txBody>
      </p:sp>
      <p:sp>
        <p:nvSpPr>
          <p:cNvPr id="38938" name="Text Box 38"/>
          <p:cNvSpPr txBox="1"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/>
              <a:t>2</a:t>
            </a:r>
          </a:p>
        </p:txBody>
      </p:sp>
      <p:sp>
        <p:nvSpPr>
          <p:cNvPr id="38939" name="Text Box 39"/>
          <p:cNvSpPr txBox="1">
            <a:spLocks noChangeArrowheads="1"/>
          </p:cNvSpPr>
          <p:nvPr/>
        </p:nvSpPr>
        <p:spPr bwMode="auto">
          <a:xfrm>
            <a:off x="5112000" y="41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/>
              <a:t>7</a:t>
            </a:r>
          </a:p>
        </p:txBody>
      </p:sp>
      <p:sp>
        <p:nvSpPr>
          <p:cNvPr id="38941" name="Text Box 41"/>
          <p:cNvSpPr txBox="1">
            <a:spLocks noChangeArrowheads="1"/>
          </p:cNvSpPr>
          <p:nvPr/>
        </p:nvSpPr>
        <p:spPr bwMode="auto">
          <a:xfrm>
            <a:off x="277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/>
              <a:t>11</a:t>
            </a:r>
          </a:p>
        </p:txBody>
      </p:sp>
      <p:sp>
        <p:nvSpPr>
          <p:cNvPr id="38942" name="Text Box 42"/>
          <p:cNvSpPr txBox="1">
            <a:spLocks noChangeArrowheads="1"/>
          </p:cNvSpPr>
          <p:nvPr/>
        </p:nvSpPr>
        <p:spPr bwMode="auto">
          <a:xfrm>
            <a:off x="4932000" y="50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r>
              <a:rPr lang="en-US" altLang="zh-TW" sz="2000"/>
              <a:t>4</a:t>
            </a:r>
          </a:p>
        </p:txBody>
      </p:sp>
      <p:sp>
        <p:nvSpPr>
          <p:cNvPr id="38943" name="Text Box 43"/>
          <p:cNvSpPr txBox="1">
            <a:spLocks noChangeArrowheads="1"/>
          </p:cNvSpPr>
          <p:nvPr/>
        </p:nvSpPr>
        <p:spPr bwMode="auto">
          <a:xfrm>
            <a:off x="3672000" y="59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/>
              <a:t>1</a:t>
            </a:r>
          </a:p>
        </p:txBody>
      </p:sp>
      <p:sp>
        <p:nvSpPr>
          <p:cNvPr id="38944" name="Text Box 44"/>
          <p:cNvSpPr txBox="1">
            <a:spLocks noChangeArrowheads="1"/>
          </p:cNvSpPr>
          <p:nvPr/>
        </p:nvSpPr>
        <p:spPr bwMode="auto">
          <a:xfrm>
            <a:off x="6192000" y="54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r>
              <a:rPr lang="en-US" altLang="zh-TW" sz="2000"/>
              <a:t>10</a:t>
            </a:r>
          </a:p>
        </p:txBody>
      </p:sp>
      <p:sp>
        <p:nvSpPr>
          <p:cNvPr id="38945" name="Text Box 45"/>
          <p:cNvSpPr txBox="1">
            <a:spLocks noChangeArrowheads="1"/>
          </p:cNvSpPr>
          <p:nvPr/>
        </p:nvSpPr>
        <p:spPr bwMode="auto">
          <a:xfrm>
            <a:off x="6192000" y="45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/>
          <a:lstStyle/>
          <a:p>
            <a:r>
              <a:rPr lang="en-US" altLang="zh-TW" sz="2000"/>
              <a:t>9</a:t>
            </a:r>
          </a:p>
        </p:txBody>
      </p:sp>
      <p:sp>
        <p:nvSpPr>
          <p:cNvPr id="38946" name="Text Box 46"/>
          <p:cNvSpPr txBox="1"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/>
              <a:t>14</a:t>
            </a:r>
          </a:p>
        </p:txBody>
      </p:sp>
      <p:sp>
        <p:nvSpPr>
          <p:cNvPr id="38947" name="Text Box 47"/>
          <p:cNvSpPr txBox="1">
            <a:spLocks noChangeArrowheads="1"/>
          </p:cNvSpPr>
          <p:nvPr/>
        </p:nvSpPr>
        <p:spPr bwMode="auto">
          <a:xfrm>
            <a:off x="403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0" anchor="ctr"/>
          <a:lstStyle/>
          <a:p>
            <a:r>
              <a:rPr lang="en-US" altLang="zh-TW" sz="2000" dirty="0"/>
              <a:t>6</a:t>
            </a:r>
          </a:p>
        </p:txBody>
      </p:sp>
      <p:cxnSp>
        <p:nvCxnSpPr>
          <p:cNvPr id="38948" name="AutoShape 48"/>
          <p:cNvCxnSpPr>
            <a:cxnSpLocks noChangeShapeType="1"/>
            <a:stCxn id="38921" idx="0"/>
            <a:endCxn id="38920" idx="4"/>
          </p:cNvCxnSpPr>
          <p:nvPr/>
        </p:nvCxnSpPr>
        <p:spPr bwMode="auto">
          <a:xfrm flipV="1">
            <a:off x="6012000" y="46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38949" name="Text Box 49"/>
          <p:cNvSpPr txBox="1">
            <a:spLocks noChangeArrowheads="1"/>
          </p:cNvSpPr>
          <p:nvPr/>
        </p:nvSpPr>
        <p:spPr bwMode="auto">
          <a:xfrm>
            <a:off x="2412000" y="45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r>
              <a:rPr lang="en-US" altLang="zh-TW" sz="2000" dirty="0"/>
              <a:t>4</a:t>
            </a:r>
          </a:p>
        </p:txBody>
      </p:sp>
      <p:sp>
        <p:nvSpPr>
          <p:cNvPr id="38950" name="Text Box 50"/>
          <p:cNvSpPr txBox="1">
            <a:spLocks noChangeArrowheads="1"/>
          </p:cNvSpPr>
          <p:nvPr/>
        </p:nvSpPr>
        <p:spPr bwMode="auto">
          <a:xfrm>
            <a:off x="2412000" y="54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/>
              <a:t>8</a:t>
            </a:r>
          </a:p>
        </p:txBody>
      </p:sp>
      <p:sp>
        <p:nvSpPr>
          <p:cNvPr id="38951" name="Text Box 51"/>
          <p:cNvSpPr txBox="1">
            <a:spLocks noChangeArrowheads="1"/>
          </p:cNvSpPr>
          <p:nvPr/>
        </p:nvSpPr>
        <p:spPr bwMode="auto">
          <a:xfrm>
            <a:off x="3132000" y="52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/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Prim's MST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419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id;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marL="342900" lvl="0" indent="-342900">
              <a:buClr>
                <a:srgbClr val="000000"/>
              </a:buClr>
              <a:buSzPct val="60000"/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marL="342900" lvl="0" indent="-342900"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double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*d;</a:t>
            </a: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&gt; &amp;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Q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&gt;::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&gt;::</a:t>
            </a:r>
            <a:r>
              <a:rPr lang="en-US" altLang="zh-TW" dirty="0">
                <a:solidFill>
                  <a:srgbClr val="2B91AF"/>
                </a:solidFill>
                <a:highlight>
                  <a:srgbClr val="FFFFFF"/>
                </a:highlight>
                <a:latin typeface="+mn-ea"/>
              </a:rPr>
              <a:t>iterator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it;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min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=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it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=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.begin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(); it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.end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();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++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it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*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it ] &lt; d[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*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min ]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min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=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it;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minId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=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latin typeface="+mn-ea"/>
              </a:rPr>
              <a:t>*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min;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Q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.erase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min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minId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en-US" altLang="zh-TW" dirty="0" smtClean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667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Prim()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218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642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Prim()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</p:txBody>
      </p:sp>
    </p:spTree>
    <p:extLst>
      <p:ext uri="{BB962C8B-B14F-4D97-AF65-F5344CB8AC3E}">
        <p14:creationId xmlns:p14="http://schemas.microsoft.com/office/powerpoint/2010/main" val="166748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d[ u ] +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nl-N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v.id ] = d[ u ] + v.weight;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Dijkstra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342900" lvl="0" indent="-342900">
              <a:lnSpc>
                <a:spcPct val="50000"/>
              </a:lnSpc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342900" lvl="0" indent="-342900">
              <a:spcBef>
                <a:spcPts val="0"/>
              </a:spcBef>
              <a:buClr>
                <a:srgbClr val="000000"/>
              </a:buClr>
              <a:buSzPct val="60000"/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</p:txBody>
      </p:sp>
    </p:spTree>
    <p:extLst>
      <p:ext uri="{BB962C8B-B14F-4D97-AF65-F5344CB8AC3E}">
        <p14:creationId xmlns:p14="http://schemas.microsoft.com/office/powerpoint/2010/main" val="300291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679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1097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9698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9997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4277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858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0564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932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054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∞</a:t>
            </a:r>
            <a:endParaRPr kumimoji="0" lang="en-US" altLang="zh-TW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4628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5021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5195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6686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789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8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10</a:t>
            </a:r>
            <a:endParaRPr kumimoji="0" lang="en-US" altLang="zh-TW" sz="18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3791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9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3509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9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arrow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cs typeface="+mn-cs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0429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Prim()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spcBef>
                <a:spcPts val="0"/>
              </a:spcBef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spcBef>
                <a:spcPts val="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</p:txBody>
      </p:sp>
    </p:spTree>
    <p:extLst>
      <p:ext uri="{BB962C8B-B14F-4D97-AF65-F5344CB8AC3E}">
        <p14:creationId xmlns:p14="http://schemas.microsoft.com/office/powerpoint/2010/main" val="2194765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2" name="手繪多邊形 91"/>
          <p:cNvSpPr/>
          <p:nvPr/>
        </p:nvSpPr>
        <p:spPr bwMode="auto">
          <a:xfrm>
            <a:off x="4032000" y="549000"/>
            <a:ext cx="0" cy="2520000"/>
          </a:xfrm>
          <a:custGeom>
            <a:avLst/>
            <a:gdLst>
              <a:gd name="connsiteX0" fmla="*/ 78378 w 78378"/>
              <a:gd name="connsiteY0" fmla="*/ 0 h 2969623"/>
              <a:gd name="connsiteX1" fmla="*/ 0 w 78378"/>
              <a:gd name="connsiteY1" fmla="*/ 2969623 h 2969623"/>
              <a:gd name="connsiteX2" fmla="*/ 0 w 78378"/>
              <a:gd name="connsiteY2" fmla="*/ 2969623 h 296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378" h="2969623">
                <a:moveTo>
                  <a:pt x="78378" y="0"/>
                </a:moveTo>
                <a:lnTo>
                  <a:pt x="0" y="2969623"/>
                </a:lnTo>
                <a:lnTo>
                  <a:pt x="0" y="2969623"/>
                </a:lnTo>
              </a:path>
            </a:pathLst>
          </a:custGeom>
          <a:solidFill>
            <a:srgbClr val="FFC000"/>
          </a:solidFill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36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2" name="手繪多邊形 91"/>
          <p:cNvSpPr/>
          <p:nvPr/>
        </p:nvSpPr>
        <p:spPr bwMode="auto">
          <a:xfrm>
            <a:off x="3852000" y="729000"/>
            <a:ext cx="1440000" cy="1800000"/>
          </a:xfrm>
          <a:custGeom>
            <a:avLst/>
            <a:gdLst>
              <a:gd name="connsiteX0" fmla="*/ 2142308 w 2185611"/>
              <a:gd name="connsiteY0" fmla="*/ 0 h 2708366"/>
              <a:gd name="connsiteX1" fmla="*/ 2090057 w 2185611"/>
              <a:gd name="connsiteY1" fmla="*/ 548640 h 2708366"/>
              <a:gd name="connsiteX2" fmla="*/ 1297577 w 2185611"/>
              <a:gd name="connsiteY2" fmla="*/ 1088572 h 2708366"/>
              <a:gd name="connsiteX3" fmla="*/ 748937 w 2185611"/>
              <a:gd name="connsiteY3" fmla="*/ 2037806 h 2708366"/>
              <a:gd name="connsiteX4" fmla="*/ 0 w 2185611"/>
              <a:gd name="connsiteY4" fmla="*/ 2708366 h 2708366"/>
              <a:gd name="connsiteX5" fmla="*/ 0 w 2185611"/>
              <a:gd name="connsiteY5" fmla="*/ 2708366 h 2708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85611" h="2708366">
                <a:moveTo>
                  <a:pt x="2142308" y="0"/>
                </a:moveTo>
                <a:cubicBezTo>
                  <a:pt x="2186576" y="183605"/>
                  <a:pt x="2230845" y="367211"/>
                  <a:pt x="2090057" y="548640"/>
                </a:cubicBezTo>
                <a:cubicBezTo>
                  <a:pt x="1949269" y="730069"/>
                  <a:pt x="1521097" y="840378"/>
                  <a:pt x="1297577" y="1088572"/>
                </a:cubicBezTo>
                <a:cubicBezTo>
                  <a:pt x="1074057" y="1336766"/>
                  <a:pt x="965200" y="1767840"/>
                  <a:pt x="748937" y="2037806"/>
                </a:cubicBezTo>
                <a:cubicBezTo>
                  <a:pt x="532674" y="2307772"/>
                  <a:pt x="0" y="2708366"/>
                  <a:pt x="0" y="2708366"/>
                </a:cubicBezTo>
                <a:lnTo>
                  <a:pt x="0" y="2708366"/>
                </a:lnTo>
              </a:path>
            </a:pathLst>
          </a:custGeom>
          <a:noFill/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235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2" name="手繪多邊形 91"/>
          <p:cNvSpPr/>
          <p:nvPr/>
        </p:nvSpPr>
        <p:spPr bwMode="auto">
          <a:xfrm>
            <a:off x="3852000" y="549000"/>
            <a:ext cx="2880000" cy="2160000"/>
          </a:xfrm>
          <a:custGeom>
            <a:avLst/>
            <a:gdLst>
              <a:gd name="connsiteX0" fmla="*/ 3701143 w 3701143"/>
              <a:gd name="connsiteY0" fmla="*/ 0 h 2804160"/>
              <a:gd name="connsiteX1" fmla="*/ 3265714 w 3701143"/>
              <a:gd name="connsiteY1" fmla="*/ 1245325 h 2804160"/>
              <a:gd name="connsiteX2" fmla="*/ 1471748 w 3701143"/>
              <a:gd name="connsiteY2" fmla="*/ 992777 h 2804160"/>
              <a:gd name="connsiteX3" fmla="*/ 801188 w 3701143"/>
              <a:gd name="connsiteY3" fmla="*/ 1497874 h 2804160"/>
              <a:gd name="connsiteX4" fmla="*/ 0 w 3701143"/>
              <a:gd name="connsiteY4" fmla="*/ 2804160 h 2804160"/>
              <a:gd name="connsiteX5" fmla="*/ 0 w 3701143"/>
              <a:gd name="connsiteY5" fmla="*/ 2804160 h 2804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1143" h="2804160">
                <a:moveTo>
                  <a:pt x="3701143" y="0"/>
                </a:moveTo>
                <a:cubicBezTo>
                  <a:pt x="3669211" y="539931"/>
                  <a:pt x="3637280" y="1079862"/>
                  <a:pt x="3265714" y="1245325"/>
                </a:cubicBezTo>
                <a:cubicBezTo>
                  <a:pt x="2894148" y="1410788"/>
                  <a:pt x="1882502" y="950685"/>
                  <a:pt x="1471748" y="992777"/>
                </a:cubicBezTo>
                <a:cubicBezTo>
                  <a:pt x="1060994" y="1034869"/>
                  <a:pt x="1046479" y="1195977"/>
                  <a:pt x="801188" y="1497874"/>
                </a:cubicBezTo>
                <a:cubicBezTo>
                  <a:pt x="555897" y="1799771"/>
                  <a:pt x="0" y="2804160"/>
                  <a:pt x="0" y="2804160"/>
                </a:cubicBezTo>
                <a:lnTo>
                  <a:pt x="0" y="2804160"/>
                </a:lnTo>
              </a:path>
            </a:pathLst>
          </a:custGeom>
          <a:noFill/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312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Box 47"/>
          <p:cNvSpPr txBox="1">
            <a:spLocks noChangeArrowheads="1"/>
          </p:cNvSpPr>
          <p:nvPr/>
        </p:nvSpPr>
        <p:spPr bwMode="auto">
          <a:xfrm>
            <a:off x="52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83" name="Text Box 49"/>
          <p:cNvSpPr txBox="1">
            <a:spLocks noChangeArrowheads="1"/>
          </p:cNvSpPr>
          <p:nvPr/>
        </p:nvSpPr>
        <p:spPr bwMode="auto">
          <a:xfrm>
            <a:off x="367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8" name="Text Box 44"/>
          <p:cNvSpPr txBox="1">
            <a:spLocks noChangeArrowheads="1"/>
          </p:cNvSpPr>
          <p:nvPr/>
        </p:nvSpPr>
        <p:spPr bwMode="auto">
          <a:xfrm>
            <a:off x="745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79" name="Text Box 45"/>
          <p:cNvSpPr txBox="1">
            <a:spLocks noChangeArrowheads="1"/>
          </p:cNvSpPr>
          <p:nvPr/>
        </p:nvSpPr>
        <p:spPr bwMode="auto">
          <a:xfrm>
            <a:off x="745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84" name="Text Box 50"/>
          <p:cNvSpPr txBox="1">
            <a:spLocks noChangeArrowheads="1"/>
          </p:cNvSpPr>
          <p:nvPr/>
        </p:nvSpPr>
        <p:spPr bwMode="auto">
          <a:xfrm>
            <a:off x="3672000" y="19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85" name="Text Box 51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d[ 0 ] = 0;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Q;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Q.push_back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u );</a:t>
            </a:r>
          </a:p>
          <a:p>
            <a:pPr marL="0" lvl="0" indent="0">
              <a:spcBef>
                <a:spcPts val="1200"/>
              </a:spcBef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Q.empty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Q );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inQ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marL="0" lvl="0" indent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marL="0" lvl="0" indent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0" lvl="0" indent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sz="20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49" name="Text Box 40"/>
          <p:cNvSpPr txBox="1">
            <a:spLocks noChangeArrowheads="1"/>
          </p:cNvSpPr>
          <p:nvPr/>
        </p:nvSpPr>
        <p:spPr bwMode="auto">
          <a:xfrm>
            <a:off x="529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349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421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5652000" y="90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19"/>
          <p:cNvSpPr>
            <a:spLocks noChangeArrowheads="1"/>
          </p:cNvSpPr>
          <p:nvPr/>
        </p:nvSpPr>
        <p:spPr bwMode="auto">
          <a:xfrm>
            <a:off x="565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0"/>
          <p:cNvSpPr>
            <a:spLocks noChangeArrowheads="1"/>
          </p:cNvSpPr>
          <p:nvPr/>
        </p:nvSpPr>
        <p:spPr bwMode="auto">
          <a:xfrm>
            <a:off x="7092000" y="9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1"/>
          <p:cNvSpPr>
            <a:spLocks noChangeArrowheads="1"/>
          </p:cNvSpPr>
          <p:nvPr/>
        </p:nvSpPr>
        <p:spPr bwMode="auto">
          <a:xfrm>
            <a:off x="709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7" name="Oval 22"/>
          <p:cNvSpPr>
            <a:spLocks noChangeArrowheads="1"/>
          </p:cNvSpPr>
          <p:nvPr/>
        </p:nvSpPr>
        <p:spPr bwMode="auto">
          <a:xfrm>
            <a:off x="78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  <a:sym typeface="Symbol" pitchFamily="18" charset="2"/>
              </a:rPr>
              <a:t>∞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8" name="Oval 23"/>
          <p:cNvSpPr>
            <a:spLocks noChangeArrowheads="1"/>
          </p:cNvSpPr>
          <p:nvPr/>
        </p:nvSpPr>
        <p:spPr bwMode="auto">
          <a:xfrm>
            <a:off x="4932000" y="1629000"/>
            <a:ext cx="360000" cy="36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9" name="AutoShape 24"/>
          <p:cNvCxnSpPr>
            <a:cxnSpLocks noChangeShapeType="1"/>
            <a:stCxn id="51" idx="3"/>
            <a:endCxn id="50" idx="7"/>
          </p:cNvCxnSpPr>
          <p:nvPr/>
        </p:nvCxnSpPr>
        <p:spPr bwMode="auto">
          <a:xfrm flipH="1">
            <a:off x="379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0" name="AutoShape 25"/>
          <p:cNvCxnSpPr>
            <a:cxnSpLocks noChangeShapeType="1"/>
            <a:stCxn id="52" idx="1"/>
            <a:endCxn id="50" idx="5"/>
          </p:cNvCxnSpPr>
          <p:nvPr/>
        </p:nvCxnSpPr>
        <p:spPr bwMode="auto">
          <a:xfrm flipH="1" flipV="1">
            <a:off x="37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1" name="AutoShape 26"/>
          <p:cNvCxnSpPr>
            <a:cxnSpLocks noChangeShapeType="1"/>
            <a:stCxn id="58" idx="7"/>
            <a:endCxn id="53" idx="3"/>
          </p:cNvCxnSpPr>
          <p:nvPr/>
        </p:nvCxnSpPr>
        <p:spPr bwMode="auto">
          <a:xfrm flipV="1">
            <a:off x="5239279" y="12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62" name="AutoShape 27"/>
          <p:cNvCxnSpPr>
            <a:cxnSpLocks noChangeShapeType="1"/>
            <a:stCxn id="57" idx="1"/>
            <a:endCxn id="55" idx="5"/>
          </p:cNvCxnSpPr>
          <p:nvPr/>
        </p:nvCxnSpPr>
        <p:spPr bwMode="auto">
          <a:xfrm flipH="1" flipV="1">
            <a:off x="7399279" y="12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3" name="AutoShape 28"/>
          <p:cNvCxnSpPr>
            <a:cxnSpLocks noChangeShapeType="1"/>
            <a:stCxn id="56" idx="1"/>
            <a:endCxn id="53" idx="5"/>
          </p:cNvCxnSpPr>
          <p:nvPr/>
        </p:nvCxnSpPr>
        <p:spPr bwMode="auto">
          <a:xfrm flipH="1" flipV="1">
            <a:off x="5959279" y="121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4" name="AutoShape 29"/>
          <p:cNvCxnSpPr>
            <a:cxnSpLocks noChangeShapeType="1"/>
            <a:stCxn id="52" idx="7"/>
            <a:endCxn id="58" idx="3"/>
          </p:cNvCxnSpPr>
          <p:nvPr/>
        </p:nvCxnSpPr>
        <p:spPr bwMode="auto">
          <a:xfrm flipV="1">
            <a:off x="451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arrow" w="lg" len="lg"/>
          </a:ln>
        </p:spPr>
      </p:cxnSp>
      <p:cxnSp>
        <p:nvCxnSpPr>
          <p:cNvPr id="65" name="AutoShape 30"/>
          <p:cNvCxnSpPr>
            <a:cxnSpLocks noChangeShapeType="1"/>
            <a:stCxn id="54" idx="1"/>
            <a:endCxn id="58" idx="5"/>
          </p:cNvCxnSpPr>
          <p:nvPr/>
        </p:nvCxnSpPr>
        <p:spPr bwMode="auto">
          <a:xfrm flipH="1" flipV="1">
            <a:off x="5239279" y="19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cxnSp>
        <p:nvCxnSpPr>
          <p:cNvPr id="66" name="AutoShape 31"/>
          <p:cNvCxnSpPr>
            <a:cxnSpLocks noChangeShapeType="1"/>
            <a:stCxn id="57" idx="3"/>
            <a:endCxn id="56" idx="7"/>
          </p:cNvCxnSpPr>
          <p:nvPr/>
        </p:nvCxnSpPr>
        <p:spPr bwMode="auto">
          <a:xfrm flipH="1">
            <a:off x="7399279" y="19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2"/>
          <p:cNvCxnSpPr>
            <a:cxnSpLocks noChangeShapeType="1"/>
            <a:stCxn id="52" idx="0"/>
            <a:endCxn id="51" idx="4"/>
          </p:cNvCxnSpPr>
          <p:nvPr/>
        </p:nvCxnSpPr>
        <p:spPr bwMode="auto">
          <a:xfrm flipV="1">
            <a:off x="439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8" name="AutoShape 33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457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9" name="AutoShape 34"/>
          <p:cNvCxnSpPr>
            <a:cxnSpLocks noChangeShapeType="1"/>
            <a:stCxn id="54" idx="6"/>
            <a:endCxn id="56" idx="2"/>
          </p:cNvCxnSpPr>
          <p:nvPr/>
        </p:nvCxnSpPr>
        <p:spPr bwMode="auto">
          <a:xfrm>
            <a:off x="6012000" y="252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70" name="AutoShape 35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457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arrow" w="lg" len="lg"/>
          </a:ln>
        </p:spPr>
      </p:cxnSp>
      <p:cxnSp>
        <p:nvCxnSpPr>
          <p:cNvPr id="71" name="AutoShape 36"/>
          <p:cNvCxnSpPr>
            <a:cxnSpLocks noChangeShapeType="1"/>
            <a:stCxn id="55" idx="2"/>
            <a:endCxn id="53" idx="6"/>
          </p:cNvCxnSpPr>
          <p:nvPr/>
        </p:nvCxnSpPr>
        <p:spPr bwMode="auto">
          <a:xfrm flipH="1">
            <a:off x="6012000" y="108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arrow" w="lg" len="lg"/>
          </a:ln>
        </p:spPr>
      </p:cxnSp>
      <p:sp>
        <p:nvSpPr>
          <p:cNvPr id="72" name="Text Box 37"/>
          <p:cNvSpPr txBox="1">
            <a:spLocks noChangeArrowheads="1"/>
          </p:cNvSpPr>
          <p:nvPr/>
        </p:nvSpPr>
        <p:spPr bwMode="auto">
          <a:xfrm>
            <a:off x="493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3" name="Text Box 38"/>
          <p:cNvSpPr txBox="1">
            <a:spLocks noChangeArrowheads="1"/>
          </p:cNvSpPr>
          <p:nvPr/>
        </p:nvSpPr>
        <p:spPr bwMode="auto">
          <a:xfrm>
            <a:off x="637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4" name="Text Box 39"/>
          <p:cNvSpPr txBox="1">
            <a:spLocks noChangeArrowheads="1"/>
          </p:cNvSpPr>
          <p:nvPr/>
        </p:nvSpPr>
        <p:spPr bwMode="auto">
          <a:xfrm>
            <a:off x="6372000" y="7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5" name="Text Box 41"/>
          <p:cNvSpPr txBox="1">
            <a:spLocks noChangeArrowheads="1"/>
          </p:cNvSpPr>
          <p:nvPr/>
        </p:nvSpPr>
        <p:spPr bwMode="auto">
          <a:xfrm>
            <a:off x="40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6" name="Text Box 42"/>
          <p:cNvSpPr txBox="1">
            <a:spLocks noChangeArrowheads="1"/>
          </p:cNvSpPr>
          <p:nvPr/>
        </p:nvSpPr>
        <p:spPr bwMode="auto">
          <a:xfrm>
            <a:off x="619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7" name="Text Box 43"/>
          <p:cNvSpPr txBox="1">
            <a:spLocks noChangeArrowheads="1"/>
          </p:cNvSpPr>
          <p:nvPr/>
        </p:nvSpPr>
        <p:spPr bwMode="auto">
          <a:xfrm>
            <a:off x="493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80" name="Text Box 46"/>
          <p:cNvSpPr txBox="1">
            <a:spLocks noChangeArrowheads="1"/>
          </p:cNvSpPr>
          <p:nvPr/>
        </p:nvSpPr>
        <p:spPr bwMode="auto">
          <a:xfrm>
            <a:off x="691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82" name="AutoShape 48"/>
          <p:cNvCxnSpPr>
            <a:cxnSpLocks noChangeShapeType="1"/>
            <a:stCxn id="56" idx="0"/>
            <a:endCxn id="55" idx="4"/>
          </p:cNvCxnSpPr>
          <p:nvPr/>
        </p:nvCxnSpPr>
        <p:spPr bwMode="auto">
          <a:xfrm flipV="1">
            <a:off x="7272000" y="126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6" name="Rectangle 43"/>
          <p:cNvSpPr>
            <a:spLocks noChangeArrowheads="1"/>
          </p:cNvSpPr>
          <p:nvPr/>
        </p:nvSpPr>
        <p:spPr bwMode="auto">
          <a:xfrm>
            <a:off x="42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7" name="Rectangle 43"/>
          <p:cNvSpPr>
            <a:spLocks noChangeArrowheads="1"/>
          </p:cNvSpPr>
          <p:nvPr/>
        </p:nvSpPr>
        <p:spPr bwMode="auto">
          <a:xfrm>
            <a:off x="565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8" name="Rectangle 43"/>
          <p:cNvSpPr>
            <a:spLocks noChangeArrowheads="1"/>
          </p:cNvSpPr>
          <p:nvPr/>
        </p:nvSpPr>
        <p:spPr bwMode="auto">
          <a:xfrm>
            <a:off x="709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89" name="Rectangle 43"/>
          <p:cNvSpPr>
            <a:spLocks noChangeArrowheads="1"/>
          </p:cNvSpPr>
          <p:nvPr/>
        </p:nvSpPr>
        <p:spPr bwMode="auto">
          <a:xfrm>
            <a:off x="42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0" name="Rectangle 43"/>
          <p:cNvSpPr>
            <a:spLocks noChangeArrowheads="1"/>
          </p:cNvSpPr>
          <p:nvPr/>
        </p:nvSpPr>
        <p:spPr bwMode="auto">
          <a:xfrm>
            <a:off x="565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1" name="Rectangle 43"/>
          <p:cNvSpPr>
            <a:spLocks noChangeArrowheads="1"/>
          </p:cNvSpPr>
          <p:nvPr/>
        </p:nvSpPr>
        <p:spPr bwMode="auto">
          <a:xfrm>
            <a:off x="709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817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0" bIns="18000" anchor="ctr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4" name="Text Box 43"/>
          <p:cNvSpPr txBox="1">
            <a:spLocks noChangeArrowheads="1"/>
          </p:cNvSpPr>
          <p:nvPr/>
        </p:nvSpPr>
        <p:spPr bwMode="auto">
          <a:xfrm>
            <a:off x="3132000" y="16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Rectangle 43"/>
          <p:cNvSpPr>
            <a:spLocks noChangeArrowheads="1"/>
          </p:cNvSpPr>
          <p:nvPr/>
        </p:nvSpPr>
        <p:spPr bwMode="auto">
          <a:xfrm>
            <a:off x="4572000" y="12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36000" rIns="0" bIns="0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92" name="手繪多邊形 91"/>
          <p:cNvSpPr/>
          <p:nvPr/>
        </p:nvSpPr>
        <p:spPr bwMode="auto">
          <a:xfrm>
            <a:off x="4032000" y="729000"/>
            <a:ext cx="2880000" cy="1980000"/>
          </a:xfrm>
          <a:custGeom>
            <a:avLst/>
            <a:gdLst>
              <a:gd name="connsiteX0" fmla="*/ 3648892 w 3648892"/>
              <a:gd name="connsiteY0" fmla="*/ 0 h 2969623"/>
              <a:gd name="connsiteX1" fmla="*/ 3335383 w 3648892"/>
              <a:gd name="connsiteY1" fmla="*/ 1201783 h 2969623"/>
              <a:gd name="connsiteX2" fmla="*/ 2499360 w 3648892"/>
              <a:gd name="connsiteY2" fmla="*/ 1698172 h 2969623"/>
              <a:gd name="connsiteX3" fmla="*/ 1994263 w 3648892"/>
              <a:gd name="connsiteY3" fmla="*/ 2394857 h 2969623"/>
              <a:gd name="connsiteX4" fmla="*/ 505098 w 3648892"/>
              <a:gd name="connsiteY4" fmla="*/ 2124892 h 2969623"/>
              <a:gd name="connsiteX5" fmla="*/ 0 w 3648892"/>
              <a:gd name="connsiteY5" fmla="*/ 2969623 h 2969623"/>
              <a:gd name="connsiteX6" fmla="*/ 0 w 3648892"/>
              <a:gd name="connsiteY6" fmla="*/ 2969623 h 2969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8892" h="2969623">
                <a:moveTo>
                  <a:pt x="3648892" y="0"/>
                </a:moveTo>
                <a:cubicBezTo>
                  <a:pt x="3587932" y="459377"/>
                  <a:pt x="3526972" y="918754"/>
                  <a:pt x="3335383" y="1201783"/>
                </a:cubicBezTo>
                <a:cubicBezTo>
                  <a:pt x="3143794" y="1484812"/>
                  <a:pt x="2722880" y="1499326"/>
                  <a:pt x="2499360" y="1698172"/>
                </a:cubicBezTo>
                <a:cubicBezTo>
                  <a:pt x="2275840" y="1897018"/>
                  <a:pt x="2326640" y="2323737"/>
                  <a:pt x="1994263" y="2394857"/>
                </a:cubicBezTo>
                <a:cubicBezTo>
                  <a:pt x="1661886" y="2465977"/>
                  <a:pt x="837475" y="2029098"/>
                  <a:pt x="505098" y="2124892"/>
                </a:cubicBezTo>
                <a:cubicBezTo>
                  <a:pt x="172721" y="2220686"/>
                  <a:pt x="0" y="2969623"/>
                  <a:pt x="0" y="2969623"/>
                </a:cubicBezTo>
                <a:lnTo>
                  <a:pt x="0" y="2969623"/>
                </a:lnTo>
              </a:path>
            </a:pathLst>
          </a:custGeom>
          <a:noFill/>
          <a:ln w="1905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702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Worst-case 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100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each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reachable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for loop in the while loop is executed 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adjList</a:t>
                </a:r>
                <a:r>
                  <a:rPr lang="en-US" altLang="zh-TW" sz="1800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[u</a:t>
                </a:r>
                <a:r>
                  <a:rPr lang="en-US" altLang="zh-TW" sz="18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times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Since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sz="1600" i="1" spc="150" dirty="0">
                            <a:solidFill>
                              <a:srgbClr val="000000"/>
                            </a:solidFill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V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adjList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</m:e>
                    </m:nary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</a:rPr>
                      <m:t>m</m:t>
                    </m:r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the for loop in the while loop takes time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invoked once per node, 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takes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time.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Therefore the worst-case time complexity is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(</a:t>
                </a:r>
                <a:r>
                  <a:rPr lang="en-US" altLang="zh-TW" i="1" spc="50" dirty="0">
                    <a:solidFill>
                      <a:srgbClr val="000000"/>
                    </a:solidFill>
                    <a:sym typeface="Symbol" pitchFamily="18" charset="2"/>
                  </a:rPr>
                  <a:t>n</a:t>
                </a:r>
                <a:r>
                  <a:rPr lang="en-US" altLang="zh-TW" baseline="30000" dirty="0">
                    <a:solidFill>
                      <a:srgbClr val="000000"/>
                    </a:solidFill>
                    <a:sym typeface="Symbol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(</a:t>
                </a:r>
                <a:r>
                  <a:rPr lang="en-US" altLang="zh-TW" i="1" spc="50" dirty="0">
                    <a:solidFill>
                      <a:srgbClr val="000000"/>
                    </a:solidFill>
                    <a:sym typeface="Symbol" pitchFamily="18" charset="2"/>
                  </a:rPr>
                  <a:t>n</a:t>
                </a:r>
                <a:r>
                  <a:rPr lang="en-US" altLang="zh-TW" spc="300" baseline="30000" dirty="0">
                    <a:solidFill>
                      <a:srgbClr val="000000"/>
                    </a:solidFill>
                    <a:sym typeface="Symbol" pitchFamily="18" charset="2"/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).</a:t>
                </a:r>
                <a:endParaRPr lang="en-US" altLang="zh-TW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2" t="-1128" r="-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934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Prim()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const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2147483647;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heap.resize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*d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d[ u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u ] = -1;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u ] = u;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29952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d[ 0 ] = 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!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heap.empty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Neighbor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&amp;&amp;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inHeap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v.weight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parent[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u;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index[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v.id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index;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1203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extractMin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&lt; 1 )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"heap underflow\n"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 =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- 1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0;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heap.pop_back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( 0 );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min;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swap(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HeapNode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 =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=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buffer;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1640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 = 2 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2B91AF"/>
                </a:solidFill>
                <a:ea typeface="細明體" panose="02020509000000000000" pitchFamily="49" charset="-120"/>
              </a:rPr>
              <a:t>size_t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 = 2 *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+ 2;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heap.size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&lt;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smallest = r;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!=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smallest;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smallest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smallest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minHeapify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smallest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4442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heapDecreaseKey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"new key is larger than current key\n"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sv-SE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= ( </a:t>
            </a:r>
            <a:r>
              <a:rPr lang="sv-SE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sv-SE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0 &amp;&amp;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&gt;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.d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index[ heap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.id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swap(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parent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 = 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- 1 ) / 2;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2329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Worst-case 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100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i="1" spc="100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each node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reachable from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s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, the for loop in the while loop is executed 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adjList</a:t>
                </a:r>
                <a:r>
                  <a:rPr lang="en-US" altLang="zh-TW" sz="1800" spc="3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[u</a:t>
                </a:r>
                <a:r>
                  <a:rPr lang="en-US" altLang="zh-TW" sz="1800" dirty="0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]</a:t>
                </a:r>
                <a:r>
                  <a:rPr lang="en-US" altLang="zh-TW" dirty="0">
                    <a:solidFill>
                      <a:srgbClr val="000000"/>
                    </a:solidFill>
                    <a:latin typeface="Georgia" panose="02040502050405020303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times.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Since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US" altLang="zh-TW" sz="1600" i="1" spc="150" dirty="0">
                            <a:solidFill>
                              <a:srgbClr val="000000"/>
                            </a:solidFill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6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altLang="zh-TW" sz="1600" i="1" dirty="0">
                            <a:solidFill>
                              <a:srgbClr val="000000"/>
                            </a:solidFill>
                          </a:rPr>
                          <m:t>V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adjList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sz="1800" spc="3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TW" sz="1800" dirty="0">
                            <a:solidFill>
                              <a:srgbClr val="000000"/>
                            </a:solidFill>
                            <a:latin typeface="Lucida Console" panose="020B0609040504020204" pitchFamily="49" charset="0"/>
                            <a:ea typeface="細明體" panose="02020509000000000000" pitchFamily="49" charset="-12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altLang="zh-TW" dirty="0">
                            <a:solidFill>
                              <a:srgbClr val="000000"/>
                            </a:solidFill>
                            <a:latin typeface="Georgia" panose="02040502050405020303" pitchFamily="18" charset="0"/>
                          </a:rPr>
                          <m:t>|</m:t>
                        </m:r>
                      </m:e>
                    </m:nary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i="1">
                        <a:solidFill>
                          <a:srgbClr val="000000"/>
                        </a:solidFill>
                      </a:rPr>
                      <m:t>m</m:t>
                    </m:r>
                    <m:r>
                      <a:rPr lang="en-US" altLang="zh-TW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the for loop in the while loop takes time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is invoked once per node, 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extractMin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takes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log</a:t>
                </a:r>
                <a:r>
                  <a:rPr lang="en-US" altLang="zh-TW" spc="300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time.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heapDecreaseKey</a:t>
                </a:r>
                <a:r>
                  <a:rPr lang="en-US" altLang="zh-TW" sz="19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is totally invoked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times, and each </a:t>
                </a:r>
                <a:r>
                  <a:rPr lang="en-US" altLang="zh-TW" sz="1800" dirty="0" err="1">
                    <a:solidFill>
                      <a:srgbClr val="000000"/>
                    </a:solidFill>
                    <a:latin typeface="Lucida Console" panose="020B0609040504020204" pitchFamily="49" charset="0"/>
                    <a:ea typeface="細明體" panose="02020509000000000000" pitchFamily="49" charset="-120"/>
                  </a:rPr>
                  <a:t>heapDecreaseKey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takes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log</a:t>
                </a:r>
                <a:r>
                  <a:rPr lang="en-US" altLang="zh-TW" spc="300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time.</a:t>
                </a:r>
              </a:p>
              <a:p>
                <a:pPr marL="342900" lvl="0" indent="-342900" eaLnBrk="1" hangingPunct="1">
                  <a:spcBef>
                    <a:spcPct val="40000"/>
                  </a:spcBef>
                  <a:buClr>
                    <a:srgbClr val="000000"/>
                  </a:buClr>
                  <a:buSzPct val="100000"/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Therefore the worst-case complexity time is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O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((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itchFamily="18" charset="2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  <a:sym typeface="Symbol" pitchFamily="18" charset="2"/>
                  </a:rPr>
                  <a:t>m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log</a:t>
                </a:r>
                <a:r>
                  <a:rPr lang="en-US" altLang="zh-TW" spc="300" baseline="-250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  <a:endParaRPr lang="en-US" altLang="zh-TW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2" t="-1128" r="-235" b="-12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893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Kruskal's</a:t>
            </a:r>
            <a:r>
              <a:rPr lang="en-US" altLang="zh-TW" dirty="0" smtClean="0"/>
              <a:t> MST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6399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682603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1005057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635535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674017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784960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725584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539143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9181712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2543031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4293464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851308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4767181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9749316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96721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25223592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40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6" name="Text Box 49"/>
          <p:cNvSpPr txBox="1">
            <a:spLocks noChangeArrowheads="1"/>
          </p:cNvSpPr>
          <p:nvPr/>
        </p:nvSpPr>
        <p:spPr bwMode="auto">
          <a:xfrm>
            <a:off x="241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" name="Text Box 44"/>
          <p:cNvSpPr txBox="1">
            <a:spLocks noChangeArrowheads="1"/>
          </p:cNvSpPr>
          <p:nvPr/>
        </p:nvSpPr>
        <p:spPr bwMode="auto">
          <a:xfrm>
            <a:off x="619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8" name="Text Box 45"/>
          <p:cNvSpPr txBox="1">
            <a:spLocks noChangeArrowheads="1"/>
          </p:cNvSpPr>
          <p:nvPr/>
        </p:nvSpPr>
        <p:spPr bwMode="auto">
          <a:xfrm>
            <a:off x="6192000" y="30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2412000" y="396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10" name="Text Box 51"/>
          <p:cNvSpPr txBox="1">
            <a:spLocks noChangeArrowheads="1"/>
          </p:cNvSpPr>
          <p:nvPr/>
        </p:nvSpPr>
        <p:spPr bwMode="auto">
          <a:xfrm>
            <a:off x="3132000" y="37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4032000" y="32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2" name="Oval 15"/>
          <p:cNvSpPr>
            <a:spLocks noChangeArrowheads="1"/>
          </p:cNvSpPr>
          <p:nvPr/>
        </p:nvSpPr>
        <p:spPr bwMode="auto">
          <a:xfrm>
            <a:off x="223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3" name="Oval 16"/>
          <p:cNvSpPr>
            <a:spLocks noChangeArrowheads="1"/>
          </p:cNvSpPr>
          <p:nvPr/>
        </p:nvSpPr>
        <p:spPr bwMode="auto">
          <a:xfrm>
            <a:off x="295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295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439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5832000" y="288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5832000" y="43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19" name="Oval 22"/>
          <p:cNvSpPr>
            <a:spLocks noChangeArrowheads="1"/>
          </p:cNvSpPr>
          <p:nvPr/>
        </p:nvSpPr>
        <p:spPr bwMode="auto">
          <a:xfrm>
            <a:off x="655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20" name="Oval 23"/>
          <p:cNvSpPr>
            <a:spLocks noChangeArrowheads="1"/>
          </p:cNvSpPr>
          <p:nvPr/>
        </p:nvSpPr>
        <p:spPr bwMode="auto">
          <a:xfrm>
            <a:off x="3672000" y="360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21" name="AutoShape 24"/>
          <p:cNvCxnSpPr>
            <a:cxnSpLocks noChangeShapeType="1"/>
            <a:stCxn id="13" idx="3"/>
            <a:endCxn id="12" idx="7"/>
          </p:cNvCxnSpPr>
          <p:nvPr/>
        </p:nvCxnSpPr>
        <p:spPr bwMode="auto">
          <a:xfrm flipH="1">
            <a:off x="25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2" name="AutoShape 25"/>
          <p:cNvCxnSpPr>
            <a:cxnSpLocks noChangeShapeType="1"/>
            <a:stCxn id="14" idx="1"/>
            <a:endCxn id="12" idx="5"/>
          </p:cNvCxnSpPr>
          <p:nvPr/>
        </p:nvCxnSpPr>
        <p:spPr bwMode="auto">
          <a:xfrm flipH="1" flipV="1">
            <a:off x="2539279" y="391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3" name="AutoShape 26"/>
          <p:cNvCxnSpPr>
            <a:cxnSpLocks noChangeShapeType="1"/>
            <a:stCxn id="20" idx="7"/>
            <a:endCxn id="15" idx="3"/>
          </p:cNvCxnSpPr>
          <p:nvPr/>
        </p:nvCxnSpPr>
        <p:spPr bwMode="auto">
          <a:xfrm flipV="1">
            <a:off x="397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4" name="AutoShape 27"/>
          <p:cNvCxnSpPr>
            <a:cxnSpLocks noChangeShapeType="1"/>
            <a:stCxn id="19" idx="1"/>
            <a:endCxn id="17" idx="5"/>
          </p:cNvCxnSpPr>
          <p:nvPr/>
        </p:nvCxnSpPr>
        <p:spPr bwMode="auto">
          <a:xfrm flipH="1" flipV="1">
            <a:off x="6139279" y="319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5" name="AutoShape 28"/>
          <p:cNvCxnSpPr>
            <a:cxnSpLocks noChangeShapeType="1"/>
            <a:stCxn id="18" idx="1"/>
            <a:endCxn id="15" idx="5"/>
          </p:cNvCxnSpPr>
          <p:nvPr/>
        </p:nvCxnSpPr>
        <p:spPr bwMode="auto">
          <a:xfrm flipH="1" flipV="1">
            <a:off x="4699279" y="319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26" name="AutoShape 29"/>
          <p:cNvCxnSpPr>
            <a:cxnSpLocks noChangeShapeType="1"/>
            <a:stCxn id="14" idx="7"/>
            <a:endCxn id="20" idx="3"/>
          </p:cNvCxnSpPr>
          <p:nvPr/>
        </p:nvCxnSpPr>
        <p:spPr bwMode="auto">
          <a:xfrm flipV="1">
            <a:off x="325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27" name="AutoShape 30"/>
          <p:cNvCxnSpPr>
            <a:cxnSpLocks noChangeShapeType="1"/>
            <a:stCxn id="16" idx="1"/>
            <a:endCxn id="20" idx="5"/>
          </p:cNvCxnSpPr>
          <p:nvPr/>
        </p:nvCxnSpPr>
        <p:spPr bwMode="auto">
          <a:xfrm flipH="1" flipV="1">
            <a:off x="397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28" name="AutoShape 31"/>
          <p:cNvCxnSpPr>
            <a:cxnSpLocks noChangeShapeType="1"/>
            <a:stCxn id="19" idx="3"/>
            <a:endCxn id="18" idx="7"/>
          </p:cNvCxnSpPr>
          <p:nvPr/>
        </p:nvCxnSpPr>
        <p:spPr bwMode="auto">
          <a:xfrm flipH="1">
            <a:off x="6139279" y="391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29" name="AutoShape 32"/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313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30" name="AutoShape 33"/>
          <p:cNvCxnSpPr>
            <a:cxnSpLocks noChangeShapeType="1"/>
            <a:stCxn id="14" idx="6"/>
            <a:endCxn id="16" idx="2"/>
          </p:cNvCxnSpPr>
          <p:nvPr/>
        </p:nvCxnSpPr>
        <p:spPr bwMode="auto">
          <a:xfrm>
            <a:off x="331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1" name="AutoShape 34"/>
          <p:cNvCxnSpPr>
            <a:cxnSpLocks noChangeShapeType="1"/>
            <a:stCxn id="16" idx="6"/>
            <a:endCxn id="18" idx="2"/>
          </p:cNvCxnSpPr>
          <p:nvPr/>
        </p:nvCxnSpPr>
        <p:spPr bwMode="auto">
          <a:xfrm>
            <a:off x="4752000" y="45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32" name="AutoShape 35"/>
          <p:cNvCxnSpPr>
            <a:cxnSpLocks noChangeShapeType="1"/>
            <a:stCxn id="15" idx="2"/>
            <a:endCxn id="13" idx="6"/>
          </p:cNvCxnSpPr>
          <p:nvPr/>
        </p:nvCxnSpPr>
        <p:spPr bwMode="auto">
          <a:xfrm flipH="1">
            <a:off x="3312000" y="306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33" name="AutoShape 36"/>
          <p:cNvCxnSpPr>
            <a:cxnSpLocks noChangeShapeType="1"/>
            <a:stCxn id="17" idx="2"/>
            <a:endCxn id="15" idx="6"/>
          </p:cNvCxnSpPr>
          <p:nvPr/>
        </p:nvCxnSpPr>
        <p:spPr bwMode="auto">
          <a:xfrm flipH="1">
            <a:off x="4752000" y="306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34" name="Text Box 37"/>
          <p:cNvSpPr txBox="1">
            <a:spLocks noChangeArrowheads="1"/>
          </p:cNvSpPr>
          <p:nvPr/>
        </p:nvSpPr>
        <p:spPr bwMode="auto">
          <a:xfrm>
            <a:off x="367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35" name="Text Box 38"/>
          <p:cNvSpPr txBox="1">
            <a:spLocks noChangeArrowheads="1"/>
          </p:cNvSpPr>
          <p:nvPr/>
        </p:nvSpPr>
        <p:spPr bwMode="auto">
          <a:xfrm>
            <a:off x="511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6" name="Text Box 39"/>
          <p:cNvSpPr txBox="1">
            <a:spLocks noChangeArrowheads="1"/>
          </p:cNvSpPr>
          <p:nvPr/>
        </p:nvSpPr>
        <p:spPr bwMode="auto">
          <a:xfrm>
            <a:off x="5112000" y="27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277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4932000" y="36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3672000" y="45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40" name="Text Box 46"/>
          <p:cNvSpPr txBox="1">
            <a:spLocks noChangeArrowheads="1"/>
          </p:cNvSpPr>
          <p:nvPr/>
        </p:nvSpPr>
        <p:spPr bwMode="auto">
          <a:xfrm>
            <a:off x="565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41" name="AutoShape 48"/>
          <p:cNvCxnSpPr>
            <a:cxnSpLocks noChangeShapeType="1"/>
            <a:stCxn id="18" idx="0"/>
            <a:endCxn id="17" idx="4"/>
          </p:cNvCxnSpPr>
          <p:nvPr/>
        </p:nvCxnSpPr>
        <p:spPr bwMode="auto">
          <a:xfrm flipV="1">
            <a:off x="6012000" y="32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1797795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Kruskal's</a:t>
            </a:r>
            <a:r>
              <a:rPr lang="en-US" altLang="zh-TW" dirty="0" smtClean="0"/>
              <a:t> </a:t>
            </a:r>
            <a:r>
              <a:rPr lang="en-US" altLang="zh-TW" dirty="0"/>
              <a:t>MST Algorithm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kruskalMST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set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set[ i ] = i;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link( x, y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set;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vector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&gt;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2771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Kruskal's</a:t>
            </a:r>
            <a:r>
              <a:rPr lang="en-US" altLang="zh-TW" dirty="0"/>
              <a:t> MST Algorithm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70198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821139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34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77263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02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24274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23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24274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08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24274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87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70646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7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70646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71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70646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99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5268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387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5268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97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9584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97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9584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253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9584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41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6967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23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6967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12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76967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9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583782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275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154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16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154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44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154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481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154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29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210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16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210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3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210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10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21068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16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&lt;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set[ i ] ==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set[ i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024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20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024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77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024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76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024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2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432000" y="3249000"/>
            <a:ext cx="5220000" cy="3060000"/>
          </a:xfrm>
        </p:spPr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set[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0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1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2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4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5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6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7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8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Cambria Math" panose="02040503050406030204" pitchFamily="18" charset="0"/>
                <a:cs typeface="+mn-cs"/>
                <a:sym typeface="Symbol" pitchFamily="18" charset="2"/>
              </a:rPr>
              <a:t>3</a:t>
            </a:r>
            <a:endParaRPr kumimoji="0" lang="en-US" altLang="zh-TW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960240"/>
              </p:ext>
            </p:extLst>
          </p:nvPr>
        </p:nvGraphicFramePr>
        <p:xfrm>
          <a:off x="4932000" y="288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5579411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2652876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305483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17130945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510419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877688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2937264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459606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3412221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470555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87962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200" i="1" dirty="0" smtClean="0"/>
                        <a:t>set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5282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86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kruskalMST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rank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i;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rank[ i ] = 0;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e.endPoint1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e.endPoint2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link( x, y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*forest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62489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4840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zh-TW" dirty="0" smtClean="0"/>
              <a:t>Disjoint-set Forests</a:t>
            </a:r>
          </a:p>
        </p:txBody>
      </p:sp>
    </p:spTree>
    <p:extLst>
      <p:ext uri="{BB962C8B-B14F-4D97-AF65-F5344CB8AC3E}">
        <p14:creationId xmlns:p14="http://schemas.microsoft.com/office/powerpoint/2010/main" val="292051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8" name="Oval 35"/>
          <p:cNvSpPr>
            <a:spLocks noChangeArrowheads="1"/>
          </p:cNvSpPr>
          <p:nvPr/>
        </p:nvSpPr>
        <p:spPr bwMode="auto">
          <a:xfrm>
            <a:off x="4032000" y="46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032000" y="55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0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2" name="弧形接點 11"/>
          <p:cNvCxnSpPr>
            <a:stCxn id="11" idx="2"/>
            <a:endCxn id="11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8" idx="0"/>
            <a:endCxn id="10" idx="4"/>
          </p:cNvCxnSpPr>
          <p:nvPr/>
        </p:nvCxnSpPr>
        <p:spPr bwMode="auto">
          <a:xfrm flipV="1">
            <a:off x="4212000" y="41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10" idx="0"/>
            <a:endCxn id="11" idx="4"/>
          </p:cNvCxnSpPr>
          <p:nvPr/>
        </p:nvCxnSpPr>
        <p:spPr bwMode="auto">
          <a:xfrm flipV="1">
            <a:off x="4212000" y="32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9" idx="0"/>
            <a:endCxn id="8" idx="4"/>
          </p:cNvCxnSpPr>
          <p:nvPr/>
        </p:nvCxnSpPr>
        <p:spPr bwMode="auto">
          <a:xfrm flipV="1">
            <a:off x="4212000" y="50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590717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8" name="Oval 35"/>
          <p:cNvSpPr>
            <a:spLocks noChangeArrowheads="1"/>
          </p:cNvSpPr>
          <p:nvPr/>
        </p:nvSpPr>
        <p:spPr bwMode="auto">
          <a:xfrm>
            <a:off x="4032000" y="46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032000" y="55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0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2" name="弧形接點 11"/>
          <p:cNvCxnSpPr>
            <a:stCxn id="11" idx="2"/>
            <a:endCxn id="11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8" idx="0"/>
            <a:endCxn id="10" idx="4"/>
          </p:cNvCxnSpPr>
          <p:nvPr/>
        </p:nvCxnSpPr>
        <p:spPr bwMode="auto">
          <a:xfrm flipV="1">
            <a:off x="4212000" y="41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10" idx="0"/>
            <a:endCxn id="11" idx="4"/>
          </p:cNvCxnSpPr>
          <p:nvPr/>
        </p:nvCxnSpPr>
        <p:spPr bwMode="auto">
          <a:xfrm flipV="1">
            <a:off x="4212000" y="32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9" idx="0"/>
            <a:endCxn id="8" idx="4"/>
          </p:cNvCxnSpPr>
          <p:nvPr/>
        </p:nvCxnSpPr>
        <p:spPr bwMode="auto">
          <a:xfrm flipV="1">
            <a:off x="4212000" y="50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/>
          <p:nvPr/>
        </p:nvCxnSpPr>
        <p:spPr bwMode="auto">
          <a:xfrm flipV="1">
            <a:off x="799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79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7606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8" name="Oval 35"/>
          <p:cNvSpPr>
            <a:spLocks noChangeArrowheads="1"/>
          </p:cNvSpPr>
          <p:nvPr/>
        </p:nvSpPr>
        <p:spPr bwMode="auto">
          <a:xfrm>
            <a:off x="4032000" y="46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032000" y="55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0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2" name="弧形接點 11"/>
          <p:cNvCxnSpPr>
            <a:stCxn id="11" idx="2"/>
            <a:endCxn id="11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8" idx="0"/>
            <a:endCxn id="10" idx="4"/>
          </p:cNvCxnSpPr>
          <p:nvPr/>
        </p:nvCxnSpPr>
        <p:spPr bwMode="auto">
          <a:xfrm flipV="1">
            <a:off x="4212000" y="41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10" idx="0"/>
            <a:endCxn id="11" idx="4"/>
          </p:cNvCxnSpPr>
          <p:nvPr/>
        </p:nvCxnSpPr>
        <p:spPr bwMode="auto">
          <a:xfrm flipV="1">
            <a:off x="4212000" y="32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9" idx="0"/>
            <a:endCxn id="8" idx="4"/>
          </p:cNvCxnSpPr>
          <p:nvPr/>
        </p:nvCxnSpPr>
        <p:spPr bwMode="auto">
          <a:xfrm flipV="1">
            <a:off x="4212000" y="50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/>
          <p:nvPr/>
        </p:nvCxnSpPr>
        <p:spPr bwMode="auto">
          <a:xfrm flipV="1">
            <a:off x="799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79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 bwMode="auto">
          <a:xfrm flipV="1">
            <a:off x="799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79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6396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8" name="Oval 35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2" name="弧形接點 11"/>
          <p:cNvCxnSpPr>
            <a:stCxn id="11" idx="2"/>
            <a:endCxn id="11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8" idx="1"/>
            <a:endCxn id="11" idx="5"/>
          </p:cNvCxnSpPr>
          <p:nvPr/>
        </p:nvCxnSpPr>
        <p:spPr bwMode="auto">
          <a:xfrm flipH="1" flipV="1">
            <a:off x="43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10" idx="7"/>
            <a:endCxn id="11" idx="3"/>
          </p:cNvCxnSpPr>
          <p:nvPr/>
        </p:nvCxnSpPr>
        <p:spPr bwMode="auto">
          <a:xfrm flipV="1">
            <a:off x="34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9" idx="0"/>
            <a:endCxn id="8" idx="4"/>
          </p:cNvCxnSpPr>
          <p:nvPr/>
        </p:nvCxnSpPr>
        <p:spPr bwMode="auto">
          <a:xfrm flipV="1">
            <a:off x="5112000" y="41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/>
          <p:nvPr/>
        </p:nvCxnSpPr>
        <p:spPr bwMode="auto">
          <a:xfrm flipV="1">
            <a:off x="799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79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 flipV="1">
            <a:off x="799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31" name="Text Box 43"/>
          <p:cNvSpPr txBox="1">
            <a:spLocks noChangeArrowheads="1"/>
          </p:cNvSpPr>
          <p:nvPr/>
        </p:nvSpPr>
        <p:spPr bwMode="auto">
          <a:xfrm>
            <a:off x="79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386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8" name="Oval 35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9" name="Oval 3"/>
          <p:cNvSpPr>
            <a:spLocks noChangeArrowheads="1"/>
          </p:cNvSpPr>
          <p:nvPr/>
        </p:nvSpPr>
        <p:spPr bwMode="auto">
          <a:xfrm>
            <a:off x="4932000" y="46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11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12" name="弧形接點 11"/>
          <p:cNvCxnSpPr>
            <a:stCxn id="11" idx="2"/>
            <a:endCxn id="11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3" name="直線單箭頭接點 12"/>
          <p:cNvCxnSpPr>
            <a:stCxn id="8" idx="1"/>
            <a:endCxn id="11" idx="5"/>
          </p:cNvCxnSpPr>
          <p:nvPr/>
        </p:nvCxnSpPr>
        <p:spPr bwMode="auto">
          <a:xfrm flipH="1" flipV="1">
            <a:off x="43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4" name="直線單箭頭接點 13"/>
          <p:cNvCxnSpPr>
            <a:stCxn id="10" idx="7"/>
            <a:endCxn id="11" idx="3"/>
          </p:cNvCxnSpPr>
          <p:nvPr/>
        </p:nvCxnSpPr>
        <p:spPr bwMode="auto">
          <a:xfrm flipV="1">
            <a:off x="34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5" name="直線單箭頭接點 14"/>
          <p:cNvCxnSpPr>
            <a:stCxn id="9" idx="0"/>
            <a:endCxn id="8" idx="4"/>
          </p:cNvCxnSpPr>
          <p:nvPr/>
        </p:nvCxnSpPr>
        <p:spPr bwMode="auto">
          <a:xfrm flipV="1">
            <a:off x="5112000" y="414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/>
          <p:nvPr/>
        </p:nvCxnSpPr>
        <p:spPr bwMode="auto">
          <a:xfrm flipV="1">
            <a:off x="799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79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30" name="直線單箭頭接點 29"/>
          <p:cNvCxnSpPr/>
          <p:nvPr/>
        </p:nvCxnSpPr>
        <p:spPr bwMode="auto">
          <a:xfrm flipV="1">
            <a:off x="799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31" name="Text Box 43"/>
          <p:cNvSpPr txBox="1">
            <a:spLocks noChangeArrowheads="1"/>
          </p:cNvSpPr>
          <p:nvPr/>
        </p:nvSpPr>
        <p:spPr bwMode="auto">
          <a:xfrm>
            <a:off x="79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 bwMode="auto">
          <a:xfrm flipV="1">
            <a:off x="799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7706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732000" y="198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latin typeface="Lucida Console" panose="020B0609040504020204" pitchFamily="49" charset="0"/>
                <a:ea typeface="細明體" panose="02020509000000000000" pitchFamily="49" charset="-120"/>
              </a:rPr>
              <a:t>3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6732000" y="306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2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732000" y="414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6732000" y="5229000"/>
            <a:ext cx="1800000" cy="360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lvl="0" eaLnBrk="0" hangingPunct="0">
              <a:spcBef>
                <a:spcPts val="0"/>
              </a:spcBef>
              <a:buClr>
                <a:srgbClr val="3333CC"/>
              </a:buClr>
            </a:pPr>
            <a:r>
              <a:rPr lang="en-US" altLang="zh-TW" sz="1600" kern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findSet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sz="1600" kern="0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0 </a:t>
            </a:r>
            <a:r>
              <a:rPr lang="en-US" altLang="zh-TW" sz="1600" kern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  <a:endParaRPr lang="zh-TW" altLang="en-US" sz="1600" kern="0" dirty="0">
              <a:solidFill>
                <a:srgbClr val="000000"/>
              </a:solidFill>
              <a:latin typeface="Lucida Console" panose="020B0609040504020204" pitchFamily="49" charset="0"/>
              <a:ea typeface="新細明體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>
            <a:off x="727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9" name="直線單箭頭接點 18"/>
          <p:cNvCxnSpPr/>
          <p:nvPr/>
        </p:nvCxnSpPr>
        <p:spPr bwMode="auto">
          <a:xfrm>
            <a:off x="727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20" name="直線單箭頭接點 19"/>
          <p:cNvCxnSpPr/>
          <p:nvPr/>
        </p:nvCxnSpPr>
        <p:spPr bwMode="auto">
          <a:xfrm>
            <a:off x="727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cxnSp>
        <p:nvCxnSpPr>
          <p:cNvPr id="18" name="直線單箭頭接點 17"/>
          <p:cNvCxnSpPr/>
          <p:nvPr/>
        </p:nvCxnSpPr>
        <p:spPr bwMode="auto">
          <a:xfrm flipV="1">
            <a:off x="7992000" y="450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1" name="Text Box 43"/>
          <p:cNvSpPr txBox="1">
            <a:spLocks noChangeArrowheads="1"/>
          </p:cNvSpPr>
          <p:nvPr/>
        </p:nvSpPr>
        <p:spPr bwMode="auto">
          <a:xfrm>
            <a:off x="7992000" y="468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 bwMode="auto">
          <a:xfrm flipV="1">
            <a:off x="7992000" y="342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7992000" y="360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cxnSp>
        <p:nvCxnSpPr>
          <p:cNvPr id="24" name="直線單箭頭接點 23"/>
          <p:cNvCxnSpPr/>
          <p:nvPr/>
        </p:nvCxnSpPr>
        <p:spPr bwMode="auto">
          <a:xfrm flipV="1">
            <a:off x="7992000" y="23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lg" len="lg"/>
          </a:ln>
          <a:effectLst/>
        </p:spPr>
      </p:cxnSp>
      <p:sp>
        <p:nvSpPr>
          <p:cNvPr id="25" name="Text Box 43"/>
          <p:cNvSpPr txBox="1">
            <a:spLocks noChangeArrowheads="1"/>
          </p:cNvSpPr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r>
              <a:rPr lang="en-US" altLang="zh-TW" sz="2000" dirty="0" smtClean="0">
                <a:solidFill>
                  <a:srgbClr val="0000FF"/>
                </a:solidFill>
              </a:rPr>
              <a:t>0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sp>
        <p:nvSpPr>
          <p:cNvPr id="26" name="Oval 35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27" name="Oval 3"/>
          <p:cNvSpPr>
            <a:spLocks noChangeArrowheads="1"/>
          </p:cNvSpPr>
          <p:nvPr/>
        </p:nvSpPr>
        <p:spPr bwMode="auto">
          <a:xfrm>
            <a:off x="4032000" y="396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sp>
        <p:nvSpPr>
          <p:cNvPr id="28" name="Oval 5"/>
          <p:cNvSpPr>
            <a:spLocks noChangeArrowheads="1"/>
          </p:cNvSpPr>
          <p:nvPr/>
        </p:nvSpPr>
        <p:spPr bwMode="auto">
          <a:xfrm>
            <a:off x="3132000" y="37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29" name="Oval 37"/>
          <p:cNvSpPr>
            <a:spLocks noChangeArrowheads="1"/>
          </p:cNvSpPr>
          <p:nvPr/>
        </p:nvSpPr>
        <p:spPr bwMode="auto">
          <a:xfrm>
            <a:off x="4032000" y="288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30" name="弧形接點 29"/>
          <p:cNvCxnSpPr>
            <a:stCxn id="29" idx="2"/>
            <a:endCxn id="29" idx="6"/>
          </p:cNvCxnSpPr>
          <p:nvPr/>
        </p:nvCxnSpPr>
        <p:spPr bwMode="auto">
          <a:xfrm rot="10800000" flipH="1">
            <a:off x="4032000" y="3069000"/>
            <a:ext cx="360000" cy="12700"/>
          </a:xfrm>
          <a:prstGeom prst="curvedConnector5">
            <a:avLst>
              <a:gd name="adj1" fmla="val -63500"/>
              <a:gd name="adj2" fmla="val 3217323"/>
              <a:gd name="adj3" fmla="val 1635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1" name="直線單箭頭接點 30"/>
          <p:cNvCxnSpPr>
            <a:stCxn id="26" idx="1"/>
            <a:endCxn id="29" idx="5"/>
          </p:cNvCxnSpPr>
          <p:nvPr/>
        </p:nvCxnSpPr>
        <p:spPr bwMode="auto">
          <a:xfrm flipH="1" flipV="1">
            <a:off x="43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2" name="直線單箭頭接點 31"/>
          <p:cNvCxnSpPr>
            <a:stCxn id="28" idx="7"/>
            <a:endCxn id="29" idx="3"/>
          </p:cNvCxnSpPr>
          <p:nvPr/>
        </p:nvCxnSpPr>
        <p:spPr bwMode="auto">
          <a:xfrm flipV="1">
            <a:off x="3439279" y="3196279"/>
            <a:ext cx="645442" cy="6454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3" name="直線單箭頭接點 32"/>
          <p:cNvCxnSpPr>
            <a:stCxn id="27" idx="0"/>
            <a:endCxn id="29" idx="4"/>
          </p:cNvCxnSpPr>
          <p:nvPr/>
        </p:nvCxnSpPr>
        <p:spPr bwMode="auto">
          <a:xfrm flipV="1">
            <a:off x="4212000" y="3249000"/>
            <a:ext cx="0" cy="72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7139864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kruskalMST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rank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i;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rank[ i ] = 0;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e.endPoint1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e.endPoint2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link( x, y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*forest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15406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findSet( parent[ </a:t>
            </a:r>
            <a:r>
              <a:rPr lang="da-DK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67775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e.endPoint1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buClr>
                <a:srgbClr val="3333CC"/>
              </a:buClr>
            </a:pP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e.endPoint2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2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91325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2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78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73938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2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78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9" name="Oval 35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0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1" name="直線單箭頭接點 80"/>
          <p:cNvCxnSpPr>
            <a:stCxn id="80" idx="0"/>
            <a:endCxn id="79" idx="4"/>
          </p:cNvCxnSpPr>
          <p:nvPr/>
        </p:nvCxnSpPr>
        <p:spPr bwMode="auto">
          <a:xfrm flipV="1">
            <a:off x="74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2" name="Rectangle 3"/>
          <p:cNvSpPr txBox="1">
            <a:spLocks noChangeArrowheads="1"/>
          </p:cNvSpPr>
          <p:nvPr/>
        </p:nvSpPr>
        <p:spPr bwMode="auto">
          <a:xfrm>
            <a:off x="69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0340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3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74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9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0788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3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74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9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8466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3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2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74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9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408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3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0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61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3004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7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0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61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1644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7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0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cxnSp>
        <p:nvCxnSpPr>
          <p:cNvPr id="80" name="直線單箭頭接點 79"/>
          <p:cNvCxnSpPr>
            <a:stCxn id="79" idx="0"/>
            <a:endCxn id="78" idx="4"/>
          </p:cNvCxnSpPr>
          <p:nvPr/>
        </p:nvCxnSpPr>
        <p:spPr bwMode="auto">
          <a:xfrm flipV="1">
            <a:off x="61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005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線單箭頭接點 79"/>
          <p:cNvCxnSpPr/>
          <p:nvPr/>
        </p:nvCxnSpPr>
        <p:spPr bwMode="auto">
          <a:xfrm flipV="1">
            <a:off x="6192000" y="52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7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0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92213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61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58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7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6373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61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58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0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1 ) = 1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26246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61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58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0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1 ) = 1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56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4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0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88826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70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7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0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1 ) = 1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5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1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1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3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8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29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8320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70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7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5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1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1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3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8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29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7871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/>
          <p:nvPr/>
        </p:nvCxnSpPr>
        <p:spPr bwMode="auto">
          <a:xfrm flipH="1" flipV="1">
            <a:off x="709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732000" y="52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55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1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1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3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8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29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13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直線單箭頭接點 91"/>
          <p:cNvCxnSpPr/>
          <p:nvPr/>
        </p:nvCxnSpPr>
        <p:spPr bwMode="auto">
          <a:xfrm flipH="1" flipV="1">
            <a:off x="781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81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709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4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2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3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5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601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47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5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直線單箭頭接點 91"/>
          <p:cNvCxnSpPr/>
          <p:nvPr/>
        </p:nvCxnSpPr>
        <p:spPr bwMode="auto">
          <a:xfrm flipH="1" flipV="1">
            <a:off x="781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81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709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2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3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5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601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47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7811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直線單箭頭接點 91"/>
          <p:cNvCxnSpPr/>
          <p:nvPr/>
        </p:nvCxnSpPr>
        <p:spPr bwMode="auto">
          <a:xfrm flipH="1" flipV="1">
            <a:off x="781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81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709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5 )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2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3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5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601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47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50006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直線單箭頭接點 91"/>
          <p:cNvCxnSpPr/>
          <p:nvPr/>
        </p:nvCxnSpPr>
        <p:spPr bwMode="auto">
          <a:xfrm flipH="1" flipV="1">
            <a:off x="781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81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709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6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2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3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5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601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47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950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直線單箭頭接點 91"/>
          <p:cNvCxnSpPr/>
          <p:nvPr/>
        </p:nvCxnSpPr>
        <p:spPr bwMode="auto">
          <a:xfrm flipH="1" flipV="1">
            <a:off x="781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81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709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6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2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83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83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85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9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83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601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47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048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直線單箭頭接點 84"/>
          <p:cNvCxnSpPr/>
          <p:nvPr/>
        </p:nvCxnSpPr>
        <p:spPr bwMode="auto">
          <a:xfrm flipH="1" flipV="1">
            <a:off x="76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63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6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09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6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1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13952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直線單箭頭接點 84"/>
          <p:cNvCxnSpPr/>
          <p:nvPr/>
        </p:nvCxnSpPr>
        <p:spPr bwMode="auto">
          <a:xfrm flipH="1" flipV="1">
            <a:off x="76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63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3 )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09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6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1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51086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直線單箭頭接點 84"/>
          <p:cNvCxnSpPr/>
          <p:nvPr/>
        </p:nvCxnSpPr>
        <p:spPr bwMode="auto">
          <a:xfrm flipH="1" flipV="1">
            <a:off x="76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63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1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09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6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1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5768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直線單箭頭接點 84"/>
          <p:cNvCxnSpPr/>
          <p:nvPr/>
        </p:nvCxnSpPr>
        <p:spPr bwMode="auto">
          <a:xfrm flipH="1" flipV="1">
            <a:off x="76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63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1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709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47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65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1" name="Rectangle 3"/>
          <p:cNvSpPr txBox="1">
            <a:spLocks noChangeArrowheads="1"/>
          </p:cNvSpPr>
          <p:nvPr/>
        </p:nvSpPr>
        <p:spPr bwMode="auto">
          <a:xfrm>
            <a:off x="5112000" y="46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1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25675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727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27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0 ) = 1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73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0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90030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727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27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1 )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4 )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73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0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7400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727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27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8 ) = 8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73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0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401088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7272000" y="4329000"/>
            <a:ext cx="144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727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V="1">
            <a:off x="7272000" y="4329000"/>
            <a:ext cx="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72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8 ) = 8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73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709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5597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單箭頭接點 90"/>
          <p:cNvCxnSpPr/>
          <p:nvPr/>
        </p:nvCxnSpPr>
        <p:spPr bwMode="auto">
          <a:xfrm flipV="1">
            <a:off x="51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69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691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H="1" flipV="1">
            <a:off x="691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link(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&gt;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== rank[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3333CC"/>
              </a:buClr>
            </a:pP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rank[ </a:t>
            </a:r>
            <a:r>
              <a:rPr lang="es-E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y</a:t>
            </a:r>
            <a:r>
              <a:rPr lang="es-E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+ 1;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8 ) = 8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3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8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89865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單箭頭接點 90"/>
          <p:cNvCxnSpPr/>
          <p:nvPr/>
        </p:nvCxnSpPr>
        <p:spPr bwMode="auto">
          <a:xfrm flipV="1">
            <a:off x="51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69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691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H="1" flipV="1">
            <a:off x="691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8 )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3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8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6479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單箭頭接點 90"/>
          <p:cNvCxnSpPr/>
          <p:nvPr/>
        </p:nvCxnSpPr>
        <p:spPr bwMode="auto">
          <a:xfrm flipV="1">
            <a:off x="51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69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691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H="1" flipV="1">
            <a:off x="691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1 )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2 )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3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8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23671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單箭頭接點 90"/>
          <p:cNvCxnSpPr/>
          <p:nvPr/>
        </p:nvCxnSpPr>
        <p:spPr bwMode="auto">
          <a:xfrm flipV="1">
            <a:off x="51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69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691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H="1" flipV="1">
            <a:off x="691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3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8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75766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直線單箭頭接點 90"/>
          <p:cNvCxnSpPr/>
          <p:nvPr/>
        </p:nvCxnSpPr>
        <p:spPr bwMode="auto">
          <a:xfrm flipV="1">
            <a:off x="51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4" name="直線單箭頭接點 93"/>
          <p:cNvCxnSpPr/>
          <p:nvPr/>
        </p:nvCxnSpPr>
        <p:spPr bwMode="auto">
          <a:xfrm flipV="1">
            <a:off x="583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5" name="直線單箭頭接點 84"/>
          <p:cNvCxnSpPr/>
          <p:nvPr/>
        </p:nvCxnSpPr>
        <p:spPr bwMode="auto">
          <a:xfrm flipH="1" flipV="1">
            <a:off x="6912000" y="4329000"/>
            <a:ext cx="180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92" name="直線單箭頭接點 91"/>
          <p:cNvCxnSpPr/>
          <p:nvPr/>
        </p:nvCxnSpPr>
        <p:spPr bwMode="auto">
          <a:xfrm flipH="1" flipV="1">
            <a:off x="6912000" y="4329000"/>
            <a:ext cx="108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6" name="直線單箭頭接點 85"/>
          <p:cNvCxnSpPr/>
          <p:nvPr/>
        </p:nvCxnSpPr>
        <p:spPr bwMode="auto">
          <a:xfrm flipH="1" flipV="1">
            <a:off x="691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552000" y="4329000"/>
            <a:ext cx="360000" cy="9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933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e.endPoint1 );</a:t>
            </a:r>
          </a:p>
          <a:p>
            <a:pPr lvl="0">
              <a:buClr>
                <a:srgbClr val="3333CC"/>
              </a:buClr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e.endPoint2 );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pPr lvl="0"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link( x, y );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552000" y="2349000"/>
            <a:ext cx="2159999" cy="720000"/>
          </a:xfrm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6 ) = 5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TW" dirty="0" err="1"/>
              <a:t>findSet</a:t>
            </a:r>
            <a:r>
              <a:rPr lang="en-US" altLang="zh-TW" dirty="0"/>
              <a:t>( </a:t>
            </a:r>
            <a:r>
              <a:rPr lang="en-US" altLang="zh-TW" dirty="0" smtClean="0"/>
              <a:t>7 ) = 5</a:t>
            </a:r>
            <a:endParaRPr lang="en-US" altLang="zh-TW" i="1" dirty="0" smtClean="0">
              <a:solidFill>
                <a:srgbClr val="008000"/>
              </a:solidFill>
              <a:sym typeface="Symbol" pitchFamily="18" charset="2"/>
            </a:endParaRPr>
          </a:p>
        </p:txBody>
      </p:sp>
      <p:sp>
        <p:nvSpPr>
          <p:cNvPr id="41" name="Text Box 47"/>
          <p:cNvSpPr txBox="1">
            <a:spLocks noChangeArrowheads="1"/>
          </p:cNvSpPr>
          <p:nvPr/>
        </p:nvSpPr>
        <p:spPr bwMode="auto">
          <a:xfrm>
            <a:off x="22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42" name="Text Box 49"/>
          <p:cNvSpPr txBox="1">
            <a:spLocks noChangeArrowheads="1"/>
          </p:cNvSpPr>
          <p:nvPr/>
        </p:nvSpPr>
        <p:spPr bwMode="auto">
          <a:xfrm>
            <a:off x="61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439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8000" tIns="3600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4" name="Text Box 45"/>
          <p:cNvSpPr txBox="1">
            <a:spLocks noChangeArrowheads="1"/>
          </p:cNvSpPr>
          <p:nvPr/>
        </p:nvSpPr>
        <p:spPr bwMode="auto">
          <a:xfrm>
            <a:off x="4392000" y="9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45" name="Text Box 50"/>
          <p:cNvSpPr txBox="1">
            <a:spLocks noChangeArrowheads="1"/>
          </p:cNvSpPr>
          <p:nvPr/>
        </p:nvSpPr>
        <p:spPr bwMode="auto">
          <a:xfrm>
            <a:off x="612000" y="180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46" name="Text Box 51"/>
          <p:cNvSpPr txBox="1">
            <a:spLocks noChangeArrowheads="1"/>
          </p:cNvSpPr>
          <p:nvPr/>
        </p:nvSpPr>
        <p:spPr bwMode="auto">
          <a:xfrm>
            <a:off x="1332000" y="162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47" name="Text Box 40"/>
          <p:cNvSpPr txBox="1">
            <a:spLocks noChangeArrowheads="1"/>
          </p:cNvSpPr>
          <p:nvPr/>
        </p:nvSpPr>
        <p:spPr bwMode="auto">
          <a:xfrm>
            <a:off x="2232000" y="108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36000" rIns="3600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48" name="Oval 15"/>
          <p:cNvSpPr>
            <a:spLocks noChangeArrowheads="1"/>
          </p:cNvSpPr>
          <p:nvPr/>
        </p:nvSpPr>
        <p:spPr bwMode="auto">
          <a:xfrm>
            <a:off x="43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0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49" name="Oval 16"/>
          <p:cNvSpPr>
            <a:spLocks noChangeArrowheads="1"/>
          </p:cNvSpPr>
          <p:nvPr/>
        </p:nvSpPr>
        <p:spPr bwMode="auto">
          <a:xfrm>
            <a:off x="115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1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0" name="Oval 17"/>
          <p:cNvSpPr>
            <a:spLocks noChangeArrowheads="1"/>
          </p:cNvSpPr>
          <p:nvPr/>
        </p:nvSpPr>
        <p:spPr bwMode="auto">
          <a:xfrm>
            <a:off x="115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2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1" name="Oval 18"/>
          <p:cNvSpPr>
            <a:spLocks noChangeArrowheads="1"/>
          </p:cNvSpPr>
          <p:nvPr/>
        </p:nvSpPr>
        <p:spPr bwMode="auto">
          <a:xfrm>
            <a:off x="259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4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2" name="Oval 19"/>
          <p:cNvSpPr>
            <a:spLocks noChangeArrowheads="1"/>
          </p:cNvSpPr>
          <p:nvPr/>
        </p:nvSpPr>
        <p:spPr bwMode="auto">
          <a:xfrm>
            <a:off x="259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5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3" name="Oval 20"/>
          <p:cNvSpPr>
            <a:spLocks noChangeArrowheads="1"/>
          </p:cNvSpPr>
          <p:nvPr/>
        </p:nvSpPr>
        <p:spPr bwMode="auto">
          <a:xfrm>
            <a:off x="4032000" y="72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6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4032000" y="216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7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475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8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sp>
        <p:nvSpPr>
          <p:cNvPr id="56" name="Oval 23"/>
          <p:cNvSpPr>
            <a:spLocks noChangeArrowheads="1"/>
          </p:cNvSpPr>
          <p:nvPr/>
        </p:nvSpPr>
        <p:spPr bwMode="auto">
          <a:xfrm>
            <a:off x="1872000" y="1449000"/>
            <a:ext cx="360000" cy="3600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18000" anchor="ctr"/>
          <a:lstStyle/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2000" kern="0" dirty="0" smtClean="0">
                <a:solidFill>
                  <a:srgbClr val="000000"/>
                </a:solidFill>
                <a:latin typeface="+mn-lt"/>
                <a:ea typeface="Cambria Math" panose="02040503050406030204" pitchFamily="18" charset="0"/>
                <a:sym typeface="Symbol" pitchFamily="18" charset="2"/>
              </a:rPr>
              <a:t>3</a:t>
            </a:r>
            <a:endParaRPr kumimoji="0" lang="en-US" altLang="zh-TW" sz="2000" kern="0" dirty="0">
              <a:solidFill>
                <a:srgbClr val="000000"/>
              </a:solidFill>
              <a:latin typeface="+mn-lt"/>
              <a:sym typeface="Symbol" pitchFamily="18" charset="2"/>
            </a:endParaRPr>
          </a:p>
        </p:txBody>
      </p:sp>
      <p:cxnSp>
        <p:nvCxnSpPr>
          <p:cNvPr id="57" name="AutoShape 24"/>
          <p:cNvCxnSpPr>
            <a:cxnSpLocks noChangeShapeType="1"/>
            <a:stCxn id="49" idx="3"/>
            <a:endCxn id="48" idx="7"/>
          </p:cNvCxnSpPr>
          <p:nvPr/>
        </p:nvCxnSpPr>
        <p:spPr bwMode="auto">
          <a:xfrm flipH="1">
            <a:off x="7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58" name="AutoShape 25"/>
          <p:cNvCxnSpPr>
            <a:cxnSpLocks noChangeShapeType="1"/>
            <a:stCxn id="50" idx="1"/>
            <a:endCxn id="48" idx="5"/>
          </p:cNvCxnSpPr>
          <p:nvPr/>
        </p:nvCxnSpPr>
        <p:spPr bwMode="auto">
          <a:xfrm flipH="1" flipV="1">
            <a:off x="739279" y="175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59" name="AutoShape 26"/>
          <p:cNvCxnSpPr>
            <a:cxnSpLocks noChangeShapeType="1"/>
            <a:stCxn id="56" idx="7"/>
            <a:endCxn id="51" idx="3"/>
          </p:cNvCxnSpPr>
          <p:nvPr/>
        </p:nvCxnSpPr>
        <p:spPr bwMode="auto">
          <a:xfrm flipV="1">
            <a:off x="217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0" name="AutoShape 27"/>
          <p:cNvCxnSpPr>
            <a:cxnSpLocks noChangeShapeType="1"/>
            <a:stCxn id="55" idx="1"/>
            <a:endCxn id="53" idx="5"/>
          </p:cNvCxnSpPr>
          <p:nvPr/>
        </p:nvCxnSpPr>
        <p:spPr bwMode="auto">
          <a:xfrm flipH="1" flipV="1">
            <a:off x="4339279" y="1036279"/>
            <a:ext cx="465442" cy="46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1" name="AutoShape 28"/>
          <p:cNvCxnSpPr>
            <a:cxnSpLocks noChangeShapeType="1"/>
            <a:stCxn id="54" idx="1"/>
            <a:endCxn id="51" idx="5"/>
          </p:cNvCxnSpPr>
          <p:nvPr/>
        </p:nvCxnSpPr>
        <p:spPr bwMode="auto">
          <a:xfrm flipH="1" flipV="1">
            <a:off x="2899279" y="1036279"/>
            <a:ext cx="1185442" cy="1185442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cxnSp>
        <p:nvCxnSpPr>
          <p:cNvPr id="62" name="AutoShape 29"/>
          <p:cNvCxnSpPr>
            <a:cxnSpLocks noChangeShapeType="1"/>
            <a:stCxn id="50" idx="7"/>
            <a:endCxn id="56" idx="3"/>
          </p:cNvCxnSpPr>
          <p:nvPr/>
        </p:nvCxnSpPr>
        <p:spPr bwMode="auto">
          <a:xfrm flipV="1">
            <a:off x="145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med" len="med"/>
            <a:tailEnd type="none" w="lg" len="lg"/>
          </a:ln>
        </p:spPr>
      </p:cxnSp>
      <p:cxnSp>
        <p:nvCxnSpPr>
          <p:cNvPr id="63" name="AutoShape 30"/>
          <p:cNvCxnSpPr>
            <a:cxnSpLocks noChangeShapeType="1"/>
            <a:stCxn id="52" idx="1"/>
            <a:endCxn id="56" idx="5"/>
          </p:cNvCxnSpPr>
          <p:nvPr/>
        </p:nvCxnSpPr>
        <p:spPr bwMode="auto">
          <a:xfrm flipH="1" flipV="1">
            <a:off x="217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4" name="AutoShape 31"/>
          <p:cNvCxnSpPr>
            <a:cxnSpLocks noChangeShapeType="1"/>
            <a:stCxn id="55" idx="3"/>
            <a:endCxn id="54" idx="7"/>
          </p:cNvCxnSpPr>
          <p:nvPr/>
        </p:nvCxnSpPr>
        <p:spPr bwMode="auto">
          <a:xfrm flipH="1">
            <a:off x="4339279" y="1756279"/>
            <a:ext cx="465442" cy="465442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5" name="AutoShape 32"/>
          <p:cNvCxnSpPr>
            <a:cxnSpLocks noChangeShapeType="1"/>
            <a:stCxn id="50" idx="0"/>
            <a:endCxn id="49" idx="4"/>
          </p:cNvCxnSpPr>
          <p:nvPr/>
        </p:nvCxnSpPr>
        <p:spPr bwMode="auto">
          <a:xfrm flipV="1">
            <a:off x="133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66" name="AutoShape 33"/>
          <p:cNvCxnSpPr>
            <a:cxnSpLocks noChangeShapeType="1"/>
            <a:stCxn id="50" idx="6"/>
            <a:endCxn id="52" idx="2"/>
          </p:cNvCxnSpPr>
          <p:nvPr/>
        </p:nvCxnSpPr>
        <p:spPr bwMode="auto">
          <a:xfrm>
            <a:off x="151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7" name="AutoShape 34"/>
          <p:cNvCxnSpPr>
            <a:cxnSpLocks noChangeShapeType="1"/>
            <a:stCxn id="52" idx="6"/>
            <a:endCxn id="54" idx="2"/>
          </p:cNvCxnSpPr>
          <p:nvPr/>
        </p:nvCxnSpPr>
        <p:spPr bwMode="auto">
          <a:xfrm>
            <a:off x="2952000" y="234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 type="none" w="lg" len="lg"/>
            <a:tailEnd type="none" w="lg" len="lg"/>
          </a:ln>
        </p:spPr>
      </p:cxnSp>
      <p:cxnSp>
        <p:nvCxnSpPr>
          <p:cNvPr id="68" name="AutoShape 35"/>
          <p:cNvCxnSpPr>
            <a:cxnSpLocks noChangeShapeType="1"/>
            <a:stCxn id="51" idx="2"/>
            <a:endCxn id="49" idx="6"/>
          </p:cNvCxnSpPr>
          <p:nvPr/>
        </p:nvCxnSpPr>
        <p:spPr bwMode="auto">
          <a:xfrm flipH="1">
            <a:off x="1512000" y="909000"/>
            <a:ext cx="10800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lg" len="lg"/>
          </a:ln>
        </p:spPr>
      </p:cxnSp>
      <p:cxnSp>
        <p:nvCxnSpPr>
          <p:cNvPr id="69" name="AutoShape 36"/>
          <p:cNvCxnSpPr>
            <a:cxnSpLocks noChangeShapeType="1"/>
            <a:stCxn id="53" idx="2"/>
            <a:endCxn id="51" idx="6"/>
          </p:cNvCxnSpPr>
          <p:nvPr/>
        </p:nvCxnSpPr>
        <p:spPr bwMode="auto">
          <a:xfrm flipH="1">
            <a:off x="2952000" y="909000"/>
            <a:ext cx="1080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lg" len="lg"/>
          </a:ln>
        </p:spPr>
      </p:cxnSp>
      <p:sp>
        <p:nvSpPr>
          <p:cNvPr id="70" name="Text Box 37"/>
          <p:cNvSpPr txBox="1">
            <a:spLocks noChangeArrowheads="1"/>
          </p:cNvSpPr>
          <p:nvPr/>
        </p:nvSpPr>
        <p:spPr bwMode="auto">
          <a:xfrm>
            <a:off x="187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</a:p>
        </p:txBody>
      </p:sp>
      <p:sp>
        <p:nvSpPr>
          <p:cNvPr id="71" name="Text Box 38"/>
          <p:cNvSpPr txBox="1">
            <a:spLocks noChangeArrowheads="1"/>
          </p:cNvSpPr>
          <p:nvPr/>
        </p:nvSpPr>
        <p:spPr bwMode="auto">
          <a:xfrm>
            <a:off x="331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72" name="Text Box 39"/>
          <p:cNvSpPr txBox="1">
            <a:spLocks noChangeArrowheads="1"/>
          </p:cNvSpPr>
          <p:nvPr/>
        </p:nvSpPr>
        <p:spPr bwMode="auto">
          <a:xfrm>
            <a:off x="3312000" y="5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73" name="Text Box 41"/>
          <p:cNvSpPr txBox="1">
            <a:spLocks noChangeArrowheads="1"/>
          </p:cNvSpPr>
          <p:nvPr/>
        </p:nvSpPr>
        <p:spPr bwMode="auto">
          <a:xfrm>
            <a:off x="97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74" name="Text Box 42"/>
          <p:cNvSpPr txBox="1">
            <a:spLocks noChangeArrowheads="1"/>
          </p:cNvSpPr>
          <p:nvPr/>
        </p:nvSpPr>
        <p:spPr bwMode="auto">
          <a:xfrm>
            <a:off x="3132000" y="1449000"/>
            <a:ext cx="540000" cy="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75" name="Text Box 43"/>
          <p:cNvSpPr txBox="1">
            <a:spLocks noChangeArrowheads="1"/>
          </p:cNvSpPr>
          <p:nvPr/>
        </p:nvSpPr>
        <p:spPr bwMode="auto">
          <a:xfrm>
            <a:off x="1872000" y="23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76" name="Text Box 46"/>
          <p:cNvSpPr txBox="1">
            <a:spLocks noChangeArrowheads="1"/>
          </p:cNvSpPr>
          <p:nvPr/>
        </p:nvSpPr>
        <p:spPr bwMode="auto">
          <a:xfrm>
            <a:off x="3852000" y="1449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36000" t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</a:p>
        </p:txBody>
      </p:sp>
      <p:cxnSp>
        <p:nvCxnSpPr>
          <p:cNvPr id="77" name="AutoShape 48"/>
          <p:cNvCxnSpPr>
            <a:cxnSpLocks noChangeShapeType="1"/>
            <a:stCxn id="54" idx="0"/>
            <a:endCxn id="53" idx="4"/>
          </p:cNvCxnSpPr>
          <p:nvPr/>
        </p:nvCxnSpPr>
        <p:spPr bwMode="auto">
          <a:xfrm flipV="1">
            <a:off x="4212000" y="108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24" name="內容版面配置區 2"/>
          <p:cNvSpPr txBox="1">
            <a:spLocks/>
          </p:cNvSpPr>
          <p:nvPr/>
        </p:nvSpPr>
        <p:spPr bwMode="auto">
          <a:xfrm>
            <a:off x="5472000" y="549000"/>
            <a:ext cx="3240000" cy="162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1600">
                <a:solidFill>
                  <a:schemeClr val="tx1"/>
                </a:solidFill>
                <a:latin typeface="Lucida Console" panose="020B0609040504020204" pitchFamily="49" charset="0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findSet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kern="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!=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fS( p</a:t>
            </a:r>
            <a:r>
              <a:rPr lang="da-DK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da-DK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da-DK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kern="0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p</a:t>
            </a:r>
            <a:r>
              <a:rPr lang="en-US" altLang="zh-TW" kern="0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kern="0" spc="300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x</a:t>
            </a:r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kern="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kern="0" dirty="0"/>
          </a:p>
        </p:txBody>
      </p:sp>
      <p:sp>
        <p:nvSpPr>
          <p:cNvPr id="81" name="Rectangle 3"/>
          <p:cNvSpPr txBox="1">
            <a:spLocks noChangeArrowheads="1"/>
          </p:cNvSpPr>
          <p:nvPr/>
        </p:nvSpPr>
        <p:spPr bwMode="auto">
          <a:xfrm>
            <a:off x="6372000" y="3789000"/>
            <a:ext cx="108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0" rIns="91440" bIns="108000" numCol="1" anchor="ctr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823913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2319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itchFamily="2" charset="2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3988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TW" i="1" kern="0" dirty="0" smtClean="0">
                <a:solidFill>
                  <a:schemeClr val="tx1"/>
                </a:solidFill>
              </a:rPr>
              <a:t>rank</a:t>
            </a:r>
            <a:r>
              <a:rPr lang="en-US" altLang="zh-TW" kern="0" dirty="0" smtClean="0">
                <a:solidFill>
                  <a:schemeClr val="tx1"/>
                </a:solidFill>
              </a:rPr>
              <a:t> </a:t>
            </a:r>
            <a:r>
              <a:rPr lang="en-US" altLang="zh-TW" kern="0" dirty="0" smtClean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kern="0" dirty="0" smtClean="0">
                <a:solidFill>
                  <a:schemeClr val="tx1"/>
                </a:solidFill>
              </a:rPr>
              <a:t> 2</a:t>
            </a:r>
            <a:endParaRPr lang="en-US" altLang="zh-TW" i="1" kern="0" dirty="0" smtClean="0">
              <a:solidFill>
                <a:schemeClr val="tx1"/>
              </a:solidFill>
              <a:sym typeface="Symbol" pitchFamily="18" charset="2"/>
            </a:endParaRPr>
          </a:p>
        </p:txBody>
      </p:sp>
      <p:sp>
        <p:nvSpPr>
          <p:cNvPr id="82" name="Oval 35"/>
          <p:cNvSpPr>
            <a:spLocks noChangeArrowheads="1"/>
          </p:cNvSpPr>
          <p:nvPr/>
        </p:nvSpPr>
        <p:spPr bwMode="auto">
          <a:xfrm>
            <a:off x="781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4</a:t>
            </a:r>
            <a:endParaRPr lang="en-US" altLang="zh-TW" sz="2000" dirty="0"/>
          </a:p>
        </p:txBody>
      </p:sp>
      <p:sp>
        <p:nvSpPr>
          <p:cNvPr id="83" name="Oval 3"/>
          <p:cNvSpPr>
            <a:spLocks noChangeArrowheads="1"/>
          </p:cNvSpPr>
          <p:nvPr/>
        </p:nvSpPr>
        <p:spPr bwMode="auto">
          <a:xfrm>
            <a:off x="781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3</a:t>
            </a:r>
            <a:endParaRPr lang="en-US" altLang="zh-TW" sz="2000" dirty="0"/>
          </a:p>
        </p:txBody>
      </p:sp>
      <p:cxnSp>
        <p:nvCxnSpPr>
          <p:cNvPr id="84" name="直線單箭頭接點 83"/>
          <p:cNvCxnSpPr>
            <a:stCxn id="83" idx="0"/>
            <a:endCxn id="82" idx="4"/>
          </p:cNvCxnSpPr>
          <p:nvPr/>
        </p:nvCxnSpPr>
        <p:spPr bwMode="auto">
          <a:xfrm flipV="1">
            <a:off x="799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79" name="Oval 3"/>
          <p:cNvSpPr>
            <a:spLocks noChangeArrowheads="1"/>
          </p:cNvSpPr>
          <p:nvPr/>
        </p:nvSpPr>
        <p:spPr bwMode="auto">
          <a:xfrm>
            <a:off x="637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2</a:t>
            </a:r>
            <a:endParaRPr lang="en-US" altLang="zh-TW" sz="2000" dirty="0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5</a:t>
            </a:r>
            <a:endParaRPr lang="en-US" altLang="zh-TW" sz="2000" dirty="0"/>
          </a:p>
        </p:txBody>
      </p:sp>
      <p:sp>
        <p:nvSpPr>
          <p:cNvPr id="87" name="Oval 3"/>
          <p:cNvSpPr>
            <a:spLocks noChangeArrowheads="1"/>
          </p:cNvSpPr>
          <p:nvPr/>
        </p:nvSpPr>
        <p:spPr bwMode="auto">
          <a:xfrm>
            <a:off x="709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7</a:t>
            </a:r>
            <a:endParaRPr lang="en-US" altLang="zh-TW" sz="2000" dirty="0"/>
          </a:p>
        </p:txBody>
      </p:sp>
      <p:sp>
        <p:nvSpPr>
          <p:cNvPr id="88" name="Oval 35"/>
          <p:cNvSpPr>
            <a:spLocks noChangeArrowheads="1"/>
          </p:cNvSpPr>
          <p:nvPr/>
        </p:nvSpPr>
        <p:spPr bwMode="auto">
          <a:xfrm>
            <a:off x="565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36000" anchor="ctr"/>
          <a:lstStyle/>
          <a:p>
            <a:r>
              <a:rPr lang="en-US" altLang="zh-TW" sz="2000" dirty="0" smtClean="0"/>
              <a:t>1</a:t>
            </a:r>
            <a:endParaRPr lang="en-US" altLang="zh-TW" sz="2000" dirty="0"/>
          </a:p>
        </p:txBody>
      </p:sp>
      <p:sp>
        <p:nvSpPr>
          <p:cNvPr id="89" name="Oval 3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>
              <a:alpha val="50195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0</a:t>
            </a:r>
            <a:endParaRPr lang="en-US" altLang="zh-TW" sz="2000" dirty="0"/>
          </a:p>
        </p:txBody>
      </p:sp>
      <p:cxnSp>
        <p:nvCxnSpPr>
          <p:cNvPr id="90" name="直線單箭頭接點 89"/>
          <p:cNvCxnSpPr>
            <a:stCxn id="89" idx="0"/>
            <a:endCxn id="88" idx="4"/>
          </p:cNvCxnSpPr>
          <p:nvPr/>
        </p:nvCxnSpPr>
        <p:spPr bwMode="auto">
          <a:xfrm flipV="1">
            <a:off x="5832000" y="5409000"/>
            <a:ext cx="0" cy="5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lg" len="lg"/>
          </a:ln>
          <a:effectLst/>
        </p:spPr>
      </p:cxnSp>
      <p:sp>
        <p:nvSpPr>
          <p:cNvPr id="93" name="Oval 3"/>
          <p:cNvSpPr>
            <a:spLocks noChangeArrowheads="1"/>
          </p:cNvSpPr>
          <p:nvPr/>
        </p:nvSpPr>
        <p:spPr bwMode="auto">
          <a:xfrm>
            <a:off x="85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6</a:t>
            </a:r>
            <a:endParaRPr lang="en-US" altLang="zh-TW" sz="2000" dirty="0"/>
          </a:p>
        </p:txBody>
      </p:sp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4932000" y="50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36000" bIns="36000" anchor="ctr"/>
          <a:lstStyle/>
          <a:p>
            <a:r>
              <a:rPr lang="en-US" altLang="zh-TW" sz="2000" dirty="0" smtClean="0"/>
              <a:t>8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34705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kruskalMST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rank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0; i &lt; numNodes;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parent[ i ] = i;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rank[ i ] = 0;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&amp;e :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edgeList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x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e.endPoint1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da-DK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y = findSet( </a:t>
            </a:r>
            <a:r>
              <a:rPr lang="da-DK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e.endPoint2 </a:t>
            </a:r>
            <a:r>
              <a:rPr lang="da-DK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x != y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e.isTreeEdge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true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link( x, y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Edge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endPoint2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double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weight;</a:t>
            </a:r>
          </a:p>
          <a:p>
            <a:pPr lvl="0">
              <a:buClr>
                <a:srgbClr val="3333CC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bool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isTreeEdge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3333CC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pPr lvl="0">
              <a:buClr>
                <a:srgbClr val="3333CC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long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rank;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ea typeface="細明體" panose="02020509000000000000" pitchFamily="49" charset="-120"/>
              </a:rPr>
              <a:t>Node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*forest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88420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Worst-case Time Complexity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ct val="40000"/>
              </a:spcBef>
              <a:buClr>
                <a:srgbClr val="000000"/>
              </a:buClr>
              <a:buSzPct val="100000"/>
            </a:pPr>
            <a:r>
              <a:rPr lang="en-US" altLang="zh-TW" dirty="0" smtClean="0">
                <a:solidFill>
                  <a:srgbClr val="000000"/>
                </a:solidFill>
              </a:rPr>
              <a:t>The </a:t>
            </a:r>
            <a:r>
              <a:rPr lang="en-US" altLang="zh-TW" dirty="0">
                <a:solidFill>
                  <a:srgbClr val="000000"/>
                </a:solidFill>
              </a:rPr>
              <a:t>worst-case time </a:t>
            </a:r>
            <a:r>
              <a:rPr lang="en-US" altLang="zh-TW" dirty="0" smtClean="0">
                <a:solidFill>
                  <a:srgbClr val="000000"/>
                </a:solidFill>
              </a:rPr>
              <a:t>complexity</a:t>
            </a:r>
            <a:r>
              <a:rPr lang="en-US" altLang="zh-TW" dirty="0"/>
              <a:t> of </a:t>
            </a:r>
            <a:r>
              <a:rPr lang="en-US" altLang="zh-TW" dirty="0" err="1"/>
              <a:t>Kruskal's</a:t>
            </a:r>
            <a:r>
              <a:rPr lang="en-US" altLang="zh-TW" dirty="0"/>
              <a:t> algorithm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chemeClr val="bg1"/>
                </a:solidFill>
              </a:rPr>
              <a:t>m</a:t>
            </a:r>
            <a:r>
              <a:rPr lang="en-US" altLang="zh-TW" dirty="0" err="1" smtClean="0">
                <a:solidFill>
                  <a:schemeClr val="bg1"/>
                </a:solidFill>
              </a:rPr>
              <a:t>log</a:t>
            </a:r>
            <a:r>
              <a:rPr lang="en-US" altLang="zh-TW" spc="300" baseline="-25000" dirty="0" err="1" smtClean="0">
                <a:solidFill>
                  <a:schemeClr val="bg1"/>
                </a:solidFill>
              </a:rPr>
              <a:t>2</a:t>
            </a:r>
            <a:r>
              <a:rPr lang="en-US" altLang="zh-TW" i="1" dirty="0" err="1" smtClean="0">
                <a:solidFill>
                  <a:schemeClr val="bg1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), </a:t>
            </a:r>
            <a:r>
              <a:rPr lang="en-US" altLang="zh-TW" dirty="0">
                <a:solidFill>
                  <a:srgbClr val="000000"/>
                </a:solidFill>
              </a:rPr>
              <a:t>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pc="100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9390230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Worst-case Time Complexity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hangingPunct="1">
              <a:spcBef>
                <a:spcPct val="40000"/>
              </a:spcBef>
              <a:buClr>
                <a:srgbClr val="000000"/>
              </a:buClr>
              <a:buSzPct val="100000"/>
            </a:pPr>
            <a:r>
              <a:rPr lang="en-US" altLang="zh-TW" dirty="0" smtClean="0">
                <a:solidFill>
                  <a:srgbClr val="000000"/>
                </a:solidFill>
              </a:rPr>
              <a:t>The </a:t>
            </a:r>
            <a:r>
              <a:rPr lang="en-US" altLang="zh-TW" dirty="0">
                <a:solidFill>
                  <a:srgbClr val="000000"/>
                </a:solidFill>
              </a:rPr>
              <a:t>worst-case time </a:t>
            </a:r>
            <a:r>
              <a:rPr lang="en-US" altLang="zh-TW" dirty="0" smtClean="0">
                <a:solidFill>
                  <a:srgbClr val="000000"/>
                </a:solidFill>
              </a:rPr>
              <a:t>complexity</a:t>
            </a:r>
            <a:r>
              <a:rPr lang="en-US" altLang="zh-TW" dirty="0"/>
              <a:t> of </a:t>
            </a:r>
            <a:r>
              <a:rPr lang="en-US" altLang="zh-TW" dirty="0" err="1"/>
              <a:t>Kruskal's</a:t>
            </a:r>
            <a:r>
              <a:rPr lang="en-US" altLang="zh-TW" dirty="0"/>
              <a:t> algorithm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m</a:t>
            </a:r>
            <a:r>
              <a:rPr lang="en-US" altLang="zh-TW" dirty="0" err="1" smtClean="0">
                <a:solidFill>
                  <a:srgbClr val="000000"/>
                </a:solidFill>
              </a:rPr>
              <a:t>log</a:t>
            </a:r>
            <a:r>
              <a:rPr lang="en-US" altLang="zh-TW" spc="300" baseline="-25000" dirty="0" err="1" smtClean="0">
                <a:solidFill>
                  <a:srgbClr val="000000"/>
                </a:solidFill>
              </a:rPr>
              <a:t>2</a:t>
            </a:r>
            <a:r>
              <a:rPr lang="en-US" altLang="zh-TW" i="1" dirty="0" err="1" smtClean="0">
                <a:solidFill>
                  <a:srgbClr val="000000"/>
                </a:solidFill>
              </a:rPr>
              <a:t>n</a:t>
            </a:r>
            <a:r>
              <a:rPr lang="en-US" altLang="zh-TW" dirty="0" smtClean="0">
                <a:solidFill>
                  <a:srgbClr val="000000"/>
                </a:solidFill>
              </a:rPr>
              <a:t>), </a:t>
            </a:r>
            <a:r>
              <a:rPr lang="en-US" altLang="zh-TW" dirty="0">
                <a:solidFill>
                  <a:srgbClr val="000000"/>
                </a:solidFill>
              </a:rPr>
              <a:t>where </a:t>
            </a:r>
            <a:r>
              <a:rPr lang="en-US" altLang="zh-TW" i="1" dirty="0">
                <a:solidFill>
                  <a:srgbClr val="000000"/>
                </a:solidFill>
              </a:rPr>
              <a:t>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300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 and </a:t>
            </a:r>
            <a:r>
              <a:rPr lang="en-US" altLang="zh-TW" i="1" dirty="0">
                <a:solidFill>
                  <a:srgbClr val="000000"/>
                </a:solidFill>
              </a:rPr>
              <a:t>m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pc="100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dirty="0">
                <a:solidFill>
                  <a:srgbClr val="000000"/>
                </a:solidFill>
                <a:latin typeface="Georgia" panose="02040502050405020303" pitchFamily="18" charset="0"/>
              </a:rPr>
              <a:t>|</a:t>
            </a:r>
            <a:r>
              <a:rPr lang="en-US" altLang="zh-TW" dirty="0">
                <a:solidFill>
                  <a:srgbClr val="000000"/>
                </a:solidFill>
              </a:rPr>
              <a:t>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6811130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61950"/>
            <a:r>
              <a:rPr lang="en-US" altLang="zh-TW" dirty="0"/>
              <a:t>The for loop of lines </a:t>
            </a:r>
            <a:r>
              <a:rPr lang="en-US" altLang="zh-TW" spc="100" dirty="0" smtClean="0"/>
              <a:t>5-</a:t>
            </a:r>
            <a:r>
              <a:rPr lang="en-US" altLang="zh-TW" dirty="0" smtClean="0"/>
              <a:t>8 performs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spc="300" dirty="0" smtClean="0"/>
              <a:t>E</a:t>
            </a:r>
            <a:r>
              <a:rPr lang="en-US" altLang="zh-TW" dirty="0" smtClean="0"/>
              <a:t>) </a:t>
            </a:r>
            <a:r>
              <a:rPr lang="en-US" altLang="zh-TW" dirty="0"/>
              <a:t>F</a:t>
            </a:r>
            <a:r>
              <a:rPr lang="en-US" altLang="zh-TW" sz="1800" dirty="0"/>
              <a:t>IND</a:t>
            </a:r>
            <a:r>
              <a:rPr lang="en-US" altLang="zh-TW" dirty="0"/>
              <a:t>-S</a:t>
            </a:r>
            <a:r>
              <a:rPr lang="en-US" altLang="zh-TW" sz="1800" dirty="0"/>
              <a:t>ET</a:t>
            </a:r>
            <a:r>
              <a:rPr lang="en-US" altLang="zh-TW" dirty="0"/>
              <a:t> and U</a:t>
            </a:r>
            <a:r>
              <a:rPr lang="en-US" altLang="zh-TW" sz="1800" dirty="0"/>
              <a:t>NION</a:t>
            </a:r>
            <a:r>
              <a:rPr lang="en-US" altLang="zh-TW" dirty="0"/>
              <a:t> operations on the disjoint-set forest. </a:t>
            </a:r>
            <a:r>
              <a:rPr lang="en-US" altLang="zh-TW" dirty="0" smtClean="0"/>
              <a:t>Along with </a:t>
            </a:r>
            <a:r>
              <a:rPr lang="en-US" altLang="zh-TW" dirty="0"/>
              <a:t>the </a:t>
            </a:r>
            <a:r>
              <a:rPr lang="en-US" altLang="zh-TW" i="1" spc="300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dirty="0"/>
              <a:t>M</a:t>
            </a:r>
            <a:r>
              <a:rPr lang="en-US" altLang="zh-TW" sz="1800" dirty="0"/>
              <a:t>AKE</a:t>
            </a:r>
            <a:r>
              <a:rPr lang="en-US" altLang="zh-TW" dirty="0"/>
              <a:t>-S</a:t>
            </a:r>
            <a:r>
              <a:rPr lang="en-US" altLang="zh-TW" sz="1800" dirty="0"/>
              <a:t>ET</a:t>
            </a:r>
            <a:r>
              <a:rPr lang="en-US" altLang="zh-TW" dirty="0"/>
              <a:t> operations, these take a total of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dirty="0" smtClean="0"/>
              <a:t> </a:t>
            </a:r>
            <a:r>
              <a:rPr lang="en-US" altLang="zh-TW" i="1" spc="300" dirty="0" smtClean="0"/>
              <a:t>E</a:t>
            </a:r>
            <a:r>
              <a:rPr lang="en-US" altLang="zh-TW" spc="300" dirty="0" smtClean="0"/>
              <a:t>)</a:t>
            </a:r>
            <a:r>
              <a:rPr lang="en-US" altLang="zh-TW" i="1" spc="150" dirty="0" smtClean="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r>
              <a:rPr lang="en-US" altLang="zh-TW" dirty="0" smtClean="0"/>
              <a:t>(</a:t>
            </a:r>
            <a:r>
              <a:rPr lang="en-US" altLang="zh-TW" i="1" spc="400" dirty="0" smtClean="0"/>
              <a:t>V</a:t>
            </a:r>
            <a:r>
              <a:rPr lang="en-US" altLang="zh-TW" dirty="0" smtClean="0"/>
              <a:t>)) </a:t>
            </a:r>
            <a:r>
              <a:rPr lang="en-US" altLang="zh-TW" dirty="0"/>
              <a:t>time</a:t>
            </a:r>
            <a:r>
              <a:rPr lang="en-US" altLang="zh-TW" dirty="0" smtClean="0"/>
              <a:t>, where </a:t>
            </a:r>
            <a:r>
              <a:rPr lang="en-US" altLang="zh-TW" i="1" dirty="0" smtClean="0">
                <a:latin typeface="Symbol" panose="05050102010706020507" pitchFamily="18" charset="2"/>
              </a:rPr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is the very slowly growing function defined in Section 21.4. Because </a:t>
            </a:r>
            <a:r>
              <a:rPr lang="en-US" altLang="zh-TW" dirty="0" smtClean="0"/>
              <a:t>we assume </a:t>
            </a:r>
            <a:r>
              <a:rPr lang="en-US" altLang="zh-TW" dirty="0"/>
              <a:t>that </a:t>
            </a:r>
            <a:r>
              <a:rPr lang="en-US" altLang="zh-TW" i="1" dirty="0"/>
              <a:t>G</a:t>
            </a:r>
            <a:r>
              <a:rPr lang="en-US" altLang="zh-TW" dirty="0"/>
              <a:t> is connected, we have </a:t>
            </a:r>
            <a:r>
              <a:rPr lang="en-US" altLang="zh-TW" i="1" spc="300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≥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</a:t>
            </a:r>
            <a:r>
              <a:rPr lang="en-US" altLang="zh-TW" spc="450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dirty="0" smtClean="0"/>
              <a:t>1</a:t>
            </a:r>
            <a:r>
              <a:rPr lang="en-US" altLang="zh-TW" dirty="0"/>
              <a:t>, and so the disjoint-set </a:t>
            </a:r>
            <a:r>
              <a:rPr lang="en-US" altLang="zh-TW" dirty="0" smtClean="0"/>
              <a:t>operations take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dirty="0" err="1" smtClean="0">
                <a:solidFill>
                  <a:srgbClr val="000000"/>
                </a:solidFill>
              </a:rPr>
              <a:t>E</a:t>
            </a:r>
            <a:r>
              <a:rPr lang="en-US" altLang="zh-TW" i="1" spc="150" dirty="0" err="1" smtClean="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spc="400" dirty="0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))</a:t>
            </a:r>
            <a:r>
              <a:rPr lang="en-US" altLang="zh-TW" dirty="0" smtClean="0"/>
              <a:t> </a:t>
            </a:r>
            <a:r>
              <a:rPr lang="en-US" altLang="zh-TW" dirty="0"/>
              <a:t>time. Moreover, </a:t>
            </a:r>
            <a:r>
              <a:rPr lang="en-US" altLang="zh-TW" dirty="0" smtClean="0"/>
              <a:t>since </a:t>
            </a:r>
            <a:r>
              <a:rPr lang="en-US" altLang="zh-TW" i="1" spc="150" dirty="0" smtClean="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spc="400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)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</a:t>
            </a:r>
            <a:r>
              <a:rPr lang="en-US" altLang="zh-TW" spc="300" dirty="0" err="1" smtClean="0"/>
              <a:t>g</a:t>
            </a:r>
            <a:r>
              <a:rPr lang="en-US" altLang="zh-TW" i="1" spc="400" dirty="0" err="1">
                <a:solidFill>
                  <a:srgbClr val="000000"/>
                </a:solidFill>
              </a:rPr>
              <a:t>V</a:t>
            </a:r>
            <a:r>
              <a:rPr lang="en-US" altLang="zh-TW" dirty="0" smtClean="0"/>
              <a:t>)</a:t>
            </a:r>
            <a:r>
              <a:rPr lang="en-US" altLang="zh-TW" dirty="0" smtClean="0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 err="1" smtClean="0">
                <a:solidFill>
                  <a:srgbClr val="000000"/>
                </a:solidFill>
              </a:rPr>
              <a:t>l</a:t>
            </a:r>
            <a:r>
              <a:rPr lang="en-US" altLang="zh-TW" spc="300" dirty="0" err="1" smtClean="0">
                <a:solidFill>
                  <a:srgbClr val="000000"/>
                </a:solidFill>
              </a:rPr>
              <a:t>g</a:t>
            </a:r>
            <a:r>
              <a:rPr lang="en-US" altLang="zh-TW" i="1" spc="300" dirty="0" err="1" smtClean="0">
                <a:solidFill>
                  <a:srgbClr val="000000"/>
                </a:solidFill>
              </a:rPr>
              <a:t>E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, </a:t>
            </a:r>
            <a:r>
              <a:rPr lang="en-US" altLang="zh-TW" dirty="0"/>
              <a:t>the </a:t>
            </a:r>
            <a:r>
              <a:rPr lang="en-US" altLang="zh-TW" dirty="0" smtClean="0"/>
              <a:t>total running </a:t>
            </a:r>
            <a:r>
              <a:rPr lang="en-US" altLang="zh-TW" dirty="0"/>
              <a:t>time of </a:t>
            </a:r>
            <a:r>
              <a:rPr lang="en-US" altLang="zh-TW" dirty="0" err="1"/>
              <a:t>Kruskal’s</a:t>
            </a:r>
            <a:r>
              <a:rPr lang="en-US" altLang="zh-TW" dirty="0"/>
              <a:t> algorithm is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spc="300" dirty="0" err="1" smtClean="0">
                <a:solidFill>
                  <a:srgbClr val="000000"/>
                </a:solidFill>
              </a:rPr>
              <a:t>E</a:t>
            </a:r>
            <a:r>
              <a:rPr lang="en-US" altLang="zh-TW" dirty="0" err="1" smtClean="0">
                <a:solidFill>
                  <a:srgbClr val="000000"/>
                </a:solidFill>
              </a:rPr>
              <a:t>l</a:t>
            </a:r>
            <a:r>
              <a:rPr lang="en-US" altLang="zh-TW" spc="300" dirty="0" err="1" smtClean="0">
                <a:solidFill>
                  <a:srgbClr val="000000"/>
                </a:solidFill>
              </a:rPr>
              <a:t>g</a:t>
            </a:r>
            <a:r>
              <a:rPr lang="en-US" altLang="zh-TW" i="1" spc="300" dirty="0" err="1" smtClean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. </a:t>
            </a:r>
            <a:r>
              <a:rPr lang="en-US" altLang="zh-TW" dirty="0"/>
              <a:t>Observing that </a:t>
            </a:r>
            <a:r>
              <a:rPr lang="en-US" altLang="zh-TW" i="1" dirty="0" smtClean="0"/>
              <a:t>E</a:t>
            </a:r>
            <a:r>
              <a:rPr lang="en-US" altLang="zh-TW" dirty="0" smtClean="0"/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dirty="0"/>
              <a:t> </a:t>
            </a:r>
            <a:r>
              <a:rPr lang="en-US" altLang="zh-TW" i="1" spc="400" dirty="0" err="1" smtClean="0"/>
              <a:t>V</a:t>
            </a:r>
            <a:r>
              <a:rPr lang="en-US" altLang="zh-TW" baseline="44000" dirty="0" err="1" smtClean="0"/>
              <a:t>2</a:t>
            </a:r>
            <a:r>
              <a:rPr lang="en-US" altLang="zh-TW" dirty="0" smtClean="0"/>
              <a:t>, we </a:t>
            </a:r>
            <a:r>
              <a:rPr lang="en-US" altLang="zh-TW" dirty="0"/>
              <a:t>have </a:t>
            </a:r>
            <a:r>
              <a:rPr lang="en-US" altLang="zh-TW" dirty="0" err="1" smtClean="0">
                <a:solidFill>
                  <a:srgbClr val="000000"/>
                </a:solidFill>
              </a:rPr>
              <a:t>l</a:t>
            </a:r>
            <a:r>
              <a:rPr lang="en-US" altLang="zh-TW" spc="300" dirty="0" err="1" smtClean="0">
                <a:solidFill>
                  <a:srgbClr val="000000"/>
                </a:solidFill>
              </a:rPr>
              <a:t>g</a:t>
            </a:r>
            <a:r>
              <a:rPr lang="en-US" altLang="zh-TW" i="1" dirty="0" err="1" smtClean="0">
                <a:solidFill>
                  <a:srgbClr val="000000"/>
                </a:solidFill>
              </a:rPr>
              <a:t>E</a:t>
            </a:r>
            <a:r>
              <a:rPr lang="en-US" altLang="zh-TW" dirty="0" smtClean="0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>
                <a:solidFill>
                  <a:srgbClr val="000000"/>
                </a:solidFill>
              </a:rPr>
              <a:t>O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dirty="0" err="1">
                <a:solidFill>
                  <a:srgbClr val="000000"/>
                </a:solidFill>
              </a:rPr>
              <a:t>l</a:t>
            </a:r>
            <a:r>
              <a:rPr lang="en-US" altLang="zh-TW" spc="300" dirty="0" err="1">
                <a:solidFill>
                  <a:srgbClr val="000000"/>
                </a:solidFill>
              </a:rPr>
              <a:t>g</a:t>
            </a:r>
            <a:r>
              <a:rPr lang="en-US" altLang="zh-TW" i="1" spc="400" dirty="0" err="1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, </a:t>
            </a:r>
            <a:r>
              <a:rPr lang="en-US" altLang="zh-TW" dirty="0"/>
              <a:t>and so we can restate the running time of </a:t>
            </a:r>
            <a:r>
              <a:rPr lang="en-US" altLang="zh-TW" dirty="0" err="1" smtClean="0"/>
              <a:t>Kruskal’s</a:t>
            </a:r>
            <a:r>
              <a:rPr lang="en-US" altLang="zh-TW" dirty="0" smtClean="0"/>
              <a:t> algorithm </a:t>
            </a:r>
            <a:r>
              <a:rPr lang="en-US" altLang="zh-TW" dirty="0"/>
              <a:t>as </a:t>
            </a:r>
            <a:r>
              <a:rPr lang="en-US" altLang="zh-TW" i="1" dirty="0" smtClean="0">
                <a:solidFill>
                  <a:srgbClr val="000000"/>
                </a:solidFill>
              </a:rPr>
              <a:t>O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i="1" spc="300" dirty="0" err="1">
                <a:solidFill>
                  <a:srgbClr val="000000"/>
                </a:solidFill>
              </a:rPr>
              <a:t>E</a:t>
            </a:r>
            <a:r>
              <a:rPr lang="en-US" altLang="zh-TW" dirty="0" err="1" smtClean="0">
                <a:solidFill>
                  <a:srgbClr val="000000"/>
                </a:solidFill>
              </a:rPr>
              <a:t>l</a:t>
            </a:r>
            <a:r>
              <a:rPr lang="en-US" altLang="zh-TW" spc="300" dirty="0" err="1" smtClean="0">
                <a:solidFill>
                  <a:srgbClr val="000000"/>
                </a:solidFill>
              </a:rPr>
              <a:t>g</a:t>
            </a:r>
            <a:r>
              <a:rPr lang="en-US" altLang="zh-TW" i="1" spc="400" dirty="0" err="1" smtClean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886184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For integers 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0 </a:t>
                </a:r>
                <a:r>
                  <a:rPr lang="en-US" altLang="zh-TW" dirty="0" smtClean="0"/>
                  <a:t>and</a:t>
                </a:r>
                <a:r>
                  <a:rPr lang="en-US" altLang="zh-TW" sz="1800" dirty="0" smtClean="0"/>
                  <a:t> 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1, we define the function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k</a:t>
                </a:r>
                <a:r>
                  <a:rPr lang="en-US" altLang="zh-TW" dirty="0" smtClean="0"/>
                  <a:t>( </a:t>
                </a:r>
                <a:r>
                  <a:rPr lang="en-US" altLang="zh-TW" i="1" spc="300" dirty="0" smtClean="0"/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b="0" i="1" smtClean="0"/>
                            <m:t>A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TW" b="0" i="0" smtClean="0"/>
                        <m:t>( </m:t>
                      </m:r>
                      <m:r>
                        <m:rPr>
                          <m:nor/>
                        </m:rPr>
                        <a:rPr lang="en-US" altLang="zh-TW" b="0" i="1" spc="300" smtClean="0"/>
                        <m:t>j</m:t>
                      </m:r>
                      <m:r>
                        <m:rPr>
                          <m:nor/>
                        </m:rPr>
                        <a:rPr lang="en-US" altLang="zh-TW" b="0" i="0" smtClean="0"/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1" smtClean="0"/>
                                  <m:t>j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mtClean="0"/>
                                  <m:t> 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pc="3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zh-TW" b="0" i="0" smtClean="0"/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/>
                                  <m:t>k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0,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zh-TW" b="0" i="1" smtClean="0"/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  <m:sup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1)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(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pc="300" smtClean="0"/>
                                  <m:t>j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1" smtClean="0"/>
                                  <m:t>k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b="0" i="0" smtClean="0"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r>
                  <a:rPr lang="en-US" altLang="zh-TW" dirty="0" smtClean="0"/>
                  <a:t>where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US" altLang="zh-TW" i="1" spc="300">
                        <a:solidFill>
                          <a:srgbClr val="000000"/>
                        </a:solidFill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US" altLang="zh-TW" i="1" spc="300">
                        <a:solidFill>
                          <a:srgbClr val="000000"/>
                        </a:solidFill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i="1" spc="300" baseline="-25000" dirty="0" err="1" smtClean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zh-TW" spc="300" baseline="-25000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US" altLang="zh-TW" i="1" spc="300">
                        <a:solidFill>
                          <a:srgbClr val="000000"/>
                        </a:solidFill>
                      </a:rPr>
                      <m:t>j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for </a:t>
                </a:r>
                <a:r>
                  <a:rPr lang="en-US" altLang="zh-TW" i="1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/>
                  <a:t> 1.</a:t>
                </a:r>
              </a:p>
              <a:p>
                <a:endParaRPr lang="en-US" altLang="zh-TW" dirty="0" smtClean="0"/>
              </a:p>
              <a:p>
                <a:r>
                  <a:rPr lang="en-US" altLang="zh-TW" b="1" i="1" dirty="0"/>
                  <a:t>Lemma 21.2</a:t>
                </a:r>
              </a:p>
              <a:p>
                <a:r>
                  <a:rPr lang="en-US" altLang="zh-TW" dirty="0"/>
                  <a:t>For </a:t>
                </a:r>
                <a:r>
                  <a:rPr lang="en-US" altLang="zh-TW" dirty="0" smtClean="0"/>
                  <a:t>any </a:t>
                </a:r>
                <a:r>
                  <a:rPr lang="en-US" altLang="zh-TW" dirty="0"/>
                  <a:t>integer</a:t>
                </a:r>
                <a:r>
                  <a:rPr lang="en-US" altLang="zh-TW" sz="1800" dirty="0"/>
                  <a:t> </a:t>
                </a:r>
                <a:r>
                  <a:rPr lang="en-US" altLang="zh-TW" sz="1800" i="1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we have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sz="2200" spc="3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 smtClean="0"/>
                  <a:t>1.</a:t>
                </a:r>
              </a:p>
              <a:p>
                <a:endParaRPr lang="en-US" altLang="zh-TW" dirty="0"/>
              </a:p>
              <a:p>
                <a:pPr lvl="0">
                  <a:buClr>
                    <a:srgbClr val="3333CC"/>
                  </a:buClr>
                </a:pPr>
                <a:r>
                  <a:rPr lang="en-US" altLang="zh-TW" b="1" i="1" dirty="0">
                    <a:solidFill>
                      <a:srgbClr val="000000"/>
                    </a:solidFill>
                  </a:rPr>
                  <a:t>Lemma </a:t>
                </a:r>
                <a:r>
                  <a:rPr lang="en-US" altLang="zh-TW" b="1" i="1" dirty="0" smtClean="0">
                    <a:solidFill>
                      <a:srgbClr val="000000"/>
                    </a:solidFill>
                  </a:rPr>
                  <a:t>21.3</a:t>
                </a:r>
                <a:endParaRPr lang="en-US" altLang="zh-TW" b="1" i="1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any integer</a:t>
                </a:r>
                <a:r>
                  <a:rPr lang="en-US" altLang="zh-TW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we have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baseline="44000" dirty="0" err="1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baseline="44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spc="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1.</a:t>
                </a:r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80887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>
                  <a:buClr>
                    <a:srgbClr val="3333CC"/>
                  </a:buClr>
                </a:pPr>
                <a:r>
                  <a:rPr lang="en-US" altLang="zh-TW" b="1" i="1" dirty="0">
                    <a:solidFill>
                      <a:srgbClr val="000000"/>
                    </a:solidFill>
                  </a:rPr>
                  <a:t>Lemma 21.2</a:t>
                </a:r>
              </a:p>
              <a:p>
                <a:pPr lvl="0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any integer</a:t>
                </a:r>
                <a:r>
                  <a:rPr lang="en-US" altLang="zh-TW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we have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spc="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1.</a:t>
                </a:r>
              </a:p>
              <a:p>
                <a:pPr lvl="0">
                  <a:buClr>
                    <a:srgbClr val="3333CC"/>
                  </a:buClr>
                </a:pP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lvl="0">
                  <a:buClr>
                    <a:srgbClr val="3333CC"/>
                  </a:buClr>
                </a:pPr>
                <a:r>
                  <a:rPr lang="en-US" altLang="zh-TW" b="1" i="1" dirty="0">
                    <a:solidFill>
                      <a:srgbClr val="000000"/>
                    </a:solidFill>
                  </a:rPr>
                  <a:t>Lemma 21.3</a:t>
                </a:r>
              </a:p>
              <a:p>
                <a:pPr lvl="0">
                  <a:buClr>
                    <a:srgbClr val="3333CC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For any integer</a:t>
                </a:r>
                <a:r>
                  <a:rPr lang="en-US" altLang="zh-TW" sz="18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18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1, we have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spc="3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2</a:t>
                </a:r>
                <a:r>
                  <a:rPr lang="en-US" altLang="zh-TW" i="1" baseline="44000" dirty="0" err="1">
                    <a:solidFill>
                      <a:srgbClr val="000000"/>
                    </a:solidFill>
                  </a:rPr>
                  <a:t>j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baseline="440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+</a:t>
                </a:r>
                <a:r>
                  <a:rPr lang="en-US" altLang="zh-TW" baseline="440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spc="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1)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0" indent="0">
                  <a:tabLst>
                    <a:tab pos="715963" algn="l"/>
                  </a:tabLst>
                </a:pPr>
                <a:endParaRPr lang="en-US" altLang="zh-TW" i="1" dirty="0"/>
              </a:p>
              <a:p>
                <a:pPr marL="0" indent="0">
                  <a:tabLst>
                    <a:tab pos="715963" algn="l"/>
                  </a:tabLst>
                </a:pPr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 smtClean="0"/>
                  <a:t>(1)	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(1))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(7)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2</a:t>
                </a:r>
                <a:r>
                  <a:rPr lang="en-US" altLang="zh-TW" spc="300" baseline="44000" dirty="0" smtClean="0"/>
                  <a:t>8</a:t>
                </a:r>
                <a:r>
                  <a:rPr lang="en-US" altLang="zh-TW" spc="300" dirty="0" smtClean="0">
                    <a:sym typeface="Symbol" panose="05050102010706020507" pitchFamily="18" charset="2"/>
                  </a:rPr>
                  <a:t></a:t>
                </a:r>
                <a:r>
                  <a:rPr lang="en-US" altLang="zh-TW" dirty="0"/>
                  <a:t>8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2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11</a:t>
                </a:r>
                <a:r>
                  <a:rPr lang="en-US" altLang="zh-TW" sz="1200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2047</a:t>
                </a:r>
              </a:p>
              <a:p>
                <a:pPr marL="0" lvl="0" indent="0">
                  <a:buClr>
                    <a:srgbClr val="3333CC"/>
                  </a:buClr>
                  <a:tabLst>
                    <a:tab pos="715963" algn="l"/>
                  </a:tabLst>
                </a:pPr>
                <a:endParaRPr lang="en-US" altLang="zh-TW" dirty="0"/>
              </a:p>
              <a:p>
                <a:pPr marL="0" lvl="0" indent="0">
                  <a:buClr>
                    <a:srgbClr val="3333CC"/>
                  </a:buClr>
                  <a:tabLst>
                    <a:tab pos="715963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4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(1)</m:t>
                    </m:r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3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3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(1)) </a:t>
                </a:r>
                <a:r>
                  <a:rPr lang="en-US" altLang="zh-TW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3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(2047)</a:t>
                </a:r>
              </a:p>
              <a:p>
                <a:pPr marL="0" lvl="0" indent="0">
                  <a:buClr>
                    <a:srgbClr val="3333CC"/>
                  </a:buClr>
                  <a:tabLst>
                    <a:tab pos="715963" algn="l"/>
                  </a:tabLst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n-US" altLang="zh-TW" i="1">
                            <a:solidFill>
                              <a:srgbClr val="000000"/>
                            </a:solidFill>
                          </a:rPr>
                          <m:t>A</m:t>
                        </m:r>
                      </m:e>
                      <m:sub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048</m:t>
                        </m:r>
                        <m:r>
                          <a:rPr lang="en-US" altLang="zh-TW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2047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1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altLang="zh-TW" spc="300" baseline="-25000" dirty="0">
                        <a:solidFill>
                          <a:srgbClr val="00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altLang="zh-TW" spc="300" baseline="-25000" dirty="0">
                        <a:solidFill>
                          <a:srgbClr val="00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altLang="zh-TW" spc="300" baseline="-25000" dirty="0">
                        <a:solidFill>
                          <a:srgbClr val="00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a:rPr lang="en-US" altLang="zh-TW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altLang="zh-TW" spc="300" baseline="-25000" dirty="0">
                        <a:solidFill>
                          <a:srgbClr val="00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i="1" dirty="0">
                        <a:solidFill>
                          <a:srgbClr val="00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en-US" altLang="zh-TW" spc="300" baseline="-25000" dirty="0">
                        <a:solidFill>
                          <a:srgbClr val="00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rgbClr val="0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2047</m:t>
                    </m:r>
                    <m:r>
                      <m:rPr>
                        <m:nor/>
                      </m:rPr>
                      <a:rPr lang="en-US" altLang="zh-TW" spc="-150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zh-TW" b="0" i="0" spc="-15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pc="-150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zh-TW" b="0" i="0" spc="-15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pc="-150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zh-TW" b="0" i="0" spc="-15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spc="-150">
                        <a:solidFill>
                          <a:srgbClr val="000000"/>
                        </a:solidFill>
                      </a:rPr>
                      <m:t>)</m:t>
                    </m:r>
                    <m:r>
                      <m:rPr>
                        <m:nor/>
                      </m:rPr>
                      <a:rPr lang="en-US" altLang="zh-TW" b="0" i="0" spc="-150" smtClean="0">
                        <a:solidFill>
                          <a:srgbClr val="0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solidFill>
                          <a:srgbClr val="000000"/>
                        </a:solidFill>
                      </a:rPr>
                      <m:t>)</m:t>
                    </m:r>
                  </m:oMath>
                </a14:m>
                <a:r>
                  <a:rPr lang="en-US" altLang="zh-TW" dirty="0" smtClean="0">
                    <a:solidFill>
                      <a:srgbClr val="000000"/>
                    </a:solidFill>
                  </a:rPr>
                  <a:t>    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3333CC"/>
                  </a:buClr>
                  <a:tabLst>
                    <a:tab pos="715963" algn="l"/>
                  </a:tabLst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	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≫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baseline="-25000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(2047)</a:t>
                </a:r>
                <a:endParaRPr lang="en-US" altLang="zh-TW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3333CC"/>
                  </a:buClr>
                  <a:tabLst>
                    <a:tab pos="715963" algn="l"/>
                  </a:tabLst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	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2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204</a:t>
                </a:r>
                <a:r>
                  <a:rPr lang="en-US" altLang="zh-TW" spc="300" baseline="44000" dirty="0" smtClean="0">
                    <a:solidFill>
                      <a:srgbClr val="000000"/>
                    </a:solidFill>
                  </a:rPr>
                  <a:t>8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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2048 </a:t>
                </a:r>
                <a:r>
                  <a:rPr lang="en-US" altLang="zh-TW" spc="300" dirty="0">
                    <a:solidFill>
                      <a:srgbClr val="000000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2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2048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(2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4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500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10</a:t>
                </a:r>
                <a:r>
                  <a:rPr lang="en-US" altLang="zh-TW" baseline="44000" dirty="0" smtClean="0">
                    <a:solidFill>
                      <a:srgbClr val="000000"/>
                    </a:solidFill>
                  </a:rPr>
                  <a:t>500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9" t="-806" r="-3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50243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>
              <a:xfrm>
                <a:off x="467487" y="404623"/>
                <a:ext cx="8425052" cy="3888485"/>
              </a:xfrm>
            </p:spPr>
            <p:txBody>
              <a:bodyPr/>
              <a:lstStyle/>
              <a:p>
                <a:pPr marL="0" indent="361950"/>
                <a:r>
                  <a:rPr lang="en-US" altLang="zh-TW" dirty="0" smtClean="0"/>
                  <a:t>We define the inverse of the function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k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), </a:t>
                </a:r>
                <a:r>
                  <a:rPr lang="en-US" altLang="zh-TW" dirty="0"/>
                  <a:t>for integer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0, </a:t>
                </a:r>
                <a:r>
                  <a:rPr lang="en-US" altLang="zh-TW" dirty="0" smtClean="0"/>
                  <a:t>by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TW" i="1" spc="300" dirty="0" smtClean="0">
                    <a:latin typeface="Symbol" panose="05050102010706020507" pitchFamily="18" charset="2"/>
                  </a:rPr>
                  <a:t>a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=</a:t>
                </a:r>
                <a:r>
                  <a:rPr lang="en-US" altLang="zh-TW" dirty="0" smtClean="0"/>
                  <a:t> min{</a:t>
                </a:r>
                <a:r>
                  <a:rPr lang="en-US" altLang="zh-TW" i="1" dirty="0" smtClean="0"/>
                  <a:t>k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Symbol" panose="05050102010706020507" pitchFamily="18" charset="2"/>
                  </a:rPr>
                  <a:t>:</a:t>
                </a:r>
                <a:r>
                  <a:rPr lang="en-US" altLang="zh-TW" dirty="0" smtClean="0"/>
                  <a:t> </a:t>
                </a:r>
                <a:r>
                  <a:rPr lang="en-US" altLang="zh-TW" i="1" dirty="0" err="1" smtClean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i="1" baseline="-25000" dirty="0" err="1" smtClean="0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(1)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2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≥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}.</a:t>
                </a:r>
              </a:p>
              <a:p>
                <a:pPr marL="0" indent="0"/>
                <a:r>
                  <a:rPr lang="en-US" altLang="zh-TW" dirty="0"/>
                  <a:t>From </a:t>
                </a:r>
                <a:r>
                  <a:rPr lang="en-US" altLang="zh-TW" dirty="0" smtClean="0"/>
                  <a:t>the above values </a:t>
                </a:r>
                <a:r>
                  <a:rPr lang="en-US" altLang="zh-TW" dirty="0"/>
                  <a:t>of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A</a:t>
                </a:r>
                <a:r>
                  <a:rPr lang="en-US" altLang="zh-TW" i="1" baseline="-25000" dirty="0" err="1">
                    <a:solidFill>
                      <a:srgbClr val="000000"/>
                    </a:solidFill>
                  </a:rPr>
                  <a:t>k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we see </a:t>
                </a:r>
                <a:r>
                  <a:rPr lang="en-US" altLang="zh-TW" dirty="0" smtClean="0"/>
                  <a:t>that</a:t>
                </a:r>
              </a:p>
              <a:p>
                <a:pPr marL="0" indent="0"/>
                <a:endParaRPr lang="en-US" altLang="zh-TW" dirty="0"/>
              </a:p>
              <a:p>
                <a:pPr marL="0" inden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TW" b="0" i="0" smtClean="0"/>
                        <m:t>(</m:t>
                      </m:r>
                      <m:r>
                        <m:rPr>
                          <m:nor/>
                        </m:rPr>
                        <a:rPr lang="en-US" altLang="zh-TW" b="0" i="1" smtClean="0"/>
                        <m:t>n</m:t>
                      </m:r>
                      <m:r>
                        <m:rPr>
                          <m:nor/>
                        </m:rPr>
                        <a:rPr lang="en-US" altLang="zh-TW" b="0" i="0" smtClean="0"/>
                        <m:t>)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b="0" i="0" smtClean="0"/>
                                        <m:t>for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0" smtClean="0"/>
                                        <m:t> 0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1" smtClean="0"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0" smtClean="0">
                                          <a:sym typeface="Symbol" panose="05050102010706020507" pitchFamily="18" charset="2"/>
                                        </a:rPr>
                                        <m:t>2,</m:t>
                                      </m:r>
                                    </m:e>
                                  </m:mr>
                                </m:m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              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zh-TW" b="0" i="0" smtClean="0"/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0" smtClean="0"/>
                                              <m:t>for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0" smtClean="0"/>
                                              <m:t> 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1" smtClean="0"/>
                                              <m:t>n</m:t>
                                            </m:r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=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0" smtClean="0"/>
                                              <m:t>3,                    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zh-TW" b="0" i="0" smtClean="0"/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for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 4</m:t>
                                            </m:r>
                                            <m:r>
                                              <a:rPr lang="en-US" altLang="zh-TW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≤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>
                                                <a:solidFill>
                                                  <a:srgbClr val="000000"/>
                                                </a:solidFill>
                                                <a:sym typeface="Symbol" panose="05050102010706020507" pitchFamily="18" charset="2"/>
                                              </a:rPr>
                                              <m:t>n</m:t>
                                            </m:r>
                                            <m:r>
                                              <a:rPr lang="en-US" altLang="zh-TW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≤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0" smtClean="0">
                                                <a:solidFill>
                                                  <a:srgbClr val="000000"/>
                                                </a:solidFill>
                                                <a:sym typeface="Symbol" panose="05050102010706020507" pitchFamily="18" charset="2"/>
                                              </a:rPr>
                                              <m:t>7,</m:t>
                                            </m:r>
                                          </m:e>
                                        </m:mr>
                                      </m: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               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zh-TW" b="0" i="0" smtClean="0"/>
                                              <m:t>3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for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>
                                                <a:solidFill>
                                                  <a:srgbClr val="000000"/>
                                                </a:solidFill>
                                              </a:rPr>
                                              <m:t> 8</m:t>
                                            </m:r>
                                            <m:r>
                                              <a:rPr lang="en-US" altLang="zh-TW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≤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i="1">
                                                <a:solidFill>
                                                  <a:srgbClr val="000000"/>
                                                </a:solidFill>
                                                <a:sym typeface="Symbol" panose="05050102010706020507" pitchFamily="18" charset="2"/>
                                              </a:rPr>
                                              <m:t>n</m:t>
                                            </m:r>
                                            <m:r>
                                              <a:rPr lang="en-US" altLang="zh-TW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sym typeface="Symbol" panose="05050102010706020507" pitchFamily="18" charset="2"/>
                                              </a:rPr>
                                              <m:t>≤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>
                                                <a:solidFill>
                                                  <a:srgbClr val="000000"/>
                                                </a:solidFill>
                                                <a:sym typeface="Symbol" panose="05050102010706020507" pitchFamily="18" charset="2"/>
                                              </a:rPr>
                                              <m:t>2</m:t>
                                            </m:r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zh-TW" b="0" i="0" smtClean="0">
                                                <a:solidFill>
                                                  <a:srgbClr val="000000"/>
                                                </a:solidFill>
                                                <a:sym typeface="Symbol" panose="05050102010706020507" pitchFamily="18" charset="2"/>
                                              </a:rPr>
                                              <m:t>047,       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  <m:brk m:alnAt="7"/>
                                        </m:rPr>
                                        <a:rPr lang="en-US" altLang="zh-TW" b="0" i="0" smtClean="0"/>
                                        <m:t>4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for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2048</m:t>
                                      </m:r>
                                      <m:r>
                                        <a:rPr lang="en-US" altLang="zh-TW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i="1" smtClean="0">
                                          <a:solidFill>
                                            <a:srgbClr val="000000"/>
                                          </a:solidFill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  <m:r>
                                        <a:rPr lang="en-US" altLang="zh-TW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Symbol" panose="05050102010706020507" pitchFamily="18" charset="2"/>
                                        </a:rPr>
                                        <m:t>≤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1" smtClean="0">
                                          <a:solidFill>
                                            <a:srgbClr val="000000"/>
                                          </a:solidFill>
                                          <a:sym typeface="Symbol" panose="05050102010706020507" pitchFamily="18" charset="2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0" baseline="-25000" smtClean="0">
                                          <a:solidFill>
                                            <a:srgbClr val="000000"/>
                                          </a:solidFill>
                                          <a:sym typeface="Symbol" panose="05050102010706020507" pitchFamily="18" charset="2"/>
                                        </a:rPr>
                                        <m:t>4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b="0" i="0" smtClean="0">
                                          <a:solidFill>
                                            <a:srgbClr val="000000"/>
                                          </a:solidFill>
                                          <a:sym typeface="Symbol" panose="05050102010706020507" pitchFamily="18" charset="2"/>
                                        </a:rPr>
                                        <m:t>(1).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487" y="404623"/>
                <a:ext cx="8425052" cy="3888485"/>
              </a:xfrm>
              <a:blipFill>
                <a:blip r:embed="rId2"/>
                <a:stretch>
                  <a:fillRect l="-1158" t="-1254" r="-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6405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6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7940</TotalTime>
  <Words>14537</Words>
  <Application>Microsoft Office PowerPoint</Application>
  <PresentationFormat>如螢幕大小 (4:3)</PresentationFormat>
  <Paragraphs>5297</Paragraphs>
  <Slides>138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138</vt:i4>
      </vt:variant>
    </vt:vector>
  </HeadingPairs>
  <TitlesOfParts>
    <vt:vector size="148" baseType="lpstr">
      <vt:lpstr>細明體</vt:lpstr>
      <vt:lpstr>新細明體</vt:lpstr>
      <vt:lpstr>Arial</vt:lpstr>
      <vt:lpstr>Cambria Math</vt:lpstr>
      <vt:lpstr>Georgia</vt:lpstr>
      <vt:lpstr>Lucida Console</vt:lpstr>
      <vt:lpstr>Symbol</vt:lpstr>
      <vt:lpstr>Times New Roman</vt:lpstr>
      <vt:lpstr>Wingdings</vt:lpstr>
      <vt:lpstr>Blends</vt:lpstr>
      <vt:lpstr>Minimum Spanning Tree</vt:lpstr>
      <vt:lpstr>PowerPoint 簡報</vt:lpstr>
      <vt:lpstr>Prim's MST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Kruskal's MST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Disjoint-set Forests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The Worst-case Time Complexity</vt:lpstr>
      <vt:lpstr>The Worst-case Time Complexity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 Lin</cp:lastModifiedBy>
  <cp:revision>507</cp:revision>
  <dcterms:created xsi:type="dcterms:W3CDTF">2001-09-06T13:56:50Z</dcterms:created>
  <dcterms:modified xsi:type="dcterms:W3CDTF">2025-11-05T03:35:01Z</dcterms:modified>
</cp:coreProperties>
</file>