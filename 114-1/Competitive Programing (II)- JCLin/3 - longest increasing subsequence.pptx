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72"/>
  </p:notesMasterIdLst>
  <p:handoutMasterIdLst>
    <p:handoutMasterId r:id="rId173"/>
  </p:handoutMasterIdLst>
  <p:sldIdLst>
    <p:sldId id="256" r:id="rId2"/>
    <p:sldId id="783" r:id="rId3"/>
    <p:sldId id="730" r:id="rId4"/>
    <p:sldId id="742" r:id="rId5"/>
    <p:sldId id="741" r:id="rId6"/>
    <p:sldId id="740" r:id="rId7"/>
    <p:sldId id="782" r:id="rId8"/>
    <p:sldId id="784" r:id="rId9"/>
    <p:sldId id="770" r:id="rId10"/>
    <p:sldId id="657" r:id="rId11"/>
    <p:sldId id="771" r:id="rId12"/>
    <p:sldId id="773" r:id="rId13"/>
    <p:sldId id="786" r:id="rId14"/>
    <p:sldId id="785" r:id="rId15"/>
    <p:sldId id="780" r:id="rId16"/>
    <p:sldId id="779" r:id="rId17"/>
    <p:sldId id="778" r:id="rId18"/>
    <p:sldId id="777" r:id="rId19"/>
    <p:sldId id="776" r:id="rId20"/>
    <p:sldId id="775" r:id="rId21"/>
    <p:sldId id="774" r:id="rId22"/>
    <p:sldId id="781" r:id="rId23"/>
    <p:sldId id="787" r:id="rId24"/>
    <p:sldId id="788" r:id="rId25"/>
    <p:sldId id="731" r:id="rId26"/>
    <p:sldId id="654" r:id="rId27"/>
    <p:sldId id="669" r:id="rId28"/>
    <p:sldId id="670" r:id="rId29"/>
    <p:sldId id="671" r:id="rId30"/>
    <p:sldId id="672" r:id="rId31"/>
    <p:sldId id="674" r:id="rId32"/>
    <p:sldId id="675" r:id="rId33"/>
    <p:sldId id="676" r:id="rId34"/>
    <p:sldId id="677" r:id="rId35"/>
    <p:sldId id="683" r:id="rId36"/>
    <p:sldId id="535" r:id="rId37"/>
    <p:sldId id="544" r:id="rId38"/>
    <p:sldId id="546" r:id="rId39"/>
    <p:sldId id="545" r:id="rId40"/>
    <p:sldId id="547" r:id="rId41"/>
    <p:sldId id="548" r:id="rId42"/>
    <p:sldId id="549" r:id="rId43"/>
    <p:sldId id="551" r:id="rId44"/>
    <p:sldId id="550" r:id="rId45"/>
    <p:sldId id="552" r:id="rId46"/>
    <p:sldId id="733" r:id="rId47"/>
    <p:sldId id="734" r:id="rId48"/>
    <p:sldId id="735" r:id="rId49"/>
    <p:sldId id="736" r:id="rId50"/>
    <p:sldId id="737" r:id="rId51"/>
    <p:sldId id="738" r:id="rId52"/>
    <p:sldId id="739" r:id="rId53"/>
    <p:sldId id="523" r:id="rId54"/>
    <p:sldId id="690" r:id="rId55"/>
    <p:sldId id="691" r:id="rId56"/>
    <p:sldId id="692" r:id="rId57"/>
    <p:sldId id="693" r:id="rId58"/>
    <p:sldId id="694" r:id="rId59"/>
    <p:sldId id="695" r:id="rId60"/>
    <p:sldId id="696" r:id="rId61"/>
    <p:sldId id="697" r:id="rId62"/>
    <p:sldId id="698" r:id="rId63"/>
    <p:sldId id="534" r:id="rId64"/>
    <p:sldId id="747" r:id="rId65"/>
    <p:sldId id="748" r:id="rId66"/>
    <p:sldId id="749" r:id="rId67"/>
    <p:sldId id="750" r:id="rId68"/>
    <p:sldId id="751" r:id="rId69"/>
    <p:sldId id="752" r:id="rId70"/>
    <p:sldId id="753" r:id="rId71"/>
    <p:sldId id="754" r:id="rId72"/>
    <p:sldId id="755" r:id="rId73"/>
    <p:sldId id="756" r:id="rId74"/>
    <p:sldId id="757" r:id="rId75"/>
    <p:sldId id="758" r:id="rId76"/>
    <p:sldId id="759" r:id="rId77"/>
    <p:sldId id="760" r:id="rId78"/>
    <p:sldId id="761" r:id="rId79"/>
    <p:sldId id="762" r:id="rId80"/>
    <p:sldId id="763" r:id="rId81"/>
    <p:sldId id="764" r:id="rId82"/>
    <p:sldId id="766" r:id="rId83"/>
    <p:sldId id="765" r:id="rId84"/>
    <p:sldId id="767" r:id="rId85"/>
    <p:sldId id="768" r:id="rId86"/>
    <p:sldId id="769" r:id="rId87"/>
    <p:sldId id="555" r:id="rId88"/>
    <p:sldId id="728" r:id="rId89"/>
    <p:sldId id="554" r:id="rId90"/>
    <p:sldId id="743" r:id="rId91"/>
    <p:sldId id="655" r:id="rId92"/>
    <p:sldId id="556" r:id="rId93"/>
    <p:sldId id="557" r:id="rId94"/>
    <p:sldId id="558" r:id="rId95"/>
    <p:sldId id="559" r:id="rId96"/>
    <p:sldId id="560" r:id="rId97"/>
    <p:sldId id="561" r:id="rId98"/>
    <p:sldId id="562" r:id="rId99"/>
    <p:sldId id="563" r:id="rId100"/>
    <p:sldId id="564" r:id="rId101"/>
    <p:sldId id="565" r:id="rId102"/>
    <p:sldId id="567" r:id="rId103"/>
    <p:sldId id="568" r:id="rId104"/>
    <p:sldId id="569" r:id="rId105"/>
    <p:sldId id="570" r:id="rId106"/>
    <p:sldId id="571" r:id="rId107"/>
    <p:sldId id="572" r:id="rId108"/>
    <p:sldId id="573" r:id="rId109"/>
    <p:sldId id="574" r:id="rId110"/>
    <p:sldId id="576" r:id="rId111"/>
    <p:sldId id="577" r:id="rId112"/>
    <p:sldId id="578" r:id="rId113"/>
    <p:sldId id="579" r:id="rId114"/>
    <p:sldId id="580" r:id="rId115"/>
    <p:sldId id="581" r:id="rId116"/>
    <p:sldId id="582" r:id="rId117"/>
    <p:sldId id="604" r:id="rId118"/>
    <p:sldId id="703" r:id="rId119"/>
    <p:sldId id="704" r:id="rId120"/>
    <p:sldId id="705" r:id="rId121"/>
    <p:sldId id="706" r:id="rId122"/>
    <p:sldId id="707" r:id="rId123"/>
    <p:sldId id="708" r:id="rId124"/>
    <p:sldId id="709" r:id="rId125"/>
    <p:sldId id="710" r:id="rId126"/>
    <p:sldId id="711" r:id="rId127"/>
    <p:sldId id="712" r:id="rId128"/>
    <p:sldId id="713" r:id="rId129"/>
    <p:sldId id="714" r:id="rId130"/>
    <p:sldId id="715" r:id="rId131"/>
    <p:sldId id="716" r:id="rId132"/>
    <p:sldId id="717" r:id="rId133"/>
    <p:sldId id="718" r:id="rId134"/>
    <p:sldId id="719" r:id="rId135"/>
    <p:sldId id="720" r:id="rId136"/>
    <p:sldId id="721" r:id="rId137"/>
    <p:sldId id="722" r:id="rId138"/>
    <p:sldId id="723" r:id="rId139"/>
    <p:sldId id="724" r:id="rId140"/>
    <p:sldId id="725" r:id="rId141"/>
    <p:sldId id="726" r:id="rId142"/>
    <p:sldId id="727" r:id="rId143"/>
    <p:sldId id="583" r:id="rId144"/>
    <p:sldId id="663" r:id="rId145"/>
    <p:sldId id="584" r:id="rId146"/>
    <p:sldId id="585" r:id="rId147"/>
    <p:sldId id="586" r:id="rId148"/>
    <p:sldId id="587" r:id="rId149"/>
    <p:sldId id="588" r:id="rId150"/>
    <p:sldId id="589" r:id="rId151"/>
    <p:sldId id="590" r:id="rId152"/>
    <p:sldId id="591" r:id="rId153"/>
    <p:sldId id="592" r:id="rId154"/>
    <p:sldId id="593" r:id="rId155"/>
    <p:sldId id="594" r:id="rId156"/>
    <p:sldId id="598" r:id="rId157"/>
    <p:sldId id="601" r:id="rId158"/>
    <p:sldId id="599" r:id="rId159"/>
    <p:sldId id="600" r:id="rId160"/>
    <p:sldId id="566" r:id="rId161"/>
    <p:sldId id="513" r:id="rId162"/>
    <p:sldId id="664" r:id="rId163"/>
    <p:sldId id="744" r:id="rId164"/>
    <p:sldId id="665" r:id="rId165"/>
    <p:sldId id="666" r:id="rId166"/>
    <p:sldId id="659" r:id="rId167"/>
    <p:sldId id="668" r:id="rId168"/>
    <p:sldId id="745" r:id="rId169"/>
    <p:sldId id="746" r:id="rId170"/>
    <p:sldId id="667" r:id="rId171"/>
  </p:sldIdLst>
  <p:sldSz cx="9144000" cy="6858000" type="screen4x3"/>
  <p:notesSz cx="6734175" cy="98663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FFFF"/>
    <a:srgbClr val="66FFFF"/>
    <a:srgbClr val="33CCFF"/>
    <a:srgbClr val="2B91AF"/>
    <a:srgbClr val="0000FF"/>
    <a:srgbClr val="0000CC"/>
    <a:srgbClr val="000000"/>
    <a:srgbClr val="7F7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47" autoAdjust="0"/>
    <p:restoredTop sz="94590" autoAdjust="0"/>
  </p:normalViewPr>
  <p:slideViewPr>
    <p:cSldViewPr showGuides="1">
      <p:cViewPr varScale="1">
        <p:scale>
          <a:sx n="95" d="100"/>
          <a:sy n="95" d="100"/>
        </p:scale>
        <p:origin x="144" y="77"/>
      </p:cViewPr>
      <p:guideLst>
        <p:guide orient="horz" pos="232"/>
        <p:guide pos="4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180000" cy="1800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ableStyles" Target="tableStyles.xml"/><Relationship Id="rId172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3175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3175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E1142711-BC43-47F7-82A4-FD033B4833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3666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3175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41363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6300"/>
            <a:ext cx="5387975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3175" y="9372600"/>
            <a:ext cx="29194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50" tIns="47425" rIns="94850" bIns="47425" numCol="1" anchor="b" anchorCtr="0" compatLnSpc="1">
            <a:prstTxWarp prst="textNoShape">
              <a:avLst/>
            </a:prstTxWarp>
          </a:bodyPr>
          <a:lstStyle>
            <a:lvl1pPr algn="r" defTabSz="94932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BE065BA5-F94E-42AC-AC84-999F9EE4852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4888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431471" y="2528885"/>
            <a:ext cx="8281058" cy="1800230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1268723"/>
            <a:ext cx="8281057" cy="3420277"/>
          </a:xfrm>
        </p:spPr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9108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1471" y="368609"/>
            <a:ext cx="8281057" cy="6120781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/>
            </a:lvl1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42078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1498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1620208"/>
          </a:xfrm>
        </p:spPr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800" y="4508500"/>
            <a:ext cx="8280400" cy="1800225"/>
          </a:xfrm>
        </p:spPr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543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540069"/>
          </a:xfrm>
        </p:spPr>
        <p:txBody>
          <a:bodyPr/>
          <a:lstStyle>
            <a:lvl1pPr marL="0" indent="0"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808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11840" y="1988816"/>
            <a:ext cx="5400690" cy="4320551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200"/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3662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594036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1589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989000"/>
            <a:ext cx="7920529" cy="432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3228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2709000"/>
            <a:ext cx="7920529" cy="360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3674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3249000"/>
            <a:ext cx="5399999" cy="30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0311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252036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432000" y="3789000"/>
            <a:ext cx="8281057" cy="252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9603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0"/>
          </p:nvPr>
        </p:nvSpPr>
        <p:spPr>
          <a:xfrm>
            <a:off x="252000" y="2709000"/>
            <a:ext cx="6660000" cy="378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32000" y="549000"/>
            <a:ext cx="5400528" cy="2520368"/>
          </a:xfrm>
        </p:spPr>
        <p:txBody>
          <a:bodyPr rIns="36000"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2599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52000" y="548632"/>
            <a:ext cx="6840000" cy="162036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902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2709000"/>
            <a:ext cx="7740529" cy="35997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7782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3248999"/>
            <a:ext cx="7740529" cy="306000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>
                <a:latin typeface="Lucida Console" panose="020B0609040504020204" pitchFamily="49" charset="0"/>
              </a:defRPr>
            </a:lvl1pPr>
          </a:lstStyle>
          <a:p>
            <a:pPr lv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0644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3"/>
          <p:cNvSpPr>
            <a:spLocks noGrp="1" noChangeArrowheads="1"/>
          </p:cNvSpPr>
          <p:nvPr>
            <p:ph type="title"/>
          </p:nvPr>
        </p:nvSpPr>
        <p:spPr bwMode="auto">
          <a:xfrm>
            <a:off x="431471" y="188913"/>
            <a:ext cx="8281057" cy="89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6387" name="Rectangle 103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471" y="1268723"/>
            <a:ext cx="8281057" cy="5220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2" r:id="rId3"/>
    <p:sldLayoutId id="2147483662" r:id="rId4"/>
    <p:sldLayoutId id="2147483659" r:id="rId5"/>
    <p:sldLayoutId id="2147483660" r:id="rId6"/>
    <p:sldLayoutId id="2147483663" r:id="rId7"/>
    <p:sldLayoutId id="2147483661" r:id="rId8"/>
    <p:sldLayoutId id="2147483658" r:id="rId9"/>
    <p:sldLayoutId id="2147483669" r:id="rId10"/>
    <p:sldLayoutId id="2147483671" r:id="rId11"/>
    <p:sldLayoutId id="2147483670" r:id="rId12"/>
    <p:sldLayoutId id="2147483667" r:id="rId13"/>
    <p:sldLayoutId id="2147483668" r:id="rId14"/>
    <p:sldLayoutId id="2147483666" r:id="rId15"/>
    <p:sldLayoutId id="2147483665" r:id="rId16"/>
    <p:sldLayoutId id="2147483664" r:id="rId17"/>
    <p:sldLayoutId id="2147483655" r:id="rId18"/>
    <p:sldLayoutId id="2147483656" r:id="rId1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marL="838200" indent="-838200" eaLnBrk="1" hangingPunct="1"/>
            <a:r>
              <a:rPr lang="en-US" altLang="zh-TW" dirty="0"/>
              <a:t>Longest Increasing Subsequence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Longest Increasing Subsequence</a:t>
            </a:r>
            <a:endParaRPr lang="en-US" altLang="zh-TW" dirty="0" smtClean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1268723"/>
            <a:ext cx="8281057" cy="3780277"/>
          </a:xfrm>
        </p:spPr>
        <p:txBody>
          <a:bodyPr/>
          <a:lstStyle/>
          <a:p>
            <a:r>
              <a:rPr lang="en-US" altLang="zh-TW" dirty="0" smtClean="0"/>
              <a:t>A Longest Increasing Subsequence (LIS) </a:t>
            </a:r>
            <a:r>
              <a:rPr lang="en-US" altLang="zh-TW" dirty="0"/>
              <a:t>of a given sequence </a:t>
            </a:r>
            <a:r>
              <a:rPr lang="en-US" altLang="zh-TW" dirty="0" smtClean="0"/>
              <a:t>is a longest subsequence of the sequence such that all elements of the subsequence are sorted in increasing order. </a:t>
            </a:r>
            <a:r>
              <a:rPr lang="en-US" altLang="zh-TW" dirty="0">
                <a:solidFill>
                  <a:srgbClr val="000000"/>
                </a:solidFill>
              </a:rPr>
              <a:t>The Longest Increasing Subsequence (LIS) problem is to find the length of a Longest Increasing </a:t>
            </a:r>
            <a:r>
              <a:rPr lang="en-US" altLang="zh-TW" dirty="0" smtClean="0">
                <a:solidFill>
                  <a:srgbClr val="000000"/>
                </a:solidFill>
              </a:rPr>
              <a:t>Subsequence.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For example, the length of a LIS of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22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9,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33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21,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50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41,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60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  <a:r>
              <a:rPr lang="en-US" altLang="zh-TW" sz="2400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r>
              <a:rPr lang="en-US" altLang="zh-TW" dirty="0" smtClean="0"/>
              <a:t> is 6 and {10, 22, 33, 50, 60, 80</a:t>
            </a:r>
            <a:r>
              <a:rPr lang="en-US" altLang="zh-TW" dirty="0"/>
              <a:t>} </a:t>
            </a:r>
            <a:r>
              <a:rPr lang="en-US" altLang="zh-TW" dirty="0" smtClean="0"/>
              <a:t>is an LIS.</a:t>
            </a:r>
          </a:p>
          <a:p>
            <a:endParaRPr lang="en-US" altLang="zh-TW" dirty="0" smtClean="0"/>
          </a:p>
          <a:p>
            <a:pPr marL="4122738"/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22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9,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33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21, 50,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41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60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53577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Longest Increasing Subsequence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spc="300" dirty="0" err="1" smtClean="0"/>
                  <a:t>1..</a:t>
                </a:r>
                <a:r>
                  <a:rPr lang="en-US" altLang="zh-TW" i="1" dirty="0" err="1" smtClean="0"/>
                  <a:t>n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be the input array </a:t>
                </a:r>
                <a:r>
                  <a:rPr lang="en-US" altLang="zh-TW" dirty="0" smtClean="0"/>
                  <a:t>and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be the </a:t>
                </a:r>
                <a:r>
                  <a:rPr lang="en-US" altLang="zh-TW" dirty="0" smtClean="0"/>
                  <a:t>length </a:t>
                </a:r>
                <a:r>
                  <a:rPr lang="en-US" altLang="zh-TW" dirty="0"/>
                  <a:t>of the </a:t>
                </a:r>
                <a:r>
                  <a:rPr lang="en-US" altLang="zh-TW" dirty="0" smtClean="0"/>
                  <a:t>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</a:t>
                </a:r>
                <a:r>
                  <a:rPr lang="en-US" altLang="zh-TW" spc="300" dirty="0" err="1" smtClean="0">
                    <a:solidFill>
                      <a:srgbClr val="000000"/>
                    </a:solidFill>
                  </a:rPr>
                  <a:t>..</a:t>
                </a:r>
                <a:r>
                  <a:rPr lang="en-US" altLang="zh-TW" i="1" spc="200" dirty="0" err="1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such that </a:t>
                </a:r>
                <a:r>
                  <a:rPr lang="en-US" altLang="zh-TW" i="1" dirty="0" smtClean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]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is the last element of the LIS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.</a:t>
                </a:r>
                <a:r>
                  <a:rPr lang="en-US" altLang="zh-TW" dirty="0" smtClean="0"/>
                  <a:t> Then</a:t>
                </a:r>
                <a:r>
                  <a:rPr lang="en-US" altLang="zh-TW" dirty="0"/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can be recursively written as</a:t>
                </a:r>
                <a:r>
                  <a:rPr lang="en-US" altLang="zh-TW" dirty="0" smtClean="0"/>
                  <a:t>:</a:t>
                </a:r>
                <a:endParaRPr lang="en-US" altLang="zh-TW" dirty="0"/>
              </a:p>
              <a:p>
                <a:pPr marL="358775" lvl="0">
                  <a:spcBef>
                    <a:spcPts val="300"/>
                  </a:spcBef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spc="2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and for every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</a:t>
                </a:r>
                <a:endParaRPr lang="en-US" altLang="zh-TW" i="1" dirty="0" smtClean="0">
                  <a:solidFill>
                    <a:srgbClr val="000000"/>
                  </a:solidFill>
                </a:endParaRPr>
              </a:p>
              <a:p>
                <a:pPr marL="360363"/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1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/>
                  <a:t> 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max{</a:t>
                </a:r>
                <a:r>
                  <a:rPr lang="en-US" altLang="zh-TW" i="1" dirty="0" smtClean="0">
                    <a:solidFill>
                      <a:schemeClr val="bg1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( </a:t>
                </a:r>
                <a:r>
                  <a:rPr lang="en-US" altLang="zh-TW" i="1" spc="200" dirty="0" smtClean="0">
                    <a:solidFill>
                      <a:schemeClr val="bg1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) </a:t>
                </a:r>
                <a:r>
                  <a:rPr lang="en-US" altLang="zh-TW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1 </a:t>
                </a:r>
                <a:r>
                  <a:rPr lang="en-US" altLang="zh-TW" sz="2000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≤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j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and </a:t>
                </a:r>
                <a:r>
                  <a:rPr lang="en-US" altLang="zh-TW" i="1" dirty="0" smtClean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[ </a:t>
                </a:r>
                <a:r>
                  <a:rPr lang="en-US" altLang="zh-TW" i="1" spc="200" dirty="0" smtClean="0">
                    <a:solidFill>
                      <a:schemeClr val="bg1"/>
                    </a:solidFill>
                  </a:rPr>
                  <a:t>j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]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 smtClean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[</a:t>
                </a:r>
                <a:r>
                  <a:rPr lang="en-US" altLang="zh-TW" i="1" spc="200" dirty="0" smtClean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]}</a:t>
                </a:r>
              </a:p>
              <a:p>
                <a:pPr marL="3060000"/>
                <a:r>
                  <a:rPr lang="en-US" altLang="zh-TW" dirty="0" smtClean="0">
                    <a:solidFill>
                      <a:schemeClr val="bg1"/>
                    </a:solidFill>
                  </a:rPr>
                  <a:t>if </a:t>
                </a:r>
                <a:r>
                  <a:rPr lang="en-US" altLang="zh-TW" spc="300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∃</a:t>
                </a:r>
                <a:r>
                  <a:rPr lang="en-US" altLang="zh-TW" i="1" dirty="0" smtClean="0">
                    <a:solidFill>
                      <a:schemeClr val="bg1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{1, 2, ..., </a:t>
                </a:r>
                <a:r>
                  <a:rPr lang="en-US" altLang="zh-TW" i="1" spc="300" dirty="0" smtClean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1} </a:t>
                </a:r>
                <a:r>
                  <a:rPr lang="en-US" altLang="zh-TW" dirty="0" err="1" smtClean="0">
                    <a:solidFill>
                      <a:schemeClr val="bg1"/>
                    </a:solidFill>
                  </a:rPr>
                  <a:t>s.t.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chemeClr val="bg1"/>
                    </a:solidFill>
                  </a:rPr>
                  <a:t>j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]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]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.</a:t>
                </a:r>
                <a:endParaRPr lang="en-US" altLang="zh-TW" dirty="0">
                  <a:solidFill>
                    <a:schemeClr val="bg1"/>
                  </a:solidFill>
                </a:endParaRPr>
              </a:p>
              <a:p>
                <a:pPr marL="360363">
                  <a:tabLst>
                    <a:tab pos="3060000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1	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if </a:t>
                </a:r>
                <a:r>
                  <a:rPr lang="en-US" altLang="zh-TW" spc="300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∄</a:t>
                </a:r>
                <a:r>
                  <a:rPr lang="en-US" altLang="zh-TW" i="1" dirty="0" smtClean="0">
                    <a:solidFill>
                      <a:schemeClr val="bg1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{1, 2, ..., </a:t>
                </a:r>
                <a:r>
                  <a:rPr lang="en-US" altLang="zh-TW" i="1" spc="300" dirty="0" smtClean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1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} </a:t>
                </a:r>
                <a:r>
                  <a:rPr lang="en-US" altLang="zh-TW" dirty="0" err="1">
                    <a:solidFill>
                      <a:schemeClr val="bg1"/>
                    </a:solidFill>
                  </a:rPr>
                  <a:t>s.t.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chemeClr val="bg1"/>
                    </a:solidFill>
                  </a:rPr>
                  <a:t>j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]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zh-TW" i="1" dirty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]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.</a:t>
                </a:r>
                <a:endParaRPr lang="en-US" altLang="zh-TW" dirty="0">
                  <a:solidFill>
                    <a:schemeClr val="bg1"/>
                  </a:solidFill>
                </a:endParaRPr>
              </a:p>
              <a:p>
                <a:pPr lvl="0">
                  <a:spcBef>
                    <a:spcPts val="1800"/>
                  </a:spcBef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Clearly, the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length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the 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1..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300" dirty="0">
                                <a:solidFill>
                                  <a:srgbClr val="000000"/>
                                </a:solidFill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</a:rPr>
                              <m:t>n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zh-TW" b="0" i="1" smtClean="0"/>
                          <m:t>L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i="1" spc="2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12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798388"/>
              </p:ext>
            </p:extLst>
          </p:nvPr>
        </p:nvGraphicFramePr>
        <p:xfrm>
          <a:off x="792000" y="522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292000" y="5408999"/>
            <a:ext cx="3060000" cy="9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200" dirty="0" smtClean="0">
                <a:latin typeface="+mn-lt"/>
              </a:rPr>
              <a:t>The 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length of the LIS for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A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[</a:t>
            </a:r>
            <a:r>
              <a:rPr lang="en-US" altLang="zh-TW" sz="2200" kern="0" spc="300" dirty="0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2200" kern="0" spc="300" dirty="0" smtClean="0">
                <a:solidFill>
                  <a:srgbClr val="000000"/>
                </a:solidFill>
                <a:latin typeface="Times New Roman"/>
                <a:ea typeface="新細明體"/>
              </a:rPr>
              <a:t>..</a:t>
            </a:r>
            <a:r>
              <a:rPr lang="en-US" altLang="zh-TW" sz="2200" kern="0" dirty="0" smtClean="0">
                <a:solidFill>
                  <a:srgbClr val="000000"/>
                </a:solidFill>
                <a:latin typeface="Times New Roman"/>
                <a:ea typeface="新細明體"/>
              </a:rPr>
              <a:t>9] is 5.</a:t>
            </a:r>
            <a:endParaRPr lang="zh-TW" alt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226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Longest Increasing Subsequence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spc="300" dirty="0" err="1" smtClean="0"/>
                  <a:t>1..</a:t>
                </a:r>
                <a:r>
                  <a:rPr lang="en-US" altLang="zh-TW" i="1" dirty="0" err="1" smtClean="0"/>
                  <a:t>n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be the input array </a:t>
                </a:r>
                <a:r>
                  <a:rPr lang="en-US" altLang="zh-TW" dirty="0" smtClean="0"/>
                  <a:t>and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be the </a:t>
                </a:r>
                <a:r>
                  <a:rPr lang="en-US" altLang="zh-TW" dirty="0" smtClean="0"/>
                  <a:t>length </a:t>
                </a:r>
                <a:r>
                  <a:rPr lang="en-US" altLang="zh-TW" dirty="0"/>
                  <a:t>of the </a:t>
                </a:r>
                <a:r>
                  <a:rPr lang="en-US" altLang="zh-TW" dirty="0" smtClean="0"/>
                  <a:t>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</a:t>
                </a:r>
                <a:r>
                  <a:rPr lang="en-US" altLang="zh-TW" spc="300" dirty="0" err="1" smtClean="0">
                    <a:solidFill>
                      <a:srgbClr val="000000"/>
                    </a:solidFill>
                  </a:rPr>
                  <a:t>..</a:t>
                </a:r>
                <a:r>
                  <a:rPr lang="en-US" altLang="zh-TW" i="1" spc="200" dirty="0" err="1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such that </a:t>
                </a:r>
                <a:r>
                  <a:rPr lang="en-US" altLang="zh-TW" i="1" dirty="0" smtClean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]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is the last element of the LIS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.</a:t>
                </a:r>
                <a:r>
                  <a:rPr lang="en-US" altLang="zh-TW" dirty="0" smtClean="0"/>
                  <a:t> Then</a:t>
                </a:r>
                <a:r>
                  <a:rPr lang="en-US" altLang="zh-TW" dirty="0"/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can be recursively written as</a:t>
                </a:r>
                <a:r>
                  <a:rPr lang="en-US" altLang="zh-TW" dirty="0" smtClean="0"/>
                  <a:t>:</a:t>
                </a:r>
                <a:endParaRPr lang="en-US" altLang="zh-TW" dirty="0"/>
              </a:p>
              <a:p>
                <a:pPr marL="358775" lvl="0">
                  <a:spcBef>
                    <a:spcPts val="300"/>
                  </a:spcBef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spc="2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and for every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</a:t>
                </a:r>
                <a:endParaRPr lang="en-US" altLang="zh-TW" i="1" dirty="0" smtClean="0">
                  <a:solidFill>
                    <a:srgbClr val="000000"/>
                  </a:solidFill>
                </a:endParaRPr>
              </a:p>
              <a:p>
                <a:pPr marL="360363"/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1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max{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 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/>
                  <a:t>)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1 </a:t>
                </a:r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≤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and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 </a:t>
                </a:r>
                <a:r>
                  <a:rPr lang="en-US" altLang="zh-TW" i="1" spc="200" dirty="0" smtClean="0"/>
                  <a:t>j</a:t>
                </a:r>
                <a:r>
                  <a:rPr lang="en-US" altLang="zh-TW" dirty="0"/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spc="200" dirty="0" smtClean="0"/>
                  <a:t>i</a:t>
                </a:r>
                <a:r>
                  <a:rPr lang="en-US" altLang="zh-TW" dirty="0" smtClean="0"/>
                  <a:t>]}</a:t>
                </a:r>
              </a:p>
              <a:p>
                <a:pPr marL="3060000"/>
                <a:r>
                  <a:rPr lang="en-US" altLang="zh-TW" dirty="0" smtClean="0"/>
                  <a:t>if </a:t>
                </a:r>
                <a:r>
                  <a:rPr lang="en-US" altLang="zh-TW" spc="3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∃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/>
                  <a:t> {1, 2, ..., </a:t>
                </a:r>
                <a:r>
                  <a:rPr lang="en-US" altLang="zh-TW" i="1" spc="300" dirty="0" smtClean="0"/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/>
                  <a:t>1} </a:t>
                </a:r>
                <a:r>
                  <a:rPr lang="en-US" altLang="zh-TW" dirty="0" err="1" smtClean="0"/>
                  <a:t>s.t.</a:t>
                </a:r>
                <a:r>
                  <a:rPr lang="en-US" altLang="zh-TW" dirty="0" smtClean="0"/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marL="360363">
                  <a:tabLst>
                    <a:tab pos="3060000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1	if 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∄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..., 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 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s.t.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lvl="0">
                  <a:spcBef>
                    <a:spcPts val="1800"/>
                  </a:spcBef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Clearly, the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length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the 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1..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300" dirty="0">
                                <a:solidFill>
                                  <a:srgbClr val="000000"/>
                                </a:solidFill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</a:rPr>
                              <m:t>n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zh-TW" b="0" i="1" smtClean="0"/>
                          <m:t>L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i="1" spc="2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12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072615"/>
              </p:ext>
            </p:extLst>
          </p:nvPr>
        </p:nvGraphicFramePr>
        <p:xfrm>
          <a:off x="792000" y="522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292000" y="5408999"/>
            <a:ext cx="3060000" cy="9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200" dirty="0" smtClean="0">
                <a:latin typeface="+mn-lt"/>
              </a:rPr>
              <a:t>The 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length of the LIS for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A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[</a:t>
            </a:r>
            <a:r>
              <a:rPr lang="en-US" altLang="zh-TW" sz="2200" kern="0" spc="300" dirty="0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2200" kern="0" spc="300" dirty="0" smtClean="0">
                <a:solidFill>
                  <a:srgbClr val="000000"/>
                </a:solidFill>
                <a:latin typeface="Times New Roman"/>
                <a:ea typeface="新細明體"/>
              </a:rPr>
              <a:t>..</a:t>
            </a:r>
            <a:r>
              <a:rPr lang="en-US" altLang="zh-TW" sz="2200" kern="0" dirty="0" smtClean="0">
                <a:solidFill>
                  <a:srgbClr val="000000"/>
                </a:solidFill>
                <a:latin typeface="Times New Roman"/>
                <a:ea typeface="新細明體"/>
              </a:rPr>
              <a:t>9] is 6.</a:t>
            </a:r>
            <a:endParaRPr lang="zh-TW" alt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757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Longest Increasing Subsequence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spc="300" dirty="0" err="1" smtClean="0"/>
                  <a:t>1..</a:t>
                </a:r>
                <a:r>
                  <a:rPr lang="en-US" altLang="zh-TW" i="1" dirty="0" err="1" smtClean="0"/>
                  <a:t>n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be the input array </a:t>
                </a:r>
                <a:r>
                  <a:rPr lang="en-US" altLang="zh-TW" dirty="0" smtClean="0"/>
                  <a:t>and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be the </a:t>
                </a:r>
                <a:r>
                  <a:rPr lang="en-US" altLang="zh-TW" dirty="0" smtClean="0"/>
                  <a:t>length </a:t>
                </a:r>
                <a:r>
                  <a:rPr lang="en-US" altLang="zh-TW" dirty="0"/>
                  <a:t>of the </a:t>
                </a:r>
                <a:r>
                  <a:rPr lang="en-US" altLang="zh-TW" dirty="0" smtClean="0"/>
                  <a:t>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</a:t>
                </a:r>
                <a:r>
                  <a:rPr lang="en-US" altLang="zh-TW" spc="300" dirty="0" err="1" smtClean="0">
                    <a:solidFill>
                      <a:srgbClr val="000000"/>
                    </a:solidFill>
                  </a:rPr>
                  <a:t>..</a:t>
                </a:r>
                <a:r>
                  <a:rPr lang="en-US" altLang="zh-TW" i="1" spc="200" dirty="0" err="1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such that </a:t>
                </a:r>
                <a:r>
                  <a:rPr lang="en-US" altLang="zh-TW" i="1" dirty="0" smtClean="0">
                    <a:solidFill>
                      <a:schemeClr val="bg1"/>
                    </a:solidFill>
                  </a:rPr>
                  <a:t>A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chemeClr val="bg1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] </a:t>
                </a:r>
                <a:r>
                  <a:rPr lang="en-US" altLang="zh-TW" dirty="0">
                    <a:solidFill>
                      <a:schemeClr val="bg1"/>
                    </a:solidFill>
                  </a:rPr>
                  <a:t>is the last element of the LIS</a:t>
                </a:r>
                <a:r>
                  <a:rPr lang="en-US" altLang="zh-TW" dirty="0" smtClean="0">
                    <a:solidFill>
                      <a:schemeClr val="bg1"/>
                    </a:solidFill>
                  </a:rPr>
                  <a:t>.</a:t>
                </a:r>
                <a:r>
                  <a:rPr lang="en-US" altLang="zh-TW" dirty="0" smtClean="0"/>
                  <a:t> Then</a:t>
                </a:r>
                <a:r>
                  <a:rPr lang="en-US" altLang="zh-TW" dirty="0"/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can be recursively written as</a:t>
                </a:r>
                <a:r>
                  <a:rPr lang="en-US" altLang="zh-TW" dirty="0" smtClean="0"/>
                  <a:t>:</a:t>
                </a:r>
                <a:endParaRPr lang="en-US" altLang="zh-TW" dirty="0"/>
              </a:p>
              <a:p>
                <a:pPr marL="358775" lvl="0">
                  <a:spcBef>
                    <a:spcPts val="300"/>
                  </a:spcBef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spc="2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and for every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</a:t>
                </a:r>
                <a:endParaRPr lang="en-US" altLang="zh-TW" i="1" dirty="0" smtClean="0">
                  <a:solidFill>
                    <a:srgbClr val="000000"/>
                  </a:solidFill>
                </a:endParaRPr>
              </a:p>
              <a:p>
                <a:pPr marL="360363"/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1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max{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 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/>
                  <a:t>)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1 </a:t>
                </a:r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≤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and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 </a:t>
                </a:r>
                <a:r>
                  <a:rPr lang="en-US" altLang="zh-TW" i="1" spc="200" dirty="0" smtClean="0"/>
                  <a:t>j</a:t>
                </a:r>
                <a:r>
                  <a:rPr lang="en-US" altLang="zh-TW" dirty="0"/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spc="200" dirty="0" smtClean="0"/>
                  <a:t>i</a:t>
                </a:r>
                <a:r>
                  <a:rPr lang="en-US" altLang="zh-TW" dirty="0" smtClean="0"/>
                  <a:t>]}</a:t>
                </a:r>
              </a:p>
              <a:p>
                <a:pPr marL="3060000"/>
                <a:r>
                  <a:rPr lang="en-US" altLang="zh-TW" dirty="0" smtClean="0"/>
                  <a:t>if </a:t>
                </a:r>
                <a:r>
                  <a:rPr lang="en-US" altLang="zh-TW" spc="3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∃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/>
                  <a:t> {1, 2, ..., </a:t>
                </a:r>
                <a:r>
                  <a:rPr lang="en-US" altLang="zh-TW" i="1" spc="300" dirty="0" smtClean="0"/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/>
                  <a:t>1} </a:t>
                </a:r>
                <a:r>
                  <a:rPr lang="en-US" altLang="zh-TW" dirty="0" err="1" smtClean="0"/>
                  <a:t>s.t.</a:t>
                </a:r>
                <a:r>
                  <a:rPr lang="en-US" altLang="zh-TW" dirty="0" smtClean="0"/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marL="360363">
                  <a:tabLst>
                    <a:tab pos="3060000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1	if 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∄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..., 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 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s.t.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lvl="0">
                  <a:spcBef>
                    <a:spcPts val="1800"/>
                  </a:spcBef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Clearly, the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length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the 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1..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300" dirty="0">
                                <a:solidFill>
                                  <a:srgbClr val="000000"/>
                                </a:solidFill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</a:rPr>
                              <m:t>n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zh-TW" b="0" i="1" smtClean="0"/>
                          <m:t>L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i="1" spc="2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12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942581"/>
              </p:ext>
            </p:extLst>
          </p:nvPr>
        </p:nvGraphicFramePr>
        <p:xfrm>
          <a:off x="792000" y="522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5292000" y="5408999"/>
            <a:ext cx="3060000" cy="9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200" dirty="0" smtClean="0">
                <a:latin typeface="+mn-lt"/>
              </a:rPr>
              <a:t>The 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length of the LIS for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A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[</a:t>
            </a:r>
            <a:r>
              <a:rPr lang="en-US" altLang="zh-TW" sz="2200" kern="0" spc="300" dirty="0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2200" kern="0" spc="300" dirty="0" smtClean="0">
                <a:solidFill>
                  <a:srgbClr val="000000"/>
                </a:solidFill>
                <a:latin typeface="Times New Roman"/>
                <a:ea typeface="新細明體"/>
              </a:rPr>
              <a:t>..</a:t>
            </a:r>
            <a:r>
              <a:rPr lang="en-US" altLang="zh-TW" sz="2200" kern="0" dirty="0" smtClean="0">
                <a:solidFill>
                  <a:srgbClr val="000000"/>
                </a:solidFill>
                <a:latin typeface="Times New Roman"/>
                <a:ea typeface="新細明體"/>
              </a:rPr>
              <a:t>9] is 6.</a:t>
            </a:r>
            <a:endParaRPr lang="zh-TW" alt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628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Longest Increasing Subsequence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spc="300" dirty="0" err="1" smtClean="0"/>
                  <a:t>1..</a:t>
                </a:r>
                <a:r>
                  <a:rPr lang="en-US" altLang="zh-TW" i="1" dirty="0" err="1" smtClean="0"/>
                  <a:t>n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be the input array </a:t>
                </a:r>
                <a:r>
                  <a:rPr lang="en-US" altLang="zh-TW" dirty="0" smtClean="0"/>
                  <a:t>and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be the </a:t>
                </a:r>
                <a:r>
                  <a:rPr lang="en-US" altLang="zh-TW" dirty="0" smtClean="0"/>
                  <a:t>length </a:t>
                </a:r>
                <a:r>
                  <a:rPr lang="en-US" altLang="zh-TW" dirty="0"/>
                  <a:t>of the </a:t>
                </a:r>
                <a:r>
                  <a:rPr lang="en-US" altLang="zh-TW" dirty="0" smtClean="0"/>
                  <a:t>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</a:t>
                </a:r>
                <a:r>
                  <a:rPr lang="en-US" altLang="zh-TW" spc="300" dirty="0" err="1" smtClean="0">
                    <a:solidFill>
                      <a:srgbClr val="000000"/>
                    </a:solidFill>
                  </a:rPr>
                  <a:t>..</a:t>
                </a:r>
                <a:r>
                  <a:rPr lang="en-US" altLang="zh-TW" i="1" spc="200" dirty="0" err="1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such that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is the last element of the LIS</a:t>
                </a:r>
                <a:r>
                  <a:rPr lang="en-US" altLang="zh-TW" dirty="0" smtClean="0"/>
                  <a:t>. Then</a:t>
                </a:r>
                <a:r>
                  <a:rPr lang="en-US" altLang="zh-TW" dirty="0"/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can be recursively written as</a:t>
                </a:r>
                <a:r>
                  <a:rPr lang="en-US" altLang="zh-TW" dirty="0" smtClean="0"/>
                  <a:t>:</a:t>
                </a:r>
                <a:endParaRPr lang="en-US" altLang="zh-TW" dirty="0"/>
              </a:p>
              <a:p>
                <a:pPr marL="358775" lvl="0">
                  <a:spcBef>
                    <a:spcPts val="300"/>
                  </a:spcBef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spc="2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and for every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</a:t>
                </a:r>
                <a:endParaRPr lang="en-US" altLang="zh-TW" i="1" dirty="0" smtClean="0">
                  <a:solidFill>
                    <a:srgbClr val="000000"/>
                  </a:solidFill>
                </a:endParaRPr>
              </a:p>
              <a:p>
                <a:pPr marL="360363"/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1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max{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 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/>
                  <a:t>)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1 </a:t>
                </a:r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≤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and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 </a:t>
                </a:r>
                <a:r>
                  <a:rPr lang="en-US" altLang="zh-TW" i="1" spc="200" dirty="0" smtClean="0"/>
                  <a:t>j</a:t>
                </a:r>
                <a:r>
                  <a:rPr lang="en-US" altLang="zh-TW" dirty="0"/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spc="200" dirty="0" smtClean="0"/>
                  <a:t>i</a:t>
                </a:r>
                <a:r>
                  <a:rPr lang="en-US" altLang="zh-TW" dirty="0" smtClean="0"/>
                  <a:t>]}</a:t>
                </a:r>
              </a:p>
              <a:p>
                <a:pPr marL="3060000"/>
                <a:r>
                  <a:rPr lang="en-US" altLang="zh-TW" dirty="0" smtClean="0"/>
                  <a:t>if </a:t>
                </a:r>
                <a:r>
                  <a:rPr lang="en-US" altLang="zh-TW" spc="3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∃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/>
                  <a:t> {1, 2, ..., </a:t>
                </a:r>
                <a:r>
                  <a:rPr lang="en-US" altLang="zh-TW" i="1" spc="300" dirty="0" smtClean="0"/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/>
                  <a:t>1} </a:t>
                </a:r>
                <a:r>
                  <a:rPr lang="en-US" altLang="zh-TW" dirty="0" err="1" smtClean="0"/>
                  <a:t>s.t.</a:t>
                </a:r>
                <a:r>
                  <a:rPr lang="en-US" altLang="zh-TW" dirty="0" smtClean="0"/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marL="360363">
                  <a:tabLst>
                    <a:tab pos="3060000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1	if 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∄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..., 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 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s.t.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lvl="0">
                  <a:spcBef>
                    <a:spcPts val="1800"/>
                  </a:spcBef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Clearly, the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length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the 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1..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300" dirty="0">
                                <a:solidFill>
                                  <a:srgbClr val="000000"/>
                                </a:solidFill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</a:rPr>
                              <m:t>n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zh-TW" b="0" i="1" smtClean="0"/>
                          <m:t>L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i="1" spc="2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12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187715"/>
              </p:ext>
            </p:extLst>
          </p:nvPr>
        </p:nvGraphicFramePr>
        <p:xfrm>
          <a:off x="792000" y="522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5292000" y="5408999"/>
            <a:ext cx="3060000" cy="9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200" dirty="0" smtClean="0">
                <a:latin typeface="+mn-lt"/>
              </a:rPr>
              <a:t>The 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length of the LIS for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A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[</a:t>
            </a:r>
            <a:r>
              <a:rPr lang="en-US" altLang="zh-TW" sz="2200" kern="0" spc="300" dirty="0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2200" kern="0" spc="300" dirty="0" smtClean="0">
                <a:solidFill>
                  <a:srgbClr val="000000"/>
                </a:solidFill>
                <a:latin typeface="Times New Roman"/>
                <a:ea typeface="新細明體"/>
              </a:rPr>
              <a:t>..</a:t>
            </a:r>
            <a:r>
              <a:rPr lang="en-US" altLang="zh-TW" sz="2200" kern="0" dirty="0" smtClean="0">
                <a:solidFill>
                  <a:srgbClr val="000000"/>
                </a:solidFill>
                <a:latin typeface="Times New Roman"/>
                <a:ea typeface="新細明體"/>
              </a:rPr>
              <a:t>9] is 6.</a:t>
            </a:r>
            <a:endParaRPr lang="zh-TW" alt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107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Longest Increasing Subsequence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spc="300" dirty="0" err="1" smtClean="0"/>
                  <a:t>1..</a:t>
                </a:r>
                <a:r>
                  <a:rPr lang="en-US" altLang="zh-TW" i="1" dirty="0" err="1" smtClean="0"/>
                  <a:t>n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be the input array </a:t>
                </a:r>
                <a:r>
                  <a:rPr lang="en-US" altLang="zh-TW" dirty="0" smtClean="0"/>
                  <a:t>and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be the </a:t>
                </a:r>
                <a:r>
                  <a:rPr lang="en-US" altLang="zh-TW" dirty="0" smtClean="0"/>
                  <a:t>length </a:t>
                </a:r>
                <a:r>
                  <a:rPr lang="en-US" altLang="zh-TW" dirty="0"/>
                  <a:t>of the </a:t>
                </a:r>
                <a:r>
                  <a:rPr lang="en-US" altLang="zh-TW" dirty="0" smtClean="0"/>
                  <a:t>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</a:t>
                </a:r>
                <a:r>
                  <a:rPr lang="en-US" altLang="zh-TW" spc="300" dirty="0" err="1" smtClean="0">
                    <a:solidFill>
                      <a:srgbClr val="000000"/>
                    </a:solidFill>
                  </a:rPr>
                  <a:t>..</a:t>
                </a:r>
                <a:r>
                  <a:rPr lang="en-US" altLang="zh-TW" i="1" spc="200" dirty="0" err="1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such that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is the last element of the LIS</a:t>
                </a:r>
                <a:r>
                  <a:rPr lang="en-US" altLang="zh-TW" dirty="0" smtClean="0"/>
                  <a:t>. Then</a:t>
                </a:r>
                <a:r>
                  <a:rPr lang="en-US" altLang="zh-TW" dirty="0"/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can be recursively written as</a:t>
                </a:r>
                <a:r>
                  <a:rPr lang="en-US" altLang="zh-TW" dirty="0" smtClean="0"/>
                  <a:t>:</a:t>
                </a:r>
                <a:endParaRPr lang="en-US" altLang="zh-TW" dirty="0"/>
              </a:p>
              <a:p>
                <a:pPr marL="358775" lvl="0">
                  <a:spcBef>
                    <a:spcPts val="300"/>
                  </a:spcBef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spc="2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and for every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</a:t>
                </a:r>
                <a:endParaRPr lang="en-US" altLang="zh-TW" i="1" dirty="0" smtClean="0">
                  <a:solidFill>
                    <a:srgbClr val="000000"/>
                  </a:solidFill>
                </a:endParaRPr>
              </a:p>
              <a:p>
                <a:pPr marL="360363"/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1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max{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 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/>
                  <a:t>)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1 </a:t>
                </a:r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≤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and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 </a:t>
                </a:r>
                <a:r>
                  <a:rPr lang="en-US" altLang="zh-TW" i="1" spc="200" dirty="0" smtClean="0"/>
                  <a:t>j</a:t>
                </a:r>
                <a:r>
                  <a:rPr lang="en-US" altLang="zh-TW" dirty="0"/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spc="200" dirty="0" smtClean="0"/>
                  <a:t>i</a:t>
                </a:r>
                <a:r>
                  <a:rPr lang="en-US" altLang="zh-TW" dirty="0" smtClean="0"/>
                  <a:t>]}</a:t>
                </a:r>
              </a:p>
              <a:p>
                <a:pPr marL="3060000"/>
                <a:r>
                  <a:rPr lang="en-US" altLang="zh-TW" dirty="0" smtClean="0"/>
                  <a:t>if </a:t>
                </a:r>
                <a:r>
                  <a:rPr lang="en-US" altLang="zh-TW" spc="3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∃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/>
                  <a:t> {1, 2, ..., </a:t>
                </a:r>
                <a:r>
                  <a:rPr lang="en-US" altLang="zh-TW" i="1" spc="300" dirty="0" smtClean="0"/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/>
                  <a:t>1} </a:t>
                </a:r>
                <a:r>
                  <a:rPr lang="en-US" altLang="zh-TW" dirty="0" err="1" smtClean="0"/>
                  <a:t>s.t.</a:t>
                </a:r>
                <a:r>
                  <a:rPr lang="en-US" altLang="zh-TW" dirty="0" smtClean="0"/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marL="360363">
                  <a:tabLst>
                    <a:tab pos="3060000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1	if 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∄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..., 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 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s.t.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lvl="0">
                  <a:spcBef>
                    <a:spcPts val="1800"/>
                  </a:spcBef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Clearly, the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length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the 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1..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300" dirty="0">
                                <a:solidFill>
                                  <a:srgbClr val="000000"/>
                                </a:solidFill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</a:rPr>
                              <m:t>n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zh-TW" b="0" i="1" smtClean="0"/>
                          <m:t>L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i="1" spc="2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12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265094"/>
              </p:ext>
            </p:extLst>
          </p:nvPr>
        </p:nvGraphicFramePr>
        <p:xfrm>
          <a:off x="792000" y="522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en-US" altLang="zh-TW" sz="2000" b="0" i="1" u="none" strike="noStrike" kern="0" cap="none" spc="20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292000" y="5408999"/>
            <a:ext cx="3060000" cy="9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TW" sz="2200" dirty="0" smtClean="0">
                <a:latin typeface="+mn-lt"/>
              </a:rPr>
              <a:t>The 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length of the LIS for </a:t>
            </a:r>
            <a:r>
              <a:rPr lang="en-US" altLang="zh-TW" sz="2200" i="1" kern="0" dirty="0">
                <a:solidFill>
                  <a:srgbClr val="000000"/>
                </a:solidFill>
                <a:latin typeface="Times New Roman"/>
                <a:ea typeface="新細明體"/>
              </a:rPr>
              <a:t>A</a:t>
            </a:r>
            <a:r>
              <a:rPr lang="en-US" altLang="zh-TW" sz="2200" kern="0" dirty="0">
                <a:solidFill>
                  <a:srgbClr val="000000"/>
                </a:solidFill>
                <a:latin typeface="Times New Roman"/>
                <a:ea typeface="新細明體"/>
              </a:rPr>
              <a:t>[</a:t>
            </a:r>
            <a:r>
              <a:rPr lang="en-US" altLang="zh-TW" sz="2200" kern="0" spc="300" dirty="0">
                <a:solidFill>
                  <a:srgbClr val="000000"/>
                </a:solidFill>
                <a:latin typeface="Times New Roman"/>
                <a:ea typeface="新細明體"/>
              </a:rPr>
              <a:t>1</a:t>
            </a:r>
            <a:r>
              <a:rPr lang="en-US" altLang="zh-TW" sz="2200" kern="0" spc="300" dirty="0" smtClean="0">
                <a:solidFill>
                  <a:srgbClr val="000000"/>
                </a:solidFill>
                <a:latin typeface="Times New Roman"/>
                <a:ea typeface="新細明體"/>
              </a:rPr>
              <a:t>..</a:t>
            </a:r>
            <a:r>
              <a:rPr lang="en-US" altLang="zh-TW" sz="2200" kern="0" dirty="0" smtClean="0">
                <a:solidFill>
                  <a:srgbClr val="000000"/>
                </a:solidFill>
                <a:latin typeface="Times New Roman"/>
                <a:ea typeface="新細明體"/>
              </a:rPr>
              <a:t>9] is 5.</a:t>
            </a:r>
            <a:endParaRPr lang="zh-TW" alt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269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Longest Increasing Subsequence</a:t>
            </a:r>
            <a:endParaRPr lang="en-US" altLang="zh-TW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內容版面配置區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spc="300" dirty="0" err="1" smtClean="0"/>
                  <a:t>1..</a:t>
                </a:r>
                <a:r>
                  <a:rPr lang="en-US" altLang="zh-TW" i="1" dirty="0" err="1" smtClean="0"/>
                  <a:t>n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be the input array </a:t>
                </a:r>
                <a:r>
                  <a:rPr lang="en-US" altLang="zh-TW" dirty="0" smtClean="0"/>
                  <a:t>and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) </a:t>
                </a:r>
                <a:r>
                  <a:rPr lang="en-US" altLang="zh-TW" dirty="0"/>
                  <a:t>be the </a:t>
                </a:r>
                <a:r>
                  <a:rPr lang="en-US" altLang="zh-TW" dirty="0" smtClean="0"/>
                  <a:t>length </a:t>
                </a:r>
                <a:r>
                  <a:rPr lang="en-US" altLang="zh-TW" dirty="0"/>
                  <a:t>of the </a:t>
                </a:r>
                <a:r>
                  <a:rPr lang="en-US" altLang="zh-TW" dirty="0" smtClean="0"/>
                  <a:t>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</a:t>
                </a:r>
                <a:r>
                  <a:rPr lang="en-US" altLang="zh-TW" spc="300" dirty="0" err="1" smtClean="0">
                    <a:solidFill>
                      <a:srgbClr val="000000"/>
                    </a:solidFill>
                  </a:rPr>
                  <a:t>..</a:t>
                </a:r>
                <a:r>
                  <a:rPr lang="en-US" altLang="zh-TW" i="1" spc="200" dirty="0" err="1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such that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/>
                  <a:t>] </a:t>
                </a:r>
                <a:r>
                  <a:rPr lang="en-US" altLang="zh-TW" dirty="0"/>
                  <a:t>is the last element of the LIS</a:t>
                </a:r>
                <a:r>
                  <a:rPr lang="en-US" altLang="zh-TW" dirty="0" smtClean="0"/>
                  <a:t>. Then</a:t>
                </a:r>
                <a:r>
                  <a:rPr lang="en-US" altLang="zh-TW" dirty="0"/>
                  <a:t>, 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can be recursively written as</a:t>
                </a:r>
                <a:r>
                  <a:rPr lang="en-US" altLang="zh-TW" dirty="0" smtClean="0"/>
                  <a:t>:</a:t>
                </a:r>
                <a:endParaRPr lang="en-US" altLang="zh-TW" dirty="0"/>
              </a:p>
              <a:p>
                <a:pPr marL="358775" lvl="0">
                  <a:spcBef>
                    <a:spcPts val="300"/>
                  </a:spcBef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spc="2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and for every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,</a:t>
                </a:r>
                <a:endParaRPr lang="en-US" altLang="zh-TW" i="1" dirty="0" smtClean="0">
                  <a:solidFill>
                    <a:srgbClr val="000000"/>
                  </a:solidFill>
                </a:endParaRPr>
              </a:p>
              <a:p>
                <a:pPr marL="360363"/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1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max{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( 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/>
                  <a:t>)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1 </a:t>
                </a:r>
                <a:r>
                  <a:rPr lang="en-US" altLang="zh-TW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≤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 </a:t>
                </a:r>
                <a:r>
                  <a:rPr lang="en-US" altLang="zh-TW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i</a:t>
                </a:r>
                <a:r>
                  <a:rPr lang="en-US" altLang="zh-TW" dirty="0"/>
                  <a:t> and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 </a:t>
                </a:r>
                <a:r>
                  <a:rPr lang="en-US" altLang="zh-TW" i="1" spc="200" dirty="0" smtClean="0"/>
                  <a:t>j</a:t>
                </a:r>
                <a:r>
                  <a:rPr lang="en-US" altLang="zh-TW" dirty="0"/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/>
                  <a:t>A</a:t>
                </a:r>
                <a:r>
                  <a:rPr lang="en-US" altLang="zh-TW" dirty="0" smtClean="0"/>
                  <a:t>[</a:t>
                </a:r>
                <a:r>
                  <a:rPr lang="en-US" altLang="zh-TW" i="1" spc="200" dirty="0" smtClean="0"/>
                  <a:t>i</a:t>
                </a:r>
                <a:r>
                  <a:rPr lang="en-US" altLang="zh-TW" dirty="0" smtClean="0"/>
                  <a:t>]}</a:t>
                </a:r>
              </a:p>
              <a:p>
                <a:pPr marL="3060000"/>
                <a:r>
                  <a:rPr lang="en-US" altLang="zh-TW" dirty="0" smtClean="0"/>
                  <a:t>if </a:t>
                </a:r>
                <a:r>
                  <a:rPr lang="en-US" altLang="zh-TW" spc="300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∃</a:t>
                </a:r>
                <a:r>
                  <a:rPr lang="en-US" altLang="zh-TW" i="1" dirty="0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/>
                  <a:t> {1, 2, ..., </a:t>
                </a:r>
                <a:r>
                  <a:rPr lang="en-US" altLang="zh-TW" i="1" spc="300" dirty="0" smtClean="0"/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/>
                  <a:t>1} </a:t>
                </a:r>
                <a:r>
                  <a:rPr lang="en-US" altLang="zh-TW" dirty="0" err="1" smtClean="0"/>
                  <a:t>s.t.</a:t>
                </a:r>
                <a:r>
                  <a:rPr lang="en-US" altLang="zh-TW" dirty="0" smtClean="0"/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marL="360363">
                  <a:tabLst>
                    <a:tab pos="3060000" algn="l"/>
                  </a:tabLst>
                </a:pPr>
                <a:r>
                  <a:rPr lang="en-US" altLang="zh-TW" i="1" dirty="0" smtClean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dirty="0" smtClean="0"/>
                  <a:t> </a:t>
                </a:r>
                <a:r>
                  <a:rPr lang="en-US" altLang="zh-TW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1	if </a:t>
                </a:r>
                <a:r>
                  <a:rPr lang="en-US" altLang="zh-TW" spc="300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∄</a:t>
                </a:r>
                <a:r>
                  <a:rPr lang="en-US" altLang="zh-TW" i="1" dirty="0" smtClean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∈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{1, 2, ..., </a:t>
                </a:r>
                <a:r>
                  <a:rPr lang="en-US" altLang="zh-TW" i="1" spc="300" dirty="0" smtClean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−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} </a:t>
                </a:r>
                <a:r>
                  <a:rPr lang="en-US" altLang="zh-TW" dirty="0" err="1">
                    <a:solidFill>
                      <a:srgbClr val="000000"/>
                    </a:solidFill>
                  </a:rPr>
                  <a:t>s.t.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pPr lvl="0">
                  <a:spcBef>
                    <a:spcPts val="1800"/>
                  </a:spcBef>
                  <a:buClr>
                    <a:srgbClr val="000000"/>
                  </a:buClr>
                </a:pPr>
                <a:r>
                  <a:rPr lang="en-US" altLang="zh-TW" dirty="0">
                    <a:solidFill>
                      <a:srgbClr val="000000"/>
                    </a:solidFill>
                  </a:rPr>
                  <a:t>Clearly, the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length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of 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the LIS 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for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spc="300" dirty="0" err="1">
                    <a:solidFill>
                      <a:srgbClr val="000000"/>
                    </a:solidFill>
                  </a:rPr>
                  <a:t>1..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en-US" altLang="zh-TW" sz="1600" dirty="0">
                                <a:solidFill>
                                  <a:srgbClr val="000000"/>
                                </a:solidFill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spc="300" dirty="0">
                                <a:solidFill>
                                  <a:srgbClr val="000000"/>
                                </a:solidFill>
                              </a:rPr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sz="1600" spc="30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Symbol" panose="05050102010706020507" pitchFamily="18" charset="2"/>
                              </a:rPr>
                              <m:t>≤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solidFill>
                                  <a:srgbClr val="000000"/>
                                </a:solidFill>
                              </a:rPr>
                              <m:t>n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en-US" altLang="zh-TW" b="0" i="1" smtClean="0"/>
                          <m:t>L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(</m:t>
                        </m:r>
                        <m:r>
                          <m:rPr>
                            <m:nor/>
                          </m:rPr>
                          <a:rPr lang="en-US" altLang="zh-TW" i="1" spc="200" dirty="0">
                            <a:solidFill>
                              <a:srgbClr val="000000"/>
                            </a:solidFill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b="0" i="0" smtClean="0"/>
                          <m:t>)</m:t>
                        </m:r>
                      </m:e>
                    </m:fun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dirty="0" smtClean="0"/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endParaRPr lang="en-US" altLang="zh-TW" dirty="0" smtClean="0"/>
              </a:p>
              <a:p>
                <a:pPr lvl="0"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TW" dirty="0" smtClean="0"/>
                  <a:t>If we define ma</a:t>
                </a:r>
                <a:r>
                  <a:rPr lang="en-US" altLang="zh-TW" spc="300" dirty="0" smtClean="0"/>
                  <a:t>x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∅</a:t>
                </a:r>
                <a:r>
                  <a:rPr lang="en-US" altLang="zh-TW" dirty="0" smtClean="0"/>
                  <a:t> </a:t>
                </a:r>
                <a:r>
                  <a:rPr lang="en-US" altLang="zh-TW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 smtClean="0"/>
                  <a:t> 0, then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can be recursively written as:</a:t>
                </a:r>
                <a:endParaRPr lang="en-US" altLang="zh-TW" dirty="0"/>
              </a:p>
              <a:p>
                <a:pPr marL="358775" lvl="0">
                  <a:spcBef>
                    <a:spcPts val="300"/>
                  </a:spcBef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spc="2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 and for every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1,</a:t>
                </a:r>
                <a:endParaRPr lang="en-US" altLang="zh-TW" i="1" dirty="0">
                  <a:solidFill>
                    <a:srgbClr val="000000"/>
                  </a:solidFill>
                </a:endParaRPr>
              </a:p>
              <a:p>
                <a:pPr marL="360363" lvl="0">
                  <a:buClr>
                    <a:srgbClr val="000000"/>
                  </a:buClr>
                </a:pP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</a:t>
                </a:r>
                <a:r>
                  <a:rPr lang="en-US" altLang="zh-TW" i="1" spc="2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max{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L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(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) </a:t>
                </a:r>
                <a:r>
                  <a:rPr lang="en-US" altLang="zh-TW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|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1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≤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and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 </a:t>
                </a:r>
                <a:r>
                  <a:rPr lang="en-US" altLang="zh-TW" i="1" spc="200" dirty="0">
                    <a:solidFill>
                      <a:srgbClr val="000000"/>
                    </a:solidFill>
                  </a:rPr>
                  <a:t>j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]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i="1" dirty="0">
                    <a:solidFill>
                      <a:srgbClr val="000000"/>
                    </a:solidFill>
                  </a:rPr>
                  <a:t>A</a:t>
                </a:r>
                <a:r>
                  <a:rPr lang="en-US" altLang="zh-TW" dirty="0">
                    <a:solidFill>
                      <a:srgbClr val="000000"/>
                    </a:solidFill>
                  </a:rPr>
                  <a:t>[</a:t>
                </a:r>
                <a:r>
                  <a:rPr lang="en-US" altLang="zh-TW" i="1" spc="2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000000"/>
                    </a:solidFill>
                  </a:rPr>
                  <a:t>]}</a:t>
                </a:r>
                <a:endParaRPr lang="en-US" altLang="zh-TW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內容版面配置區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7" t="-8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49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5760736"/>
          </a:xfrm>
        </p:spPr>
        <p:txBody>
          <a:bodyPr/>
          <a:lstStyle/>
          <a:p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lis(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ea typeface="細明體" panose="02020509000000000000" pitchFamily="49" charset="-120"/>
              </a:rPr>
              <a:t>A[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ea typeface="細明體" panose="02020509000000000000" pitchFamily="49" charset="-120"/>
              </a:rPr>
              <a:t>n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1 ] = 1;</a:t>
            </a:r>
          </a:p>
          <a:p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</a:t>
            </a:r>
            <a:r>
              <a:rPr lang="nn-NO" altLang="zh-TW" dirty="0"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0;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</a:t>
            </a:r>
            <a:r>
              <a:rPr lang="en-US" altLang="zh-TW" dirty="0" smtClean="0">
                <a:ea typeface="細明體" panose="02020509000000000000" pitchFamily="49" charset="-120"/>
              </a:rPr>
              <a:t>j ] &lt; </a:t>
            </a:r>
            <a:r>
              <a:rPr lang="en-US" altLang="zh-TW" dirty="0">
                <a:ea typeface="細明體" panose="02020509000000000000" pitchFamily="49" charset="-120"/>
              </a:rPr>
              <a:t>A[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+ 1 );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==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0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length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0;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max(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719138" lvl="0">
              <a:spcBef>
                <a:spcPts val="300"/>
              </a:spcBef>
              <a:buClr>
                <a:srgbClr val="000000"/>
              </a:buClr>
            </a:pP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spc="200" dirty="0" smtClean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1, and for every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,</a:t>
            </a:r>
            <a:endParaRPr lang="en-US" altLang="zh-TW" sz="2200" i="1" dirty="0" smtClean="0">
              <a:solidFill>
                <a:srgbClr val="000000"/>
              </a:solidFill>
              <a:latin typeface="Times New Roman"/>
            </a:endParaRPr>
          </a:p>
          <a:p>
            <a:pPr marL="719138" lvl="0">
              <a:spcBef>
                <a:spcPts val="300"/>
              </a:spcBef>
              <a:buClr>
                <a:srgbClr val="000000"/>
              </a:buClr>
            </a:pP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i="1" spc="2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max{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( 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≤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[ 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[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]}</a:t>
            </a:r>
          </a:p>
          <a:p>
            <a:pPr marL="3420000" lvl="0">
              <a:spcBef>
                <a:spcPts val="300"/>
              </a:spcBef>
              <a:buClr>
                <a:srgbClr val="000000"/>
              </a:buClr>
            </a:pP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if </a:t>
            </a:r>
            <a:r>
              <a:rPr lang="en-US" altLang="zh-TW" sz="2200" spc="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∃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∈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{1, 2, ..., </a:t>
            </a:r>
            <a:r>
              <a:rPr lang="en-US" altLang="zh-TW" sz="2200" i="1" spc="3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1} </a:t>
            </a:r>
            <a:r>
              <a:rPr lang="en-US" altLang="zh-TW" sz="2200" dirty="0" err="1">
                <a:solidFill>
                  <a:srgbClr val="000000"/>
                </a:solidFill>
                <a:latin typeface="Times New Roman"/>
              </a:rPr>
              <a:t>s.t.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[ 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[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].</a:t>
            </a:r>
          </a:p>
          <a:p>
            <a:pPr marL="719138" lvl="0">
              <a:spcBef>
                <a:spcPts val="300"/>
              </a:spcBef>
              <a:buClr>
                <a:srgbClr val="000000"/>
              </a:buClr>
              <a:tabLst>
                <a:tab pos="3420000" algn="l"/>
              </a:tabLst>
            </a:pP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	if </a:t>
            </a:r>
            <a:r>
              <a:rPr lang="en-US" altLang="zh-TW" sz="2200" spc="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∄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∈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{1, 2, ..., </a:t>
            </a:r>
            <a:r>
              <a:rPr lang="en-US" altLang="zh-TW" sz="2200" i="1" spc="3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1} </a:t>
            </a:r>
            <a:r>
              <a:rPr lang="en-US" altLang="zh-TW" sz="2200" dirty="0" err="1">
                <a:solidFill>
                  <a:srgbClr val="000000"/>
                </a:solidFill>
                <a:latin typeface="Times New Roman"/>
              </a:rPr>
              <a:t>s.t.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[ 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[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].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91240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31471" y="548632"/>
            <a:ext cx="8281057" cy="5760736"/>
          </a:xfrm>
        </p:spPr>
        <p:txBody>
          <a:bodyPr/>
          <a:lstStyle/>
          <a:p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lis(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ea typeface="細明體" panose="02020509000000000000" pitchFamily="49" charset="-120"/>
              </a:rPr>
              <a:t>A[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ea typeface="細明體" panose="02020509000000000000" pitchFamily="49" charset="-120"/>
              </a:rPr>
              <a:t>n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1 ] = 1;</a:t>
            </a:r>
          </a:p>
          <a:p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</a:t>
            </a:r>
            <a:r>
              <a:rPr lang="nn-NO" altLang="zh-TW" dirty="0"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= 1;</a:t>
            </a:r>
          </a:p>
          <a:p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</a:t>
            </a:r>
            <a:r>
              <a:rPr lang="en-US" altLang="zh-TW" dirty="0" smtClean="0">
                <a:ea typeface="細明體" panose="02020509000000000000" pitchFamily="49" charset="-120"/>
              </a:rPr>
              <a:t>j ] &lt; </a:t>
            </a:r>
            <a:r>
              <a:rPr lang="en-US" altLang="zh-TW" dirty="0">
                <a:ea typeface="細明體" panose="02020509000000000000" pitchFamily="49" charset="-120"/>
              </a:rPr>
              <a:t>A[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max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j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+ 1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0;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max(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marL="719138" lvl="0">
              <a:spcBef>
                <a:spcPts val="300"/>
              </a:spcBef>
              <a:buClr>
                <a:srgbClr val="000000"/>
              </a:buClr>
            </a:pP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spc="200" dirty="0" smtClean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1, and for every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,</a:t>
            </a:r>
            <a:endParaRPr lang="en-US" altLang="zh-TW" sz="2200" i="1" dirty="0" smtClean="0">
              <a:solidFill>
                <a:srgbClr val="000000"/>
              </a:solidFill>
              <a:latin typeface="Times New Roman"/>
            </a:endParaRPr>
          </a:p>
          <a:p>
            <a:pPr marL="719138" lvl="0">
              <a:spcBef>
                <a:spcPts val="300"/>
              </a:spcBef>
              <a:buClr>
                <a:srgbClr val="000000"/>
              </a:buClr>
            </a:pP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i="1" spc="2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max{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( 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|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1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≤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[ 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]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[</a:t>
            </a:r>
            <a:r>
              <a:rPr lang="en-US" altLang="zh-TW" sz="2200" i="1" spc="200" dirty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>
                <a:solidFill>
                  <a:srgbClr val="000000"/>
                </a:solidFill>
                <a:latin typeface="Times New Roman"/>
              </a:rPr>
              <a:t>]}</a:t>
            </a:r>
          </a:p>
          <a:p>
            <a:pPr marL="3420000" lvl="0">
              <a:spcBef>
                <a:spcPts val="300"/>
              </a:spcBef>
              <a:buClr>
                <a:srgbClr val="000000"/>
              </a:buClr>
            </a:pP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if </a:t>
            </a:r>
            <a:r>
              <a:rPr lang="en-US" altLang="zh-TW" sz="2200" spc="3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∃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∈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{1, 2, ..., </a:t>
            </a:r>
            <a:r>
              <a:rPr lang="en-US" altLang="zh-TW" sz="2200" i="1" spc="3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1} </a:t>
            </a:r>
            <a:r>
              <a:rPr lang="en-US" altLang="zh-TW" sz="2200" dirty="0" err="1" smtClean="0">
                <a:solidFill>
                  <a:srgbClr val="000000"/>
                </a:solidFill>
                <a:latin typeface="Times New Roman"/>
              </a:rPr>
              <a:t>s.t.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[ </a:t>
            </a:r>
            <a:r>
              <a:rPr lang="en-US" altLang="zh-TW" sz="2200" i="1" spc="200" dirty="0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] </a:t>
            </a:r>
            <a:r>
              <a:rPr lang="en-US" altLang="zh-TW" sz="20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[</a:t>
            </a:r>
            <a:r>
              <a:rPr lang="en-US" altLang="zh-TW" sz="2200" i="1" spc="200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].</a:t>
            </a:r>
          </a:p>
          <a:p>
            <a:pPr marL="719138" lvl="0">
              <a:spcBef>
                <a:spcPts val="300"/>
              </a:spcBef>
              <a:buClr>
                <a:srgbClr val="000000"/>
              </a:buClr>
              <a:tabLst>
                <a:tab pos="3420000" algn="l"/>
              </a:tabLst>
            </a:pP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(</a:t>
            </a:r>
            <a:r>
              <a:rPr lang="en-US" altLang="zh-TW" sz="2200" i="1" spc="200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) 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1	if </a:t>
            </a:r>
            <a:r>
              <a:rPr lang="en-US" altLang="zh-TW" sz="2200" spc="3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∄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∈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{1, 2, ..., </a:t>
            </a:r>
            <a:r>
              <a:rPr lang="en-US" altLang="zh-TW" sz="2200" i="1" spc="300" dirty="0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−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1} </a:t>
            </a:r>
            <a:r>
              <a:rPr lang="en-US" altLang="zh-TW" sz="2200" dirty="0" err="1" smtClean="0">
                <a:solidFill>
                  <a:srgbClr val="000000"/>
                </a:solidFill>
                <a:latin typeface="Times New Roman"/>
              </a:rPr>
              <a:t>s.t.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[ </a:t>
            </a:r>
            <a:r>
              <a:rPr lang="en-US" altLang="zh-TW" sz="2200" i="1" spc="200" dirty="0" smtClean="0">
                <a:solidFill>
                  <a:srgbClr val="000000"/>
                </a:solidFill>
                <a:latin typeface="Times New Roman"/>
              </a:rPr>
              <a:t>j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] </a:t>
            </a:r>
            <a:r>
              <a:rPr lang="en-US" altLang="zh-TW" sz="20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&lt;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TW" sz="2200" i="1" dirty="0" smtClean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[</a:t>
            </a:r>
            <a:r>
              <a:rPr lang="en-US" altLang="zh-TW" sz="2200" i="1" spc="200" dirty="0" err="1" smtClean="0">
                <a:solidFill>
                  <a:srgbClr val="000000"/>
                </a:solidFill>
                <a:latin typeface="Times New Roman"/>
              </a:rPr>
              <a:t>i</a:t>
            </a:r>
            <a:r>
              <a:rPr lang="en-US" altLang="zh-TW" sz="2200" dirty="0" smtClean="0">
                <a:solidFill>
                  <a:srgbClr val="000000"/>
                </a:solidFill>
                <a:latin typeface="Times New Roman"/>
              </a:rPr>
              <a:t>].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6350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lis(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ea typeface="細明體" panose="02020509000000000000" pitchFamily="49" charset="-120"/>
              </a:rPr>
              <a:t>A[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],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fr-FR" altLang="zh-TW" dirty="0">
                <a:ea typeface="細明體" panose="02020509000000000000" pitchFamily="49" charset="-120"/>
              </a:rPr>
              <a:t>n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*length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ea typeface="細明體" panose="02020509000000000000" pitchFamily="49" charset="-120"/>
              </a:rPr>
              <a:t>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+ 1 ];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1 ] = 1;</a:t>
            </a:r>
          </a:p>
          <a:p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</a:t>
            </a:r>
            <a:r>
              <a:rPr lang="nn-NO" altLang="zh-TW" dirty="0"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= 1;</a:t>
            </a:r>
          </a:p>
          <a:p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</a:t>
            </a:r>
            <a:r>
              <a:rPr lang="en-US" altLang="zh-TW" dirty="0" smtClean="0">
                <a:ea typeface="細明體" panose="02020509000000000000" pitchFamily="49" charset="-120"/>
              </a:rPr>
              <a:t>j ] &lt; </a:t>
            </a:r>
            <a:r>
              <a:rPr lang="en-US" altLang="zh-TW" dirty="0">
                <a:ea typeface="細明體" panose="02020509000000000000" pitchFamily="49" charset="-120"/>
              </a:rPr>
              <a:t>A[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= max(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j ] + 1 );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0;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1; i &lt;= </a:t>
            </a:r>
            <a:r>
              <a:rPr lang="nn-NO" altLang="zh-TW" dirty="0">
                <a:ea typeface="細明體" panose="02020509000000000000" pitchFamily="49" charset="-120"/>
              </a:rPr>
              <a:t>n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max(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length[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 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maxLength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58457"/>
              </p:ext>
            </p:extLst>
          </p:nvPr>
        </p:nvGraphicFramePr>
        <p:xfrm>
          <a:off x="4212000" y="729000"/>
          <a:ext cx="414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34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lis(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A[], </a:t>
            </a:r>
            <a:r>
              <a:rPr lang="fr-F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n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*length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*previous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length[ 1 ]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previous[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1 ] = 1;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length[ i ]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previous[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j ] &lt; A[ i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length[ i ] &lt; length[ j ] + 1 )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length[ i ] = length[ j ] + 1;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 previous[ i ] 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}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= 1;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i = 2; i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++i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length[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&lt;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length[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 ]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9923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i;</a:t>
            </a:r>
          </a:p>
          <a:p>
            <a:pPr lvl="0">
              <a:buClr>
                <a:srgbClr val="000000"/>
              </a:buClr>
            </a:pPr>
            <a:r>
              <a:rPr lang="nb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082418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350424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58567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739228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875223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450417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426264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678996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049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i;</a:t>
            </a:r>
          </a:p>
          <a:p>
            <a:pPr lvl="0">
              <a:buClr>
                <a:srgbClr val="000000"/>
              </a:buClr>
            </a:pPr>
            <a:r>
              <a:rPr lang="nb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&lt;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597561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cxnSp>
        <p:nvCxnSpPr>
          <p:cNvPr id="13" name="弧形接點 12"/>
          <p:cNvCxnSpPr>
            <a:stCxn id="7" idx="2"/>
            <a:endCxn id="8" idx="2"/>
          </p:cNvCxnSpPr>
          <p:nvPr/>
        </p:nvCxnSpPr>
        <p:spPr>
          <a:xfrm rot="5400000">
            <a:off x="601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新細明體" pitchFamily="18" charset="-120"/>
              <a:cs typeface="+mn-cs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072453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58567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739228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875223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450417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426264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206092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124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160182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3" name="弧形接點 12"/>
          <p:cNvCxnSpPr>
            <a:stCxn id="7" idx="2"/>
            <a:endCxn id="8" idx="2"/>
          </p:cNvCxnSpPr>
          <p:nvPr/>
        </p:nvCxnSpPr>
        <p:spPr>
          <a:xfrm rot="5400000">
            <a:off x="601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725153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955643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331535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33412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102534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293234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60596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248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275705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1" name="弧形接點 10"/>
          <p:cNvCxnSpPr>
            <a:stCxn id="4" idx="2"/>
            <a:endCxn id="7" idx="2"/>
          </p:cNvCxnSpPr>
          <p:nvPr/>
        </p:nvCxnSpPr>
        <p:spPr>
          <a:xfrm rot="5400000">
            <a:off x="655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3" name="弧形接點 12"/>
          <p:cNvCxnSpPr>
            <a:stCxn id="7" idx="2"/>
            <a:endCxn id="8" idx="2"/>
          </p:cNvCxnSpPr>
          <p:nvPr/>
        </p:nvCxnSpPr>
        <p:spPr>
          <a:xfrm rot="5400000">
            <a:off x="601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046865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492610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076525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46694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481417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652886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873963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766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314367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0" name="弧形接點 9"/>
          <p:cNvCxnSpPr>
            <a:stCxn id="9" idx="2"/>
            <a:endCxn id="8" idx="2"/>
          </p:cNvCxnSpPr>
          <p:nvPr/>
        </p:nvCxnSpPr>
        <p:spPr>
          <a:xfrm rot="5400000">
            <a:off x="6552000" y="1269000"/>
            <a:ext cx="12700" cy="1440000"/>
          </a:xfrm>
          <a:prstGeom prst="curvedConnector3">
            <a:avLst>
              <a:gd name="adj1" fmla="val 4221819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1" name="弧形接點 10"/>
          <p:cNvCxnSpPr>
            <a:stCxn id="4" idx="2"/>
            <a:endCxn id="7" idx="2"/>
          </p:cNvCxnSpPr>
          <p:nvPr/>
        </p:nvCxnSpPr>
        <p:spPr>
          <a:xfrm rot="5400000">
            <a:off x="655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3" name="弧形接點 12"/>
          <p:cNvCxnSpPr>
            <a:stCxn id="7" idx="2"/>
            <a:endCxn id="8" idx="2"/>
          </p:cNvCxnSpPr>
          <p:nvPr/>
        </p:nvCxnSpPr>
        <p:spPr>
          <a:xfrm rot="5400000">
            <a:off x="601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743588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505748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984917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703024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464468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21070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808837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68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394730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0" name="弧形接點 9"/>
          <p:cNvCxnSpPr>
            <a:stCxn id="9" idx="2"/>
            <a:endCxn id="8" idx="2"/>
          </p:cNvCxnSpPr>
          <p:nvPr/>
        </p:nvCxnSpPr>
        <p:spPr>
          <a:xfrm rot="5400000">
            <a:off x="6552000" y="1269000"/>
            <a:ext cx="12700" cy="1440000"/>
          </a:xfrm>
          <a:prstGeom prst="curvedConnector3">
            <a:avLst>
              <a:gd name="adj1" fmla="val 4221819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1" name="弧形接點 10"/>
          <p:cNvCxnSpPr>
            <a:stCxn id="4" idx="2"/>
            <a:endCxn id="7" idx="2"/>
          </p:cNvCxnSpPr>
          <p:nvPr/>
        </p:nvCxnSpPr>
        <p:spPr>
          <a:xfrm rot="5400000">
            <a:off x="655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3" name="弧形接點 12"/>
          <p:cNvCxnSpPr>
            <a:stCxn id="7" idx="2"/>
            <a:endCxn id="8" idx="2"/>
          </p:cNvCxnSpPr>
          <p:nvPr/>
        </p:nvCxnSpPr>
        <p:spPr>
          <a:xfrm rot="5400000">
            <a:off x="601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33" name="弧形接點 32"/>
          <p:cNvCxnSpPr>
            <a:stCxn id="24" idx="2"/>
            <a:endCxn id="4" idx="2"/>
          </p:cNvCxnSpPr>
          <p:nvPr/>
        </p:nvCxnSpPr>
        <p:spPr>
          <a:xfrm rot="5400000">
            <a:off x="727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607673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143003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148435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037588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67325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2105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433175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39881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697360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0" name="弧形接點 9"/>
          <p:cNvCxnSpPr>
            <a:stCxn id="9" idx="2"/>
            <a:endCxn id="8" idx="2"/>
          </p:cNvCxnSpPr>
          <p:nvPr/>
        </p:nvCxnSpPr>
        <p:spPr>
          <a:xfrm rot="5400000">
            <a:off x="6552000" y="1269000"/>
            <a:ext cx="12700" cy="1440000"/>
          </a:xfrm>
          <a:prstGeom prst="curvedConnector3">
            <a:avLst>
              <a:gd name="adj1" fmla="val 4221819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1" name="弧形接點 10"/>
          <p:cNvCxnSpPr>
            <a:stCxn id="4" idx="2"/>
            <a:endCxn id="7" idx="2"/>
          </p:cNvCxnSpPr>
          <p:nvPr/>
        </p:nvCxnSpPr>
        <p:spPr>
          <a:xfrm rot="5400000">
            <a:off x="655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3" name="弧形接點 12"/>
          <p:cNvCxnSpPr>
            <a:stCxn id="7" idx="2"/>
            <a:endCxn id="8" idx="2"/>
          </p:cNvCxnSpPr>
          <p:nvPr/>
        </p:nvCxnSpPr>
        <p:spPr>
          <a:xfrm rot="5400000">
            <a:off x="601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29" name="弧形接點 28"/>
          <p:cNvCxnSpPr>
            <a:stCxn id="23" idx="2"/>
            <a:endCxn id="4" idx="2"/>
          </p:cNvCxnSpPr>
          <p:nvPr/>
        </p:nvCxnSpPr>
        <p:spPr>
          <a:xfrm rot="5400000">
            <a:off x="7452000" y="1449000"/>
            <a:ext cx="12700" cy="1080000"/>
          </a:xfrm>
          <a:prstGeom prst="curvedConnector3">
            <a:avLst>
              <a:gd name="adj1" fmla="val 297818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3" name="弧形接點 32"/>
          <p:cNvCxnSpPr>
            <a:stCxn id="24" idx="2"/>
            <a:endCxn id="4" idx="2"/>
          </p:cNvCxnSpPr>
          <p:nvPr/>
        </p:nvCxnSpPr>
        <p:spPr>
          <a:xfrm rot="5400000">
            <a:off x="727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393769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152217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458932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231200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209238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338726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285727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12009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290836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0" name="弧形接點 9"/>
          <p:cNvCxnSpPr>
            <a:stCxn id="9" idx="2"/>
            <a:endCxn id="8" idx="2"/>
          </p:cNvCxnSpPr>
          <p:nvPr/>
        </p:nvCxnSpPr>
        <p:spPr>
          <a:xfrm rot="5400000">
            <a:off x="6552000" y="1269000"/>
            <a:ext cx="12700" cy="1440000"/>
          </a:xfrm>
          <a:prstGeom prst="curvedConnector3">
            <a:avLst>
              <a:gd name="adj1" fmla="val 4221819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1" name="弧形接點 10"/>
          <p:cNvCxnSpPr>
            <a:stCxn id="4" idx="2"/>
            <a:endCxn id="7" idx="2"/>
          </p:cNvCxnSpPr>
          <p:nvPr/>
        </p:nvCxnSpPr>
        <p:spPr>
          <a:xfrm rot="5400000">
            <a:off x="655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3" name="弧形接點 12"/>
          <p:cNvCxnSpPr>
            <a:stCxn id="7" idx="2"/>
            <a:endCxn id="8" idx="2"/>
          </p:cNvCxnSpPr>
          <p:nvPr/>
        </p:nvCxnSpPr>
        <p:spPr>
          <a:xfrm rot="5400000">
            <a:off x="601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28" name="弧形接點 27"/>
          <p:cNvCxnSpPr>
            <a:stCxn id="22" idx="2"/>
            <a:endCxn id="24" idx="2"/>
          </p:cNvCxnSpPr>
          <p:nvPr/>
        </p:nvCxnSpPr>
        <p:spPr>
          <a:xfrm rot="5400000">
            <a:off x="799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29" name="弧形接點 28"/>
          <p:cNvCxnSpPr>
            <a:stCxn id="23" idx="2"/>
            <a:endCxn id="4" idx="2"/>
          </p:cNvCxnSpPr>
          <p:nvPr/>
        </p:nvCxnSpPr>
        <p:spPr>
          <a:xfrm rot="5400000">
            <a:off x="7452000" y="1449000"/>
            <a:ext cx="12700" cy="1080000"/>
          </a:xfrm>
          <a:prstGeom prst="curvedConnector3">
            <a:avLst>
              <a:gd name="adj1" fmla="val 297818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3" name="弧形接點 32"/>
          <p:cNvCxnSpPr>
            <a:stCxn id="24" idx="2"/>
            <a:endCxn id="4" idx="2"/>
          </p:cNvCxnSpPr>
          <p:nvPr/>
        </p:nvCxnSpPr>
        <p:spPr>
          <a:xfrm rot="5400000">
            <a:off x="727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669393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423034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5723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286122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537146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226451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4003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85528"/>
              </p:ext>
            </p:extLst>
          </p:nvPr>
        </p:nvGraphicFramePr>
        <p:xfrm>
          <a:off x="432000" y="5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800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nb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b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j = 1; j &lt; i; j++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A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&lt;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length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[j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+ 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previous</a:t>
            </a:r>
            <a:r>
              <a:rPr lang="en-US" altLang="zh-TW" spc="300" dirty="0">
                <a:solidFill>
                  <a:srgbClr val="000000"/>
                </a:solidFill>
                <a:ea typeface="細明體" panose="02020509000000000000" pitchFamily="49" charset="-120"/>
              </a:rPr>
              <a:t>[</a:t>
            </a:r>
            <a:r>
              <a:rPr lang="en-US" altLang="zh-TW" spc="300" dirty="0" err="1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j;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521789"/>
              </p:ext>
            </p:extLst>
          </p:nvPr>
        </p:nvGraphicFramePr>
        <p:xfrm>
          <a:off x="457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7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0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0" name="弧形接點 9"/>
          <p:cNvCxnSpPr>
            <a:stCxn id="9" idx="2"/>
            <a:endCxn id="8" idx="2"/>
          </p:cNvCxnSpPr>
          <p:nvPr/>
        </p:nvCxnSpPr>
        <p:spPr>
          <a:xfrm rot="5400000">
            <a:off x="6552000" y="1269000"/>
            <a:ext cx="12700" cy="1440000"/>
          </a:xfrm>
          <a:prstGeom prst="curvedConnector3">
            <a:avLst>
              <a:gd name="adj1" fmla="val 4221819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1" name="弧形接點 10"/>
          <p:cNvCxnSpPr>
            <a:stCxn id="4" idx="2"/>
            <a:endCxn id="7" idx="2"/>
          </p:cNvCxnSpPr>
          <p:nvPr/>
        </p:nvCxnSpPr>
        <p:spPr>
          <a:xfrm rot="5400000">
            <a:off x="655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3" name="弧形接點 12"/>
          <p:cNvCxnSpPr>
            <a:stCxn id="7" idx="2"/>
            <a:endCxn id="8" idx="2"/>
          </p:cNvCxnSpPr>
          <p:nvPr/>
        </p:nvCxnSpPr>
        <p:spPr>
          <a:xfrm rot="5400000">
            <a:off x="601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85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1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8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4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27" name="弧形接點 26"/>
          <p:cNvCxnSpPr>
            <a:stCxn id="21" idx="2"/>
            <a:endCxn id="22" idx="2"/>
          </p:cNvCxnSpPr>
          <p:nvPr/>
        </p:nvCxnSpPr>
        <p:spPr>
          <a:xfrm rot="5400000">
            <a:off x="853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28" name="弧形接點 27"/>
          <p:cNvCxnSpPr>
            <a:stCxn id="22" idx="2"/>
            <a:endCxn id="24" idx="2"/>
          </p:cNvCxnSpPr>
          <p:nvPr/>
        </p:nvCxnSpPr>
        <p:spPr>
          <a:xfrm rot="5400000">
            <a:off x="799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29" name="弧形接點 28"/>
          <p:cNvCxnSpPr>
            <a:stCxn id="23" idx="2"/>
            <a:endCxn id="4" idx="2"/>
          </p:cNvCxnSpPr>
          <p:nvPr/>
        </p:nvCxnSpPr>
        <p:spPr>
          <a:xfrm rot="5400000">
            <a:off x="7452000" y="1449000"/>
            <a:ext cx="12700" cy="1080000"/>
          </a:xfrm>
          <a:prstGeom prst="curvedConnector3">
            <a:avLst>
              <a:gd name="adj1" fmla="val 297818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33" name="弧形接點 32"/>
          <p:cNvCxnSpPr>
            <a:stCxn id="24" idx="2"/>
            <a:endCxn id="4" idx="2"/>
          </p:cNvCxnSpPr>
          <p:nvPr/>
        </p:nvCxnSpPr>
        <p:spPr>
          <a:xfrm rot="5400000">
            <a:off x="727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669393"/>
              </p:ext>
            </p:extLst>
          </p:nvPr>
        </p:nvGraphicFramePr>
        <p:xfrm>
          <a:off x="5652000" y="32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423034"/>
              </p:ext>
            </p:extLst>
          </p:nvPr>
        </p:nvGraphicFramePr>
        <p:xfrm>
          <a:off x="5652000" y="37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5" name="表格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5723"/>
              </p:ext>
            </p:extLst>
          </p:nvPr>
        </p:nvGraphicFramePr>
        <p:xfrm>
          <a:off x="5652000" y="432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286122"/>
              </p:ext>
            </p:extLst>
          </p:nvPr>
        </p:nvGraphicFramePr>
        <p:xfrm>
          <a:off x="5652000" y="486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537146"/>
              </p:ext>
            </p:extLst>
          </p:nvPr>
        </p:nvGraphicFramePr>
        <p:xfrm>
          <a:off x="5652000" y="54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226451"/>
              </p:ext>
            </p:extLst>
          </p:nvPr>
        </p:nvGraphicFramePr>
        <p:xfrm>
          <a:off x="5652000" y="59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4003"/>
              </p:ext>
            </p:extLst>
          </p:nvPr>
        </p:nvGraphicFramePr>
        <p:xfrm>
          <a:off x="5652000" y="270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629890"/>
              </p:ext>
            </p:extLst>
          </p:nvPr>
        </p:nvGraphicFramePr>
        <p:xfrm>
          <a:off x="432000" y="10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85528"/>
              </p:ext>
            </p:extLst>
          </p:nvPr>
        </p:nvGraphicFramePr>
        <p:xfrm>
          <a:off x="432000" y="54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813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= 1;</a:t>
            </a:r>
          </a:p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i = 2; i &lt;=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numMissles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length[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&lt; length[ i ]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= i;</a:t>
            </a:r>
            <a:endParaRPr lang="en-US" altLang="zh-TW" dirty="0" smtClean="0">
              <a:solidFill>
                <a:srgbClr val="0000FF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FF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en-US" altLang="zh-TW" dirty="0" err="1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printLIS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);</a:t>
            </a:r>
          </a:p>
          <a:p>
            <a:endParaRPr lang="en-US" altLang="zh-TW" dirty="0">
              <a:solidFill>
                <a:srgbClr val="0000FF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FF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printLIS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previous[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&lt;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printLIS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previous[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altitude[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854750"/>
              </p:ext>
            </p:extLst>
          </p:nvPr>
        </p:nvGraphicFramePr>
        <p:xfrm>
          <a:off x="439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5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8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9" name="弧形接點 8"/>
          <p:cNvCxnSpPr>
            <a:stCxn id="8" idx="2"/>
            <a:endCxn id="7" idx="2"/>
          </p:cNvCxnSpPr>
          <p:nvPr/>
        </p:nvCxnSpPr>
        <p:spPr>
          <a:xfrm rot="5400000">
            <a:off x="6372000" y="1269000"/>
            <a:ext cx="12700" cy="1440000"/>
          </a:xfrm>
          <a:prstGeom prst="curvedConnector3">
            <a:avLst>
              <a:gd name="adj1" fmla="val 4221819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0" name="弧形接點 9"/>
          <p:cNvCxnSpPr>
            <a:stCxn id="4" idx="2"/>
            <a:endCxn id="6" idx="2"/>
          </p:cNvCxnSpPr>
          <p:nvPr/>
        </p:nvCxnSpPr>
        <p:spPr>
          <a:xfrm rot="5400000">
            <a:off x="637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2" name="弧形接點 11"/>
          <p:cNvCxnSpPr>
            <a:stCxn id="6" idx="2"/>
            <a:endCxn id="7" idx="2"/>
          </p:cNvCxnSpPr>
          <p:nvPr/>
        </p:nvCxnSpPr>
        <p:spPr>
          <a:xfrm rot="5400000">
            <a:off x="583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13" name="矩形 12"/>
          <p:cNvSpPr/>
          <p:nvPr/>
        </p:nvSpPr>
        <p:spPr>
          <a:xfrm>
            <a:off x="83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2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7" name="弧形接點 16"/>
          <p:cNvCxnSpPr>
            <a:stCxn id="13" idx="2"/>
            <a:endCxn id="14" idx="2"/>
          </p:cNvCxnSpPr>
          <p:nvPr/>
        </p:nvCxnSpPr>
        <p:spPr>
          <a:xfrm rot="5400000">
            <a:off x="835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8" name="弧形接點 17"/>
          <p:cNvCxnSpPr>
            <a:stCxn id="14" idx="2"/>
            <a:endCxn id="16" idx="2"/>
          </p:cNvCxnSpPr>
          <p:nvPr/>
        </p:nvCxnSpPr>
        <p:spPr>
          <a:xfrm rot="5400000">
            <a:off x="781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9" name="弧形接點 18"/>
          <p:cNvCxnSpPr>
            <a:stCxn id="15" idx="2"/>
            <a:endCxn id="4" idx="2"/>
          </p:cNvCxnSpPr>
          <p:nvPr/>
        </p:nvCxnSpPr>
        <p:spPr>
          <a:xfrm rot="5400000">
            <a:off x="7272000" y="1449000"/>
            <a:ext cx="12700" cy="1080000"/>
          </a:xfrm>
          <a:prstGeom prst="curvedConnector3">
            <a:avLst>
              <a:gd name="adj1" fmla="val 297818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20" name="弧形接點 19"/>
          <p:cNvCxnSpPr>
            <a:stCxn id="16" idx="2"/>
            <a:endCxn id="4" idx="2"/>
          </p:cNvCxnSpPr>
          <p:nvPr/>
        </p:nvCxnSpPr>
        <p:spPr>
          <a:xfrm rot="5400000">
            <a:off x="709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5652000" y="4149000"/>
            <a:ext cx="2880000" cy="1440000"/>
          </a:xfrm>
          <a:prstGeom prst="rect">
            <a:avLst/>
          </a:prstGeom>
          <a:solidFill>
            <a:srgbClr val="9BFFFF"/>
          </a:solidFill>
          <a:ln w="19050">
            <a:solidFill>
              <a:srgbClr val="33CCFF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2200" dirty="0" smtClean="0">
                <a:latin typeface="+mn-lt"/>
              </a:rPr>
              <a:t>10  22  33  50  60  80</a:t>
            </a:r>
            <a:endParaRPr lang="zh-TW" altLang="en-US" sz="2200" dirty="0">
              <a:latin typeface="+mn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552000" y="3609000"/>
            <a:ext cx="108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dirty="0" smtClean="0">
                <a:latin typeface="+mn-lt"/>
              </a:rPr>
              <a:t>Output</a:t>
            </a:r>
            <a:endParaRPr lang="zh-TW" altLang="en-US" dirty="0">
              <a:latin typeface="+mn-lt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190417"/>
              </p:ext>
            </p:extLst>
          </p:nvPr>
        </p:nvGraphicFramePr>
        <p:xfrm>
          <a:off x="432000" y="10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952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= 1;</a:t>
            </a:r>
          </a:p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i = 2; i &lt;=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numMissles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; ++i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length[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&lt; length[ i ]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= i;</a:t>
            </a:r>
            <a:endParaRPr lang="en-US" altLang="zh-TW" dirty="0" smtClean="0">
              <a:solidFill>
                <a:srgbClr val="0000FF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FF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en-US" altLang="zh-TW" dirty="0" err="1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printLIS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maxIndex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);</a:t>
            </a:r>
          </a:p>
          <a:p>
            <a:endParaRPr lang="en-US" altLang="zh-TW" dirty="0">
              <a:solidFill>
                <a:srgbClr val="0000FF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FF"/>
              </a:solidFill>
              <a:highlight>
                <a:srgbClr val="FFFFFF"/>
              </a:highlight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printLIS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previous[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&lt;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printLIS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( previous[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altitude[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index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ea typeface="細明體" panose="02020509000000000000" pitchFamily="49" charset="-120"/>
              </a:rPr>
              <a:t>}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812583"/>
              </p:ext>
            </p:extLst>
          </p:nvPr>
        </p:nvGraphicFramePr>
        <p:xfrm>
          <a:off x="4392000" y="549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i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8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2000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length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 i="1" dirty="0" smtClean="0"/>
                        <a:t>previous</a:t>
                      </a:r>
                      <a:endParaRPr lang="zh-TW" altLang="en-US" sz="2000" i="1" dirty="0"/>
                    </a:p>
                  </a:txBody>
                  <a:tcPr marL="0" marR="90000" marT="0" marB="18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4961614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65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8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1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9" name="弧形接點 8"/>
          <p:cNvCxnSpPr>
            <a:stCxn id="8" idx="2"/>
            <a:endCxn id="7" idx="2"/>
          </p:cNvCxnSpPr>
          <p:nvPr/>
        </p:nvCxnSpPr>
        <p:spPr>
          <a:xfrm rot="5400000">
            <a:off x="6372000" y="1269000"/>
            <a:ext cx="12700" cy="1440000"/>
          </a:xfrm>
          <a:prstGeom prst="curvedConnector3">
            <a:avLst>
              <a:gd name="adj1" fmla="val 4221819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0" name="弧形接點 9"/>
          <p:cNvCxnSpPr>
            <a:stCxn id="4" idx="2"/>
            <a:endCxn id="6" idx="2"/>
          </p:cNvCxnSpPr>
          <p:nvPr/>
        </p:nvCxnSpPr>
        <p:spPr>
          <a:xfrm rot="5400000">
            <a:off x="637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2" name="弧形接點 11"/>
          <p:cNvCxnSpPr>
            <a:stCxn id="6" idx="2"/>
            <a:endCxn id="7" idx="2"/>
          </p:cNvCxnSpPr>
          <p:nvPr/>
        </p:nvCxnSpPr>
        <p:spPr>
          <a:xfrm rot="5400000">
            <a:off x="5832000" y="1809000"/>
            <a:ext cx="12700" cy="36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13" name="矩形 12"/>
          <p:cNvSpPr/>
          <p:nvPr/>
        </p:nvSpPr>
        <p:spPr>
          <a:xfrm>
            <a:off x="835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99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3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272000" y="1629000"/>
            <a:ext cx="360000" cy="360000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cs typeface="+mn-cs"/>
            </a:endParaRPr>
          </a:p>
        </p:txBody>
      </p:sp>
      <p:cxnSp>
        <p:nvCxnSpPr>
          <p:cNvPr id="17" name="弧形接點 16"/>
          <p:cNvCxnSpPr>
            <a:stCxn id="13" idx="2"/>
            <a:endCxn id="6" idx="2"/>
          </p:cNvCxnSpPr>
          <p:nvPr/>
        </p:nvCxnSpPr>
        <p:spPr>
          <a:xfrm rot="5400000">
            <a:off x="7272000" y="729000"/>
            <a:ext cx="12700" cy="2520000"/>
          </a:xfrm>
          <a:prstGeom prst="curvedConnector3">
            <a:avLst>
              <a:gd name="adj1" fmla="val 4412386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8" name="弧形接點 17"/>
          <p:cNvCxnSpPr>
            <a:stCxn id="14" idx="2"/>
            <a:endCxn id="16" idx="2"/>
          </p:cNvCxnSpPr>
          <p:nvPr/>
        </p:nvCxnSpPr>
        <p:spPr>
          <a:xfrm rot="5400000">
            <a:off x="781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19" name="弧形接點 18"/>
          <p:cNvCxnSpPr>
            <a:stCxn id="15" idx="2"/>
            <a:endCxn id="4" idx="2"/>
          </p:cNvCxnSpPr>
          <p:nvPr/>
        </p:nvCxnSpPr>
        <p:spPr>
          <a:xfrm rot="5400000">
            <a:off x="7272000" y="1449000"/>
            <a:ext cx="12700" cy="1080000"/>
          </a:xfrm>
          <a:prstGeom prst="curvedConnector3">
            <a:avLst>
              <a:gd name="adj1" fmla="val 2978181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cxnSp>
        <p:nvCxnSpPr>
          <p:cNvPr id="20" name="弧形接點 19"/>
          <p:cNvCxnSpPr>
            <a:stCxn id="16" idx="2"/>
            <a:endCxn id="4" idx="2"/>
          </p:cNvCxnSpPr>
          <p:nvPr/>
        </p:nvCxnSpPr>
        <p:spPr>
          <a:xfrm rot="5400000">
            <a:off x="7092000" y="1629000"/>
            <a:ext cx="12700" cy="720000"/>
          </a:xfrm>
          <a:prstGeom prst="curvedConnector3">
            <a:avLst>
              <a:gd name="adj1" fmla="val 180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 w="lg" len="lg"/>
          </a:ln>
          <a:effectLst/>
        </p:spPr>
      </p:cxnSp>
      <p:sp>
        <p:nvSpPr>
          <p:cNvPr id="21" name="文字方塊 20"/>
          <p:cNvSpPr txBox="1"/>
          <p:nvPr/>
        </p:nvSpPr>
        <p:spPr>
          <a:xfrm>
            <a:off x="5652000" y="4149000"/>
            <a:ext cx="2880000" cy="1440000"/>
          </a:xfrm>
          <a:prstGeom prst="rect">
            <a:avLst/>
          </a:prstGeom>
          <a:solidFill>
            <a:srgbClr val="9BFFFF"/>
          </a:solidFill>
          <a:ln w="19050">
            <a:solidFill>
              <a:srgbClr val="33CCFF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zh-TW" sz="2200" dirty="0" smtClean="0">
                <a:latin typeface="+mn-lt"/>
              </a:rPr>
              <a:t>10  22  33  50  60 </a:t>
            </a:r>
            <a:endParaRPr lang="zh-TW" altLang="en-US" sz="2200" dirty="0">
              <a:latin typeface="+mn-lt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552000" y="3609000"/>
            <a:ext cx="1080000" cy="540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TW" dirty="0" smtClean="0">
                <a:latin typeface="+mn-lt"/>
              </a:rPr>
              <a:t>Output</a:t>
            </a:r>
            <a:endParaRPr lang="zh-TW" altLang="en-US" dirty="0">
              <a:latin typeface="+mn-lt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716886"/>
              </p:ext>
            </p:extLst>
          </p:nvPr>
        </p:nvGraphicFramePr>
        <p:xfrm>
          <a:off x="432000" y="1089000"/>
          <a:ext cx="32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61875776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6045878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422668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263043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58752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0204162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006289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455283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8640213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30</a:t>
                      </a:r>
                      <a:endParaRPr lang="zh-TW" altLang="en-US" sz="2000" dirty="0"/>
                    </a:p>
                  </a:txBody>
                  <a:tcPr marL="0" marR="0" marT="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0706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074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4000" dirty="0"/>
              <a:t>Robinson-</a:t>
            </a:r>
            <a:r>
              <a:rPr lang="en-US" altLang="zh-TW" sz="4000" dirty="0" err="1"/>
              <a:t>Schensted</a:t>
            </a:r>
            <a:r>
              <a:rPr lang="en-US" altLang="zh-TW" sz="4000" dirty="0"/>
              <a:t>-Knuth Algorithm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39464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Robinson-</a:t>
            </a:r>
            <a:r>
              <a:rPr lang="en-US" altLang="zh-TW" dirty="0" err="1"/>
              <a:t>Schensted</a:t>
            </a:r>
            <a:r>
              <a:rPr lang="en-US" altLang="zh-TW" dirty="0"/>
              <a:t>-Knuth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3"/>
            <a:ext cx="8461081" cy="5040645"/>
          </a:xfrm>
        </p:spPr>
        <p:txBody>
          <a:bodyPr/>
          <a:lstStyle/>
          <a:p>
            <a:pPr marL="268288" lvl="0" indent="-268288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</a:p>
          <a:p>
            <a:pPr marL="268288" lvl="0" indent="-268288">
              <a:spcBef>
                <a:spcPts val="0"/>
              </a:spcBef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marL="268288" lvl="0" indent="-268288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0"/>
              </a:spcBef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</a:endParaRPr>
          </a:p>
          <a:p>
            <a:pPr marL="268288" lvl="0" indent="-268288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  <a:p>
            <a:pPr marL="268288" indent="-268288"/>
            <a:endParaRPr lang="en-US" altLang="zh-TW" dirty="0" smtClean="0"/>
          </a:p>
          <a:p>
            <a:pPr marL="268288" indent="-268288"/>
            <a:endParaRPr lang="en-US" altLang="zh-TW" dirty="0" smtClean="0"/>
          </a:p>
          <a:p>
            <a:r>
              <a:rPr lang="en-US" altLang="zh-TW" dirty="0" err="1"/>
              <a:t>Schensted</a:t>
            </a:r>
            <a:r>
              <a:rPr lang="en-US" altLang="zh-TW" dirty="0"/>
              <a:t>, C. (1961), "Longest increasing and decreasing subsequences", Canadian Journal of Mathematics, 13: 179–191,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6002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93773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724894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</a:t>
            </a:r>
            <a:r>
              <a:rPr lang="en-US" altLang="zh-TW" dirty="0" smtClean="0">
                <a:solidFill>
                  <a:srgbClr val="000000"/>
                </a:solidFill>
              </a:rPr>
              <a:t>than the </a:t>
            </a:r>
            <a:r>
              <a:rPr lang="en-US" altLang="zh-TW" dirty="0">
                <a:solidFill>
                  <a:srgbClr val="000000"/>
                </a:solidFill>
              </a:rPr>
              <a:t>smallest among all end elements of active lists, we will start </a:t>
            </a:r>
            <a:r>
              <a:rPr lang="en-US" altLang="zh-TW" dirty="0" smtClean="0">
                <a:solidFill>
                  <a:srgbClr val="000000"/>
                </a:solidFill>
              </a:rPr>
              <a:t>a new </a:t>
            </a:r>
            <a:r>
              <a:rPr lang="en-US" altLang="zh-TW" dirty="0">
                <a:solidFill>
                  <a:srgbClr val="000000"/>
                </a:solidFill>
              </a:rPr>
              <a:t>active list of </a:t>
            </a:r>
            <a:r>
              <a:rPr lang="en-US" altLang="zh-TW" dirty="0" smtClean="0">
                <a:solidFill>
                  <a:srgbClr val="000000"/>
                </a:solidFill>
              </a:rPr>
              <a:t>length </a:t>
            </a:r>
            <a:r>
              <a:rPr lang="en-US" altLang="zh-TW" dirty="0">
                <a:solidFill>
                  <a:srgbClr val="000000"/>
                </a:solidFill>
              </a:rPr>
              <a:t>1. We will discard all other lists of </a:t>
            </a:r>
            <a:r>
              <a:rPr lang="en-US" altLang="zh-TW" dirty="0" smtClean="0">
                <a:solidFill>
                  <a:srgbClr val="000000"/>
                </a:solidFill>
              </a:rPr>
              <a:t>length </a:t>
            </a:r>
            <a:r>
              <a:rPr lang="en-US" altLang="zh-TW" dirty="0">
                <a:solidFill>
                  <a:srgbClr val="000000"/>
                </a:solidFill>
              </a:rPr>
              <a:t>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</a:t>
            </a:r>
            <a:r>
              <a:rPr lang="en-US" altLang="zh-TW" dirty="0" smtClean="0">
                <a:solidFill>
                  <a:srgbClr val="000000"/>
                </a:solidFill>
              </a:rPr>
              <a:t>largest </a:t>
            </a:r>
            <a:r>
              <a:rPr lang="en-US" altLang="zh-TW" dirty="0">
                <a:solidFill>
                  <a:srgbClr val="000000"/>
                </a:solidFill>
              </a:rPr>
              <a:t>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</a:t>
            </a:r>
            <a:r>
              <a:rPr lang="en-US" altLang="zh-TW" dirty="0" smtClean="0">
                <a:solidFill>
                  <a:srgbClr val="000000"/>
                </a:solidFill>
              </a:rPr>
              <a:t>length </a:t>
            </a:r>
            <a:r>
              <a:rPr lang="en-US" altLang="zh-TW" dirty="0">
                <a:solidFill>
                  <a:srgbClr val="000000"/>
                </a:solidFill>
              </a:rPr>
              <a:t>as that of this modified list.</a:t>
            </a:r>
          </a:p>
        </p:txBody>
      </p:sp>
    </p:spTree>
    <p:extLst>
      <p:ext uri="{BB962C8B-B14F-4D97-AF65-F5344CB8AC3E}">
        <p14:creationId xmlns:p14="http://schemas.microsoft.com/office/powerpoint/2010/main" val="3667993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90237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261610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44627"/>
              </p:ext>
            </p:extLst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</p:spTree>
    <p:extLst>
      <p:ext uri="{BB962C8B-B14F-4D97-AF65-F5344CB8AC3E}">
        <p14:creationId xmlns:p14="http://schemas.microsoft.com/office/powerpoint/2010/main" val="3728627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840988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143681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444627"/>
              </p:ext>
            </p:extLst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</p:spTree>
    <p:extLst>
      <p:ext uri="{BB962C8B-B14F-4D97-AF65-F5344CB8AC3E}">
        <p14:creationId xmlns:p14="http://schemas.microsoft.com/office/powerpoint/2010/main" val="2680054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9531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896639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664892"/>
              </p:ext>
            </p:extLst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342149"/>
              </p:ext>
            </p:extLst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</p:spTree>
    <p:extLst>
      <p:ext uri="{BB962C8B-B14F-4D97-AF65-F5344CB8AC3E}">
        <p14:creationId xmlns:p14="http://schemas.microsoft.com/office/powerpoint/2010/main" val="1483413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220339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581177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54316"/>
              </p:ext>
            </p:extLst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94637"/>
              </p:ext>
            </p:extLst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</p:spTree>
    <p:extLst>
      <p:ext uri="{BB962C8B-B14F-4D97-AF65-F5344CB8AC3E}">
        <p14:creationId xmlns:p14="http://schemas.microsoft.com/office/powerpoint/2010/main" val="3104682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403879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581177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54316"/>
              </p:ext>
            </p:extLst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94637"/>
              </p:ext>
            </p:extLst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468446"/>
              </p:ext>
            </p:extLst>
          </p:nvPr>
        </p:nvGraphicFramePr>
        <p:xfrm>
          <a:off x="791517" y="3068954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37135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78302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581177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54316"/>
              </p:ext>
            </p:extLst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94637"/>
              </p:ext>
            </p:extLst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36639"/>
              </p:ext>
            </p:extLst>
          </p:nvPr>
        </p:nvGraphicFramePr>
        <p:xfrm>
          <a:off x="791517" y="3068954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746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656784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581177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54316"/>
              </p:ext>
            </p:extLst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94637"/>
              </p:ext>
            </p:extLst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36639"/>
              </p:ext>
            </p:extLst>
          </p:nvPr>
        </p:nvGraphicFramePr>
        <p:xfrm>
          <a:off x="791517" y="3068954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814267"/>
              </p:ext>
            </p:extLst>
          </p:nvPr>
        </p:nvGraphicFramePr>
        <p:xfrm>
          <a:off x="791517" y="3609023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176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656784"/>
              </p:ext>
            </p:extLst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581177"/>
              </p:ext>
            </p:extLst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54316"/>
              </p:ext>
            </p:extLst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94637"/>
              </p:ext>
            </p:extLst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36639"/>
              </p:ext>
            </p:extLst>
          </p:nvPr>
        </p:nvGraphicFramePr>
        <p:xfrm>
          <a:off x="791517" y="3068954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814267"/>
              </p:ext>
            </p:extLst>
          </p:nvPr>
        </p:nvGraphicFramePr>
        <p:xfrm>
          <a:off x="791517" y="3609023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401216"/>
              </p:ext>
            </p:extLst>
          </p:nvPr>
        </p:nvGraphicFramePr>
        <p:xfrm>
          <a:off x="791517" y="4149092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15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Robinson-</a:t>
            </a:r>
            <a:r>
              <a:rPr lang="en-US" altLang="zh-TW" dirty="0" err="1"/>
              <a:t>Schensted</a:t>
            </a:r>
            <a:r>
              <a:rPr lang="en-US" altLang="zh-TW" dirty="0"/>
              <a:t>-Knuth Algorithm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1448748"/>
            <a:ext cx="8101035" cy="4860620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low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 &lt;=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high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i++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808080"/>
                </a:solidFill>
                <a:ea typeface="細明體" panose="02020509000000000000" pitchFamily="49" charset="-120"/>
              </a:rPr>
              <a:t>tail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&gt;=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2000" dirty="0" smtClean="0">
                <a:latin typeface="+mn-lt"/>
              </a:rPr>
              <a:t>C. </a:t>
            </a:r>
            <a:r>
              <a:rPr lang="en-US" altLang="zh-TW" sz="2000" dirty="0" err="1" smtClean="0">
                <a:latin typeface="+mn-lt"/>
              </a:rPr>
              <a:t>Schensted</a:t>
            </a:r>
            <a:r>
              <a:rPr lang="en-US" altLang="zh-TW" sz="2000" dirty="0" smtClean="0">
                <a:latin typeface="+mn-lt"/>
              </a:rPr>
              <a:t>, Longest increasing and decreasing subsequences, Can. J. Math. 13 (1961) 179–191.</a:t>
            </a:r>
            <a:endParaRPr lang="zh-TW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3542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32000" y="549000"/>
            <a:ext cx="8281057" cy="5220666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tail[ </a:t>
            </a:r>
            <a:r>
              <a:rPr lang="en-US" altLang="zh-TW" dirty="0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</a:t>
            </a:r>
            <a:r>
              <a:rPr lang="en-US" altLang="zh-TW" dirty="0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3246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tail[ </a:t>
            </a:r>
            <a:r>
              <a:rPr lang="en-US" altLang="zh-TW" dirty="0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</a:t>
            </a:r>
            <a:r>
              <a:rPr lang="en-US" altLang="zh-TW" dirty="0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737662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600900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0853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565321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014607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989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156724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49091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415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tail[ </a:t>
            </a:r>
            <a:r>
              <a:rPr lang="en-US" altLang="zh-TW" dirty="0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</a:t>
            </a:r>
            <a:r>
              <a:rPr lang="en-US" altLang="zh-TW" dirty="0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354308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306571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4854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442771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424914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1998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66654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92890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7385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497829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300465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57612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624137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080386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2523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251448" y="1268724"/>
            <a:ext cx="8281057" cy="5220665"/>
          </a:xfrm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</a:t>
            </a:r>
            <a:r>
              <a:rPr lang="en-US" altLang="zh-TW" dirty="0">
                <a:ea typeface="細明體" panose="02020509000000000000" pitchFamily="49" charset="-120"/>
              </a:rPr>
              <a:t>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[ 1 ];</a:t>
            </a:r>
          </a:p>
          <a:p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&lt; tail[ 1 ]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tail[ 1 ]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ea typeface="細明體" panose="02020509000000000000" pitchFamily="49" charset="-120"/>
              </a:rPr>
              <a:t>A[ i ] &gt;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tail</a:t>
            </a:r>
            <a:r>
              <a:rPr lang="en-US" altLang="zh-TW">
                <a:ea typeface="細明體" panose="02020509000000000000" pitchFamily="49" charset="-120"/>
              </a:rPr>
              <a:t>[ </a:t>
            </a:r>
            <a:r>
              <a:rPr lang="en-US" altLang="zh-TW" smtClean="0"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ea typeface="細明體" panose="02020509000000000000" pitchFamily="49" charset="-120"/>
              </a:rPr>
              <a:t>] = A[ i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, length, </a:t>
            </a:r>
            <a:r>
              <a:rPr lang="en-US" altLang="zh-TW" dirty="0">
                <a:ea typeface="細明體" panose="02020509000000000000" pitchFamily="49" charset="-120"/>
              </a:rPr>
              <a:t>A[ i ] ) ] = A[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];</a:t>
            </a:r>
          </a:p>
          <a:p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21652"/>
              </p:ext>
            </p:extLst>
          </p:nvPr>
        </p:nvGraphicFramePr>
        <p:xfrm>
          <a:off x="4572000" y="1628770"/>
          <a:ext cx="30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smtClean="0">
                          <a:latin typeface="Lucida Console" panose="020B0609040504020204" pitchFamily="49" charset="0"/>
                        </a:rPr>
                        <a:t>length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441561"/>
              </p:ext>
            </p:extLst>
          </p:nvPr>
        </p:nvGraphicFramePr>
        <p:xfrm>
          <a:off x="5112069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067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tail</a:t>
            </a:r>
            <a:r>
              <a:rPr lang="en-US" altLang="zh-TW" dirty="0" smtClean="0">
                <a:ea typeface="細明體" panose="02020509000000000000" pitchFamily="49" charset="-120"/>
              </a:rPr>
              <a:t>[ mid </a:t>
            </a:r>
            <a:r>
              <a:rPr lang="en-US" altLang="zh-TW" dirty="0">
                <a:ea typeface="細明體" panose="02020509000000000000" pitchFamily="49" charset="-120"/>
              </a:rPr>
              <a:t>] 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5652138" y="4329115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mid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752023" y="3609023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5292092" y="3248977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low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7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high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32390" y="3609023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key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414" y="3969069"/>
            <a:ext cx="360000" cy="3600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41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2723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tail</a:t>
            </a:r>
            <a:r>
              <a:rPr lang="en-US" altLang="zh-TW" dirty="0" smtClean="0">
                <a:ea typeface="細明體" panose="02020509000000000000" pitchFamily="49" charset="-120"/>
              </a:rPr>
              <a:t>[ mid </a:t>
            </a:r>
            <a:r>
              <a:rPr lang="en-US" altLang="zh-TW" dirty="0">
                <a:ea typeface="細明體" panose="02020509000000000000" pitchFamily="49" charset="-120"/>
              </a:rPr>
              <a:t>] 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5652138" y="4329115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mid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752023" y="3609023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565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low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7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high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32390" y="3609023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key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414" y="3969069"/>
            <a:ext cx="360000" cy="3600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41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161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tail</a:t>
            </a:r>
            <a:r>
              <a:rPr lang="en-US" altLang="zh-TW" dirty="0" smtClean="0">
                <a:ea typeface="細明體" panose="02020509000000000000" pitchFamily="49" charset="-120"/>
              </a:rPr>
              <a:t>[ mid </a:t>
            </a:r>
            <a:r>
              <a:rPr lang="en-US" altLang="zh-TW" dirty="0">
                <a:ea typeface="細明體" panose="02020509000000000000" pitchFamily="49" charset="-120"/>
              </a:rPr>
              <a:t>] 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6012000" y="432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mid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752023" y="3609023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565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low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7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high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32390" y="3609023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key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414" y="3969069"/>
            <a:ext cx="360000" cy="3600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41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570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tail</a:t>
            </a:r>
            <a:r>
              <a:rPr lang="en-US" altLang="zh-TW" dirty="0" smtClean="0">
                <a:ea typeface="細明體" panose="02020509000000000000" pitchFamily="49" charset="-120"/>
              </a:rPr>
              <a:t>[ mid </a:t>
            </a:r>
            <a:r>
              <a:rPr lang="en-US" altLang="zh-TW" dirty="0">
                <a:ea typeface="細明體" panose="02020509000000000000" pitchFamily="49" charset="-120"/>
              </a:rPr>
              <a:t>] 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5652138" y="4329115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mid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752023" y="3609023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5292092" y="3248977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low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7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high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32390" y="3609023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key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414" y="3969069"/>
            <a:ext cx="360000" cy="3600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27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4238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tail</a:t>
            </a:r>
            <a:r>
              <a:rPr lang="en-US" altLang="zh-TW" dirty="0" smtClean="0">
                <a:ea typeface="細明體" panose="02020509000000000000" pitchFamily="49" charset="-120"/>
              </a:rPr>
              <a:t>[ mid </a:t>
            </a:r>
            <a:r>
              <a:rPr lang="en-US" altLang="zh-TW" dirty="0">
                <a:ea typeface="細明體" panose="02020509000000000000" pitchFamily="49" charset="-120"/>
              </a:rPr>
              <a:t>] 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5652138" y="4329115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mid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752023" y="3609023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565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low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7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high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32390" y="3609023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key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414" y="3969069"/>
            <a:ext cx="360000" cy="3600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27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5759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tail</a:t>
            </a:r>
            <a:r>
              <a:rPr lang="en-US" altLang="zh-TW" dirty="0" smtClean="0">
                <a:ea typeface="細明體" panose="02020509000000000000" pitchFamily="49" charset="-120"/>
              </a:rPr>
              <a:t>[ mid </a:t>
            </a:r>
            <a:r>
              <a:rPr lang="en-US" altLang="zh-TW" dirty="0">
                <a:ea typeface="細明體" panose="02020509000000000000" pitchFamily="49" charset="-120"/>
              </a:rPr>
              <a:t>] 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6012000" y="432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mid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752023" y="3609023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565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low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7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high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32390" y="3609023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key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414" y="3969069"/>
            <a:ext cx="360000" cy="3600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27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0393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tail</a:t>
            </a:r>
            <a:r>
              <a:rPr lang="en-US" altLang="zh-TW" dirty="0" smtClean="0">
                <a:ea typeface="細明體" panose="02020509000000000000" pitchFamily="49" charset="-120"/>
              </a:rPr>
              <a:t>[ mid </a:t>
            </a:r>
            <a:r>
              <a:rPr lang="en-US" altLang="zh-TW" dirty="0">
                <a:ea typeface="細明體" panose="02020509000000000000" pitchFamily="49" charset="-120"/>
              </a:rPr>
              <a:t>] 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sz="2000" dirty="0">
                <a:latin typeface="+mn-lt"/>
              </a:rPr>
              <a:t>C. </a:t>
            </a:r>
            <a:r>
              <a:rPr lang="en-US" altLang="zh-TW" sz="2000" dirty="0" err="1">
                <a:latin typeface="+mn-lt"/>
              </a:rPr>
              <a:t>Schensted</a:t>
            </a:r>
            <a:r>
              <a:rPr lang="en-US" altLang="zh-TW" sz="2000" dirty="0">
                <a:latin typeface="+mn-lt"/>
              </a:rPr>
              <a:t>, Longest increasing and decreasing subsequences, Can. J. Math. 13 (1961) 179–191.</a:t>
            </a:r>
            <a:endParaRPr lang="zh-TW" altLang="en-US" sz="2000" dirty="0">
              <a:latin typeface="+mn-lt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652138" y="4329115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mid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752023" y="3609023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200" i="1" dirty="0"/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5292092" y="3248977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low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72000" y="3249000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high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7632390" y="3609023"/>
            <a:ext cx="720000" cy="36004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key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7812414" y="3969069"/>
            <a:ext cx="360000" cy="360046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anose="020B0609040504020204" pitchFamily="49" charset="0"/>
                <a:ea typeface="新細明體" pitchFamily="18" charset="-120"/>
                <a:cs typeface="Times New Roman" panose="02020603050405020304" pitchFamily="18" charset="0"/>
              </a:rPr>
              <a:t>21</a:t>
            </a:r>
            <a:endParaRPr kumimoji="1" lang="zh-TW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ucida Console" panose="020B0609040504020204" pitchFamily="49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0272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Robinson-</a:t>
            </a:r>
            <a:r>
              <a:rPr lang="en-US" altLang="zh-TW" dirty="0" err="1"/>
              <a:t>Schensted</a:t>
            </a:r>
            <a:r>
              <a:rPr lang="en-US" altLang="zh-TW" dirty="0"/>
              <a:t>-Knuth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3"/>
            <a:ext cx="8461081" cy="5040645"/>
          </a:xfrm>
        </p:spPr>
        <p:txBody>
          <a:bodyPr/>
          <a:lstStyle/>
          <a:p>
            <a:pPr marL="268288" indent="-268288">
              <a:spcBef>
                <a:spcPts val="0"/>
              </a:spcBef>
            </a:pPr>
            <a:r>
              <a:rPr lang="en-US" altLang="zh-TW" dirty="0"/>
              <a:t>1</a:t>
            </a:r>
            <a:r>
              <a:rPr lang="en-US" altLang="zh-TW" dirty="0" smtClean="0"/>
              <a:t>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 smtClean="0"/>
              <a:t> </a:t>
            </a:r>
            <a:r>
              <a:rPr lang="en-US" altLang="zh-TW" dirty="0"/>
              <a:t>is smallest among all end </a:t>
            </a:r>
            <a:r>
              <a:rPr lang="en-US" altLang="zh-TW" dirty="0" smtClean="0"/>
              <a:t>candidates </a:t>
            </a:r>
            <a:r>
              <a:rPr lang="en-US" altLang="zh-TW" dirty="0"/>
              <a:t>of active lists, we will </a:t>
            </a:r>
            <a:r>
              <a:rPr lang="en-US" altLang="zh-TW" dirty="0" smtClean="0"/>
              <a:t>start new </a:t>
            </a:r>
            <a:r>
              <a:rPr lang="en-US" altLang="zh-TW" dirty="0"/>
              <a:t>active list </a:t>
            </a:r>
            <a:r>
              <a:rPr lang="en-US" altLang="zh-TW"/>
              <a:t>of </a:t>
            </a:r>
            <a:r>
              <a:rPr lang="en-US" altLang="zh-TW" smtClean="0"/>
              <a:t>length </a:t>
            </a:r>
            <a:r>
              <a:rPr lang="en-US" altLang="zh-TW" dirty="0"/>
              <a:t>1</a:t>
            </a:r>
            <a:r>
              <a:rPr lang="en-US" altLang="zh-TW" dirty="0" smtClean="0"/>
              <a:t>.</a:t>
            </a:r>
            <a:r>
              <a:rPr lang="en-US" altLang="zh-TW" dirty="0">
                <a:solidFill>
                  <a:srgbClr val="000000"/>
                </a:solidFill>
              </a:rPr>
              <a:t> We will discard all other lists </a:t>
            </a:r>
            <a:r>
              <a:rPr lang="en-US" altLang="zh-TW">
                <a:solidFill>
                  <a:srgbClr val="000000"/>
                </a:solidFill>
              </a:rPr>
              <a:t>of </a:t>
            </a:r>
            <a:r>
              <a:rPr lang="en-US" altLang="zh-TW" smtClean="0">
                <a:solidFill>
                  <a:srgbClr val="000000"/>
                </a:solidFill>
              </a:rPr>
              <a:t>length </a:t>
            </a:r>
            <a:r>
              <a:rPr lang="en-US" altLang="zh-TW" dirty="0" smtClean="0">
                <a:solidFill>
                  <a:srgbClr val="000000"/>
                </a:solidFill>
              </a:rPr>
              <a:t>1.</a:t>
            </a:r>
            <a:endParaRPr lang="en-US" altLang="zh-TW" dirty="0" smtClean="0"/>
          </a:p>
          <a:p>
            <a:pPr marL="268288" indent="-268288">
              <a:spcBef>
                <a:spcPts val="0"/>
              </a:spcBef>
            </a:pPr>
            <a:endParaRPr lang="en-US" altLang="zh-TW" dirty="0"/>
          </a:p>
          <a:p>
            <a:pPr marL="268288" indent="-268288">
              <a:spcBef>
                <a:spcPts val="0"/>
              </a:spcBef>
            </a:pPr>
            <a:r>
              <a:rPr lang="en-US" altLang="zh-TW" dirty="0"/>
              <a:t>2</a:t>
            </a:r>
            <a:r>
              <a:rPr lang="en-US" altLang="zh-TW" dirty="0" smtClean="0"/>
              <a:t>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 smtClean="0"/>
              <a:t> </a:t>
            </a:r>
            <a:r>
              <a:rPr lang="en-US" altLang="zh-TW" dirty="0"/>
              <a:t>is largest among all end candidates of </a:t>
            </a:r>
            <a:r>
              <a:rPr lang="en-US" altLang="zh-TW" dirty="0" smtClean="0"/>
              <a:t>active </a:t>
            </a:r>
            <a:r>
              <a:rPr lang="en-US" altLang="zh-TW" dirty="0"/>
              <a:t>lists, we will clone the largest active </a:t>
            </a:r>
            <a:r>
              <a:rPr lang="en-US" altLang="zh-TW" dirty="0" smtClean="0"/>
              <a:t>list</a:t>
            </a:r>
            <a:r>
              <a:rPr lang="en-US" altLang="zh-TW" dirty="0"/>
              <a:t>, and extend it by </a:t>
            </a:r>
            <a:r>
              <a:rPr lang="en-US" altLang="zh-TW" i="1" dirty="0" smtClean="0">
                <a:solidFill>
                  <a:srgbClr val="000000"/>
                </a:solidFill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[</a:t>
            </a:r>
            <a:r>
              <a:rPr lang="en-US" altLang="zh-TW" i="1" spc="200" dirty="0" smtClean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marL="268288" indent="-268288">
              <a:spcBef>
                <a:spcPts val="0"/>
              </a:spcBef>
            </a:pPr>
            <a:endParaRPr lang="en-US" altLang="zh-TW" dirty="0"/>
          </a:p>
          <a:p>
            <a:pPr marL="268288" indent="-268288">
              <a:spcBef>
                <a:spcPts val="0"/>
              </a:spcBef>
            </a:pPr>
            <a:r>
              <a:rPr lang="en-US" altLang="zh-TW" dirty="0"/>
              <a:t>3</a:t>
            </a:r>
            <a:r>
              <a:rPr lang="en-US" altLang="zh-TW" dirty="0" smtClean="0"/>
              <a:t>.	If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spc="200" dirty="0"/>
              <a:t>i</a:t>
            </a:r>
            <a:r>
              <a:rPr lang="en-US" altLang="zh-TW" dirty="0"/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</a:rPr>
              <a:t>]</a:t>
            </a:r>
            <a:r>
              <a:rPr lang="en-US" altLang="zh-TW" dirty="0" smtClean="0"/>
              <a:t>. </a:t>
            </a:r>
            <a:r>
              <a:rPr lang="en-US" altLang="zh-TW" dirty="0"/>
              <a:t>Clone and extend </a:t>
            </a:r>
            <a:r>
              <a:rPr lang="en-US" altLang="zh-TW" dirty="0" smtClean="0"/>
              <a:t>this </a:t>
            </a:r>
            <a:r>
              <a:rPr lang="en-US" altLang="zh-TW" dirty="0"/>
              <a:t>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 err="1">
                <a:solidFill>
                  <a:srgbClr val="000000"/>
                </a:solidFill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</a:rPr>
              <a:t>]</a:t>
            </a:r>
            <a:r>
              <a:rPr lang="en-US" altLang="zh-TW" dirty="0"/>
              <a:t>. We will discard </a:t>
            </a:r>
            <a:r>
              <a:rPr lang="en-US" altLang="zh-TW" dirty="0" smtClean="0"/>
              <a:t>all other </a:t>
            </a:r>
            <a:r>
              <a:rPr lang="en-US" altLang="zh-TW" dirty="0"/>
              <a:t>lists of </a:t>
            </a:r>
            <a:r>
              <a:rPr lang="en-US" altLang="zh-TW"/>
              <a:t>same </a:t>
            </a:r>
            <a:r>
              <a:rPr lang="en-US" altLang="zh-TW" smtClean="0"/>
              <a:t>length </a:t>
            </a:r>
            <a:r>
              <a:rPr lang="en-US" altLang="zh-TW" dirty="0"/>
              <a:t>as that of this modified list.</a:t>
            </a:r>
            <a:endParaRPr lang="en-US" altLang="zh-TW" dirty="0" smtClean="0"/>
          </a:p>
          <a:p>
            <a:pPr marL="268288" indent="-268288"/>
            <a:endParaRPr lang="en-US" altLang="zh-TW" dirty="0"/>
          </a:p>
          <a:p>
            <a:pPr marL="268288" indent="-268288"/>
            <a:endParaRPr lang="en-US" altLang="zh-TW" dirty="0" smtClean="0"/>
          </a:p>
          <a:p>
            <a:r>
              <a:rPr lang="en-US" altLang="zh-TW" dirty="0" err="1"/>
              <a:t>Schensted</a:t>
            </a:r>
            <a:r>
              <a:rPr lang="en-US" altLang="zh-TW" dirty="0"/>
              <a:t>, C. (1961), "Longest increasing and decreasing subsequences", Canadian Journal of Mathematics, 13: 179–191,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511542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31113"/>
              </p:ext>
            </p:extLst>
          </p:nvPr>
        </p:nvGraphicFramePr>
        <p:xfrm>
          <a:off x="5292000" y="90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85263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7556880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493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4719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028810"/>
              </p:ext>
            </p:extLst>
          </p:nvPr>
        </p:nvGraphicFramePr>
        <p:xfrm>
          <a:off x="5292000" y="9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85263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755688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5593435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493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7249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666498"/>
              </p:ext>
            </p:extLst>
          </p:nvPr>
        </p:nvGraphicFramePr>
        <p:xfrm>
          <a:off x="5292000" y="90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85263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755688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55934350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493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7264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033434"/>
              </p:ext>
            </p:extLst>
          </p:nvPr>
        </p:nvGraphicFramePr>
        <p:xfrm>
          <a:off x="5292000" y="90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85263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755688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55934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451202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493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7693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56594"/>
              </p:ext>
            </p:extLst>
          </p:nvPr>
        </p:nvGraphicFramePr>
        <p:xfrm>
          <a:off x="5292000" y="90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85263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755688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55934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451202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493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0131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91517" y="3068954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257638"/>
              </p:ext>
            </p:extLst>
          </p:nvPr>
        </p:nvGraphicFramePr>
        <p:xfrm>
          <a:off x="5292000" y="9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85263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755688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55934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4512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7638207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493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2728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91517" y="3068954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276997"/>
              </p:ext>
            </p:extLst>
          </p:nvPr>
        </p:nvGraphicFramePr>
        <p:xfrm>
          <a:off x="5292000" y="90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85263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7556880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05593435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545120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7638207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24939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15114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91517" y="3068954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91517" y="3609023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213295"/>
              </p:ext>
            </p:extLst>
          </p:nvPr>
        </p:nvGraphicFramePr>
        <p:xfrm>
          <a:off x="5292000" y="909000"/>
          <a:ext cx="25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40965789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7162702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14588751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075041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2560049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3527538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7074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5255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/>
          </p:nvPr>
        </p:nvGraphicFramePr>
        <p:xfrm>
          <a:off x="431471" y="548632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i="0" dirty="0" smtClean="0">
                          <a:latin typeface="Lucida Console" panose="020B0609040504020204" pitchFamily="49" charset="0"/>
                        </a:rPr>
                        <a:t>i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7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A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solidFill>
                            <a:srgbClr val="000000"/>
                          </a:solidFill>
                          <a:latin typeface="Lucida Console" panose="020B0609040504020204" pitchFamily="49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791517" y="1448747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791517" y="1988816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791517" y="2528885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smaller than the smallest among all end elements of active lists, we will start a new active list of length 1. We will discard all other lists of length 1.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larger than the largest among all end elements of active lists, we will clone the largest active list, and extend it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</a:t>
            </a:r>
          </a:p>
          <a:p>
            <a:pPr marL="268288" lvl="0" indent="-268288">
              <a:spcBef>
                <a:spcPts val="6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3.	If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 is in between, we will find a list with largest end element that is smaller than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Clone and extend this list by </a:t>
            </a:r>
            <a:r>
              <a:rPr lang="en-US" altLang="zh-TW" i="1" dirty="0">
                <a:solidFill>
                  <a:srgbClr val="000000"/>
                </a:solidFill>
              </a:rPr>
              <a:t>A</a:t>
            </a:r>
            <a:r>
              <a:rPr lang="en-US" altLang="zh-TW" dirty="0">
                <a:solidFill>
                  <a:srgbClr val="000000"/>
                </a:solidFill>
              </a:rPr>
              <a:t>[</a:t>
            </a:r>
            <a:r>
              <a:rPr lang="en-US" altLang="zh-TW" i="1" spc="200" dirty="0">
                <a:solidFill>
                  <a:srgbClr val="000000"/>
                </a:solidFill>
              </a:rPr>
              <a:t>i</a:t>
            </a:r>
            <a:r>
              <a:rPr lang="en-US" altLang="zh-TW" dirty="0">
                <a:solidFill>
                  <a:srgbClr val="000000"/>
                </a:solidFill>
              </a:rPr>
              <a:t>]. We will discard all other lists of same length as that of this modified list.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791517" y="3068954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791517" y="3609023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791517" y="4149092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774551"/>
              </p:ext>
            </p:extLst>
          </p:nvPr>
        </p:nvGraphicFramePr>
        <p:xfrm>
          <a:off x="5292000" y="909000"/>
          <a:ext cx="28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704341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232261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7687037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3657870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8181353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5529018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0607088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48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8331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2996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A[ 1 ];</a:t>
            </a: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tail[ 1 ]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tail, 0,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A[ i ] ) ] = A[ 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4563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buClr>
                <a:srgbClr val="000000"/>
              </a:buClr>
            </a:pPr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endParaRPr lang="en-US" altLang="zh-TW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tail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119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tail[ mid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tail[],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9247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57070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8885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770999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8977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57070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8885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770999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2688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57070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8885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119666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03053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26547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8885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119666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16498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26547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39844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9247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94653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39844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0967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94653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39844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9933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94653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743201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2667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830366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743201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1475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830366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336221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4625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55445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336221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0496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55445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336221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7835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554453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265460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4318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838035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265460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09381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838035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03827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4345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287767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03827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0498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287767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03827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3139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287767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149020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 flipV="1">
            <a:off x="727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3510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71538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149020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 flipV="1">
            <a:off x="727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5228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71538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149020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 flipV="1">
            <a:off x="727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53454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low,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high - low &gt; 1 )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mid = ( high + low ) / 2;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tail[ mid ] ] &gt;= key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high = mid;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 = mid;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high;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0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++length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1, length, A[ i ] )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371538"/>
              </p:ext>
            </p:extLst>
          </p:nvPr>
        </p:nvGraphicFramePr>
        <p:xfrm>
          <a:off x="5292000" y="2709000"/>
          <a:ext cx="36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>
                          <a:latin typeface="+mn-lt"/>
                        </a:rPr>
                        <a:t>i</a:t>
                      </a:r>
                      <a:endParaRPr lang="zh-TW" altLang="en-US" sz="2000" i="1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0883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/>
          <p:nvPr/>
        </p:nvCxnSpPr>
        <p:spPr bwMode="auto">
          <a:xfrm flipV="1">
            <a:off x="5832023" y="3789000"/>
            <a:ext cx="719977" cy="53988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881102"/>
              </p:ext>
            </p:extLst>
          </p:nvPr>
        </p:nvGraphicFramePr>
        <p:xfrm>
          <a:off x="5112000" y="396900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632000" y="5409000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2000" i="1" dirty="0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sz="2000" dirty="0"/>
          </a:p>
        </p:txBody>
      </p:sp>
      <p:sp>
        <p:nvSpPr>
          <p:cNvPr id="10" name="矩形 9"/>
          <p:cNvSpPr/>
          <p:nvPr/>
        </p:nvSpPr>
        <p:spPr bwMode="auto">
          <a:xfrm>
            <a:off x="7812023" y="5048954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1" name="直線單箭頭接點 10"/>
          <p:cNvCxnSpPr/>
          <p:nvPr/>
        </p:nvCxnSpPr>
        <p:spPr bwMode="auto">
          <a:xfrm flipV="1">
            <a:off x="619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/>
          <p:nvPr/>
        </p:nvCxnSpPr>
        <p:spPr bwMode="auto">
          <a:xfrm flipV="1">
            <a:off x="6552000" y="378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 bwMode="auto">
          <a:xfrm flipV="1">
            <a:off x="691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 bwMode="auto">
          <a:xfrm flipV="1">
            <a:off x="727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 flipV="1">
            <a:off x="7632000" y="378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9286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buClr>
                <a:srgbClr val="000000"/>
              </a:buClr>
            </a:pPr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tail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tail[ </a:t>
            </a:r>
            <a:r>
              <a:rPr lang="en-US" altLang="zh-TW" dirty="0" smtClean="0">
                <a:solidFill>
                  <a:schemeClr val="bg1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1, length,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</a:t>
            </a:r>
            <a:r>
              <a:rPr lang="en-US" altLang="zh-TW" dirty="0">
                <a:solidFill>
                  <a:schemeClr val="bg1"/>
                </a:solidFill>
                <a:ea typeface="細明體" panose="02020509000000000000" pitchFamily="49" charset="-120"/>
              </a:rPr>
              <a:t>tail[ position - 1 ]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position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14660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</a:p>
          <a:p>
            <a:pPr lvl="0">
              <a:buClr>
                <a:srgbClr val="000000"/>
              </a:buClr>
            </a:pPr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 </a:t>
            </a:r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tail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1, length,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position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827347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 i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&gt;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setw( 4 ) &lt;&lt; </a:t>
            </a: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A[ i 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8267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lis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A[]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n == 0 )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0;</a:t>
            </a:r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*tail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*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new 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n + 1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]();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tail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tail[ 1 ] =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i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1, length,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cout &lt;&lt; endl;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 smtClean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169406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Robinson-</a:t>
            </a:r>
            <a:r>
              <a:rPr lang="en-US" altLang="zh-TW" dirty="0" err="1"/>
              <a:t>Schensted</a:t>
            </a:r>
            <a:r>
              <a:rPr lang="en-US" altLang="zh-TW" dirty="0"/>
              <a:t>-Knuth Algorithm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1448748"/>
            <a:ext cx="8281057" cy="3240414"/>
          </a:xfrm>
        </p:spPr>
        <p:txBody>
          <a:bodyPr/>
          <a:lstStyle/>
          <a:p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A[],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tail[ mid ] ]</a:t>
            </a:r>
            <a:r>
              <a:rPr lang="en-US" altLang="zh-TW" dirty="0" smtClean="0"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19956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1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tail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] 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i;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++length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1, length,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365997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465813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14358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 flipV="1">
            <a:off x="5652000" y="1269000"/>
            <a:ext cx="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58937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326400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808167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653780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2408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942813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297132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051602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1416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825400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22050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080007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96896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302635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519956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90118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147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258988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006353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333991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16701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79977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506251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948358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1903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390355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402945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24510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15365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786127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573450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169792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8" name="直線單箭頭接點 17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6900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399824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77554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345351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092291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57797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19707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98290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66380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08632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366197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304285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68558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80609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133188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904915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58328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63071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815436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001874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23015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615144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987676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286566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 bwMode="auto">
          <a:xfrm flipV="1">
            <a:off x="673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04154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150579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946758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84516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 bwMode="auto">
          <a:xfrm flipV="1">
            <a:off x="673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48247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448695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720973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924765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 bwMode="auto">
          <a:xfrm flipV="1">
            <a:off x="673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3234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09856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291402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31141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cxnSp>
        <p:nvCxnSpPr>
          <p:cNvPr id="16" name="直線單箭頭接點 15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 bwMode="auto">
          <a:xfrm flipV="1">
            <a:off x="673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68316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254210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002582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78464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73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65242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220186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289407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27038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線單箭頭接點 13"/>
          <p:cNvCxnSpPr/>
          <p:nvPr/>
        </p:nvCxnSpPr>
        <p:spPr bwMode="auto">
          <a:xfrm flipV="1">
            <a:off x="5652000" y="1269000"/>
            <a:ext cx="72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 bwMode="auto">
          <a:xfrm flipV="1">
            <a:off x="6372000" y="1269000"/>
            <a:ext cx="36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 bwMode="auto">
          <a:xfrm flipV="1">
            <a:off x="601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 bwMode="auto">
          <a:xfrm flipV="1">
            <a:off x="6732000" y="1269000"/>
            <a:ext cx="1080000" cy="54000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61209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550694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312729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925986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74955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606935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330860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86223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43085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683298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531911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637348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9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23776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375804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55385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691698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9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3553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 = 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tail[ 1 ] = 1;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118259"/>
              </p:ext>
            </p:extLst>
          </p:nvPr>
        </p:nvGraphicFramePr>
        <p:xfrm>
          <a:off x="4931977" y="1449115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58209"/>
              </p:ext>
            </p:extLst>
          </p:nvPr>
        </p:nvGraphicFramePr>
        <p:xfrm>
          <a:off x="5112000" y="5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153885"/>
              </p:ext>
            </p:extLst>
          </p:nvPr>
        </p:nvGraphicFramePr>
        <p:xfrm>
          <a:off x="4751954" y="2349230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138" y="3789414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 bwMode="auto">
          <a:xfrm>
            <a:off x="637216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276" y="3789414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 bwMode="auto">
          <a:xfrm>
            <a:off x="7272276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9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345" y="3789414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>
                <a:solidFill>
                  <a:srgbClr val="000000"/>
                </a:solidFill>
                <a:latin typeface="Times New Roman"/>
                <a:ea typeface="新細明體"/>
              </a:rPr>
              <a:t>position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 bwMode="auto">
          <a:xfrm>
            <a:off x="8172391" y="3429368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2068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65208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97305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768964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25417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821196"/>
              </p:ext>
            </p:extLst>
          </p:nvPr>
        </p:nvGraphicFramePr>
        <p:xfrm>
          <a:off x="187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556760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008581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707170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820288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315436"/>
              </p:ext>
            </p:extLst>
          </p:nvPr>
        </p:nvGraphicFramePr>
        <p:xfrm>
          <a:off x="1872000" y="549000"/>
          <a:ext cx="10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94266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548137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308162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013978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0108265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700839"/>
              </p:ext>
            </p:extLst>
          </p:nvPr>
        </p:nvGraphicFramePr>
        <p:xfrm>
          <a:off x="1872000" y="5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70536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640096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489493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120423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483381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124475"/>
              </p:ext>
            </p:extLst>
          </p:nvPr>
        </p:nvGraphicFramePr>
        <p:xfrm>
          <a:off x="1872000" y="5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8415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179264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302048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698989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98998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051960"/>
              </p:ext>
            </p:extLst>
          </p:nvPr>
        </p:nvGraphicFramePr>
        <p:xfrm>
          <a:off x="1872000" y="5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204318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446317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428595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939223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80267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051960"/>
              </p:ext>
            </p:extLst>
          </p:nvPr>
        </p:nvGraphicFramePr>
        <p:xfrm>
          <a:off x="1872000" y="5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97825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94053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19564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164546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835324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8514935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302433"/>
              </p:ext>
            </p:extLst>
          </p:nvPr>
        </p:nvGraphicFramePr>
        <p:xfrm>
          <a:off x="1872000" y="549000"/>
          <a:ext cx="14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23343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316494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314951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797589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822469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39113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19565"/>
              </p:ext>
            </p:extLst>
          </p:nvPr>
        </p:nvGraphicFramePr>
        <p:xfrm>
          <a:off x="1872000" y="549000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78922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164139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899000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797589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570922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39113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19565"/>
              </p:ext>
            </p:extLst>
          </p:nvPr>
        </p:nvGraphicFramePr>
        <p:xfrm>
          <a:off x="1872000" y="549000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56661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387239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754539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9797589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269197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39113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519565"/>
              </p:ext>
            </p:extLst>
          </p:nvPr>
        </p:nvGraphicFramePr>
        <p:xfrm>
          <a:off x="1872000" y="549000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91546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929040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131695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77583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772936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61288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987808"/>
              </p:ext>
            </p:extLst>
          </p:nvPr>
        </p:nvGraphicFramePr>
        <p:xfrm>
          <a:off x="1872000" y="549000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21624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806622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985582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77583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704798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61288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07633"/>
              </p:ext>
            </p:extLst>
          </p:nvPr>
        </p:nvGraphicFramePr>
        <p:xfrm>
          <a:off x="1872000" y="549000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37572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286745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30023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77583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704798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961288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07633"/>
              </p:ext>
            </p:extLst>
          </p:nvPr>
        </p:nvGraphicFramePr>
        <p:xfrm>
          <a:off x="1872000" y="549000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297358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402601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998698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487684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24263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635989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287518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302814"/>
              </p:ext>
            </p:extLst>
          </p:nvPr>
        </p:nvGraphicFramePr>
        <p:xfrm>
          <a:off x="1872000" y="549000"/>
          <a:ext cx="18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81545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06613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51346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38581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37473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757075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944855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050935"/>
              </p:ext>
            </p:extLst>
          </p:nvPr>
        </p:nvGraphicFramePr>
        <p:xfrm>
          <a:off x="1872000" y="54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10948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911773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47232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38581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37473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757075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944855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050935"/>
              </p:ext>
            </p:extLst>
          </p:nvPr>
        </p:nvGraphicFramePr>
        <p:xfrm>
          <a:off x="1872000" y="54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2328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969888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658269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38581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637473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757075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944855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050935"/>
              </p:ext>
            </p:extLst>
          </p:nvPr>
        </p:nvGraphicFramePr>
        <p:xfrm>
          <a:off x="1872000" y="54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150658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359721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10863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5" name="弧形接點 24"/>
          <p:cNvCxnSpPr>
            <a:stCxn id="23" idx="2"/>
            <a:endCxn id="18" idx="2"/>
          </p:cNvCxnSpPr>
          <p:nvPr/>
        </p:nvCxnSpPr>
        <p:spPr bwMode="auto">
          <a:xfrm rot="5400000">
            <a:off x="7272322" y="548586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75206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98301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94283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216427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944353"/>
              </p:ext>
            </p:extLst>
          </p:nvPr>
        </p:nvGraphicFramePr>
        <p:xfrm>
          <a:off x="1872000" y="54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1862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845527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730343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5" name="弧形接點 24"/>
          <p:cNvCxnSpPr>
            <a:stCxn id="23" idx="2"/>
            <a:endCxn id="18" idx="2"/>
          </p:cNvCxnSpPr>
          <p:nvPr/>
        </p:nvCxnSpPr>
        <p:spPr bwMode="auto">
          <a:xfrm rot="5400000">
            <a:off x="7272322" y="548586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75206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98301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94283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278151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71478"/>
              </p:ext>
            </p:extLst>
          </p:nvPr>
        </p:nvGraphicFramePr>
        <p:xfrm>
          <a:off x="1872000" y="54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25626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5" name="弧形接點 24"/>
          <p:cNvCxnSpPr>
            <a:stCxn id="23" idx="2"/>
            <a:endCxn id="18" idx="2"/>
          </p:cNvCxnSpPr>
          <p:nvPr/>
        </p:nvCxnSpPr>
        <p:spPr bwMode="auto">
          <a:xfrm rot="5400000">
            <a:off x="7272322" y="548586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75206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798301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94283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278151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71478"/>
              </p:ext>
            </p:extLst>
          </p:nvPr>
        </p:nvGraphicFramePr>
        <p:xfrm>
          <a:off x="1872000" y="54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35406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65863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263289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5" name="弧形接點 24"/>
          <p:cNvCxnSpPr>
            <a:stCxn id="23" idx="2"/>
            <a:endCxn id="18" idx="2"/>
          </p:cNvCxnSpPr>
          <p:nvPr/>
        </p:nvCxnSpPr>
        <p:spPr bwMode="auto">
          <a:xfrm rot="5400000">
            <a:off x="7272322" y="548586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4" idx="2"/>
            <a:endCxn id="23" idx="2"/>
          </p:cNvCxnSpPr>
          <p:nvPr/>
        </p:nvCxnSpPr>
        <p:spPr bwMode="auto">
          <a:xfrm rot="5400000">
            <a:off x="7992414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9273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193027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324762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012231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723490"/>
              </p:ext>
            </p:extLst>
          </p:nvPr>
        </p:nvGraphicFramePr>
        <p:xfrm>
          <a:off x="432000" y="19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59610"/>
              </p:ext>
            </p:extLst>
          </p:nvPr>
        </p:nvGraphicFramePr>
        <p:xfrm>
          <a:off x="1872000" y="549000"/>
          <a:ext cx="21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55384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744803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232271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5" name="弧形接點 24"/>
          <p:cNvCxnSpPr>
            <a:stCxn id="23" idx="2"/>
            <a:endCxn id="18" idx="2"/>
          </p:cNvCxnSpPr>
          <p:nvPr/>
        </p:nvCxnSpPr>
        <p:spPr bwMode="auto">
          <a:xfrm rot="5400000">
            <a:off x="7272322" y="548586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4" idx="2"/>
            <a:endCxn id="23" idx="2"/>
          </p:cNvCxnSpPr>
          <p:nvPr/>
        </p:nvCxnSpPr>
        <p:spPr bwMode="auto">
          <a:xfrm rot="5400000">
            <a:off x="7992414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04161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129810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297712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378739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797856"/>
              </p:ext>
            </p:extLst>
          </p:nvPr>
        </p:nvGraphicFramePr>
        <p:xfrm>
          <a:off x="432000" y="19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88081"/>
              </p:ext>
            </p:extLst>
          </p:nvPr>
        </p:nvGraphicFramePr>
        <p:xfrm>
          <a:off x="1872000" y="54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53693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776614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871858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9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5" name="弧形接點 24"/>
          <p:cNvCxnSpPr>
            <a:stCxn id="23" idx="2"/>
            <a:endCxn id="18" idx="2"/>
          </p:cNvCxnSpPr>
          <p:nvPr/>
        </p:nvCxnSpPr>
        <p:spPr bwMode="auto">
          <a:xfrm rot="5400000">
            <a:off x="7272322" y="548586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4" idx="2"/>
            <a:endCxn id="23" idx="2"/>
          </p:cNvCxnSpPr>
          <p:nvPr/>
        </p:nvCxnSpPr>
        <p:spPr bwMode="auto">
          <a:xfrm rot="5400000">
            <a:off x="7992414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004161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129810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297712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378739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797856"/>
              </p:ext>
            </p:extLst>
          </p:nvPr>
        </p:nvGraphicFramePr>
        <p:xfrm>
          <a:off x="432000" y="19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88081"/>
              </p:ext>
            </p:extLst>
          </p:nvPr>
        </p:nvGraphicFramePr>
        <p:xfrm>
          <a:off x="1872000" y="54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835738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547125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578508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5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9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5" name="弧形接點 24"/>
          <p:cNvCxnSpPr>
            <a:stCxn id="23" idx="2"/>
            <a:endCxn id="18" idx="2"/>
          </p:cNvCxnSpPr>
          <p:nvPr/>
        </p:nvCxnSpPr>
        <p:spPr bwMode="auto">
          <a:xfrm rot="5400000">
            <a:off x="7272322" y="548586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4" idx="2"/>
            <a:endCxn id="23" idx="2"/>
          </p:cNvCxnSpPr>
          <p:nvPr/>
        </p:nvCxnSpPr>
        <p:spPr bwMode="auto">
          <a:xfrm rot="5400000">
            <a:off x="7992414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35" idx="2"/>
            <a:endCxn id="24" idx="2"/>
          </p:cNvCxnSpPr>
          <p:nvPr/>
        </p:nvCxnSpPr>
        <p:spPr bwMode="auto">
          <a:xfrm rot="5400000">
            <a:off x="8352460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251635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192911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014605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555750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12312"/>
              </p:ext>
            </p:extLst>
          </p:nvPr>
        </p:nvGraphicFramePr>
        <p:xfrm>
          <a:off x="432000" y="19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84903"/>
              </p:ext>
            </p:extLst>
          </p:nvPr>
        </p:nvGraphicFramePr>
        <p:xfrm>
          <a:off x="432000" y="23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9" name="表格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483751"/>
              </p:ext>
            </p:extLst>
          </p:nvPr>
        </p:nvGraphicFramePr>
        <p:xfrm>
          <a:off x="1872000" y="549000"/>
          <a:ext cx="25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848424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nn-NO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nn-NO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2; i &lt;= n; i++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&lt; A[ tail[ 1 ]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tail[ 1 ] = i;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A[ i ] &gt; A[ tail[ length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length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++length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int position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A, tail, 1, length, A[ i ]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= tail[ position - 1 ];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tail[ position ] = i;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}</a:t>
            </a: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4932046" y="1628770"/>
          <a:ext cx="37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08980"/>
              </p:ext>
            </p:extLst>
          </p:nvPr>
        </p:nvGraphicFramePr>
        <p:xfrm>
          <a:off x="5112069" y="368609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396474"/>
              </p:ext>
            </p:extLst>
          </p:nvPr>
        </p:nvGraphicFramePr>
        <p:xfrm>
          <a:off x="4752023" y="2528885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6192207" y="3969069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length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3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72345" y="3969069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i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7272345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9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812414" y="3969069"/>
            <a:ext cx="1080138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新細明體"/>
                <a:cs typeface="+mn-cs"/>
              </a:rPr>
              <a:t>position</a:t>
            </a:r>
            <a:endParaRPr kumimoji="1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8172460" y="3609023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47211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83216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5832138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619220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655225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912299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7272345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18" idx="2"/>
          </p:cNvCxnSpPr>
          <p:nvPr/>
        </p:nvCxnSpPr>
        <p:spPr bwMode="auto">
          <a:xfrm rot="5400000">
            <a:off x="7092299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7632391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7992437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5" name="弧形接點 24"/>
          <p:cNvCxnSpPr>
            <a:stCxn id="23" idx="2"/>
            <a:endCxn id="18" idx="2"/>
          </p:cNvCxnSpPr>
          <p:nvPr/>
        </p:nvCxnSpPr>
        <p:spPr bwMode="auto">
          <a:xfrm rot="5400000">
            <a:off x="7272322" y="548586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6" name="弧形接點 25"/>
          <p:cNvCxnSpPr>
            <a:stCxn id="18" idx="2"/>
            <a:endCxn id="15" idx="2"/>
          </p:cNvCxnSpPr>
          <p:nvPr/>
        </p:nvCxnSpPr>
        <p:spPr bwMode="auto">
          <a:xfrm rot="5400000">
            <a:off x="6372207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4" idx="2"/>
            <a:endCxn id="23" idx="2"/>
          </p:cNvCxnSpPr>
          <p:nvPr/>
        </p:nvCxnSpPr>
        <p:spPr bwMode="auto">
          <a:xfrm rot="5400000">
            <a:off x="7992414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35" idx="2"/>
            <a:endCxn id="24" idx="2"/>
          </p:cNvCxnSpPr>
          <p:nvPr/>
        </p:nvCxnSpPr>
        <p:spPr bwMode="auto">
          <a:xfrm rot="5400000">
            <a:off x="8352460" y="908632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20" idx="2"/>
            <a:endCxn id="17" idx="2"/>
          </p:cNvCxnSpPr>
          <p:nvPr/>
        </p:nvCxnSpPr>
        <p:spPr bwMode="auto">
          <a:xfrm rot="5400000">
            <a:off x="6732253" y="728609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5" name="矩形 34"/>
          <p:cNvSpPr/>
          <p:nvPr/>
        </p:nvSpPr>
        <p:spPr bwMode="auto">
          <a:xfrm>
            <a:off x="8352483" y="728655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graphicFrame>
        <p:nvGraphicFramePr>
          <p:cNvPr id="30" name="表格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877940"/>
              </p:ext>
            </p:extLst>
          </p:nvPr>
        </p:nvGraphicFramePr>
        <p:xfrm>
          <a:off x="432000" y="549000"/>
          <a:ext cx="3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299007"/>
              </p:ext>
            </p:extLst>
          </p:nvPr>
        </p:nvGraphicFramePr>
        <p:xfrm>
          <a:off x="432000" y="909000"/>
          <a:ext cx="72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2" name="表格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175653"/>
              </p:ext>
            </p:extLst>
          </p:nvPr>
        </p:nvGraphicFramePr>
        <p:xfrm>
          <a:off x="432000" y="1269000"/>
          <a:ext cx="108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724185"/>
              </p:ext>
            </p:extLst>
          </p:nvPr>
        </p:nvGraphicFramePr>
        <p:xfrm>
          <a:off x="432000" y="1629000"/>
          <a:ext cx="144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4" name="表格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913024"/>
              </p:ext>
            </p:extLst>
          </p:nvPr>
        </p:nvGraphicFramePr>
        <p:xfrm>
          <a:off x="432000" y="1989000"/>
          <a:ext cx="180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823788"/>
              </p:ext>
            </p:extLst>
          </p:nvPr>
        </p:nvGraphicFramePr>
        <p:xfrm>
          <a:off x="432000" y="2349000"/>
          <a:ext cx="2160000" cy="36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graphicFrame>
        <p:nvGraphicFramePr>
          <p:cNvPr id="38" name="表格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98739"/>
              </p:ext>
            </p:extLst>
          </p:nvPr>
        </p:nvGraphicFramePr>
        <p:xfrm>
          <a:off x="1872000" y="549000"/>
          <a:ext cx="288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5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6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600" i="0" dirty="0">
                        <a:latin typeface="Lucida Console" panose="020B0609040504020204" pitchFamily="49" charset="0"/>
                      </a:endParaRPr>
                    </a:p>
                  </a:txBody>
                  <a:tcPr marL="0" marR="9000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9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21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33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41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60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 smtClean="0">
                          <a:latin typeface="Lucida Console" panose="020B0609040504020204" pitchFamily="49" charset="0"/>
                        </a:rPr>
                        <a:t>80</a:t>
                      </a:r>
                      <a:endParaRPr lang="zh-TW" altLang="en-US" sz="1600" dirty="0">
                        <a:latin typeface="Lucida Console" panose="020B0609040504020204" pitchFamily="49" charset="0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46391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680883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881505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9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218696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684249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208214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2800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9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22983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2170813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793751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635793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335958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59237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420258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17616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033545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99296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923008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148189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599143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3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410379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43554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7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80 60 41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697964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56242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054943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769668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80 60 41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868959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29968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283498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644324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80 60 41 33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750408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5709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882185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288891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80 60 41 33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330285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97440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108259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741703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80 60 41 33 22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383031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30878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683765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732881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80 60 41 33 22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958990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78306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40930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899642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1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80 60 41 33 22 10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078606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65477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i = tail[ length ]; i &gt; 0; i =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prev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i ] )</a:t>
            </a:r>
          </a:p>
          <a:p>
            <a:pPr lvl="0">
              <a:buClr>
                <a:srgbClr val="000000"/>
              </a:buClr>
            </a:pPr>
            <a:r>
              <a:rPr lang="fr-F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cout &lt;&lt; setw( 4 ) &lt;&lt; A[ i ];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&lt;&lt; endl;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length;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449793"/>
              </p:ext>
            </p:extLst>
          </p:nvPr>
        </p:nvGraphicFramePr>
        <p:xfrm>
          <a:off x="4211954" y="3609023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95583586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2889470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8714478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smtClean="0"/>
                        <a:t>length</a:t>
                      </a:r>
                      <a:endParaRPr lang="zh-TW" altLang="en-US" sz="1800" i="1" dirty="0"/>
                    </a:p>
                  </a:txBody>
                  <a:tcPr marL="0"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tail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367312"/>
              </p:ext>
            </p:extLst>
          </p:nvPr>
        </p:nvGraphicFramePr>
        <p:xfrm>
          <a:off x="4211954" y="4509138"/>
          <a:ext cx="39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0269348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450952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5764135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err="1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prev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63734202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6732276" y="5949322"/>
            <a:ext cx="36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dirty="0" err="1" smtClean="0">
                <a:solidFill>
                  <a:srgbClr val="000000"/>
                </a:solidFill>
                <a:latin typeface="Times New Roman"/>
                <a:ea typeface="新細明體"/>
              </a:rPr>
              <a:t>i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 bwMode="auto">
          <a:xfrm>
            <a:off x="6732276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2115" y="5949322"/>
            <a:ext cx="720000" cy="360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algn="ctr"/>
            <a:r>
              <a:rPr kumimoji="0" lang="en-US" altLang="zh-TW" sz="1800" i="1" smtClean="0">
                <a:solidFill>
                  <a:srgbClr val="000000"/>
                </a:solidFill>
                <a:latin typeface="Times New Roman"/>
                <a:ea typeface="新細明體"/>
              </a:rPr>
              <a:t>length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5652138" y="5589276"/>
            <a:ext cx="360046" cy="360046"/>
          </a:xfrm>
          <a:prstGeom prst="rect">
            <a:avLst/>
          </a:prstGeom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971540" y="3248977"/>
            <a:ext cx="2160276" cy="1620207"/>
          </a:xfrm>
          <a:prstGeom prst="rect">
            <a:avLst/>
          </a:prstGeom>
          <a:solidFill>
            <a:srgbClr val="33CCFF"/>
          </a:solidFill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80 60 41 33 22 10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511609" y="4869183"/>
            <a:ext cx="1080138" cy="540069"/>
          </a:xfrm>
          <a:prstGeom prst="rect">
            <a:avLst/>
          </a:prstGeom>
        </p:spPr>
        <p:txBody>
          <a:bodyPr wrap="none" tIns="36000" anchor="t" anchorCtr="0">
            <a:noAutofit/>
          </a:bodyPr>
          <a:lstStyle/>
          <a:p>
            <a:pPr algn="ctr"/>
            <a:r>
              <a:rPr kumimoji="0" lang="en-US" altLang="zh-TW" dirty="0" smtClean="0">
                <a:solidFill>
                  <a:srgbClr val="000000"/>
                </a:solidFill>
                <a:latin typeface="Times New Roman"/>
                <a:ea typeface="新細明體"/>
              </a:rPr>
              <a:t>Output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657906"/>
              </p:ext>
            </p:extLst>
          </p:nvPr>
        </p:nvGraphicFramePr>
        <p:xfrm>
          <a:off x="4572000" y="234900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90196655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93782813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442136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70001089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1771535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64729767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2420860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5131543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844866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13164142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i="1" dirty="0" smtClean="0"/>
                        <a:t>i</a:t>
                      </a:r>
                      <a:endParaRPr lang="zh-TW" altLang="en-US" sz="1800" i="1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59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zh-TW" sz="18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zh-TW" altLang="en-US" sz="1800" dirty="0"/>
                    </a:p>
                  </a:txBody>
                  <a:tcPr marT="36000" marB="3600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25150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493204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29209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5292069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565213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601218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6372230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6732276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2" idx="2"/>
            <a:endCxn id="20" idx="2"/>
          </p:cNvCxnSpPr>
          <p:nvPr/>
        </p:nvCxnSpPr>
        <p:spPr bwMode="auto">
          <a:xfrm rot="5400000">
            <a:off x="6552230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7092322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7452368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4" idx="2"/>
            <a:endCxn id="20" idx="2"/>
          </p:cNvCxnSpPr>
          <p:nvPr/>
        </p:nvCxnSpPr>
        <p:spPr bwMode="auto">
          <a:xfrm rot="5400000">
            <a:off x="6732253" y="2528977"/>
            <a:ext cx="12700" cy="1080138"/>
          </a:xfrm>
          <a:prstGeom prst="curvedConnector3">
            <a:avLst>
              <a:gd name="adj1" fmla="val 3038709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7" name="弧形接點 26"/>
          <p:cNvCxnSpPr>
            <a:stCxn id="20" idx="2"/>
            <a:endCxn id="17" idx="2"/>
          </p:cNvCxnSpPr>
          <p:nvPr/>
        </p:nvCxnSpPr>
        <p:spPr bwMode="auto">
          <a:xfrm rot="5400000">
            <a:off x="5832138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8" name="弧形接點 27"/>
          <p:cNvCxnSpPr>
            <a:stCxn id="25" idx="2"/>
            <a:endCxn id="24" idx="2"/>
          </p:cNvCxnSpPr>
          <p:nvPr/>
        </p:nvCxnSpPr>
        <p:spPr bwMode="auto">
          <a:xfrm rot="5400000">
            <a:off x="7452345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9" name="弧形接點 28"/>
          <p:cNvCxnSpPr>
            <a:stCxn id="31" idx="2"/>
            <a:endCxn id="25" idx="2"/>
          </p:cNvCxnSpPr>
          <p:nvPr/>
        </p:nvCxnSpPr>
        <p:spPr bwMode="auto">
          <a:xfrm rot="5400000">
            <a:off x="7812391" y="2889023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0" name="弧形接點 29"/>
          <p:cNvCxnSpPr>
            <a:stCxn id="21" idx="2"/>
            <a:endCxn id="19" idx="2"/>
          </p:cNvCxnSpPr>
          <p:nvPr/>
        </p:nvCxnSpPr>
        <p:spPr bwMode="auto">
          <a:xfrm rot="5400000">
            <a:off x="6192184" y="2709000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1" name="矩形 30"/>
          <p:cNvSpPr/>
          <p:nvPr/>
        </p:nvSpPr>
        <p:spPr bwMode="auto">
          <a:xfrm>
            <a:off x="7812414" y="2709046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02816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405397"/>
              </p:ext>
            </p:extLst>
          </p:nvPr>
        </p:nvGraphicFramePr>
        <p:xfrm>
          <a:off x="71438" y="368300"/>
          <a:ext cx="9000000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0000">
                  <a:extLst>
                    <a:ext uri="{9D8B030D-6E8A-4147-A177-3AD203B41FA5}">
                      <a16:colId xmlns:a16="http://schemas.microsoft.com/office/drawing/2014/main" val="919817990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3630276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A[1]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0. Case 1. There are no active lists, create one.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A[2]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8. Case 2. Clone and extend.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4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A[3]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4. Case 3.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Clone, extend and discard.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kumimoji="1" lang="en-US" altLang="zh-TW" sz="1800" strike="dblStrike" kern="0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strike="dblStrike" kern="100" baseline="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A[4]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12. Case 2. Clone and extend.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0, 4,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125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A[5]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 Case 3.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Clone, extend and discard.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strike="dblStrike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, 4,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A[6]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10. Case 3.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Clone, extend and discard.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0, 4,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97378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 bwMode="auto">
          <a:xfrm>
            <a:off x="6901452" y="3050101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0, 2, 10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00877" y="3050101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0, 2, 12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901452" y="1789940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0, 4, 12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400877" y="1789940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901452" y="709802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0, 8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2400877" y="709802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991490"/>
              </p:ext>
            </p:extLst>
          </p:nvPr>
        </p:nvGraphicFramePr>
        <p:xfrm>
          <a:off x="1691632" y="4689161"/>
          <a:ext cx="5760016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1">
                  <a:extLst>
                    <a:ext uri="{9D8B030D-6E8A-4147-A177-3AD203B41FA5}">
                      <a16:colId xmlns:a16="http://schemas.microsoft.com/office/drawing/2014/main" val="286394208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78356373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13402602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429307226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091092552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98288078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32291258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116523399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87952545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97515509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824557964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30252544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198691639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424728256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72755092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154581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65943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64928"/>
                  </a:ext>
                </a:extLst>
              </a:tr>
            </a:tbl>
          </a:graphicData>
        </a:graphic>
      </p:graphicFrame>
      <p:sp>
        <p:nvSpPr>
          <p:cNvPr id="14" name="矩形 13"/>
          <p:cNvSpPr/>
          <p:nvPr/>
        </p:nvSpPr>
        <p:spPr bwMode="auto">
          <a:xfrm>
            <a:off x="169163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205167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弧形接點 15"/>
          <p:cNvCxnSpPr>
            <a:stCxn id="15" idx="2"/>
            <a:endCxn id="14" idx="2"/>
          </p:cNvCxnSpPr>
          <p:nvPr/>
        </p:nvCxnSpPr>
        <p:spPr bwMode="auto">
          <a:xfrm rot="5400000">
            <a:off x="2051655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7" name="矩形 16"/>
          <p:cNvSpPr/>
          <p:nvPr/>
        </p:nvSpPr>
        <p:spPr bwMode="auto">
          <a:xfrm>
            <a:off x="241172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277177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弧形接點 18"/>
          <p:cNvCxnSpPr>
            <a:stCxn id="17" idx="2"/>
            <a:endCxn id="14" idx="2"/>
          </p:cNvCxnSpPr>
          <p:nvPr/>
        </p:nvCxnSpPr>
        <p:spPr bwMode="auto">
          <a:xfrm rot="5400000">
            <a:off x="2231678" y="5049161"/>
            <a:ext cx="12700" cy="720092"/>
          </a:xfrm>
          <a:prstGeom prst="curvedConnector3">
            <a:avLst>
              <a:gd name="adj1" fmla="val 303428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0" name="矩形 19"/>
          <p:cNvSpPr/>
          <p:nvPr/>
        </p:nvSpPr>
        <p:spPr bwMode="auto">
          <a:xfrm>
            <a:off x="313181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49186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弧形接點 21"/>
          <p:cNvCxnSpPr>
            <a:stCxn id="21" idx="2"/>
            <a:endCxn id="20" idx="2"/>
          </p:cNvCxnSpPr>
          <p:nvPr/>
        </p:nvCxnSpPr>
        <p:spPr bwMode="auto">
          <a:xfrm rot="5400000">
            <a:off x="3491839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3" name="矩形 22"/>
          <p:cNvSpPr/>
          <p:nvPr/>
        </p:nvSpPr>
        <p:spPr bwMode="auto">
          <a:xfrm>
            <a:off x="385190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421195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457200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7" name="矩形 26"/>
          <p:cNvSpPr/>
          <p:nvPr/>
        </p:nvSpPr>
        <p:spPr bwMode="auto">
          <a:xfrm>
            <a:off x="493204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529209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565213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601218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637223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673227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6" name="矩形 35"/>
          <p:cNvSpPr/>
          <p:nvPr/>
        </p:nvSpPr>
        <p:spPr bwMode="auto">
          <a:xfrm>
            <a:off x="709232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38" name="弧形接點 37"/>
          <p:cNvCxnSpPr>
            <a:stCxn id="18" idx="2"/>
            <a:endCxn id="17" idx="2"/>
          </p:cNvCxnSpPr>
          <p:nvPr/>
        </p:nvCxnSpPr>
        <p:spPr bwMode="auto">
          <a:xfrm rot="5400000">
            <a:off x="2771747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弧形接點 40"/>
          <p:cNvCxnSpPr>
            <a:stCxn id="20" idx="2"/>
            <a:endCxn id="14" idx="2"/>
          </p:cNvCxnSpPr>
          <p:nvPr/>
        </p:nvCxnSpPr>
        <p:spPr bwMode="auto">
          <a:xfrm rot="5400000">
            <a:off x="2591724" y="4689115"/>
            <a:ext cx="12700" cy="1440184"/>
          </a:xfrm>
          <a:prstGeom prst="curvedConnector3">
            <a:avLst>
              <a:gd name="adj1" fmla="val 4206858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538626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973893"/>
              </p:ext>
            </p:extLst>
          </p:nvPr>
        </p:nvGraphicFramePr>
        <p:xfrm>
          <a:off x="71438" y="368300"/>
          <a:ext cx="90000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0000">
                  <a:extLst>
                    <a:ext uri="{9D8B030D-6E8A-4147-A177-3AD203B41FA5}">
                      <a16:colId xmlns:a16="http://schemas.microsoft.com/office/drawing/2014/main" val="919817990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3630276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A[6]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10. Case 3. Clone, extend and discard.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0, 4,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A[7]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6. Case 3. Clone, extend and discard.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4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A[8]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14. Case 2. Clone and extend.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A[9]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1. Case 3. Clone, extend and discard.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12516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2411724" y="2528885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0, 2, 6, 14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912299" y="1088701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0, 2, 6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2411724" y="1088701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0, 2, 10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6912299" y="2708908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0, 1, 6, 14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273010"/>
              </p:ext>
            </p:extLst>
          </p:nvPr>
        </p:nvGraphicFramePr>
        <p:xfrm>
          <a:off x="1691632" y="4689161"/>
          <a:ext cx="5760016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1">
                  <a:extLst>
                    <a:ext uri="{9D8B030D-6E8A-4147-A177-3AD203B41FA5}">
                      <a16:colId xmlns:a16="http://schemas.microsoft.com/office/drawing/2014/main" val="286394208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78356373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13402602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429307226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091092552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98288078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32291258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116523399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87952545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97515509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824557964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30252544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198691639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424728256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72755092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154581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65943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64928"/>
                  </a:ext>
                </a:extLst>
              </a:tr>
            </a:tbl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169163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205167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弧形接點 17"/>
          <p:cNvCxnSpPr>
            <a:stCxn id="17" idx="2"/>
            <a:endCxn id="16" idx="2"/>
          </p:cNvCxnSpPr>
          <p:nvPr/>
        </p:nvCxnSpPr>
        <p:spPr bwMode="auto">
          <a:xfrm rot="5400000">
            <a:off x="2051655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9" name="矩形 18"/>
          <p:cNvSpPr/>
          <p:nvPr/>
        </p:nvSpPr>
        <p:spPr bwMode="auto">
          <a:xfrm>
            <a:off x="241172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277177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1" name="弧形接點 20"/>
          <p:cNvCxnSpPr>
            <a:stCxn id="19" idx="2"/>
            <a:endCxn id="16" idx="2"/>
          </p:cNvCxnSpPr>
          <p:nvPr/>
        </p:nvCxnSpPr>
        <p:spPr bwMode="auto">
          <a:xfrm rot="5400000">
            <a:off x="2231678" y="5049161"/>
            <a:ext cx="12700" cy="720092"/>
          </a:xfrm>
          <a:prstGeom prst="curvedConnector3">
            <a:avLst>
              <a:gd name="adj1" fmla="val 303428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2" name="矩形 21"/>
          <p:cNvSpPr/>
          <p:nvPr/>
        </p:nvSpPr>
        <p:spPr bwMode="auto">
          <a:xfrm>
            <a:off x="313181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49186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4" name="弧形接點 23"/>
          <p:cNvCxnSpPr>
            <a:stCxn id="23" idx="2"/>
            <a:endCxn id="22" idx="2"/>
          </p:cNvCxnSpPr>
          <p:nvPr/>
        </p:nvCxnSpPr>
        <p:spPr bwMode="auto">
          <a:xfrm rot="5400000">
            <a:off x="3491839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5" name="矩形 24"/>
          <p:cNvSpPr/>
          <p:nvPr/>
        </p:nvSpPr>
        <p:spPr bwMode="auto">
          <a:xfrm>
            <a:off x="385190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421195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7" name="弧形接點 26"/>
          <p:cNvCxnSpPr>
            <a:stCxn id="25" idx="2"/>
            <a:endCxn id="22" idx="2"/>
          </p:cNvCxnSpPr>
          <p:nvPr/>
        </p:nvCxnSpPr>
        <p:spPr bwMode="auto">
          <a:xfrm rot="5400000">
            <a:off x="3671862" y="5049161"/>
            <a:ext cx="12700" cy="720092"/>
          </a:xfrm>
          <a:prstGeom prst="curvedConnector3">
            <a:avLst>
              <a:gd name="adj1" fmla="val 303428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8" name="矩形 27"/>
          <p:cNvSpPr/>
          <p:nvPr/>
        </p:nvSpPr>
        <p:spPr bwMode="auto">
          <a:xfrm>
            <a:off x="457200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493204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529209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565213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601218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5" name="矩形 34"/>
          <p:cNvSpPr/>
          <p:nvPr/>
        </p:nvSpPr>
        <p:spPr bwMode="auto">
          <a:xfrm>
            <a:off x="637223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7" name="矩形 36"/>
          <p:cNvSpPr/>
          <p:nvPr/>
        </p:nvSpPr>
        <p:spPr bwMode="auto">
          <a:xfrm>
            <a:off x="673227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8" name="矩形 37"/>
          <p:cNvSpPr/>
          <p:nvPr/>
        </p:nvSpPr>
        <p:spPr bwMode="auto">
          <a:xfrm>
            <a:off x="709232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40" name="弧形接點 39"/>
          <p:cNvCxnSpPr>
            <a:stCxn id="20" idx="2"/>
            <a:endCxn id="19" idx="2"/>
          </p:cNvCxnSpPr>
          <p:nvPr/>
        </p:nvCxnSpPr>
        <p:spPr bwMode="auto">
          <a:xfrm rot="5400000">
            <a:off x="2771747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弧形接點 40"/>
          <p:cNvCxnSpPr>
            <a:stCxn id="26" idx="2"/>
            <a:endCxn id="25" idx="2"/>
          </p:cNvCxnSpPr>
          <p:nvPr/>
        </p:nvCxnSpPr>
        <p:spPr bwMode="auto">
          <a:xfrm rot="5400000">
            <a:off x="4211931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2" name="弧形接點 41"/>
          <p:cNvCxnSpPr>
            <a:stCxn id="28" idx="2"/>
            <a:endCxn id="16" idx="2"/>
          </p:cNvCxnSpPr>
          <p:nvPr/>
        </p:nvCxnSpPr>
        <p:spPr bwMode="auto">
          <a:xfrm rot="5400000">
            <a:off x="3311816" y="3969023"/>
            <a:ext cx="12700" cy="2880368"/>
          </a:xfrm>
          <a:prstGeom prst="curvedConnector3">
            <a:avLst>
              <a:gd name="adj1" fmla="val 6737142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弧形接點 42"/>
          <p:cNvCxnSpPr>
            <a:stCxn id="22" idx="2"/>
            <a:endCxn id="16" idx="2"/>
          </p:cNvCxnSpPr>
          <p:nvPr/>
        </p:nvCxnSpPr>
        <p:spPr bwMode="auto">
          <a:xfrm rot="5400000">
            <a:off x="2591724" y="4689115"/>
            <a:ext cx="12700" cy="1440184"/>
          </a:xfrm>
          <a:prstGeom prst="curvedConnector3">
            <a:avLst>
              <a:gd name="adj1" fmla="val 4206858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54081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451391"/>
              </p:ext>
            </p:extLst>
          </p:nvPr>
        </p:nvGraphicFramePr>
        <p:xfrm>
          <a:off x="71438" y="368300"/>
          <a:ext cx="9000000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0000">
                  <a:extLst>
                    <a:ext uri="{9D8B030D-6E8A-4147-A177-3AD203B41FA5}">
                      <a16:colId xmlns:a16="http://schemas.microsoft.com/office/drawing/2014/main" val="919817990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3630276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A[9]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1. Case 3. Clone, extend and discard.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A[10]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9. Case 3. Clone, extend and discard.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4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A[11]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5. Case 3. Clone, extend and discard.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0, 1,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A[12]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13. Case 2. Clone and extend.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0, 1,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0, 2, 6, 9,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12516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 bwMode="auto">
          <a:xfrm>
            <a:off x="6912312" y="2888622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0, 1, 5, 9, 13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11724" y="2888931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0, 1, 5, 9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912312" y="1088392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0, 1, 6, 9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2411724" y="1088701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0, 1, 6, 14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219286"/>
              </p:ext>
            </p:extLst>
          </p:nvPr>
        </p:nvGraphicFramePr>
        <p:xfrm>
          <a:off x="1691632" y="4689161"/>
          <a:ext cx="5760016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1">
                  <a:extLst>
                    <a:ext uri="{9D8B030D-6E8A-4147-A177-3AD203B41FA5}">
                      <a16:colId xmlns:a16="http://schemas.microsoft.com/office/drawing/2014/main" val="286394208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78356373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13402602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429307226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091092552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98288078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32291258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116523399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87952545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97515509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824557964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30252544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198691639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424728256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72755092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154581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65943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64928"/>
                  </a:ext>
                </a:extLst>
              </a:tr>
            </a:tbl>
          </a:graphicData>
        </a:graphic>
      </p:graphicFrame>
      <p:sp>
        <p:nvSpPr>
          <p:cNvPr id="12" name="矩形 11"/>
          <p:cNvSpPr/>
          <p:nvPr/>
        </p:nvSpPr>
        <p:spPr bwMode="auto">
          <a:xfrm>
            <a:off x="169163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205167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4" name="弧形接點 13"/>
          <p:cNvCxnSpPr>
            <a:stCxn id="13" idx="2"/>
            <a:endCxn id="12" idx="2"/>
          </p:cNvCxnSpPr>
          <p:nvPr/>
        </p:nvCxnSpPr>
        <p:spPr bwMode="auto">
          <a:xfrm rot="5400000">
            <a:off x="2051655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5" name="矩形 14"/>
          <p:cNvSpPr/>
          <p:nvPr/>
        </p:nvSpPr>
        <p:spPr bwMode="auto">
          <a:xfrm>
            <a:off x="241172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277177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17" name="弧形接點 16"/>
          <p:cNvCxnSpPr>
            <a:stCxn id="15" idx="2"/>
            <a:endCxn id="12" idx="2"/>
          </p:cNvCxnSpPr>
          <p:nvPr/>
        </p:nvCxnSpPr>
        <p:spPr bwMode="auto">
          <a:xfrm rot="5400000">
            <a:off x="2231678" y="5049161"/>
            <a:ext cx="12700" cy="720092"/>
          </a:xfrm>
          <a:prstGeom prst="curvedConnector3">
            <a:avLst>
              <a:gd name="adj1" fmla="val 303428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18" name="矩形 17"/>
          <p:cNvSpPr/>
          <p:nvPr/>
        </p:nvSpPr>
        <p:spPr bwMode="auto">
          <a:xfrm>
            <a:off x="313181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349186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0" name="弧形接點 19"/>
          <p:cNvCxnSpPr>
            <a:stCxn id="19" idx="2"/>
            <a:endCxn id="18" idx="2"/>
          </p:cNvCxnSpPr>
          <p:nvPr/>
        </p:nvCxnSpPr>
        <p:spPr bwMode="auto">
          <a:xfrm rot="5400000">
            <a:off x="3491839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1" name="矩形 20"/>
          <p:cNvSpPr/>
          <p:nvPr/>
        </p:nvSpPr>
        <p:spPr bwMode="auto">
          <a:xfrm>
            <a:off x="385190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421195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弧形接點 22"/>
          <p:cNvCxnSpPr>
            <a:stCxn id="21" idx="2"/>
            <a:endCxn id="18" idx="2"/>
          </p:cNvCxnSpPr>
          <p:nvPr/>
        </p:nvCxnSpPr>
        <p:spPr bwMode="auto">
          <a:xfrm rot="5400000">
            <a:off x="3671862" y="5049161"/>
            <a:ext cx="12700" cy="720092"/>
          </a:xfrm>
          <a:prstGeom prst="curvedConnector3">
            <a:avLst>
              <a:gd name="adj1" fmla="val 303428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4" name="矩形 23"/>
          <p:cNvSpPr/>
          <p:nvPr/>
        </p:nvSpPr>
        <p:spPr bwMode="auto">
          <a:xfrm>
            <a:off x="457200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5" name="矩形 24"/>
          <p:cNvSpPr/>
          <p:nvPr/>
        </p:nvSpPr>
        <p:spPr bwMode="auto">
          <a:xfrm>
            <a:off x="493204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弧形接點 25"/>
          <p:cNvCxnSpPr>
            <a:stCxn id="25" idx="2"/>
            <a:endCxn id="21" idx="2"/>
          </p:cNvCxnSpPr>
          <p:nvPr/>
        </p:nvCxnSpPr>
        <p:spPr bwMode="auto">
          <a:xfrm rot="5400000">
            <a:off x="4571977" y="4869138"/>
            <a:ext cx="12700" cy="1080138"/>
          </a:xfrm>
          <a:prstGeom prst="curvedConnector3">
            <a:avLst>
              <a:gd name="adj1" fmla="val 3582858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7" name="矩形 26"/>
          <p:cNvSpPr/>
          <p:nvPr/>
        </p:nvSpPr>
        <p:spPr bwMode="auto">
          <a:xfrm>
            <a:off x="529209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28" name="矩形 27"/>
          <p:cNvSpPr/>
          <p:nvPr/>
        </p:nvSpPr>
        <p:spPr bwMode="auto">
          <a:xfrm>
            <a:off x="565213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弧形接點 28"/>
          <p:cNvCxnSpPr>
            <a:stCxn id="28" idx="2"/>
            <a:endCxn id="25" idx="2"/>
          </p:cNvCxnSpPr>
          <p:nvPr/>
        </p:nvCxnSpPr>
        <p:spPr bwMode="auto">
          <a:xfrm rot="5400000">
            <a:off x="5472092" y="5049161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30" name="矩形 29"/>
          <p:cNvSpPr/>
          <p:nvPr/>
        </p:nvSpPr>
        <p:spPr bwMode="auto">
          <a:xfrm>
            <a:off x="601218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637223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3" name="矩形 32"/>
          <p:cNvSpPr/>
          <p:nvPr/>
        </p:nvSpPr>
        <p:spPr bwMode="auto">
          <a:xfrm>
            <a:off x="673227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709232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36" name="弧形接點 35"/>
          <p:cNvCxnSpPr>
            <a:stCxn id="16" idx="2"/>
            <a:endCxn id="15" idx="2"/>
          </p:cNvCxnSpPr>
          <p:nvPr/>
        </p:nvCxnSpPr>
        <p:spPr bwMode="auto">
          <a:xfrm rot="5400000">
            <a:off x="2771747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7" name="弧形接點 36"/>
          <p:cNvCxnSpPr>
            <a:stCxn id="22" idx="2"/>
            <a:endCxn id="21" idx="2"/>
          </p:cNvCxnSpPr>
          <p:nvPr/>
        </p:nvCxnSpPr>
        <p:spPr bwMode="auto">
          <a:xfrm rot="5400000">
            <a:off x="4211931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弧形接點 37"/>
          <p:cNvCxnSpPr>
            <a:stCxn id="24" idx="2"/>
            <a:endCxn id="12" idx="2"/>
          </p:cNvCxnSpPr>
          <p:nvPr/>
        </p:nvCxnSpPr>
        <p:spPr bwMode="auto">
          <a:xfrm rot="5400000">
            <a:off x="3311816" y="3969023"/>
            <a:ext cx="12700" cy="2880368"/>
          </a:xfrm>
          <a:prstGeom prst="curvedConnector3">
            <a:avLst>
              <a:gd name="adj1" fmla="val 6737142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9" name="弧形接點 38"/>
          <p:cNvCxnSpPr>
            <a:stCxn id="18" idx="2"/>
            <a:endCxn id="12" idx="2"/>
          </p:cNvCxnSpPr>
          <p:nvPr/>
        </p:nvCxnSpPr>
        <p:spPr bwMode="auto">
          <a:xfrm rot="5400000">
            <a:off x="2591724" y="4689115"/>
            <a:ext cx="12700" cy="1440184"/>
          </a:xfrm>
          <a:prstGeom prst="curvedConnector3">
            <a:avLst>
              <a:gd name="adj1" fmla="val 4206858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0" name="弧形接點 39"/>
          <p:cNvCxnSpPr>
            <a:stCxn id="27" idx="2"/>
            <a:endCxn id="12" idx="2"/>
          </p:cNvCxnSpPr>
          <p:nvPr/>
        </p:nvCxnSpPr>
        <p:spPr bwMode="auto">
          <a:xfrm rot="5400000">
            <a:off x="3671862" y="3608977"/>
            <a:ext cx="12700" cy="3600460"/>
          </a:xfrm>
          <a:prstGeom prst="curvedConnector3">
            <a:avLst>
              <a:gd name="adj1" fmla="val 8208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65009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173944"/>
              </p:ext>
            </p:extLst>
          </p:nvPr>
        </p:nvGraphicFramePr>
        <p:xfrm>
          <a:off x="71438" y="368300"/>
          <a:ext cx="9000000" cy="402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00000">
                  <a:extLst>
                    <a:ext uri="{9D8B030D-6E8A-4147-A177-3AD203B41FA5}">
                      <a16:colId xmlns:a16="http://schemas.microsoft.com/office/drawing/2014/main" val="919817990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36302768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A[13]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3. Case 3.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Clone, extend and discard.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0, 1,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0, 1,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0, 2, 6, 9,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A[14]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11. Case 3.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Clone, extend and discard.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0, 2, 6, 9,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0, 2, 6, 9,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R="36000"/>
                </a:tc>
                <a:extLst>
                  <a:ext uri="{0D108BD9-81ED-4DB2-BD59-A6C34878D82A}">
                    <a16:rowId xmlns:a16="http://schemas.microsoft.com/office/drawing/2014/main" val="332748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A[15]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7. Case 3.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Clone, extend and discard.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kumimoji="1" lang="en-US" altLang="zh-TW" sz="1800" b="0" i="0" u="none" strike="dbl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kumimoji="0" lang="zh-TW" altLang="en-US" sz="1200" b="0" i="0" u="none" strike="dblStrike" kern="1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, 2, 6, 9,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A[16] </a:t>
                      </a:r>
                      <a:r>
                        <a:rPr kumimoji="1" lang="en-US" altLang="zh-TW" sz="18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=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15. Case 2. Clone and extend.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0, 2, 6, 9,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eaLnBrk="0" fontAlgn="base" hangingPunct="0">
                        <a:spcAft>
                          <a:spcPts val="0"/>
                        </a:spcAft>
                      </a:pP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0, 2, 6, 9, 11,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  <a:sym typeface="Wingdings 3" panose="05040102010807070707" pitchFamily="18" charset="2"/>
                        </a:rPr>
                        <a:t>⟵</a:t>
                      </a:r>
                      <a:r>
                        <a:rPr kumimoji="1" lang="en-US" sz="1800" kern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LIS List</a:t>
                      </a:r>
                      <a:endParaRPr lang="zh-TW" sz="12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125165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2411724" y="3068954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0, 1, 3, 7, 11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372243" y="3068645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0, 1, 3, 7, 11, 15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372243" y="1088392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0, 1, 3, 9, 11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2411724" y="1088701"/>
            <a:ext cx="1620000" cy="360046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0, 1, 3, 9, 13</a:t>
            </a:r>
            <a:endParaRPr kumimoji="1" lang="zh-TW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593202"/>
              </p:ext>
            </p:extLst>
          </p:nvPr>
        </p:nvGraphicFramePr>
        <p:xfrm>
          <a:off x="1691632" y="4689161"/>
          <a:ext cx="5760016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1">
                  <a:extLst>
                    <a:ext uri="{9D8B030D-6E8A-4147-A177-3AD203B41FA5}">
                      <a16:colId xmlns:a16="http://schemas.microsoft.com/office/drawing/2014/main" val="286394208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78356373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13402602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429307226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091092552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98288078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32291258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116523399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879525451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97515509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824557964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30252544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198691639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3424728256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2727550927"/>
                    </a:ext>
                  </a:extLst>
                </a:gridCol>
                <a:gridCol w="360001">
                  <a:extLst>
                    <a:ext uri="{9D8B030D-6E8A-4147-A177-3AD203B41FA5}">
                      <a16:colId xmlns:a16="http://schemas.microsoft.com/office/drawing/2014/main" val="11545811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11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12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13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14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16</a:t>
                      </a:r>
                      <a:endParaRPr lang="zh-TW" altLang="en-US" sz="1800" dirty="0"/>
                    </a:p>
                  </a:txBody>
                  <a:tcPr marL="0" marR="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659438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0</a:t>
                      </a:r>
                      <a:endParaRPr lang="zh-TW" altLang="en-US" sz="1800" dirty="0"/>
                    </a:p>
                  </a:txBody>
                  <a:tcPr marL="0" marR="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14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9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3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11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7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15</a:t>
                      </a:r>
                      <a:endParaRPr lang="zh-TW" altLang="en-US" sz="1800" dirty="0"/>
                    </a:p>
                  </a:txBody>
                  <a:tcPr marL="0" marR="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164928"/>
                  </a:ext>
                </a:extLst>
              </a:tr>
            </a:tbl>
          </a:graphicData>
        </a:graphic>
      </p:graphicFrame>
      <p:sp>
        <p:nvSpPr>
          <p:cNvPr id="42" name="矩形 41"/>
          <p:cNvSpPr/>
          <p:nvPr/>
        </p:nvSpPr>
        <p:spPr bwMode="auto">
          <a:xfrm>
            <a:off x="169163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3" name="矩形 42"/>
          <p:cNvSpPr/>
          <p:nvPr/>
        </p:nvSpPr>
        <p:spPr bwMode="auto">
          <a:xfrm>
            <a:off x="205167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44" name="弧形接點 43"/>
          <p:cNvCxnSpPr>
            <a:stCxn id="43" idx="2"/>
            <a:endCxn id="42" idx="2"/>
          </p:cNvCxnSpPr>
          <p:nvPr/>
        </p:nvCxnSpPr>
        <p:spPr bwMode="auto">
          <a:xfrm rot="5400000">
            <a:off x="2051655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45" name="矩形 44"/>
          <p:cNvSpPr/>
          <p:nvPr/>
        </p:nvSpPr>
        <p:spPr bwMode="auto">
          <a:xfrm>
            <a:off x="241172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6" name="矩形 45"/>
          <p:cNvSpPr/>
          <p:nvPr/>
        </p:nvSpPr>
        <p:spPr bwMode="auto">
          <a:xfrm>
            <a:off x="277177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47" name="弧形接點 46"/>
          <p:cNvCxnSpPr>
            <a:stCxn id="45" idx="2"/>
            <a:endCxn id="42" idx="2"/>
          </p:cNvCxnSpPr>
          <p:nvPr/>
        </p:nvCxnSpPr>
        <p:spPr bwMode="auto">
          <a:xfrm rot="5400000">
            <a:off x="2231678" y="5049161"/>
            <a:ext cx="12700" cy="720092"/>
          </a:xfrm>
          <a:prstGeom prst="curvedConnector3">
            <a:avLst>
              <a:gd name="adj1" fmla="val 303428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48" name="矩形 47"/>
          <p:cNvSpPr/>
          <p:nvPr/>
        </p:nvSpPr>
        <p:spPr bwMode="auto">
          <a:xfrm>
            <a:off x="313181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49" name="矩形 48"/>
          <p:cNvSpPr/>
          <p:nvPr/>
        </p:nvSpPr>
        <p:spPr bwMode="auto">
          <a:xfrm>
            <a:off x="349186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50" name="弧形接點 49"/>
          <p:cNvCxnSpPr>
            <a:stCxn id="49" idx="2"/>
            <a:endCxn id="48" idx="2"/>
          </p:cNvCxnSpPr>
          <p:nvPr/>
        </p:nvCxnSpPr>
        <p:spPr bwMode="auto">
          <a:xfrm rot="5400000">
            <a:off x="3491839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1" name="矩形 50"/>
          <p:cNvSpPr/>
          <p:nvPr/>
        </p:nvSpPr>
        <p:spPr bwMode="auto">
          <a:xfrm>
            <a:off x="385190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2" name="矩形 51"/>
          <p:cNvSpPr/>
          <p:nvPr/>
        </p:nvSpPr>
        <p:spPr bwMode="auto">
          <a:xfrm>
            <a:off x="421195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弧形接點 52"/>
          <p:cNvCxnSpPr>
            <a:stCxn id="51" idx="2"/>
            <a:endCxn id="48" idx="2"/>
          </p:cNvCxnSpPr>
          <p:nvPr/>
        </p:nvCxnSpPr>
        <p:spPr bwMode="auto">
          <a:xfrm rot="5400000">
            <a:off x="3671862" y="5049161"/>
            <a:ext cx="12700" cy="720092"/>
          </a:xfrm>
          <a:prstGeom prst="curvedConnector3">
            <a:avLst>
              <a:gd name="adj1" fmla="val 3034283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4" name="矩形 53"/>
          <p:cNvSpPr/>
          <p:nvPr/>
        </p:nvSpPr>
        <p:spPr bwMode="auto">
          <a:xfrm>
            <a:off x="457200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5" name="矩形 54"/>
          <p:cNvSpPr/>
          <p:nvPr/>
        </p:nvSpPr>
        <p:spPr bwMode="auto">
          <a:xfrm>
            <a:off x="493204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56" name="弧形接點 55"/>
          <p:cNvCxnSpPr>
            <a:stCxn id="55" idx="2"/>
            <a:endCxn id="51" idx="2"/>
          </p:cNvCxnSpPr>
          <p:nvPr/>
        </p:nvCxnSpPr>
        <p:spPr bwMode="auto">
          <a:xfrm rot="5400000">
            <a:off x="4571977" y="4869138"/>
            <a:ext cx="12700" cy="1080138"/>
          </a:xfrm>
          <a:prstGeom prst="curvedConnector3">
            <a:avLst>
              <a:gd name="adj1" fmla="val 3582858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7" name="矩形 56"/>
          <p:cNvSpPr/>
          <p:nvPr/>
        </p:nvSpPr>
        <p:spPr bwMode="auto">
          <a:xfrm>
            <a:off x="529209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58" name="矩形 57"/>
          <p:cNvSpPr/>
          <p:nvPr/>
        </p:nvSpPr>
        <p:spPr bwMode="auto">
          <a:xfrm>
            <a:off x="5652138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59" name="弧形接點 58"/>
          <p:cNvCxnSpPr>
            <a:stCxn id="58" idx="2"/>
            <a:endCxn id="55" idx="2"/>
          </p:cNvCxnSpPr>
          <p:nvPr/>
        </p:nvCxnSpPr>
        <p:spPr bwMode="auto">
          <a:xfrm rot="5400000">
            <a:off x="5472092" y="5049161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60" name="矩形 59"/>
          <p:cNvSpPr/>
          <p:nvPr/>
        </p:nvSpPr>
        <p:spPr bwMode="auto">
          <a:xfrm>
            <a:off x="6012184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1" name="矩形 60"/>
          <p:cNvSpPr/>
          <p:nvPr/>
        </p:nvSpPr>
        <p:spPr bwMode="auto">
          <a:xfrm>
            <a:off x="6372230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弧形接點 61"/>
          <p:cNvCxnSpPr>
            <a:stCxn id="61" idx="2"/>
            <a:endCxn id="55" idx="2"/>
          </p:cNvCxnSpPr>
          <p:nvPr/>
        </p:nvCxnSpPr>
        <p:spPr bwMode="auto">
          <a:xfrm rot="5400000">
            <a:off x="5832138" y="4689115"/>
            <a:ext cx="12700" cy="1440184"/>
          </a:xfrm>
          <a:prstGeom prst="curvedConnector3">
            <a:avLst>
              <a:gd name="adj1" fmla="val 3034291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63" name="矩形 62"/>
          <p:cNvSpPr/>
          <p:nvPr/>
        </p:nvSpPr>
        <p:spPr bwMode="auto">
          <a:xfrm>
            <a:off x="6732276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sp>
        <p:nvSpPr>
          <p:cNvPr id="64" name="矩形 63"/>
          <p:cNvSpPr/>
          <p:nvPr/>
        </p:nvSpPr>
        <p:spPr bwMode="auto">
          <a:xfrm>
            <a:off x="7092322" y="5049207"/>
            <a:ext cx="360000" cy="360000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新細明體" pitchFamily="18" charset="-120"/>
              <a:cs typeface="+mn-cs"/>
            </a:endParaRPr>
          </a:p>
        </p:txBody>
      </p:sp>
      <p:cxnSp>
        <p:nvCxnSpPr>
          <p:cNvPr id="65" name="弧形接點 64"/>
          <p:cNvCxnSpPr>
            <a:stCxn id="64" idx="2"/>
            <a:endCxn id="61" idx="2"/>
          </p:cNvCxnSpPr>
          <p:nvPr/>
        </p:nvCxnSpPr>
        <p:spPr bwMode="auto">
          <a:xfrm rot="5400000">
            <a:off x="6912276" y="5049161"/>
            <a:ext cx="12700" cy="720092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6" name="弧形接點 65"/>
          <p:cNvCxnSpPr>
            <a:stCxn id="46" idx="2"/>
            <a:endCxn id="45" idx="2"/>
          </p:cNvCxnSpPr>
          <p:nvPr/>
        </p:nvCxnSpPr>
        <p:spPr bwMode="auto">
          <a:xfrm rot="5400000">
            <a:off x="2771747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7" name="弧形接點 66"/>
          <p:cNvCxnSpPr>
            <a:stCxn id="52" idx="2"/>
            <a:endCxn id="51" idx="2"/>
          </p:cNvCxnSpPr>
          <p:nvPr/>
        </p:nvCxnSpPr>
        <p:spPr bwMode="auto">
          <a:xfrm rot="5400000">
            <a:off x="4211931" y="5229184"/>
            <a:ext cx="12700" cy="360046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8" name="弧形接點 67"/>
          <p:cNvCxnSpPr>
            <a:stCxn id="54" idx="2"/>
            <a:endCxn id="42" idx="2"/>
          </p:cNvCxnSpPr>
          <p:nvPr/>
        </p:nvCxnSpPr>
        <p:spPr bwMode="auto">
          <a:xfrm rot="5400000">
            <a:off x="3311816" y="3969023"/>
            <a:ext cx="12700" cy="2880368"/>
          </a:xfrm>
          <a:prstGeom prst="curvedConnector3">
            <a:avLst>
              <a:gd name="adj1" fmla="val 6737142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9" name="弧形接點 68"/>
          <p:cNvCxnSpPr>
            <a:stCxn id="48" idx="2"/>
            <a:endCxn id="42" idx="2"/>
          </p:cNvCxnSpPr>
          <p:nvPr/>
        </p:nvCxnSpPr>
        <p:spPr bwMode="auto">
          <a:xfrm rot="5400000">
            <a:off x="2591724" y="4689115"/>
            <a:ext cx="12700" cy="1440184"/>
          </a:xfrm>
          <a:prstGeom prst="curvedConnector3">
            <a:avLst>
              <a:gd name="adj1" fmla="val 4206858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0" name="弧形接點 69"/>
          <p:cNvCxnSpPr>
            <a:stCxn id="57" idx="2"/>
            <a:endCxn id="42" idx="2"/>
          </p:cNvCxnSpPr>
          <p:nvPr/>
        </p:nvCxnSpPr>
        <p:spPr bwMode="auto">
          <a:xfrm rot="5400000">
            <a:off x="3671862" y="3608977"/>
            <a:ext cx="12700" cy="3600460"/>
          </a:xfrm>
          <a:prstGeom prst="curvedConnector3">
            <a:avLst>
              <a:gd name="adj1" fmla="val 8208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1" name="弧形接點 70"/>
          <p:cNvCxnSpPr>
            <a:stCxn id="60" idx="2"/>
            <a:endCxn id="54" idx="2"/>
          </p:cNvCxnSpPr>
          <p:nvPr/>
        </p:nvCxnSpPr>
        <p:spPr bwMode="auto">
          <a:xfrm rot="5400000">
            <a:off x="5472092" y="4689115"/>
            <a:ext cx="12700" cy="1440184"/>
          </a:xfrm>
          <a:prstGeom prst="curvedConnector3">
            <a:avLst>
              <a:gd name="adj1" fmla="val 4320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2" name="弧形接點 71"/>
          <p:cNvCxnSpPr>
            <a:stCxn id="63" idx="2"/>
            <a:endCxn id="60" idx="2"/>
          </p:cNvCxnSpPr>
          <p:nvPr/>
        </p:nvCxnSpPr>
        <p:spPr bwMode="auto">
          <a:xfrm rot="5400000">
            <a:off x="6552230" y="5049161"/>
            <a:ext cx="12700" cy="720092"/>
          </a:xfrm>
          <a:prstGeom prst="curvedConnector3">
            <a:avLst>
              <a:gd name="adj1" fmla="val 2952000"/>
            </a:avLst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48616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Robinson-</a:t>
            </a:r>
            <a:r>
              <a:rPr lang="en-US" altLang="zh-TW" dirty="0" err="1"/>
              <a:t>Schensted</a:t>
            </a:r>
            <a:r>
              <a:rPr lang="en-US" altLang="zh-TW" dirty="0"/>
              <a:t>-Knuth Algorithm</a:t>
            </a:r>
            <a:endParaRPr lang="zh-TW" altLang="en-US" dirty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1448748"/>
            <a:ext cx="8281057" cy="3240414"/>
          </a:xfrm>
        </p:spPr>
        <p:txBody>
          <a:bodyPr/>
          <a:lstStyle/>
          <a:p>
            <a:r>
              <a:rPr lang="en-US" altLang="zh-TW" dirty="0" err="1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ea typeface="細明體" panose="02020509000000000000" pitchFamily="49" charset="-120"/>
              </a:rPr>
              <a:t>CeilIndex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A[], </a:t>
            </a:r>
            <a:r>
              <a:rPr lang="en-US" altLang="zh-TW" dirty="0" err="1" smtClean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tail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[],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low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key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while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-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&gt; 1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pt-BR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pt-BR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mid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= </a:t>
            </a:r>
            <a:r>
              <a:rPr lang="pt-BR" altLang="zh-TW" dirty="0" smtClean="0">
                <a:ea typeface="細明體" panose="02020509000000000000" pitchFamily="49" charset="-120"/>
              </a:rPr>
              <a:t>( high + low </a:t>
            </a:r>
            <a:r>
              <a:rPr lang="pt-BR" altLang="zh-TW" dirty="0">
                <a:ea typeface="細明體" panose="02020509000000000000" pitchFamily="49" charset="-120"/>
              </a:rPr>
              <a:t>) </a:t>
            </a:r>
            <a:r>
              <a:rPr lang="pt-BR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/ 2;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( A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tail[ mid ] ]</a:t>
            </a:r>
            <a:r>
              <a:rPr lang="en-US" altLang="zh-TW" dirty="0" smtClean="0">
                <a:ea typeface="細明體" panose="02020509000000000000" pitchFamily="49" charset="-120"/>
              </a:rPr>
              <a:t> </a:t>
            </a:r>
            <a:r>
              <a:rPr lang="en-US" altLang="zh-TW" dirty="0">
                <a:ea typeface="細明體" panose="02020509000000000000" pitchFamily="49" charset="-120"/>
              </a:rPr>
              <a:t>&gt;= key )</a:t>
            </a: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high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ea typeface="細明體" panose="02020509000000000000" pitchFamily="49" charset="-120"/>
              </a:rPr>
              <a:t>         </a:t>
            </a:r>
            <a:r>
              <a:rPr lang="en-US" altLang="zh-TW" dirty="0" smtClean="0">
                <a:ea typeface="細明體" panose="02020509000000000000" pitchFamily="49" charset="-120"/>
              </a:rPr>
              <a:t>low </a:t>
            </a:r>
            <a:r>
              <a:rPr lang="en-US" altLang="zh-TW" dirty="0">
                <a:ea typeface="細明體" panose="02020509000000000000" pitchFamily="49" charset="-120"/>
              </a:rPr>
              <a:t>= </a:t>
            </a:r>
            <a:r>
              <a:rPr lang="en-US" altLang="zh-TW" dirty="0" smtClean="0">
                <a:ea typeface="細明體" panose="02020509000000000000" pitchFamily="49" charset="-120"/>
              </a:rPr>
              <a:t>mid;</a:t>
            </a:r>
            <a:endParaRPr lang="en-US" altLang="zh-TW" dirty="0">
              <a:ea typeface="細明體" panose="02020509000000000000" pitchFamily="49" charset="-120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return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ea typeface="細明體" panose="02020509000000000000" pitchFamily="49" charset="-120"/>
              </a:rPr>
              <a:t>high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890907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Reducing </a:t>
            </a:r>
            <a:r>
              <a:rPr lang="en-US" altLang="zh-TW" sz="3600" dirty="0" smtClean="0"/>
              <a:t>LCS </a:t>
            </a:r>
            <a:r>
              <a:rPr lang="en-US" altLang="zh-TW" sz="3600" dirty="0"/>
              <a:t>Problem to </a:t>
            </a:r>
            <a:r>
              <a:rPr lang="en-US" altLang="zh-TW" sz="3600" dirty="0" smtClean="0"/>
              <a:t>LIS </a:t>
            </a:r>
            <a:r>
              <a:rPr lang="en-US" altLang="zh-TW" sz="3600" dirty="0"/>
              <a:t>Problem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Given </a:t>
            </a:r>
            <a:r>
              <a:rPr lang="en-US" altLang="zh-TW" dirty="0"/>
              <a:t>two </a:t>
            </a:r>
            <a:r>
              <a:rPr lang="en-US" altLang="zh-TW" dirty="0" smtClean="0"/>
              <a:t>sequences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dirty="0"/>
              <a:t>,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c</a:t>
            </a:r>
            <a:r>
              <a:rPr lang="en-US" altLang="zh-TW" sz="2400" dirty="0"/>
              <a:t>, </a:t>
            </a:r>
            <a:r>
              <a:rPr lang="en-US" altLang="zh-TW" sz="2400" i="1" spc="300" dirty="0"/>
              <a:t>d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 and </a:t>
            </a:r>
            <a:r>
              <a:rPr lang="en-US" altLang="zh-TW" i="1" dirty="0" smtClean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d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c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.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310270"/>
              </p:ext>
            </p:extLst>
          </p:nvPr>
        </p:nvGraphicFramePr>
        <p:xfrm>
          <a:off x="2771770" y="1988816"/>
          <a:ext cx="28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9692206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52960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26088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61121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78772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093614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90400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0014505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5646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X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482142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Y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748320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80408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2"/>
            <a:ext cx="8281057" cy="899789"/>
          </a:xfrm>
        </p:spPr>
        <p:txBody>
          <a:bodyPr/>
          <a:lstStyle/>
          <a:p>
            <a:r>
              <a:rPr lang="en-US" altLang="zh-TW" sz="3600" dirty="0"/>
              <a:t>Reducing </a:t>
            </a:r>
            <a:r>
              <a:rPr lang="en-US" altLang="zh-TW" sz="3600" dirty="0" smtClean="0"/>
              <a:t>LCS </a:t>
            </a:r>
            <a:r>
              <a:rPr lang="en-US" altLang="zh-TW" sz="3600" dirty="0"/>
              <a:t>Problem to </a:t>
            </a:r>
            <a:r>
              <a:rPr lang="en-US" altLang="zh-TW" sz="3600" dirty="0" smtClean="0"/>
              <a:t>LIS </a:t>
            </a:r>
            <a:r>
              <a:rPr lang="en-US" altLang="zh-TW" sz="3600" dirty="0"/>
              <a:t>Problem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540069"/>
          </a:xfrm>
        </p:spPr>
        <p:txBody>
          <a:bodyPr/>
          <a:lstStyle/>
          <a:p>
            <a:r>
              <a:rPr lang="en-US" altLang="zh-TW" dirty="0" smtClean="0"/>
              <a:t>Given </a:t>
            </a:r>
            <a:r>
              <a:rPr lang="en-US" altLang="zh-TW" dirty="0"/>
              <a:t>two </a:t>
            </a:r>
            <a:r>
              <a:rPr lang="en-US" altLang="zh-TW" dirty="0" smtClean="0"/>
              <a:t>sequences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dirty="0"/>
              <a:t>,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c</a:t>
            </a:r>
            <a:r>
              <a:rPr lang="en-US" altLang="zh-TW" sz="2400" dirty="0"/>
              <a:t>, </a:t>
            </a:r>
            <a:r>
              <a:rPr lang="en-US" altLang="zh-TW" sz="2400" i="1" spc="300" dirty="0"/>
              <a:t>d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 and </a:t>
            </a:r>
            <a:r>
              <a:rPr lang="en-US" altLang="zh-TW" i="1" dirty="0" smtClean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d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c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.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470" y="3248977"/>
            <a:ext cx="8281059" cy="324041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 smtClean="0"/>
              <a:t>Find </a:t>
            </a:r>
            <a:r>
              <a:rPr lang="en-US" altLang="zh-TW" dirty="0"/>
              <a:t>a </a:t>
            </a:r>
            <a:r>
              <a:rPr lang="en-US" altLang="zh-TW" dirty="0" smtClean="0"/>
              <a:t>sequence </a:t>
            </a:r>
            <a:r>
              <a:rPr lang="en-US" altLang="zh-TW" dirty="0"/>
              <a:t>of matched </a:t>
            </a:r>
            <a:r>
              <a:rPr lang="en-US" altLang="zh-TW" dirty="0" smtClean="0"/>
              <a:t>positions:</a:t>
            </a:r>
          </a:p>
          <a:p>
            <a:pPr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/>
              <a:t>(1, </a:t>
            </a:r>
            <a:r>
              <a:rPr lang="en-US" altLang="zh-TW" dirty="0" smtClean="0"/>
              <a:t>3), </a:t>
            </a:r>
            <a:r>
              <a:rPr lang="en-US" altLang="zh-TW" dirty="0">
                <a:solidFill>
                  <a:srgbClr val="000000"/>
                </a:solidFill>
              </a:rPr>
              <a:t>(1, </a:t>
            </a:r>
            <a:r>
              <a:rPr lang="en-US" altLang="zh-TW" dirty="0" smtClean="0">
                <a:solidFill>
                  <a:srgbClr val="000000"/>
                </a:solidFill>
              </a:rPr>
              <a:t>4), </a:t>
            </a:r>
            <a:r>
              <a:rPr lang="en-US" altLang="zh-TW" dirty="0">
                <a:solidFill>
                  <a:srgbClr val="000000"/>
                </a:solidFill>
              </a:rPr>
              <a:t>(1, </a:t>
            </a:r>
            <a:r>
              <a:rPr lang="en-US" altLang="zh-TW" dirty="0" smtClean="0">
                <a:solidFill>
                  <a:srgbClr val="000000"/>
                </a:solidFill>
              </a:rPr>
              <a:t>7), (3, 3), </a:t>
            </a:r>
            <a:r>
              <a:rPr lang="en-US" altLang="zh-TW" dirty="0">
                <a:solidFill>
                  <a:srgbClr val="000000"/>
                </a:solidFill>
              </a:rPr>
              <a:t>(3, </a:t>
            </a:r>
            <a:r>
              <a:rPr lang="en-US" altLang="zh-TW" dirty="0" smtClean="0">
                <a:solidFill>
                  <a:srgbClr val="000000"/>
                </a:solidFill>
              </a:rPr>
              <a:t>4), </a:t>
            </a:r>
            <a:r>
              <a:rPr lang="en-US" altLang="zh-TW" dirty="0">
                <a:solidFill>
                  <a:srgbClr val="000000"/>
                </a:solidFill>
              </a:rPr>
              <a:t>(3, </a:t>
            </a:r>
            <a:r>
              <a:rPr lang="en-US" altLang="zh-TW" dirty="0" smtClean="0">
                <a:solidFill>
                  <a:srgbClr val="000000"/>
                </a:solidFill>
              </a:rPr>
              <a:t>7), (2, 2), (2, 5), (4, 6), (5, 1)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310270"/>
              </p:ext>
            </p:extLst>
          </p:nvPr>
        </p:nvGraphicFramePr>
        <p:xfrm>
          <a:off x="2771770" y="1988816"/>
          <a:ext cx="28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9692206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52960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26088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61121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78772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093614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90400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0014505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5646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X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482142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Y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748320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476146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2"/>
            <a:ext cx="8281057" cy="899789"/>
          </a:xfrm>
        </p:spPr>
        <p:txBody>
          <a:bodyPr/>
          <a:lstStyle/>
          <a:p>
            <a:r>
              <a:rPr lang="en-US" altLang="zh-TW" sz="3600" dirty="0"/>
              <a:t>Reducing </a:t>
            </a:r>
            <a:r>
              <a:rPr lang="en-US" altLang="zh-TW" sz="3600" dirty="0" smtClean="0"/>
              <a:t>LCS </a:t>
            </a:r>
            <a:r>
              <a:rPr lang="en-US" altLang="zh-TW" sz="3600" dirty="0"/>
              <a:t>Problem to </a:t>
            </a:r>
            <a:r>
              <a:rPr lang="en-US" altLang="zh-TW" sz="3600" dirty="0" smtClean="0"/>
              <a:t>LIS </a:t>
            </a:r>
            <a:r>
              <a:rPr lang="en-US" altLang="zh-TW" sz="3600" dirty="0"/>
              <a:t>Problem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540069"/>
          </a:xfrm>
        </p:spPr>
        <p:txBody>
          <a:bodyPr/>
          <a:lstStyle/>
          <a:p>
            <a:r>
              <a:rPr lang="en-US" altLang="zh-TW" dirty="0" smtClean="0"/>
              <a:t>Given </a:t>
            </a:r>
            <a:r>
              <a:rPr lang="en-US" altLang="zh-TW" dirty="0"/>
              <a:t>two </a:t>
            </a:r>
            <a:r>
              <a:rPr lang="en-US" altLang="zh-TW" dirty="0" smtClean="0"/>
              <a:t>sequences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dirty="0"/>
              <a:t>,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c</a:t>
            </a:r>
            <a:r>
              <a:rPr lang="en-US" altLang="zh-TW" sz="2400" dirty="0"/>
              <a:t>, </a:t>
            </a:r>
            <a:r>
              <a:rPr lang="en-US" altLang="zh-TW" sz="2400" i="1" spc="300" dirty="0"/>
              <a:t>d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 and </a:t>
            </a:r>
            <a:r>
              <a:rPr lang="en-US" altLang="zh-TW" i="1" dirty="0" smtClean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d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c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.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470" y="3248977"/>
            <a:ext cx="8281059" cy="324041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 smtClean="0"/>
              <a:t>Find </a:t>
            </a:r>
            <a:r>
              <a:rPr lang="en-US" altLang="zh-TW" dirty="0"/>
              <a:t>a </a:t>
            </a:r>
            <a:r>
              <a:rPr lang="en-US" altLang="zh-TW" dirty="0" smtClean="0"/>
              <a:t>sequence </a:t>
            </a:r>
            <a:r>
              <a:rPr lang="en-US" altLang="zh-TW" dirty="0"/>
              <a:t>of matched </a:t>
            </a:r>
            <a:r>
              <a:rPr lang="en-US" altLang="zh-TW" dirty="0" smtClean="0"/>
              <a:t>positions:</a:t>
            </a:r>
          </a:p>
          <a:p>
            <a:pPr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/>
              <a:t>(1, </a:t>
            </a:r>
            <a:r>
              <a:rPr lang="en-US" altLang="zh-TW" dirty="0" smtClean="0"/>
              <a:t>3), </a:t>
            </a:r>
            <a:r>
              <a:rPr lang="en-US" altLang="zh-TW" dirty="0">
                <a:solidFill>
                  <a:srgbClr val="000000"/>
                </a:solidFill>
              </a:rPr>
              <a:t>(1, </a:t>
            </a:r>
            <a:r>
              <a:rPr lang="en-US" altLang="zh-TW" dirty="0" smtClean="0">
                <a:solidFill>
                  <a:srgbClr val="000000"/>
                </a:solidFill>
              </a:rPr>
              <a:t>4), </a:t>
            </a:r>
            <a:r>
              <a:rPr lang="en-US" altLang="zh-TW" dirty="0">
                <a:solidFill>
                  <a:srgbClr val="000000"/>
                </a:solidFill>
              </a:rPr>
              <a:t>(1, </a:t>
            </a:r>
            <a:r>
              <a:rPr lang="en-US" altLang="zh-TW" dirty="0" smtClean="0">
                <a:solidFill>
                  <a:srgbClr val="000000"/>
                </a:solidFill>
              </a:rPr>
              <a:t>7), (3, 3), </a:t>
            </a:r>
            <a:r>
              <a:rPr lang="en-US" altLang="zh-TW" dirty="0">
                <a:solidFill>
                  <a:srgbClr val="000000"/>
                </a:solidFill>
              </a:rPr>
              <a:t>(3, </a:t>
            </a:r>
            <a:r>
              <a:rPr lang="en-US" altLang="zh-TW" dirty="0" smtClean="0">
                <a:solidFill>
                  <a:srgbClr val="000000"/>
                </a:solidFill>
              </a:rPr>
              <a:t>4), </a:t>
            </a:r>
            <a:r>
              <a:rPr lang="en-US" altLang="zh-TW" dirty="0">
                <a:solidFill>
                  <a:srgbClr val="000000"/>
                </a:solidFill>
              </a:rPr>
              <a:t>(3, </a:t>
            </a:r>
            <a:r>
              <a:rPr lang="en-US" altLang="zh-TW" dirty="0" smtClean="0">
                <a:solidFill>
                  <a:srgbClr val="000000"/>
                </a:solidFill>
              </a:rPr>
              <a:t>7), (2, 2), (2, 5), (4, 6), (5, 1)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  <a:p>
            <a:pPr>
              <a:spcBef>
                <a:spcPts val="1200"/>
              </a:spcBef>
            </a:pP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Sort the </a:t>
            </a:r>
            <a:r>
              <a:rPr lang="en-US" altLang="zh-TW" dirty="0" smtClean="0">
                <a:solidFill>
                  <a:srgbClr val="000000"/>
                </a:solidFill>
              </a:rPr>
              <a:t>sequence by lexicographic order: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i="1" dirty="0" smtClean="0">
                <a:solidFill>
                  <a:srgbClr val="000000"/>
                </a:solidFill>
              </a:rPr>
              <a:t>Z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</a:rPr>
              <a:t>(1, 3), (1, 4), (1, 7), (2, 2), (2, 5), (3, 3), (3, 4), (3, 7), (4, 6), (5, 1)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310270"/>
              </p:ext>
            </p:extLst>
          </p:nvPr>
        </p:nvGraphicFramePr>
        <p:xfrm>
          <a:off x="2771770" y="1988816"/>
          <a:ext cx="28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9692206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52960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26088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61121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78772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093614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90400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0014505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5646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X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482142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Y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748320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97329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2"/>
            <a:ext cx="8281057" cy="899789"/>
          </a:xfrm>
        </p:spPr>
        <p:txBody>
          <a:bodyPr/>
          <a:lstStyle/>
          <a:p>
            <a:r>
              <a:rPr lang="en-US" altLang="zh-TW" sz="3600" dirty="0"/>
              <a:t>Reducing </a:t>
            </a:r>
            <a:r>
              <a:rPr lang="en-US" altLang="zh-TW" sz="3600" dirty="0" smtClean="0"/>
              <a:t>LCS </a:t>
            </a:r>
            <a:r>
              <a:rPr lang="en-US" altLang="zh-TW" sz="3600" dirty="0"/>
              <a:t>Problem to </a:t>
            </a:r>
            <a:r>
              <a:rPr lang="en-US" altLang="zh-TW" sz="3600" dirty="0" smtClean="0"/>
              <a:t>LIS </a:t>
            </a:r>
            <a:r>
              <a:rPr lang="en-US" altLang="zh-TW" sz="3600" dirty="0"/>
              <a:t>Problem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540069"/>
          </a:xfrm>
        </p:spPr>
        <p:txBody>
          <a:bodyPr/>
          <a:lstStyle/>
          <a:p>
            <a:r>
              <a:rPr lang="en-US" altLang="zh-TW" dirty="0" smtClean="0"/>
              <a:t>Given </a:t>
            </a:r>
            <a:r>
              <a:rPr lang="en-US" altLang="zh-TW" dirty="0"/>
              <a:t>two </a:t>
            </a:r>
            <a:r>
              <a:rPr lang="en-US" altLang="zh-TW" dirty="0" smtClean="0"/>
              <a:t>sequences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dirty="0"/>
              <a:t>,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c</a:t>
            </a:r>
            <a:r>
              <a:rPr lang="en-US" altLang="zh-TW" sz="2400" dirty="0"/>
              <a:t>, </a:t>
            </a:r>
            <a:r>
              <a:rPr lang="en-US" altLang="zh-TW" sz="2400" i="1" spc="300" dirty="0"/>
              <a:t>d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 and </a:t>
            </a:r>
            <a:r>
              <a:rPr lang="en-US" altLang="zh-TW" i="1" dirty="0" smtClean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d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c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.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470" y="3248977"/>
            <a:ext cx="8281059" cy="324041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 smtClean="0"/>
              <a:t>Find </a:t>
            </a:r>
            <a:r>
              <a:rPr lang="en-US" altLang="zh-TW" dirty="0"/>
              <a:t>a </a:t>
            </a:r>
            <a:r>
              <a:rPr lang="en-US" altLang="zh-TW" dirty="0" smtClean="0"/>
              <a:t>sequence </a:t>
            </a:r>
            <a:r>
              <a:rPr lang="en-US" altLang="zh-TW" dirty="0"/>
              <a:t>of matched </a:t>
            </a:r>
            <a:r>
              <a:rPr lang="en-US" altLang="zh-TW" dirty="0" smtClean="0"/>
              <a:t>positions:</a:t>
            </a:r>
          </a:p>
          <a:p>
            <a:pPr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/>
              <a:t>(1, </a:t>
            </a:r>
            <a:r>
              <a:rPr lang="en-US" altLang="zh-TW" dirty="0" smtClean="0"/>
              <a:t>3), </a:t>
            </a:r>
            <a:r>
              <a:rPr lang="en-US" altLang="zh-TW" dirty="0">
                <a:solidFill>
                  <a:srgbClr val="000000"/>
                </a:solidFill>
              </a:rPr>
              <a:t>(1, </a:t>
            </a:r>
            <a:r>
              <a:rPr lang="en-US" altLang="zh-TW" dirty="0" smtClean="0">
                <a:solidFill>
                  <a:srgbClr val="000000"/>
                </a:solidFill>
              </a:rPr>
              <a:t>4), </a:t>
            </a:r>
            <a:r>
              <a:rPr lang="en-US" altLang="zh-TW" dirty="0">
                <a:solidFill>
                  <a:srgbClr val="000000"/>
                </a:solidFill>
              </a:rPr>
              <a:t>(1, </a:t>
            </a:r>
            <a:r>
              <a:rPr lang="en-US" altLang="zh-TW" dirty="0" smtClean="0">
                <a:solidFill>
                  <a:srgbClr val="000000"/>
                </a:solidFill>
              </a:rPr>
              <a:t>7), (3, 3), </a:t>
            </a:r>
            <a:r>
              <a:rPr lang="en-US" altLang="zh-TW" dirty="0">
                <a:solidFill>
                  <a:srgbClr val="000000"/>
                </a:solidFill>
              </a:rPr>
              <a:t>(3, </a:t>
            </a:r>
            <a:r>
              <a:rPr lang="en-US" altLang="zh-TW" dirty="0" smtClean="0">
                <a:solidFill>
                  <a:srgbClr val="000000"/>
                </a:solidFill>
              </a:rPr>
              <a:t>4), </a:t>
            </a:r>
            <a:r>
              <a:rPr lang="en-US" altLang="zh-TW" dirty="0">
                <a:solidFill>
                  <a:srgbClr val="000000"/>
                </a:solidFill>
              </a:rPr>
              <a:t>(3, </a:t>
            </a:r>
            <a:r>
              <a:rPr lang="en-US" altLang="zh-TW" dirty="0" smtClean="0">
                <a:solidFill>
                  <a:srgbClr val="000000"/>
                </a:solidFill>
              </a:rPr>
              <a:t>7), (2, 2), (2, 5), (4, 6), (5, 1)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  <a:p>
            <a:pPr>
              <a:spcBef>
                <a:spcPts val="1200"/>
              </a:spcBef>
            </a:pP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Sort the </a:t>
            </a:r>
            <a:r>
              <a:rPr lang="en-US" altLang="zh-TW" dirty="0" smtClean="0">
                <a:solidFill>
                  <a:srgbClr val="000000"/>
                </a:solidFill>
              </a:rPr>
              <a:t>sequence by lexicographic order: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i="1" dirty="0" smtClean="0">
                <a:solidFill>
                  <a:srgbClr val="000000"/>
                </a:solidFill>
              </a:rPr>
              <a:t>Z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</a:rPr>
              <a:t>(1, 3), (1, 4), (1, 7), (2, 2), (2, 5), (3, 3), (3, 4), (3, 7), (4, 6), (5, 1)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 smtClean="0"/>
              <a:t>The increasing subsequence 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</a:rPr>
              <a:t>(1, 3), (2, 5), (3, 7)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 of Z corresponds to the common subsequence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400" i="1" dirty="0" smtClean="0">
                <a:solidFill>
                  <a:srgbClr val="000000"/>
                </a:solidFill>
              </a:rPr>
              <a:t>a</a:t>
            </a:r>
            <a:r>
              <a:rPr lang="en-US" altLang="zh-TW" sz="2400" dirty="0" smtClean="0">
                <a:solidFill>
                  <a:srgbClr val="000000"/>
                </a:solidFill>
              </a:rPr>
              <a:t>, </a:t>
            </a:r>
            <a:r>
              <a:rPr lang="en-US" altLang="zh-TW" sz="2400" i="1" dirty="0" smtClean="0">
                <a:solidFill>
                  <a:srgbClr val="000000"/>
                </a:solidFill>
              </a:rPr>
              <a:t>b</a:t>
            </a:r>
            <a:r>
              <a:rPr lang="en-US" altLang="zh-TW" sz="2400" dirty="0" smtClean="0">
                <a:solidFill>
                  <a:srgbClr val="000000"/>
                </a:solidFill>
              </a:rPr>
              <a:t>, </a:t>
            </a:r>
            <a:r>
              <a:rPr lang="en-US" altLang="zh-TW" sz="2400" i="1" dirty="0" smtClean="0">
                <a:solidFill>
                  <a:srgbClr val="000000"/>
                </a:solidFill>
              </a:rPr>
              <a:t>a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 of </a:t>
            </a:r>
            <a:r>
              <a:rPr lang="en-US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 and </a:t>
            </a:r>
            <a:r>
              <a:rPr lang="en-US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58329"/>
              </p:ext>
            </p:extLst>
          </p:nvPr>
        </p:nvGraphicFramePr>
        <p:xfrm>
          <a:off x="2771770" y="1988816"/>
          <a:ext cx="28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9692206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52960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26088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61121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78772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093614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90400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0014505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5646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X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482142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Y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320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59102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1471" y="188912"/>
            <a:ext cx="8281057" cy="899789"/>
          </a:xfrm>
        </p:spPr>
        <p:txBody>
          <a:bodyPr/>
          <a:lstStyle/>
          <a:p>
            <a:r>
              <a:rPr lang="en-US" altLang="zh-TW" sz="3600" dirty="0"/>
              <a:t>Reducing </a:t>
            </a:r>
            <a:r>
              <a:rPr lang="en-US" altLang="zh-TW" sz="3600" dirty="0" smtClean="0"/>
              <a:t>LCS </a:t>
            </a:r>
            <a:r>
              <a:rPr lang="en-US" altLang="zh-TW" sz="3600" dirty="0"/>
              <a:t>Problem to </a:t>
            </a:r>
            <a:r>
              <a:rPr lang="en-US" altLang="zh-TW" sz="3600" dirty="0" smtClean="0"/>
              <a:t>LIS </a:t>
            </a:r>
            <a:r>
              <a:rPr lang="en-US" altLang="zh-TW" sz="3600" dirty="0"/>
              <a:t>Problem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540069"/>
          </a:xfrm>
        </p:spPr>
        <p:txBody>
          <a:bodyPr/>
          <a:lstStyle/>
          <a:p>
            <a:r>
              <a:rPr lang="en-US" altLang="zh-TW" dirty="0" smtClean="0"/>
              <a:t>Given </a:t>
            </a:r>
            <a:r>
              <a:rPr lang="en-US" altLang="zh-TW" dirty="0"/>
              <a:t>two </a:t>
            </a:r>
            <a:r>
              <a:rPr lang="en-US" altLang="zh-TW" dirty="0" smtClean="0"/>
              <a:t>sequences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b</a:t>
            </a:r>
            <a:r>
              <a:rPr lang="en-US" altLang="zh-TW" sz="2400" dirty="0"/>
              <a:t>, </a:t>
            </a:r>
            <a:r>
              <a:rPr lang="en-US" altLang="zh-TW" sz="2400" i="1" dirty="0"/>
              <a:t>a</a:t>
            </a:r>
            <a:r>
              <a:rPr lang="en-US" altLang="zh-TW" sz="2400" dirty="0"/>
              <a:t>, </a:t>
            </a:r>
            <a:r>
              <a:rPr lang="en-US" altLang="zh-TW" sz="2400" i="1" dirty="0"/>
              <a:t>c</a:t>
            </a:r>
            <a:r>
              <a:rPr lang="en-US" altLang="zh-TW" sz="2400" dirty="0"/>
              <a:t>, </a:t>
            </a:r>
            <a:r>
              <a:rPr lang="en-US" altLang="zh-TW" sz="2400" i="1" spc="300" dirty="0"/>
              <a:t>d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 and </a:t>
            </a:r>
            <a:r>
              <a:rPr lang="en-US" altLang="zh-TW" i="1" dirty="0" smtClean="0">
                <a:solidFill>
                  <a:srgbClr val="000000"/>
                </a:solidFill>
              </a:rPr>
              <a:t>Y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d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b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c</a:t>
            </a:r>
            <a:r>
              <a:rPr lang="pt-BR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, </a:t>
            </a:r>
            <a:r>
              <a:rPr lang="pt-BR" altLang="zh-TW" sz="2400" i="1" dirty="0">
                <a:solidFill>
                  <a:srgbClr val="000000"/>
                </a:solidFill>
                <a:sym typeface="Symbol" panose="05050102010706020507" pitchFamily="18" charset="2"/>
              </a:rPr>
              <a:t>a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.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0"/>
          </p:nvPr>
        </p:nvSpPr>
        <p:spPr>
          <a:xfrm>
            <a:off x="431470" y="3248977"/>
            <a:ext cx="8281059" cy="324041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dirty="0" smtClean="0"/>
              <a:t>Find </a:t>
            </a:r>
            <a:r>
              <a:rPr lang="en-US" altLang="zh-TW" dirty="0"/>
              <a:t>a </a:t>
            </a:r>
            <a:r>
              <a:rPr lang="en-US" altLang="zh-TW" dirty="0" smtClean="0"/>
              <a:t>sequence </a:t>
            </a:r>
            <a:r>
              <a:rPr lang="en-US" altLang="zh-TW" dirty="0"/>
              <a:t>of matched </a:t>
            </a:r>
            <a:r>
              <a:rPr lang="en-US" altLang="zh-TW" dirty="0" smtClean="0"/>
              <a:t>positions:</a:t>
            </a:r>
          </a:p>
          <a:p>
            <a:pPr>
              <a:spcBef>
                <a:spcPts val="0"/>
              </a:spcBef>
            </a:pP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/>
              <a:t>(1, </a:t>
            </a:r>
            <a:r>
              <a:rPr lang="en-US" altLang="zh-TW" dirty="0" smtClean="0"/>
              <a:t>3), </a:t>
            </a:r>
            <a:r>
              <a:rPr lang="en-US" altLang="zh-TW" dirty="0">
                <a:solidFill>
                  <a:srgbClr val="000000"/>
                </a:solidFill>
              </a:rPr>
              <a:t>(1, </a:t>
            </a:r>
            <a:r>
              <a:rPr lang="en-US" altLang="zh-TW" dirty="0" smtClean="0">
                <a:solidFill>
                  <a:srgbClr val="000000"/>
                </a:solidFill>
              </a:rPr>
              <a:t>4), </a:t>
            </a:r>
            <a:r>
              <a:rPr lang="en-US" altLang="zh-TW" dirty="0">
                <a:solidFill>
                  <a:srgbClr val="000000"/>
                </a:solidFill>
              </a:rPr>
              <a:t>(1, </a:t>
            </a:r>
            <a:r>
              <a:rPr lang="en-US" altLang="zh-TW" dirty="0" smtClean="0">
                <a:solidFill>
                  <a:srgbClr val="000000"/>
                </a:solidFill>
              </a:rPr>
              <a:t>7), (3, 3), </a:t>
            </a:r>
            <a:r>
              <a:rPr lang="en-US" altLang="zh-TW" dirty="0">
                <a:solidFill>
                  <a:srgbClr val="000000"/>
                </a:solidFill>
              </a:rPr>
              <a:t>(3, </a:t>
            </a:r>
            <a:r>
              <a:rPr lang="en-US" altLang="zh-TW" dirty="0" smtClean="0">
                <a:solidFill>
                  <a:srgbClr val="000000"/>
                </a:solidFill>
              </a:rPr>
              <a:t>4), </a:t>
            </a:r>
            <a:r>
              <a:rPr lang="en-US" altLang="zh-TW" dirty="0">
                <a:solidFill>
                  <a:srgbClr val="000000"/>
                </a:solidFill>
              </a:rPr>
              <a:t>(3, </a:t>
            </a:r>
            <a:r>
              <a:rPr lang="en-US" altLang="zh-TW" dirty="0" smtClean="0">
                <a:solidFill>
                  <a:srgbClr val="000000"/>
                </a:solidFill>
              </a:rPr>
              <a:t>7), (2, 2), (2, 5), (4, 6), (5, 1)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  <a:p>
            <a:pPr>
              <a:spcBef>
                <a:spcPts val="1200"/>
              </a:spcBef>
            </a:pP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Sort the </a:t>
            </a:r>
            <a:r>
              <a:rPr lang="en-US" altLang="zh-TW" dirty="0">
                <a:solidFill>
                  <a:srgbClr val="000000"/>
                </a:solidFill>
              </a:rPr>
              <a:t>sequence by lexicographic </a:t>
            </a:r>
            <a:r>
              <a:rPr lang="en-US" altLang="zh-TW" dirty="0" smtClean="0">
                <a:solidFill>
                  <a:srgbClr val="000000"/>
                </a:solidFill>
              </a:rPr>
              <a:t>order: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i="1" dirty="0" smtClean="0">
                <a:solidFill>
                  <a:srgbClr val="000000"/>
                </a:solidFill>
              </a:rPr>
              <a:t>Z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>
                <a:solidFill>
                  <a:srgbClr val="000000"/>
                </a:solidFill>
              </a:rPr>
              <a:t>(1, 3), (1, 4), (1, 7), (2, 2), (2, 5), 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dirty="0">
                <a:solidFill>
                  <a:srgbClr val="000000"/>
                </a:solidFill>
              </a:rPr>
              <a:t>3, 3), (3, 4), (3, 7), </a:t>
            </a:r>
            <a:r>
              <a:rPr lang="en-US" altLang="zh-TW" dirty="0" smtClean="0">
                <a:solidFill>
                  <a:srgbClr val="000000"/>
                </a:solidFill>
              </a:rPr>
              <a:t>(</a:t>
            </a:r>
            <a:r>
              <a:rPr lang="en-US" altLang="zh-TW" dirty="0">
                <a:solidFill>
                  <a:srgbClr val="000000"/>
                </a:solidFill>
              </a:rPr>
              <a:t>4, 6), (5, 1)</a:t>
            </a:r>
            <a:r>
              <a:rPr lang="en-US" altLang="zh-TW" dirty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 smtClean="0"/>
              <a:t>The </a:t>
            </a:r>
            <a:r>
              <a:rPr lang="en-US" altLang="zh-TW" dirty="0"/>
              <a:t>increasing </a:t>
            </a:r>
            <a:r>
              <a:rPr lang="en-US" altLang="zh-TW" dirty="0" smtClean="0"/>
              <a:t>subsequence 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</a:rPr>
              <a:t>(1, 3), (2, 5), (3, 7)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 of Z corresponds to </a:t>
            </a:r>
            <a:r>
              <a:rPr lang="en-US" altLang="zh-TW" dirty="0">
                <a:solidFill>
                  <a:srgbClr val="000000"/>
                </a:solidFill>
                <a:sym typeface="Symbol" panose="05050102010706020507" pitchFamily="18" charset="2"/>
              </a:rPr>
              <a:t>the 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common subsequence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400" i="1" dirty="0">
                <a:solidFill>
                  <a:srgbClr val="000000"/>
                </a:solidFill>
              </a:rPr>
              <a:t>a</a:t>
            </a:r>
            <a:r>
              <a:rPr lang="en-US" altLang="zh-TW" sz="2400" dirty="0">
                <a:solidFill>
                  <a:srgbClr val="000000"/>
                </a:solidFill>
              </a:rPr>
              <a:t>, </a:t>
            </a:r>
            <a:r>
              <a:rPr lang="en-US" altLang="zh-TW" sz="2400" i="1" dirty="0" smtClean="0">
                <a:solidFill>
                  <a:srgbClr val="000000"/>
                </a:solidFill>
              </a:rPr>
              <a:t>b</a:t>
            </a:r>
            <a:r>
              <a:rPr lang="en-US" altLang="zh-TW" sz="2400" dirty="0">
                <a:solidFill>
                  <a:srgbClr val="000000"/>
                </a:solidFill>
              </a:rPr>
              <a:t>, </a:t>
            </a:r>
            <a:r>
              <a:rPr lang="en-US" altLang="zh-TW" sz="2400" i="1" dirty="0" smtClean="0">
                <a:solidFill>
                  <a:srgbClr val="000000"/>
                </a:solidFill>
              </a:rPr>
              <a:t>a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 of </a:t>
            </a:r>
            <a:r>
              <a:rPr lang="en-US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 and </a:t>
            </a:r>
            <a:r>
              <a:rPr lang="en-US" altLang="zh-TW" sz="2400" i="1" dirty="0" smtClean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</a:p>
          <a:p>
            <a:pPr lvl="0">
              <a:spcBef>
                <a:spcPts val="120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The increasing subsequence </a:t>
            </a:r>
            <a:r>
              <a:rPr lang="en-US" altLang="zh-TW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>
                <a:solidFill>
                  <a:srgbClr val="000000"/>
                </a:solidFill>
              </a:rPr>
              <a:t>(2, 2), (3, 3), (4, 6)</a:t>
            </a:r>
            <a:r>
              <a:rPr lang="en-US" altLang="zh-TW" dirty="0">
                <a:solidFill>
                  <a:srgbClr val="000000"/>
                </a:solidFill>
                <a:sym typeface="Symbol" panose="05050102010706020507" pitchFamily="18" charset="2"/>
              </a:rPr>
              <a:t> of Z corresponds to the common subsequence </a:t>
            </a:r>
            <a:r>
              <a:rPr lang="en-US" altLang="zh-TW" sz="2400" dirty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sz="2400" i="1" dirty="0">
                <a:solidFill>
                  <a:srgbClr val="000000"/>
                </a:solidFill>
              </a:rPr>
              <a:t>b</a:t>
            </a:r>
            <a:r>
              <a:rPr lang="en-US" altLang="zh-TW" sz="2400" dirty="0">
                <a:solidFill>
                  <a:srgbClr val="000000"/>
                </a:solidFill>
              </a:rPr>
              <a:t>, </a:t>
            </a:r>
            <a:r>
              <a:rPr lang="en-US" altLang="zh-TW" sz="2400" i="1" dirty="0">
                <a:solidFill>
                  <a:srgbClr val="000000"/>
                </a:solidFill>
              </a:rPr>
              <a:t>a</a:t>
            </a:r>
            <a:r>
              <a:rPr lang="en-US" altLang="zh-TW" sz="2400" dirty="0">
                <a:solidFill>
                  <a:srgbClr val="000000"/>
                </a:solidFill>
              </a:rPr>
              <a:t>, </a:t>
            </a:r>
            <a:r>
              <a:rPr lang="en-US" altLang="zh-TW" sz="2400" i="1" dirty="0">
                <a:solidFill>
                  <a:srgbClr val="000000"/>
                </a:solidFill>
              </a:rPr>
              <a:t>c</a:t>
            </a:r>
            <a:r>
              <a:rPr lang="en-US" altLang="zh-TW" sz="2400" dirty="0">
                <a:solidFill>
                  <a:srgbClr val="000000"/>
                </a:solidFill>
                <a:sym typeface="Symbol" panose="05050102010706020507" pitchFamily="18" charset="2"/>
              </a:rPr>
              <a:t> of </a:t>
            </a:r>
            <a:r>
              <a:rPr lang="en-US" altLang="zh-TW" sz="2400" i="1" dirty="0">
                <a:solidFill>
                  <a:srgbClr val="000000"/>
                </a:solidFill>
                <a:sym typeface="Symbol" panose="05050102010706020507" pitchFamily="18" charset="2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  <a:sym typeface="Symbol" panose="05050102010706020507" pitchFamily="18" charset="2"/>
              </a:rPr>
              <a:t> and </a:t>
            </a:r>
            <a:r>
              <a:rPr lang="en-US" altLang="zh-TW" sz="2400" i="1" dirty="0">
                <a:solidFill>
                  <a:srgbClr val="000000"/>
                </a:solidFill>
                <a:sym typeface="Symbol" panose="05050102010706020507" pitchFamily="18" charset="2"/>
              </a:rPr>
              <a:t>Y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.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921512"/>
              </p:ext>
            </p:extLst>
          </p:nvPr>
        </p:nvGraphicFramePr>
        <p:xfrm>
          <a:off x="2771770" y="1988816"/>
          <a:ext cx="28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96922063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45296042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2608882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6112159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0787722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0936146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9904005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10014505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1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2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3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4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5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6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/>
                        <a:t>7</a:t>
                      </a:r>
                      <a:endParaRPr lang="zh-TW" altLang="en-US" sz="2000" dirty="0"/>
                    </a:p>
                  </a:txBody>
                  <a:tcPr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56462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X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 dirty="0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i="1"/>
                    </a:p>
                  </a:txBody>
                  <a:tcPr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4821426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i="1" dirty="0" smtClean="0"/>
                        <a:t>Y</a:t>
                      </a:r>
                      <a:endParaRPr lang="zh-TW" altLang="en-US" sz="2000" i="1" dirty="0"/>
                    </a:p>
                  </a:txBody>
                  <a:tcPr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d</a:t>
                      </a:r>
                      <a:endParaRPr lang="zh-TW" altLang="en-US" sz="2200" i="1" dirty="0"/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b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c</a:t>
                      </a:r>
                      <a:endParaRPr lang="zh-TW" altLang="en-US" sz="2200" i="1" dirty="0"/>
                    </a:p>
                  </a:txBody>
                  <a:tcPr marT="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i="1" dirty="0" smtClean="0"/>
                        <a:t>a</a:t>
                      </a:r>
                      <a:endParaRPr lang="zh-TW" altLang="en-US" sz="2200" i="1" dirty="0"/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2748320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30070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600" dirty="0"/>
              <a:t>Reducing </a:t>
            </a:r>
            <a:r>
              <a:rPr lang="en-US" altLang="zh-TW" sz="3600" dirty="0" smtClean="0"/>
              <a:t>LIS Problem to LCS </a:t>
            </a:r>
            <a:r>
              <a:rPr lang="en-US" altLang="zh-TW" sz="3600" dirty="0"/>
              <a:t>Problem</a:t>
            </a:r>
            <a:endParaRPr lang="en-US" altLang="zh-TW" sz="3600" dirty="0" smtClean="0"/>
          </a:p>
        </p:txBody>
      </p:sp>
    </p:spTree>
    <p:extLst>
      <p:ext uri="{BB962C8B-B14F-4D97-AF65-F5344CB8AC3E}">
        <p14:creationId xmlns:p14="http://schemas.microsoft.com/office/powerpoint/2010/main" val="56833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31471" y="188913"/>
            <a:ext cx="8281057" cy="899788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Reducing </a:t>
            </a:r>
            <a:r>
              <a:rPr lang="en-US" altLang="zh-TW" sz="3600" dirty="0" smtClean="0"/>
              <a:t>LIS Problem to LCS </a:t>
            </a:r>
            <a:r>
              <a:rPr lang="en-US" altLang="zh-TW" sz="3600" dirty="0"/>
              <a:t>Problem</a:t>
            </a:r>
            <a:endParaRPr lang="en-US" altLang="zh-TW" sz="3600" dirty="0" smtClean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342043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/>
              <a:t>Create a copy of the original array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Sort </a:t>
            </a:r>
            <a:r>
              <a:rPr lang="en-US" altLang="zh-TW" dirty="0">
                <a:solidFill>
                  <a:schemeClr val="bg1"/>
                </a:solidFill>
              </a:rPr>
              <a:t>the copy of the original array</a:t>
            </a:r>
            <a:r>
              <a:rPr lang="en-US" altLang="zh-TW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Remove </a:t>
            </a:r>
            <a:r>
              <a:rPr lang="en-US" altLang="zh-TW" dirty="0">
                <a:solidFill>
                  <a:schemeClr val="bg1"/>
                </a:solidFill>
              </a:rPr>
              <a:t>all the duplicates from the copy</a:t>
            </a:r>
            <a:r>
              <a:rPr lang="en-US" altLang="zh-TW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Perform </a:t>
            </a:r>
            <a:r>
              <a:rPr lang="en-US" altLang="zh-TW" dirty="0">
                <a:solidFill>
                  <a:schemeClr val="bg1"/>
                </a:solidFill>
              </a:rPr>
              <a:t>LCS of original sequence with its modified copy.</a:t>
            </a:r>
            <a:endParaRPr lang="en-US" altLang="zh-TW" dirty="0" smtClean="0">
              <a:solidFill>
                <a:schemeClr val="bg1"/>
              </a:solidFill>
            </a:endParaRPr>
          </a:p>
          <a:p>
            <a:endParaRPr lang="en-US" altLang="zh-TW" dirty="0"/>
          </a:p>
          <a:p>
            <a:pPr>
              <a:tabLst>
                <a:tab pos="449263" algn="l"/>
              </a:tabLst>
            </a:pPr>
            <a:r>
              <a:rPr lang="en-US" altLang="zh-TW" dirty="0" smtClean="0"/>
              <a:t>Let	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10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22,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9,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33,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21,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50,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41,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60, 80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dirty="0" smtClean="0"/>
          </a:p>
          <a:p>
            <a:pPr marL="449263"/>
            <a:r>
              <a:rPr lang="en-US" altLang="zh-TW" i="1" dirty="0" smtClean="0">
                <a:solidFill>
                  <a:schemeClr val="bg1"/>
                </a:solidFill>
              </a:rPr>
              <a:t>B</a:t>
            </a:r>
            <a:r>
              <a:rPr lang="en-US" altLang="zh-TW" dirty="0" smtClean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2400" dirty="0" smtClean="0">
                <a:solidFill>
                  <a:schemeClr val="bg1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9, </a:t>
            </a:r>
            <a:r>
              <a:rPr lang="en-US" altLang="zh-TW" dirty="0" smtClean="0">
                <a:solidFill>
                  <a:schemeClr val="bg1"/>
                </a:solidFill>
                <a:sym typeface="Symbol" panose="05050102010706020507" pitchFamily="18" charset="2"/>
              </a:rPr>
              <a:t>10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21, </a:t>
            </a:r>
            <a:r>
              <a:rPr lang="en-US" altLang="zh-TW" dirty="0" smtClean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22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33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41, </a:t>
            </a:r>
            <a:r>
              <a:rPr lang="en-US" altLang="zh-TW" dirty="0" smtClean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50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60</a:t>
            </a:r>
            <a:r>
              <a:rPr lang="en-US" altLang="zh-TW" dirty="0">
                <a:solidFill>
                  <a:schemeClr val="bg1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80</a:t>
            </a:r>
            <a:r>
              <a:rPr lang="en-US" altLang="zh-TW" sz="2400" dirty="0" smtClean="0">
                <a:solidFill>
                  <a:schemeClr val="bg1"/>
                </a:solidFill>
                <a:sym typeface="Symbol" panose="05050102010706020507" pitchFamily="18" charset="2"/>
              </a:rPr>
              <a:t>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 smtClean="0">
                <a:solidFill>
                  <a:schemeClr val="bg1"/>
                </a:solidFill>
              </a:rPr>
              <a:t>Then any </a:t>
            </a:r>
            <a:r>
              <a:rPr lang="en-US" altLang="zh-TW" dirty="0">
                <a:solidFill>
                  <a:schemeClr val="bg1"/>
                </a:solidFill>
              </a:rPr>
              <a:t>LCS of </a:t>
            </a:r>
            <a:r>
              <a:rPr lang="en-US" altLang="zh-TW" i="1" dirty="0" smtClean="0">
                <a:solidFill>
                  <a:schemeClr val="bg1"/>
                </a:solidFill>
              </a:rPr>
              <a:t>A</a:t>
            </a:r>
            <a:r>
              <a:rPr lang="en-US" altLang="zh-TW" dirty="0" smtClean="0">
                <a:solidFill>
                  <a:schemeClr val="bg1"/>
                </a:solidFill>
              </a:rPr>
              <a:t> and </a:t>
            </a:r>
            <a:r>
              <a:rPr lang="en-US" altLang="zh-TW" i="1" dirty="0" smtClean="0">
                <a:solidFill>
                  <a:schemeClr val="bg1"/>
                </a:solidFill>
              </a:rPr>
              <a:t>B</a:t>
            </a:r>
            <a:r>
              <a:rPr lang="en-US" altLang="zh-TW" dirty="0" smtClean="0">
                <a:solidFill>
                  <a:schemeClr val="bg1"/>
                </a:solidFill>
              </a:rPr>
              <a:t> is an LIS of </a:t>
            </a:r>
            <a:r>
              <a:rPr lang="en-US" altLang="zh-TW" i="1" dirty="0" smtClean="0">
                <a:solidFill>
                  <a:schemeClr val="bg1"/>
                </a:solidFill>
              </a:rPr>
              <a:t>A</a:t>
            </a:r>
            <a:r>
              <a:rPr lang="en-US" altLang="zh-TW" dirty="0" smtClean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29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31471" y="188913"/>
            <a:ext cx="8281057" cy="899788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Reducing </a:t>
            </a:r>
            <a:r>
              <a:rPr lang="en-US" altLang="zh-TW" sz="3600" dirty="0" smtClean="0"/>
              <a:t>LIS Problem to LCS </a:t>
            </a:r>
            <a:r>
              <a:rPr lang="en-US" altLang="zh-TW" sz="3600" dirty="0"/>
              <a:t>Problem</a:t>
            </a:r>
            <a:endParaRPr lang="en-US" altLang="zh-TW" sz="3600" dirty="0" smtClean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342043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/>
              <a:t>Create a copy of the original array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Sort </a:t>
            </a:r>
            <a:r>
              <a:rPr lang="en-US" altLang="zh-TW" dirty="0"/>
              <a:t>the copy of the original array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Remove </a:t>
            </a:r>
            <a:r>
              <a:rPr lang="en-US" altLang="zh-TW" dirty="0">
                <a:solidFill>
                  <a:schemeClr val="bg1"/>
                </a:solidFill>
              </a:rPr>
              <a:t>all the duplicates from the copy</a:t>
            </a:r>
            <a:r>
              <a:rPr lang="en-US" altLang="zh-TW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</a:rPr>
              <a:t>Perform </a:t>
            </a:r>
            <a:r>
              <a:rPr lang="en-US" altLang="zh-TW" dirty="0">
                <a:solidFill>
                  <a:schemeClr val="bg1"/>
                </a:solidFill>
              </a:rPr>
              <a:t>LCS of original sequence with its modified copy.</a:t>
            </a:r>
            <a:endParaRPr lang="en-US" altLang="zh-TW" dirty="0" smtClean="0">
              <a:solidFill>
                <a:schemeClr val="bg1"/>
              </a:solidFill>
            </a:endParaRPr>
          </a:p>
          <a:p>
            <a:endParaRPr lang="en-US" altLang="zh-TW" dirty="0"/>
          </a:p>
          <a:p>
            <a:pPr>
              <a:tabLst>
                <a:tab pos="449263" algn="l"/>
              </a:tabLst>
            </a:pPr>
            <a:r>
              <a:rPr lang="en-US" altLang="zh-TW" dirty="0" smtClean="0"/>
              <a:t>Let	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10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22,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9,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33,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21,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50,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41,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60, 80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dirty="0" smtClean="0"/>
          </a:p>
          <a:p>
            <a:pPr marL="449263"/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9, 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22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33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41,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50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60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80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dirty="0"/>
          </a:p>
          <a:p>
            <a:r>
              <a:rPr lang="en-US" altLang="zh-TW" dirty="0" smtClean="0">
                <a:solidFill>
                  <a:schemeClr val="bg1"/>
                </a:solidFill>
              </a:rPr>
              <a:t>Then any </a:t>
            </a:r>
            <a:r>
              <a:rPr lang="en-US" altLang="zh-TW" dirty="0">
                <a:solidFill>
                  <a:schemeClr val="bg1"/>
                </a:solidFill>
              </a:rPr>
              <a:t>LCS of </a:t>
            </a:r>
            <a:r>
              <a:rPr lang="en-US" altLang="zh-TW" i="1" dirty="0" smtClean="0">
                <a:solidFill>
                  <a:schemeClr val="bg1"/>
                </a:solidFill>
              </a:rPr>
              <a:t>A</a:t>
            </a:r>
            <a:r>
              <a:rPr lang="en-US" altLang="zh-TW" dirty="0" smtClean="0">
                <a:solidFill>
                  <a:schemeClr val="bg1"/>
                </a:solidFill>
              </a:rPr>
              <a:t> and </a:t>
            </a:r>
            <a:r>
              <a:rPr lang="en-US" altLang="zh-TW" i="1" dirty="0" smtClean="0">
                <a:solidFill>
                  <a:schemeClr val="bg1"/>
                </a:solidFill>
              </a:rPr>
              <a:t>B</a:t>
            </a:r>
            <a:r>
              <a:rPr lang="en-US" altLang="zh-TW" dirty="0" smtClean="0">
                <a:solidFill>
                  <a:schemeClr val="bg1"/>
                </a:solidFill>
              </a:rPr>
              <a:t> is an LIS of </a:t>
            </a:r>
            <a:r>
              <a:rPr lang="en-US" altLang="zh-TW" i="1" dirty="0" smtClean="0">
                <a:solidFill>
                  <a:schemeClr val="bg1"/>
                </a:solidFill>
              </a:rPr>
              <a:t>A</a:t>
            </a:r>
            <a:r>
              <a:rPr lang="en-US" altLang="zh-TW" dirty="0" smtClean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667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31471" y="188913"/>
            <a:ext cx="8281057" cy="899788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Reducing </a:t>
            </a:r>
            <a:r>
              <a:rPr lang="en-US" altLang="zh-TW" sz="3600" dirty="0" smtClean="0"/>
              <a:t>LIS Problem to LCS </a:t>
            </a:r>
            <a:r>
              <a:rPr lang="en-US" altLang="zh-TW" sz="3600" dirty="0"/>
              <a:t>Problem</a:t>
            </a:r>
            <a:endParaRPr lang="en-US" altLang="zh-TW" sz="3600" dirty="0" smtClean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342043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/>
              <a:t>Create a copy of the original array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Sort </a:t>
            </a:r>
            <a:r>
              <a:rPr lang="en-US" altLang="zh-TW" dirty="0"/>
              <a:t>the copy of the original array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Remove </a:t>
            </a:r>
            <a:r>
              <a:rPr lang="en-US" altLang="zh-TW" dirty="0"/>
              <a:t>all the duplicates from the copy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Perform </a:t>
            </a:r>
            <a:r>
              <a:rPr lang="en-US" altLang="zh-TW" dirty="0"/>
              <a:t>LCS of original sequence with its modified copy.</a:t>
            </a:r>
            <a:endParaRPr lang="en-US" altLang="zh-TW" dirty="0" smtClean="0"/>
          </a:p>
          <a:p>
            <a:endParaRPr lang="en-US" altLang="zh-TW" dirty="0"/>
          </a:p>
          <a:p>
            <a:pPr>
              <a:tabLst>
                <a:tab pos="449263" algn="l"/>
              </a:tabLst>
            </a:pPr>
            <a:r>
              <a:rPr lang="en-US" altLang="zh-TW" dirty="0" smtClean="0"/>
              <a:t>Let	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10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22,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9,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33,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21,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50,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41,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60, 80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dirty="0" smtClean="0"/>
          </a:p>
          <a:p>
            <a:pPr marL="449263"/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9, </a:t>
            </a:r>
            <a:r>
              <a:rPr lang="en-US" altLang="zh-TW" dirty="0" smtClean="0">
                <a:solidFill>
                  <a:srgbClr val="000000"/>
                </a:solidFill>
                <a:sym typeface="Symbol" panose="05050102010706020507" pitchFamily="18" charset="2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22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33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41,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50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60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80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dirty="0"/>
          </a:p>
          <a:p>
            <a:r>
              <a:rPr lang="en-US" altLang="zh-TW" dirty="0" smtClean="0"/>
              <a:t>Then any </a:t>
            </a:r>
            <a:r>
              <a:rPr lang="en-US" altLang="zh-TW" dirty="0">
                <a:solidFill>
                  <a:srgbClr val="000000"/>
                </a:solidFill>
              </a:rPr>
              <a:t>LCS of </a:t>
            </a:r>
            <a:r>
              <a:rPr lang="en-US" altLang="zh-TW" i="1" dirty="0" smtClean="0">
                <a:solidFill>
                  <a:srgbClr val="000000"/>
                </a:solidFill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 and </a:t>
            </a:r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</a:rPr>
              <a:t> is an LIS of </a:t>
            </a:r>
            <a:r>
              <a:rPr lang="en-US" altLang="zh-TW" i="1" dirty="0" smtClean="0">
                <a:solidFill>
                  <a:srgbClr val="000000"/>
                </a:solidFill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198270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31471" y="188913"/>
            <a:ext cx="8281057" cy="899788"/>
          </a:xfrm>
        </p:spPr>
        <p:txBody>
          <a:bodyPr/>
          <a:lstStyle/>
          <a:p>
            <a:pPr eaLnBrk="1" hangingPunct="1"/>
            <a:r>
              <a:rPr lang="en-US" altLang="zh-TW" sz="3600" dirty="0"/>
              <a:t>Reducing </a:t>
            </a:r>
            <a:r>
              <a:rPr lang="en-US" altLang="zh-TW" sz="3600" dirty="0" smtClean="0"/>
              <a:t>LIS Problem to LCS </a:t>
            </a:r>
            <a:r>
              <a:rPr lang="en-US" altLang="zh-TW" sz="3600" dirty="0"/>
              <a:t>Problem</a:t>
            </a:r>
            <a:endParaRPr lang="en-US" altLang="zh-TW" sz="3600" dirty="0" smtClean="0"/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431471" y="1268724"/>
            <a:ext cx="8281057" cy="342043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/>
              <a:t>Create a copy of the original array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Sort </a:t>
            </a:r>
            <a:r>
              <a:rPr lang="en-US" altLang="zh-TW" dirty="0"/>
              <a:t>the copy of the original array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Remove </a:t>
            </a:r>
            <a:r>
              <a:rPr lang="en-US" altLang="zh-TW" dirty="0"/>
              <a:t>all the duplicates from the copy</a:t>
            </a:r>
            <a:r>
              <a:rPr lang="en-US" altLang="zh-TW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dirty="0" smtClean="0"/>
              <a:t>Perform </a:t>
            </a:r>
            <a:r>
              <a:rPr lang="en-US" altLang="zh-TW" dirty="0"/>
              <a:t>LCS of original sequence with its modified copy.</a:t>
            </a:r>
            <a:endParaRPr lang="en-US" altLang="zh-TW" dirty="0" smtClean="0"/>
          </a:p>
          <a:p>
            <a:endParaRPr lang="en-US" altLang="zh-TW" dirty="0"/>
          </a:p>
          <a:p>
            <a:pPr>
              <a:tabLst>
                <a:tab pos="449263" algn="l"/>
              </a:tabLst>
            </a:pPr>
            <a:r>
              <a:rPr lang="en-US" altLang="zh-TW" dirty="0" smtClean="0"/>
              <a:t>Let	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 smtClean="0"/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22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9,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33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21,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50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41,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60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dirty="0" smtClean="0"/>
          </a:p>
          <a:p>
            <a:pPr marL="449263"/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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9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10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21,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22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33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41,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50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60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,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  <a:r>
              <a:rPr lang="en-US" altLang="zh-TW" sz="2400" dirty="0" smtClean="0">
                <a:solidFill>
                  <a:srgbClr val="000000"/>
                </a:solidFill>
                <a:sym typeface="Symbol" panose="05050102010706020507" pitchFamily="18" charset="2"/>
              </a:rPr>
              <a:t></a:t>
            </a:r>
            <a:endParaRPr lang="en-US" altLang="zh-TW" dirty="0"/>
          </a:p>
          <a:p>
            <a:r>
              <a:rPr lang="en-US" altLang="zh-TW" dirty="0" smtClean="0"/>
              <a:t>Then any </a:t>
            </a:r>
            <a:r>
              <a:rPr lang="en-US" altLang="zh-TW" dirty="0">
                <a:solidFill>
                  <a:srgbClr val="000000"/>
                </a:solidFill>
              </a:rPr>
              <a:t>LCS of </a:t>
            </a:r>
            <a:r>
              <a:rPr lang="en-US" altLang="zh-TW" i="1" dirty="0" smtClean="0">
                <a:solidFill>
                  <a:srgbClr val="000000"/>
                </a:solidFill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 and </a:t>
            </a:r>
            <a:r>
              <a:rPr lang="en-US" altLang="zh-TW" i="1" dirty="0" smtClean="0">
                <a:solidFill>
                  <a:srgbClr val="000000"/>
                </a:solidFill>
              </a:rPr>
              <a:t>B</a:t>
            </a:r>
            <a:r>
              <a:rPr lang="en-US" altLang="zh-TW" dirty="0" smtClean="0">
                <a:solidFill>
                  <a:srgbClr val="000000"/>
                </a:solidFill>
              </a:rPr>
              <a:t> is an LIS of </a:t>
            </a:r>
            <a:r>
              <a:rPr lang="en-US" altLang="zh-TW" i="1" dirty="0" smtClean="0">
                <a:solidFill>
                  <a:srgbClr val="000000"/>
                </a:solidFill>
              </a:rPr>
              <a:t>A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1116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11066</TotalTime>
  <Words>29501</Words>
  <Application>Microsoft Office PowerPoint</Application>
  <PresentationFormat>如螢幕大小 (4:3)</PresentationFormat>
  <Paragraphs>10110</Paragraphs>
  <Slides>170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170</vt:i4>
      </vt:variant>
    </vt:vector>
  </HeadingPairs>
  <TitlesOfParts>
    <vt:vector size="181" baseType="lpstr">
      <vt:lpstr>細明體</vt:lpstr>
      <vt:lpstr>新細明體</vt:lpstr>
      <vt:lpstr>Arial</vt:lpstr>
      <vt:lpstr>Calibri</vt:lpstr>
      <vt:lpstr>Cambria Math</vt:lpstr>
      <vt:lpstr>Lucida Console</vt:lpstr>
      <vt:lpstr>Symbol</vt:lpstr>
      <vt:lpstr>Tahoma</vt:lpstr>
      <vt:lpstr>Times New Roman</vt:lpstr>
      <vt:lpstr>Wingdings 3</vt:lpstr>
      <vt:lpstr>Blends</vt:lpstr>
      <vt:lpstr>Longest Increasing Subsequence</vt:lpstr>
      <vt:lpstr>Longest Increasing Subsequence</vt:lpstr>
      <vt:lpstr>Longest Increasing Subsequence</vt:lpstr>
      <vt:lpstr>Longest Increasing Subsequence</vt:lpstr>
      <vt:lpstr>Longest Increasing Subsequence</vt:lpstr>
      <vt:lpstr>Longest Increasing Subsequence</vt:lpstr>
      <vt:lpstr>Longest Increasing Subsequence</vt:lpstr>
      <vt:lpstr>Longest Increasing Subsequence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Robinson-Schensted-Knuth Algorithm</vt:lpstr>
      <vt:lpstr>Robinson-Schensted-Knuth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Robinson-Schensted-Knuth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Robinson-Schensted-Knuth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Robinson-Schensted-Knuth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Robinson-Schensted-Knuth Algorithm</vt:lpstr>
      <vt:lpstr>Reducing LCS Problem to LIS Problem</vt:lpstr>
      <vt:lpstr>Reducing LCS Problem to LIS Problem</vt:lpstr>
      <vt:lpstr>Reducing LCS Problem to LIS Problem</vt:lpstr>
      <vt:lpstr>Reducing LCS Problem to LIS Problem</vt:lpstr>
      <vt:lpstr>Reducing LCS Problem to LIS Problem</vt:lpstr>
      <vt:lpstr>Reducing LIS Problem to LCS Problem</vt:lpstr>
      <vt:lpstr>Reducing LIS Problem to LCS Problem</vt:lpstr>
      <vt:lpstr>Reducing LIS Problem to LCS Problem</vt:lpstr>
      <vt:lpstr>Reducing LIS Problem to LCS Problem</vt:lpstr>
      <vt:lpstr>Reducing LIS Problem to LCS Problem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607</cp:revision>
  <dcterms:created xsi:type="dcterms:W3CDTF">2001-09-06T13:56:50Z</dcterms:created>
  <dcterms:modified xsi:type="dcterms:W3CDTF">2025-09-24T10:56:06Z</dcterms:modified>
</cp:coreProperties>
</file>