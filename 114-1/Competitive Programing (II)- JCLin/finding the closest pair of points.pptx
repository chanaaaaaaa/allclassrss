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256" r:id="rId2"/>
    <p:sldId id="561" r:id="rId3"/>
    <p:sldId id="581" r:id="rId4"/>
    <p:sldId id="582" r:id="rId5"/>
    <p:sldId id="583" r:id="rId6"/>
    <p:sldId id="614" r:id="rId7"/>
    <p:sldId id="584" r:id="rId8"/>
    <p:sldId id="589" r:id="rId9"/>
    <p:sldId id="590" r:id="rId10"/>
    <p:sldId id="600" r:id="rId11"/>
    <p:sldId id="591" r:id="rId12"/>
    <p:sldId id="601" r:id="rId13"/>
    <p:sldId id="606" r:id="rId14"/>
    <p:sldId id="607" r:id="rId15"/>
    <p:sldId id="608" r:id="rId16"/>
    <p:sldId id="609" r:id="rId17"/>
    <p:sldId id="610" r:id="rId18"/>
    <p:sldId id="616" r:id="rId19"/>
    <p:sldId id="570" r:id="rId20"/>
    <p:sldId id="562" r:id="rId21"/>
    <p:sldId id="563" r:id="rId22"/>
    <p:sldId id="564" r:id="rId23"/>
    <p:sldId id="565" r:id="rId24"/>
    <p:sldId id="592" r:id="rId25"/>
    <p:sldId id="566" r:id="rId26"/>
    <p:sldId id="567" r:id="rId27"/>
    <p:sldId id="572" r:id="rId28"/>
    <p:sldId id="573" r:id="rId29"/>
    <p:sldId id="574" r:id="rId30"/>
    <p:sldId id="598" r:id="rId31"/>
    <p:sldId id="597" r:id="rId32"/>
    <p:sldId id="593" r:id="rId33"/>
    <p:sldId id="594" r:id="rId34"/>
    <p:sldId id="602" r:id="rId35"/>
    <p:sldId id="575" r:id="rId36"/>
  </p:sldIdLst>
  <p:sldSz cx="9144000" cy="6858000" type="screen4x3"/>
  <p:notesSz cx="6734175" cy="98663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000FF"/>
    <a:srgbClr val="0000CC"/>
    <a:srgbClr val="000000"/>
    <a:srgbClr val="7F7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50" autoAdjust="0"/>
    <p:restoredTop sz="94590" autoAdjust="0"/>
  </p:normalViewPr>
  <p:slideViewPr>
    <p:cSldViewPr showGuides="1">
      <p:cViewPr varScale="1">
        <p:scale>
          <a:sx n="96" d="100"/>
          <a:sy n="96" d="100"/>
        </p:scale>
        <p:origin x="221" y="72"/>
      </p:cViewPr>
      <p:guideLst>
        <p:guide orient="horz" pos="397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E1142711-BC43-47F7-82A4-FD033B4833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3666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41363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79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BE065BA5-F94E-42AC-AC84-999F9EE485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4888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1448" y="2708908"/>
            <a:ext cx="8641104" cy="1440184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69875" indent="-269875">
              <a:buFont typeface="Arial" panose="020B0604020202020204" pitchFamily="34" charset="0"/>
              <a:buChar char="•"/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6564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548632"/>
            <a:ext cx="8281057" cy="5760736"/>
          </a:xfrm>
        </p:spPr>
        <p:txBody>
          <a:bodyPr/>
          <a:lstStyle>
            <a:lvl1pPr marL="269875" indent="-269875">
              <a:buFont typeface="Arial" panose="020B0604020202020204" pitchFamily="34" charset="0"/>
              <a:buChar char="•"/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618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576009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1589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576009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07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48" y="548632"/>
            <a:ext cx="8641103" cy="5760093"/>
          </a:xfrm>
        </p:spPr>
        <p:txBody>
          <a:bodyPr wrap="none"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160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494" y="4509138"/>
            <a:ext cx="7921012" cy="1799587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454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368609"/>
            <a:ext cx="8281057" cy="1800230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51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3"/>
          <p:cNvSpPr>
            <a:spLocks noGrp="1" noChangeArrowheads="1"/>
          </p:cNvSpPr>
          <p:nvPr>
            <p:ph type="title"/>
          </p:nvPr>
        </p:nvSpPr>
        <p:spPr bwMode="auto">
          <a:xfrm>
            <a:off x="431471" y="188913"/>
            <a:ext cx="8281057" cy="89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6387" name="Rectangle 10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471" y="1268723"/>
            <a:ext cx="8281057" cy="522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2" r:id="rId3"/>
    <p:sldLayoutId id="2147483664" r:id="rId4"/>
    <p:sldLayoutId id="2147483658" r:id="rId5"/>
    <p:sldLayoutId id="2147483666" r:id="rId6"/>
    <p:sldLayoutId id="2147483667" r:id="rId7"/>
    <p:sldLayoutId id="2147483665" r:id="rId8"/>
    <p:sldLayoutId id="2147483663" r:id="rId9"/>
    <p:sldLayoutId id="2147483655" r:id="rId10"/>
    <p:sldLayoutId id="214748365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marL="838200" indent="-838200" eaLnBrk="1" hangingPunct="1"/>
            <a:r>
              <a:rPr lang="en-US" altLang="zh-TW" dirty="0"/>
              <a:t>Finding the </a:t>
            </a:r>
            <a:r>
              <a:rPr lang="en-US" altLang="zh-TW" dirty="0" smtClean="0"/>
              <a:t>Closest Pair </a:t>
            </a:r>
            <a:r>
              <a:rPr lang="en-US" altLang="zh-TW" dirty="0"/>
              <a:t>of </a:t>
            </a:r>
            <a:r>
              <a:rPr lang="en-US" altLang="zh-TW" dirty="0" smtClean="0"/>
              <a:t>Points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Closest Pair </a:t>
            </a:r>
            <a:r>
              <a:rPr lang="en-US" altLang="zh-TW" dirty="0"/>
              <a:t>of </a:t>
            </a:r>
            <a:r>
              <a:rPr lang="en-US" altLang="zh-TW" dirty="0" smtClean="0"/>
              <a:t>Points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 rIns="72000"/>
              <a:lstStyle/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 smtClean="0"/>
                  <a:t>We now consider the problem of finding the closest pair of points in a set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of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ym typeface="Symbol" panose="05050102010706020507" pitchFamily="18" charset="2"/>
                  </a:rPr>
                  <a:t>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2 points</a:t>
                </a:r>
                <a:r>
                  <a:rPr lang="en-US" altLang="zh-TW" dirty="0" smtClean="0"/>
                  <a:t>.</a:t>
                </a:r>
              </a:p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 smtClean="0"/>
                  <a:t>“</a:t>
                </a:r>
                <a:r>
                  <a:rPr lang="en-US" altLang="zh-TW" dirty="0"/>
                  <a:t>Closest” refers to the usual </a:t>
                </a:r>
                <a:r>
                  <a:rPr lang="en-US" altLang="zh-TW" dirty="0" err="1"/>
                  <a:t>euclidean</a:t>
                </a:r>
                <a:r>
                  <a:rPr lang="en-US" altLang="zh-TW" dirty="0"/>
                  <a:t> distance: the distance </a:t>
                </a:r>
                <a:r>
                  <a:rPr lang="en-US" altLang="zh-TW" dirty="0" smtClean="0"/>
                  <a:t>between points </a:t>
                </a:r>
                <a:r>
                  <a:rPr lang="en-US" altLang="zh-TW" i="1" dirty="0" err="1"/>
                  <a:t>p</a:t>
                </a:r>
                <a:r>
                  <a:rPr lang="en-US" altLang="zh-TW" baseline="-25000" dirty="0" err="1"/>
                  <a:t>1</a:t>
                </a:r>
                <a:r>
                  <a:rPr lang="en-US" altLang="zh-TW" dirty="0"/>
                  <a:t>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=</a:t>
                </a:r>
                <a:r>
                  <a:rPr lang="en-US" altLang="zh-TW" dirty="0" smtClean="0"/>
                  <a:t> (</a:t>
                </a:r>
                <a:r>
                  <a:rPr lang="en-US" altLang="zh-TW" i="1" dirty="0" err="1" smtClean="0"/>
                  <a:t>x</a:t>
                </a:r>
                <a:r>
                  <a:rPr lang="en-US" altLang="zh-TW" baseline="-25000" dirty="0" err="1" smtClean="0"/>
                  <a:t>1</a:t>
                </a:r>
                <a:r>
                  <a:rPr lang="en-US" altLang="zh-TW" dirty="0" smtClean="0"/>
                  <a:t>, </a:t>
                </a:r>
                <a:r>
                  <a:rPr lang="en-US" altLang="zh-TW" i="1" dirty="0" err="1" smtClean="0"/>
                  <a:t>y</a:t>
                </a:r>
                <a:r>
                  <a:rPr lang="en-US" altLang="zh-TW" baseline="-25000" dirty="0" err="1" smtClean="0"/>
                  <a:t>1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and 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-25000" dirty="0" err="1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baseline="-25000" dirty="0" err="1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baseline="-25000" dirty="0" err="1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 smtClean="0"/>
                  <a:t>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 b="0" i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b="0" i="1" smtClean="0"/>
                          <m:t>x</m:t>
                        </m:r>
                        <m:r>
                          <m:rPr>
                            <m:nor/>
                          </m:rPr>
                          <a:rPr lang="en-US" altLang="zh-TW" b="0" i="0" baseline="-25000" smtClean="0"/>
                          <m:t>1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b="0" i="1" smtClean="0"/>
                          <m:t>x</m:t>
                        </m:r>
                        <m:r>
                          <m:rPr>
                            <m:nor/>
                          </m:rPr>
                          <a:rPr lang="en-US" altLang="zh-TW" b="0" i="0" baseline="-25000" smtClean="0"/>
                          <m:t>2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zh-TW" b="0" i="0" baseline="30000" smtClean="0"/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TW" b="0" i="0" spc="30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b="0" i="1" smtClean="0"/>
                          <m:t>y</m:t>
                        </m:r>
                        <m:r>
                          <m:rPr>
                            <m:nor/>
                          </m:rPr>
                          <a:rPr lang="en-US" altLang="zh-TW" b="0" i="0" baseline="-25000" smtClean="0"/>
                          <m:t>1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b="0" i="1" smtClean="0"/>
                          <m:t>y</m:t>
                        </m:r>
                        <m:r>
                          <m:rPr>
                            <m:nor/>
                          </m:rPr>
                          <a:rPr lang="en-US" altLang="zh-TW" b="0" i="0" baseline="-25000" smtClean="0"/>
                          <m:t>2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zh-TW" b="0" i="0" baseline="30000" smtClean="0"/>
                          <m:t>2</m:t>
                        </m:r>
                      </m:e>
                    </m:rad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 smtClean="0"/>
                  <a:t>Two points in </a:t>
                </a:r>
                <a:r>
                  <a:rPr lang="en-US" altLang="zh-TW" dirty="0"/>
                  <a:t>set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 may be coincident, in which case the distance between them is zero</a:t>
                </a:r>
                <a:r>
                  <a:rPr lang="en-US" altLang="zh-TW" dirty="0" smtClean="0"/>
                  <a:t>.</a:t>
                </a:r>
              </a:p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 smtClean="0"/>
                  <a:t>A </a:t>
                </a:r>
                <a:r>
                  <a:rPr lang="en-US" altLang="zh-TW" dirty="0"/>
                  <a:t>brute-force closest-pair algorithm simply looks at all </a:t>
                </a:r>
                <a:r>
                  <a:rPr lang="en-US" altLang="zh-TW" dirty="0" smtClean="0"/>
                  <a:t>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altLang="zh-TW" sz="2000" b="0" i="1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000" b="0" i="0" smtClean="0"/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=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Q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/>
                  <a:t>) pairs of </a:t>
                </a:r>
                <a:r>
                  <a:rPr lang="en-US" altLang="zh-TW" dirty="0"/>
                  <a:t>points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altLang="zh-TW" sz="1600" dirty="0" smtClean="0">
                  <a:latin typeface="Lucida Console" panose="020B0609040504020204" pitchFamily="49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double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closestPair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{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double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minDist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10000;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i = 0; i &lt; N - 1; ++i 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nb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nb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nb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nb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nb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j = i + 1; j &lt; N; ++j 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minDist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min(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minDist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,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dist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point</a:t>
                </a:r>
                <a:r>
                  <a:rPr lang="en-US" altLang="zh-TW" sz="1600" dirty="0">
                    <a:solidFill>
                      <a:srgbClr val="00808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i </a:t>
                </a:r>
                <a:r>
                  <a:rPr lang="en-US" altLang="zh-TW" sz="1600" dirty="0">
                    <a:solidFill>
                      <a:srgbClr val="00808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, point</a:t>
                </a:r>
                <a:r>
                  <a:rPr lang="en-US" altLang="zh-TW" sz="1600" dirty="0">
                    <a:solidFill>
                      <a:srgbClr val="00808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j </a:t>
                </a:r>
                <a:r>
                  <a:rPr lang="en-US" altLang="zh-TW" sz="1600" dirty="0">
                    <a:solidFill>
                      <a:srgbClr val="00808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)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);</a:t>
                </a:r>
                <a:endParaRPr lang="zh-TW" altLang="en-US" sz="1600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return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minDist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}</a:t>
                </a:r>
                <a:endParaRPr lang="en-US" altLang="zh-TW" sz="1600" dirty="0" smtClean="0">
                  <a:latin typeface="Lucida Console" panose="020B0609040504020204" pitchFamily="49" charset="0"/>
                </a:endParaRPr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4" t="-817" r="-1988" b="-38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90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 bwMode="auto">
          <a:xfrm flipH="1">
            <a:off x="2591747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6" name="直線接點 5"/>
          <p:cNvCxnSpPr/>
          <p:nvPr/>
        </p:nvCxnSpPr>
        <p:spPr bwMode="auto">
          <a:xfrm flipH="1">
            <a:off x="2231701" y="4509138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7" name="直線接點 6"/>
          <p:cNvCxnSpPr/>
          <p:nvPr/>
        </p:nvCxnSpPr>
        <p:spPr bwMode="auto">
          <a:xfrm flipH="1">
            <a:off x="2411724" y="324897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8" name="直線接點 7"/>
          <p:cNvCxnSpPr/>
          <p:nvPr/>
        </p:nvCxnSpPr>
        <p:spPr bwMode="auto">
          <a:xfrm flipH="1">
            <a:off x="277177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9" name="直線接點 8"/>
          <p:cNvCxnSpPr/>
          <p:nvPr/>
        </p:nvCxnSpPr>
        <p:spPr bwMode="auto">
          <a:xfrm flipH="1">
            <a:off x="3671885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0" name="直線接點 9"/>
          <p:cNvCxnSpPr/>
          <p:nvPr/>
        </p:nvCxnSpPr>
        <p:spPr bwMode="auto">
          <a:xfrm flipH="1">
            <a:off x="4211954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1" name="直線接點 10"/>
          <p:cNvCxnSpPr/>
          <p:nvPr/>
        </p:nvCxnSpPr>
        <p:spPr bwMode="auto">
          <a:xfrm flipH="1">
            <a:off x="4031931" y="414909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3491862" y="504920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4752023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4" name="直線接點 13"/>
          <p:cNvCxnSpPr/>
          <p:nvPr/>
        </p:nvCxnSpPr>
        <p:spPr bwMode="auto">
          <a:xfrm flipH="1">
            <a:off x="5292092" y="306895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5" name="直線接點 14"/>
          <p:cNvCxnSpPr/>
          <p:nvPr/>
        </p:nvCxnSpPr>
        <p:spPr bwMode="auto">
          <a:xfrm flipH="1">
            <a:off x="4752023" y="378904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 flipH="1">
            <a:off x="5292092" y="5229230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7" name="直線接點 16"/>
          <p:cNvCxnSpPr/>
          <p:nvPr/>
        </p:nvCxnSpPr>
        <p:spPr bwMode="auto">
          <a:xfrm flipH="1">
            <a:off x="6372230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 flipH="1">
            <a:off x="6372230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9" name="直線接點 18"/>
          <p:cNvCxnSpPr/>
          <p:nvPr/>
        </p:nvCxnSpPr>
        <p:spPr bwMode="auto">
          <a:xfrm flipH="1">
            <a:off x="6732276" y="486918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0" name="直線接點 19"/>
          <p:cNvCxnSpPr/>
          <p:nvPr/>
        </p:nvCxnSpPr>
        <p:spPr bwMode="auto">
          <a:xfrm flipH="1">
            <a:off x="637223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sp>
        <p:nvSpPr>
          <p:cNvPr id="40" name="矩形 39"/>
          <p:cNvSpPr/>
          <p:nvPr/>
        </p:nvSpPr>
        <p:spPr bwMode="auto">
          <a:xfrm>
            <a:off x="4752024" y="3609023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p</a:t>
            </a:r>
            <a:endParaRPr kumimoji="1" lang="zh-TW" altLang="en-US" sz="2400" b="0" i="1" u="none" strike="noStrike" kern="1200" cap="none" spc="0" normalizeH="0" baseline="-250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9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Closest Pair of Points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431472" y="1268723"/>
                <a:ext cx="8281058" cy="3960507"/>
              </a:xfrm>
            </p:spPr>
            <p:txBody>
              <a:bodyPr rIns="72000"/>
              <a:lstStyle/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 smtClean="0"/>
                  <a:t>We now consider the problem of finding the closest pair of points in a set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of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ym typeface="Symbol" panose="05050102010706020507" pitchFamily="18" charset="2"/>
                  </a:rPr>
                  <a:t>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2 points</a:t>
                </a:r>
                <a:r>
                  <a:rPr lang="en-US" altLang="zh-TW" dirty="0" smtClean="0"/>
                  <a:t>.</a:t>
                </a:r>
              </a:p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 smtClean="0"/>
                  <a:t>“</a:t>
                </a:r>
                <a:r>
                  <a:rPr lang="en-US" altLang="zh-TW" dirty="0"/>
                  <a:t>Closest” refers to the usual </a:t>
                </a:r>
                <a:r>
                  <a:rPr lang="en-US" altLang="zh-TW" dirty="0" err="1"/>
                  <a:t>euclidean</a:t>
                </a:r>
                <a:r>
                  <a:rPr lang="en-US" altLang="zh-TW" dirty="0"/>
                  <a:t> distance: the distance </a:t>
                </a:r>
                <a:r>
                  <a:rPr lang="en-US" altLang="zh-TW" dirty="0" smtClean="0"/>
                  <a:t>between points </a:t>
                </a:r>
                <a:r>
                  <a:rPr lang="en-US" altLang="zh-TW" i="1" dirty="0" err="1"/>
                  <a:t>p</a:t>
                </a:r>
                <a:r>
                  <a:rPr lang="en-US" altLang="zh-TW" baseline="-25000" dirty="0" err="1"/>
                  <a:t>1</a:t>
                </a:r>
                <a:r>
                  <a:rPr lang="en-US" altLang="zh-TW" dirty="0"/>
                  <a:t>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=</a:t>
                </a:r>
                <a:r>
                  <a:rPr lang="en-US" altLang="zh-TW" dirty="0" smtClean="0"/>
                  <a:t> (</a:t>
                </a:r>
                <a:r>
                  <a:rPr lang="en-US" altLang="zh-TW" i="1" dirty="0" err="1" smtClean="0"/>
                  <a:t>x</a:t>
                </a:r>
                <a:r>
                  <a:rPr lang="en-US" altLang="zh-TW" baseline="-25000" dirty="0" err="1" smtClean="0"/>
                  <a:t>1</a:t>
                </a:r>
                <a:r>
                  <a:rPr lang="en-US" altLang="zh-TW" dirty="0" smtClean="0"/>
                  <a:t>, </a:t>
                </a:r>
                <a:r>
                  <a:rPr lang="en-US" altLang="zh-TW" i="1" dirty="0" err="1" smtClean="0"/>
                  <a:t>y</a:t>
                </a:r>
                <a:r>
                  <a:rPr lang="en-US" altLang="zh-TW" baseline="-25000" dirty="0" err="1" smtClean="0"/>
                  <a:t>1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and 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-25000" dirty="0" err="1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baseline="-25000" dirty="0" err="1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baseline="-25000" dirty="0" err="1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 smtClean="0"/>
                  <a:t>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 b="0" i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b="0" i="1" smtClean="0"/>
                          <m:t>x</m:t>
                        </m:r>
                        <m:r>
                          <m:rPr>
                            <m:nor/>
                          </m:rPr>
                          <a:rPr lang="en-US" altLang="zh-TW" b="0" i="0" baseline="-25000" smtClean="0"/>
                          <m:t>1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b="0" i="1" smtClean="0"/>
                          <m:t>x</m:t>
                        </m:r>
                        <m:r>
                          <m:rPr>
                            <m:nor/>
                          </m:rPr>
                          <a:rPr lang="en-US" altLang="zh-TW" b="0" i="0" baseline="-25000" smtClean="0"/>
                          <m:t>2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zh-TW" b="0" i="0" baseline="30000" smtClean="0"/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TW" b="0" i="0" spc="30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b="0" i="1" smtClean="0"/>
                          <m:t>y</m:t>
                        </m:r>
                        <m:r>
                          <m:rPr>
                            <m:nor/>
                          </m:rPr>
                          <a:rPr lang="en-US" altLang="zh-TW" b="0" i="0" baseline="-25000" smtClean="0"/>
                          <m:t>1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b="0" i="1" smtClean="0"/>
                          <m:t>y</m:t>
                        </m:r>
                        <m:r>
                          <m:rPr>
                            <m:nor/>
                          </m:rPr>
                          <a:rPr lang="en-US" altLang="zh-TW" b="0" i="0" baseline="-25000" smtClean="0"/>
                          <m:t>2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zh-TW" b="0" i="0" baseline="30000" smtClean="0"/>
                          <m:t>2</m:t>
                        </m:r>
                      </m:e>
                    </m:rad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 smtClean="0"/>
                  <a:t>Two points in </a:t>
                </a:r>
                <a:r>
                  <a:rPr lang="en-US" altLang="zh-TW" dirty="0"/>
                  <a:t>set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 may be coincident, in which case the distance between them is zero</a:t>
                </a:r>
                <a:r>
                  <a:rPr lang="en-US" altLang="zh-TW" dirty="0" smtClean="0"/>
                  <a:t>.</a:t>
                </a:r>
              </a:p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 smtClean="0"/>
                  <a:t>A </a:t>
                </a:r>
                <a:r>
                  <a:rPr lang="en-US" altLang="zh-TW" dirty="0"/>
                  <a:t>brute-force closest-pair algorithm simply looks at all </a:t>
                </a:r>
                <a:r>
                  <a:rPr lang="en-US" altLang="zh-TW" dirty="0" smtClean="0"/>
                  <a:t>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altLang="zh-TW" sz="2000" b="0" i="1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000" b="0" i="0" smtClean="0"/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=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Q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/>
                  <a:t>) pairs of </a:t>
                </a:r>
                <a:r>
                  <a:rPr lang="en-US" altLang="zh-TW" dirty="0"/>
                  <a:t>points</a:t>
                </a:r>
                <a:r>
                  <a:rPr lang="en-US" altLang="zh-TW" dirty="0" smtClean="0"/>
                  <a:t>.</a:t>
                </a:r>
              </a:p>
              <a:p>
                <a:pPr marL="177800" indent="-177800">
                  <a:spcBef>
                    <a:spcPts val="528"/>
                  </a:spcBef>
                </a:pPr>
                <a:r>
                  <a:rPr lang="en-US" altLang="zh-TW" dirty="0"/>
                  <a:t>In this section, we shall describe a divide-and-conquer algorithm </a:t>
                </a:r>
                <a:r>
                  <a:rPr lang="en-US" altLang="zh-TW" dirty="0" smtClean="0"/>
                  <a:t>for this problem.</a:t>
                </a:r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2" y="1268723"/>
                <a:ext cx="8281058" cy="3960507"/>
              </a:xfrm>
              <a:blipFill>
                <a:blip r:embed="rId2"/>
                <a:stretch>
                  <a:fillRect l="-884" t="-1077" r="-1988" b="-1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138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1463" indent="-271463"/>
            <a:r>
              <a:rPr lang="en-US" altLang="zh-TW" dirty="0" smtClean="0"/>
              <a:t>1.	Divide: </a:t>
            </a:r>
            <a:r>
              <a:rPr lang="en-US" altLang="zh-TW" dirty="0">
                <a:solidFill>
                  <a:srgbClr val="000000"/>
                </a:solidFill>
              </a:rPr>
              <a:t>Find a vertical line </a:t>
            </a:r>
            <a:r>
              <a:rPr lang="en-US" altLang="zh-TW" i="1" dirty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 that bisects the point set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into two sets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such that </a:t>
            </a:r>
            <a:r>
              <a:rPr lang="en-US" altLang="zh-TW" spc="300" dirty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zh-TW" i="1" spc="300" baseline="-25000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L</a:t>
            </a:r>
            <a:r>
              <a:rPr lang="en-US" altLang="zh-TW" dirty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spc="300" dirty="0">
                <a:solidFill>
                  <a:srgbClr val="000000"/>
                </a:solidFill>
                <a:sym typeface="Symbol" panose="05050102010706020507" pitchFamily="18" charset="2"/>
              </a:rPr>
              <a:t></a:t>
            </a:r>
            <a:r>
              <a:rPr lang="en-US" altLang="zh-TW" spc="300" dirty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zh-TW" spc="300" dirty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b="1" spc="300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TW" spc="300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2</a:t>
            </a:r>
            <a:r>
              <a:rPr lang="en-US" altLang="zh-TW" b="1" spc="300" dirty="0">
                <a:solidFill>
                  <a:srgbClr val="000000"/>
                </a:solidFill>
                <a:sym typeface="Symbol" panose="05050102010706020507" pitchFamily="18" charset="2"/>
              </a:rPr>
              <a:t></a:t>
            </a:r>
            <a:r>
              <a:rPr lang="en-US" altLang="zh-TW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pc="300" dirty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zh-TW" i="1" spc="300" baseline="-25000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R</a:t>
            </a:r>
            <a:r>
              <a:rPr lang="en-US" altLang="zh-TW" dirty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zh-TW" altLang="en-US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b="1" spc="300" dirty="0">
                <a:solidFill>
                  <a:srgbClr val="000000"/>
                </a:solidFill>
                <a:sym typeface="Symbol" panose="05050102010706020507" pitchFamily="18" charset="2"/>
              </a:rPr>
              <a:t></a:t>
            </a:r>
            <a:r>
              <a:rPr lang="en-US" altLang="zh-TW" spc="300" dirty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zh-TW" spc="300" dirty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b="1" spc="300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TW" spc="300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2</a:t>
            </a:r>
            <a:r>
              <a:rPr lang="en-US" altLang="zh-TW" b="1" spc="300" dirty="0">
                <a:solidFill>
                  <a:srgbClr val="000000"/>
                </a:solidFill>
                <a:sym typeface="Symbol" panose="05050102010706020507" pitchFamily="18" charset="2"/>
              </a:rPr>
              <a:t></a:t>
            </a:r>
            <a:r>
              <a:rPr lang="en-US" altLang="zh-TW" dirty="0" smtClean="0">
                <a:solidFill>
                  <a:srgbClr val="000000"/>
                </a:solidFill>
              </a:rPr>
              <a:t>, all </a:t>
            </a:r>
            <a:r>
              <a:rPr lang="en-US" altLang="zh-TW" dirty="0">
                <a:solidFill>
                  <a:srgbClr val="000000"/>
                </a:solidFill>
              </a:rPr>
              <a:t>points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 are on or to the left of line </a:t>
            </a:r>
            <a:r>
              <a:rPr lang="en-US" altLang="zh-TW" i="1" dirty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and all points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are on or to the right of </a:t>
            </a:r>
            <a:r>
              <a:rPr lang="en-US" altLang="zh-TW" i="1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.</a:t>
            </a:r>
          </a:p>
          <a:p>
            <a:pPr marL="271463" indent="-271463"/>
            <a:r>
              <a:rPr lang="en-US" altLang="zh-TW" dirty="0" smtClean="0"/>
              <a:t>2.	Conquer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000000"/>
                </a:solidFill>
              </a:rPr>
              <a:t>Having divided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into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make two recursive calls</a:t>
            </a:r>
            <a:r>
              <a:rPr lang="en-US" altLang="zh-TW" dirty="0" smtClean="0">
                <a:solidFill>
                  <a:srgbClr val="000000"/>
                </a:solidFill>
              </a:rPr>
              <a:t>, one </a:t>
            </a:r>
            <a:r>
              <a:rPr lang="en-US" altLang="zh-TW" dirty="0">
                <a:solidFill>
                  <a:srgbClr val="000000"/>
                </a:solidFill>
              </a:rPr>
              <a:t>to find the closest pair of points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 and the other to find the closest pair of points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marL="271463" indent="-271463"/>
            <a:r>
              <a:rPr lang="en-US" altLang="zh-TW" dirty="0"/>
              <a:t>3</a:t>
            </a:r>
            <a:r>
              <a:rPr lang="en-US" altLang="zh-TW" dirty="0" smtClean="0"/>
              <a:t>.	Combine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000000"/>
                </a:solidFill>
              </a:rPr>
              <a:t>Let the closest-pair distances returned for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be </a:t>
            </a:r>
            <a:r>
              <a:rPr lang="zh-TW" altLang="en-US" dirty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zh-TW" altLang="en-US" dirty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</a:rPr>
              <a:t>respectively. </a:t>
            </a:r>
            <a:r>
              <a:rPr lang="en-US" altLang="zh-TW" dirty="0" smtClean="0"/>
              <a:t>Let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M</a:t>
            </a:r>
            <a:r>
              <a:rPr lang="en-US" altLang="zh-TW" dirty="0" smtClean="0"/>
              <a:t> be the </a:t>
            </a:r>
            <a:r>
              <a:rPr lang="en-US" altLang="zh-TW" dirty="0"/>
              <a:t>smallest distance between all pairs of points </a:t>
            </a:r>
            <a:r>
              <a:rPr lang="en-US" altLang="zh-TW" spc="300" dirty="0" smtClean="0"/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36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36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) </a:t>
            </a:r>
            <a:r>
              <a:rPr lang="en-US" altLang="zh-TW" dirty="0"/>
              <a:t>where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36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is a point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36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</a:t>
            </a:r>
            <a:r>
              <a:rPr lang="en-US" altLang="zh-TW" dirty="0"/>
              <a:t>is a point in 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. </a:t>
            </a:r>
            <a:r>
              <a:rPr lang="en-US" altLang="zh-TW" dirty="0"/>
              <a:t>Then, the smallest distance is min</a:t>
            </a:r>
            <a:r>
              <a:rPr lang="en-US" altLang="zh-TW" dirty="0" smtClean="0"/>
              <a:t>(</a:t>
            </a:r>
            <a:r>
              <a:rPr lang="zh-TW" altLang="en-US" dirty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,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i="1" spc="300" baseline="-25000" dirty="0" smtClean="0">
                <a:solidFill>
                  <a:srgbClr val="000000"/>
                </a:solidFill>
              </a:rPr>
              <a:t>M</a:t>
            </a:r>
            <a:r>
              <a:rPr lang="en-US" altLang="zh-TW" dirty="0" smtClean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926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closestPair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10000;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/ 2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 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closestPair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spc="6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</a:t>
            </a:r>
            <a:r>
              <a:rPr lang="en-US" altLang="zh-TW" spc="6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r>
              <a:rPr lang="en-US" altLang="zh-TW" spc="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closestPair</a:t>
            </a:r>
            <a:r>
              <a:rPr lang="en-US" altLang="zh-TW" spc="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</a:t>
            </a:r>
            <a:r>
              <a:rPr lang="en-US" altLang="zh-TW" spc="6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d+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pc="6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hig</a:t>
            </a:r>
            <a:r>
              <a:rPr lang="en-US" altLang="zh-TW" spc="6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h</a:t>
            </a:r>
            <a:r>
              <a:rPr lang="en-US" altLang="zh-TW" spc="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midX = ( </a:t>
            </a: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spc="300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mi</a:t>
            </a:r>
            <a:r>
              <a:rPr lang="fr-F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fr-FR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.x + </a:t>
            </a: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spc="300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mi</a:t>
            </a:r>
            <a:r>
              <a:rPr lang="fr-F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d+1</a:t>
            </a:r>
            <a:r>
              <a:rPr lang="fr-FR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.x ) / 2;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d;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nn-NO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 &lt;= mid;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d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&lt;= points</a:t>
            </a:r>
            <a:r>
              <a:rPr lang="en-US" altLang="zh-TW" spc="300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.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x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mid + 1; j 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++j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spc="300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.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x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spc="6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spc="300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pc="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spc="300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spc="600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pc="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6807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 bwMode="auto">
          <a:xfrm flipH="1">
            <a:off x="2591747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6" name="直線接點 5"/>
          <p:cNvCxnSpPr/>
          <p:nvPr/>
        </p:nvCxnSpPr>
        <p:spPr bwMode="auto">
          <a:xfrm flipH="1">
            <a:off x="2231701" y="4509138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7" name="直線接點 6"/>
          <p:cNvCxnSpPr/>
          <p:nvPr/>
        </p:nvCxnSpPr>
        <p:spPr bwMode="auto">
          <a:xfrm flipH="1">
            <a:off x="2411724" y="324897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8" name="直線接點 7"/>
          <p:cNvCxnSpPr/>
          <p:nvPr/>
        </p:nvCxnSpPr>
        <p:spPr bwMode="auto">
          <a:xfrm flipH="1">
            <a:off x="277177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9" name="直線接點 8"/>
          <p:cNvCxnSpPr/>
          <p:nvPr/>
        </p:nvCxnSpPr>
        <p:spPr bwMode="auto">
          <a:xfrm flipH="1">
            <a:off x="3671885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0" name="直線接點 9"/>
          <p:cNvCxnSpPr/>
          <p:nvPr/>
        </p:nvCxnSpPr>
        <p:spPr bwMode="auto">
          <a:xfrm flipH="1">
            <a:off x="4211954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1" name="直線接點 10"/>
          <p:cNvCxnSpPr/>
          <p:nvPr/>
        </p:nvCxnSpPr>
        <p:spPr bwMode="auto">
          <a:xfrm flipH="1">
            <a:off x="4031931" y="414909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3491862" y="504920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4752023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5" name="直線接點 14"/>
          <p:cNvCxnSpPr/>
          <p:nvPr/>
        </p:nvCxnSpPr>
        <p:spPr bwMode="auto">
          <a:xfrm flipH="1">
            <a:off x="4572000" y="378904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 flipH="1">
            <a:off x="5112069" y="5229230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7" name="直線接點 16"/>
          <p:cNvCxnSpPr/>
          <p:nvPr/>
        </p:nvCxnSpPr>
        <p:spPr bwMode="auto">
          <a:xfrm flipH="1">
            <a:off x="6372230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 flipH="1">
            <a:off x="6372230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9" name="直線接點 18"/>
          <p:cNvCxnSpPr/>
          <p:nvPr/>
        </p:nvCxnSpPr>
        <p:spPr bwMode="auto">
          <a:xfrm flipH="1">
            <a:off x="6732276" y="486918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0" name="直線接點 19"/>
          <p:cNvCxnSpPr/>
          <p:nvPr/>
        </p:nvCxnSpPr>
        <p:spPr bwMode="auto">
          <a:xfrm flipH="1">
            <a:off x="637223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2" name="直線接點 21"/>
          <p:cNvCxnSpPr/>
          <p:nvPr/>
        </p:nvCxnSpPr>
        <p:spPr bwMode="auto">
          <a:xfrm>
            <a:off x="4391977" y="1808793"/>
            <a:ext cx="46" cy="450057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 bwMode="auto">
          <a:xfrm>
            <a:off x="4391978" y="908678"/>
            <a:ext cx="36004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 flipH="1">
            <a:off x="4031932" y="1448747"/>
            <a:ext cx="36004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直線接點 42"/>
          <p:cNvCxnSpPr/>
          <p:nvPr/>
        </p:nvCxnSpPr>
        <p:spPr bwMode="auto">
          <a:xfrm>
            <a:off x="4391978" y="728655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 bwMode="auto">
          <a:xfrm>
            <a:off x="4391978" y="1268724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 bwMode="auto">
          <a:xfrm>
            <a:off x="4752024" y="728655"/>
            <a:ext cx="540069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R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3491862" y="1268724"/>
            <a:ext cx="539977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4391977" y="5949322"/>
            <a:ext cx="360000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920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71463" algn="l"/>
              </a:tabLst>
            </a:pPr>
            <a:r>
              <a:rPr lang="en-US" altLang="zh-TW" dirty="0" err="1" smtClean="0">
                <a:solidFill>
                  <a:srgbClr val="000000"/>
                </a:solidFill>
              </a:rPr>
              <a:t>C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LOSEST</a:t>
            </a:r>
            <a:r>
              <a:rPr lang="en-US" altLang="zh-TW" dirty="0" err="1" smtClean="0">
                <a:solidFill>
                  <a:srgbClr val="000000"/>
                </a:solidFill>
              </a:rPr>
              <a:t>P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AIR</a:t>
            </a:r>
            <a:r>
              <a:rPr lang="en-US" altLang="zh-TW" dirty="0" smtClean="0"/>
              <a:t>(</a:t>
            </a:r>
            <a:r>
              <a:rPr lang="en-US" altLang="zh-TW" i="1" spc="150" dirty="0" smtClean="0"/>
              <a:t>Q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>
              <a:tabLst>
                <a:tab pos="271463" algn="l"/>
              </a:tabLst>
            </a:pPr>
            <a:r>
              <a:rPr lang="en-US" altLang="zh-TW" b="1" dirty="0" smtClean="0"/>
              <a:t>//</a:t>
            </a:r>
            <a:r>
              <a:rPr lang="en-US" altLang="zh-TW" dirty="0" smtClean="0"/>
              <a:t>	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 </a:t>
            </a:r>
            <a:r>
              <a:rPr lang="en-US" altLang="zh-TW" dirty="0"/>
              <a:t>is a set of at least two points on the plane</a:t>
            </a:r>
            <a:r>
              <a:rPr lang="en-US" altLang="zh-TW" dirty="0" smtClean="0"/>
              <a:t>,</a:t>
            </a:r>
          </a:p>
          <a:p>
            <a:pPr>
              <a:spcBef>
                <a:spcPts val="0"/>
              </a:spcBef>
              <a:tabLst>
                <a:tab pos="271463" algn="l"/>
              </a:tabLst>
            </a:pPr>
            <a:r>
              <a:rPr lang="en-US" altLang="zh-TW" b="1" dirty="0" smtClean="0"/>
              <a:t>//</a:t>
            </a:r>
            <a:r>
              <a:rPr lang="en-US" altLang="zh-TW" dirty="0" smtClean="0"/>
              <a:t>	given </a:t>
            </a:r>
            <a:r>
              <a:rPr lang="en-US" altLang="zh-TW" dirty="0"/>
              <a:t>by their </a:t>
            </a:r>
            <a:r>
              <a:rPr lang="en-US" altLang="zh-TW" i="1" dirty="0"/>
              <a:t>x</a:t>
            </a:r>
            <a:r>
              <a:rPr lang="en-US" altLang="zh-TW" dirty="0"/>
              <a:t>- and </a:t>
            </a:r>
            <a:r>
              <a:rPr lang="en-US" altLang="zh-TW" i="1" dirty="0"/>
              <a:t>y</a:t>
            </a:r>
            <a:r>
              <a:rPr lang="en-US" altLang="zh-TW" dirty="0"/>
              <a:t>-coordinates</a:t>
            </a:r>
          </a:p>
          <a:p>
            <a:pPr>
              <a:tabLst>
                <a:tab pos="271463" algn="l"/>
              </a:tabLst>
            </a:pPr>
            <a:r>
              <a:rPr lang="en-US" altLang="zh-TW" i="1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the list of points in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 </a:t>
            </a:r>
            <a:r>
              <a:rPr lang="en-US" altLang="zh-TW" dirty="0"/>
              <a:t>sorted by </a:t>
            </a:r>
            <a:r>
              <a:rPr lang="en-US" altLang="zh-TW" i="1" dirty="0"/>
              <a:t>x</a:t>
            </a:r>
            <a:r>
              <a:rPr lang="en-US" altLang="zh-TW" dirty="0"/>
              <a:t>-coordinate</a:t>
            </a:r>
          </a:p>
          <a:p>
            <a:pPr>
              <a:tabLst>
                <a:tab pos="271463" algn="l"/>
              </a:tabLst>
            </a:pPr>
            <a:r>
              <a:rPr lang="en-US" altLang="zh-TW" i="1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the list of points in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 </a:t>
            </a:r>
            <a:r>
              <a:rPr lang="en-US" altLang="zh-TW" dirty="0"/>
              <a:t>sorted by </a:t>
            </a:r>
            <a:r>
              <a:rPr lang="en-US" altLang="zh-TW" i="1" dirty="0"/>
              <a:t>y</a:t>
            </a:r>
            <a:r>
              <a:rPr lang="en-US" altLang="zh-TW" dirty="0"/>
              <a:t>-coordinate</a:t>
            </a:r>
          </a:p>
          <a:p>
            <a:pPr>
              <a:tabLst>
                <a:tab pos="271463" algn="l"/>
              </a:tabLst>
            </a:pPr>
            <a:r>
              <a:rPr lang="en-US" altLang="zh-TW" b="1" dirty="0"/>
              <a:t>return</a:t>
            </a:r>
            <a:r>
              <a:rPr lang="en-US" altLang="zh-TW" dirty="0"/>
              <a:t> </a:t>
            </a:r>
            <a:r>
              <a:rPr lang="en-US" altLang="zh-TW" dirty="0" err="1" smtClean="0">
                <a:solidFill>
                  <a:srgbClr val="000000"/>
                </a:solidFill>
              </a:rPr>
              <a:t>R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ECURSIVE</a:t>
            </a:r>
            <a:r>
              <a:rPr lang="en-US" altLang="zh-TW" dirty="0" err="1" smtClean="0">
                <a:solidFill>
                  <a:srgbClr val="000000"/>
                </a:solidFill>
              </a:rPr>
              <a:t>C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LOSEST</a:t>
            </a:r>
            <a:r>
              <a:rPr lang="en-US" altLang="zh-TW" dirty="0" err="1" smtClean="0">
                <a:solidFill>
                  <a:srgbClr val="000000"/>
                </a:solidFill>
              </a:rPr>
              <a:t>P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AIR</a:t>
            </a:r>
            <a:r>
              <a:rPr lang="en-US" altLang="zh-TW" spc="200" dirty="0" smtClean="0">
                <a:solidFill>
                  <a:srgbClr val="000000"/>
                </a:solidFill>
              </a:rPr>
              <a:t>(</a:t>
            </a:r>
            <a:r>
              <a:rPr lang="en-US" altLang="zh-TW" i="1" spc="300" dirty="0" smtClean="0">
                <a:solidFill>
                  <a:srgbClr val="000000"/>
                </a:solidFill>
              </a:rPr>
              <a:t>X</a:t>
            </a:r>
            <a:r>
              <a:rPr lang="en-US" altLang="zh-TW" dirty="0" smtClean="0"/>
              <a:t>, </a:t>
            </a:r>
            <a:r>
              <a:rPr lang="en-US" altLang="zh-TW" i="1" spc="400" dirty="0">
                <a:solidFill>
                  <a:srgbClr val="000000"/>
                </a:solidFill>
              </a:rPr>
              <a:t>Y</a:t>
            </a:r>
            <a:r>
              <a:rPr lang="en-US" altLang="zh-TW" dirty="0" smtClean="0"/>
              <a:t>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</a:rPr>
              <a:t>Franco P. </a:t>
            </a:r>
            <a:r>
              <a:rPr lang="en-US" altLang="zh-TW" dirty="0" err="1">
                <a:solidFill>
                  <a:srgbClr val="0000FF"/>
                </a:solidFill>
              </a:rPr>
              <a:t>Preparata</a:t>
            </a:r>
            <a:r>
              <a:rPr lang="en-US" altLang="zh-TW" dirty="0">
                <a:solidFill>
                  <a:srgbClr val="0000FF"/>
                </a:solidFill>
              </a:rPr>
              <a:t> and Michael Ian </a:t>
            </a:r>
            <a:r>
              <a:rPr lang="en-US" altLang="zh-TW" dirty="0" err="1">
                <a:solidFill>
                  <a:srgbClr val="0000FF"/>
                </a:solidFill>
              </a:rPr>
              <a:t>Shamos</a:t>
            </a:r>
            <a:r>
              <a:rPr lang="en-US" altLang="zh-TW" dirty="0">
                <a:solidFill>
                  <a:srgbClr val="0000FF"/>
                </a:solidFill>
              </a:rPr>
              <a:t>. </a:t>
            </a:r>
            <a:r>
              <a:rPr lang="en-US" altLang="zh-TW" i="1" dirty="0">
                <a:solidFill>
                  <a:srgbClr val="0000FF"/>
                </a:solidFill>
              </a:rPr>
              <a:t>Computational Geometry: An Introduction</a:t>
            </a:r>
            <a:r>
              <a:rPr lang="en-US" altLang="zh-TW" dirty="0">
                <a:solidFill>
                  <a:srgbClr val="0000FF"/>
                </a:solidFill>
              </a:rPr>
              <a:t>. Springer, 1985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0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err="1" smtClean="0"/>
              <a:t>R</a:t>
            </a:r>
            <a:r>
              <a:rPr lang="en-US" altLang="zh-TW" sz="1800" dirty="0" err="1" smtClean="0"/>
              <a:t>ECURSIVE</a:t>
            </a:r>
            <a:r>
              <a:rPr lang="en-US" altLang="zh-TW" dirty="0" err="1" smtClean="0"/>
              <a:t>C</a:t>
            </a:r>
            <a:r>
              <a:rPr lang="en-US" altLang="zh-TW" sz="1800" dirty="0" err="1" smtClean="0"/>
              <a:t>LOSEST</a:t>
            </a:r>
            <a:r>
              <a:rPr lang="en-US" altLang="zh-TW" dirty="0" err="1" smtClean="0"/>
              <a:t>P</a:t>
            </a:r>
            <a:r>
              <a:rPr lang="en-US" altLang="zh-TW" sz="1800" dirty="0" err="1" smtClean="0"/>
              <a:t>AIR</a:t>
            </a:r>
            <a:r>
              <a:rPr lang="en-US" altLang="zh-TW" spc="200" dirty="0" smtClean="0"/>
              <a:t>(</a:t>
            </a:r>
            <a:r>
              <a:rPr lang="en-US" altLang="zh-TW" i="1" spc="300" dirty="0" smtClean="0"/>
              <a:t>X</a:t>
            </a:r>
            <a:r>
              <a:rPr lang="en-US" altLang="zh-TW" dirty="0" smtClean="0"/>
              <a:t>, </a:t>
            </a:r>
            <a:r>
              <a:rPr lang="en-US" altLang="zh-TW" i="1" spc="400" dirty="0" smtClean="0"/>
              <a:t>Y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>
              <a:tabLst>
                <a:tab pos="271463" algn="l"/>
                <a:tab pos="358775" algn="l"/>
                <a:tab pos="719138" algn="l"/>
                <a:tab pos="1079500" algn="l"/>
              </a:tabLst>
            </a:pPr>
            <a:r>
              <a:rPr lang="en-US" altLang="zh-TW" b="1" dirty="0" smtClean="0"/>
              <a:t>//</a:t>
            </a:r>
            <a:r>
              <a:rPr lang="en-US" altLang="zh-TW" dirty="0" smtClean="0"/>
              <a:t>	</a:t>
            </a:r>
            <a:r>
              <a:rPr lang="en-US" altLang="zh-TW" i="1" spc="300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spc="300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/>
              <a:t>are lists of the same set of (at least two) points sorted </a:t>
            </a:r>
            <a:r>
              <a:rPr lang="en-US" altLang="zh-TW" dirty="0" smtClean="0"/>
              <a:t>by       </a:t>
            </a:r>
            <a:r>
              <a:rPr lang="en-US" altLang="zh-TW" b="1" dirty="0" smtClean="0"/>
              <a:t>//</a:t>
            </a:r>
            <a:r>
              <a:rPr lang="en-US" altLang="zh-TW" dirty="0" smtClean="0"/>
              <a:t>	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- </a:t>
            </a:r>
            <a:r>
              <a:rPr lang="en-US" altLang="zh-TW" dirty="0"/>
              <a:t>and </a:t>
            </a:r>
            <a:r>
              <a:rPr lang="en-US" altLang="zh-TW" i="1" dirty="0"/>
              <a:t>y</a:t>
            </a:r>
            <a:r>
              <a:rPr lang="en-US" altLang="zh-TW" dirty="0"/>
              <a:t>-coordinate, respectively</a:t>
            </a:r>
          </a:p>
          <a:p>
            <a:pPr>
              <a:tabLst>
                <a:tab pos="360000" algn="l"/>
                <a:tab pos="630000" algn="l"/>
                <a:tab pos="1080000" algn="l"/>
              </a:tabLst>
            </a:pPr>
            <a:r>
              <a:rPr lang="en-US" altLang="zh-TW" dirty="0" smtClean="0"/>
              <a:t>1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	</a:t>
            </a:r>
            <a:r>
              <a:rPr lang="en-US" altLang="zh-TW" spc="200" dirty="0" smtClean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 smtClean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X</a:t>
            </a:r>
            <a:r>
              <a:rPr lang="en-US" altLang="zh-TW" dirty="0" smtClean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≤</a:t>
            </a:r>
            <a:r>
              <a:rPr lang="en-US" altLang="zh-TW" dirty="0" smtClean="0"/>
              <a:t> 3 </a:t>
            </a:r>
            <a:r>
              <a:rPr lang="en-US" altLang="zh-TW" b="1" dirty="0"/>
              <a:t>then</a:t>
            </a:r>
          </a:p>
          <a:p>
            <a:pPr>
              <a:tabLst>
                <a:tab pos="360000" algn="l"/>
                <a:tab pos="630000" algn="l"/>
                <a:tab pos="1080000" algn="l"/>
              </a:tabLst>
            </a:pPr>
            <a:r>
              <a:rPr lang="en-US" altLang="zh-TW" dirty="0" smtClean="0"/>
              <a:t>2		calculate </a:t>
            </a:r>
            <a:r>
              <a:rPr lang="en-US" altLang="zh-TW" dirty="0"/>
              <a:t>all pairwise distances and return the closest pair</a:t>
            </a:r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3	</a:t>
            </a:r>
            <a:r>
              <a:rPr lang="en-US" altLang="zh-TW" b="1" dirty="0" smtClean="0"/>
              <a:t>else</a:t>
            </a:r>
            <a:endParaRPr lang="en-US" altLang="zh-TW" b="1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4		</a:t>
            </a:r>
            <a:r>
              <a:rPr lang="en-US" altLang="zh-TW" i="1" dirty="0" smtClean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smtClean="0"/>
              <a:t>first </a:t>
            </a:r>
            <a:r>
              <a:rPr lang="en-US" altLang="zh-TW" dirty="0"/>
              <a:t>half of </a:t>
            </a:r>
            <a:r>
              <a:rPr lang="en-US" altLang="zh-TW" i="1" spc="300" dirty="0" smtClean="0"/>
              <a:t>X</a:t>
            </a:r>
            <a:r>
              <a:rPr lang="en-US" altLang="zh-TW" dirty="0" smtClean="0"/>
              <a:t>; </a:t>
            </a:r>
            <a:r>
              <a:rPr lang="en-US" altLang="zh-TW" i="1" dirty="0" err="1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second half of </a:t>
            </a:r>
            <a:r>
              <a:rPr lang="en-US" altLang="zh-TW" i="1" dirty="0" smtClean="0"/>
              <a:t>X</a:t>
            </a:r>
            <a:endParaRPr lang="en-US" altLang="zh-TW" i="1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5		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(max </a:t>
            </a:r>
            <a:r>
              <a:rPr lang="en-US" altLang="zh-TW" i="1" dirty="0"/>
              <a:t>x</a:t>
            </a:r>
            <a:r>
              <a:rPr lang="en-US" altLang="zh-TW" dirty="0"/>
              <a:t>-coordinate in </a:t>
            </a:r>
            <a:r>
              <a:rPr lang="en-US" altLang="zh-TW" i="1" dirty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/>
              <a:t> min </a:t>
            </a:r>
            <a:r>
              <a:rPr lang="en-US" altLang="zh-TW" i="1" dirty="0"/>
              <a:t>x</a:t>
            </a:r>
            <a:r>
              <a:rPr lang="en-US" altLang="zh-TW" dirty="0"/>
              <a:t>-coordinate in </a:t>
            </a:r>
            <a:r>
              <a:rPr lang="en-US" altLang="zh-TW" i="1" dirty="0" err="1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spc="300" dirty="0" smtClean="0"/>
              <a:t>)</a:t>
            </a:r>
            <a:r>
              <a:rPr lang="en-US" altLang="zh-TW" b="1" spc="300" dirty="0" smtClean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TW" dirty="0" smtClean="0"/>
              <a:t>2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6		</a:t>
            </a:r>
            <a:r>
              <a:rPr lang="en-US" altLang="zh-TW" i="1" dirty="0" err="1" smtClean="0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/>
              <a:t>sublist</a:t>
            </a:r>
            <a:r>
              <a:rPr lang="en-US" altLang="zh-TW" dirty="0"/>
              <a:t> of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/>
              <a:t>of points in </a:t>
            </a:r>
            <a:r>
              <a:rPr lang="en-US" altLang="zh-TW" i="1" dirty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; </a:t>
            </a:r>
            <a:r>
              <a:rPr lang="en-US" altLang="zh-TW" i="1" dirty="0" err="1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/>
              <a:t>sublist</a:t>
            </a:r>
            <a:r>
              <a:rPr lang="en-US" altLang="zh-TW" dirty="0"/>
              <a:t> of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/>
              <a:t>of points in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7		</a:t>
            </a:r>
            <a:r>
              <a:rPr lang="en-US" altLang="zh-TW" spc="300" dirty="0" smtClean="0"/>
              <a:t>(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L</a:t>
            </a:r>
            <a:r>
              <a:rPr lang="en-US" altLang="zh-TW" dirty="0" smtClean="0"/>
              <a:t>, </a:t>
            </a:r>
            <a:r>
              <a:rPr lang="en-US" altLang="zh-TW" i="1" dirty="0" err="1"/>
              <a:t>q</a:t>
            </a:r>
            <a:r>
              <a:rPr lang="en-US" altLang="zh-TW" i="1" baseline="-25000" dirty="0" err="1"/>
              <a:t>L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 smtClean="0">
                <a:solidFill>
                  <a:srgbClr val="000000"/>
                </a:solidFill>
              </a:rPr>
              <a:t>R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ECURSIVE</a:t>
            </a:r>
            <a:r>
              <a:rPr lang="en-US" altLang="zh-TW" dirty="0" err="1" smtClean="0">
                <a:solidFill>
                  <a:srgbClr val="000000"/>
                </a:solidFill>
              </a:rPr>
              <a:t>C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LOSEST</a:t>
            </a:r>
            <a:r>
              <a:rPr lang="en-US" altLang="zh-TW" dirty="0" err="1" smtClean="0">
                <a:solidFill>
                  <a:srgbClr val="000000"/>
                </a:solidFill>
              </a:rPr>
              <a:t>P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AIR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X</a:t>
            </a:r>
            <a:r>
              <a:rPr lang="en-US" altLang="zh-TW" i="1" baseline="-25000" dirty="0" smtClean="0"/>
              <a:t>L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)</a:t>
            </a:r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		</a:t>
            </a:r>
            <a:r>
              <a:rPr lang="en-US" altLang="zh-TW" spc="300" dirty="0" smtClean="0"/>
              <a:t>(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R</a:t>
            </a:r>
            <a:r>
              <a:rPr lang="en-US" altLang="zh-TW" dirty="0" smtClean="0"/>
              <a:t>, </a:t>
            </a:r>
            <a:r>
              <a:rPr lang="en-US" altLang="zh-TW" i="1" dirty="0" err="1"/>
              <a:t>q</a:t>
            </a:r>
            <a:r>
              <a:rPr lang="en-US" altLang="zh-TW" i="1" baseline="-25000" dirty="0" err="1"/>
              <a:t>R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 smtClean="0">
                <a:solidFill>
                  <a:srgbClr val="000000"/>
                </a:solidFill>
              </a:rPr>
              <a:t>R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ECURSIVE</a:t>
            </a:r>
            <a:r>
              <a:rPr lang="en-US" altLang="zh-TW" dirty="0" err="1" smtClean="0">
                <a:solidFill>
                  <a:srgbClr val="000000"/>
                </a:solidFill>
              </a:rPr>
              <a:t>C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LOSEST</a:t>
            </a:r>
            <a:r>
              <a:rPr lang="en-US" altLang="zh-TW" dirty="0" err="1" smtClean="0">
                <a:solidFill>
                  <a:srgbClr val="000000"/>
                </a:solidFill>
              </a:rPr>
              <a:t>P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AIR</a:t>
            </a:r>
            <a:r>
              <a:rPr lang="en-US" altLang="zh-TW" dirty="0" smtClean="0"/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8		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smtClean="0"/>
              <a:t>min</a:t>
            </a:r>
            <a:r>
              <a:rPr lang="en-US" altLang="zh-TW" spc="300" dirty="0" smtClean="0"/>
              <a:t>(</a:t>
            </a:r>
            <a:r>
              <a:rPr lang="en-US" altLang="zh-TW" i="1" spc="100" dirty="0" smtClean="0"/>
              <a:t>d</a:t>
            </a:r>
            <a:r>
              <a:rPr lang="en-US" altLang="zh-TW" spc="300" dirty="0" smtClean="0"/>
              <a:t>(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L</a:t>
            </a:r>
            <a:r>
              <a:rPr lang="en-US" altLang="zh-TW" dirty="0" smtClean="0"/>
              <a:t>, </a:t>
            </a:r>
            <a:r>
              <a:rPr lang="en-US" altLang="zh-TW" i="1" dirty="0" err="1"/>
              <a:t>q</a:t>
            </a:r>
            <a:r>
              <a:rPr lang="en-US" altLang="zh-TW" i="1" baseline="-25000" dirty="0" err="1"/>
              <a:t>L</a:t>
            </a:r>
            <a:r>
              <a:rPr lang="en-US" altLang="zh-TW" dirty="0" smtClean="0"/>
              <a:t>), </a:t>
            </a:r>
            <a:r>
              <a:rPr lang="en-US" altLang="zh-TW" i="1" spc="100" dirty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/>
              <a:t>(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R</a:t>
            </a:r>
            <a:r>
              <a:rPr lang="en-US" altLang="zh-TW" dirty="0" smtClean="0"/>
              <a:t>, </a:t>
            </a:r>
            <a:r>
              <a:rPr lang="en-US" altLang="zh-TW" i="1" dirty="0" err="1"/>
              <a:t>q</a:t>
            </a:r>
            <a:r>
              <a:rPr lang="en-US" altLang="zh-TW" i="1" baseline="-25000" dirty="0" err="1"/>
              <a:t>R</a:t>
            </a:r>
            <a:r>
              <a:rPr lang="en-US" altLang="zh-TW" spc="300" dirty="0" smtClean="0"/>
              <a:t>)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9		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/>
              <a:t>sublist</a:t>
            </a:r>
            <a:r>
              <a:rPr lang="en-US" altLang="zh-TW" dirty="0"/>
              <a:t> of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/>
              <a:t>of points whose </a:t>
            </a:r>
            <a:r>
              <a:rPr lang="en-US" altLang="zh-TW" i="1" dirty="0"/>
              <a:t>x</a:t>
            </a:r>
            <a:r>
              <a:rPr lang="en-US" altLang="zh-TW" dirty="0"/>
              <a:t>-coordinates are </a:t>
            </a:r>
            <a:r>
              <a:rPr lang="en-US" altLang="zh-TW" dirty="0" smtClean="0"/>
              <a:t>within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of </a:t>
            </a:r>
            <a:r>
              <a:rPr lang="en-US" altLang="zh-TW" i="1" dirty="0"/>
              <a:t>m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210900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 bwMode="auto">
          <a:xfrm>
            <a:off x="3311839" y="1808793"/>
            <a:ext cx="2160277" cy="4500575"/>
          </a:xfrm>
          <a:prstGeom prst="rect">
            <a:avLst/>
          </a:prstGeom>
          <a:solidFill>
            <a:srgbClr val="00B0F0">
              <a:alpha val="50196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2591747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6" name="直線接點 5"/>
          <p:cNvCxnSpPr/>
          <p:nvPr/>
        </p:nvCxnSpPr>
        <p:spPr bwMode="auto">
          <a:xfrm flipH="1">
            <a:off x="2231701" y="4509138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7" name="直線接點 6"/>
          <p:cNvCxnSpPr/>
          <p:nvPr/>
        </p:nvCxnSpPr>
        <p:spPr bwMode="auto">
          <a:xfrm flipH="1">
            <a:off x="2411724" y="324897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8" name="直線接點 7"/>
          <p:cNvCxnSpPr/>
          <p:nvPr/>
        </p:nvCxnSpPr>
        <p:spPr bwMode="auto">
          <a:xfrm flipH="1">
            <a:off x="277177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9" name="直線接點 8"/>
          <p:cNvCxnSpPr/>
          <p:nvPr/>
        </p:nvCxnSpPr>
        <p:spPr bwMode="auto">
          <a:xfrm flipH="1">
            <a:off x="3671885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0" name="直線接點 9"/>
          <p:cNvCxnSpPr/>
          <p:nvPr/>
        </p:nvCxnSpPr>
        <p:spPr bwMode="auto">
          <a:xfrm flipH="1">
            <a:off x="4211954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1" name="直線接點 10"/>
          <p:cNvCxnSpPr/>
          <p:nvPr/>
        </p:nvCxnSpPr>
        <p:spPr bwMode="auto">
          <a:xfrm flipH="1">
            <a:off x="4031931" y="414909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3491862" y="504920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4752023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4" name="直線接點 13"/>
          <p:cNvCxnSpPr/>
          <p:nvPr/>
        </p:nvCxnSpPr>
        <p:spPr bwMode="auto">
          <a:xfrm flipH="1">
            <a:off x="5292092" y="306895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5" name="直線接點 14"/>
          <p:cNvCxnSpPr/>
          <p:nvPr/>
        </p:nvCxnSpPr>
        <p:spPr bwMode="auto">
          <a:xfrm flipH="1">
            <a:off x="4572000" y="378904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 flipH="1">
            <a:off x="5112069" y="5229230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7" name="直線接點 16"/>
          <p:cNvCxnSpPr/>
          <p:nvPr/>
        </p:nvCxnSpPr>
        <p:spPr bwMode="auto">
          <a:xfrm flipH="1">
            <a:off x="6372230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 flipH="1">
            <a:off x="6372230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9" name="直線接點 18"/>
          <p:cNvCxnSpPr/>
          <p:nvPr/>
        </p:nvCxnSpPr>
        <p:spPr bwMode="auto">
          <a:xfrm flipH="1">
            <a:off x="6732276" y="486918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0" name="直線接點 19"/>
          <p:cNvCxnSpPr/>
          <p:nvPr/>
        </p:nvCxnSpPr>
        <p:spPr bwMode="auto">
          <a:xfrm flipH="1">
            <a:off x="637223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2" name="直線接點 21"/>
          <p:cNvCxnSpPr/>
          <p:nvPr/>
        </p:nvCxnSpPr>
        <p:spPr bwMode="auto">
          <a:xfrm>
            <a:off x="4391977" y="3429000"/>
            <a:ext cx="46" cy="28803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 bwMode="auto">
          <a:xfrm>
            <a:off x="3311839" y="1808793"/>
            <a:ext cx="0" cy="4500575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 bwMode="auto">
          <a:xfrm>
            <a:off x="5472115" y="1808793"/>
            <a:ext cx="0" cy="4500575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 bwMode="auto">
          <a:xfrm>
            <a:off x="4391978" y="908678"/>
            <a:ext cx="36004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 flipH="1">
            <a:off x="4031932" y="1448747"/>
            <a:ext cx="36004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直線單箭頭接點 26"/>
          <p:cNvCxnSpPr/>
          <p:nvPr/>
        </p:nvCxnSpPr>
        <p:spPr bwMode="auto">
          <a:xfrm>
            <a:off x="4752023" y="3248977"/>
            <a:ext cx="72009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直線單箭頭接點 27"/>
          <p:cNvCxnSpPr/>
          <p:nvPr/>
        </p:nvCxnSpPr>
        <p:spPr bwMode="auto">
          <a:xfrm flipH="1">
            <a:off x="3311839" y="3248977"/>
            <a:ext cx="72009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2" name="直線接點 31"/>
          <p:cNvCxnSpPr/>
          <p:nvPr/>
        </p:nvCxnSpPr>
        <p:spPr bwMode="auto">
          <a:xfrm>
            <a:off x="4391977" y="1808793"/>
            <a:ext cx="0" cy="126016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 bwMode="auto">
          <a:xfrm>
            <a:off x="4391978" y="728655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 bwMode="auto">
          <a:xfrm>
            <a:off x="4391978" y="1268724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 bwMode="auto">
          <a:xfrm>
            <a:off x="4031931" y="3068954"/>
            <a:ext cx="720000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2</a:t>
            </a: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4752024" y="728655"/>
            <a:ext cx="540069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R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3491862" y="1268724"/>
            <a:ext cx="539977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4391977" y="5949322"/>
            <a:ext cx="360000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1615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4500576"/>
          </a:xfrm>
        </p:spPr>
        <p:txBody>
          <a:bodyPr/>
          <a:lstStyle/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en-US" altLang="zh-TW" dirty="0" smtClean="0"/>
              <a:t>10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	</a:t>
            </a:r>
            <a:r>
              <a:rPr lang="en-US" altLang="zh-TW" spc="200" dirty="0" smtClean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≤ </a:t>
            </a:r>
            <a:r>
              <a:rPr lang="en-US" altLang="zh-TW" dirty="0" smtClean="0"/>
              <a:t>1 </a:t>
            </a:r>
            <a:r>
              <a:rPr lang="en-US" altLang="zh-TW" b="1" dirty="0"/>
              <a:t>then</a:t>
            </a:r>
          </a:p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en-US" altLang="zh-TW" dirty="0" smtClean="0"/>
              <a:t>11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≤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b="1" dirty="0" smtClean="0"/>
              <a:t>then </a:t>
            </a:r>
            <a:r>
              <a:rPr lang="en-US" altLang="zh-TW" b="1" dirty="0"/>
              <a:t>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da-DK" altLang="zh-TW" dirty="0" smtClean="0"/>
              <a:t>12			</a:t>
            </a:r>
            <a:r>
              <a:rPr lang="da-DK" altLang="zh-TW" b="1" dirty="0" smtClean="0"/>
              <a:t>else </a:t>
            </a:r>
            <a:r>
              <a:rPr lang="da-DK" altLang="zh-TW" b="1" dirty="0"/>
              <a:t>return</a:t>
            </a:r>
            <a:r>
              <a:rPr lang="da-DK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da-DK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13		</a:t>
            </a:r>
            <a:r>
              <a:rPr lang="en-US" altLang="zh-TW" b="1" dirty="0" smtClean="0"/>
              <a:t>else</a:t>
            </a:r>
            <a:endParaRPr lang="en-US" altLang="zh-TW" b="1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14			</a:t>
            </a:r>
            <a:r>
              <a:rPr lang="en-US" altLang="zh-TW" spc="300" dirty="0" smtClean="0"/>
              <a:t>(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*,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*)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any two distinct points 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endParaRPr lang="en-US" altLang="zh-TW" i="1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15			</a:t>
            </a:r>
            <a:r>
              <a:rPr lang="en-US" altLang="zh-TW" b="1" dirty="0" smtClean="0"/>
              <a:t>for</a:t>
            </a:r>
            <a:r>
              <a:rPr lang="en-US" altLang="zh-TW" dirty="0" smtClean="0"/>
              <a:t>	each </a:t>
            </a:r>
            <a:r>
              <a:rPr lang="en-US" altLang="zh-TW" i="1" dirty="0"/>
              <a:t>p</a:t>
            </a:r>
            <a:r>
              <a:rPr lang="en-US" altLang="zh-TW" dirty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 smtClean="0"/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/>
              <a:t>(in order of </a:t>
            </a:r>
            <a:r>
              <a:rPr lang="en-US" altLang="zh-TW" dirty="0" smtClean="0"/>
              <a:t>appearance </a:t>
            </a:r>
            <a:r>
              <a:rPr lang="en-US" altLang="zh-TW" dirty="0"/>
              <a:t>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) </a:t>
            </a:r>
            <a:r>
              <a:rPr lang="en-US" altLang="zh-TW" b="1" dirty="0"/>
              <a:t>do</a:t>
            </a:r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16				</a:t>
            </a:r>
            <a:r>
              <a:rPr lang="en-US" altLang="zh-TW" b="1" dirty="0" smtClean="0"/>
              <a:t>for</a:t>
            </a:r>
            <a:r>
              <a:rPr lang="en-US" altLang="zh-TW" dirty="0" smtClean="0"/>
              <a:t>	each </a:t>
            </a:r>
            <a:r>
              <a:rPr lang="en-US" altLang="zh-TW" dirty="0"/>
              <a:t>of the </a:t>
            </a:r>
            <a:r>
              <a:rPr lang="en-US" altLang="zh-TW" dirty="0" smtClean="0"/>
              <a:t>next points </a:t>
            </a:r>
            <a:r>
              <a:rPr lang="en-US" altLang="zh-TW" i="1" dirty="0"/>
              <a:t>q</a:t>
            </a:r>
            <a:r>
              <a:rPr lang="en-US" altLang="zh-TW" dirty="0"/>
              <a:t> after </a:t>
            </a:r>
            <a:r>
              <a:rPr lang="en-US" altLang="zh-TW" i="1" dirty="0"/>
              <a:t>p</a:t>
            </a:r>
            <a:r>
              <a:rPr lang="en-US" altLang="zh-TW" dirty="0"/>
              <a:t> 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b="1" dirty="0"/>
              <a:t>do</a:t>
            </a:r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17		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>
                <a:solidFill>
                  <a:srgbClr val="000000"/>
                </a:solidFill>
              </a:rPr>
              <a:t>*)</a:t>
            </a:r>
            <a:r>
              <a:rPr lang="en-US" altLang="zh-TW" dirty="0" smtClean="0"/>
              <a:t> </a:t>
            </a:r>
            <a:r>
              <a:rPr lang="en-US" altLang="zh-TW" b="1" dirty="0"/>
              <a:t>then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*)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 smtClean="0"/>
              <a:t> 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18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>
                <a:solidFill>
                  <a:srgbClr val="000000"/>
                </a:solidFill>
              </a:rPr>
              <a:t>*)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&lt;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b="1" dirty="0"/>
              <a:t>then 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*)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19			</a:t>
            </a:r>
            <a:r>
              <a:rPr lang="en-US" altLang="zh-TW" b="1" dirty="0" smtClean="0"/>
              <a:t>else </a:t>
            </a:r>
            <a:r>
              <a:rPr lang="en-US" altLang="zh-TW" b="1" dirty="0"/>
              <a:t>if</a:t>
            </a:r>
            <a:r>
              <a:rPr lang="en-US" altLang="zh-TW" dirty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≤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b="1" dirty="0"/>
              <a:t>then 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da-DK" altLang="zh-TW" dirty="0" smtClean="0"/>
              <a:t>20			</a:t>
            </a:r>
            <a:r>
              <a:rPr lang="da-DK" altLang="zh-TW" b="1" dirty="0" smtClean="0"/>
              <a:t>else </a:t>
            </a:r>
            <a:r>
              <a:rPr lang="da-DK" altLang="zh-TW" b="1" dirty="0"/>
              <a:t>return</a:t>
            </a:r>
            <a:r>
              <a:rPr lang="da-DK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6801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4500576"/>
          </a:xfrm>
        </p:spPr>
        <p:txBody>
          <a:bodyPr/>
          <a:lstStyle/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en-US" altLang="zh-TW" dirty="0" smtClean="0"/>
              <a:t>10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	</a:t>
            </a:r>
            <a:r>
              <a:rPr lang="en-US" altLang="zh-TW" spc="200" dirty="0" smtClean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≤ </a:t>
            </a:r>
            <a:r>
              <a:rPr lang="en-US" altLang="zh-TW" dirty="0" smtClean="0"/>
              <a:t>1 </a:t>
            </a:r>
            <a:r>
              <a:rPr lang="en-US" altLang="zh-TW" b="1" dirty="0"/>
              <a:t>then</a:t>
            </a:r>
          </a:p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en-US" altLang="zh-TW" dirty="0" smtClean="0"/>
              <a:t>11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≤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b="1" dirty="0" smtClean="0"/>
              <a:t>then </a:t>
            </a:r>
            <a:r>
              <a:rPr lang="en-US" altLang="zh-TW" b="1" dirty="0"/>
              <a:t>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da-DK" altLang="zh-TW" dirty="0" smtClean="0"/>
              <a:t>12			</a:t>
            </a:r>
            <a:r>
              <a:rPr lang="da-DK" altLang="zh-TW" b="1" dirty="0" smtClean="0"/>
              <a:t>else </a:t>
            </a:r>
            <a:r>
              <a:rPr lang="da-DK" altLang="zh-TW" b="1" dirty="0"/>
              <a:t>return</a:t>
            </a:r>
            <a:r>
              <a:rPr lang="da-DK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da-DK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13		</a:t>
            </a:r>
            <a:r>
              <a:rPr lang="en-US" altLang="zh-TW" b="1" dirty="0" smtClean="0"/>
              <a:t>else</a:t>
            </a:r>
            <a:endParaRPr lang="en-US" altLang="zh-TW" b="1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14			</a:t>
            </a:r>
            <a:r>
              <a:rPr lang="en-US" altLang="zh-TW" spc="300" dirty="0" smtClean="0"/>
              <a:t>(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*,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*)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any two distinct points 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endParaRPr lang="en-US" altLang="zh-TW" i="1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15			</a:t>
            </a:r>
            <a:r>
              <a:rPr lang="en-US" altLang="zh-TW" b="1" dirty="0" smtClean="0"/>
              <a:t>for</a:t>
            </a:r>
            <a:r>
              <a:rPr lang="en-US" altLang="zh-TW" dirty="0" smtClean="0"/>
              <a:t>	each </a:t>
            </a:r>
            <a:r>
              <a:rPr lang="en-US" altLang="zh-TW" i="1" dirty="0"/>
              <a:t>p</a:t>
            </a:r>
            <a:r>
              <a:rPr lang="en-US" altLang="zh-TW" dirty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 smtClean="0"/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/>
              <a:t>(in order of </a:t>
            </a:r>
            <a:r>
              <a:rPr lang="en-US" altLang="zh-TW" dirty="0" smtClean="0"/>
              <a:t>appearance </a:t>
            </a:r>
            <a:r>
              <a:rPr lang="en-US" altLang="zh-TW" dirty="0"/>
              <a:t>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) </a:t>
            </a:r>
            <a:r>
              <a:rPr lang="en-US" altLang="zh-TW" b="1" dirty="0"/>
              <a:t>do</a:t>
            </a:r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16				</a:t>
            </a:r>
            <a:r>
              <a:rPr lang="en-US" altLang="zh-TW" b="1" dirty="0" smtClean="0"/>
              <a:t>for</a:t>
            </a:r>
            <a:r>
              <a:rPr lang="en-US" altLang="zh-TW" dirty="0" smtClean="0"/>
              <a:t>	each </a:t>
            </a:r>
            <a:r>
              <a:rPr lang="en-US" altLang="zh-TW" dirty="0"/>
              <a:t>of the </a:t>
            </a:r>
            <a:r>
              <a:rPr lang="en-US" altLang="zh-TW" dirty="0">
                <a:solidFill>
                  <a:srgbClr val="000000"/>
                </a:solidFill>
              </a:rPr>
              <a:t>(up to) </a:t>
            </a:r>
            <a:r>
              <a:rPr lang="en-US" altLang="zh-TW" dirty="0"/>
              <a:t>next </a:t>
            </a:r>
            <a:r>
              <a:rPr lang="en-US" altLang="zh-TW" dirty="0">
                <a:solidFill>
                  <a:srgbClr val="FF0000"/>
                </a:solidFill>
              </a:rPr>
              <a:t>seven</a:t>
            </a:r>
            <a:r>
              <a:rPr lang="en-US" altLang="zh-TW" dirty="0"/>
              <a:t> points </a:t>
            </a:r>
            <a:r>
              <a:rPr lang="en-US" altLang="zh-TW" i="1" dirty="0"/>
              <a:t>q</a:t>
            </a:r>
            <a:r>
              <a:rPr lang="en-US" altLang="zh-TW" dirty="0"/>
              <a:t> after </a:t>
            </a:r>
            <a:r>
              <a:rPr lang="en-US" altLang="zh-TW" i="1" dirty="0"/>
              <a:t>p</a:t>
            </a:r>
            <a:r>
              <a:rPr lang="en-US" altLang="zh-TW" dirty="0"/>
              <a:t> 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b="1" dirty="0"/>
              <a:t>do</a:t>
            </a:r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17		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>
                <a:solidFill>
                  <a:srgbClr val="000000"/>
                </a:solidFill>
              </a:rPr>
              <a:t>*)</a:t>
            </a:r>
            <a:r>
              <a:rPr lang="en-US" altLang="zh-TW" dirty="0" smtClean="0"/>
              <a:t> </a:t>
            </a:r>
            <a:r>
              <a:rPr lang="en-US" altLang="zh-TW" b="1" dirty="0"/>
              <a:t>then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*)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 smtClean="0"/>
              <a:t> 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18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>
                <a:solidFill>
                  <a:srgbClr val="000000"/>
                </a:solidFill>
              </a:rPr>
              <a:t>*)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&lt;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b="1" dirty="0"/>
              <a:t>then 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*)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19			</a:t>
            </a:r>
            <a:r>
              <a:rPr lang="en-US" altLang="zh-TW" b="1" dirty="0" smtClean="0"/>
              <a:t>else </a:t>
            </a:r>
            <a:r>
              <a:rPr lang="en-US" altLang="zh-TW" b="1" dirty="0"/>
              <a:t>if</a:t>
            </a:r>
            <a:r>
              <a:rPr lang="en-US" altLang="zh-TW" dirty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≤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b="1" dirty="0"/>
              <a:t>then 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da-DK" altLang="zh-TW" dirty="0" smtClean="0"/>
              <a:t>20			</a:t>
            </a:r>
            <a:r>
              <a:rPr lang="da-DK" altLang="zh-TW" b="1" dirty="0" smtClean="0"/>
              <a:t>else </a:t>
            </a:r>
            <a:r>
              <a:rPr lang="da-DK" altLang="zh-TW" b="1" dirty="0"/>
              <a:t>return</a:t>
            </a:r>
            <a:r>
              <a:rPr lang="da-DK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8814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closestPair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points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points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sort(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xLess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sort(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yLess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findClosest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3293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findMinDist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&lt;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</a:t>
            </a:r>
            <a:r>
              <a:rPr lang="en-US" altLang="zh-TW" spc="300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 = 10000;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i + 1; j &lt;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 ++j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 min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min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points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 smtClean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findClosest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Poin</a:t>
            </a:r>
            <a:r>
              <a:rPr lang="en-US" altLang="zh-TW" spc="300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&lt;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</a:t>
            </a:r>
            <a:r>
              <a:rPr lang="en-US" altLang="zh-TW" spc="300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 =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&lt;= 3 )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findMinDist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( n + 1 )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( n - 1 ) / 2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midX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.x +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.x ) / 2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314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numPointsLeft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.x &lt;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midX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numPointsLeft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++;</a:t>
            </a: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*deleted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ySortedLeft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0;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.x &lt;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midX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ySortedLeft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deleted[ i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++;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.x ==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midX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&amp;&amp;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count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numPointsLeft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ySortedLeft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deleted[ i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++;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count++;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0837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-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!deleted[ i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ySortedRight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xSortedLeft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xSortedLeft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-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 &lt; n;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xSortedRight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-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halfCeiling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xSorted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findClosest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xSortedLeft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ySortedLeft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findClosest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xSortedRight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ySortedRight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082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strip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abs(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.x -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midX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 &lt;=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strip.push_back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ySorted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find minimum using </a:t>
            </a:r>
            <a:r>
              <a:rPr lang="en-US" altLang="zh-TW" dirty="0" err="1" smtClean="0">
                <a:solidFill>
                  <a:srgbClr val="008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and closest pair in strip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strip.size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&gt;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min(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stripClose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strip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minDist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stripClose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 = 10000;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&gt;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i + 1; j &lt;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 ++j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 min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min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7470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stripClose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 = 10000;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&gt;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i + 1; j &lt;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 ++j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 min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min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stripClose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 = 10000;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&gt;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+ 1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 min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min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strip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+ 1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2273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 bwMode="auto">
          <a:xfrm>
            <a:off x="3311838" y="3429000"/>
            <a:ext cx="2160277" cy="10801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2591747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6" name="直線接點 5"/>
          <p:cNvCxnSpPr/>
          <p:nvPr/>
        </p:nvCxnSpPr>
        <p:spPr bwMode="auto">
          <a:xfrm flipH="1">
            <a:off x="2231701" y="4509138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7" name="直線接點 6"/>
          <p:cNvCxnSpPr/>
          <p:nvPr/>
        </p:nvCxnSpPr>
        <p:spPr bwMode="auto">
          <a:xfrm flipH="1">
            <a:off x="2411724" y="324897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8" name="直線接點 7"/>
          <p:cNvCxnSpPr/>
          <p:nvPr/>
        </p:nvCxnSpPr>
        <p:spPr bwMode="auto">
          <a:xfrm flipH="1">
            <a:off x="277177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9" name="直線接點 8"/>
          <p:cNvCxnSpPr/>
          <p:nvPr/>
        </p:nvCxnSpPr>
        <p:spPr bwMode="auto">
          <a:xfrm flipH="1">
            <a:off x="3671885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0" name="直線接點 9"/>
          <p:cNvCxnSpPr/>
          <p:nvPr/>
        </p:nvCxnSpPr>
        <p:spPr bwMode="auto">
          <a:xfrm flipH="1">
            <a:off x="4211954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1" name="直線接點 10"/>
          <p:cNvCxnSpPr/>
          <p:nvPr/>
        </p:nvCxnSpPr>
        <p:spPr bwMode="auto">
          <a:xfrm flipH="1">
            <a:off x="4031931" y="414909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3491862" y="504920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4752023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4" name="直線接點 13"/>
          <p:cNvCxnSpPr/>
          <p:nvPr/>
        </p:nvCxnSpPr>
        <p:spPr bwMode="auto">
          <a:xfrm flipH="1">
            <a:off x="5292092" y="306895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5" name="直線接點 14"/>
          <p:cNvCxnSpPr/>
          <p:nvPr/>
        </p:nvCxnSpPr>
        <p:spPr bwMode="auto">
          <a:xfrm flipH="1">
            <a:off x="4572000" y="378904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 flipH="1">
            <a:off x="5112069" y="5229230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7" name="直線接點 16"/>
          <p:cNvCxnSpPr/>
          <p:nvPr/>
        </p:nvCxnSpPr>
        <p:spPr bwMode="auto">
          <a:xfrm flipH="1">
            <a:off x="6372230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 flipH="1">
            <a:off x="6372230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9" name="直線接點 18"/>
          <p:cNvCxnSpPr/>
          <p:nvPr/>
        </p:nvCxnSpPr>
        <p:spPr bwMode="auto">
          <a:xfrm flipH="1">
            <a:off x="6732276" y="486918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0" name="直線接點 19"/>
          <p:cNvCxnSpPr/>
          <p:nvPr/>
        </p:nvCxnSpPr>
        <p:spPr bwMode="auto">
          <a:xfrm flipH="1">
            <a:off x="637223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2" name="直線接點 21"/>
          <p:cNvCxnSpPr/>
          <p:nvPr/>
        </p:nvCxnSpPr>
        <p:spPr bwMode="auto">
          <a:xfrm>
            <a:off x="4391977" y="3429000"/>
            <a:ext cx="46" cy="28803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 bwMode="auto">
          <a:xfrm>
            <a:off x="3311839" y="1808793"/>
            <a:ext cx="0" cy="4500575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 bwMode="auto">
          <a:xfrm>
            <a:off x="5472115" y="1808793"/>
            <a:ext cx="0" cy="4500575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 bwMode="auto">
          <a:xfrm>
            <a:off x="4391978" y="908678"/>
            <a:ext cx="36004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 flipH="1">
            <a:off x="4031932" y="1448747"/>
            <a:ext cx="36004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直線單箭頭接點 26"/>
          <p:cNvCxnSpPr/>
          <p:nvPr/>
        </p:nvCxnSpPr>
        <p:spPr bwMode="auto">
          <a:xfrm>
            <a:off x="4752023" y="3248977"/>
            <a:ext cx="72009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直線單箭頭接點 27"/>
          <p:cNvCxnSpPr/>
          <p:nvPr/>
        </p:nvCxnSpPr>
        <p:spPr bwMode="auto">
          <a:xfrm flipH="1">
            <a:off x="3311839" y="3248977"/>
            <a:ext cx="72009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2" name="直線接點 31"/>
          <p:cNvCxnSpPr/>
          <p:nvPr/>
        </p:nvCxnSpPr>
        <p:spPr bwMode="auto">
          <a:xfrm>
            <a:off x="4391977" y="1808793"/>
            <a:ext cx="0" cy="126016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 bwMode="auto">
          <a:xfrm>
            <a:off x="3131816" y="4149092"/>
            <a:ext cx="0" cy="36004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6" name="直線單箭頭接點 35"/>
          <p:cNvCxnSpPr/>
          <p:nvPr/>
        </p:nvCxnSpPr>
        <p:spPr bwMode="auto">
          <a:xfrm flipV="1">
            <a:off x="3131816" y="3429000"/>
            <a:ext cx="1" cy="3600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直線接點 42"/>
          <p:cNvCxnSpPr/>
          <p:nvPr/>
        </p:nvCxnSpPr>
        <p:spPr bwMode="auto">
          <a:xfrm>
            <a:off x="4391978" y="728655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 bwMode="auto">
          <a:xfrm>
            <a:off x="4391978" y="1268724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 bwMode="auto">
          <a:xfrm>
            <a:off x="4031931" y="3068954"/>
            <a:ext cx="720000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2</a:t>
            </a: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2951793" y="3789046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4752024" y="728655"/>
            <a:ext cx="540069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R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3491862" y="1268724"/>
            <a:ext cx="539977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4391977" y="5949322"/>
            <a:ext cx="360000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9" name="內容版面配置區 48"/>
          <p:cNvSpPr>
            <a:spLocks noGrp="1"/>
          </p:cNvSpPr>
          <p:nvPr>
            <p:ph idx="1"/>
          </p:nvPr>
        </p:nvSpPr>
        <p:spPr>
          <a:xfrm>
            <a:off x="431471" y="548632"/>
            <a:ext cx="2160276" cy="540069"/>
          </a:xfrm>
        </p:spPr>
        <p:txBody>
          <a:bodyPr/>
          <a:lstStyle/>
          <a:p>
            <a:r>
              <a:rPr lang="en-US" altLang="zh-TW" b="1" dirty="0">
                <a:solidFill>
                  <a:srgbClr val="000000"/>
                </a:solidFill>
              </a:rPr>
              <a:t>Figure 33.11(a)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269503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2" y="1268723"/>
                <a:ext cx="8281058" cy="4680600"/>
              </a:xfrm>
            </p:spPr>
            <p:txBody>
              <a:bodyPr rIns="0"/>
              <a:lstStyle/>
              <a:p>
                <a:r>
                  <a:rPr lang="en-US" altLang="zh-TW" dirty="0"/>
                  <a:t>Each recursive invocation of the algorithm takes as input a </a:t>
                </a:r>
                <a:r>
                  <a:rPr lang="en-US" altLang="zh-TW" dirty="0" smtClean="0"/>
                  <a:t>subset      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</a:t>
                </a:r>
                <a:r>
                  <a:rPr lang="en-US" altLang="zh-TW" dirty="0" smtClean="0">
                    <a:sym typeface="Symbol" panose="05050102010706020507" pitchFamily="18" charset="2"/>
                  </a:rPr>
                  <a:t>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and arrays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 and </a:t>
                </a:r>
                <a:r>
                  <a:rPr lang="en-US" altLang="zh-TW" i="1" dirty="0" smtClean="0"/>
                  <a:t>Y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each of which contains all the points of the input subset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The points in array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 are sorted so that their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-coordinates are </a:t>
                </a:r>
                <a:r>
                  <a:rPr lang="en-US" altLang="zh-TW" dirty="0" smtClean="0"/>
                  <a:t>monotonically increasing</a:t>
                </a:r>
                <a:r>
                  <a:rPr lang="en-US" altLang="zh-TW" dirty="0"/>
                  <a:t>. Similarly, array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 is sorted by monotonically increasing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-coordinate.</a:t>
                </a:r>
                <a:endParaRPr lang="en-US" altLang="zh-TW" dirty="0" smtClean="0"/>
              </a:p>
              <a:p>
                <a:r>
                  <a:rPr lang="en-US" altLang="zh-TW" dirty="0" smtClean="0"/>
                  <a:t>A </a:t>
                </a:r>
                <a:r>
                  <a:rPr lang="en-US" altLang="zh-TW" dirty="0"/>
                  <a:t>given recursive invocation with inputs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, and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 first checks </a:t>
                </a:r>
                <a:r>
                  <a:rPr lang="en-US" altLang="zh-TW" dirty="0" smtClean="0"/>
                  <a:t>whether 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Bahnschrift Light Condensed" panose="020B0502040204020203" pitchFamily="34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|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Bahnschrift Light" panose="020B0502040204020203" pitchFamily="34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| </a:t>
                </a:r>
                <a:r>
                  <a:rPr lang="en-US" altLang="zh-TW" dirty="0" smtClean="0">
                    <a:sym typeface="Symbol" panose="05050102010706020507" pitchFamily="18" charset="2"/>
                  </a:rPr>
                  <a:t>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3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If </a:t>
                </a:r>
                <a:r>
                  <a:rPr lang="en-US" altLang="zh-TW" dirty="0"/>
                  <a:t>so, the invocation simply performs the brute-force method </a:t>
                </a:r>
                <a:r>
                  <a:rPr lang="en-US" altLang="zh-TW" dirty="0" smtClean="0"/>
                  <a:t>described above</a:t>
                </a:r>
                <a:r>
                  <a:rPr lang="en-US" altLang="zh-TW" dirty="0"/>
                  <a:t>: try </a:t>
                </a:r>
                <a:r>
                  <a:rPr lang="en-US" altLang="zh-TW" dirty="0" smtClean="0"/>
                  <a:t>all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altLang="zh-TW" sz="2000" b="0" i="0" spc="200" smtClean="0">
                                  <a:solidFill>
                                    <a:srgbClr val="000000"/>
                                  </a:solidFill>
                                  <a:latin typeface="Bahnschrift Light Condensed" panose="020B0502040204020203" pitchFamily="34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  <m:brk m:alnAt="7"/>
                                </m:rPr>
                                <a:rPr lang="en-US" altLang="zh-TW" sz="2000" b="0" i="1" spc="200" smtClean="0">
                                  <a:solidFill>
                                    <a:srgbClr val="000000"/>
                                  </a:solidFill>
                                </a:rPr>
                                <m:t>P</m:t>
                              </m:r>
                              <m:r>
                                <m:rPr>
                                  <m:nor/>
                                  <m:brk m:alnAt="7"/>
                                </m:rPr>
                                <a:rPr lang="en-US" altLang="zh-TW" sz="2000" b="0" i="0" smtClean="0">
                                  <a:solidFill>
                                    <a:srgbClr val="000000"/>
                                  </a:solidFill>
                                  <a:latin typeface="Bahnschrift Light Condensed" panose="020B0502040204020203" pitchFamily="34" charset="0"/>
                                </a:rPr>
                                <m:t>|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000">
                                  <a:solidFill>
                                    <a:srgbClr val="000000"/>
                                  </a:solidFill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 smtClean="0"/>
                  <a:t> pairs </a:t>
                </a:r>
                <a:r>
                  <a:rPr lang="en-US" altLang="zh-TW" dirty="0"/>
                  <a:t>of points and return the closest pair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If 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Bahnschrift Light Condensed" panose="020B0502040204020203" pitchFamily="34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|</a:t>
                </a:r>
                <a:r>
                  <a:rPr lang="en-US" altLang="zh-TW" i="1" spc="300" dirty="0">
                    <a:solidFill>
                      <a:srgbClr val="000000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dirty="0">
                    <a:solidFill>
                      <a:srgbClr val="000000"/>
                    </a:solidFill>
                    <a:latin typeface="Bahnschrift Light" panose="020B0502040204020203" pitchFamily="34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|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&gt;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3, </a:t>
                </a:r>
                <a:r>
                  <a:rPr lang="en-US" altLang="zh-TW" dirty="0" smtClean="0"/>
                  <a:t>the recursive </a:t>
                </a:r>
                <a:r>
                  <a:rPr lang="en-US" altLang="zh-TW" dirty="0"/>
                  <a:t>invocation carries out the divide-and-conquer paradigm as follows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2" y="1268723"/>
                <a:ext cx="8281058" cy="4680600"/>
              </a:xfrm>
              <a:blipFill>
                <a:blip r:embed="rId2"/>
                <a:stretch>
                  <a:fillRect l="-884" t="-911" r="-2872" b="-7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132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Divide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3"/>
            <a:ext cx="8281057" cy="3420438"/>
          </a:xfrm>
        </p:spPr>
        <p:txBody>
          <a:bodyPr rIns="72000"/>
          <a:lstStyle/>
          <a:p>
            <a:r>
              <a:rPr lang="en-US" altLang="zh-TW" dirty="0"/>
              <a:t>Find a vertical line </a:t>
            </a:r>
            <a:r>
              <a:rPr lang="en-US" altLang="zh-TW" i="1" dirty="0"/>
              <a:t>l</a:t>
            </a:r>
            <a:r>
              <a:rPr lang="en-US" altLang="zh-TW" dirty="0"/>
              <a:t> that bisects the point set </a:t>
            </a:r>
            <a:r>
              <a:rPr lang="en-US" altLang="zh-TW" i="1" dirty="0"/>
              <a:t>P</a:t>
            </a:r>
            <a:r>
              <a:rPr lang="en-US" altLang="zh-TW" dirty="0"/>
              <a:t> into two sets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</a:t>
            </a:r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R</a:t>
            </a:r>
            <a:r>
              <a:rPr lang="en-US" altLang="zh-TW" dirty="0" smtClean="0"/>
              <a:t> such that </a:t>
            </a:r>
            <a:r>
              <a:rPr lang="en-US" altLang="zh-TW" spc="300" dirty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dirty="0" smtClean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zh-TW" i="1" spc="300" baseline="-25000" dirty="0" smtClean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b="1" spc="300" dirty="0" smtClean="0">
                <a:sym typeface="Symbol" panose="05050102010706020507" pitchFamily="18" charset="2"/>
              </a:rPr>
              <a:t></a:t>
            </a:r>
            <a:r>
              <a:rPr lang="en-US" altLang="zh-TW" spc="300" dirty="0" smtClean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zh-TW" spc="300" dirty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b="1" spc="300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TW" spc="300" dirty="0" smtClean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2</a:t>
            </a:r>
            <a:r>
              <a:rPr lang="en-US" altLang="zh-TW" b="1" spc="300" dirty="0" smtClean="0">
                <a:sym typeface="Symbol" panose="05050102010706020507" pitchFamily="18" charset="2"/>
              </a:rPr>
              <a:t></a:t>
            </a:r>
            <a:r>
              <a:rPr lang="en-US" altLang="zh-TW" dirty="0" smtClean="0">
                <a:sym typeface="Symbol" panose="05050102010706020507" pitchFamily="18" charset="2"/>
              </a:rPr>
              <a:t>, </a:t>
            </a:r>
            <a:r>
              <a:rPr lang="en-US" altLang="zh-TW" spc="300" dirty="0" smtClean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dirty="0" smtClean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zh-TW" i="1" spc="300" baseline="-25000" dirty="0" smtClean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R</a:t>
            </a:r>
            <a:r>
              <a:rPr lang="en-US" altLang="zh-TW" dirty="0" smtClean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zh-TW" altLang="en-US" dirty="0" smtClean="0">
                <a:sym typeface="Symbol" panose="05050102010706020507" pitchFamily="18" charset="2"/>
              </a:rPr>
              <a:t> </a:t>
            </a:r>
            <a:r>
              <a:rPr lang="en-US" altLang="zh-TW" b="1" spc="300" dirty="0" smtClean="0">
                <a:sym typeface="Symbol" panose="05050102010706020507" pitchFamily="18" charset="2"/>
              </a:rPr>
              <a:t></a:t>
            </a:r>
            <a:r>
              <a:rPr lang="en-US" altLang="zh-TW" spc="300" dirty="0" smtClean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zh-TW" spc="300" dirty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b="1" spc="300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TW" spc="300" dirty="0" smtClean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2</a:t>
            </a:r>
            <a:r>
              <a:rPr lang="en-US" altLang="zh-TW" b="1" spc="300" dirty="0" smtClean="0">
                <a:sym typeface="Symbol" panose="05050102010706020507" pitchFamily="18" charset="2"/>
              </a:rPr>
              <a:t></a:t>
            </a:r>
            <a:r>
              <a:rPr lang="en-US" altLang="zh-TW" dirty="0" smtClean="0"/>
              <a:t>, </a:t>
            </a:r>
            <a:r>
              <a:rPr lang="en-US" altLang="zh-TW" dirty="0"/>
              <a:t>all points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are on or to </a:t>
            </a:r>
            <a:r>
              <a:rPr lang="en-US" altLang="zh-TW" dirty="0" smtClean="0"/>
              <a:t>the left </a:t>
            </a:r>
            <a:r>
              <a:rPr lang="en-US" altLang="zh-TW" dirty="0"/>
              <a:t>of line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, </a:t>
            </a:r>
            <a:r>
              <a:rPr lang="en-US" altLang="zh-TW" dirty="0"/>
              <a:t>and all points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 are on or to the right of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Divide </a:t>
            </a:r>
            <a:r>
              <a:rPr lang="en-US" altLang="zh-TW" dirty="0"/>
              <a:t>the array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into </a:t>
            </a:r>
            <a:r>
              <a:rPr lang="en-US" altLang="zh-TW" dirty="0"/>
              <a:t>arrays </a:t>
            </a:r>
            <a:r>
              <a:rPr lang="en-US" altLang="zh-TW" i="1" dirty="0"/>
              <a:t>X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</a:t>
            </a:r>
            <a:r>
              <a:rPr lang="en-US" altLang="zh-TW" i="1" dirty="0" err="1"/>
              <a:t>X</a:t>
            </a:r>
            <a:r>
              <a:rPr lang="en-US" altLang="zh-TW" i="1" baseline="-25000" dirty="0" err="1"/>
              <a:t>R</a:t>
            </a:r>
            <a:r>
              <a:rPr lang="en-US" altLang="zh-TW" dirty="0"/>
              <a:t>, which contain the points of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 respectively</a:t>
            </a:r>
            <a:r>
              <a:rPr lang="en-US" altLang="zh-TW" dirty="0" smtClean="0"/>
              <a:t>, sorted </a:t>
            </a:r>
            <a:r>
              <a:rPr lang="en-US" altLang="zh-TW" dirty="0"/>
              <a:t>by monotonically </a:t>
            </a:r>
            <a:r>
              <a:rPr lang="en-US" altLang="zh-TW" dirty="0" smtClean="0"/>
              <a:t>increasing	         </a:t>
            </a:r>
            <a:r>
              <a:rPr lang="en-US" altLang="zh-TW" i="1" dirty="0"/>
              <a:t>x</a:t>
            </a:r>
            <a:r>
              <a:rPr lang="en-US" altLang="zh-TW" dirty="0"/>
              <a:t>-coordinate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Similarly</a:t>
            </a:r>
            <a:r>
              <a:rPr lang="en-US" altLang="zh-TW" dirty="0"/>
              <a:t>, divide the array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into </a:t>
            </a:r>
            <a:r>
              <a:rPr lang="en-US" altLang="zh-TW" dirty="0"/>
              <a:t>arrays </a:t>
            </a:r>
            <a:r>
              <a:rPr lang="en-US" altLang="zh-TW" i="1" dirty="0" err="1"/>
              <a:t>Y</a:t>
            </a:r>
            <a:r>
              <a:rPr lang="en-US" altLang="zh-TW" i="1" baseline="-25000" dirty="0" err="1"/>
              <a:t>L</a:t>
            </a:r>
            <a:r>
              <a:rPr lang="en-US" altLang="zh-TW" dirty="0"/>
              <a:t> and </a:t>
            </a:r>
            <a:r>
              <a:rPr lang="en-US" altLang="zh-TW" i="1" dirty="0" err="1"/>
              <a:t>Y</a:t>
            </a:r>
            <a:r>
              <a:rPr lang="en-US" altLang="zh-TW" i="1" baseline="-25000" dirty="0" err="1"/>
              <a:t>R</a:t>
            </a:r>
            <a:r>
              <a:rPr lang="en-US" altLang="zh-TW" dirty="0"/>
              <a:t>, which contain the points of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 respectively</a:t>
            </a:r>
            <a:r>
              <a:rPr lang="en-US" altLang="zh-TW" dirty="0" smtClean="0"/>
              <a:t>, sorted </a:t>
            </a:r>
            <a:r>
              <a:rPr lang="en-US" altLang="zh-TW" dirty="0"/>
              <a:t>by monotonically increasing </a:t>
            </a:r>
            <a:r>
              <a:rPr lang="en-US" altLang="zh-TW" i="1" dirty="0"/>
              <a:t>y</a:t>
            </a:r>
            <a:r>
              <a:rPr lang="en-US" altLang="zh-TW" dirty="0"/>
              <a:t>-coordinate.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1443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Conquer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2700346"/>
          </a:xfrm>
        </p:spPr>
        <p:txBody>
          <a:bodyPr/>
          <a:lstStyle/>
          <a:p>
            <a:r>
              <a:rPr lang="en-US" altLang="zh-TW" dirty="0"/>
              <a:t>Having divided </a:t>
            </a:r>
            <a:r>
              <a:rPr lang="en-US" altLang="zh-TW" i="1" dirty="0"/>
              <a:t>P</a:t>
            </a:r>
            <a:r>
              <a:rPr lang="en-US" altLang="zh-TW" dirty="0"/>
              <a:t> into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 </a:t>
            </a:r>
            <a:r>
              <a:rPr lang="en-US" altLang="zh-TW" dirty="0"/>
              <a:t>make two recursive calls</a:t>
            </a:r>
            <a:r>
              <a:rPr lang="en-US" altLang="zh-TW" dirty="0" smtClean="0"/>
              <a:t>,	      </a:t>
            </a:r>
            <a:r>
              <a:rPr lang="en-US" altLang="zh-TW" dirty="0"/>
              <a:t>one to </a:t>
            </a:r>
            <a:r>
              <a:rPr lang="en-US" altLang="zh-TW" dirty="0" smtClean="0"/>
              <a:t>find the </a:t>
            </a:r>
            <a:r>
              <a:rPr lang="en-US" altLang="zh-TW" dirty="0"/>
              <a:t>closest pair of points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and the other to find the closest pair of </a:t>
            </a:r>
            <a:r>
              <a:rPr lang="en-US" altLang="zh-TW" dirty="0" smtClean="0"/>
              <a:t>points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inputs to the first call are the subset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and arrays </a:t>
            </a:r>
            <a:r>
              <a:rPr lang="en-US" altLang="zh-TW" i="1" dirty="0" smtClean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;   the second </a:t>
            </a:r>
            <a:r>
              <a:rPr lang="en-US" altLang="zh-TW" dirty="0"/>
              <a:t>call receives the inputs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 </a:t>
            </a:r>
            <a:r>
              <a:rPr lang="en-US" altLang="zh-TW" dirty="0"/>
              <a:t>and </a:t>
            </a:r>
            <a:r>
              <a:rPr lang="en-US" altLang="zh-TW" i="1" dirty="0" smtClean="0">
                <a:solidFill>
                  <a:srgbClr val="000000"/>
                </a:solidFill>
              </a:rPr>
              <a:t>Y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Let </a:t>
            </a:r>
            <a:r>
              <a:rPr lang="en-US" altLang="zh-TW" dirty="0"/>
              <a:t>the closest-pair </a:t>
            </a:r>
            <a:r>
              <a:rPr lang="en-US" altLang="zh-TW" dirty="0" smtClean="0"/>
              <a:t>distances returned </a:t>
            </a:r>
            <a:r>
              <a:rPr lang="en-US" altLang="zh-TW" dirty="0"/>
              <a:t>for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 </a:t>
            </a:r>
            <a:r>
              <a:rPr lang="en-US" altLang="zh-TW" dirty="0" smtClean="0"/>
              <a:t>be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 </a:t>
            </a:r>
            <a:r>
              <a:rPr lang="en-US" altLang="zh-TW" dirty="0"/>
              <a:t>respectively, and </a:t>
            </a:r>
            <a:r>
              <a:rPr lang="en-US" altLang="zh-TW" dirty="0" smtClean="0"/>
              <a:t>let </a:t>
            </a:r>
            <a:r>
              <a:rPr lang="zh-TW" altLang="en-US" dirty="0" smtClean="0"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anose="05050102010706020507" pitchFamily="18" charset="2"/>
              </a:rPr>
              <a:t>=</a:t>
            </a:r>
            <a:r>
              <a:rPr lang="en-US" altLang="zh-TW" dirty="0" smtClean="0"/>
              <a:t> min(</a:t>
            </a:r>
            <a:r>
              <a:rPr lang="zh-TW" altLang="en-US" dirty="0" smtClean="0"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 smtClean="0"/>
              <a:t>L</a:t>
            </a:r>
            <a:r>
              <a:rPr lang="en-US" altLang="zh-TW" dirty="0" smtClean="0"/>
              <a:t>, </a:t>
            </a:r>
            <a:r>
              <a:rPr lang="zh-TW" altLang="en-US" dirty="0" smtClean="0">
                <a:latin typeface="Cambria Math" panose="02040503050406030204" pitchFamily="18" charset="0"/>
              </a:rPr>
              <a:t>𝛿</a:t>
            </a:r>
            <a:r>
              <a:rPr lang="en-US" altLang="zh-TW" i="1" baseline="-25000" dirty="0" smtClean="0"/>
              <a:t>R</a:t>
            </a:r>
            <a:r>
              <a:rPr lang="en-US" altLang="zh-TW" dirty="0" smtClean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7038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Combine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3"/>
            <a:ext cx="8281057" cy="3240415"/>
          </a:xfrm>
        </p:spPr>
        <p:txBody>
          <a:bodyPr/>
          <a:lstStyle/>
          <a:p>
            <a:r>
              <a:rPr lang="en-US" altLang="zh-TW" dirty="0"/>
              <a:t>The closest pair is either the pair with </a:t>
            </a:r>
            <a:r>
              <a:rPr lang="en-US" altLang="zh-TW" dirty="0" smtClean="0"/>
              <a:t>distance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found by one of </a:t>
            </a:r>
            <a:r>
              <a:rPr lang="en-US" altLang="zh-TW" dirty="0" smtClean="0"/>
              <a:t>the recursive </a:t>
            </a:r>
            <a:r>
              <a:rPr lang="en-US" altLang="zh-TW" dirty="0"/>
              <a:t>calls, or it is a pair of points with one point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the other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The algorithm determines whether there is a pair with one point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</a:t>
            </a:r>
            <a:r>
              <a:rPr lang="en-US" altLang="zh-TW" dirty="0" smtClean="0"/>
              <a:t>the other </a:t>
            </a:r>
            <a:r>
              <a:rPr lang="en-US" altLang="zh-TW" dirty="0"/>
              <a:t>point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 and whose distance is less </a:t>
            </a:r>
            <a:r>
              <a:rPr lang="en-US" altLang="zh-TW" dirty="0" smtClean="0"/>
              <a:t>than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. </a:t>
            </a:r>
            <a:r>
              <a:rPr lang="en-US" altLang="zh-TW" dirty="0"/>
              <a:t>Observe that if a pair </a:t>
            </a:r>
            <a:r>
              <a:rPr lang="en-US" altLang="zh-TW" dirty="0" smtClean="0"/>
              <a:t>of points </a:t>
            </a:r>
            <a:r>
              <a:rPr lang="en-US" altLang="zh-TW" dirty="0"/>
              <a:t>has distance less than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, </a:t>
            </a:r>
            <a:r>
              <a:rPr lang="en-US" altLang="zh-TW" dirty="0"/>
              <a:t>both points of the pair must be </a:t>
            </a:r>
            <a:r>
              <a:rPr lang="en-US" altLang="zh-TW" dirty="0" smtClean="0"/>
              <a:t>within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units of </a:t>
            </a:r>
            <a:r>
              <a:rPr lang="en-US" altLang="zh-TW" dirty="0"/>
              <a:t>line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. </a:t>
            </a:r>
            <a:r>
              <a:rPr lang="en-US" altLang="zh-TW" dirty="0"/>
              <a:t>Thus, as Figure 33.11(a) shows, they both must reside in the </a:t>
            </a:r>
            <a:r>
              <a:rPr lang="en-US" altLang="zh-TW" dirty="0" smtClean="0"/>
              <a:t>2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-wide vertical </a:t>
            </a:r>
            <a:r>
              <a:rPr lang="en-US" altLang="zh-TW" dirty="0"/>
              <a:t>strip centered at line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. </a:t>
            </a:r>
            <a:r>
              <a:rPr lang="en-US" altLang="zh-TW" dirty="0"/>
              <a:t>To find such a pair, if one exists, we do </a:t>
            </a:r>
            <a:r>
              <a:rPr lang="en-US" altLang="zh-TW" dirty="0" smtClean="0"/>
              <a:t>the following: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957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 bwMode="auto">
          <a:xfrm>
            <a:off x="3311838" y="3429000"/>
            <a:ext cx="2160277" cy="10801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2591747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6" name="直線接點 5"/>
          <p:cNvCxnSpPr/>
          <p:nvPr/>
        </p:nvCxnSpPr>
        <p:spPr bwMode="auto">
          <a:xfrm flipH="1">
            <a:off x="2231701" y="4509138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7" name="直線接點 6"/>
          <p:cNvCxnSpPr/>
          <p:nvPr/>
        </p:nvCxnSpPr>
        <p:spPr bwMode="auto">
          <a:xfrm flipH="1">
            <a:off x="2411724" y="324897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8" name="直線接點 7"/>
          <p:cNvCxnSpPr/>
          <p:nvPr/>
        </p:nvCxnSpPr>
        <p:spPr bwMode="auto">
          <a:xfrm flipH="1">
            <a:off x="277177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9" name="直線接點 8"/>
          <p:cNvCxnSpPr/>
          <p:nvPr/>
        </p:nvCxnSpPr>
        <p:spPr bwMode="auto">
          <a:xfrm flipH="1">
            <a:off x="3671885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0" name="直線接點 9"/>
          <p:cNvCxnSpPr/>
          <p:nvPr/>
        </p:nvCxnSpPr>
        <p:spPr bwMode="auto">
          <a:xfrm flipH="1">
            <a:off x="4211954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1" name="直線接點 10"/>
          <p:cNvCxnSpPr/>
          <p:nvPr/>
        </p:nvCxnSpPr>
        <p:spPr bwMode="auto">
          <a:xfrm flipH="1">
            <a:off x="4031931" y="414909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3491862" y="5049207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4752023" y="198881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4" name="直線接點 13"/>
          <p:cNvCxnSpPr/>
          <p:nvPr/>
        </p:nvCxnSpPr>
        <p:spPr bwMode="auto">
          <a:xfrm flipH="1">
            <a:off x="5292092" y="306895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5" name="直線接點 14"/>
          <p:cNvCxnSpPr/>
          <p:nvPr/>
        </p:nvCxnSpPr>
        <p:spPr bwMode="auto">
          <a:xfrm flipH="1">
            <a:off x="4572000" y="3789046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 flipH="1">
            <a:off x="5112069" y="5229230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7" name="直線接點 16"/>
          <p:cNvCxnSpPr/>
          <p:nvPr/>
        </p:nvCxnSpPr>
        <p:spPr bwMode="auto">
          <a:xfrm flipH="1">
            <a:off x="6372230" y="2528885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 flipH="1">
            <a:off x="6372230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9" name="直線接點 18"/>
          <p:cNvCxnSpPr/>
          <p:nvPr/>
        </p:nvCxnSpPr>
        <p:spPr bwMode="auto">
          <a:xfrm flipH="1">
            <a:off x="6732276" y="4869184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0" name="直線接點 19"/>
          <p:cNvCxnSpPr/>
          <p:nvPr/>
        </p:nvCxnSpPr>
        <p:spPr bwMode="auto">
          <a:xfrm flipH="1">
            <a:off x="6372230" y="594932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2" name="直線接點 21"/>
          <p:cNvCxnSpPr/>
          <p:nvPr/>
        </p:nvCxnSpPr>
        <p:spPr bwMode="auto">
          <a:xfrm>
            <a:off x="4391977" y="3429000"/>
            <a:ext cx="46" cy="28803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 bwMode="auto">
          <a:xfrm>
            <a:off x="3311839" y="1808793"/>
            <a:ext cx="0" cy="4500575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 bwMode="auto">
          <a:xfrm>
            <a:off x="5472115" y="1808793"/>
            <a:ext cx="0" cy="4500575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 bwMode="auto">
          <a:xfrm>
            <a:off x="4391978" y="908678"/>
            <a:ext cx="36004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 flipH="1">
            <a:off x="4031932" y="1448747"/>
            <a:ext cx="36004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直線單箭頭接點 26"/>
          <p:cNvCxnSpPr/>
          <p:nvPr/>
        </p:nvCxnSpPr>
        <p:spPr bwMode="auto">
          <a:xfrm>
            <a:off x="4752023" y="3248977"/>
            <a:ext cx="72009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直線單箭頭接點 27"/>
          <p:cNvCxnSpPr/>
          <p:nvPr/>
        </p:nvCxnSpPr>
        <p:spPr bwMode="auto">
          <a:xfrm flipH="1">
            <a:off x="3311839" y="3248977"/>
            <a:ext cx="72009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2" name="直線接點 31"/>
          <p:cNvCxnSpPr/>
          <p:nvPr/>
        </p:nvCxnSpPr>
        <p:spPr bwMode="auto">
          <a:xfrm>
            <a:off x="4391977" y="1808793"/>
            <a:ext cx="0" cy="126016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 bwMode="auto">
          <a:xfrm>
            <a:off x="3131816" y="4149092"/>
            <a:ext cx="0" cy="36004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6" name="直線單箭頭接點 35"/>
          <p:cNvCxnSpPr/>
          <p:nvPr/>
        </p:nvCxnSpPr>
        <p:spPr bwMode="auto">
          <a:xfrm flipV="1">
            <a:off x="3131816" y="3429000"/>
            <a:ext cx="1" cy="3600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直線接點 42"/>
          <p:cNvCxnSpPr/>
          <p:nvPr/>
        </p:nvCxnSpPr>
        <p:spPr bwMode="auto">
          <a:xfrm>
            <a:off x="4391978" y="728655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 bwMode="auto">
          <a:xfrm>
            <a:off x="4391978" y="1268724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 bwMode="auto">
          <a:xfrm>
            <a:off x="4031931" y="3068954"/>
            <a:ext cx="720000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2</a:t>
            </a: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2951793" y="3789046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4752024" y="728655"/>
            <a:ext cx="540069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R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3491862" y="1268724"/>
            <a:ext cx="539977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4391977" y="5949322"/>
            <a:ext cx="360000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5369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Combine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51448" y="1268723"/>
            <a:ext cx="8641104" cy="3600461"/>
          </a:xfrm>
        </p:spPr>
        <p:txBody>
          <a:bodyPr rIns="36000"/>
          <a:lstStyle/>
          <a:p>
            <a:pPr marL="268288" indent="-268288">
              <a:buFont typeface="+mj-lt"/>
              <a:buAutoNum type="arabicPeriod"/>
            </a:pPr>
            <a:r>
              <a:rPr lang="en-US" altLang="zh-TW" dirty="0" smtClean="0"/>
              <a:t>Create </a:t>
            </a:r>
            <a:r>
              <a:rPr lang="en-US" altLang="zh-TW" dirty="0"/>
              <a:t>an array </a:t>
            </a:r>
            <a:r>
              <a:rPr lang="en-US" altLang="zh-TW" i="1" spc="300" dirty="0" smtClean="0"/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, </a:t>
            </a:r>
            <a:r>
              <a:rPr lang="en-US" altLang="zh-TW" dirty="0"/>
              <a:t>which is the array </a:t>
            </a:r>
            <a:r>
              <a:rPr lang="en-US" altLang="zh-TW" i="1" dirty="0"/>
              <a:t>Y</a:t>
            </a:r>
            <a:r>
              <a:rPr lang="en-US" altLang="zh-TW" dirty="0"/>
              <a:t> with all points not in </a:t>
            </a:r>
            <a:r>
              <a:rPr lang="en-US" altLang="zh-TW" dirty="0" smtClean="0"/>
              <a:t>the </a:t>
            </a:r>
            <a:r>
              <a:rPr lang="en-US" altLang="zh-TW" dirty="0">
                <a:solidFill>
                  <a:srgbClr val="000000"/>
                </a:solidFill>
              </a:rPr>
              <a:t>2</a:t>
            </a:r>
            <a:r>
              <a:rPr lang="zh-TW" altLang="en-US" dirty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-wide vertical </a:t>
            </a:r>
            <a:r>
              <a:rPr lang="en-US" altLang="zh-TW" dirty="0"/>
              <a:t>strip removed. The array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/>
              <a:t>is sorted by </a:t>
            </a:r>
            <a:r>
              <a:rPr lang="en-US" altLang="zh-TW" i="1" dirty="0"/>
              <a:t>y</a:t>
            </a:r>
            <a:r>
              <a:rPr lang="en-US" altLang="zh-TW" dirty="0"/>
              <a:t>-coordinate, just as </a:t>
            </a:r>
            <a:r>
              <a:rPr lang="en-US" altLang="zh-TW" i="1" dirty="0"/>
              <a:t>Y</a:t>
            </a:r>
            <a:r>
              <a:rPr lang="en-US" altLang="zh-TW" dirty="0"/>
              <a:t> is.</a:t>
            </a:r>
          </a:p>
          <a:p>
            <a:pPr marL="268288" indent="-268288">
              <a:buFont typeface="+mj-lt"/>
              <a:buAutoNum type="arabicPeriod"/>
            </a:pPr>
            <a:r>
              <a:rPr lang="en-US" altLang="zh-TW" dirty="0" smtClean="0">
                <a:solidFill>
                  <a:srgbClr val="FF0000"/>
                </a:solidFill>
              </a:rPr>
              <a:t>For </a:t>
            </a:r>
            <a:r>
              <a:rPr lang="en-US" altLang="zh-TW" dirty="0">
                <a:solidFill>
                  <a:srgbClr val="FF0000"/>
                </a:solidFill>
              </a:rPr>
              <a:t>each point </a:t>
            </a:r>
            <a:r>
              <a:rPr lang="en-US" altLang="zh-TW" i="1" dirty="0">
                <a:solidFill>
                  <a:srgbClr val="FF0000"/>
                </a:solidFill>
              </a:rPr>
              <a:t>p</a:t>
            </a:r>
            <a:r>
              <a:rPr lang="en-US" altLang="zh-TW" dirty="0">
                <a:solidFill>
                  <a:srgbClr val="FF0000"/>
                </a:solidFill>
              </a:rPr>
              <a:t> in the array </a:t>
            </a:r>
            <a:r>
              <a:rPr lang="en-US" altLang="zh-TW" i="1" spc="300" dirty="0">
                <a:solidFill>
                  <a:srgbClr val="FF0000"/>
                </a:solidFill>
              </a:rPr>
              <a:t>Y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FF0000"/>
                </a:solidFill>
              </a:rPr>
              <a:t>, </a:t>
            </a:r>
            <a:r>
              <a:rPr lang="en-US" altLang="zh-TW" dirty="0">
                <a:solidFill>
                  <a:srgbClr val="FF0000"/>
                </a:solidFill>
              </a:rPr>
              <a:t>try to find points in </a:t>
            </a:r>
            <a:r>
              <a:rPr lang="en-US" altLang="zh-TW" i="1" spc="300" dirty="0">
                <a:solidFill>
                  <a:srgbClr val="FF0000"/>
                </a:solidFill>
              </a:rPr>
              <a:t>Y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that are within </a:t>
            </a:r>
            <a:r>
              <a:rPr lang="zh-TW" altLang="en-US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>
                <a:solidFill>
                  <a:srgbClr val="FF0000"/>
                </a:solidFill>
              </a:rPr>
              <a:t> units </a:t>
            </a:r>
            <a:r>
              <a:rPr lang="en-US" altLang="zh-TW" dirty="0">
                <a:solidFill>
                  <a:srgbClr val="FF0000"/>
                </a:solidFill>
              </a:rPr>
              <a:t>of </a:t>
            </a:r>
            <a:r>
              <a:rPr lang="en-US" altLang="zh-TW" i="1" dirty="0">
                <a:solidFill>
                  <a:srgbClr val="FF0000"/>
                </a:solidFill>
              </a:rPr>
              <a:t>p</a:t>
            </a:r>
            <a:r>
              <a:rPr lang="en-US" altLang="zh-TW" dirty="0">
                <a:solidFill>
                  <a:srgbClr val="FF0000"/>
                </a:solidFill>
              </a:rPr>
              <a:t>. </a:t>
            </a:r>
            <a:r>
              <a:rPr lang="en-US" altLang="zh-TW" dirty="0"/>
              <a:t>As we shall see shortly, </a:t>
            </a:r>
            <a:r>
              <a:rPr lang="en-US" altLang="zh-TW" dirty="0">
                <a:solidFill>
                  <a:srgbClr val="FF0000"/>
                </a:solidFill>
              </a:rPr>
              <a:t>only the 7 points in </a:t>
            </a:r>
            <a:r>
              <a:rPr lang="en-US" altLang="zh-TW" i="1" spc="300" dirty="0">
                <a:solidFill>
                  <a:srgbClr val="FF0000"/>
                </a:solidFill>
              </a:rPr>
              <a:t>Y</a:t>
            </a:r>
            <a:r>
              <a:rPr lang="en-US" altLang="zh-TW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that follow </a:t>
            </a:r>
            <a:r>
              <a:rPr lang="en-US" altLang="zh-TW" i="1" dirty="0">
                <a:solidFill>
                  <a:srgbClr val="FF0000"/>
                </a:solidFill>
              </a:rPr>
              <a:t>p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need be </a:t>
            </a:r>
            <a:r>
              <a:rPr lang="en-US" altLang="zh-TW" dirty="0">
                <a:solidFill>
                  <a:srgbClr val="FF0000"/>
                </a:solidFill>
              </a:rPr>
              <a:t>considered.</a:t>
            </a:r>
            <a:r>
              <a:rPr lang="en-US" altLang="zh-TW" dirty="0"/>
              <a:t> Compute the distance from </a:t>
            </a:r>
            <a:r>
              <a:rPr lang="en-US" altLang="zh-TW" i="1" dirty="0"/>
              <a:t>p</a:t>
            </a:r>
            <a:r>
              <a:rPr lang="en-US" altLang="zh-TW" dirty="0"/>
              <a:t> to each of these 7 points, </a:t>
            </a:r>
            <a:r>
              <a:rPr lang="en-US" altLang="zh-TW" dirty="0" smtClean="0"/>
              <a:t>and keep </a:t>
            </a:r>
            <a:r>
              <a:rPr lang="en-US" altLang="zh-TW" dirty="0"/>
              <a:t>track of the closest-pair </a:t>
            </a:r>
            <a:r>
              <a:rPr lang="en-US" altLang="zh-TW" dirty="0" smtClean="0"/>
              <a:t>distance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/>
              <a:t>found over all pairs of points in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marL="268288" indent="-268288">
              <a:buFont typeface="+mj-lt"/>
              <a:buAutoNum type="arabicPeriod"/>
            </a:pPr>
            <a:r>
              <a:rPr lang="en-US" altLang="zh-TW" dirty="0" smtClean="0"/>
              <a:t>If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>
                <a:latin typeface="Symbol" panose="05050102010706020507" pitchFamily="18" charset="2"/>
              </a:rPr>
              <a:t>&lt;</a:t>
            </a:r>
            <a:r>
              <a:rPr lang="en-US" altLang="zh-TW" dirty="0"/>
              <a:t>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, </a:t>
            </a:r>
            <a:r>
              <a:rPr lang="en-US" altLang="zh-TW" dirty="0"/>
              <a:t>then the vertical strip does indeed contain a closer pair than </a:t>
            </a:r>
            <a:r>
              <a:rPr lang="en-US" altLang="zh-TW" dirty="0" smtClean="0"/>
              <a:t>the recursive </a:t>
            </a:r>
            <a:r>
              <a:rPr lang="en-US" altLang="zh-TW" dirty="0"/>
              <a:t>calls found. Return this pair and its distance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. </a:t>
            </a:r>
            <a:r>
              <a:rPr lang="en-US" altLang="zh-TW" dirty="0"/>
              <a:t>Otherwise, </a:t>
            </a:r>
            <a:r>
              <a:rPr lang="en-US" altLang="zh-TW" dirty="0" smtClean="0"/>
              <a:t>return the </a:t>
            </a:r>
            <a:r>
              <a:rPr lang="en-US" altLang="zh-TW" dirty="0"/>
              <a:t>closest pair and its </a:t>
            </a:r>
            <a:r>
              <a:rPr lang="en-US" altLang="zh-TW" dirty="0" smtClean="0"/>
              <a:t>distance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found by the recursive calls.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4168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above description omits some implementation details that are necessary </a:t>
            </a:r>
            <a:r>
              <a:rPr lang="en-US" altLang="zh-TW" dirty="0" smtClean="0"/>
              <a:t>to achieve </a:t>
            </a:r>
            <a:r>
              <a:rPr lang="en-US" altLang="zh-TW" dirty="0"/>
              <a:t>the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spc="300" dirty="0" err="1" smtClean="0"/>
              <a:t>n</a:t>
            </a:r>
            <a:r>
              <a:rPr lang="en-US" altLang="zh-TW" dirty="0" err="1" smtClean="0"/>
              <a:t>l</a:t>
            </a:r>
            <a:r>
              <a:rPr lang="en-US" altLang="zh-TW" spc="300" dirty="0" err="1" smtClean="0"/>
              <a:t>g</a:t>
            </a:r>
            <a:r>
              <a:rPr lang="en-US" altLang="zh-TW" i="1" dirty="0" err="1" smtClean="0"/>
              <a:t>n</a:t>
            </a:r>
            <a:r>
              <a:rPr lang="en-US" altLang="zh-TW" dirty="0" smtClean="0"/>
              <a:t>) </a:t>
            </a:r>
            <a:r>
              <a:rPr lang="en-US" altLang="zh-TW" dirty="0"/>
              <a:t>running time. After proving the correctness of the algorithm</a:t>
            </a:r>
            <a:r>
              <a:rPr lang="en-US" altLang="zh-TW" dirty="0" smtClean="0"/>
              <a:t>, we </a:t>
            </a:r>
            <a:r>
              <a:rPr lang="en-US" altLang="zh-TW" dirty="0"/>
              <a:t>shall show how to implement the algorithm to achieve the desired time bound.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1165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Correctness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 </a:t>
            </a:r>
            <a:r>
              <a:rPr lang="en-US" altLang="zh-TW" dirty="0"/>
              <a:t>shall now </a:t>
            </a:r>
            <a:r>
              <a:rPr lang="en-US" altLang="zh-TW" dirty="0" smtClean="0"/>
              <a:t>prove that we need only </a:t>
            </a:r>
            <a:r>
              <a:rPr lang="en-US" altLang="zh-TW" dirty="0"/>
              <a:t>check the 7 points following each point </a:t>
            </a:r>
            <a:r>
              <a:rPr lang="en-US" altLang="zh-TW" i="1" dirty="0"/>
              <a:t>p</a:t>
            </a:r>
            <a:r>
              <a:rPr lang="en-US" altLang="zh-TW" dirty="0"/>
              <a:t> in array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Suppose that at some level of the recursion, the closest pair of points is </a:t>
            </a:r>
            <a:r>
              <a:rPr lang="en-US" altLang="zh-TW" i="1" dirty="0" err="1"/>
              <a:t>p</a:t>
            </a:r>
            <a:r>
              <a:rPr lang="en-US" altLang="zh-TW" i="1" baseline="-25000" dirty="0" err="1"/>
              <a:t>L</a:t>
            </a:r>
            <a:r>
              <a:rPr lang="en-US" altLang="zh-TW" dirty="0"/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L</a:t>
            </a:r>
            <a:r>
              <a:rPr lang="en-US" altLang="zh-TW" dirty="0" smtClean="0"/>
              <a:t> and </a:t>
            </a:r>
            <a:r>
              <a:rPr lang="en-US" altLang="zh-TW" i="1" dirty="0" err="1"/>
              <a:t>p</a:t>
            </a:r>
            <a:r>
              <a:rPr lang="en-US" altLang="zh-TW" i="1" baseline="-25000" dirty="0" err="1"/>
              <a:t>R</a:t>
            </a:r>
            <a:r>
              <a:rPr lang="en-US" altLang="zh-TW" dirty="0"/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 smtClean="0"/>
              <a:t>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. Thus, the distance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/>
              <a:t>between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</a:t>
            </a:r>
            <a:r>
              <a:rPr lang="en-US" altLang="zh-TW" dirty="0"/>
              <a:t>is strictly less </a:t>
            </a:r>
            <a:r>
              <a:rPr lang="en-US" altLang="zh-TW" dirty="0" smtClean="0"/>
              <a:t>than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Point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must be on or to the left of line </a:t>
            </a:r>
            <a:r>
              <a:rPr lang="en-US" altLang="zh-TW" i="1" dirty="0"/>
              <a:t>l</a:t>
            </a:r>
            <a:r>
              <a:rPr lang="en-US" altLang="zh-TW" dirty="0"/>
              <a:t> and less </a:t>
            </a:r>
            <a:r>
              <a:rPr lang="en-US" altLang="zh-TW" dirty="0" smtClean="0"/>
              <a:t>than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units away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Similarly</a:t>
            </a:r>
            <a:r>
              <a:rPr lang="en-US" altLang="zh-TW" dirty="0"/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is </a:t>
            </a:r>
            <a:r>
              <a:rPr lang="en-US" altLang="zh-TW" dirty="0"/>
              <a:t>on or to the right of </a:t>
            </a:r>
            <a:r>
              <a:rPr lang="en-US" altLang="zh-TW" i="1" dirty="0"/>
              <a:t>l</a:t>
            </a:r>
            <a:r>
              <a:rPr lang="en-US" altLang="zh-TW" dirty="0"/>
              <a:t> and less </a:t>
            </a:r>
            <a:r>
              <a:rPr lang="en-US" altLang="zh-TW" dirty="0" smtClean="0"/>
              <a:t>than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units away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Moreover</a:t>
            </a:r>
            <a:r>
              <a:rPr lang="en-US" altLang="zh-TW" dirty="0"/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are within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units </a:t>
            </a:r>
            <a:r>
              <a:rPr lang="en-US" altLang="zh-TW" dirty="0"/>
              <a:t>of each other vertically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Thus</a:t>
            </a:r>
            <a:r>
              <a:rPr lang="en-US" altLang="zh-TW" dirty="0"/>
              <a:t>, as Figure 33.11(a) shows,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are </a:t>
            </a:r>
            <a:r>
              <a:rPr lang="en-US" altLang="zh-TW" dirty="0"/>
              <a:t>within </a:t>
            </a:r>
            <a:r>
              <a:rPr lang="en-US" altLang="zh-TW" dirty="0" smtClean="0"/>
              <a:t>a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 smtClean="0"/>
              <a:t> 2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rectangle centered at line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(</a:t>
            </a:r>
            <a:r>
              <a:rPr lang="en-US" altLang="zh-TW" dirty="0"/>
              <a:t>There may be other points </a:t>
            </a:r>
            <a:r>
              <a:rPr lang="en-US" altLang="zh-TW" dirty="0" smtClean="0"/>
              <a:t>within this </a:t>
            </a:r>
            <a:r>
              <a:rPr lang="en-US" altLang="zh-TW" dirty="0"/>
              <a:t>rectangle as well.)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9905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Correctness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next show that at most 8 points of </a:t>
            </a:r>
            <a:r>
              <a:rPr lang="en-US" altLang="zh-TW" i="1" dirty="0"/>
              <a:t>P</a:t>
            </a:r>
            <a:r>
              <a:rPr lang="en-US" altLang="zh-TW" dirty="0"/>
              <a:t> can reside within </a:t>
            </a:r>
            <a:r>
              <a:rPr lang="en-US" altLang="zh-TW" dirty="0" smtClean="0"/>
              <a:t>this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rectangle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Consider </a:t>
            </a:r>
            <a:r>
              <a:rPr lang="en-US" altLang="zh-TW" dirty="0">
                <a:solidFill>
                  <a:srgbClr val="FF0000"/>
                </a:solidFill>
              </a:rPr>
              <a:t>the </a:t>
            </a:r>
            <a:r>
              <a:rPr lang="zh-TW" altLang="en-US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square forming the left half of this rectangle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Since </a:t>
            </a:r>
            <a:r>
              <a:rPr lang="en-US" altLang="zh-TW" dirty="0">
                <a:solidFill>
                  <a:srgbClr val="FF0000"/>
                </a:solidFill>
              </a:rPr>
              <a:t>all </a:t>
            </a:r>
            <a:r>
              <a:rPr lang="en-US" altLang="zh-TW" dirty="0" smtClean="0">
                <a:solidFill>
                  <a:srgbClr val="FF0000"/>
                </a:solidFill>
              </a:rPr>
              <a:t>points within </a:t>
            </a:r>
            <a:r>
              <a:rPr lang="en-US" altLang="zh-TW" i="1" dirty="0">
                <a:solidFill>
                  <a:srgbClr val="FF0000"/>
                </a:solidFill>
              </a:rPr>
              <a:t>P</a:t>
            </a:r>
            <a:r>
              <a:rPr lang="en-US" altLang="zh-TW" i="1" baseline="-25000" dirty="0">
                <a:solidFill>
                  <a:srgbClr val="FF0000"/>
                </a:solidFill>
              </a:rPr>
              <a:t>L</a:t>
            </a:r>
            <a:r>
              <a:rPr lang="en-US" altLang="zh-TW" dirty="0">
                <a:solidFill>
                  <a:srgbClr val="FF0000"/>
                </a:solidFill>
              </a:rPr>
              <a:t> are at </a:t>
            </a:r>
            <a:r>
              <a:rPr lang="en-US" altLang="zh-TW" dirty="0" smtClean="0">
                <a:solidFill>
                  <a:srgbClr val="FF0000"/>
                </a:solidFill>
              </a:rPr>
              <a:t>least </a:t>
            </a:r>
            <a:r>
              <a:rPr lang="zh-TW" altLang="en-US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units apart, at most 4 points can reside within this square</a:t>
            </a:r>
            <a:r>
              <a:rPr lang="en-US" altLang="zh-TW" dirty="0" smtClean="0">
                <a:solidFill>
                  <a:srgbClr val="FF0000"/>
                </a:solidFill>
              </a:rPr>
              <a:t>; Figure </a:t>
            </a:r>
            <a:r>
              <a:rPr lang="en-US" altLang="zh-TW" dirty="0">
                <a:solidFill>
                  <a:srgbClr val="FF0000"/>
                </a:solidFill>
              </a:rPr>
              <a:t>33.11(b) shows how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Similarly</a:t>
            </a:r>
            <a:r>
              <a:rPr lang="en-US" altLang="zh-TW" dirty="0">
                <a:solidFill>
                  <a:srgbClr val="FF0000"/>
                </a:solidFill>
              </a:rPr>
              <a:t>, at most 4 points in </a:t>
            </a:r>
            <a:r>
              <a:rPr lang="en-US" altLang="zh-TW" i="1" dirty="0">
                <a:solidFill>
                  <a:srgbClr val="FF0000"/>
                </a:solidFill>
              </a:rPr>
              <a:t>P</a:t>
            </a:r>
            <a:r>
              <a:rPr lang="en-US" altLang="zh-TW" i="1" baseline="-25000" dirty="0">
                <a:solidFill>
                  <a:srgbClr val="FF0000"/>
                </a:solidFill>
              </a:rPr>
              <a:t>R</a:t>
            </a:r>
            <a:r>
              <a:rPr lang="en-US" altLang="zh-TW" dirty="0">
                <a:solidFill>
                  <a:srgbClr val="FF0000"/>
                </a:solidFill>
              </a:rPr>
              <a:t> can reside </a:t>
            </a:r>
            <a:r>
              <a:rPr lang="en-US" altLang="zh-TW" dirty="0" smtClean="0">
                <a:solidFill>
                  <a:srgbClr val="FF0000"/>
                </a:solidFill>
              </a:rPr>
              <a:t>within the </a:t>
            </a:r>
            <a:r>
              <a:rPr lang="zh-TW" altLang="en-US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square forming the right half of the rectangle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Thus</a:t>
            </a:r>
            <a:r>
              <a:rPr lang="en-US" altLang="zh-TW" dirty="0">
                <a:solidFill>
                  <a:srgbClr val="FF0000"/>
                </a:solidFill>
              </a:rPr>
              <a:t>, at most 8 points of </a:t>
            </a:r>
            <a:r>
              <a:rPr lang="en-US" altLang="zh-TW" i="1" dirty="0" smtClean="0">
                <a:solidFill>
                  <a:srgbClr val="FF0000"/>
                </a:solidFill>
              </a:rPr>
              <a:t>P</a:t>
            </a:r>
            <a:r>
              <a:rPr lang="en-US" altLang="zh-TW" dirty="0" smtClean="0">
                <a:solidFill>
                  <a:srgbClr val="FF0000"/>
                </a:solidFill>
              </a:rPr>
              <a:t> can </a:t>
            </a:r>
            <a:r>
              <a:rPr lang="en-US" altLang="zh-TW" dirty="0">
                <a:solidFill>
                  <a:srgbClr val="FF0000"/>
                </a:solidFill>
              </a:rPr>
              <a:t>reside within the </a:t>
            </a:r>
            <a:r>
              <a:rPr lang="zh-TW" altLang="en-US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FF0000"/>
                </a:solidFill>
              </a:rPr>
              <a:t> 2</a:t>
            </a:r>
            <a:r>
              <a:rPr lang="zh-TW" altLang="en-US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rectangle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zh-TW" dirty="0" smtClean="0"/>
              <a:t>(</a:t>
            </a:r>
            <a:r>
              <a:rPr lang="en-US" altLang="zh-TW" dirty="0"/>
              <a:t>Note that since points on line </a:t>
            </a:r>
            <a:r>
              <a:rPr lang="en-US" altLang="zh-TW" i="1" dirty="0"/>
              <a:t>l</a:t>
            </a:r>
            <a:r>
              <a:rPr lang="en-US" altLang="zh-TW" dirty="0"/>
              <a:t> may be </a:t>
            </a:r>
            <a:r>
              <a:rPr lang="en-US" altLang="zh-TW" dirty="0" smtClean="0"/>
              <a:t>in either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/>
              <a:t>or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 there may </a:t>
            </a:r>
            <a:r>
              <a:rPr lang="en-US" altLang="zh-TW" dirty="0"/>
              <a:t>be up to 4 points on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. </a:t>
            </a:r>
            <a:r>
              <a:rPr lang="en-US" altLang="zh-TW" dirty="0"/>
              <a:t>This limit is achieved if there </a:t>
            </a:r>
            <a:r>
              <a:rPr lang="en-US" altLang="zh-TW" dirty="0" smtClean="0"/>
              <a:t>are two </a:t>
            </a:r>
            <a:r>
              <a:rPr lang="en-US" altLang="zh-TW" dirty="0"/>
              <a:t>pairs of coincident points such that each pair consists of one point from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and one </a:t>
            </a:r>
            <a:r>
              <a:rPr lang="en-US" altLang="zh-TW" dirty="0"/>
              <a:t>point from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 </a:t>
            </a:r>
            <a:r>
              <a:rPr lang="en-US" altLang="zh-TW" dirty="0"/>
              <a:t>one pair is at the intersection of </a:t>
            </a:r>
            <a:r>
              <a:rPr lang="en-US" altLang="zh-TW" i="1" dirty="0"/>
              <a:t>l</a:t>
            </a:r>
            <a:r>
              <a:rPr lang="en-US" altLang="zh-TW" dirty="0"/>
              <a:t> and the top of the rectangle</a:t>
            </a:r>
            <a:r>
              <a:rPr lang="en-US" altLang="zh-TW" dirty="0" smtClean="0"/>
              <a:t>, and </a:t>
            </a:r>
            <a:r>
              <a:rPr lang="en-US" altLang="zh-TW" dirty="0"/>
              <a:t>the other pair is where </a:t>
            </a:r>
            <a:r>
              <a:rPr lang="en-US" altLang="zh-TW" i="1" dirty="0"/>
              <a:t>l</a:t>
            </a:r>
            <a:r>
              <a:rPr lang="en-US" altLang="zh-TW" dirty="0"/>
              <a:t> intersects the bottom of the rectangle.)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970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 bwMode="auto">
          <a:xfrm>
            <a:off x="2051678" y="2168839"/>
            <a:ext cx="2880368" cy="1440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9" name="直線接點 8"/>
          <p:cNvCxnSpPr/>
          <p:nvPr/>
        </p:nvCxnSpPr>
        <p:spPr bwMode="auto">
          <a:xfrm flipH="1">
            <a:off x="2051678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2051678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3491862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4" name="直線接點 13"/>
          <p:cNvCxnSpPr/>
          <p:nvPr/>
        </p:nvCxnSpPr>
        <p:spPr bwMode="auto">
          <a:xfrm flipH="1">
            <a:off x="4932046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 flipH="1">
            <a:off x="3491862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 flipH="1">
            <a:off x="4932046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2" name="直線接點 21"/>
          <p:cNvCxnSpPr/>
          <p:nvPr/>
        </p:nvCxnSpPr>
        <p:spPr bwMode="auto">
          <a:xfrm>
            <a:off x="3491862" y="1808793"/>
            <a:ext cx="0" cy="216027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 bwMode="auto">
          <a:xfrm>
            <a:off x="2051678" y="1808793"/>
            <a:ext cx="0" cy="2160276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 bwMode="auto">
          <a:xfrm>
            <a:off x="4932046" y="1808793"/>
            <a:ext cx="0" cy="2160276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 bwMode="auto">
          <a:xfrm>
            <a:off x="3491862" y="908678"/>
            <a:ext cx="36004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 flipH="1">
            <a:off x="3131816" y="1448747"/>
            <a:ext cx="36004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直線單箭頭接點 26"/>
          <p:cNvCxnSpPr/>
          <p:nvPr/>
        </p:nvCxnSpPr>
        <p:spPr bwMode="auto">
          <a:xfrm>
            <a:off x="2951793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直線單箭頭接點 27"/>
          <p:cNvCxnSpPr/>
          <p:nvPr/>
        </p:nvCxnSpPr>
        <p:spPr bwMode="auto">
          <a:xfrm flipH="1">
            <a:off x="2051678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5" name="直線單箭頭接點 34"/>
          <p:cNvCxnSpPr>
            <a:stCxn id="37" idx="2"/>
          </p:cNvCxnSpPr>
          <p:nvPr/>
        </p:nvCxnSpPr>
        <p:spPr bwMode="auto">
          <a:xfrm>
            <a:off x="1871655" y="3068954"/>
            <a:ext cx="0" cy="54006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6" name="直線單箭頭接點 35"/>
          <p:cNvCxnSpPr/>
          <p:nvPr/>
        </p:nvCxnSpPr>
        <p:spPr bwMode="auto">
          <a:xfrm flipV="1">
            <a:off x="1871655" y="2168840"/>
            <a:ext cx="1" cy="540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直線接點 42"/>
          <p:cNvCxnSpPr/>
          <p:nvPr/>
        </p:nvCxnSpPr>
        <p:spPr bwMode="auto">
          <a:xfrm>
            <a:off x="3491862" y="728655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 bwMode="auto">
          <a:xfrm>
            <a:off x="3491862" y="1268724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 bwMode="auto">
          <a:xfrm>
            <a:off x="2591747" y="1808793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1691632" y="2708908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3851908" y="728655"/>
            <a:ext cx="540069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R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2591746" y="1268724"/>
            <a:ext cx="539977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3491862" y="3609023"/>
            <a:ext cx="360000" cy="54006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9" name="內容版面配置區 4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</a:t>
            </a:r>
            <a:r>
              <a:rPr lang="en-US" altLang="zh-TW" dirty="0"/>
              <a:t>4 points that are pairwise at </a:t>
            </a:r>
            <a:r>
              <a:rPr lang="en-US" altLang="zh-TW" dirty="0" smtClean="0"/>
              <a:t>least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units </a:t>
            </a:r>
            <a:r>
              <a:rPr lang="en-US" altLang="zh-TW" dirty="0"/>
              <a:t>apart can all reside within a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square. On the left are 4 points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, and on the right are </a:t>
            </a:r>
            <a:r>
              <a:rPr lang="en-US" altLang="zh-TW" dirty="0" smtClean="0"/>
              <a:t>4 points </a:t>
            </a:r>
            <a:r>
              <a:rPr lang="en-US" altLang="zh-TW" dirty="0"/>
              <a:t>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. The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rectangle can contain 8 points if the points shown on line </a:t>
            </a:r>
            <a:r>
              <a:rPr lang="en-US" altLang="zh-TW" i="1" dirty="0"/>
              <a:t>l</a:t>
            </a:r>
            <a:r>
              <a:rPr lang="en-US" altLang="zh-TW" dirty="0"/>
              <a:t> are </a:t>
            </a:r>
            <a:r>
              <a:rPr lang="en-US" altLang="zh-TW" dirty="0" smtClean="0"/>
              <a:t>actually pairs </a:t>
            </a:r>
            <a:r>
              <a:rPr lang="en-US" altLang="zh-TW" dirty="0"/>
              <a:t>of coincident points with one point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one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.</a:t>
            </a:r>
            <a:endParaRPr lang="zh-TW" altLang="en-US" dirty="0"/>
          </a:p>
        </p:txBody>
      </p:sp>
      <p:cxnSp>
        <p:nvCxnSpPr>
          <p:cNvPr id="47" name="直線單箭頭接點 46"/>
          <p:cNvCxnSpPr/>
          <p:nvPr/>
        </p:nvCxnSpPr>
        <p:spPr bwMode="auto">
          <a:xfrm>
            <a:off x="4391977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0" name="直線單箭頭接點 49"/>
          <p:cNvCxnSpPr/>
          <p:nvPr/>
        </p:nvCxnSpPr>
        <p:spPr bwMode="auto">
          <a:xfrm flipH="1">
            <a:off x="3491862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1" name="矩形 50"/>
          <p:cNvSpPr/>
          <p:nvPr/>
        </p:nvSpPr>
        <p:spPr bwMode="auto">
          <a:xfrm>
            <a:off x="4031931" y="1808793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52" name="直線單箭頭接點 51"/>
          <p:cNvCxnSpPr/>
          <p:nvPr/>
        </p:nvCxnSpPr>
        <p:spPr bwMode="auto">
          <a:xfrm flipH="1" flipV="1">
            <a:off x="3558974" y="2168839"/>
            <a:ext cx="1980253" cy="27003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46" name="文字方塊 45"/>
          <p:cNvSpPr txBox="1"/>
          <p:nvPr/>
        </p:nvSpPr>
        <p:spPr>
          <a:xfrm>
            <a:off x="5472115" y="1988816"/>
            <a:ext cx="2700346" cy="9001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coincident points,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5472115" y="2888931"/>
            <a:ext cx="2700346" cy="9001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coincident points,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直線單箭頭接點 71"/>
          <p:cNvCxnSpPr/>
          <p:nvPr/>
        </p:nvCxnSpPr>
        <p:spPr bwMode="auto">
          <a:xfrm flipH="1">
            <a:off x="3558974" y="3338989"/>
            <a:ext cx="1980253" cy="27003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818234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 bwMode="auto">
          <a:xfrm>
            <a:off x="2051678" y="2168839"/>
            <a:ext cx="2880368" cy="1440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" name="橢圓 1"/>
          <p:cNvSpPr/>
          <p:nvPr/>
        </p:nvSpPr>
        <p:spPr bwMode="auto">
          <a:xfrm>
            <a:off x="611495" y="728656"/>
            <a:ext cx="2880366" cy="2880366"/>
          </a:xfrm>
          <a:prstGeom prst="ellipse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431471" y="728655"/>
            <a:ext cx="1620207" cy="3060391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611494" y="548632"/>
            <a:ext cx="2880368" cy="16202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9" name="內容版面配置區 4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</a:t>
            </a:r>
            <a:r>
              <a:rPr lang="en-US" altLang="zh-TW" dirty="0"/>
              <a:t>4 points that are pairwise at </a:t>
            </a:r>
            <a:r>
              <a:rPr lang="en-US" altLang="zh-TW" dirty="0" smtClean="0"/>
              <a:t>least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units </a:t>
            </a:r>
            <a:r>
              <a:rPr lang="en-US" altLang="zh-TW" dirty="0"/>
              <a:t>apart can all reside within a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square. On the left are 4 points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, and on the right are </a:t>
            </a:r>
            <a:r>
              <a:rPr lang="en-US" altLang="zh-TW" dirty="0" smtClean="0"/>
              <a:t>4 points </a:t>
            </a:r>
            <a:r>
              <a:rPr lang="en-US" altLang="zh-TW" dirty="0"/>
              <a:t>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. The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rectangle can contain 8 points if the points shown on line </a:t>
            </a:r>
            <a:r>
              <a:rPr lang="en-US" altLang="zh-TW" i="1" dirty="0"/>
              <a:t>l</a:t>
            </a:r>
            <a:r>
              <a:rPr lang="en-US" altLang="zh-TW" dirty="0"/>
              <a:t> are </a:t>
            </a:r>
            <a:r>
              <a:rPr lang="en-US" altLang="zh-TW" dirty="0" smtClean="0"/>
              <a:t>actually pairs </a:t>
            </a:r>
            <a:r>
              <a:rPr lang="en-US" altLang="zh-TW" dirty="0"/>
              <a:t>of coincident points with one point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one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472115" y="1988816"/>
            <a:ext cx="2700346" cy="9001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coincident points,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5472115" y="2888931"/>
            <a:ext cx="2700346" cy="9001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coincident points,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接點 8"/>
          <p:cNvCxnSpPr/>
          <p:nvPr/>
        </p:nvCxnSpPr>
        <p:spPr bwMode="auto">
          <a:xfrm flipH="1">
            <a:off x="2051678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2051678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3491862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4" name="直線接點 13"/>
          <p:cNvCxnSpPr/>
          <p:nvPr/>
        </p:nvCxnSpPr>
        <p:spPr bwMode="auto">
          <a:xfrm flipH="1">
            <a:off x="4932046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 flipH="1">
            <a:off x="3491862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 flipH="1">
            <a:off x="4932046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2" name="直線接點 21"/>
          <p:cNvCxnSpPr/>
          <p:nvPr/>
        </p:nvCxnSpPr>
        <p:spPr bwMode="auto">
          <a:xfrm>
            <a:off x="3491862" y="1808793"/>
            <a:ext cx="0" cy="216027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 bwMode="auto">
          <a:xfrm>
            <a:off x="2051678" y="1808793"/>
            <a:ext cx="0" cy="2160276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 bwMode="auto">
          <a:xfrm>
            <a:off x="4932046" y="1808793"/>
            <a:ext cx="0" cy="2160276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 bwMode="auto">
          <a:xfrm>
            <a:off x="3491862" y="908678"/>
            <a:ext cx="36004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 flipH="1">
            <a:off x="3131816" y="1448747"/>
            <a:ext cx="36004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直線單箭頭接點 26"/>
          <p:cNvCxnSpPr/>
          <p:nvPr/>
        </p:nvCxnSpPr>
        <p:spPr bwMode="auto">
          <a:xfrm>
            <a:off x="2951793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直線單箭頭接點 27"/>
          <p:cNvCxnSpPr/>
          <p:nvPr/>
        </p:nvCxnSpPr>
        <p:spPr bwMode="auto">
          <a:xfrm flipH="1">
            <a:off x="2051678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5" name="直線單箭頭接點 34"/>
          <p:cNvCxnSpPr>
            <a:stCxn id="37" idx="2"/>
          </p:cNvCxnSpPr>
          <p:nvPr/>
        </p:nvCxnSpPr>
        <p:spPr bwMode="auto">
          <a:xfrm>
            <a:off x="1871655" y="3068954"/>
            <a:ext cx="0" cy="54006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6" name="直線單箭頭接點 35"/>
          <p:cNvCxnSpPr/>
          <p:nvPr/>
        </p:nvCxnSpPr>
        <p:spPr bwMode="auto">
          <a:xfrm flipV="1">
            <a:off x="1871655" y="2168840"/>
            <a:ext cx="1" cy="540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直線接點 42"/>
          <p:cNvCxnSpPr/>
          <p:nvPr/>
        </p:nvCxnSpPr>
        <p:spPr bwMode="auto">
          <a:xfrm>
            <a:off x="3491862" y="728655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 bwMode="auto">
          <a:xfrm>
            <a:off x="3491862" y="1268724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 bwMode="auto">
          <a:xfrm>
            <a:off x="2591747" y="1808793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1691632" y="2708908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3851908" y="728655"/>
            <a:ext cx="540069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R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2591746" y="1268724"/>
            <a:ext cx="539977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3491862" y="3609023"/>
            <a:ext cx="360000" cy="54006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47" name="直線單箭頭接點 46"/>
          <p:cNvCxnSpPr/>
          <p:nvPr/>
        </p:nvCxnSpPr>
        <p:spPr bwMode="auto">
          <a:xfrm>
            <a:off x="4391977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0" name="直線單箭頭接點 49"/>
          <p:cNvCxnSpPr/>
          <p:nvPr/>
        </p:nvCxnSpPr>
        <p:spPr bwMode="auto">
          <a:xfrm flipH="1">
            <a:off x="3491862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1" name="矩形 50"/>
          <p:cNvSpPr/>
          <p:nvPr/>
        </p:nvSpPr>
        <p:spPr bwMode="auto">
          <a:xfrm>
            <a:off x="4031931" y="1808793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52" name="直線單箭頭接點 51"/>
          <p:cNvCxnSpPr/>
          <p:nvPr/>
        </p:nvCxnSpPr>
        <p:spPr bwMode="auto">
          <a:xfrm flipH="1" flipV="1">
            <a:off x="3558974" y="2168839"/>
            <a:ext cx="1980253" cy="27003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2" name="直線單箭頭接點 71"/>
          <p:cNvCxnSpPr/>
          <p:nvPr/>
        </p:nvCxnSpPr>
        <p:spPr bwMode="auto">
          <a:xfrm flipH="1">
            <a:off x="3558974" y="3338989"/>
            <a:ext cx="1980253" cy="27003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760805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 bwMode="auto">
          <a:xfrm>
            <a:off x="2051678" y="2168839"/>
            <a:ext cx="2880368" cy="1440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" name="橢圓 1"/>
          <p:cNvSpPr/>
          <p:nvPr/>
        </p:nvSpPr>
        <p:spPr bwMode="auto">
          <a:xfrm>
            <a:off x="971539" y="1088700"/>
            <a:ext cx="2520321" cy="2520321"/>
          </a:xfrm>
          <a:prstGeom prst="ellipse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431471" y="728655"/>
            <a:ext cx="1620207" cy="3060391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611494" y="548632"/>
            <a:ext cx="2880368" cy="16202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9" name="內容版面配置區 4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</a:t>
            </a:r>
            <a:r>
              <a:rPr lang="en-US" altLang="zh-TW" dirty="0"/>
              <a:t>4 points that are pairwise at </a:t>
            </a:r>
            <a:r>
              <a:rPr lang="en-US" altLang="zh-TW" dirty="0" smtClean="0"/>
              <a:t>least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units </a:t>
            </a:r>
            <a:r>
              <a:rPr lang="en-US" altLang="zh-TW" dirty="0"/>
              <a:t>apart can all reside within a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square. On the left are 4 points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, and on the right are </a:t>
            </a:r>
            <a:r>
              <a:rPr lang="en-US" altLang="zh-TW" dirty="0" smtClean="0"/>
              <a:t>4 points </a:t>
            </a:r>
            <a:r>
              <a:rPr lang="en-US" altLang="zh-TW" dirty="0"/>
              <a:t>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. The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×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rectangle can contain 8 points if the points shown on line </a:t>
            </a:r>
            <a:r>
              <a:rPr lang="en-US" altLang="zh-TW" i="1" dirty="0"/>
              <a:t>l</a:t>
            </a:r>
            <a:r>
              <a:rPr lang="en-US" altLang="zh-TW" dirty="0"/>
              <a:t> are </a:t>
            </a:r>
            <a:r>
              <a:rPr lang="en-US" altLang="zh-TW" dirty="0" smtClean="0"/>
              <a:t>actually pairs </a:t>
            </a:r>
            <a:r>
              <a:rPr lang="en-US" altLang="zh-TW" dirty="0"/>
              <a:t>of coincident points with one point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L</a:t>
            </a:r>
            <a:r>
              <a:rPr lang="en-US" altLang="zh-TW" dirty="0"/>
              <a:t> and one in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R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472115" y="1988816"/>
            <a:ext cx="2700346" cy="9001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coincident points,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5472115" y="2888931"/>
            <a:ext cx="2700346" cy="9001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coincident points,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接點 8"/>
          <p:cNvCxnSpPr/>
          <p:nvPr/>
        </p:nvCxnSpPr>
        <p:spPr bwMode="auto">
          <a:xfrm flipH="1">
            <a:off x="2051678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2051678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3491862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4" name="直線接點 13"/>
          <p:cNvCxnSpPr/>
          <p:nvPr/>
        </p:nvCxnSpPr>
        <p:spPr bwMode="auto">
          <a:xfrm flipH="1">
            <a:off x="4932046" y="2168839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 flipH="1">
            <a:off x="3491862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 flipH="1">
            <a:off x="4932046" y="3609023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  <p:cxnSp>
        <p:nvCxnSpPr>
          <p:cNvPr id="22" name="直線接點 21"/>
          <p:cNvCxnSpPr/>
          <p:nvPr/>
        </p:nvCxnSpPr>
        <p:spPr bwMode="auto">
          <a:xfrm>
            <a:off x="3491862" y="1808793"/>
            <a:ext cx="0" cy="216027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 bwMode="auto">
          <a:xfrm>
            <a:off x="2051678" y="1808793"/>
            <a:ext cx="0" cy="2160276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 bwMode="auto">
          <a:xfrm>
            <a:off x="4932046" y="1808793"/>
            <a:ext cx="0" cy="2160276"/>
          </a:xfrm>
          <a:prstGeom prst="line">
            <a:avLst/>
          </a:prstGeom>
          <a:ln w="19050"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 bwMode="auto">
          <a:xfrm>
            <a:off x="3491862" y="908678"/>
            <a:ext cx="36004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 flipH="1">
            <a:off x="3131816" y="1448747"/>
            <a:ext cx="36004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直線單箭頭接點 26"/>
          <p:cNvCxnSpPr/>
          <p:nvPr/>
        </p:nvCxnSpPr>
        <p:spPr bwMode="auto">
          <a:xfrm>
            <a:off x="2951793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直線單箭頭接點 27"/>
          <p:cNvCxnSpPr/>
          <p:nvPr/>
        </p:nvCxnSpPr>
        <p:spPr bwMode="auto">
          <a:xfrm flipH="1">
            <a:off x="2051678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5" name="直線單箭頭接點 34"/>
          <p:cNvCxnSpPr>
            <a:stCxn id="37" idx="2"/>
          </p:cNvCxnSpPr>
          <p:nvPr/>
        </p:nvCxnSpPr>
        <p:spPr bwMode="auto">
          <a:xfrm>
            <a:off x="1871655" y="3068954"/>
            <a:ext cx="0" cy="54006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6" name="直線單箭頭接點 35"/>
          <p:cNvCxnSpPr/>
          <p:nvPr/>
        </p:nvCxnSpPr>
        <p:spPr bwMode="auto">
          <a:xfrm flipV="1">
            <a:off x="1871655" y="2168840"/>
            <a:ext cx="1" cy="540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直線接點 42"/>
          <p:cNvCxnSpPr/>
          <p:nvPr/>
        </p:nvCxnSpPr>
        <p:spPr bwMode="auto">
          <a:xfrm>
            <a:off x="3491862" y="728655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 bwMode="auto">
          <a:xfrm>
            <a:off x="3491862" y="1268724"/>
            <a:ext cx="0" cy="36004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 bwMode="auto">
          <a:xfrm>
            <a:off x="2591747" y="1808793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1691632" y="2708908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3851908" y="728655"/>
            <a:ext cx="540069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R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2591746" y="1268724"/>
            <a:ext cx="539977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</a:t>
            </a:r>
            <a:r>
              <a:rPr kumimoji="1" lang="en-US" altLang="zh-TW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3491862" y="3609023"/>
            <a:ext cx="360000" cy="54006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l</a:t>
            </a:r>
            <a:endParaRPr kumimoji="1" lang="zh-TW" altLang="en-US" b="0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47" name="直線單箭頭接點 46"/>
          <p:cNvCxnSpPr/>
          <p:nvPr/>
        </p:nvCxnSpPr>
        <p:spPr bwMode="auto">
          <a:xfrm>
            <a:off x="4391977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0" name="直線單箭頭接點 49"/>
          <p:cNvCxnSpPr/>
          <p:nvPr/>
        </p:nvCxnSpPr>
        <p:spPr bwMode="auto">
          <a:xfrm flipH="1">
            <a:off x="3491862" y="1988816"/>
            <a:ext cx="54006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1" name="矩形 50"/>
          <p:cNvSpPr/>
          <p:nvPr/>
        </p:nvSpPr>
        <p:spPr bwMode="auto">
          <a:xfrm>
            <a:off x="4031931" y="1808793"/>
            <a:ext cx="360046" cy="3600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新細明體" pitchFamily="18" charset="-120"/>
              </a:rPr>
              <a:t>𝛿</a:t>
            </a:r>
            <a:endParaRPr kumimoji="1" lang="zh-TW" altLang="en-US" b="0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52" name="直線單箭頭接點 51"/>
          <p:cNvCxnSpPr/>
          <p:nvPr/>
        </p:nvCxnSpPr>
        <p:spPr bwMode="auto">
          <a:xfrm flipH="1" flipV="1">
            <a:off x="3558974" y="2168839"/>
            <a:ext cx="1980253" cy="27003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2" name="直線單箭頭接點 71"/>
          <p:cNvCxnSpPr/>
          <p:nvPr/>
        </p:nvCxnSpPr>
        <p:spPr bwMode="auto">
          <a:xfrm flipH="1">
            <a:off x="3558974" y="3338989"/>
            <a:ext cx="1980253" cy="27003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3" name="直線接點 32"/>
          <p:cNvCxnSpPr/>
          <p:nvPr/>
        </p:nvCxnSpPr>
        <p:spPr bwMode="auto">
          <a:xfrm flipH="1">
            <a:off x="2231701" y="2348862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oval" w="lg" len="lg"/>
            <a:tailEnd type="oval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745849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smtClean="0"/>
              <a:t>Divide-and-Conquer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71463" algn="l"/>
              </a:tabLst>
            </a:pPr>
            <a:r>
              <a:rPr lang="en-US" altLang="zh-TW" dirty="0" err="1" smtClean="0">
                <a:solidFill>
                  <a:srgbClr val="000000"/>
                </a:solidFill>
              </a:rPr>
              <a:t>C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LOSEST</a:t>
            </a:r>
            <a:r>
              <a:rPr lang="en-US" altLang="zh-TW" dirty="0" err="1" smtClean="0">
                <a:solidFill>
                  <a:srgbClr val="000000"/>
                </a:solidFill>
              </a:rPr>
              <a:t>P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AIR</a:t>
            </a:r>
            <a:r>
              <a:rPr lang="en-US" altLang="zh-TW" dirty="0" smtClean="0"/>
              <a:t>(</a:t>
            </a:r>
            <a:r>
              <a:rPr lang="en-US" altLang="zh-TW" i="1" spc="150" dirty="0" smtClean="0"/>
              <a:t>Q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>
              <a:tabLst>
                <a:tab pos="271463" algn="l"/>
              </a:tabLst>
            </a:pPr>
            <a:r>
              <a:rPr lang="en-US" altLang="zh-TW" b="1" dirty="0" smtClean="0"/>
              <a:t>//</a:t>
            </a:r>
            <a:r>
              <a:rPr lang="en-US" altLang="zh-TW" dirty="0" smtClean="0"/>
              <a:t>	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 </a:t>
            </a:r>
            <a:r>
              <a:rPr lang="en-US" altLang="zh-TW" dirty="0"/>
              <a:t>is a set of at least two points on the plane</a:t>
            </a:r>
            <a:r>
              <a:rPr lang="en-US" altLang="zh-TW" dirty="0" smtClean="0"/>
              <a:t>,</a:t>
            </a:r>
          </a:p>
          <a:p>
            <a:pPr>
              <a:spcBef>
                <a:spcPts val="0"/>
              </a:spcBef>
              <a:tabLst>
                <a:tab pos="271463" algn="l"/>
              </a:tabLst>
            </a:pPr>
            <a:r>
              <a:rPr lang="en-US" altLang="zh-TW" b="1" dirty="0" smtClean="0"/>
              <a:t>//</a:t>
            </a:r>
            <a:r>
              <a:rPr lang="en-US" altLang="zh-TW" dirty="0" smtClean="0"/>
              <a:t>	given </a:t>
            </a:r>
            <a:r>
              <a:rPr lang="en-US" altLang="zh-TW" dirty="0"/>
              <a:t>by their </a:t>
            </a:r>
            <a:r>
              <a:rPr lang="en-US" altLang="zh-TW" i="1" dirty="0"/>
              <a:t>x</a:t>
            </a:r>
            <a:r>
              <a:rPr lang="en-US" altLang="zh-TW" dirty="0"/>
              <a:t>- and </a:t>
            </a:r>
            <a:r>
              <a:rPr lang="en-US" altLang="zh-TW" i="1" dirty="0"/>
              <a:t>y</a:t>
            </a:r>
            <a:r>
              <a:rPr lang="en-US" altLang="zh-TW" dirty="0"/>
              <a:t>-coordinates</a:t>
            </a:r>
          </a:p>
          <a:p>
            <a:pPr>
              <a:tabLst>
                <a:tab pos="271463" algn="l"/>
              </a:tabLst>
            </a:pPr>
            <a:r>
              <a:rPr lang="en-US" altLang="zh-TW" i="1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the list of points in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 </a:t>
            </a:r>
            <a:r>
              <a:rPr lang="en-US" altLang="zh-TW" dirty="0"/>
              <a:t>sorted by </a:t>
            </a:r>
            <a:r>
              <a:rPr lang="en-US" altLang="zh-TW" i="1" dirty="0"/>
              <a:t>x</a:t>
            </a:r>
            <a:r>
              <a:rPr lang="en-US" altLang="zh-TW" dirty="0"/>
              <a:t>-coordinate</a:t>
            </a:r>
          </a:p>
          <a:p>
            <a:pPr>
              <a:tabLst>
                <a:tab pos="271463" algn="l"/>
              </a:tabLst>
            </a:pPr>
            <a:r>
              <a:rPr lang="en-US" altLang="zh-TW" i="1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the list of points in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 </a:t>
            </a:r>
            <a:r>
              <a:rPr lang="en-US" altLang="zh-TW" dirty="0"/>
              <a:t>sorted by </a:t>
            </a:r>
            <a:r>
              <a:rPr lang="en-US" altLang="zh-TW" i="1" dirty="0"/>
              <a:t>y</a:t>
            </a:r>
            <a:r>
              <a:rPr lang="en-US" altLang="zh-TW" dirty="0"/>
              <a:t>-coordinate</a:t>
            </a:r>
          </a:p>
          <a:p>
            <a:pPr>
              <a:tabLst>
                <a:tab pos="271463" algn="l"/>
              </a:tabLst>
            </a:pPr>
            <a:r>
              <a:rPr lang="en-US" altLang="zh-TW" b="1" dirty="0"/>
              <a:t>return</a:t>
            </a:r>
            <a:r>
              <a:rPr lang="en-US" altLang="zh-TW" dirty="0"/>
              <a:t> </a:t>
            </a:r>
            <a:r>
              <a:rPr lang="en-US" altLang="zh-TW" dirty="0" err="1" smtClean="0"/>
              <a:t>Recursive</a:t>
            </a:r>
            <a:r>
              <a:rPr lang="en-US" altLang="zh-TW" dirty="0" err="1" smtClean="0">
                <a:solidFill>
                  <a:srgbClr val="000000"/>
                </a:solidFill>
              </a:rPr>
              <a:t>ClosestPair</a:t>
            </a:r>
            <a:r>
              <a:rPr lang="en-US" altLang="zh-TW" spc="200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X</a:t>
            </a:r>
            <a:r>
              <a:rPr lang="en-US" altLang="zh-TW" dirty="0" smtClean="0"/>
              <a:t>, </a:t>
            </a:r>
            <a:r>
              <a:rPr lang="en-US" altLang="zh-TW" i="1" spc="400" dirty="0">
                <a:solidFill>
                  <a:srgbClr val="000000"/>
                </a:solidFill>
              </a:rPr>
              <a:t>Y</a:t>
            </a:r>
            <a:r>
              <a:rPr lang="en-US" altLang="zh-TW" dirty="0" smtClean="0"/>
              <a:t>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</a:rPr>
              <a:t>Franco P. </a:t>
            </a:r>
            <a:r>
              <a:rPr lang="en-US" altLang="zh-TW" dirty="0" err="1">
                <a:solidFill>
                  <a:srgbClr val="0000FF"/>
                </a:solidFill>
              </a:rPr>
              <a:t>Preparata</a:t>
            </a:r>
            <a:r>
              <a:rPr lang="en-US" altLang="zh-TW" dirty="0">
                <a:solidFill>
                  <a:srgbClr val="0000FF"/>
                </a:solidFill>
              </a:rPr>
              <a:t> and Michael Ian </a:t>
            </a:r>
            <a:r>
              <a:rPr lang="en-US" altLang="zh-TW" dirty="0" err="1">
                <a:solidFill>
                  <a:srgbClr val="0000FF"/>
                </a:solidFill>
              </a:rPr>
              <a:t>Shamos</a:t>
            </a:r>
            <a:r>
              <a:rPr lang="en-US" altLang="zh-TW" dirty="0">
                <a:solidFill>
                  <a:srgbClr val="0000FF"/>
                </a:solidFill>
              </a:rPr>
              <a:t>. </a:t>
            </a:r>
            <a:r>
              <a:rPr lang="en-US" altLang="zh-TW" i="1" dirty="0">
                <a:solidFill>
                  <a:srgbClr val="0000FF"/>
                </a:solidFill>
              </a:rPr>
              <a:t>Computational Geometry: An Introduction</a:t>
            </a:r>
            <a:r>
              <a:rPr lang="en-US" altLang="zh-TW" dirty="0">
                <a:solidFill>
                  <a:srgbClr val="0000FF"/>
                </a:solidFill>
              </a:rPr>
              <a:t>. Springer, 1985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409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err="1" smtClean="0"/>
              <a:t>R</a:t>
            </a:r>
            <a:r>
              <a:rPr lang="en-US" altLang="zh-TW" sz="1800" dirty="0" err="1" smtClean="0"/>
              <a:t>ECURSIVE</a:t>
            </a:r>
            <a:r>
              <a:rPr lang="en-US" altLang="zh-TW" dirty="0" err="1" smtClean="0"/>
              <a:t>C</a:t>
            </a:r>
            <a:r>
              <a:rPr lang="en-US" altLang="zh-TW" sz="1800" dirty="0" err="1" smtClean="0"/>
              <a:t>LOSEST</a:t>
            </a:r>
            <a:r>
              <a:rPr lang="en-US" altLang="zh-TW" dirty="0" err="1" smtClean="0"/>
              <a:t>P</a:t>
            </a:r>
            <a:r>
              <a:rPr lang="en-US" altLang="zh-TW" sz="1800" dirty="0" err="1" smtClean="0"/>
              <a:t>AIR</a:t>
            </a:r>
            <a:r>
              <a:rPr lang="en-US" altLang="zh-TW" spc="200" dirty="0" smtClean="0"/>
              <a:t>(</a:t>
            </a:r>
            <a:r>
              <a:rPr lang="en-US" altLang="zh-TW" i="1" spc="300" dirty="0" smtClean="0"/>
              <a:t>X</a:t>
            </a:r>
            <a:r>
              <a:rPr lang="en-US" altLang="zh-TW" dirty="0" smtClean="0"/>
              <a:t>, </a:t>
            </a:r>
            <a:r>
              <a:rPr lang="en-US" altLang="zh-TW" i="1" spc="400" dirty="0" smtClean="0"/>
              <a:t>Y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>
              <a:tabLst>
                <a:tab pos="271463" algn="l"/>
                <a:tab pos="358775" algn="l"/>
                <a:tab pos="719138" algn="l"/>
                <a:tab pos="1079500" algn="l"/>
              </a:tabLst>
            </a:pPr>
            <a:r>
              <a:rPr lang="en-US" altLang="zh-TW" b="1" dirty="0" smtClean="0"/>
              <a:t>//</a:t>
            </a:r>
            <a:r>
              <a:rPr lang="en-US" altLang="zh-TW" dirty="0" smtClean="0"/>
              <a:t>	</a:t>
            </a:r>
            <a:r>
              <a:rPr lang="en-US" altLang="zh-TW" i="1" spc="300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spc="300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/>
              <a:t>are lists of the same set of (at least two) points sorted </a:t>
            </a:r>
            <a:r>
              <a:rPr lang="en-US" altLang="zh-TW" dirty="0" smtClean="0"/>
              <a:t>by       </a:t>
            </a:r>
            <a:r>
              <a:rPr lang="en-US" altLang="zh-TW" b="1" dirty="0" smtClean="0"/>
              <a:t>//</a:t>
            </a:r>
            <a:r>
              <a:rPr lang="en-US" altLang="zh-TW" dirty="0" smtClean="0"/>
              <a:t>	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- </a:t>
            </a:r>
            <a:r>
              <a:rPr lang="en-US" altLang="zh-TW" dirty="0"/>
              <a:t>and </a:t>
            </a:r>
            <a:r>
              <a:rPr lang="en-US" altLang="zh-TW" i="1" dirty="0"/>
              <a:t>y</a:t>
            </a:r>
            <a:r>
              <a:rPr lang="en-US" altLang="zh-TW" dirty="0"/>
              <a:t>-coordinate, respectively</a:t>
            </a:r>
          </a:p>
          <a:p>
            <a:pPr>
              <a:tabLst>
                <a:tab pos="360000" algn="l"/>
                <a:tab pos="630000" algn="l"/>
                <a:tab pos="1080000" algn="l"/>
              </a:tabLst>
            </a:pPr>
            <a:r>
              <a:rPr lang="en-US" altLang="zh-TW" dirty="0" smtClean="0"/>
              <a:t>1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	</a:t>
            </a:r>
            <a:r>
              <a:rPr lang="en-US" altLang="zh-TW" spc="200" dirty="0" smtClean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 smtClean="0">
                <a:solidFill>
                  <a:srgbClr val="000000"/>
                </a:solidFill>
                <a:ea typeface="Cambria Math" panose="02040503050406030204" pitchFamily="18" charset="0"/>
                <a:sym typeface="Symbol" panose="05050102010706020507" pitchFamily="18" charset="2"/>
              </a:rPr>
              <a:t>X</a:t>
            </a:r>
            <a:r>
              <a:rPr lang="en-US" altLang="zh-TW" dirty="0" smtClean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 </a:t>
            </a:r>
            <a:r>
              <a:rPr lang="en-US" altLang="zh-TW" dirty="0">
                <a:sym typeface="Symbol" panose="05050102010706020507" pitchFamily="18" charset="2"/>
              </a:rPr>
              <a:t>≤</a:t>
            </a:r>
            <a:r>
              <a:rPr lang="en-US" altLang="zh-TW" dirty="0" smtClean="0"/>
              <a:t> 3 </a:t>
            </a:r>
            <a:r>
              <a:rPr lang="en-US" altLang="zh-TW" b="1" dirty="0"/>
              <a:t>then</a:t>
            </a:r>
          </a:p>
          <a:p>
            <a:pPr>
              <a:tabLst>
                <a:tab pos="360000" algn="l"/>
                <a:tab pos="630000" algn="l"/>
                <a:tab pos="1080000" algn="l"/>
              </a:tabLst>
            </a:pPr>
            <a:r>
              <a:rPr lang="en-US" altLang="zh-TW" dirty="0" smtClean="0"/>
              <a:t>2		calculate </a:t>
            </a:r>
            <a:r>
              <a:rPr lang="en-US" altLang="zh-TW" dirty="0"/>
              <a:t>all pairwise distances and return the closest pair</a:t>
            </a:r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3	</a:t>
            </a:r>
            <a:r>
              <a:rPr lang="en-US" altLang="zh-TW" b="1" dirty="0" smtClean="0"/>
              <a:t>else</a:t>
            </a:r>
            <a:endParaRPr lang="en-US" altLang="zh-TW" b="1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4		</a:t>
            </a:r>
            <a:r>
              <a:rPr lang="en-US" altLang="zh-TW" i="1" dirty="0" smtClean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smtClean="0"/>
              <a:t>first </a:t>
            </a:r>
            <a:r>
              <a:rPr lang="en-US" altLang="zh-TW" dirty="0"/>
              <a:t>half of </a:t>
            </a:r>
            <a:r>
              <a:rPr lang="en-US" altLang="zh-TW" i="1" spc="300" dirty="0" smtClean="0"/>
              <a:t>X</a:t>
            </a:r>
            <a:r>
              <a:rPr lang="en-US" altLang="zh-TW" dirty="0" smtClean="0"/>
              <a:t>; </a:t>
            </a:r>
            <a:r>
              <a:rPr lang="en-US" altLang="zh-TW" i="1" dirty="0" err="1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second half of </a:t>
            </a:r>
            <a:r>
              <a:rPr lang="en-US" altLang="zh-TW" i="1" dirty="0" smtClean="0"/>
              <a:t>X</a:t>
            </a:r>
            <a:endParaRPr lang="en-US" altLang="zh-TW" i="1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5		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(max </a:t>
            </a:r>
            <a:r>
              <a:rPr lang="en-US" altLang="zh-TW" i="1" dirty="0"/>
              <a:t>x</a:t>
            </a:r>
            <a:r>
              <a:rPr lang="en-US" altLang="zh-TW" dirty="0"/>
              <a:t>-coordinate in </a:t>
            </a:r>
            <a:r>
              <a:rPr lang="en-US" altLang="zh-TW" i="1" dirty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/>
              <a:t> min </a:t>
            </a:r>
            <a:r>
              <a:rPr lang="en-US" altLang="zh-TW" i="1" dirty="0"/>
              <a:t>x</a:t>
            </a:r>
            <a:r>
              <a:rPr lang="en-US" altLang="zh-TW" dirty="0"/>
              <a:t>-coordinate in </a:t>
            </a:r>
            <a:r>
              <a:rPr lang="en-US" altLang="zh-TW" i="1" dirty="0" err="1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spc="300" dirty="0" smtClean="0"/>
              <a:t>)</a:t>
            </a:r>
            <a:r>
              <a:rPr lang="en-US" altLang="zh-TW" b="1" spc="300" dirty="0" smtClean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TW" dirty="0" smtClean="0"/>
              <a:t>2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6		</a:t>
            </a:r>
            <a:r>
              <a:rPr lang="en-US" altLang="zh-TW" i="1" dirty="0" err="1" smtClean="0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/>
              <a:t>sublist</a:t>
            </a:r>
            <a:r>
              <a:rPr lang="en-US" altLang="zh-TW" dirty="0"/>
              <a:t> of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/>
              <a:t>of points in </a:t>
            </a:r>
            <a:r>
              <a:rPr lang="en-US" altLang="zh-TW" i="1" dirty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; </a:t>
            </a:r>
            <a:r>
              <a:rPr lang="en-US" altLang="zh-TW" i="1" dirty="0" err="1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/>
              <a:t>sublist</a:t>
            </a:r>
            <a:r>
              <a:rPr lang="en-US" altLang="zh-TW" dirty="0"/>
              <a:t> of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/>
              <a:t>of points in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7		</a:t>
            </a:r>
            <a:r>
              <a:rPr lang="en-US" altLang="zh-TW" spc="300" dirty="0" smtClean="0"/>
              <a:t>(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L</a:t>
            </a:r>
            <a:r>
              <a:rPr lang="en-US" altLang="zh-TW" dirty="0" smtClean="0"/>
              <a:t>, </a:t>
            </a:r>
            <a:r>
              <a:rPr lang="en-US" altLang="zh-TW" i="1" dirty="0" err="1"/>
              <a:t>q</a:t>
            </a:r>
            <a:r>
              <a:rPr lang="en-US" altLang="zh-TW" i="1" baseline="-25000" dirty="0" err="1"/>
              <a:t>L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 smtClean="0">
                <a:solidFill>
                  <a:srgbClr val="000000"/>
                </a:solidFill>
              </a:rPr>
              <a:t>R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ECURSIVE</a:t>
            </a:r>
            <a:r>
              <a:rPr lang="en-US" altLang="zh-TW" dirty="0" err="1" smtClean="0">
                <a:solidFill>
                  <a:srgbClr val="000000"/>
                </a:solidFill>
              </a:rPr>
              <a:t>C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LOSEST</a:t>
            </a:r>
            <a:r>
              <a:rPr lang="en-US" altLang="zh-TW" dirty="0" err="1" smtClean="0">
                <a:solidFill>
                  <a:srgbClr val="000000"/>
                </a:solidFill>
              </a:rPr>
              <a:t>P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AIR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X</a:t>
            </a:r>
            <a:r>
              <a:rPr lang="en-US" altLang="zh-TW" i="1" baseline="-25000" dirty="0" smtClean="0"/>
              <a:t>L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/>
              <a:t>)</a:t>
            </a:r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		</a:t>
            </a:r>
            <a:r>
              <a:rPr lang="en-US" altLang="zh-TW" spc="300" dirty="0" smtClean="0"/>
              <a:t>(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R</a:t>
            </a:r>
            <a:r>
              <a:rPr lang="en-US" altLang="zh-TW" dirty="0" smtClean="0"/>
              <a:t>, </a:t>
            </a:r>
            <a:r>
              <a:rPr lang="en-US" altLang="zh-TW" i="1" dirty="0" err="1"/>
              <a:t>q</a:t>
            </a:r>
            <a:r>
              <a:rPr lang="en-US" altLang="zh-TW" i="1" baseline="-25000" dirty="0" err="1"/>
              <a:t>R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 smtClean="0">
                <a:solidFill>
                  <a:srgbClr val="000000"/>
                </a:solidFill>
              </a:rPr>
              <a:t>R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ECURSIVE</a:t>
            </a:r>
            <a:r>
              <a:rPr lang="en-US" altLang="zh-TW" dirty="0" err="1" smtClean="0">
                <a:solidFill>
                  <a:srgbClr val="000000"/>
                </a:solidFill>
              </a:rPr>
              <a:t>C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LOSEST</a:t>
            </a:r>
            <a:r>
              <a:rPr lang="en-US" altLang="zh-TW" dirty="0" err="1" smtClean="0">
                <a:solidFill>
                  <a:srgbClr val="000000"/>
                </a:solidFill>
              </a:rPr>
              <a:t>P</a:t>
            </a:r>
            <a:r>
              <a:rPr lang="en-US" altLang="zh-TW" sz="1800" dirty="0" err="1" smtClean="0">
                <a:solidFill>
                  <a:srgbClr val="000000"/>
                </a:solidFill>
              </a:rPr>
              <a:t>AIR</a:t>
            </a:r>
            <a:r>
              <a:rPr lang="en-US" altLang="zh-TW" dirty="0" smtClean="0"/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X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8		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smtClean="0"/>
              <a:t>min</a:t>
            </a:r>
            <a:r>
              <a:rPr lang="en-US" altLang="zh-TW" spc="300" dirty="0" smtClean="0"/>
              <a:t>(</a:t>
            </a:r>
            <a:r>
              <a:rPr lang="en-US" altLang="zh-TW" i="1" spc="100" dirty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/>
              <a:t>(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L</a:t>
            </a:r>
            <a:r>
              <a:rPr lang="en-US" altLang="zh-TW" dirty="0" smtClean="0"/>
              <a:t>, </a:t>
            </a:r>
            <a:r>
              <a:rPr lang="en-US" altLang="zh-TW" i="1" dirty="0" err="1"/>
              <a:t>q</a:t>
            </a:r>
            <a:r>
              <a:rPr lang="en-US" altLang="zh-TW" i="1" baseline="-25000" dirty="0" err="1"/>
              <a:t>L</a:t>
            </a:r>
            <a:r>
              <a:rPr lang="en-US" altLang="zh-TW" dirty="0" smtClean="0"/>
              <a:t>), </a:t>
            </a:r>
            <a:r>
              <a:rPr lang="en-US" altLang="zh-TW" i="1" spc="100" dirty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/>
              <a:t>(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R</a:t>
            </a:r>
            <a:r>
              <a:rPr lang="en-US" altLang="zh-TW" dirty="0" smtClean="0"/>
              <a:t>, </a:t>
            </a:r>
            <a:r>
              <a:rPr lang="en-US" altLang="zh-TW" i="1" dirty="0" err="1"/>
              <a:t>q</a:t>
            </a:r>
            <a:r>
              <a:rPr lang="en-US" altLang="zh-TW" i="1" baseline="-25000" dirty="0" err="1"/>
              <a:t>R</a:t>
            </a:r>
            <a:r>
              <a:rPr lang="en-US" altLang="zh-TW" spc="300" dirty="0" smtClean="0"/>
              <a:t>)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</a:tabLst>
            </a:pPr>
            <a:r>
              <a:rPr lang="en-US" altLang="zh-TW" dirty="0" smtClean="0"/>
              <a:t>9		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</a:t>
            </a:r>
            <a:r>
              <a:rPr lang="en-US" altLang="zh-TW" dirty="0" err="1"/>
              <a:t>sublist</a:t>
            </a:r>
            <a:r>
              <a:rPr lang="en-US" altLang="zh-TW" dirty="0"/>
              <a:t> of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</a:t>
            </a:r>
            <a:r>
              <a:rPr lang="en-US" altLang="zh-TW" dirty="0"/>
              <a:t>of points whose </a:t>
            </a:r>
            <a:r>
              <a:rPr lang="en-US" altLang="zh-TW" i="1" dirty="0"/>
              <a:t>x</a:t>
            </a:r>
            <a:r>
              <a:rPr lang="en-US" altLang="zh-TW" dirty="0"/>
              <a:t>-coordinates are </a:t>
            </a:r>
            <a:r>
              <a:rPr lang="en-US" altLang="zh-TW" dirty="0" smtClean="0"/>
              <a:t>within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dirty="0"/>
              <a:t>of </a:t>
            </a:r>
            <a:r>
              <a:rPr lang="en-US" altLang="zh-TW" i="1" dirty="0"/>
              <a:t>m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3590250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Divide-and-Conquer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4500576"/>
          </a:xfrm>
        </p:spPr>
        <p:txBody>
          <a:bodyPr/>
          <a:lstStyle/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en-US" altLang="zh-TW" dirty="0" smtClean="0"/>
              <a:t>10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	</a:t>
            </a:r>
            <a:r>
              <a:rPr lang="en-US" altLang="zh-TW" spc="200" dirty="0" smtClean="0">
                <a:solidFill>
                  <a:srgbClr val="000000"/>
                </a:solidFill>
                <a:latin typeface="Bahnschrift Light Condensed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  <a:latin typeface="Bahnschrift Light" panose="020B0502040204020203" pitchFamily="34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≤ </a:t>
            </a:r>
            <a:r>
              <a:rPr lang="en-US" altLang="zh-TW" dirty="0" smtClean="0"/>
              <a:t>1 </a:t>
            </a:r>
            <a:r>
              <a:rPr lang="en-US" altLang="zh-TW" b="1" dirty="0"/>
              <a:t>then</a:t>
            </a:r>
          </a:p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en-US" altLang="zh-TW" dirty="0" smtClean="0"/>
              <a:t>11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≤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b="1" dirty="0" smtClean="0"/>
              <a:t>then </a:t>
            </a:r>
            <a:r>
              <a:rPr lang="en-US" altLang="zh-TW" b="1" dirty="0"/>
              <a:t>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990000" algn="l"/>
                <a:tab pos="1530000" algn="l"/>
                <a:tab pos="1980000" algn="l"/>
              </a:tabLst>
            </a:pPr>
            <a:r>
              <a:rPr lang="da-DK" altLang="zh-TW" dirty="0" smtClean="0"/>
              <a:t>12			</a:t>
            </a:r>
            <a:r>
              <a:rPr lang="da-DK" altLang="zh-TW" b="1" dirty="0" smtClean="0"/>
              <a:t>else </a:t>
            </a:r>
            <a:r>
              <a:rPr lang="da-DK" altLang="zh-TW" b="1" dirty="0"/>
              <a:t>return</a:t>
            </a:r>
            <a:r>
              <a:rPr lang="da-DK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da-DK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13		</a:t>
            </a:r>
            <a:r>
              <a:rPr lang="en-US" altLang="zh-TW" b="1" dirty="0" smtClean="0"/>
              <a:t>else</a:t>
            </a:r>
            <a:endParaRPr lang="en-US" altLang="zh-TW" b="1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14			</a:t>
            </a:r>
            <a:r>
              <a:rPr lang="en-US" altLang="zh-TW" spc="300" dirty="0" smtClean="0"/>
              <a:t>(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*,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*)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/>
              <a:t> any two distinct points 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endParaRPr lang="en-US" altLang="zh-TW" i="1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15			</a:t>
            </a:r>
            <a:r>
              <a:rPr lang="en-US" altLang="zh-TW" b="1" dirty="0" smtClean="0"/>
              <a:t>for</a:t>
            </a:r>
            <a:r>
              <a:rPr lang="en-US" altLang="zh-TW" dirty="0" smtClean="0"/>
              <a:t>	each </a:t>
            </a:r>
            <a:r>
              <a:rPr lang="en-US" altLang="zh-TW" i="1" dirty="0"/>
              <a:t>p</a:t>
            </a:r>
            <a:r>
              <a:rPr lang="en-US" altLang="zh-TW" dirty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 smtClean="0"/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/>
              <a:t>(in order of </a:t>
            </a:r>
            <a:r>
              <a:rPr lang="en-US" altLang="zh-TW" dirty="0" smtClean="0"/>
              <a:t>appearance </a:t>
            </a:r>
            <a:r>
              <a:rPr lang="en-US" altLang="zh-TW" dirty="0"/>
              <a:t>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) </a:t>
            </a:r>
            <a:r>
              <a:rPr lang="en-US" altLang="zh-TW" b="1" dirty="0"/>
              <a:t>do</a:t>
            </a:r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16				</a:t>
            </a:r>
            <a:r>
              <a:rPr lang="en-US" altLang="zh-TW" b="1" dirty="0" smtClean="0"/>
              <a:t>for</a:t>
            </a:r>
            <a:r>
              <a:rPr lang="en-US" altLang="zh-TW" dirty="0" smtClean="0"/>
              <a:t>	each </a:t>
            </a:r>
            <a:r>
              <a:rPr lang="en-US" altLang="zh-TW" dirty="0"/>
              <a:t>of the </a:t>
            </a:r>
            <a:r>
              <a:rPr lang="en-US" altLang="zh-TW" dirty="0">
                <a:solidFill>
                  <a:srgbClr val="000000"/>
                </a:solidFill>
              </a:rPr>
              <a:t>(up to) </a:t>
            </a:r>
            <a:r>
              <a:rPr lang="en-US" altLang="zh-TW" dirty="0"/>
              <a:t>next </a:t>
            </a:r>
            <a:r>
              <a:rPr lang="en-US" altLang="zh-TW" dirty="0">
                <a:solidFill>
                  <a:srgbClr val="FF0000"/>
                </a:solidFill>
              </a:rPr>
              <a:t>seven</a:t>
            </a:r>
            <a:r>
              <a:rPr lang="en-US" altLang="zh-TW" dirty="0"/>
              <a:t> points </a:t>
            </a:r>
            <a:r>
              <a:rPr lang="en-US" altLang="zh-TW" i="1" dirty="0"/>
              <a:t>q</a:t>
            </a:r>
            <a:r>
              <a:rPr lang="en-US" altLang="zh-TW" dirty="0"/>
              <a:t> after </a:t>
            </a:r>
            <a:r>
              <a:rPr lang="en-US" altLang="zh-TW" i="1" dirty="0"/>
              <a:t>p</a:t>
            </a:r>
            <a:r>
              <a:rPr lang="en-US" altLang="zh-TW" dirty="0"/>
              <a:t> on </a:t>
            </a:r>
            <a:r>
              <a:rPr lang="en-US" altLang="zh-TW" i="1" spc="300" dirty="0">
                <a:solidFill>
                  <a:srgbClr val="000000"/>
                </a:solidFill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b="1" dirty="0"/>
              <a:t>do</a:t>
            </a:r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17		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>
                <a:solidFill>
                  <a:srgbClr val="000000"/>
                </a:solidFill>
              </a:rPr>
              <a:t>*)</a:t>
            </a:r>
            <a:r>
              <a:rPr lang="en-US" altLang="zh-TW" dirty="0" smtClean="0"/>
              <a:t> </a:t>
            </a:r>
            <a:r>
              <a:rPr lang="en-US" altLang="zh-TW" b="1" dirty="0"/>
              <a:t>then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*)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altLang="zh-TW" dirty="0" smtClean="0"/>
              <a:t> 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18			</a:t>
            </a:r>
            <a:r>
              <a:rPr lang="en-US" altLang="zh-TW" b="1" dirty="0" smtClean="0"/>
              <a:t>if</a:t>
            </a:r>
            <a:r>
              <a:rPr lang="en-US" altLang="zh-TW" dirty="0" smtClean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>
                <a:solidFill>
                  <a:srgbClr val="000000"/>
                </a:solidFill>
              </a:rPr>
              <a:t>*)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&lt; </a:t>
            </a:r>
            <a:r>
              <a:rPr lang="zh-TW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𝛿</a:t>
            </a:r>
            <a:r>
              <a:rPr lang="en-US" altLang="zh-TW" dirty="0" smtClean="0"/>
              <a:t> </a:t>
            </a:r>
            <a:r>
              <a:rPr lang="en-US" altLang="zh-TW" b="1" dirty="0"/>
              <a:t>then 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*, </a:t>
            </a:r>
            <a:r>
              <a:rPr lang="en-US" altLang="zh-TW" i="1" dirty="0">
                <a:solidFill>
                  <a:srgbClr val="000000"/>
                </a:solidFill>
              </a:rPr>
              <a:t>q</a:t>
            </a:r>
            <a:r>
              <a:rPr lang="en-US" altLang="zh-TW" dirty="0" smtClean="0">
                <a:solidFill>
                  <a:srgbClr val="000000"/>
                </a:solidFill>
              </a:rPr>
              <a:t>*)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en-US" altLang="zh-TW" dirty="0" smtClean="0"/>
              <a:t>19			</a:t>
            </a:r>
            <a:r>
              <a:rPr lang="en-US" altLang="zh-TW" b="1" dirty="0" smtClean="0"/>
              <a:t>else </a:t>
            </a:r>
            <a:r>
              <a:rPr lang="en-US" altLang="zh-TW" b="1" dirty="0"/>
              <a:t>if</a:t>
            </a:r>
            <a:r>
              <a:rPr lang="en-US" altLang="zh-TW" dirty="0"/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≤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spc="100" dirty="0" smtClean="0">
                <a:solidFill>
                  <a:srgbClr val="000000"/>
                </a:solidFill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b="1" dirty="0"/>
              <a:t>then return</a:t>
            </a:r>
            <a:r>
              <a:rPr lang="en-US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  <a:p>
            <a:pPr>
              <a:tabLst>
                <a:tab pos="360000" algn="l"/>
                <a:tab pos="720000" algn="l"/>
                <a:tab pos="1080000" algn="l"/>
                <a:tab pos="1530000" algn="l"/>
                <a:tab pos="1980000" algn="l"/>
              </a:tabLst>
            </a:pPr>
            <a:r>
              <a:rPr lang="da-DK" altLang="zh-TW" dirty="0" smtClean="0"/>
              <a:t>20			</a:t>
            </a:r>
            <a:r>
              <a:rPr lang="da-DK" altLang="zh-TW" b="1" dirty="0" smtClean="0"/>
              <a:t>else </a:t>
            </a:r>
            <a:r>
              <a:rPr lang="da-DK" altLang="zh-TW" b="1" dirty="0"/>
              <a:t>return</a:t>
            </a:r>
            <a:r>
              <a:rPr lang="da-DK" altLang="zh-TW" dirty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q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65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Time Complexity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 we have noted, our goal is to have the recurrence for the </a:t>
            </a:r>
            <a:r>
              <a:rPr lang="en-US" altLang="zh-TW" dirty="0" smtClean="0"/>
              <a:t>time complexity </a:t>
            </a:r>
            <a:r>
              <a:rPr lang="en-US" altLang="zh-TW" dirty="0"/>
              <a:t>be 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</a:t>
            </a:r>
            <a:r>
              <a:rPr lang="en-US" altLang="zh-TW" dirty="0" smtClean="0">
                <a:latin typeface="Symbol" panose="05050102010706020507" pitchFamily="18" charset="2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2</a:t>
            </a:r>
            <a:r>
              <a:rPr lang="en-US" altLang="zh-TW" i="1" dirty="0" err="1" smtClean="0"/>
              <a:t>T</a:t>
            </a:r>
            <a:r>
              <a:rPr lang="en-US" altLang="zh-TW" dirty="0" smtClean="0"/>
              <a:t>(</a:t>
            </a:r>
            <a:r>
              <a:rPr lang="en-US" altLang="zh-TW" i="1" spc="300" dirty="0" smtClean="0"/>
              <a:t>n</a:t>
            </a:r>
            <a:r>
              <a:rPr lang="en-US" altLang="zh-TW" b="1" spc="300" dirty="0" smtClean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TW" dirty="0" smtClean="0"/>
              <a:t>2) </a:t>
            </a:r>
            <a:r>
              <a:rPr lang="en-US" altLang="zh-TW" dirty="0" smtClean="0">
                <a:latin typeface="Symbol" panose="05050102010706020507" pitchFamily="18" charset="2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), </a:t>
            </a:r>
            <a:r>
              <a:rPr lang="en-US" altLang="zh-TW" dirty="0"/>
              <a:t>where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is the </a:t>
            </a:r>
            <a:r>
              <a:rPr lang="en-US" altLang="zh-TW" dirty="0" smtClean="0"/>
              <a:t>time complexity </a:t>
            </a:r>
            <a:r>
              <a:rPr lang="en-US" altLang="zh-TW" dirty="0"/>
              <a:t>for a set of </a:t>
            </a:r>
            <a:r>
              <a:rPr lang="en-US" altLang="zh-TW" i="1" dirty="0"/>
              <a:t>n</a:t>
            </a:r>
            <a:r>
              <a:rPr lang="en-US" altLang="zh-TW" dirty="0"/>
              <a:t> points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main difficulty </a:t>
            </a:r>
            <a:r>
              <a:rPr lang="en-US" altLang="zh-TW" dirty="0"/>
              <a:t>comes from </a:t>
            </a:r>
            <a:r>
              <a:rPr lang="en-US" altLang="zh-TW" dirty="0" smtClean="0"/>
              <a:t>forming </a:t>
            </a:r>
            <a:r>
              <a:rPr lang="en-US" altLang="zh-TW" dirty="0"/>
              <a:t>the </a:t>
            </a:r>
            <a:r>
              <a:rPr lang="en-US" altLang="zh-TW" dirty="0" smtClean="0"/>
              <a:t>arrays </a:t>
            </a:r>
            <a:r>
              <a:rPr lang="en-US" altLang="zh-TW" i="1" dirty="0" err="1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Y</a:t>
            </a:r>
            <a:r>
              <a:rPr lang="en-US" altLang="zh-TW" i="1" baseline="-25000" dirty="0" err="1" smtClean="0">
                <a:solidFill>
                  <a:srgbClr val="000000"/>
                </a:solidFill>
              </a:rPr>
              <a:t>R</a:t>
            </a:r>
            <a:r>
              <a:rPr lang="en-US" altLang="zh-TW" dirty="0" smtClean="0"/>
              <a:t>, </a:t>
            </a:r>
            <a:r>
              <a:rPr lang="en-US" altLang="zh-TW" dirty="0"/>
              <a:t>which are sorted by </a:t>
            </a:r>
            <a:r>
              <a:rPr lang="en-US" altLang="zh-TW" i="1" dirty="0"/>
              <a:t>y</a:t>
            </a:r>
            <a:r>
              <a:rPr lang="en-US" altLang="zh-TW" dirty="0"/>
              <a:t>-coordinate, in linear time</a:t>
            </a:r>
            <a:r>
              <a:rPr lang="en-US" altLang="zh-TW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729066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11268</TotalTime>
  <Words>4079</Words>
  <Application>Microsoft Office PowerPoint</Application>
  <PresentationFormat>如螢幕大小 (4:3)</PresentationFormat>
  <Paragraphs>346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7" baseType="lpstr">
      <vt:lpstr>MS Gothic</vt:lpstr>
      <vt:lpstr>細明體</vt:lpstr>
      <vt:lpstr>新細明體</vt:lpstr>
      <vt:lpstr>Arial</vt:lpstr>
      <vt:lpstr>Bahnschrift Light</vt:lpstr>
      <vt:lpstr>Bahnschrift Light Condensed</vt:lpstr>
      <vt:lpstr>Cambria Math</vt:lpstr>
      <vt:lpstr>Lucida Console</vt:lpstr>
      <vt:lpstr>Symbol</vt:lpstr>
      <vt:lpstr>Tahoma</vt:lpstr>
      <vt:lpstr>Times New Roman</vt:lpstr>
      <vt:lpstr>Blends</vt:lpstr>
      <vt:lpstr>Finding the Closest Pair of Points</vt:lpstr>
      <vt:lpstr>The Closest Pair of Points</vt:lpstr>
      <vt:lpstr>PowerPoint 簡報</vt:lpstr>
      <vt:lpstr>The Closest Pair of Points</vt:lpstr>
      <vt:lpstr>The Divide-and-Conquer Algorithm</vt:lpstr>
      <vt:lpstr>PowerPoint 簡報</vt:lpstr>
      <vt:lpstr>PowerPoint 簡報</vt:lpstr>
      <vt:lpstr>The Divide-and-Conquer Algorithm</vt:lpstr>
      <vt:lpstr>The Divide-and-Conquer Algorithm</vt:lpstr>
      <vt:lpstr>PowerPoint 簡報</vt:lpstr>
      <vt:lpstr>The Divide-and-Conquer Algorithm</vt:lpstr>
      <vt:lpstr>The Divide-and-Conquer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Divide-and-Conquer Algorithm</vt:lpstr>
      <vt:lpstr>Divide</vt:lpstr>
      <vt:lpstr>Conquer</vt:lpstr>
      <vt:lpstr>Combine</vt:lpstr>
      <vt:lpstr>PowerPoint 簡報</vt:lpstr>
      <vt:lpstr>Combine</vt:lpstr>
      <vt:lpstr>The Divide-and-Conquer Algorithm</vt:lpstr>
      <vt:lpstr>Correctness</vt:lpstr>
      <vt:lpstr>Correctness</vt:lpstr>
      <vt:lpstr>PowerPoint 簡報</vt:lpstr>
      <vt:lpstr>PowerPoint 簡報</vt:lpstr>
      <vt:lpstr>PowerPoint 簡報</vt:lpstr>
      <vt:lpstr>The Divide-and-Conquer Algorithm</vt:lpstr>
      <vt:lpstr>The Divide-and-Conquer Algorithm</vt:lpstr>
      <vt:lpstr>The Divide-and-Conquer Algorithm</vt:lpstr>
      <vt:lpstr>The Time Complexity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608</cp:revision>
  <dcterms:created xsi:type="dcterms:W3CDTF">2001-09-06T13:56:50Z</dcterms:created>
  <dcterms:modified xsi:type="dcterms:W3CDTF">2026-01-09T10:16:17Z</dcterms:modified>
</cp:coreProperties>
</file>