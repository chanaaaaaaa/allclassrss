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80"/>
  </p:notesMasterIdLst>
  <p:handoutMasterIdLst>
    <p:handoutMasterId r:id="rId181"/>
  </p:handoutMasterIdLst>
  <p:sldIdLst>
    <p:sldId id="982" r:id="rId2"/>
    <p:sldId id="586" r:id="rId3"/>
    <p:sldId id="595" r:id="rId4"/>
    <p:sldId id="594" r:id="rId5"/>
    <p:sldId id="333" r:id="rId6"/>
    <p:sldId id="593" r:id="rId7"/>
    <p:sldId id="327" r:id="rId8"/>
    <p:sldId id="526" r:id="rId9"/>
    <p:sldId id="527" r:id="rId10"/>
    <p:sldId id="983" r:id="rId11"/>
    <p:sldId id="898" r:id="rId12"/>
    <p:sldId id="899" r:id="rId13"/>
    <p:sldId id="900" r:id="rId14"/>
    <p:sldId id="901" r:id="rId15"/>
    <p:sldId id="902" r:id="rId16"/>
    <p:sldId id="903" r:id="rId17"/>
    <p:sldId id="904" r:id="rId18"/>
    <p:sldId id="905" r:id="rId19"/>
    <p:sldId id="634" r:id="rId20"/>
    <p:sldId id="979" r:id="rId21"/>
    <p:sldId id="857" r:id="rId22"/>
    <p:sldId id="484" r:id="rId23"/>
    <p:sldId id="906" r:id="rId24"/>
    <p:sldId id="907" r:id="rId25"/>
    <p:sldId id="908" r:id="rId26"/>
    <p:sldId id="861" r:id="rId27"/>
    <p:sldId id="862" r:id="rId28"/>
    <p:sldId id="863" r:id="rId29"/>
    <p:sldId id="864" r:id="rId30"/>
    <p:sldId id="865" r:id="rId31"/>
    <p:sldId id="977" r:id="rId32"/>
    <p:sldId id="360" r:id="rId33"/>
    <p:sldId id="978" r:id="rId34"/>
    <p:sldId id="273" r:id="rId35"/>
    <p:sldId id="763" r:id="rId36"/>
    <p:sldId id="764" r:id="rId37"/>
    <p:sldId id="765" r:id="rId38"/>
    <p:sldId id="814" r:id="rId39"/>
    <p:sldId id="766" r:id="rId40"/>
    <p:sldId id="787" r:id="rId41"/>
    <p:sldId id="769" r:id="rId42"/>
    <p:sldId id="770" r:id="rId43"/>
    <p:sldId id="771" r:id="rId44"/>
    <p:sldId id="772" r:id="rId45"/>
    <p:sldId id="773" r:id="rId46"/>
    <p:sldId id="774" r:id="rId47"/>
    <p:sldId id="775" r:id="rId48"/>
    <p:sldId id="776" r:id="rId49"/>
    <p:sldId id="777" r:id="rId50"/>
    <p:sldId id="778" r:id="rId51"/>
    <p:sldId id="779" r:id="rId52"/>
    <p:sldId id="780" r:id="rId53"/>
    <p:sldId id="782" r:id="rId54"/>
    <p:sldId id="781" r:id="rId55"/>
    <p:sldId id="783" r:id="rId56"/>
    <p:sldId id="784" r:id="rId57"/>
    <p:sldId id="785" r:id="rId58"/>
    <p:sldId id="786" r:id="rId59"/>
    <p:sldId id="788" r:id="rId60"/>
    <p:sldId id="790" r:id="rId61"/>
    <p:sldId id="791" r:id="rId62"/>
    <p:sldId id="792" r:id="rId63"/>
    <p:sldId id="793" r:id="rId64"/>
    <p:sldId id="794" r:id="rId65"/>
    <p:sldId id="795" r:id="rId66"/>
    <p:sldId id="796" r:id="rId67"/>
    <p:sldId id="797" r:id="rId68"/>
    <p:sldId id="798" r:id="rId69"/>
    <p:sldId id="799" r:id="rId70"/>
    <p:sldId id="800" r:id="rId71"/>
    <p:sldId id="801" r:id="rId72"/>
    <p:sldId id="802" r:id="rId73"/>
    <p:sldId id="803" r:id="rId74"/>
    <p:sldId id="804" r:id="rId75"/>
    <p:sldId id="805" r:id="rId76"/>
    <p:sldId id="806" r:id="rId77"/>
    <p:sldId id="807" r:id="rId78"/>
    <p:sldId id="958" r:id="rId79"/>
    <p:sldId id="414" r:id="rId80"/>
    <p:sldId id="356" r:id="rId81"/>
    <p:sldId id="986" r:id="rId82"/>
    <p:sldId id="988" r:id="rId83"/>
    <p:sldId id="989" r:id="rId84"/>
    <p:sldId id="990" r:id="rId85"/>
    <p:sldId id="991" r:id="rId86"/>
    <p:sldId id="992" r:id="rId87"/>
    <p:sldId id="993" r:id="rId88"/>
    <p:sldId id="994" r:id="rId89"/>
    <p:sldId id="995" r:id="rId90"/>
    <p:sldId id="996" r:id="rId91"/>
    <p:sldId id="997" r:id="rId92"/>
    <p:sldId id="999" r:id="rId93"/>
    <p:sldId id="1000" r:id="rId94"/>
    <p:sldId id="987" r:id="rId95"/>
    <p:sldId id="808" r:id="rId96"/>
    <p:sldId id="809" r:id="rId97"/>
    <p:sldId id="811" r:id="rId98"/>
    <p:sldId id="812" r:id="rId99"/>
    <p:sldId id="813" r:id="rId100"/>
    <p:sldId id="815" r:id="rId101"/>
    <p:sldId id="816" r:id="rId102"/>
    <p:sldId id="818" r:id="rId103"/>
    <p:sldId id="819" r:id="rId104"/>
    <p:sldId id="820" r:id="rId105"/>
    <p:sldId id="821" r:id="rId106"/>
    <p:sldId id="822" r:id="rId107"/>
    <p:sldId id="823" r:id="rId108"/>
    <p:sldId id="824" r:id="rId109"/>
    <p:sldId id="984" r:id="rId110"/>
    <p:sldId id="827" r:id="rId111"/>
    <p:sldId id="828" r:id="rId112"/>
    <p:sldId id="829" r:id="rId113"/>
    <p:sldId id="830" r:id="rId114"/>
    <p:sldId id="831" r:id="rId115"/>
    <p:sldId id="832" r:id="rId116"/>
    <p:sldId id="985" r:id="rId117"/>
    <p:sldId id="834" r:id="rId118"/>
    <p:sldId id="835" r:id="rId119"/>
    <p:sldId id="836" r:id="rId120"/>
    <p:sldId id="837" r:id="rId121"/>
    <p:sldId id="838" r:id="rId122"/>
    <p:sldId id="839" r:id="rId123"/>
    <p:sldId id="840" r:id="rId124"/>
    <p:sldId id="841" r:id="rId125"/>
    <p:sldId id="842" r:id="rId126"/>
    <p:sldId id="843" r:id="rId127"/>
    <p:sldId id="844" r:id="rId128"/>
    <p:sldId id="845" r:id="rId129"/>
    <p:sldId id="509" r:id="rId130"/>
    <p:sldId id="570" r:id="rId131"/>
    <p:sldId id="959" r:id="rId132"/>
    <p:sldId id="458" r:id="rId133"/>
    <p:sldId id="960" r:id="rId134"/>
    <p:sldId id="961" r:id="rId135"/>
    <p:sldId id="962" r:id="rId136"/>
    <p:sldId id="963" r:id="rId137"/>
    <p:sldId id="968" r:id="rId138"/>
    <p:sldId id="647" r:id="rId139"/>
    <p:sldId id="964" r:id="rId140"/>
    <p:sldId id="965" r:id="rId141"/>
    <p:sldId id="966" r:id="rId142"/>
    <p:sldId id="967" r:id="rId143"/>
    <p:sldId id="340" r:id="rId144"/>
    <p:sldId id="846" r:id="rId145"/>
    <p:sldId id="847" r:id="rId146"/>
    <p:sldId id="848" r:id="rId147"/>
    <p:sldId id="849" r:id="rId148"/>
    <p:sldId id="850" r:id="rId149"/>
    <p:sldId id="851" r:id="rId150"/>
    <p:sldId id="852" r:id="rId151"/>
    <p:sldId id="855" r:id="rId152"/>
    <p:sldId id="856" r:id="rId153"/>
    <p:sldId id="853" r:id="rId154"/>
    <p:sldId id="854" r:id="rId155"/>
    <p:sldId id="352" r:id="rId156"/>
    <p:sldId id="437" r:id="rId157"/>
    <p:sldId id="975" r:id="rId158"/>
    <p:sldId id="976" r:id="rId159"/>
    <p:sldId id="438" r:id="rId160"/>
    <p:sldId id="969" r:id="rId161"/>
    <p:sldId id="970" r:id="rId162"/>
    <p:sldId id="971" r:id="rId163"/>
    <p:sldId id="972" r:id="rId164"/>
    <p:sldId id="973" r:id="rId165"/>
    <p:sldId id="974" r:id="rId166"/>
    <p:sldId id="980" r:id="rId167"/>
    <p:sldId id="981" r:id="rId168"/>
    <p:sldId id="1001" r:id="rId169"/>
    <p:sldId id="757" r:id="rId170"/>
    <p:sldId id="758" r:id="rId171"/>
    <p:sldId id="759" r:id="rId172"/>
    <p:sldId id="760" r:id="rId173"/>
    <p:sldId id="761" r:id="rId174"/>
    <p:sldId id="635" r:id="rId175"/>
    <p:sldId id="895" r:id="rId176"/>
    <p:sldId id="896" r:id="rId177"/>
    <p:sldId id="893" r:id="rId178"/>
    <p:sldId id="894" r:id="rId179"/>
  </p:sldIdLst>
  <p:sldSz cx="9144000" cy="6858000" type="screen4x3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5">
          <p15:clr>
            <a:srgbClr val="A4A3A4"/>
          </p15:clr>
        </p15:guide>
        <p15:guide id="2" pos="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E4A8"/>
    <a:srgbClr val="6666FF"/>
    <a:srgbClr val="B2B2B2"/>
    <a:srgbClr val="969696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7" autoAdjust="0"/>
    <p:restoredTop sz="95968" autoAdjust="0"/>
  </p:normalViewPr>
  <p:slideViewPr>
    <p:cSldViewPr showGuides="1">
      <p:cViewPr varScale="1">
        <p:scale>
          <a:sx n="95" d="100"/>
          <a:sy n="95" d="100"/>
        </p:scale>
        <p:origin x="192" y="77"/>
      </p:cViewPr>
      <p:guideLst>
        <p:guide orient="horz" pos="935"/>
        <p:guide pos="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02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presProps" Target="presProps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notesMaster" Target="notesMasters/notesMaster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1C63C4EB-9AB5-41C3-8140-D0E71BA9B8F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1554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9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86A59292-254B-43C1-B018-1F93A0DEFC5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17511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2000" y="2709000"/>
            <a:ext cx="8640000" cy="1259999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2000" y="188999"/>
            <a:ext cx="7560000" cy="1440001"/>
          </a:xfr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629000"/>
            <a:ext cx="8280000" cy="468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269000"/>
            <a:ext cx="8280000" cy="5040000"/>
          </a:xfrm>
        </p:spPr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3111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2000" y="188999"/>
            <a:ext cx="7920000" cy="1440001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1629000"/>
            <a:ext cx="7920000" cy="4680000"/>
          </a:xfrm>
        </p:spPr>
        <p:txBody>
          <a:bodyPr/>
          <a:lstStyle>
            <a:lvl1pPr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92784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1449000"/>
            <a:ext cx="7920000" cy="4860000"/>
          </a:xfrm>
        </p:spPr>
        <p:txBody>
          <a:bodyPr/>
          <a:lstStyle>
            <a:lvl1pPr marL="342900" indent="-342900">
              <a:buSzPct val="100000"/>
              <a:buFont typeface="Arial" panose="020B0604020202020204" pitchFamily="34" charset="0"/>
              <a:buChar char="•"/>
              <a:defRPr sz="2200"/>
            </a:lvl1pPr>
            <a:lvl2pPr marL="800100" indent="-342900">
              <a:buSzPct val="100000"/>
              <a:buFont typeface="Arial" panose="020B0604020202020204" pitchFamily="34" charset="0"/>
              <a:buChar char="•"/>
              <a:defRPr sz="2200"/>
            </a:lvl2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925465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8280000" cy="5759999"/>
          </a:xfrm>
        </p:spPr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97272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1"/>
            <a:ext cx="6840000" cy="2879999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73119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8280000" cy="5759999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8307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3069000"/>
            <a:ext cx="7740000" cy="3239999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37231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2709000"/>
            <a:ext cx="5220000" cy="3599999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7100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5400000" cy="594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12772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1"/>
            <a:ext cx="5580000" cy="306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91011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5580000" cy="576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63667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909000"/>
            <a:ext cx="5580000" cy="540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31251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3609000"/>
            <a:ext cx="6660000" cy="2879999"/>
          </a:xfrm>
        </p:spPr>
        <p:txBody>
          <a:bodyPr wrap="none"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13844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83972" y="692981"/>
            <a:ext cx="7776055" cy="417602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27727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1115976" y="548981"/>
            <a:ext cx="6912048" cy="864006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374670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1152000" y="548980"/>
            <a:ext cx="6840000" cy="1080020"/>
          </a:xfrm>
        </p:spPr>
        <p:txBody>
          <a:bodyPr/>
          <a:lstStyle>
            <a:lvl1pPr marL="0"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48231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728999"/>
            <a:ext cx="8280000" cy="540001"/>
          </a:xfrm>
        </p:spPr>
        <p:txBody>
          <a:bodyPr/>
          <a:lstStyle>
            <a:lvl1pPr algn="ctr">
              <a:defRPr>
                <a:solidFill>
                  <a:srgbClr val="0000FF"/>
                </a:solidFill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467519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972000" y="909000"/>
            <a:ext cx="7200000" cy="2160020"/>
          </a:xfrm>
        </p:spPr>
        <p:txBody>
          <a:bodyPr/>
          <a:lstStyle>
            <a:lvl1pPr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375516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1152000" y="549001"/>
            <a:ext cx="6840000" cy="3240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07288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267984" y="980983"/>
            <a:ext cx="4608032" cy="3888027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696770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572000" y="549000"/>
            <a:ext cx="4140000" cy="2880000"/>
          </a:xfrm>
        </p:spPr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043947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112000" y="549000"/>
            <a:ext cx="3240000" cy="720000"/>
          </a:xfr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549000"/>
            <a:ext cx="3960000" cy="4140000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212000" y="2169000"/>
            <a:ext cx="4500000" cy="4140000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5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970" y="260978"/>
            <a:ext cx="8640000" cy="129600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395971" y="1700988"/>
            <a:ext cx="6336044" cy="3168022"/>
          </a:xfrm>
        </p:spPr>
        <p:txBody>
          <a:bodyPr/>
          <a:lstStyle>
            <a:lvl1pPr>
              <a:spcBef>
                <a:spcPts val="300"/>
              </a:spcBef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16001" y="4293006"/>
            <a:ext cx="4032028" cy="2016014"/>
          </a:xfrm>
        </p:spPr>
        <p:txBody>
          <a:bodyPr/>
          <a:lstStyle>
            <a:lvl1pPr>
              <a:spcBef>
                <a:spcPts val="300"/>
              </a:spcBef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070591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683973" y="548980"/>
            <a:ext cx="3312022" cy="2880000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16001" y="548980"/>
            <a:ext cx="3744026" cy="3744026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254059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683973" y="548980"/>
            <a:ext cx="4320030" cy="4032008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139997" y="2564994"/>
            <a:ext cx="4320031" cy="3744026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964927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612000" y="2169000"/>
            <a:ext cx="4500000" cy="4140000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532175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683972" y="2132992"/>
            <a:ext cx="4320031" cy="3744026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407015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1449000"/>
            <a:ext cx="4680000" cy="4140000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411315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39972" y="548980"/>
            <a:ext cx="4032028" cy="2016014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3995996" y="2132990"/>
            <a:ext cx="4752033" cy="4176029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225673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549000"/>
            <a:ext cx="7200000" cy="360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3672000" y="3429000"/>
            <a:ext cx="5040001" cy="2880019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013690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549000"/>
            <a:ext cx="7560000" cy="324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3672000" y="3069000"/>
            <a:ext cx="5040001" cy="342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899477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549000"/>
            <a:ext cx="6840000" cy="450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52000" y="4689000"/>
            <a:ext cx="3960001" cy="1620019"/>
          </a:xfrm>
        </p:spPr>
        <p:txBody>
          <a:bodyPr wrap="none"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168218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8279999" cy="1620000"/>
          </a:xfrm>
        </p:spPr>
        <p:txBody>
          <a:bodyPr/>
          <a:lstStyle>
            <a:lvl1pPr marL="0" indent="0"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32000" y="3429000"/>
            <a:ext cx="8280000" cy="540000"/>
          </a:xfrm>
        </p:spPr>
        <p:txBody>
          <a:bodyPr/>
          <a:lstStyle>
            <a:lvl1pPr marL="0" indent="0"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10"/>
          </p:nvPr>
        </p:nvSpPr>
        <p:spPr>
          <a:xfrm>
            <a:off x="432000" y="5409000"/>
            <a:ext cx="8279999" cy="900000"/>
          </a:xfrm>
        </p:spPr>
        <p:txBody>
          <a:bodyPr/>
          <a:lstStyle>
            <a:lvl1pPr marL="0" indent="0"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2000" y="369000"/>
            <a:ext cx="7560000" cy="1080000"/>
          </a:xfr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38458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549000"/>
            <a:ext cx="8640000" cy="720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7005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2000" y="189000"/>
            <a:ext cx="7920000" cy="1440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83314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2000" y="549000"/>
            <a:ext cx="7560000" cy="1080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44640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369000"/>
            <a:ext cx="5220000" cy="1080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54481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52000" y="188999"/>
            <a:ext cx="8640000" cy="1080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64515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2000" y="1269000"/>
            <a:ext cx="8640000" cy="5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88" r:id="rId2"/>
    <p:sldLayoutId id="2147483703" r:id="rId3"/>
    <p:sldLayoutId id="2147483704" r:id="rId4"/>
    <p:sldLayoutId id="2147483701" r:id="rId5"/>
    <p:sldLayoutId id="2147483700" r:id="rId6"/>
    <p:sldLayoutId id="2147483725" r:id="rId7"/>
    <p:sldLayoutId id="2147483726" r:id="rId8"/>
    <p:sldLayoutId id="2147483734" r:id="rId9"/>
    <p:sldLayoutId id="2147483735" r:id="rId10"/>
    <p:sldLayoutId id="2147483733" r:id="rId11"/>
    <p:sldLayoutId id="2147483730" r:id="rId12"/>
    <p:sldLayoutId id="2147483731" r:id="rId13"/>
    <p:sldLayoutId id="2147483732" r:id="rId14"/>
    <p:sldLayoutId id="2147483728" r:id="rId15"/>
    <p:sldLayoutId id="2147483709" r:id="rId16"/>
    <p:sldLayoutId id="2147483718" r:id="rId17"/>
    <p:sldLayoutId id="2147483729" r:id="rId18"/>
    <p:sldLayoutId id="2147483719" r:id="rId19"/>
    <p:sldLayoutId id="2147483716" r:id="rId20"/>
    <p:sldLayoutId id="2147483723" r:id="rId21"/>
    <p:sldLayoutId id="2147483710" r:id="rId22"/>
    <p:sldLayoutId id="2147483721" r:id="rId23"/>
    <p:sldLayoutId id="2147483690" r:id="rId24"/>
    <p:sldLayoutId id="2147483707" r:id="rId25"/>
    <p:sldLayoutId id="2147483702" r:id="rId26"/>
    <p:sldLayoutId id="2147483705" r:id="rId27"/>
    <p:sldLayoutId id="2147483715" r:id="rId28"/>
    <p:sldLayoutId id="2147483722" r:id="rId29"/>
    <p:sldLayoutId id="2147483717" r:id="rId30"/>
    <p:sldLayoutId id="2147483708" r:id="rId31"/>
    <p:sldLayoutId id="2147483724" r:id="rId32"/>
    <p:sldLayoutId id="2147483736" r:id="rId33"/>
    <p:sldLayoutId id="2147483727" r:id="rId34"/>
    <p:sldLayoutId id="2147483699" r:id="rId35"/>
    <p:sldLayoutId id="2147483692" r:id="rId36"/>
    <p:sldLayoutId id="2147483713" r:id="rId37"/>
    <p:sldLayoutId id="2147483711" r:id="rId38"/>
    <p:sldLayoutId id="2147483714" r:id="rId39"/>
    <p:sldLayoutId id="2147483720" r:id="rId40"/>
    <p:sldLayoutId id="2147483712" r:id="rId41"/>
    <p:sldLayoutId id="2147483693" r:id="rId4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n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2pPr>
      <a:lvl3pPr marL="1147763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8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Single-Source Shortest Paths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7540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In a </a:t>
            </a:r>
            <a:r>
              <a:rPr lang="en-US" altLang="zh-TW" i="1" dirty="0" smtClean="0">
                <a:solidFill>
                  <a:srgbClr val="0000FF"/>
                </a:solidFill>
              </a:rPr>
              <a:t>shortest-paths problem</a:t>
            </a:r>
            <a:r>
              <a:rPr lang="en-US" altLang="zh-TW" dirty="0" smtClean="0"/>
              <a:t>, we are given a </a:t>
            </a:r>
            <a:r>
              <a:rPr lang="en-US" altLang="zh-TW" dirty="0" smtClean="0">
                <a:solidFill>
                  <a:schemeClr val="hlink"/>
                </a:solidFill>
              </a:rPr>
              <a:t>weighted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chemeClr val="hlink"/>
                </a:solidFill>
              </a:rPr>
              <a:t>directed</a:t>
            </a:r>
            <a:r>
              <a:rPr lang="en-US" altLang="zh-TW" dirty="0" smtClean="0"/>
              <a:t> graph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), with weight function </a:t>
            </a:r>
            <a:r>
              <a:rPr lang="en-US" altLang="zh-TW" i="1" dirty="0" smtClean="0"/>
              <a:t>w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 pitchFamily="18" charset="2"/>
              </a:rPr>
              <a:t> </a:t>
            </a:r>
            <a:r>
              <a:rPr lang="en-US" altLang="zh-TW" b="1" i="1" dirty="0" smtClean="0">
                <a:sym typeface="Symbol" pitchFamily="18" charset="2"/>
              </a:rPr>
              <a:t>R</a:t>
            </a:r>
            <a:r>
              <a:rPr lang="en-US" altLang="zh-TW" dirty="0" smtClean="0"/>
              <a:t>.</a:t>
            </a:r>
          </a:p>
          <a:p>
            <a:pPr eaLnBrk="1" hangingPunct="1"/>
            <a:r>
              <a:rPr lang="en-US" altLang="zh-TW" dirty="0" smtClean="0"/>
              <a:t>The </a:t>
            </a:r>
            <a:r>
              <a:rPr lang="en-US" altLang="zh-TW" i="1" dirty="0" smtClean="0">
                <a:solidFill>
                  <a:srgbClr val="0000FF"/>
                </a:solidFill>
              </a:rPr>
              <a:t>weight</a:t>
            </a:r>
            <a:r>
              <a:rPr lang="en-US" altLang="zh-TW" dirty="0" smtClean="0"/>
              <a:t> of path </a:t>
            </a:r>
            <a:r>
              <a:rPr lang="en-US" altLang="zh-TW" i="1" dirty="0" smtClean="0"/>
              <a:t>p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 pitchFamily="18" charset="2"/>
              </a:rPr>
              <a:t></a:t>
            </a:r>
            <a:r>
              <a:rPr lang="en-US" altLang="zh-TW" i="1" dirty="0" smtClean="0">
                <a:sym typeface="Symbol" pitchFamily="18" charset="2"/>
              </a:rPr>
              <a:t>v</a:t>
            </a:r>
            <a:r>
              <a:rPr lang="en-US" altLang="zh-TW" baseline="-25000" dirty="0" smtClean="0">
                <a:sym typeface="Symbol" pitchFamily="18" charset="2"/>
              </a:rPr>
              <a:t>0</a:t>
            </a:r>
            <a:r>
              <a:rPr lang="en-US" altLang="zh-TW" dirty="0" smtClean="0">
                <a:sym typeface="Symbol" pitchFamily="18" charset="2"/>
              </a:rPr>
              <a:t>, </a:t>
            </a:r>
            <a:r>
              <a:rPr lang="en-US" altLang="zh-TW" i="1" dirty="0" smtClean="0">
                <a:sym typeface="Symbol" pitchFamily="18" charset="2"/>
              </a:rPr>
              <a:t>v</a:t>
            </a:r>
            <a:r>
              <a:rPr lang="en-US" altLang="zh-TW" baseline="-25000" dirty="0" smtClean="0">
                <a:sym typeface="Symbol" pitchFamily="18" charset="2"/>
              </a:rPr>
              <a:t>1</a:t>
            </a:r>
            <a:r>
              <a:rPr lang="en-US" altLang="zh-TW" dirty="0" smtClean="0">
                <a:sym typeface="Symbol" pitchFamily="18" charset="2"/>
              </a:rPr>
              <a:t>, , </a:t>
            </a:r>
            <a:r>
              <a:rPr lang="en-US" altLang="zh-TW" i="1" dirty="0" err="1" smtClean="0">
                <a:sym typeface="Symbol" pitchFamily="18" charset="2"/>
              </a:rPr>
              <a:t>v</a:t>
            </a:r>
            <a:r>
              <a:rPr lang="en-US" altLang="zh-TW" i="1" baseline="-25000" dirty="0" err="1" smtClean="0">
                <a:sym typeface="Symbol" pitchFamily="18" charset="2"/>
              </a:rPr>
              <a:t>k</a:t>
            </a:r>
            <a:r>
              <a:rPr lang="en-US" altLang="zh-TW" dirty="0" smtClean="0">
                <a:sym typeface="Symbol" pitchFamily="18" charset="2"/>
              </a:rPr>
              <a:t></a:t>
            </a:r>
            <a:r>
              <a:rPr lang="en-US" altLang="zh-TW" dirty="0" smtClean="0"/>
              <a:t> is the sum of the weights of its constituent edges: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We define the </a:t>
            </a:r>
            <a:r>
              <a:rPr lang="en-US" altLang="zh-TW" i="1" dirty="0" smtClean="0">
                <a:solidFill>
                  <a:srgbClr val="0000FF"/>
                </a:solidFill>
              </a:rPr>
              <a:t>shortest-path weight</a:t>
            </a:r>
            <a:r>
              <a:rPr lang="en-US" altLang="zh-TW" dirty="0" smtClean="0"/>
              <a:t> from </a:t>
            </a:r>
            <a:r>
              <a:rPr lang="en-US" altLang="zh-TW" i="1" dirty="0" smtClean="0"/>
              <a:t>u</a:t>
            </a:r>
            <a:r>
              <a:rPr lang="en-US" altLang="zh-TW" dirty="0" smtClean="0"/>
              <a:t> to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by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 smtClean="0"/>
              <a:t>A </a:t>
            </a:r>
            <a:r>
              <a:rPr lang="en-US" altLang="zh-TW" i="1" dirty="0" smtClean="0">
                <a:solidFill>
                  <a:srgbClr val="0000FF"/>
                </a:solidFill>
              </a:rPr>
              <a:t>shortest path</a:t>
            </a:r>
            <a:r>
              <a:rPr lang="en-US" altLang="zh-TW" dirty="0" smtClean="0"/>
              <a:t> from node </a:t>
            </a:r>
            <a:r>
              <a:rPr lang="en-US" altLang="zh-TW" i="1" dirty="0" smtClean="0"/>
              <a:t>u</a:t>
            </a:r>
            <a:r>
              <a:rPr lang="en-US" altLang="zh-TW" dirty="0" smtClean="0"/>
              <a:t> to node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is then defined as any path </a:t>
            </a:r>
            <a:r>
              <a:rPr lang="en-US" altLang="zh-TW" i="1" dirty="0" smtClean="0"/>
              <a:t>p</a:t>
            </a:r>
            <a:r>
              <a:rPr lang="en-US" altLang="zh-TW" dirty="0" smtClean="0"/>
              <a:t> with weight </a:t>
            </a:r>
            <a:r>
              <a:rPr lang="en-US" altLang="zh-TW" i="1" dirty="0" smtClean="0"/>
              <a:t>w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p</a:t>
            </a:r>
            <a:r>
              <a:rPr lang="en-US" altLang="zh-TW" dirty="0" smtClean="0"/>
              <a:t>)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i="1" dirty="0" smtClean="0">
                <a:sym typeface="Symbol" pitchFamily="18" charset="2"/>
              </a:rPr>
              <a:t></a:t>
            </a:r>
            <a:r>
              <a:rPr lang="en-US" altLang="zh-TW" sz="1200" i="1" dirty="0" smtClean="0">
                <a:sym typeface="Symbol" pitchFamily="18" charset="2"/>
              </a:rPr>
              <a:t> 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smtClean="0">
                <a:sym typeface="Symbol" pitchFamily="18" charset="2"/>
              </a:rPr>
              <a:t>u</a:t>
            </a:r>
            <a:r>
              <a:rPr lang="en-US" altLang="zh-TW" dirty="0" smtClean="0">
                <a:sym typeface="Symbol" pitchFamily="18" charset="2"/>
              </a:rPr>
              <a:t>,</a:t>
            </a:r>
            <a:r>
              <a:rPr lang="en-US" altLang="zh-TW" sz="1200" dirty="0" smtClean="0">
                <a:sym typeface="Symbol" pitchFamily="18" charset="2"/>
              </a:rPr>
              <a:t> </a:t>
            </a:r>
            <a:r>
              <a:rPr lang="en-US" altLang="zh-TW" i="1" dirty="0" smtClean="0">
                <a:sym typeface="Symbol" pitchFamily="18" charset="2"/>
              </a:rPr>
              <a:t>v</a:t>
            </a:r>
            <a:r>
              <a:rPr lang="en-US" altLang="zh-TW" dirty="0" smtClean="0">
                <a:sym typeface="Symbol" pitchFamily="18" charset="2"/>
              </a:rPr>
              <a:t>).</a:t>
            </a:r>
            <a:endParaRPr lang="en-US" altLang="en-US" dirty="0" smtClean="0">
              <a:sym typeface="Symbol" pitchFamily="18" charset="2"/>
            </a:endParaRPr>
          </a:p>
        </p:txBody>
      </p:sp>
      <p:graphicFrame>
        <p:nvGraphicFramePr>
          <p:cNvPr id="1433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624693"/>
              </p:ext>
            </p:extLst>
          </p:nvPr>
        </p:nvGraphicFramePr>
        <p:xfrm>
          <a:off x="2772000" y="2349000"/>
          <a:ext cx="2671309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8" name="方程式" r:id="rId3" imgW="1282680" imgH="431640" progId="Equation.3">
                  <p:embed/>
                </p:oleObj>
              </mc:Choice>
              <mc:Fallback>
                <p:oleObj name="方程式" r:id="rId3" imgW="12826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000" y="2349000"/>
                        <a:ext cx="2671309" cy="90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383555"/>
              </p:ext>
            </p:extLst>
          </p:nvPr>
        </p:nvGraphicFramePr>
        <p:xfrm>
          <a:off x="612000" y="4149000"/>
          <a:ext cx="7029261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9" name="方程式" r:id="rId5" imgW="3771720" imgH="482400" progId="Equation.3">
                  <p:embed/>
                </p:oleObj>
              </mc:Choice>
              <mc:Fallback>
                <p:oleObj name="方程式" r:id="rId5" imgW="377172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000" y="4149000"/>
                        <a:ext cx="7029261" cy="90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Single-source shortest-paths problem</a:t>
            </a:r>
          </a:p>
        </p:txBody>
      </p:sp>
      <p:graphicFrame>
        <p:nvGraphicFramePr>
          <p:cNvPr id="409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022968"/>
              </p:ext>
            </p:extLst>
          </p:nvPr>
        </p:nvGraphicFramePr>
        <p:xfrm>
          <a:off x="2772000" y="2529000"/>
          <a:ext cx="3600000" cy="284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54" name="Visio" r:id="rId3" imgW="5991962" imgH="4731796" progId="Visio.Drawing.11">
                  <p:embed/>
                </p:oleObj>
              </mc:Choice>
              <mc:Fallback>
                <p:oleObj name="Visio" r:id="rId3" imgW="5991962" imgH="4731796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000" y="2529000"/>
                        <a:ext cx="3600000" cy="2843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274638" indent="-274638" eaLnBrk="1" hangingPunct="1">
              <a:spcBef>
                <a:spcPct val="50000"/>
              </a:spcBef>
            </a:pPr>
            <a:r>
              <a:rPr lang="en-US" altLang="zh-TW" dirty="0" smtClean="0"/>
              <a:t>Single-source shortest-paths problem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783639"/>
              </p:ext>
            </p:extLst>
          </p:nvPr>
        </p:nvGraphicFramePr>
        <p:xfrm>
          <a:off x="2772000" y="2529000"/>
          <a:ext cx="3600000" cy="284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30" name="Visio" r:id="rId3" imgW="5991962" imgH="4731796" progId="Visio.Drawing.11">
                  <p:embed/>
                </p:oleObj>
              </mc:Choice>
              <mc:Fallback>
                <p:oleObj name="Visio" r:id="rId3" imgW="5991962" imgH="473179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000" y="2529000"/>
                        <a:ext cx="3600000" cy="284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 smtClean="0"/>
              <a:t>Shortest-paths tree</a:t>
            </a:r>
            <a:endParaRPr lang="zh-TW" altLang="en-US" sz="4400" dirty="0"/>
          </a:p>
        </p:txBody>
      </p:sp>
      <p:sp>
        <p:nvSpPr>
          <p:cNvPr id="686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tabLst>
                <a:tab pos="450850" algn="l"/>
              </a:tabLst>
            </a:pPr>
            <a:r>
              <a:rPr lang="en-US" altLang="zh-TW" dirty="0" smtClean="0"/>
              <a:t>Let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) be a </a:t>
            </a:r>
            <a:r>
              <a:rPr lang="en-US" altLang="zh-TW" dirty="0" smtClean="0">
                <a:solidFill>
                  <a:schemeClr val="hlink"/>
                </a:solidFill>
              </a:rPr>
              <a:t>weighted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chemeClr val="hlink"/>
                </a:solidFill>
              </a:rPr>
              <a:t>directed</a:t>
            </a:r>
            <a:r>
              <a:rPr lang="en-US" altLang="zh-TW" dirty="0" smtClean="0"/>
              <a:t> graph with weight function </a:t>
            </a:r>
            <a:r>
              <a:rPr lang="en-US" altLang="zh-TW" i="1" dirty="0" smtClean="0"/>
              <a:t>w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 pitchFamily="18" charset="2"/>
              </a:rPr>
              <a:t> </a:t>
            </a:r>
            <a:r>
              <a:rPr lang="en-US" altLang="zh-TW" b="1" i="1" dirty="0" smtClean="0">
                <a:sym typeface="Symbol" pitchFamily="18" charset="2"/>
              </a:rPr>
              <a:t>R</a:t>
            </a:r>
            <a:r>
              <a:rPr lang="en-US" altLang="zh-TW" dirty="0" smtClean="0">
                <a:sym typeface="Symbol" pitchFamily="18" charset="2"/>
              </a:rPr>
              <a:t>, and assume that </a:t>
            </a:r>
            <a:r>
              <a:rPr lang="en-US" altLang="zh-TW" i="1" dirty="0" smtClean="0">
                <a:sym typeface="Symbol" pitchFamily="18" charset="2"/>
              </a:rPr>
              <a:t>G</a:t>
            </a:r>
            <a:r>
              <a:rPr lang="en-US" altLang="zh-TW" dirty="0" smtClean="0">
                <a:sym typeface="Symbol" pitchFamily="18" charset="2"/>
              </a:rPr>
              <a:t> contains </a:t>
            </a:r>
            <a:r>
              <a:rPr lang="en-US" altLang="zh-TW" dirty="0" smtClean="0">
                <a:solidFill>
                  <a:schemeClr val="hlink"/>
                </a:solidFill>
                <a:sym typeface="Symbol" pitchFamily="18" charset="2"/>
              </a:rPr>
              <a:t>no negative-weight cycles </a:t>
            </a:r>
            <a:r>
              <a:rPr lang="en-US" altLang="zh-TW" dirty="0" smtClean="0">
                <a:solidFill>
                  <a:schemeClr val="hlink"/>
                </a:solidFill>
              </a:rPr>
              <a:t>reachable from the source node </a:t>
            </a:r>
            <a:r>
              <a:rPr lang="en-US" altLang="zh-TW" i="1" dirty="0" smtClean="0">
                <a:solidFill>
                  <a:schemeClr val="hlink"/>
                </a:solidFill>
              </a:rPr>
              <a:t>s</a:t>
            </a:r>
            <a:r>
              <a:rPr lang="en-US" altLang="zh-TW" dirty="0" smtClean="0">
                <a:solidFill>
                  <a:schemeClr val="hlink"/>
                </a:solidFill>
              </a:rPr>
              <a:t> </a:t>
            </a:r>
            <a:r>
              <a:rPr lang="en-US" altLang="zh-TW" sz="2200" dirty="0" smtClean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 smtClean="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altLang="zh-TW" i="1" dirty="0" smtClean="0">
                <a:solidFill>
                  <a:schemeClr val="hlink"/>
                </a:solidFill>
              </a:rPr>
              <a:t>V</a:t>
            </a:r>
            <a:r>
              <a:rPr lang="en-US" altLang="zh-TW" dirty="0" smtClean="0"/>
              <a:t>.</a:t>
            </a:r>
          </a:p>
          <a:p>
            <a:pPr marL="0" indent="0" eaLnBrk="1" hangingPunct="1">
              <a:spcBef>
                <a:spcPct val="50000"/>
              </a:spcBef>
              <a:tabLst>
                <a:tab pos="450850" algn="l"/>
              </a:tabLst>
            </a:pPr>
            <a:r>
              <a:rPr lang="en-US" altLang="zh-TW" dirty="0" smtClean="0"/>
              <a:t>A </a:t>
            </a:r>
            <a:r>
              <a:rPr lang="en-US" altLang="zh-TW" i="1" dirty="0" smtClean="0">
                <a:solidFill>
                  <a:srgbClr val="0000FF"/>
                </a:solidFill>
              </a:rPr>
              <a:t>shortest-paths tree</a:t>
            </a:r>
            <a:r>
              <a:rPr lang="en-US" altLang="zh-TW" dirty="0" smtClean="0"/>
              <a:t> rooted at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is a directed subgraph                </a:t>
            </a:r>
            <a:r>
              <a:rPr lang="en-US" altLang="zh-TW" i="1" dirty="0" smtClean="0"/>
              <a:t>G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spc="300" dirty="0" smtClean="0"/>
              <a:t>V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/>
              <a:t>, </a:t>
            </a:r>
            <a:r>
              <a:rPr lang="en-US" altLang="zh-TW" i="1" spc="150" dirty="0" smtClean="0"/>
              <a:t>E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/>
              <a:t>) of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such that</a:t>
            </a:r>
          </a:p>
          <a:p>
            <a:pPr marL="0" indent="0" eaLnBrk="1" hangingPunct="1">
              <a:tabLst>
                <a:tab pos="450850" algn="l"/>
              </a:tabLst>
            </a:pPr>
            <a:r>
              <a:rPr lang="en-US" altLang="zh-TW" dirty="0" smtClean="0"/>
              <a:t>1.	</a:t>
            </a:r>
            <a:r>
              <a:rPr lang="en-US" altLang="zh-TW" i="1" spc="300" dirty="0" smtClean="0"/>
              <a:t>V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/>
              <a:t> is the set of nodes reachable from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in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,</a:t>
            </a:r>
          </a:p>
          <a:p>
            <a:pPr marL="0" indent="0" eaLnBrk="1" hangingPunct="1">
              <a:tabLst>
                <a:tab pos="450850" algn="l"/>
              </a:tabLst>
            </a:pPr>
            <a:r>
              <a:rPr lang="en-US" altLang="zh-TW" dirty="0" smtClean="0"/>
              <a:t>2.	</a:t>
            </a:r>
            <a:r>
              <a:rPr lang="en-US" altLang="zh-TW" i="1" dirty="0" smtClean="0"/>
              <a:t>G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/>
              <a:t> forms a rooted tree with root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, and</a:t>
            </a:r>
          </a:p>
          <a:p>
            <a:pPr marL="0" indent="0" eaLnBrk="1" hangingPunct="1">
              <a:tabLst>
                <a:tab pos="450850" algn="l"/>
              </a:tabLst>
            </a:pPr>
            <a:r>
              <a:rPr lang="en-US" altLang="zh-TW" dirty="0" smtClean="0"/>
              <a:t>3.	for all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i="1" spc="300" dirty="0" smtClean="0"/>
              <a:t>V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>
                <a:sym typeface="Symbol" pitchFamily="18" charset="2"/>
              </a:rPr>
              <a:t>,</a:t>
            </a:r>
            <a:r>
              <a:rPr lang="en-US" altLang="zh-TW" dirty="0" smtClean="0"/>
              <a:t> the unique simple path from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to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in </a:t>
            </a:r>
            <a:r>
              <a:rPr lang="en-US" altLang="zh-TW" i="1" dirty="0"/>
              <a:t>G</a:t>
            </a:r>
            <a:r>
              <a:rPr lang="en-US" altLang="zh-TW" dirty="0">
                <a:sym typeface="Symbol" pitchFamily="18" charset="2"/>
              </a:rPr>
              <a:t></a:t>
            </a:r>
            <a:r>
              <a:rPr lang="en-US" altLang="zh-TW" dirty="0"/>
              <a:t> </a:t>
            </a:r>
            <a:r>
              <a:rPr lang="en-US" altLang="zh-TW" dirty="0" smtClean="0"/>
              <a:t>	 	is a shortest path from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to </a:t>
            </a:r>
            <a:r>
              <a:rPr lang="en-US" altLang="zh-TW" i="1" dirty="0" smtClean="0"/>
              <a:t>v </a:t>
            </a:r>
            <a:r>
              <a:rPr lang="en-US" altLang="zh-TW" dirty="0" smtClean="0"/>
              <a:t>in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sym typeface="Symbol" pitchFamily="18" charset="2"/>
              </a:rPr>
              <a:t>A graph contains a negative-weight cycle </a:t>
            </a:r>
            <a:r>
              <a:rPr lang="en-US" altLang="zh-TW" dirty="0" smtClean="0"/>
              <a:t>reachable from </a:t>
            </a:r>
            <a:r>
              <a:rPr lang="en-US" altLang="zh-TW" i="1" dirty="0" smtClean="0"/>
              <a:t>s</a:t>
            </a:r>
          </a:p>
        </p:txBody>
      </p:sp>
      <p:pic>
        <p:nvPicPr>
          <p:cNvPr id="21811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2000" y="2169000"/>
            <a:ext cx="5400000" cy="3942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400" dirty="0" smtClean="0"/>
              <a:t>Shortest-paths trees are not necessarily unique</a:t>
            </a:r>
          </a:p>
        </p:txBody>
      </p:sp>
      <p:graphicFrame>
        <p:nvGraphicFramePr>
          <p:cNvPr id="409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54345"/>
              </p:ext>
            </p:extLst>
          </p:nvPr>
        </p:nvGraphicFramePr>
        <p:xfrm>
          <a:off x="2772000" y="2529000"/>
          <a:ext cx="3600000" cy="284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0" name="Visio" r:id="rId3" imgW="5991962" imgH="4731796" progId="Visio.Drawing.11">
                  <p:embed/>
                </p:oleObj>
              </mc:Choice>
              <mc:Fallback>
                <p:oleObj name="Visio" r:id="rId3" imgW="5991962" imgH="4731796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000" y="2529000"/>
                        <a:ext cx="3600000" cy="284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400" dirty="0" smtClean="0"/>
              <a:t>Shortest-paths trees are not necessarily unique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545353"/>
              </p:ext>
            </p:extLst>
          </p:nvPr>
        </p:nvGraphicFramePr>
        <p:xfrm>
          <a:off x="2772000" y="2529000"/>
          <a:ext cx="3600000" cy="284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4" name="Visio" r:id="rId3" imgW="5991962" imgH="4731796" progId="Visio.Drawing.11">
                  <p:embed/>
                </p:oleObj>
              </mc:Choice>
              <mc:Fallback>
                <p:oleObj name="Visio" r:id="rId3" imgW="5991962" imgH="473179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000" y="2529000"/>
                        <a:ext cx="3600000" cy="284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400" dirty="0" smtClean="0"/>
              <a:t>Shortest-paths trees are not necessarily unique</a:t>
            </a: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423291"/>
              </p:ext>
            </p:extLst>
          </p:nvPr>
        </p:nvGraphicFramePr>
        <p:xfrm>
          <a:off x="2772000" y="2529000"/>
          <a:ext cx="3600000" cy="284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8" name="Visio" r:id="rId3" imgW="5991962" imgH="4731796" progId="Visio.Drawing.11">
                  <p:embed/>
                </p:oleObj>
              </mc:Choice>
              <mc:Fallback>
                <p:oleObj name="Visio" r:id="rId3" imgW="5991962" imgH="473179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000" y="2529000"/>
                        <a:ext cx="3600000" cy="284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44378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 flipH="1">
            <a:off x="61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70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1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 flipH="1">
            <a:off x="70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54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691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2" name="Oval 22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>
                <a:sym typeface="Symbol" pitchFamily="18" charset="2"/>
              </a:rPr>
              <a:t>0</a:t>
            </a:r>
          </a:p>
        </p:txBody>
      </p:sp>
      <p:sp>
        <p:nvSpPr>
          <p:cNvPr id="13" name="Oval 26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latin typeface="Cambria Math" panose="02040503050406030204" pitchFamily="18" charset="0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69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15" name="Oval 28"/>
          <p:cNvSpPr>
            <a:spLocks noChangeArrowheads="1"/>
          </p:cNvSpPr>
          <p:nvPr/>
        </p:nvSpPr>
        <p:spPr bwMode="auto">
          <a:xfrm>
            <a:off x="78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44000" tIns="144000" rIns="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745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14400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2</a:t>
            </a:r>
          </a:p>
        </p:txBody>
      </p: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5</a:t>
            </a:r>
          </a:p>
        </p:txBody>
      </p:sp>
      <p:sp>
        <p:nvSpPr>
          <p:cNvPr id="19" name="Text Box 33"/>
          <p:cNvSpPr txBox="1">
            <a:spLocks noChangeArrowheads="1"/>
          </p:cNvSpPr>
          <p:nvPr/>
        </p:nvSpPr>
        <p:spPr bwMode="auto">
          <a:xfrm>
            <a:off x="745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graphicFrame>
        <p:nvGraphicFramePr>
          <p:cNvPr id="20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447376"/>
              </p:ext>
            </p:extLst>
          </p:nvPr>
        </p:nvGraphicFramePr>
        <p:xfrm>
          <a:off x="6192000" y="909000"/>
          <a:ext cx="144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marL="90000" marR="90000" marT="0" marB="180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90000" marR="90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274160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 flipH="1">
            <a:off x="61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70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1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 flipH="1">
            <a:off x="70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54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691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2" name="Oval 22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>
                <a:sym typeface="Symbol" pitchFamily="18" charset="2"/>
              </a:rPr>
              <a:t>0</a:t>
            </a:r>
          </a:p>
        </p:txBody>
      </p:sp>
      <p:sp>
        <p:nvSpPr>
          <p:cNvPr id="13" name="Oval 26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latin typeface="Cambria Math" panose="02040503050406030204" pitchFamily="18" charset="0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69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15" name="Oval 28"/>
          <p:cNvSpPr>
            <a:spLocks noChangeArrowheads="1"/>
          </p:cNvSpPr>
          <p:nvPr/>
        </p:nvSpPr>
        <p:spPr bwMode="auto">
          <a:xfrm>
            <a:off x="78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44000" tIns="144000" rIns="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745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14400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2</a:t>
            </a:r>
          </a:p>
        </p:txBody>
      </p: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5</a:t>
            </a:r>
          </a:p>
        </p:txBody>
      </p:sp>
      <p:sp>
        <p:nvSpPr>
          <p:cNvPr id="19" name="Text Box 33"/>
          <p:cNvSpPr txBox="1">
            <a:spLocks noChangeArrowheads="1"/>
          </p:cNvSpPr>
          <p:nvPr/>
        </p:nvSpPr>
        <p:spPr bwMode="auto">
          <a:xfrm>
            <a:off x="745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graphicFrame>
        <p:nvGraphicFramePr>
          <p:cNvPr id="20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016184"/>
              </p:ext>
            </p:extLst>
          </p:nvPr>
        </p:nvGraphicFramePr>
        <p:xfrm>
          <a:off x="6192000" y="909000"/>
          <a:ext cx="144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marL="90000" marR="90000" marT="0" marB="180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2885799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 flipH="1">
            <a:off x="61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70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1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 flipH="1">
            <a:off x="70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54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691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2" name="Oval 22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>
                <a:sym typeface="Symbol" pitchFamily="18" charset="2"/>
              </a:rPr>
              <a:t>0</a:t>
            </a:r>
          </a:p>
        </p:txBody>
      </p:sp>
      <p:sp>
        <p:nvSpPr>
          <p:cNvPr id="13" name="Oval 26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69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15" name="Oval 28"/>
          <p:cNvSpPr>
            <a:spLocks noChangeArrowheads="1"/>
          </p:cNvSpPr>
          <p:nvPr/>
        </p:nvSpPr>
        <p:spPr bwMode="auto">
          <a:xfrm>
            <a:off x="78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44000" tIns="144000" rIns="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745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14400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2</a:t>
            </a:r>
          </a:p>
        </p:txBody>
      </p: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5</a:t>
            </a:r>
          </a:p>
        </p:txBody>
      </p:sp>
      <p:sp>
        <p:nvSpPr>
          <p:cNvPr id="19" name="Text Box 33"/>
          <p:cNvSpPr txBox="1">
            <a:spLocks noChangeArrowheads="1"/>
          </p:cNvSpPr>
          <p:nvPr/>
        </p:nvSpPr>
        <p:spPr bwMode="auto">
          <a:xfrm>
            <a:off x="745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graphicFrame>
        <p:nvGraphicFramePr>
          <p:cNvPr id="20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051788"/>
              </p:ext>
            </p:extLst>
          </p:nvPr>
        </p:nvGraphicFramePr>
        <p:xfrm>
          <a:off x="6192000" y="909000"/>
          <a:ext cx="144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marL="90000" marR="90000" marT="0" marB="180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4031808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 flipH="1">
            <a:off x="61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70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1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 flipH="1">
            <a:off x="70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54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691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2" name="Oval 22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>
                <a:sym typeface="Symbol" pitchFamily="18" charset="2"/>
              </a:rPr>
              <a:t>0</a:t>
            </a:r>
          </a:p>
        </p:txBody>
      </p:sp>
      <p:sp>
        <p:nvSpPr>
          <p:cNvPr id="13" name="Oval 26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69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15" name="Oval 28"/>
          <p:cNvSpPr>
            <a:spLocks noChangeArrowheads="1"/>
          </p:cNvSpPr>
          <p:nvPr/>
        </p:nvSpPr>
        <p:spPr bwMode="auto">
          <a:xfrm>
            <a:off x="78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44000" tIns="144000" rIns="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745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14400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2</a:t>
            </a:r>
          </a:p>
        </p:txBody>
      </p: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5</a:t>
            </a:r>
          </a:p>
        </p:txBody>
      </p:sp>
      <p:sp>
        <p:nvSpPr>
          <p:cNvPr id="19" name="Text Box 33"/>
          <p:cNvSpPr txBox="1">
            <a:spLocks noChangeArrowheads="1"/>
          </p:cNvSpPr>
          <p:nvPr/>
        </p:nvSpPr>
        <p:spPr bwMode="auto">
          <a:xfrm>
            <a:off x="745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graphicFrame>
        <p:nvGraphicFramePr>
          <p:cNvPr id="20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401703"/>
              </p:ext>
            </p:extLst>
          </p:nvPr>
        </p:nvGraphicFramePr>
        <p:xfrm>
          <a:off x="6192000" y="909000"/>
          <a:ext cx="144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marL="90000" marR="90000" marT="0" marB="180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2701233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 flipH="1">
            <a:off x="61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70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1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 flipH="1">
            <a:off x="70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54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691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2" name="Oval 22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>
                <a:sym typeface="Symbol" pitchFamily="18" charset="2"/>
              </a:rPr>
              <a:t>0</a:t>
            </a:r>
          </a:p>
        </p:txBody>
      </p:sp>
      <p:sp>
        <p:nvSpPr>
          <p:cNvPr id="13" name="Oval 26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69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15" name="Oval 28"/>
          <p:cNvSpPr>
            <a:spLocks noChangeArrowheads="1"/>
          </p:cNvSpPr>
          <p:nvPr/>
        </p:nvSpPr>
        <p:spPr bwMode="auto">
          <a:xfrm>
            <a:off x="78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44000" tIns="144000" rIns="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745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14400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2</a:t>
            </a:r>
          </a:p>
        </p:txBody>
      </p: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5</a:t>
            </a:r>
          </a:p>
        </p:txBody>
      </p:sp>
      <p:sp>
        <p:nvSpPr>
          <p:cNvPr id="19" name="Text Box 33"/>
          <p:cNvSpPr txBox="1">
            <a:spLocks noChangeArrowheads="1"/>
          </p:cNvSpPr>
          <p:nvPr/>
        </p:nvSpPr>
        <p:spPr bwMode="auto">
          <a:xfrm>
            <a:off x="745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graphicFrame>
        <p:nvGraphicFramePr>
          <p:cNvPr id="20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248935"/>
              </p:ext>
            </p:extLst>
          </p:nvPr>
        </p:nvGraphicFramePr>
        <p:xfrm>
          <a:off x="6192000" y="909000"/>
          <a:ext cx="144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marL="90000" marR="90000" marT="0" marB="180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54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120723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 flipH="1">
            <a:off x="61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70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1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 flipH="1">
            <a:off x="70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54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691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2" name="Oval 22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>
                <a:sym typeface="Symbol" pitchFamily="18" charset="2"/>
              </a:rPr>
              <a:t>0</a:t>
            </a:r>
          </a:p>
        </p:txBody>
      </p:sp>
      <p:sp>
        <p:nvSpPr>
          <p:cNvPr id="13" name="Oval 26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69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lang="en-US" altLang="zh-TW" sz="2000" dirty="0">
              <a:solidFill>
                <a:srgbClr val="000000"/>
              </a:solidFill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5" name="Oval 28"/>
          <p:cNvSpPr>
            <a:spLocks noChangeArrowheads="1"/>
          </p:cNvSpPr>
          <p:nvPr/>
        </p:nvSpPr>
        <p:spPr bwMode="auto">
          <a:xfrm>
            <a:off x="78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44000" tIns="144000" rIns="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745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14400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2</a:t>
            </a:r>
          </a:p>
        </p:txBody>
      </p: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5</a:t>
            </a:r>
          </a:p>
        </p:txBody>
      </p:sp>
      <p:sp>
        <p:nvSpPr>
          <p:cNvPr id="19" name="Text Box 33"/>
          <p:cNvSpPr txBox="1">
            <a:spLocks noChangeArrowheads="1"/>
          </p:cNvSpPr>
          <p:nvPr/>
        </p:nvSpPr>
        <p:spPr bwMode="auto">
          <a:xfrm>
            <a:off x="745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graphicFrame>
        <p:nvGraphicFramePr>
          <p:cNvPr id="20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223287"/>
              </p:ext>
            </p:extLst>
          </p:nvPr>
        </p:nvGraphicFramePr>
        <p:xfrm>
          <a:off x="6192000" y="909000"/>
          <a:ext cx="144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marL="90000" marR="90000" marT="0" marB="180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54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086303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 flipH="1">
            <a:off x="61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70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1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 flipH="1">
            <a:off x="70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54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691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2" name="Oval 22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>
                <a:sym typeface="Symbol" pitchFamily="18" charset="2"/>
              </a:rPr>
              <a:t>0</a:t>
            </a:r>
          </a:p>
        </p:txBody>
      </p:sp>
      <p:sp>
        <p:nvSpPr>
          <p:cNvPr id="13" name="Oval 26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69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lang="en-US" altLang="zh-TW" sz="2000" dirty="0">
              <a:solidFill>
                <a:srgbClr val="000000"/>
              </a:solidFill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5" name="Oval 28"/>
          <p:cNvSpPr>
            <a:spLocks noChangeArrowheads="1"/>
          </p:cNvSpPr>
          <p:nvPr/>
        </p:nvSpPr>
        <p:spPr bwMode="auto">
          <a:xfrm>
            <a:off x="7812000" y="32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44000" tIns="144000" rIns="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745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14400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2</a:t>
            </a:r>
          </a:p>
        </p:txBody>
      </p: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5</a:t>
            </a:r>
          </a:p>
        </p:txBody>
      </p:sp>
      <p:sp>
        <p:nvSpPr>
          <p:cNvPr id="19" name="Text Box 33"/>
          <p:cNvSpPr txBox="1">
            <a:spLocks noChangeArrowheads="1"/>
          </p:cNvSpPr>
          <p:nvPr/>
        </p:nvSpPr>
        <p:spPr bwMode="auto">
          <a:xfrm>
            <a:off x="745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graphicFrame>
        <p:nvGraphicFramePr>
          <p:cNvPr id="20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57276"/>
              </p:ext>
            </p:extLst>
          </p:nvPr>
        </p:nvGraphicFramePr>
        <p:xfrm>
          <a:off x="6192000" y="909000"/>
          <a:ext cx="144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marL="90000" marR="90000" marT="0" marB="180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90000" marR="90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54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3037870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 flipH="1">
            <a:off x="61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7092000" y="2529001"/>
            <a:ext cx="900000" cy="899999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1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 flipH="1">
            <a:off x="7092000" y="3429000"/>
            <a:ext cx="900000" cy="900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565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54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691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2" name="Oval 22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>
                <a:sym typeface="Symbol" pitchFamily="18" charset="2"/>
              </a:rPr>
              <a:t>0</a:t>
            </a:r>
          </a:p>
        </p:txBody>
      </p:sp>
      <p:sp>
        <p:nvSpPr>
          <p:cNvPr id="13" name="Oval 26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6912000" y="41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lang="en-US" altLang="zh-TW" sz="2000" dirty="0">
              <a:solidFill>
                <a:srgbClr val="000000"/>
              </a:solidFill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5" name="Oval 28"/>
          <p:cNvSpPr>
            <a:spLocks noChangeArrowheads="1"/>
          </p:cNvSpPr>
          <p:nvPr/>
        </p:nvSpPr>
        <p:spPr bwMode="auto">
          <a:xfrm>
            <a:off x="78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619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44000" tIns="144000" rIns="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7452000" y="25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144000" bIns="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2</a:t>
            </a:r>
          </a:p>
        </p:txBody>
      </p: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61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5</a:t>
            </a:r>
          </a:p>
        </p:txBody>
      </p:sp>
      <p:sp>
        <p:nvSpPr>
          <p:cNvPr id="19" name="Text Box 33"/>
          <p:cNvSpPr txBox="1">
            <a:spLocks noChangeArrowheads="1"/>
          </p:cNvSpPr>
          <p:nvPr/>
        </p:nvSpPr>
        <p:spPr bwMode="auto">
          <a:xfrm>
            <a:off x="745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72000" anchor="ctr" anchorCtr="0"/>
          <a:lstStyle/>
          <a:p>
            <a:pPr algn="ctr">
              <a:lnSpc>
                <a:spcPct val="60000"/>
              </a:lnSpc>
            </a:pPr>
            <a:r>
              <a:rPr lang="en-US" altLang="zh-TW" sz="2000"/>
              <a:t>3</a:t>
            </a:r>
          </a:p>
        </p:txBody>
      </p:sp>
      <p:graphicFrame>
        <p:nvGraphicFramePr>
          <p:cNvPr id="20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212750"/>
              </p:ext>
            </p:extLst>
          </p:nvPr>
        </p:nvGraphicFramePr>
        <p:xfrm>
          <a:off x="6192000" y="909000"/>
          <a:ext cx="144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marL="90000" marR="90000" marT="0" marB="180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54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2061406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Single-source </a:t>
            </a:r>
            <a:r>
              <a:rPr lang="en-US" altLang="zh-TW" dirty="0"/>
              <a:t>shortest paths in 	</a:t>
            </a:r>
            <a:r>
              <a:rPr lang="en-US" altLang="zh-TW" dirty="0">
                <a:solidFill>
                  <a:srgbClr val="FF0000"/>
                </a:solidFill>
              </a:rPr>
              <a:t>directed acyclic</a:t>
            </a:r>
            <a:r>
              <a:rPr lang="en-US" altLang="zh-TW" dirty="0"/>
              <a:t> graphs</a:t>
            </a:r>
            <a:endParaRPr lang="zh-TW" altLang="en-US" dirty="0"/>
          </a:p>
        </p:txBody>
      </p:sp>
      <p:sp>
        <p:nvSpPr>
          <p:cNvPr id="41" name="Oval 4"/>
          <p:cNvSpPr>
            <a:spLocks noChangeArrowheads="1"/>
          </p:cNvSpPr>
          <p:nvPr/>
        </p:nvSpPr>
        <p:spPr bwMode="auto">
          <a:xfrm>
            <a:off x="295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4" name="Oval 13"/>
          <p:cNvSpPr>
            <a:spLocks noChangeArrowheads="1"/>
          </p:cNvSpPr>
          <p:nvPr/>
        </p:nvSpPr>
        <p:spPr bwMode="auto">
          <a:xfrm>
            <a:off x="295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5" name="Oval 14"/>
          <p:cNvSpPr>
            <a:spLocks noChangeArrowheads="1"/>
          </p:cNvSpPr>
          <p:nvPr/>
        </p:nvSpPr>
        <p:spPr bwMode="auto">
          <a:xfrm>
            <a:off x="43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6" name="Oval 15"/>
          <p:cNvSpPr>
            <a:spLocks noChangeArrowheads="1"/>
          </p:cNvSpPr>
          <p:nvPr/>
        </p:nvSpPr>
        <p:spPr bwMode="auto">
          <a:xfrm>
            <a:off x="439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58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8" name="Oval 17"/>
          <p:cNvSpPr>
            <a:spLocks noChangeArrowheads="1"/>
          </p:cNvSpPr>
          <p:nvPr/>
        </p:nvSpPr>
        <p:spPr bwMode="auto">
          <a:xfrm>
            <a:off x="583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51" name="Text Box 20"/>
          <p:cNvSpPr txBox="1">
            <a:spLocks noChangeArrowheads="1"/>
          </p:cNvSpPr>
          <p:nvPr/>
        </p:nvSpPr>
        <p:spPr bwMode="auto">
          <a:xfrm>
            <a:off x="277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 anchorCtr="0"/>
          <a:lstStyle/>
          <a:p>
            <a:pPr algn="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52" name="Text Box 21"/>
          <p:cNvSpPr txBox="1">
            <a:spLocks noChangeArrowheads="1"/>
          </p:cNvSpPr>
          <p:nvPr/>
        </p:nvSpPr>
        <p:spPr bwMode="auto">
          <a:xfrm>
            <a:off x="349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72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53" name="Text Box 22"/>
          <p:cNvSpPr txBox="1">
            <a:spLocks noChangeArrowheads="1"/>
          </p:cNvSpPr>
          <p:nvPr/>
        </p:nvSpPr>
        <p:spPr bwMode="auto">
          <a:xfrm>
            <a:off x="42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 anchorCtr="0"/>
          <a:lstStyle/>
          <a:p>
            <a:pPr algn="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54" name="Text Box 23"/>
          <p:cNvSpPr txBox="1">
            <a:spLocks noChangeArrowheads="1"/>
          </p:cNvSpPr>
          <p:nvPr/>
        </p:nvSpPr>
        <p:spPr bwMode="auto">
          <a:xfrm>
            <a:off x="4932000" y="432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55" name="Text Box 24"/>
          <p:cNvSpPr txBox="1">
            <a:spLocks noChangeArrowheads="1"/>
          </p:cNvSpPr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61" name="Text Box 30"/>
          <p:cNvSpPr txBox="1">
            <a:spLocks noChangeArrowheads="1"/>
          </p:cNvSpPr>
          <p:nvPr/>
        </p:nvSpPr>
        <p:spPr bwMode="auto">
          <a:xfrm>
            <a:off x="367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62" name="Text Box 31"/>
          <p:cNvSpPr txBox="1">
            <a:spLocks noChangeArrowheads="1"/>
          </p:cNvSpPr>
          <p:nvPr/>
        </p:nvSpPr>
        <p:spPr bwMode="auto">
          <a:xfrm>
            <a:off x="511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63" name="Text Box 32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64" name="Text Box 33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65" name="Text Box 34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295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8" name="Text Box 20"/>
          <p:cNvSpPr txBox="1"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9" name="Text Box 20"/>
          <p:cNvSpPr txBox="1">
            <a:spLocks noChangeArrowheads="1"/>
          </p:cNvSpPr>
          <p:nvPr/>
        </p:nvSpPr>
        <p:spPr bwMode="auto">
          <a:xfrm>
            <a:off x="439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70" name="Text Box 20"/>
          <p:cNvSpPr txBox="1"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71" name="Text Box 20"/>
          <p:cNvSpPr txBox="1">
            <a:spLocks noChangeArrowheads="1"/>
          </p:cNvSpPr>
          <p:nvPr/>
        </p:nvSpPr>
        <p:spPr bwMode="auto">
          <a:xfrm>
            <a:off x="583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cxnSp>
        <p:nvCxnSpPr>
          <p:cNvPr id="72" name="直線單箭頭接點 71"/>
          <p:cNvCxnSpPr>
            <a:stCxn id="44" idx="7"/>
            <a:endCxn id="45" idx="3"/>
          </p:cNvCxnSpPr>
          <p:nvPr/>
        </p:nvCxnSpPr>
        <p:spPr bwMode="auto">
          <a:xfrm flipV="1">
            <a:off x="3259279" y="3556279"/>
            <a:ext cx="1185442" cy="118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73" name="直線單箭頭接點 72"/>
          <p:cNvCxnSpPr>
            <a:stCxn id="45" idx="4"/>
            <a:endCxn id="46" idx="0"/>
          </p:cNvCxnSpPr>
          <p:nvPr/>
        </p:nvCxnSpPr>
        <p:spPr bwMode="auto">
          <a:xfrm>
            <a:off x="4572000" y="360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79" name="直線單箭頭接點 78"/>
          <p:cNvCxnSpPr>
            <a:stCxn id="46" idx="7"/>
            <a:endCxn id="47" idx="3"/>
          </p:cNvCxnSpPr>
          <p:nvPr/>
        </p:nvCxnSpPr>
        <p:spPr bwMode="auto">
          <a:xfrm flipV="1">
            <a:off x="4699279" y="3556279"/>
            <a:ext cx="1185442" cy="118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82" name="直線單箭頭接點 81"/>
          <p:cNvCxnSpPr>
            <a:stCxn id="47" idx="4"/>
            <a:endCxn id="48" idx="0"/>
          </p:cNvCxnSpPr>
          <p:nvPr/>
        </p:nvCxnSpPr>
        <p:spPr bwMode="auto">
          <a:xfrm>
            <a:off x="6012000" y="360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86" name="直線單箭頭接點 85"/>
          <p:cNvCxnSpPr>
            <a:stCxn id="44" idx="6"/>
            <a:endCxn id="46" idx="2"/>
          </p:cNvCxnSpPr>
          <p:nvPr/>
        </p:nvCxnSpPr>
        <p:spPr bwMode="auto">
          <a:xfrm>
            <a:off x="3312000" y="4869000"/>
            <a:ext cx="108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89" name="直線單箭頭接點 88"/>
          <p:cNvCxnSpPr>
            <a:stCxn id="46" idx="6"/>
            <a:endCxn id="48" idx="2"/>
          </p:cNvCxnSpPr>
          <p:nvPr/>
        </p:nvCxnSpPr>
        <p:spPr bwMode="auto">
          <a:xfrm>
            <a:off x="4752000" y="4869000"/>
            <a:ext cx="108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03" name="直線單箭頭接點 102"/>
          <p:cNvCxnSpPr>
            <a:stCxn id="41" idx="6"/>
            <a:endCxn id="45" idx="2"/>
          </p:cNvCxnSpPr>
          <p:nvPr/>
        </p:nvCxnSpPr>
        <p:spPr bwMode="auto">
          <a:xfrm>
            <a:off x="3312000" y="3429000"/>
            <a:ext cx="108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06" name="直線單箭頭接點 105"/>
          <p:cNvCxnSpPr>
            <a:stCxn id="45" idx="6"/>
            <a:endCxn id="47" idx="2"/>
          </p:cNvCxnSpPr>
          <p:nvPr/>
        </p:nvCxnSpPr>
        <p:spPr bwMode="auto">
          <a:xfrm>
            <a:off x="4752000" y="3429000"/>
            <a:ext cx="108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17" name="直線單箭頭接點 116"/>
          <p:cNvCxnSpPr>
            <a:stCxn id="45" idx="5"/>
            <a:endCxn id="48" idx="1"/>
          </p:cNvCxnSpPr>
          <p:nvPr/>
        </p:nvCxnSpPr>
        <p:spPr bwMode="auto">
          <a:xfrm>
            <a:off x="4699279" y="3556279"/>
            <a:ext cx="1185442" cy="118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25" name="直線單箭頭接點 124"/>
          <p:cNvCxnSpPr>
            <a:stCxn id="41" idx="4"/>
            <a:endCxn id="44" idx="0"/>
          </p:cNvCxnSpPr>
          <p:nvPr/>
        </p:nvCxnSpPr>
        <p:spPr bwMode="auto">
          <a:xfrm>
            <a:off x="3132000" y="360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11299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Single-source </a:t>
            </a:r>
            <a:r>
              <a:rPr lang="en-US" altLang="zh-TW" dirty="0"/>
              <a:t>shortest paths in 	</a:t>
            </a:r>
            <a:r>
              <a:rPr lang="en-US" altLang="zh-TW" dirty="0">
                <a:solidFill>
                  <a:srgbClr val="FF0000"/>
                </a:solidFill>
              </a:rPr>
              <a:t>directed acyclic</a:t>
            </a:r>
            <a:r>
              <a:rPr lang="en-US" altLang="zh-TW" dirty="0"/>
              <a:t> graphs</a:t>
            </a:r>
            <a:endParaRPr lang="zh-TW" altLang="en-US" dirty="0"/>
          </a:p>
        </p:txBody>
      </p:sp>
      <p:sp>
        <p:nvSpPr>
          <p:cNvPr id="40" name="Line 3"/>
          <p:cNvSpPr>
            <a:spLocks noChangeShapeType="1"/>
          </p:cNvSpPr>
          <p:nvPr/>
        </p:nvSpPr>
        <p:spPr bwMode="auto">
          <a:xfrm flipH="1" flipV="1">
            <a:off x="6372000" y="540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1" name="Oval 4"/>
          <p:cNvSpPr>
            <a:spLocks noChangeArrowheads="1"/>
          </p:cNvSpPr>
          <p:nvPr/>
        </p:nvSpPr>
        <p:spPr bwMode="auto">
          <a:xfrm>
            <a:off x="16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2" name="Line 5"/>
          <p:cNvSpPr>
            <a:spLocks noChangeShapeType="1"/>
          </p:cNvSpPr>
          <p:nvPr/>
        </p:nvSpPr>
        <p:spPr bwMode="auto">
          <a:xfrm>
            <a:off x="2052000" y="540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3" name="Line 6"/>
          <p:cNvSpPr>
            <a:spLocks noChangeShapeType="1"/>
          </p:cNvSpPr>
          <p:nvPr/>
        </p:nvSpPr>
        <p:spPr bwMode="auto">
          <a:xfrm flipH="1" flipV="1">
            <a:off x="5292000" y="540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4" name="Oval 13"/>
          <p:cNvSpPr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5" name="Oval 14"/>
          <p:cNvSpPr>
            <a:spLocks noChangeArrowheads="1"/>
          </p:cNvSpPr>
          <p:nvPr/>
        </p:nvSpPr>
        <p:spPr bwMode="auto">
          <a:xfrm>
            <a:off x="385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6" name="Oval 15"/>
          <p:cNvSpPr>
            <a:spLocks noChangeArrowheads="1"/>
          </p:cNvSpPr>
          <p:nvPr/>
        </p:nvSpPr>
        <p:spPr bwMode="auto">
          <a:xfrm>
            <a:off x="493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601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8" name="Oval 17"/>
          <p:cNvSpPr>
            <a:spLocks noChangeArrowheads="1"/>
          </p:cNvSpPr>
          <p:nvPr/>
        </p:nvSpPr>
        <p:spPr bwMode="auto">
          <a:xfrm>
            <a:off x="70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9" name="Line 18"/>
          <p:cNvSpPr>
            <a:spLocks noChangeShapeType="1"/>
          </p:cNvSpPr>
          <p:nvPr/>
        </p:nvSpPr>
        <p:spPr bwMode="auto">
          <a:xfrm flipH="1" flipV="1">
            <a:off x="4212000" y="540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50" name="Line 19"/>
          <p:cNvSpPr>
            <a:spLocks noChangeShapeType="1"/>
          </p:cNvSpPr>
          <p:nvPr/>
        </p:nvSpPr>
        <p:spPr bwMode="auto">
          <a:xfrm flipH="1" flipV="1">
            <a:off x="3132000" y="540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51" name="Text Box 20"/>
          <p:cNvSpPr txBox="1">
            <a:spLocks noChangeArrowheads="1"/>
          </p:cNvSpPr>
          <p:nvPr/>
        </p:nvSpPr>
        <p:spPr bwMode="auto">
          <a:xfrm>
            <a:off x="223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52" name="Text Box 21"/>
          <p:cNvSpPr txBox="1">
            <a:spLocks noChangeArrowheads="1"/>
          </p:cNvSpPr>
          <p:nvPr/>
        </p:nvSpPr>
        <p:spPr bwMode="auto">
          <a:xfrm>
            <a:off x="331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53" name="Text Box 22"/>
          <p:cNvSpPr txBox="1">
            <a:spLocks noChangeArrowheads="1"/>
          </p:cNvSpPr>
          <p:nvPr/>
        </p:nvSpPr>
        <p:spPr bwMode="auto">
          <a:xfrm>
            <a:off x="439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54" name="Text Box 23"/>
          <p:cNvSpPr txBox="1"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55" name="Text Box 24"/>
          <p:cNvSpPr txBox="1">
            <a:spLocks noChangeArrowheads="1"/>
          </p:cNvSpPr>
          <p:nvPr/>
        </p:nvSpPr>
        <p:spPr bwMode="auto">
          <a:xfrm>
            <a:off x="655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56" name="AutoShape 25"/>
          <p:cNvCxnSpPr>
            <a:cxnSpLocks noChangeShapeType="1"/>
            <a:stCxn id="44" idx="7"/>
            <a:endCxn id="46" idx="1"/>
          </p:cNvCxnSpPr>
          <p:nvPr/>
        </p:nvCxnSpPr>
        <p:spPr bwMode="auto">
          <a:xfrm rot="5400000" flipH="1" flipV="1">
            <a:off x="4032000" y="432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57" name="AutoShape 26"/>
          <p:cNvCxnSpPr>
            <a:cxnSpLocks noChangeShapeType="1"/>
            <a:stCxn id="41" idx="5"/>
            <a:endCxn id="45" idx="3"/>
          </p:cNvCxnSpPr>
          <p:nvPr/>
        </p:nvCxnSpPr>
        <p:spPr bwMode="auto">
          <a:xfrm rot="16200000" flipH="1">
            <a:off x="2952000" y="4583558"/>
            <a:ext cx="12700" cy="1905442"/>
          </a:xfrm>
          <a:prstGeom prst="curvedConnector3">
            <a:avLst>
              <a:gd name="adj1" fmla="val 1953307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58" name="AutoShape 27"/>
          <p:cNvCxnSpPr>
            <a:cxnSpLocks noChangeShapeType="1"/>
            <a:stCxn id="46" idx="7"/>
            <a:endCxn id="48" idx="1"/>
          </p:cNvCxnSpPr>
          <p:nvPr/>
        </p:nvCxnSpPr>
        <p:spPr bwMode="auto">
          <a:xfrm rot="5400000" flipH="1" flipV="1">
            <a:off x="6192000" y="4329000"/>
            <a:ext cx="12700" cy="1905442"/>
          </a:xfrm>
          <a:prstGeom prst="curvedConnector3">
            <a:avLst>
              <a:gd name="adj1" fmla="val 332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59" name="AutoShape 28"/>
          <p:cNvCxnSpPr>
            <a:cxnSpLocks noChangeShapeType="1"/>
            <a:stCxn id="45" idx="5"/>
            <a:endCxn id="47" idx="3"/>
          </p:cNvCxnSpPr>
          <p:nvPr/>
        </p:nvCxnSpPr>
        <p:spPr bwMode="auto">
          <a:xfrm rot="16200000" flipH="1">
            <a:off x="5112000" y="4583558"/>
            <a:ext cx="12700" cy="1905442"/>
          </a:xfrm>
          <a:prstGeom prst="curvedConnector3">
            <a:avLst>
              <a:gd name="adj1" fmla="val 188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60" name="AutoShape 29"/>
          <p:cNvCxnSpPr>
            <a:cxnSpLocks noChangeShapeType="1"/>
            <a:stCxn id="45" idx="4"/>
            <a:endCxn id="48" idx="4"/>
          </p:cNvCxnSpPr>
          <p:nvPr/>
        </p:nvCxnSpPr>
        <p:spPr bwMode="auto">
          <a:xfrm rot="16200000" flipH="1">
            <a:off x="5652000" y="3969000"/>
            <a:ext cx="12700" cy="3240000"/>
          </a:xfrm>
          <a:prstGeom prst="curvedConnector3">
            <a:avLst>
              <a:gd name="adj1" fmla="val 428726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sp>
        <p:nvSpPr>
          <p:cNvPr id="61" name="Text Box 30"/>
          <p:cNvSpPr txBox="1">
            <a:spLocks noChangeArrowheads="1"/>
          </p:cNvSpPr>
          <p:nvPr/>
        </p:nvSpPr>
        <p:spPr bwMode="auto">
          <a:xfrm>
            <a:off x="385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62" name="Text Box 31"/>
          <p:cNvSpPr txBox="1">
            <a:spLocks noChangeArrowheads="1"/>
          </p:cNvSpPr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63" name="Text Box 32"/>
          <p:cNvSpPr txBox="1">
            <a:spLocks noChangeArrowheads="1"/>
          </p:cNvSpPr>
          <p:nvPr/>
        </p:nvSpPr>
        <p:spPr bwMode="auto">
          <a:xfrm>
            <a:off x="277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64" name="Text Box 33"/>
          <p:cNvSpPr txBox="1">
            <a:spLocks noChangeArrowheads="1"/>
          </p:cNvSpPr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65" name="Text Box 34"/>
          <p:cNvSpPr txBox="1">
            <a:spLocks noChangeArrowheads="1"/>
          </p:cNvSpPr>
          <p:nvPr/>
        </p:nvSpPr>
        <p:spPr bwMode="auto">
          <a:xfrm>
            <a:off x="5472000" y="61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16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277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8" name="Text Box 20"/>
          <p:cNvSpPr txBox="1">
            <a:spLocks noChangeArrowheads="1"/>
          </p:cNvSpPr>
          <p:nvPr/>
        </p:nvSpPr>
        <p:spPr bwMode="auto">
          <a:xfrm>
            <a:off x="385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9" name="Text Box 20"/>
          <p:cNvSpPr txBox="1">
            <a:spLocks noChangeArrowheads="1"/>
          </p:cNvSpPr>
          <p:nvPr/>
        </p:nvSpPr>
        <p:spPr bwMode="auto">
          <a:xfrm>
            <a:off x="493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70" name="Text Box 20"/>
          <p:cNvSpPr txBox="1">
            <a:spLocks noChangeArrowheads="1"/>
          </p:cNvSpPr>
          <p:nvPr/>
        </p:nvSpPr>
        <p:spPr bwMode="auto">
          <a:xfrm>
            <a:off x="601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71" name="Text Box 20"/>
          <p:cNvSpPr txBox="1">
            <a:spLocks noChangeArrowheads="1"/>
          </p:cNvSpPr>
          <p:nvPr/>
        </p:nvSpPr>
        <p:spPr bwMode="auto">
          <a:xfrm>
            <a:off x="70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5" name="Oval 4"/>
          <p:cNvSpPr>
            <a:spLocks noChangeArrowheads="1"/>
          </p:cNvSpPr>
          <p:nvPr/>
        </p:nvSpPr>
        <p:spPr bwMode="auto">
          <a:xfrm>
            <a:off x="2952000" y="21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36" name="Oval 13"/>
          <p:cNvSpPr>
            <a:spLocks noChangeArrowheads="1"/>
          </p:cNvSpPr>
          <p:nvPr/>
        </p:nvSpPr>
        <p:spPr bwMode="auto">
          <a:xfrm>
            <a:off x="295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37" name="Oval 14"/>
          <p:cNvSpPr>
            <a:spLocks noChangeArrowheads="1"/>
          </p:cNvSpPr>
          <p:nvPr/>
        </p:nvSpPr>
        <p:spPr bwMode="auto">
          <a:xfrm>
            <a:off x="4392000" y="21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38" name="Oval 15"/>
          <p:cNvSpPr>
            <a:spLocks noChangeArrowheads="1"/>
          </p:cNvSpPr>
          <p:nvPr/>
        </p:nvSpPr>
        <p:spPr bwMode="auto">
          <a:xfrm>
            <a:off x="439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39" name="Oval 16"/>
          <p:cNvSpPr>
            <a:spLocks noChangeArrowheads="1"/>
          </p:cNvSpPr>
          <p:nvPr/>
        </p:nvSpPr>
        <p:spPr bwMode="auto">
          <a:xfrm>
            <a:off x="5832000" y="21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72" name="Oval 17"/>
          <p:cNvSpPr>
            <a:spLocks noChangeArrowheads="1"/>
          </p:cNvSpPr>
          <p:nvPr/>
        </p:nvSpPr>
        <p:spPr bwMode="auto">
          <a:xfrm>
            <a:off x="583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73" name="Text Box 20"/>
          <p:cNvSpPr txBox="1">
            <a:spLocks noChangeArrowheads="1"/>
          </p:cNvSpPr>
          <p:nvPr/>
        </p:nvSpPr>
        <p:spPr bwMode="auto">
          <a:xfrm>
            <a:off x="277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 anchorCtr="0"/>
          <a:lstStyle/>
          <a:p>
            <a:pPr algn="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74" name="Text Box 21"/>
          <p:cNvSpPr txBox="1">
            <a:spLocks noChangeArrowheads="1"/>
          </p:cNvSpPr>
          <p:nvPr/>
        </p:nvSpPr>
        <p:spPr bwMode="auto">
          <a:xfrm>
            <a:off x="349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72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75" name="Text Box 22"/>
          <p:cNvSpPr txBox="1">
            <a:spLocks noChangeArrowheads="1"/>
          </p:cNvSpPr>
          <p:nvPr/>
        </p:nvSpPr>
        <p:spPr bwMode="auto">
          <a:xfrm>
            <a:off x="421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 anchorCtr="0"/>
          <a:lstStyle/>
          <a:p>
            <a:pPr algn="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76" name="Text Box 23"/>
          <p:cNvSpPr txBox="1">
            <a:spLocks noChangeArrowheads="1"/>
          </p:cNvSpPr>
          <p:nvPr/>
        </p:nvSpPr>
        <p:spPr bwMode="auto">
          <a:xfrm>
            <a:off x="4932000" y="324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77" name="Text Box 24"/>
          <p:cNvSpPr txBox="1">
            <a:spLocks noChangeArrowheads="1"/>
          </p:cNvSpPr>
          <p:nvPr/>
        </p:nvSpPr>
        <p:spPr bwMode="auto">
          <a:xfrm>
            <a:off x="601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78" name="Text Box 30"/>
          <p:cNvSpPr txBox="1">
            <a:spLocks noChangeArrowheads="1"/>
          </p:cNvSpPr>
          <p:nvPr/>
        </p:nvSpPr>
        <p:spPr bwMode="auto">
          <a:xfrm>
            <a:off x="367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79" name="Text Box 31"/>
          <p:cNvSpPr txBox="1"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0" name="Text Box 32"/>
          <p:cNvSpPr txBox="1">
            <a:spLocks noChangeArrowheads="1"/>
          </p:cNvSpPr>
          <p:nvPr/>
        </p:nvSpPr>
        <p:spPr bwMode="auto">
          <a:xfrm>
            <a:off x="36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81" name="Text Box 33"/>
          <p:cNvSpPr txBox="1">
            <a:spLocks noChangeArrowheads="1"/>
          </p:cNvSpPr>
          <p:nvPr/>
        </p:nvSpPr>
        <p:spPr bwMode="auto">
          <a:xfrm>
            <a:off x="511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2" name="Text Box 34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83" name="Text Box 20"/>
          <p:cNvSpPr txBox="1">
            <a:spLocks noChangeArrowheads="1"/>
          </p:cNvSpPr>
          <p:nvPr/>
        </p:nvSpPr>
        <p:spPr bwMode="auto">
          <a:xfrm>
            <a:off x="29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4" name="Text Box 20"/>
          <p:cNvSpPr txBox="1">
            <a:spLocks noChangeArrowheads="1"/>
          </p:cNvSpPr>
          <p:nvPr/>
        </p:nvSpPr>
        <p:spPr bwMode="auto">
          <a:xfrm>
            <a:off x="29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5" name="Text Box 20"/>
          <p:cNvSpPr txBox="1"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86" name="Text Box 20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87" name="Text Box 20"/>
          <p:cNvSpPr txBox="1">
            <a:spLocks noChangeArrowheads="1"/>
          </p:cNvSpPr>
          <p:nvPr/>
        </p:nvSpPr>
        <p:spPr bwMode="auto">
          <a:xfrm>
            <a:off x="58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8" name="Text Box 20"/>
          <p:cNvSpPr txBox="1">
            <a:spLocks noChangeArrowheads="1"/>
          </p:cNvSpPr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cxnSp>
        <p:nvCxnSpPr>
          <p:cNvPr id="89" name="直線單箭頭接點 88"/>
          <p:cNvCxnSpPr>
            <a:stCxn id="36" idx="7"/>
            <a:endCxn id="37" idx="3"/>
          </p:cNvCxnSpPr>
          <p:nvPr/>
        </p:nvCxnSpPr>
        <p:spPr bwMode="auto">
          <a:xfrm flipV="1">
            <a:off x="3259279" y="2476279"/>
            <a:ext cx="1185442" cy="118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90" name="直線單箭頭接點 89"/>
          <p:cNvCxnSpPr>
            <a:stCxn id="37" idx="4"/>
            <a:endCxn id="38" idx="0"/>
          </p:cNvCxnSpPr>
          <p:nvPr/>
        </p:nvCxnSpPr>
        <p:spPr bwMode="auto">
          <a:xfrm>
            <a:off x="4572000" y="25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91" name="直線單箭頭接點 90"/>
          <p:cNvCxnSpPr>
            <a:stCxn id="38" idx="7"/>
            <a:endCxn id="39" idx="3"/>
          </p:cNvCxnSpPr>
          <p:nvPr/>
        </p:nvCxnSpPr>
        <p:spPr bwMode="auto">
          <a:xfrm flipV="1">
            <a:off x="4699279" y="2476279"/>
            <a:ext cx="1185442" cy="118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92" name="直線單箭頭接點 91"/>
          <p:cNvCxnSpPr>
            <a:stCxn id="39" idx="4"/>
            <a:endCxn id="72" idx="0"/>
          </p:cNvCxnSpPr>
          <p:nvPr/>
        </p:nvCxnSpPr>
        <p:spPr bwMode="auto">
          <a:xfrm>
            <a:off x="6012000" y="25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93" name="直線單箭頭接點 92"/>
          <p:cNvCxnSpPr>
            <a:stCxn id="36" idx="6"/>
            <a:endCxn id="38" idx="2"/>
          </p:cNvCxnSpPr>
          <p:nvPr/>
        </p:nvCxnSpPr>
        <p:spPr bwMode="auto">
          <a:xfrm>
            <a:off x="3312000" y="3789000"/>
            <a:ext cx="108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94" name="直線單箭頭接點 93"/>
          <p:cNvCxnSpPr>
            <a:stCxn id="38" idx="6"/>
            <a:endCxn id="72" idx="2"/>
          </p:cNvCxnSpPr>
          <p:nvPr/>
        </p:nvCxnSpPr>
        <p:spPr bwMode="auto">
          <a:xfrm>
            <a:off x="4752000" y="3789000"/>
            <a:ext cx="108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95" name="直線單箭頭接點 94"/>
          <p:cNvCxnSpPr>
            <a:stCxn id="35" idx="6"/>
            <a:endCxn id="37" idx="2"/>
          </p:cNvCxnSpPr>
          <p:nvPr/>
        </p:nvCxnSpPr>
        <p:spPr bwMode="auto">
          <a:xfrm>
            <a:off x="3312000" y="2349000"/>
            <a:ext cx="108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96" name="直線單箭頭接點 95"/>
          <p:cNvCxnSpPr>
            <a:stCxn id="37" idx="6"/>
            <a:endCxn id="39" idx="2"/>
          </p:cNvCxnSpPr>
          <p:nvPr/>
        </p:nvCxnSpPr>
        <p:spPr bwMode="auto">
          <a:xfrm>
            <a:off x="4752000" y="2349000"/>
            <a:ext cx="108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97" name="直線單箭頭接點 96"/>
          <p:cNvCxnSpPr>
            <a:stCxn id="37" idx="5"/>
            <a:endCxn id="72" idx="1"/>
          </p:cNvCxnSpPr>
          <p:nvPr/>
        </p:nvCxnSpPr>
        <p:spPr bwMode="auto">
          <a:xfrm>
            <a:off x="4699279" y="2476279"/>
            <a:ext cx="1185442" cy="118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98" name="直線單箭頭接點 97"/>
          <p:cNvCxnSpPr>
            <a:stCxn id="35" idx="4"/>
            <a:endCxn id="36" idx="0"/>
          </p:cNvCxnSpPr>
          <p:nvPr/>
        </p:nvCxnSpPr>
        <p:spPr bwMode="auto">
          <a:xfrm>
            <a:off x="3132000" y="25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95702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shortestPath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topologicalSort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d[ 1 ] = 0;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nodeList.size();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0901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nodeList.size();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5012" name="Text Box 20"/>
          <p:cNvSpPr txBox="1">
            <a:spLocks noChangeArrowheads="1"/>
          </p:cNvSpPr>
          <p:nvPr/>
        </p:nvSpPr>
        <p:spPr bwMode="auto">
          <a:xfrm>
            <a:off x="22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85013" name="Text Box 21"/>
          <p:cNvSpPr txBox="1">
            <a:spLocks noChangeArrowheads="1"/>
          </p:cNvSpPr>
          <p:nvPr/>
        </p:nvSpPr>
        <p:spPr bwMode="auto">
          <a:xfrm>
            <a:off x="33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85014" name="Text Box 22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85015" name="Text Box 23"/>
          <p:cNvSpPr txBox="1">
            <a:spLocks noChangeArrowheads="1"/>
          </p:cNvSpPr>
          <p:nvPr/>
        </p:nvSpPr>
        <p:spPr bwMode="auto">
          <a:xfrm>
            <a:off x="54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16" name="Text Box 24"/>
          <p:cNvSpPr txBox="1">
            <a:spLocks noChangeArrowheads="1"/>
          </p:cNvSpPr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22" name="Text Box 30"/>
          <p:cNvSpPr txBox="1">
            <a:spLocks noChangeArrowheads="1"/>
          </p:cNvSpPr>
          <p:nvPr/>
        </p:nvSpPr>
        <p:spPr bwMode="auto">
          <a:xfrm>
            <a:off x="38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85023" name="Text Box 31"/>
          <p:cNvSpPr txBox="1">
            <a:spLocks noChangeArrowheads="1"/>
          </p:cNvSpPr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85025" name="Text Box 33"/>
          <p:cNvSpPr txBox="1"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5026" name="Text Box 34"/>
          <p:cNvSpPr txBox="1">
            <a:spLocks noChangeArrowheads="1"/>
          </p:cNvSpPr>
          <p:nvPr/>
        </p:nvSpPr>
        <p:spPr bwMode="auto">
          <a:xfrm>
            <a:off x="54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16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277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38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493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60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70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5" name="Line 3"/>
          <p:cNvSpPr>
            <a:spLocks noChangeShapeType="1"/>
          </p:cNvSpPr>
          <p:nvPr/>
        </p:nvSpPr>
        <p:spPr bwMode="auto">
          <a:xfrm flipH="1" flipV="1">
            <a:off x="637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4"/>
          <p:cNvSpPr>
            <a:spLocks noChangeArrowheads="1"/>
          </p:cNvSpPr>
          <p:nvPr/>
        </p:nvSpPr>
        <p:spPr bwMode="auto">
          <a:xfrm>
            <a:off x="169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37" name="Line 5"/>
          <p:cNvSpPr>
            <a:spLocks noChangeShapeType="1"/>
          </p:cNvSpPr>
          <p:nvPr/>
        </p:nvSpPr>
        <p:spPr bwMode="auto">
          <a:xfrm>
            <a:off x="205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H="1" flipV="1">
            <a:off x="529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9" name="Oval 13"/>
          <p:cNvSpPr>
            <a:spLocks noChangeArrowheads="1"/>
          </p:cNvSpPr>
          <p:nvPr/>
        </p:nvSpPr>
        <p:spPr bwMode="auto">
          <a:xfrm>
            <a:off x="27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0" name="Oval 14"/>
          <p:cNvSpPr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1" name="Oval 15"/>
          <p:cNvSpPr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2" name="Oval 16"/>
          <p:cNvSpPr>
            <a:spLocks noChangeArrowheads="1"/>
          </p:cNvSpPr>
          <p:nvPr/>
        </p:nvSpPr>
        <p:spPr bwMode="auto">
          <a:xfrm>
            <a:off x="60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3" name="Oval 17"/>
          <p:cNvSpPr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 flipH="1" flipV="1">
            <a:off x="421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19"/>
          <p:cNvSpPr>
            <a:spLocks noChangeShapeType="1"/>
          </p:cNvSpPr>
          <p:nvPr/>
        </p:nvSpPr>
        <p:spPr bwMode="auto">
          <a:xfrm flipH="1" flipV="1">
            <a:off x="313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46" name="AutoShape 25"/>
          <p:cNvCxnSpPr>
            <a:cxnSpLocks noChangeShapeType="1"/>
            <a:stCxn id="39" idx="7"/>
            <a:endCxn id="41" idx="1"/>
          </p:cNvCxnSpPr>
          <p:nvPr/>
        </p:nvCxnSpPr>
        <p:spPr bwMode="auto">
          <a:xfrm rot="5400000" flipH="1" flipV="1">
            <a:off x="4032000" y="378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7" name="AutoShape 26"/>
          <p:cNvCxnSpPr>
            <a:cxnSpLocks noChangeShapeType="1"/>
            <a:stCxn id="36" idx="5"/>
            <a:endCxn id="40" idx="3"/>
          </p:cNvCxnSpPr>
          <p:nvPr/>
        </p:nvCxnSpPr>
        <p:spPr bwMode="auto">
          <a:xfrm rot="16200000" flipH="1">
            <a:off x="2952000" y="4043558"/>
            <a:ext cx="12700" cy="1905442"/>
          </a:xfrm>
          <a:prstGeom prst="curvedConnector3">
            <a:avLst>
              <a:gd name="adj1" fmla="val 1953307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8" name="AutoShape 27"/>
          <p:cNvCxnSpPr>
            <a:cxnSpLocks noChangeShapeType="1"/>
            <a:stCxn id="41" idx="7"/>
            <a:endCxn id="43" idx="1"/>
          </p:cNvCxnSpPr>
          <p:nvPr/>
        </p:nvCxnSpPr>
        <p:spPr bwMode="auto">
          <a:xfrm rot="5400000" flipH="1" flipV="1">
            <a:off x="6192000" y="3789000"/>
            <a:ext cx="12700" cy="1905442"/>
          </a:xfrm>
          <a:prstGeom prst="curvedConnector3">
            <a:avLst>
              <a:gd name="adj1" fmla="val 332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9" name="AutoShape 28"/>
          <p:cNvCxnSpPr>
            <a:cxnSpLocks noChangeShapeType="1"/>
            <a:stCxn id="40" idx="5"/>
            <a:endCxn id="42" idx="3"/>
          </p:cNvCxnSpPr>
          <p:nvPr/>
        </p:nvCxnSpPr>
        <p:spPr bwMode="auto">
          <a:xfrm rot="16200000" flipH="1">
            <a:off x="5112000" y="4043558"/>
            <a:ext cx="12700" cy="1905442"/>
          </a:xfrm>
          <a:prstGeom prst="curvedConnector3">
            <a:avLst>
              <a:gd name="adj1" fmla="val 188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50" name="AutoShape 29"/>
          <p:cNvCxnSpPr>
            <a:cxnSpLocks noChangeShapeType="1"/>
            <a:stCxn id="40" idx="4"/>
            <a:endCxn id="43" idx="4"/>
          </p:cNvCxnSpPr>
          <p:nvPr/>
        </p:nvCxnSpPr>
        <p:spPr bwMode="auto">
          <a:xfrm rot="16200000" flipH="1">
            <a:off x="5652000" y="3429000"/>
            <a:ext cx="12700" cy="3240000"/>
          </a:xfrm>
          <a:prstGeom prst="curvedConnector3">
            <a:avLst>
              <a:gd name="adj1" fmla="val 428726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nodeList.size();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5012" name="Text Box 20"/>
          <p:cNvSpPr txBox="1">
            <a:spLocks noChangeArrowheads="1"/>
          </p:cNvSpPr>
          <p:nvPr/>
        </p:nvSpPr>
        <p:spPr bwMode="auto">
          <a:xfrm>
            <a:off x="22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85013" name="Text Box 21"/>
          <p:cNvSpPr txBox="1">
            <a:spLocks noChangeArrowheads="1"/>
          </p:cNvSpPr>
          <p:nvPr/>
        </p:nvSpPr>
        <p:spPr bwMode="auto">
          <a:xfrm>
            <a:off x="33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85014" name="Text Box 22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85015" name="Text Box 23"/>
          <p:cNvSpPr txBox="1">
            <a:spLocks noChangeArrowheads="1"/>
          </p:cNvSpPr>
          <p:nvPr/>
        </p:nvSpPr>
        <p:spPr bwMode="auto">
          <a:xfrm>
            <a:off x="54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16" name="Text Box 24"/>
          <p:cNvSpPr txBox="1">
            <a:spLocks noChangeArrowheads="1"/>
          </p:cNvSpPr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22" name="Text Box 30"/>
          <p:cNvSpPr txBox="1">
            <a:spLocks noChangeArrowheads="1"/>
          </p:cNvSpPr>
          <p:nvPr/>
        </p:nvSpPr>
        <p:spPr bwMode="auto">
          <a:xfrm>
            <a:off x="38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85023" name="Text Box 31"/>
          <p:cNvSpPr txBox="1">
            <a:spLocks noChangeArrowheads="1"/>
          </p:cNvSpPr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85025" name="Text Box 33"/>
          <p:cNvSpPr txBox="1"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5026" name="Text Box 34"/>
          <p:cNvSpPr txBox="1">
            <a:spLocks noChangeArrowheads="1"/>
          </p:cNvSpPr>
          <p:nvPr/>
        </p:nvSpPr>
        <p:spPr bwMode="auto">
          <a:xfrm>
            <a:off x="54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16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277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38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493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60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70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5" name="Line 3"/>
          <p:cNvSpPr>
            <a:spLocks noChangeShapeType="1"/>
          </p:cNvSpPr>
          <p:nvPr/>
        </p:nvSpPr>
        <p:spPr bwMode="auto">
          <a:xfrm flipH="1" flipV="1">
            <a:off x="637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4"/>
          <p:cNvSpPr>
            <a:spLocks noChangeArrowheads="1"/>
          </p:cNvSpPr>
          <p:nvPr/>
        </p:nvSpPr>
        <p:spPr bwMode="auto">
          <a:xfrm>
            <a:off x="169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37" name="Line 5"/>
          <p:cNvSpPr>
            <a:spLocks noChangeShapeType="1"/>
          </p:cNvSpPr>
          <p:nvPr/>
        </p:nvSpPr>
        <p:spPr bwMode="auto">
          <a:xfrm>
            <a:off x="205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H="1" flipV="1">
            <a:off x="529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9" name="Oval 13"/>
          <p:cNvSpPr>
            <a:spLocks noChangeArrowheads="1"/>
          </p:cNvSpPr>
          <p:nvPr/>
        </p:nvSpPr>
        <p:spPr bwMode="auto">
          <a:xfrm>
            <a:off x="27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40" name="Oval 14"/>
          <p:cNvSpPr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1" name="Oval 15"/>
          <p:cNvSpPr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2" name="Oval 16"/>
          <p:cNvSpPr>
            <a:spLocks noChangeArrowheads="1"/>
          </p:cNvSpPr>
          <p:nvPr/>
        </p:nvSpPr>
        <p:spPr bwMode="auto">
          <a:xfrm>
            <a:off x="60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3" name="Oval 17"/>
          <p:cNvSpPr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 flipH="1" flipV="1">
            <a:off x="421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19"/>
          <p:cNvSpPr>
            <a:spLocks noChangeShapeType="1"/>
          </p:cNvSpPr>
          <p:nvPr/>
        </p:nvSpPr>
        <p:spPr bwMode="auto">
          <a:xfrm flipH="1" flipV="1">
            <a:off x="313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46" name="AutoShape 25"/>
          <p:cNvCxnSpPr>
            <a:cxnSpLocks noChangeShapeType="1"/>
            <a:stCxn id="39" idx="7"/>
            <a:endCxn id="41" idx="1"/>
          </p:cNvCxnSpPr>
          <p:nvPr/>
        </p:nvCxnSpPr>
        <p:spPr bwMode="auto">
          <a:xfrm rot="5400000" flipH="1" flipV="1">
            <a:off x="4032000" y="378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7" name="AutoShape 26"/>
          <p:cNvCxnSpPr>
            <a:cxnSpLocks noChangeShapeType="1"/>
            <a:stCxn id="36" idx="5"/>
            <a:endCxn id="40" idx="3"/>
          </p:cNvCxnSpPr>
          <p:nvPr/>
        </p:nvCxnSpPr>
        <p:spPr bwMode="auto">
          <a:xfrm rot="16200000" flipH="1">
            <a:off x="2952000" y="4043558"/>
            <a:ext cx="12700" cy="1905442"/>
          </a:xfrm>
          <a:prstGeom prst="curvedConnector3">
            <a:avLst>
              <a:gd name="adj1" fmla="val 1953307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8" name="AutoShape 27"/>
          <p:cNvCxnSpPr>
            <a:cxnSpLocks noChangeShapeType="1"/>
            <a:stCxn id="41" idx="7"/>
            <a:endCxn id="43" idx="1"/>
          </p:cNvCxnSpPr>
          <p:nvPr/>
        </p:nvCxnSpPr>
        <p:spPr bwMode="auto">
          <a:xfrm rot="5400000" flipH="1" flipV="1">
            <a:off x="6192000" y="3789000"/>
            <a:ext cx="12700" cy="1905442"/>
          </a:xfrm>
          <a:prstGeom prst="curvedConnector3">
            <a:avLst>
              <a:gd name="adj1" fmla="val 332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9" name="AutoShape 28"/>
          <p:cNvCxnSpPr>
            <a:cxnSpLocks noChangeShapeType="1"/>
            <a:stCxn id="40" idx="5"/>
            <a:endCxn id="42" idx="3"/>
          </p:cNvCxnSpPr>
          <p:nvPr/>
        </p:nvCxnSpPr>
        <p:spPr bwMode="auto">
          <a:xfrm rot="16200000" flipH="1">
            <a:off x="5112000" y="4043558"/>
            <a:ext cx="12700" cy="1905442"/>
          </a:xfrm>
          <a:prstGeom prst="curvedConnector3">
            <a:avLst>
              <a:gd name="adj1" fmla="val 188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50" name="AutoShape 29"/>
          <p:cNvCxnSpPr>
            <a:cxnSpLocks noChangeShapeType="1"/>
            <a:stCxn id="40" idx="4"/>
            <a:endCxn id="43" idx="4"/>
          </p:cNvCxnSpPr>
          <p:nvPr/>
        </p:nvCxnSpPr>
        <p:spPr bwMode="auto">
          <a:xfrm rot="16200000" flipH="1">
            <a:off x="5652000" y="3429000"/>
            <a:ext cx="12700" cy="3240000"/>
          </a:xfrm>
          <a:prstGeom prst="curvedConnector3">
            <a:avLst>
              <a:gd name="adj1" fmla="val 428726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241891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nodeList.size();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5012" name="Text Box 20"/>
          <p:cNvSpPr txBox="1">
            <a:spLocks noChangeArrowheads="1"/>
          </p:cNvSpPr>
          <p:nvPr/>
        </p:nvSpPr>
        <p:spPr bwMode="auto">
          <a:xfrm>
            <a:off x="22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85013" name="Text Box 21"/>
          <p:cNvSpPr txBox="1">
            <a:spLocks noChangeArrowheads="1"/>
          </p:cNvSpPr>
          <p:nvPr/>
        </p:nvSpPr>
        <p:spPr bwMode="auto">
          <a:xfrm>
            <a:off x="33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85014" name="Text Box 22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85015" name="Text Box 23"/>
          <p:cNvSpPr txBox="1">
            <a:spLocks noChangeArrowheads="1"/>
          </p:cNvSpPr>
          <p:nvPr/>
        </p:nvSpPr>
        <p:spPr bwMode="auto">
          <a:xfrm>
            <a:off x="54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16" name="Text Box 24"/>
          <p:cNvSpPr txBox="1">
            <a:spLocks noChangeArrowheads="1"/>
          </p:cNvSpPr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22" name="Text Box 30"/>
          <p:cNvSpPr txBox="1">
            <a:spLocks noChangeArrowheads="1"/>
          </p:cNvSpPr>
          <p:nvPr/>
        </p:nvSpPr>
        <p:spPr bwMode="auto">
          <a:xfrm>
            <a:off x="38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85023" name="Text Box 31"/>
          <p:cNvSpPr txBox="1">
            <a:spLocks noChangeArrowheads="1"/>
          </p:cNvSpPr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85025" name="Text Box 33"/>
          <p:cNvSpPr txBox="1"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5026" name="Text Box 34"/>
          <p:cNvSpPr txBox="1">
            <a:spLocks noChangeArrowheads="1"/>
          </p:cNvSpPr>
          <p:nvPr/>
        </p:nvSpPr>
        <p:spPr bwMode="auto">
          <a:xfrm>
            <a:off x="54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16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277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38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493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60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70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5" name="Line 3"/>
          <p:cNvSpPr>
            <a:spLocks noChangeShapeType="1"/>
          </p:cNvSpPr>
          <p:nvPr/>
        </p:nvSpPr>
        <p:spPr bwMode="auto">
          <a:xfrm flipH="1" flipV="1">
            <a:off x="637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4"/>
          <p:cNvSpPr>
            <a:spLocks noChangeArrowheads="1"/>
          </p:cNvSpPr>
          <p:nvPr/>
        </p:nvSpPr>
        <p:spPr bwMode="auto">
          <a:xfrm>
            <a:off x="169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37" name="Line 5"/>
          <p:cNvSpPr>
            <a:spLocks noChangeShapeType="1"/>
          </p:cNvSpPr>
          <p:nvPr/>
        </p:nvSpPr>
        <p:spPr bwMode="auto">
          <a:xfrm>
            <a:off x="205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H="1" flipV="1">
            <a:off x="529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9" name="Oval 13"/>
          <p:cNvSpPr>
            <a:spLocks noChangeArrowheads="1"/>
          </p:cNvSpPr>
          <p:nvPr/>
        </p:nvSpPr>
        <p:spPr bwMode="auto">
          <a:xfrm>
            <a:off x="27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40" name="Oval 14"/>
          <p:cNvSpPr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1" name="Oval 15"/>
          <p:cNvSpPr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2" name="Oval 16"/>
          <p:cNvSpPr>
            <a:spLocks noChangeArrowheads="1"/>
          </p:cNvSpPr>
          <p:nvPr/>
        </p:nvSpPr>
        <p:spPr bwMode="auto">
          <a:xfrm>
            <a:off x="60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3" name="Oval 17"/>
          <p:cNvSpPr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 flipH="1" flipV="1">
            <a:off x="421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19"/>
          <p:cNvSpPr>
            <a:spLocks noChangeShapeType="1"/>
          </p:cNvSpPr>
          <p:nvPr/>
        </p:nvSpPr>
        <p:spPr bwMode="auto">
          <a:xfrm flipH="1" flipV="1">
            <a:off x="313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46" name="AutoShape 25"/>
          <p:cNvCxnSpPr>
            <a:cxnSpLocks noChangeShapeType="1"/>
            <a:stCxn id="39" idx="7"/>
            <a:endCxn id="41" idx="1"/>
          </p:cNvCxnSpPr>
          <p:nvPr/>
        </p:nvCxnSpPr>
        <p:spPr bwMode="auto">
          <a:xfrm rot="5400000" flipH="1" flipV="1">
            <a:off x="4032000" y="378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7" name="AutoShape 26"/>
          <p:cNvCxnSpPr>
            <a:cxnSpLocks noChangeShapeType="1"/>
            <a:stCxn id="36" idx="5"/>
            <a:endCxn id="40" idx="3"/>
          </p:cNvCxnSpPr>
          <p:nvPr/>
        </p:nvCxnSpPr>
        <p:spPr bwMode="auto">
          <a:xfrm rot="16200000" flipH="1">
            <a:off x="2952000" y="4043558"/>
            <a:ext cx="12700" cy="1905442"/>
          </a:xfrm>
          <a:prstGeom prst="curvedConnector3">
            <a:avLst>
              <a:gd name="adj1" fmla="val 1953307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8" name="AutoShape 27"/>
          <p:cNvCxnSpPr>
            <a:cxnSpLocks noChangeShapeType="1"/>
            <a:stCxn id="41" idx="7"/>
            <a:endCxn id="43" idx="1"/>
          </p:cNvCxnSpPr>
          <p:nvPr/>
        </p:nvCxnSpPr>
        <p:spPr bwMode="auto">
          <a:xfrm rot="5400000" flipH="1" flipV="1">
            <a:off x="6192000" y="3789000"/>
            <a:ext cx="12700" cy="1905442"/>
          </a:xfrm>
          <a:prstGeom prst="curvedConnector3">
            <a:avLst>
              <a:gd name="adj1" fmla="val 332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9" name="AutoShape 28"/>
          <p:cNvCxnSpPr>
            <a:cxnSpLocks noChangeShapeType="1"/>
            <a:stCxn id="40" idx="5"/>
            <a:endCxn id="42" idx="3"/>
          </p:cNvCxnSpPr>
          <p:nvPr/>
        </p:nvCxnSpPr>
        <p:spPr bwMode="auto">
          <a:xfrm rot="16200000" flipH="1">
            <a:off x="5112000" y="4043558"/>
            <a:ext cx="12700" cy="1905442"/>
          </a:xfrm>
          <a:prstGeom prst="curvedConnector3">
            <a:avLst>
              <a:gd name="adj1" fmla="val 188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50" name="AutoShape 29"/>
          <p:cNvCxnSpPr>
            <a:cxnSpLocks noChangeShapeType="1"/>
            <a:stCxn id="40" idx="4"/>
            <a:endCxn id="43" idx="4"/>
          </p:cNvCxnSpPr>
          <p:nvPr/>
        </p:nvCxnSpPr>
        <p:spPr bwMode="auto">
          <a:xfrm rot="16200000" flipH="1">
            <a:off x="5652000" y="3429000"/>
            <a:ext cx="12700" cy="3240000"/>
          </a:xfrm>
          <a:prstGeom prst="curvedConnector3">
            <a:avLst>
              <a:gd name="adj1" fmla="val 428726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401777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nodeList.size();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5012" name="Text Box 20"/>
          <p:cNvSpPr txBox="1">
            <a:spLocks noChangeArrowheads="1"/>
          </p:cNvSpPr>
          <p:nvPr/>
        </p:nvSpPr>
        <p:spPr bwMode="auto">
          <a:xfrm>
            <a:off x="22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85013" name="Text Box 21"/>
          <p:cNvSpPr txBox="1">
            <a:spLocks noChangeArrowheads="1"/>
          </p:cNvSpPr>
          <p:nvPr/>
        </p:nvSpPr>
        <p:spPr bwMode="auto">
          <a:xfrm>
            <a:off x="33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85014" name="Text Box 22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85015" name="Text Box 23"/>
          <p:cNvSpPr txBox="1">
            <a:spLocks noChangeArrowheads="1"/>
          </p:cNvSpPr>
          <p:nvPr/>
        </p:nvSpPr>
        <p:spPr bwMode="auto">
          <a:xfrm>
            <a:off x="54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16" name="Text Box 24"/>
          <p:cNvSpPr txBox="1">
            <a:spLocks noChangeArrowheads="1"/>
          </p:cNvSpPr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22" name="Text Box 30"/>
          <p:cNvSpPr txBox="1">
            <a:spLocks noChangeArrowheads="1"/>
          </p:cNvSpPr>
          <p:nvPr/>
        </p:nvSpPr>
        <p:spPr bwMode="auto">
          <a:xfrm>
            <a:off x="38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85023" name="Text Box 31"/>
          <p:cNvSpPr txBox="1">
            <a:spLocks noChangeArrowheads="1"/>
          </p:cNvSpPr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85025" name="Text Box 33"/>
          <p:cNvSpPr txBox="1"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5026" name="Text Box 34"/>
          <p:cNvSpPr txBox="1">
            <a:spLocks noChangeArrowheads="1"/>
          </p:cNvSpPr>
          <p:nvPr/>
        </p:nvSpPr>
        <p:spPr bwMode="auto">
          <a:xfrm>
            <a:off x="54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16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277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38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493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60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70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5" name="Line 3"/>
          <p:cNvSpPr>
            <a:spLocks noChangeShapeType="1"/>
          </p:cNvSpPr>
          <p:nvPr/>
        </p:nvSpPr>
        <p:spPr bwMode="auto">
          <a:xfrm flipH="1" flipV="1">
            <a:off x="637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4"/>
          <p:cNvSpPr>
            <a:spLocks noChangeArrowheads="1"/>
          </p:cNvSpPr>
          <p:nvPr/>
        </p:nvSpPr>
        <p:spPr bwMode="auto">
          <a:xfrm>
            <a:off x="169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37" name="Line 5"/>
          <p:cNvSpPr>
            <a:spLocks noChangeShapeType="1"/>
          </p:cNvSpPr>
          <p:nvPr/>
        </p:nvSpPr>
        <p:spPr bwMode="auto">
          <a:xfrm>
            <a:off x="205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H="1" flipV="1">
            <a:off x="529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9" name="Oval 13"/>
          <p:cNvSpPr>
            <a:spLocks noChangeArrowheads="1"/>
          </p:cNvSpPr>
          <p:nvPr/>
        </p:nvSpPr>
        <p:spPr bwMode="auto">
          <a:xfrm>
            <a:off x="277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ea typeface="Cambria Math" panose="02040503050406030204" pitchFamily="18" charset="0"/>
              <a:sym typeface="Symbol" pitchFamily="18" charset="2"/>
            </a:endParaRPr>
          </a:p>
        </p:txBody>
      </p:sp>
      <p:sp>
        <p:nvSpPr>
          <p:cNvPr id="40" name="Oval 14"/>
          <p:cNvSpPr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1" name="Oval 15"/>
          <p:cNvSpPr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2" name="Oval 16"/>
          <p:cNvSpPr>
            <a:spLocks noChangeArrowheads="1"/>
          </p:cNvSpPr>
          <p:nvPr/>
        </p:nvSpPr>
        <p:spPr bwMode="auto">
          <a:xfrm>
            <a:off x="60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3" name="Oval 17"/>
          <p:cNvSpPr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 flipH="1" flipV="1">
            <a:off x="421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19"/>
          <p:cNvSpPr>
            <a:spLocks noChangeShapeType="1"/>
          </p:cNvSpPr>
          <p:nvPr/>
        </p:nvSpPr>
        <p:spPr bwMode="auto">
          <a:xfrm flipH="1" flipV="1">
            <a:off x="313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46" name="AutoShape 25"/>
          <p:cNvCxnSpPr>
            <a:cxnSpLocks noChangeShapeType="1"/>
            <a:stCxn id="39" idx="7"/>
            <a:endCxn id="41" idx="1"/>
          </p:cNvCxnSpPr>
          <p:nvPr/>
        </p:nvCxnSpPr>
        <p:spPr bwMode="auto">
          <a:xfrm rot="5400000" flipH="1" flipV="1">
            <a:off x="4032000" y="378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7" name="AutoShape 26"/>
          <p:cNvCxnSpPr>
            <a:cxnSpLocks noChangeShapeType="1"/>
            <a:stCxn id="36" idx="5"/>
            <a:endCxn id="40" idx="3"/>
          </p:cNvCxnSpPr>
          <p:nvPr/>
        </p:nvCxnSpPr>
        <p:spPr bwMode="auto">
          <a:xfrm rot="16200000" flipH="1">
            <a:off x="2952000" y="4043558"/>
            <a:ext cx="12700" cy="1905442"/>
          </a:xfrm>
          <a:prstGeom prst="curvedConnector3">
            <a:avLst>
              <a:gd name="adj1" fmla="val 1953307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8" name="AutoShape 27"/>
          <p:cNvCxnSpPr>
            <a:cxnSpLocks noChangeShapeType="1"/>
            <a:stCxn id="41" idx="7"/>
            <a:endCxn id="43" idx="1"/>
          </p:cNvCxnSpPr>
          <p:nvPr/>
        </p:nvCxnSpPr>
        <p:spPr bwMode="auto">
          <a:xfrm rot="5400000" flipH="1" flipV="1">
            <a:off x="6192000" y="3789000"/>
            <a:ext cx="12700" cy="1905442"/>
          </a:xfrm>
          <a:prstGeom prst="curvedConnector3">
            <a:avLst>
              <a:gd name="adj1" fmla="val 332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49" name="AutoShape 28"/>
          <p:cNvCxnSpPr>
            <a:cxnSpLocks noChangeShapeType="1"/>
            <a:stCxn id="40" idx="5"/>
            <a:endCxn id="42" idx="3"/>
          </p:cNvCxnSpPr>
          <p:nvPr/>
        </p:nvCxnSpPr>
        <p:spPr bwMode="auto">
          <a:xfrm rot="16200000" flipH="1">
            <a:off x="5112000" y="4043558"/>
            <a:ext cx="12700" cy="1905442"/>
          </a:xfrm>
          <a:prstGeom prst="curvedConnector3">
            <a:avLst>
              <a:gd name="adj1" fmla="val 188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50" name="AutoShape 29"/>
          <p:cNvCxnSpPr>
            <a:cxnSpLocks noChangeShapeType="1"/>
            <a:stCxn id="40" idx="4"/>
            <a:endCxn id="43" idx="4"/>
          </p:cNvCxnSpPr>
          <p:nvPr/>
        </p:nvCxnSpPr>
        <p:spPr bwMode="auto">
          <a:xfrm rot="16200000" flipH="1">
            <a:off x="5652000" y="3429000"/>
            <a:ext cx="12700" cy="3240000"/>
          </a:xfrm>
          <a:prstGeom prst="curvedConnector3">
            <a:avLst>
              <a:gd name="adj1" fmla="val 428726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267283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nodeList.size();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4995" name="Line 3"/>
          <p:cNvSpPr>
            <a:spLocks noChangeShapeType="1"/>
          </p:cNvSpPr>
          <p:nvPr/>
        </p:nvSpPr>
        <p:spPr bwMode="auto">
          <a:xfrm flipH="1" flipV="1">
            <a:off x="637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4996" name="Oval 4"/>
          <p:cNvSpPr>
            <a:spLocks noChangeArrowheads="1"/>
          </p:cNvSpPr>
          <p:nvPr/>
        </p:nvSpPr>
        <p:spPr bwMode="auto">
          <a:xfrm>
            <a:off x="169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84997" name="Line 5"/>
          <p:cNvSpPr>
            <a:spLocks noChangeShapeType="1"/>
          </p:cNvSpPr>
          <p:nvPr/>
        </p:nvSpPr>
        <p:spPr bwMode="auto">
          <a:xfrm>
            <a:off x="205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4998" name="Line 6"/>
          <p:cNvSpPr>
            <a:spLocks noChangeShapeType="1"/>
          </p:cNvSpPr>
          <p:nvPr/>
        </p:nvSpPr>
        <p:spPr bwMode="auto">
          <a:xfrm flipH="1" flipV="1">
            <a:off x="529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05" name="Oval 13"/>
          <p:cNvSpPr>
            <a:spLocks noChangeArrowheads="1"/>
          </p:cNvSpPr>
          <p:nvPr/>
        </p:nvSpPr>
        <p:spPr bwMode="auto">
          <a:xfrm>
            <a:off x="277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0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6" name="Oval 14"/>
          <p:cNvSpPr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2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7" name="Oval 15"/>
          <p:cNvSpPr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6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8" name="Oval 16"/>
          <p:cNvSpPr>
            <a:spLocks noChangeArrowheads="1"/>
          </p:cNvSpPr>
          <p:nvPr/>
        </p:nvSpPr>
        <p:spPr bwMode="auto">
          <a:xfrm>
            <a:off x="60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85009" name="Oval 17"/>
          <p:cNvSpPr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85010" name="Line 18"/>
          <p:cNvSpPr>
            <a:spLocks noChangeShapeType="1"/>
          </p:cNvSpPr>
          <p:nvPr/>
        </p:nvSpPr>
        <p:spPr bwMode="auto">
          <a:xfrm flipH="1" flipV="1">
            <a:off x="421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11" name="Line 19"/>
          <p:cNvSpPr>
            <a:spLocks noChangeShapeType="1"/>
          </p:cNvSpPr>
          <p:nvPr/>
        </p:nvSpPr>
        <p:spPr bwMode="auto">
          <a:xfrm flipH="1" flipV="1">
            <a:off x="3132000" y="486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12" name="Text Box 20"/>
          <p:cNvSpPr txBox="1">
            <a:spLocks noChangeArrowheads="1"/>
          </p:cNvSpPr>
          <p:nvPr/>
        </p:nvSpPr>
        <p:spPr bwMode="auto">
          <a:xfrm>
            <a:off x="22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85013" name="Text Box 21"/>
          <p:cNvSpPr txBox="1">
            <a:spLocks noChangeArrowheads="1"/>
          </p:cNvSpPr>
          <p:nvPr/>
        </p:nvSpPr>
        <p:spPr bwMode="auto">
          <a:xfrm>
            <a:off x="33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85014" name="Text Box 22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85015" name="Text Box 23"/>
          <p:cNvSpPr txBox="1">
            <a:spLocks noChangeArrowheads="1"/>
          </p:cNvSpPr>
          <p:nvPr/>
        </p:nvSpPr>
        <p:spPr bwMode="auto">
          <a:xfrm>
            <a:off x="54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16" name="Text Box 24"/>
          <p:cNvSpPr txBox="1">
            <a:spLocks noChangeArrowheads="1"/>
          </p:cNvSpPr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85017" name="AutoShape 25"/>
          <p:cNvCxnSpPr>
            <a:cxnSpLocks noChangeShapeType="1"/>
            <a:stCxn id="85005" idx="7"/>
            <a:endCxn id="85007" idx="1"/>
          </p:cNvCxnSpPr>
          <p:nvPr/>
        </p:nvCxnSpPr>
        <p:spPr bwMode="auto">
          <a:xfrm rot="5400000" flipH="1" flipV="1">
            <a:off x="4032000" y="378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rgbClr val="FF0000"/>
            </a:solidFill>
            <a:miter lim="800000"/>
            <a:headEnd type="triangle" w="lg" len="lg"/>
            <a:tailEnd type="none" w="lg" len="lg"/>
          </a:ln>
        </p:spPr>
      </p:cxnSp>
      <p:cxnSp>
        <p:nvCxnSpPr>
          <p:cNvPr id="85018" name="AutoShape 26"/>
          <p:cNvCxnSpPr>
            <a:cxnSpLocks noChangeShapeType="1"/>
            <a:stCxn id="84996" idx="5"/>
            <a:endCxn id="85006" idx="3"/>
          </p:cNvCxnSpPr>
          <p:nvPr/>
        </p:nvCxnSpPr>
        <p:spPr bwMode="auto">
          <a:xfrm rot="16200000" flipH="1">
            <a:off x="2952000" y="4043558"/>
            <a:ext cx="12700" cy="1905442"/>
          </a:xfrm>
          <a:prstGeom prst="curvedConnector3">
            <a:avLst>
              <a:gd name="adj1" fmla="val 1953307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85019" name="AutoShape 27"/>
          <p:cNvCxnSpPr>
            <a:cxnSpLocks noChangeShapeType="1"/>
            <a:stCxn id="85007" idx="7"/>
            <a:endCxn id="85009" idx="1"/>
          </p:cNvCxnSpPr>
          <p:nvPr/>
        </p:nvCxnSpPr>
        <p:spPr bwMode="auto">
          <a:xfrm rot="5400000" flipH="1" flipV="1">
            <a:off x="6192000" y="3789000"/>
            <a:ext cx="12700" cy="1905442"/>
          </a:xfrm>
          <a:prstGeom prst="curvedConnector3">
            <a:avLst>
              <a:gd name="adj1" fmla="val 332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85020" name="AutoShape 28"/>
          <p:cNvCxnSpPr>
            <a:cxnSpLocks noChangeShapeType="1"/>
            <a:stCxn id="85006" idx="5"/>
            <a:endCxn id="85008" idx="3"/>
          </p:cNvCxnSpPr>
          <p:nvPr/>
        </p:nvCxnSpPr>
        <p:spPr bwMode="auto">
          <a:xfrm rot="16200000" flipH="1">
            <a:off x="5112000" y="4043558"/>
            <a:ext cx="12700" cy="1905442"/>
          </a:xfrm>
          <a:prstGeom prst="curvedConnector3">
            <a:avLst>
              <a:gd name="adj1" fmla="val 188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85021" name="AutoShape 29"/>
          <p:cNvCxnSpPr>
            <a:cxnSpLocks noChangeShapeType="1"/>
            <a:stCxn id="85006" idx="4"/>
            <a:endCxn id="85009" idx="4"/>
          </p:cNvCxnSpPr>
          <p:nvPr/>
        </p:nvCxnSpPr>
        <p:spPr bwMode="auto">
          <a:xfrm rot="16200000" flipH="1">
            <a:off x="5652000" y="3429000"/>
            <a:ext cx="12700" cy="3240000"/>
          </a:xfrm>
          <a:prstGeom prst="curvedConnector3">
            <a:avLst>
              <a:gd name="adj1" fmla="val 428726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sp>
        <p:nvSpPr>
          <p:cNvPr id="85022" name="Text Box 30"/>
          <p:cNvSpPr txBox="1">
            <a:spLocks noChangeArrowheads="1"/>
          </p:cNvSpPr>
          <p:nvPr/>
        </p:nvSpPr>
        <p:spPr bwMode="auto">
          <a:xfrm>
            <a:off x="38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85023" name="Text Box 31"/>
          <p:cNvSpPr txBox="1">
            <a:spLocks noChangeArrowheads="1"/>
          </p:cNvSpPr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85025" name="Text Box 33"/>
          <p:cNvSpPr txBox="1"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5026" name="Text Box 34"/>
          <p:cNvSpPr txBox="1">
            <a:spLocks noChangeArrowheads="1"/>
          </p:cNvSpPr>
          <p:nvPr/>
        </p:nvSpPr>
        <p:spPr bwMode="auto">
          <a:xfrm>
            <a:off x="54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16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277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38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493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60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70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0007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nodeList.size();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4995" name="Line 3"/>
          <p:cNvSpPr>
            <a:spLocks noChangeShapeType="1"/>
          </p:cNvSpPr>
          <p:nvPr/>
        </p:nvSpPr>
        <p:spPr bwMode="auto">
          <a:xfrm flipH="1" flipV="1">
            <a:off x="637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4996" name="Oval 4"/>
          <p:cNvSpPr>
            <a:spLocks noChangeArrowheads="1"/>
          </p:cNvSpPr>
          <p:nvPr/>
        </p:nvSpPr>
        <p:spPr bwMode="auto">
          <a:xfrm>
            <a:off x="169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84997" name="Line 5"/>
          <p:cNvSpPr>
            <a:spLocks noChangeShapeType="1"/>
          </p:cNvSpPr>
          <p:nvPr/>
        </p:nvSpPr>
        <p:spPr bwMode="auto">
          <a:xfrm>
            <a:off x="205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4998" name="Line 6"/>
          <p:cNvSpPr>
            <a:spLocks noChangeShapeType="1"/>
          </p:cNvSpPr>
          <p:nvPr/>
        </p:nvSpPr>
        <p:spPr bwMode="auto">
          <a:xfrm flipH="1" flipV="1">
            <a:off x="529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05" name="Oval 13"/>
          <p:cNvSpPr>
            <a:spLocks noChangeArrowheads="1"/>
          </p:cNvSpPr>
          <p:nvPr/>
        </p:nvSpPr>
        <p:spPr bwMode="auto">
          <a:xfrm>
            <a:off x="277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0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6" name="Oval 14"/>
          <p:cNvSpPr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2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7" name="Oval 15"/>
          <p:cNvSpPr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6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8" name="Oval 16"/>
          <p:cNvSpPr>
            <a:spLocks noChangeArrowheads="1"/>
          </p:cNvSpPr>
          <p:nvPr/>
        </p:nvSpPr>
        <p:spPr bwMode="auto">
          <a:xfrm>
            <a:off x="60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6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9" name="Oval 17"/>
          <p:cNvSpPr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4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10" name="Line 18"/>
          <p:cNvSpPr>
            <a:spLocks noChangeShapeType="1"/>
          </p:cNvSpPr>
          <p:nvPr/>
        </p:nvSpPr>
        <p:spPr bwMode="auto">
          <a:xfrm flipH="1" flipV="1">
            <a:off x="421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11" name="Line 19"/>
          <p:cNvSpPr>
            <a:spLocks noChangeShapeType="1"/>
          </p:cNvSpPr>
          <p:nvPr/>
        </p:nvSpPr>
        <p:spPr bwMode="auto">
          <a:xfrm flipH="1" flipV="1">
            <a:off x="3132000" y="486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12" name="Text Box 20"/>
          <p:cNvSpPr txBox="1">
            <a:spLocks noChangeArrowheads="1"/>
          </p:cNvSpPr>
          <p:nvPr/>
        </p:nvSpPr>
        <p:spPr bwMode="auto">
          <a:xfrm>
            <a:off x="22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85013" name="Text Box 21"/>
          <p:cNvSpPr txBox="1">
            <a:spLocks noChangeArrowheads="1"/>
          </p:cNvSpPr>
          <p:nvPr/>
        </p:nvSpPr>
        <p:spPr bwMode="auto">
          <a:xfrm>
            <a:off x="33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85014" name="Text Box 22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85015" name="Text Box 23"/>
          <p:cNvSpPr txBox="1">
            <a:spLocks noChangeArrowheads="1"/>
          </p:cNvSpPr>
          <p:nvPr/>
        </p:nvSpPr>
        <p:spPr bwMode="auto">
          <a:xfrm>
            <a:off x="54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16" name="Text Box 24"/>
          <p:cNvSpPr txBox="1">
            <a:spLocks noChangeArrowheads="1"/>
          </p:cNvSpPr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85017" name="AutoShape 25"/>
          <p:cNvCxnSpPr>
            <a:cxnSpLocks noChangeShapeType="1"/>
            <a:stCxn id="85005" idx="7"/>
            <a:endCxn id="85007" idx="1"/>
          </p:cNvCxnSpPr>
          <p:nvPr/>
        </p:nvCxnSpPr>
        <p:spPr bwMode="auto">
          <a:xfrm rot="5400000" flipH="1" flipV="1">
            <a:off x="4032000" y="378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rgbClr val="FF0000"/>
            </a:solidFill>
            <a:miter lim="800000"/>
            <a:headEnd type="triangle" w="lg" len="lg"/>
            <a:tailEnd type="none" w="lg" len="lg"/>
          </a:ln>
        </p:spPr>
      </p:cxnSp>
      <p:cxnSp>
        <p:nvCxnSpPr>
          <p:cNvPr id="85018" name="AutoShape 26"/>
          <p:cNvCxnSpPr>
            <a:cxnSpLocks noChangeShapeType="1"/>
            <a:stCxn id="84996" idx="5"/>
            <a:endCxn id="85006" idx="3"/>
          </p:cNvCxnSpPr>
          <p:nvPr/>
        </p:nvCxnSpPr>
        <p:spPr bwMode="auto">
          <a:xfrm rot="16200000" flipH="1">
            <a:off x="2952000" y="4043558"/>
            <a:ext cx="12700" cy="1905442"/>
          </a:xfrm>
          <a:prstGeom prst="curvedConnector3">
            <a:avLst>
              <a:gd name="adj1" fmla="val 1953307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85019" name="AutoShape 27"/>
          <p:cNvCxnSpPr>
            <a:cxnSpLocks noChangeShapeType="1"/>
            <a:stCxn id="85007" idx="7"/>
            <a:endCxn id="85009" idx="1"/>
          </p:cNvCxnSpPr>
          <p:nvPr/>
        </p:nvCxnSpPr>
        <p:spPr bwMode="auto">
          <a:xfrm rot="5400000" flipH="1" flipV="1">
            <a:off x="6192000" y="3789000"/>
            <a:ext cx="12700" cy="1905442"/>
          </a:xfrm>
          <a:prstGeom prst="curvedConnector3">
            <a:avLst>
              <a:gd name="adj1" fmla="val 332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85020" name="AutoShape 28"/>
          <p:cNvCxnSpPr>
            <a:cxnSpLocks noChangeShapeType="1"/>
            <a:stCxn id="85006" idx="5"/>
            <a:endCxn id="85008" idx="3"/>
          </p:cNvCxnSpPr>
          <p:nvPr/>
        </p:nvCxnSpPr>
        <p:spPr bwMode="auto">
          <a:xfrm rot="16200000" flipH="1">
            <a:off x="5112000" y="4043558"/>
            <a:ext cx="12700" cy="1905442"/>
          </a:xfrm>
          <a:prstGeom prst="curvedConnector3">
            <a:avLst>
              <a:gd name="adj1" fmla="val 1887858"/>
            </a:avLst>
          </a:prstGeom>
          <a:noFill/>
          <a:ln w="19050">
            <a:solidFill>
              <a:srgbClr val="FF0000"/>
            </a:solidFill>
            <a:miter lim="800000"/>
            <a:headEnd type="triangle" w="lg" len="lg"/>
            <a:tailEnd type="none" w="lg" len="lg"/>
          </a:ln>
        </p:spPr>
      </p:cxnSp>
      <p:cxnSp>
        <p:nvCxnSpPr>
          <p:cNvPr id="85021" name="AutoShape 29"/>
          <p:cNvCxnSpPr>
            <a:cxnSpLocks noChangeShapeType="1"/>
            <a:stCxn id="85006" idx="4"/>
            <a:endCxn id="85009" idx="4"/>
          </p:cNvCxnSpPr>
          <p:nvPr/>
        </p:nvCxnSpPr>
        <p:spPr bwMode="auto">
          <a:xfrm rot="16200000" flipH="1">
            <a:off x="5652000" y="3429000"/>
            <a:ext cx="12700" cy="3240000"/>
          </a:xfrm>
          <a:prstGeom prst="curvedConnector3">
            <a:avLst>
              <a:gd name="adj1" fmla="val 4287268"/>
            </a:avLst>
          </a:prstGeom>
          <a:noFill/>
          <a:ln w="19050">
            <a:solidFill>
              <a:srgbClr val="FF0000"/>
            </a:solidFill>
            <a:miter lim="800000"/>
            <a:headEnd type="triangle" w="lg" len="lg"/>
            <a:tailEnd type="none" w="lg" len="lg"/>
          </a:ln>
        </p:spPr>
      </p:cxnSp>
      <p:sp>
        <p:nvSpPr>
          <p:cNvPr id="85022" name="Text Box 30"/>
          <p:cNvSpPr txBox="1">
            <a:spLocks noChangeArrowheads="1"/>
          </p:cNvSpPr>
          <p:nvPr/>
        </p:nvSpPr>
        <p:spPr bwMode="auto">
          <a:xfrm>
            <a:off x="38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85023" name="Text Box 31"/>
          <p:cNvSpPr txBox="1">
            <a:spLocks noChangeArrowheads="1"/>
          </p:cNvSpPr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85025" name="Text Box 33"/>
          <p:cNvSpPr txBox="1"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5026" name="Text Box 34"/>
          <p:cNvSpPr txBox="1">
            <a:spLocks noChangeArrowheads="1"/>
          </p:cNvSpPr>
          <p:nvPr/>
        </p:nvSpPr>
        <p:spPr bwMode="auto">
          <a:xfrm>
            <a:off x="54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16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277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38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493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60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70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60309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nodeList.size();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4995" name="Line 3"/>
          <p:cNvSpPr>
            <a:spLocks noChangeShapeType="1"/>
          </p:cNvSpPr>
          <p:nvPr/>
        </p:nvSpPr>
        <p:spPr bwMode="auto">
          <a:xfrm flipH="1" flipV="1">
            <a:off x="637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4996" name="Oval 4"/>
          <p:cNvSpPr>
            <a:spLocks noChangeArrowheads="1"/>
          </p:cNvSpPr>
          <p:nvPr/>
        </p:nvSpPr>
        <p:spPr bwMode="auto">
          <a:xfrm>
            <a:off x="169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84997" name="Line 5"/>
          <p:cNvSpPr>
            <a:spLocks noChangeShapeType="1"/>
          </p:cNvSpPr>
          <p:nvPr/>
        </p:nvSpPr>
        <p:spPr bwMode="auto">
          <a:xfrm>
            <a:off x="205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4998" name="Line 6"/>
          <p:cNvSpPr>
            <a:spLocks noChangeShapeType="1"/>
          </p:cNvSpPr>
          <p:nvPr/>
        </p:nvSpPr>
        <p:spPr bwMode="auto">
          <a:xfrm flipH="1" flipV="1">
            <a:off x="5292000" y="486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05" name="Oval 13"/>
          <p:cNvSpPr>
            <a:spLocks noChangeArrowheads="1"/>
          </p:cNvSpPr>
          <p:nvPr/>
        </p:nvSpPr>
        <p:spPr bwMode="auto">
          <a:xfrm>
            <a:off x="277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0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6" name="Oval 14"/>
          <p:cNvSpPr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2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7" name="Oval 15"/>
          <p:cNvSpPr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6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8" name="Oval 16"/>
          <p:cNvSpPr>
            <a:spLocks noChangeArrowheads="1"/>
          </p:cNvSpPr>
          <p:nvPr/>
        </p:nvSpPr>
        <p:spPr bwMode="auto">
          <a:xfrm>
            <a:off x="60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5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9" name="Oval 17"/>
          <p:cNvSpPr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4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10" name="Line 18"/>
          <p:cNvSpPr>
            <a:spLocks noChangeShapeType="1"/>
          </p:cNvSpPr>
          <p:nvPr/>
        </p:nvSpPr>
        <p:spPr bwMode="auto">
          <a:xfrm flipH="1" flipV="1">
            <a:off x="421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11" name="Line 19"/>
          <p:cNvSpPr>
            <a:spLocks noChangeShapeType="1"/>
          </p:cNvSpPr>
          <p:nvPr/>
        </p:nvSpPr>
        <p:spPr bwMode="auto">
          <a:xfrm flipH="1" flipV="1">
            <a:off x="3132000" y="486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12" name="Text Box 20"/>
          <p:cNvSpPr txBox="1">
            <a:spLocks noChangeArrowheads="1"/>
          </p:cNvSpPr>
          <p:nvPr/>
        </p:nvSpPr>
        <p:spPr bwMode="auto">
          <a:xfrm>
            <a:off x="22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85013" name="Text Box 21"/>
          <p:cNvSpPr txBox="1">
            <a:spLocks noChangeArrowheads="1"/>
          </p:cNvSpPr>
          <p:nvPr/>
        </p:nvSpPr>
        <p:spPr bwMode="auto">
          <a:xfrm>
            <a:off x="33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85014" name="Text Box 22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85015" name="Text Box 23"/>
          <p:cNvSpPr txBox="1">
            <a:spLocks noChangeArrowheads="1"/>
          </p:cNvSpPr>
          <p:nvPr/>
        </p:nvSpPr>
        <p:spPr bwMode="auto">
          <a:xfrm>
            <a:off x="54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16" name="Text Box 24"/>
          <p:cNvSpPr txBox="1">
            <a:spLocks noChangeArrowheads="1"/>
          </p:cNvSpPr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85017" name="AutoShape 25"/>
          <p:cNvCxnSpPr>
            <a:cxnSpLocks noChangeShapeType="1"/>
            <a:stCxn id="85005" idx="7"/>
            <a:endCxn id="85007" idx="1"/>
          </p:cNvCxnSpPr>
          <p:nvPr/>
        </p:nvCxnSpPr>
        <p:spPr bwMode="auto">
          <a:xfrm rot="5400000" flipH="1" flipV="1">
            <a:off x="4032000" y="378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rgbClr val="FF0000"/>
            </a:solidFill>
            <a:miter lim="800000"/>
            <a:headEnd type="triangle" w="lg" len="lg"/>
            <a:tailEnd type="none" w="lg" len="lg"/>
          </a:ln>
        </p:spPr>
      </p:cxnSp>
      <p:cxnSp>
        <p:nvCxnSpPr>
          <p:cNvPr id="85018" name="AutoShape 26"/>
          <p:cNvCxnSpPr>
            <a:cxnSpLocks noChangeShapeType="1"/>
            <a:stCxn id="84996" idx="5"/>
            <a:endCxn id="85006" idx="3"/>
          </p:cNvCxnSpPr>
          <p:nvPr/>
        </p:nvCxnSpPr>
        <p:spPr bwMode="auto">
          <a:xfrm rot="16200000" flipH="1">
            <a:off x="2952000" y="4043558"/>
            <a:ext cx="12700" cy="1905442"/>
          </a:xfrm>
          <a:prstGeom prst="curvedConnector3">
            <a:avLst>
              <a:gd name="adj1" fmla="val 1953307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85019" name="AutoShape 27"/>
          <p:cNvCxnSpPr>
            <a:cxnSpLocks noChangeShapeType="1"/>
            <a:stCxn id="85007" idx="7"/>
            <a:endCxn id="85009" idx="1"/>
          </p:cNvCxnSpPr>
          <p:nvPr/>
        </p:nvCxnSpPr>
        <p:spPr bwMode="auto">
          <a:xfrm rot="5400000" flipH="1" flipV="1">
            <a:off x="6192000" y="3789000"/>
            <a:ext cx="12700" cy="1905442"/>
          </a:xfrm>
          <a:prstGeom prst="curvedConnector3">
            <a:avLst>
              <a:gd name="adj1" fmla="val 332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85020" name="AutoShape 28"/>
          <p:cNvCxnSpPr>
            <a:cxnSpLocks noChangeShapeType="1"/>
            <a:stCxn id="85006" idx="5"/>
            <a:endCxn id="85008" idx="3"/>
          </p:cNvCxnSpPr>
          <p:nvPr/>
        </p:nvCxnSpPr>
        <p:spPr bwMode="auto">
          <a:xfrm rot="16200000" flipH="1">
            <a:off x="5112000" y="4043558"/>
            <a:ext cx="12700" cy="1905442"/>
          </a:xfrm>
          <a:prstGeom prst="curvedConnector3">
            <a:avLst>
              <a:gd name="adj1" fmla="val 1887858"/>
            </a:avLst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triangle" w="lg" len="lg"/>
          </a:ln>
        </p:spPr>
      </p:cxnSp>
      <p:cxnSp>
        <p:nvCxnSpPr>
          <p:cNvPr id="85021" name="AutoShape 29"/>
          <p:cNvCxnSpPr>
            <a:cxnSpLocks noChangeShapeType="1"/>
            <a:stCxn id="85006" idx="4"/>
            <a:endCxn id="85009" idx="4"/>
          </p:cNvCxnSpPr>
          <p:nvPr/>
        </p:nvCxnSpPr>
        <p:spPr bwMode="auto">
          <a:xfrm rot="16200000" flipH="1">
            <a:off x="5652000" y="3429000"/>
            <a:ext cx="12700" cy="3240000"/>
          </a:xfrm>
          <a:prstGeom prst="curvedConnector3">
            <a:avLst>
              <a:gd name="adj1" fmla="val 4287268"/>
            </a:avLst>
          </a:prstGeom>
          <a:noFill/>
          <a:ln w="19050">
            <a:solidFill>
              <a:srgbClr val="FF0000"/>
            </a:solidFill>
            <a:miter lim="800000"/>
            <a:headEnd type="triangle" w="lg" len="lg"/>
            <a:tailEnd type="none" w="lg" len="lg"/>
          </a:ln>
        </p:spPr>
      </p:cxnSp>
      <p:sp>
        <p:nvSpPr>
          <p:cNvPr id="85022" name="Text Box 30"/>
          <p:cNvSpPr txBox="1">
            <a:spLocks noChangeArrowheads="1"/>
          </p:cNvSpPr>
          <p:nvPr/>
        </p:nvSpPr>
        <p:spPr bwMode="auto">
          <a:xfrm>
            <a:off x="38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85023" name="Text Box 31"/>
          <p:cNvSpPr txBox="1">
            <a:spLocks noChangeArrowheads="1"/>
          </p:cNvSpPr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85025" name="Text Box 33"/>
          <p:cNvSpPr txBox="1"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5026" name="Text Box 34"/>
          <p:cNvSpPr txBox="1">
            <a:spLocks noChangeArrowheads="1"/>
          </p:cNvSpPr>
          <p:nvPr/>
        </p:nvSpPr>
        <p:spPr bwMode="auto">
          <a:xfrm>
            <a:off x="54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16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277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38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493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60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70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74375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nodeList.size();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4995" name="Line 3"/>
          <p:cNvSpPr>
            <a:spLocks noChangeShapeType="1"/>
          </p:cNvSpPr>
          <p:nvPr/>
        </p:nvSpPr>
        <p:spPr bwMode="auto">
          <a:xfrm flipH="1" flipV="1">
            <a:off x="6372000" y="486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4996" name="Oval 4"/>
          <p:cNvSpPr>
            <a:spLocks noChangeArrowheads="1"/>
          </p:cNvSpPr>
          <p:nvPr/>
        </p:nvSpPr>
        <p:spPr bwMode="auto">
          <a:xfrm>
            <a:off x="169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84997" name="Line 5"/>
          <p:cNvSpPr>
            <a:spLocks noChangeShapeType="1"/>
          </p:cNvSpPr>
          <p:nvPr/>
        </p:nvSpPr>
        <p:spPr bwMode="auto">
          <a:xfrm>
            <a:off x="205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4998" name="Line 6"/>
          <p:cNvSpPr>
            <a:spLocks noChangeShapeType="1"/>
          </p:cNvSpPr>
          <p:nvPr/>
        </p:nvSpPr>
        <p:spPr bwMode="auto">
          <a:xfrm flipH="1" flipV="1">
            <a:off x="5292000" y="486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05" name="Oval 13"/>
          <p:cNvSpPr>
            <a:spLocks noChangeArrowheads="1"/>
          </p:cNvSpPr>
          <p:nvPr/>
        </p:nvSpPr>
        <p:spPr bwMode="auto">
          <a:xfrm>
            <a:off x="277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0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6" name="Oval 14"/>
          <p:cNvSpPr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2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7" name="Oval 15"/>
          <p:cNvSpPr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6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8" name="Oval 16"/>
          <p:cNvSpPr>
            <a:spLocks noChangeArrowheads="1"/>
          </p:cNvSpPr>
          <p:nvPr/>
        </p:nvSpPr>
        <p:spPr bwMode="auto">
          <a:xfrm>
            <a:off x="601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5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9" name="Oval 17"/>
          <p:cNvSpPr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3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10" name="Line 18"/>
          <p:cNvSpPr>
            <a:spLocks noChangeShapeType="1"/>
          </p:cNvSpPr>
          <p:nvPr/>
        </p:nvSpPr>
        <p:spPr bwMode="auto">
          <a:xfrm flipH="1" flipV="1">
            <a:off x="421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11" name="Line 19"/>
          <p:cNvSpPr>
            <a:spLocks noChangeShapeType="1"/>
          </p:cNvSpPr>
          <p:nvPr/>
        </p:nvSpPr>
        <p:spPr bwMode="auto">
          <a:xfrm flipH="1" flipV="1">
            <a:off x="3132000" y="486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12" name="Text Box 20"/>
          <p:cNvSpPr txBox="1">
            <a:spLocks noChangeArrowheads="1"/>
          </p:cNvSpPr>
          <p:nvPr/>
        </p:nvSpPr>
        <p:spPr bwMode="auto">
          <a:xfrm>
            <a:off x="22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85013" name="Text Box 21"/>
          <p:cNvSpPr txBox="1">
            <a:spLocks noChangeArrowheads="1"/>
          </p:cNvSpPr>
          <p:nvPr/>
        </p:nvSpPr>
        <p:spPr bwMode="auto">
          <a:xfrm>
            <a:off x="33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85014" name="Text Box 22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85015" name="Text Box 23"/>
          <p:cNvSpPr txBox="1">
            <a:spLocks noChangeArrowheads="1"/>
          </p:cNvSpPr>
          <p:nvPr/>
        </p:nvSpPr>
        <p:spPr bwMode="auto">
          <a:xfrm>
            <a:off x="54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16" name="Text Box 24"/>
          <p:cNvSpPr txBox="1">
            <a:spLocks noChangeArrowheads="1"/>
          </p:cNvSpPr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85017" name="AutoShape 25"/>
          <p:cNvCxnSpPr>
            <a:cxnSpLocks noChangeShapeType="1"/>
            <a:stCxn id="85005" idx="7"/>
            <a:endCxn id="85007" idx="1"/>
          </p:cNvCxnSpPr>
          <p:nvPr/>
        </p:nvCxnSpPr>
        <p:spPr bwMode="auto">
          <a:xfrm rot="5400000" flipH="1" flipV="1">
            <a:off x="4032000" y="378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rgbClr val="FF0000"/>
            </a:solidFill>
            <a:miter lim="800000"/>
            <a:headEnd type="triangle" w="lg" len="lg"/>
            <a:tailEnd type="none" w="lg" len="lg"/>
          </a:ln>
        </p:spPr>
      </p:cxnSp>
      <p:cxnSp>
        <p:nvCxnSpPr>
          <p:cNvPr id="85018" name="AutoShape 26"/>
          <p:cNvCxnSpPr>
            <a:cxnSpLocks noChangeShapeType="1"/>
            <a:stCxn id="84996" idx="5"/>
            <a:endCxn id="85006" idx="3"/>
          </p:cNvCxnSpPr>
          <p:nvPr/>
        </p:nvCxnSpPr>
        <p:spPr bwMode="auto">
          <a:xfrm rot="16200000" flipH="1">
            <a:off x="2952000" y="4043558"/>
            <a:ext cx="12700" cy="1905442"/>
          </a:xfrm>
          <a:prstGeom prst="curvedConnector3">
            <a:avLst>
              <a:gd name="adj1" fmla="val 1953307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85019" name="AutoShape 27"/>
          <p:cNvCxnSpPr>
            <a:cxnSpLocks noChangeShapeType="1"/>
            <a:stCxn id="85007" idx="7"/>
            <a:endCxn id="85009" idx="1"/>
          </p:cNvCxnSpPr>
          <p:nvPr/>
        </p:nvCxnSpPr>
        <p:spPr bwMode="auto">
          <a:xfrm rot="5400000" flipH="1" flipV="1">
            <a:off x="6192000" y="3789000"/>
            <a:ext cx="12700" cy="1905442"/>
          </a:xfrm>
          <a:prstGeom prst="curvedConnector3">
            <a:avLst>
              <a:gd name="adj1" fmla="val 332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85020" name="AutoShape 28"/>
          <p:cNvCxnSpPr>
            <a:cxnSpLocks noChangeShapeType="1"/>
            <a:stCxn id="85006" idx="5"/>
            <a:endCxn id="85008" idx="3"/>
          </p:cNvCxnSpPr>
          <p:nvPr/>
        </p:nvCxnSpPr>
        <p:spPr bwMode="auto">
          <a:xfrm rot="16200000" flipH="1">
            <a:off x="5112000" y="4043558"/>
            <a:ext cx="12700" cy="1905442"/>
          </a:xfrm>
          <a:prstGeom prst="curvedConnector3">
            <a:avLst>
              <a:gd name="adj1" fmla="val 1887858"/>
            </a:avLst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triangle" w="lg" len="lg"/>
          </a:ln>
        </p:spPr>
      </p:cxnSp>
      <p:cxnSp>
        <p:nvCxnSpPr>
          <p:cNvPr id="85021" name="AutoShape 29"/>
          <p:cNvCxnSpPr>
            <a:cxnSpLocks noChangeShapeType="1"/>
            <a:stCxn id="85006" idx="4"/>
            <a:endCxn id="85009" idx="4"/>
          </p:cNvCxnSpPr>
          <p:nvPr/>
        </p:nvCxnSpPr>
        <p:spPr bwMode="auto">
          <a:xfrm rot="16200000" flipH="1">
            <a:off x="5652000" y="3429000"/>
            <a:ext cx="12700" cy="3240000"/>
          </a:xfrm>
          <a:prstGeom prst="curvedConnector3">
            <a:avLst>
              <a:gd name="adj1" fmla="val 4287268"/>
            </a:avLst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triangle" w="lg" len="lg"/>
          </a:ln>
        </p:spPr>
      </p:cxnSp>
      <p:sp>
        <p:nvSpPr>
          <p:cNvPr id="85022" name="Text Box 30"/>
          <p:cNvSpPr txBox="1">
            <a:spLocks noChangeArrowheads="1"/>
          </p:cNvSpPr>
          <p:nvPr/>
        </p:nvSpPr>
        <p:spPr bwMode="auto">
          <a:xfrm>
            <a:off x="38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85023" name="Text Box 31"/>
          <p:cNvSpPr txBox="1">
            <a:spLocks noChangeArrowheads="1"/>
          </p:cNvSpPr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85025" name="Text Box 33"/>
          <p:cNvSpPr txBox="1"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5026" name="Text Box 34"/>
          <p:cNvSpPr txBox="1">
            <a:spLocks noChangeArrowheads="1"/>
          </p:cNvSpPr>
          <p:nvPr/>
        </p:nvSpPr>
        <p:spPr bwMode="auto">
          <a:xfrm>
            <a:off x="54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16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277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38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493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60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70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12245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nodeList.size();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4995" name="Line 3"/>
          <p:cNvSpPr>
            <a:spLocks noChangeShapeType="1"/>
          </p:cNvSpPr>
          <p:nvPr/>
        </p:nvSpPr>
        <p:spPr bwMode="auto">
          <a:xfrm flipH="1" flipV="1">
            <a:off x="6372000" y="486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4996" name="Oval 4"/>
          <p:cNvSpPr>
            <a:spLocks noChangeArrowheads="1"/>
          </p:cNvSpPr>
          <p:nvPr/>
        </p:nvSpPr>
        <p:spPr bwMode="auto">
          <a:xfrm>
            <a:off x="169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84997" name="Line 5"/>
          <p:cNvSpPr>
            <a:spLocks noChangeShapeType="1"/>
          </p:cNvSpPr>
          <p:nvPr/>
        </p:nvSpPr>
        <p:spPr bwMode="auto">
          <a:xfrm>
            <a:off x="205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4998" name="Line 6"/>
          <p:cNvSpPr>
            <a:spLocks noChangeShapeType="1"/>
          </p:cNvSpPr>
          <p:nvPr/>
        </p:nvSpPr>
        <p:spPr bwMode="auto">
          <a:xfrm flipH="1" flipV="1">
            <a:off x="5292000" y="486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05" name="Oval 13"/>
          <p:cNvSpPr>
            <a:spLocks noChangeArrowheads="1"/>
          </p:cNvSpPr>
          <p:nvPr/>
        </p:nvSpPr>
        <p:spPr bwMode="auto">
          <a:xfrm>
            <a:off x="277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0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6" name="Oval 14"/>
          <p:cNvSpPr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2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7" name="Oval 15"/>
          <p:cNvSpPr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6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8" name="Oval 16"/>
          <p:cNvSpPr>
            <a:spLocks noChangeArrowheads="1"/>
          </p:cNvSpPr>
          <p:nvPr/>
        </p:nvSpPr>
        <p:spPr bwMode="auto">
          <a:xfrm>
            <a:off x="601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5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09" name="Oval 17"/>
          <p:cNvSpPr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3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85010" name="Line 18"/>
          <p:cNvSpPr>
            <a:spLocks noChangeShapeType="1"/>
          </p:cNvSpPr>
          <p:nvPr/>
        </p:nvSpPr>
        <p:spPr bwMode="auto">
          <a:xfrm flipH="1" flipV="1">
            <a:off x="4212000" y="486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11" name="Line 19"/>
          <p:cNvSpPr>
            <a:spLocks noChangeShapeType="1"/>
          </p:cNvSpPr>
          <p:nvPr/>
        </p:nvSpPr>
        <p:spPr bwMode="auto">
          <a:xfrm flipH="1" flipV="1">
            <a:off x="3132000" y="486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5012" name="Text Box 20"/>
          <p:cNvSpPr txBox="1">
            <a:spLocks noChangeArrowheads="1"/>
          </p:cNvSpPr>
          <p:nvPr/>
        </p:nvSpPr>
        <p:spPr bwMode="auto">
          <a:xfrm>
            <a:off x="22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85013" name="Text Box 21"/>
          <p:cNvSpPr txBox="1">
            <a:spLocks noChangeArrowheads="1"/>
          </p:cNvSpPr>
          <p:nvPr/>
        </p:nvSpPr>
        <p:spPr bwMode="auto">
          <a:xfrm>
            <a:off x="33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85014" name="Text Box 22"/>
          <p:cNvSpPr txBox="1"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85015" name="Text Box 23"/>
          <p:cNvSpPr txBox="1">
            <a:spLocks noChangeArrowheads="1"/>
          </p:cNvSpPr>
          <p:nvPr/>
        </p:nvSpPr>
        <p:spPr bwMode="auto">
          <a:xfrm>
            <a:off x="54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5016" name="Text Box 24"/>
          <p:cNvSpPr txBox="1">
            <a:spLocks noChangeArrowheads="1"/>
          </p:cNvSpPr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85017" name="AutoShape 25"/>
          <p:cNvCxnSpPr>
            <a:cxnSpLocks noChangeShapeType="1"/>
            <a:stCxn id="85005" idx="7"/>
            <a:endCxn id="85007" idx="1"/>
          </p:cNvCxnSpPr>
          <p:nvPr/>
        </p:nvCxnSpPr>
        <p:spPr bwMode="auto">
          <a:xfrm rot="5400000" flipH="1" flipV="1">
            <a:off x="4032000" y="378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rgbClr val="FF0000"/>
            </a:solidFill>
            <a:miter lim="800000"/>
            <a:headEnd type="triangle" w="lg" len="lg"/>
            <a:tailEnd type="none" w="lg" len="lg"/>
          </a:ln>
        </p:spPr>
      </p:cxnSp>
      <p:cxnSp>
        <p:nvCxnSpPr>
          <p:cNvPr id="85018" name="AutoShape 26"/>
          <p:cNvCxnSpPr>
            <a:cxnSpLocks noChangeShapeType="1"/>
            <a:stCxn id="84996" idx="5"/>
            <a:endCxn id="85006" idx="3"/>
          </p:cNvCxnSpPr>
          <p:nvPr/>
        </p:nvCxnSpPr>
        <p:spPr bwMode="auto">
          <a:xfrm rot="16200000" flipH="1">
            <a:off x="2952000" y="4043558"/>
            <a:ext cx="12700" cy="1905442"/>
          </a:xfrm>
          <a:prstGeom prst="curvedConnector3">
            <a:avLst>
              <a:gd name="adj1" fmla="val 1953307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85019" name="AutoShape 27"/>
          <p:cNvCxnSpPr>
            <a:cxnSpLocks noChangeShapeType="1"/>
            <a:stCxn id="85007" idx="7"/>
            <a:endCxn id="85009" idx="1"/>
          </p:cNvCxnSpPr>
          <p:nvPr/>
        </p:nvCxnSpPr>
        <p:spPr bwMode="auto">
          <a:xfrm rot="5400000" flipH="1" flipV="1">
            <a:off x="6192000" y="3789000"/>
            <a:ext cx="12700" cy="1905442"/>
          </a:xfrm>
          <a:prstGeom prst="curvedConnector3">
            <a:avLst>
              <a:gd name="adj1" fmla="val 332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85020" name="AutoShape 28"/>
          <p:cNvCxnSpPr>
            <a:cxnSpLocks noChangeShapeType="1"/>
            <a:stCxn id="85006" idx="5"/>
            <a:endCxn id="85008" idx="3"/>
          </p:cNvCxnSpPr>
          <p:nvPr/>
        </p:nvCxnSpPr>
        <p:spPr bwMode="auto">
          <a:xfrm rot="16200000" flipH="1">
            <a:off x="5112000" y="4043558"/>
            <a:ext cx="12700" cy="1905442"/>
          </a:xfrm>
          <a:prstGeom prst="curvedConnector3">
            <a:avLst>
              <a:gd name="adj1" fmla="val 1887858"/>
            </a:avLst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triangle" w="lg" len="lg"/>
          </a:ln>
        </p:spPr>
      </p:cxnSp>
      <p:cxnSp>
        <p:nvCxnSpPr>
          <p:cNvPr id="85021" name="AutoShape 29"/>
          <p:cNvCxnSpPr>
            <a:cxnSpLocks noChangeShapeType="1"/>
            <a:stCxn id="85006" idx="4"/>
            <a:endCxn id="85009" idx="4"/>
          </p:cNvCxnSpPr>
          <p:nvPr/>
        </p:nvCxnSpPr>
        <p:spPr bwMode="auto">
          <a:xfrm rot="16200000" flipH="1">
            <a:off x="5652000" y="3429000"/>
            <a:ext cx="12700" cy="3240000"/>
          </a:xfrm>
          <a:prstGeom prst="curvedConnector3">
            <a:avLst>
              <a:gd name="adj1" fmla="val 4287268"/>
            </a:avLst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triangle" w="lg" len="lg"/>
          </a:ln>
        </p:spPr>
      </p:cxnSp>
      <p:sp>
        <p:nvSpPr>
          <p:cNvPr id="85022" name="Text Box 30"/>
          <p:cNvSpPr txBox="1">
            <a:spLocks noChangeArrowheads="1"/>
          </p:cNvSpPr>
          <p:nvPr/>
        </p:nvSpPr>
        <p:spPr bwMode="auto">
          <a:xfrm>
            <a:off x="38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85023" name="Text Box 31"/>
          <p:cNvSpPr txBox="1">
            <a:spLocks noChangeArrowheads="1"/>
          </p:cNvSpPr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85025" name="Text Box 33"/>
          <p:cNvSpPr txBox="1"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5026" name="Text Box 34"/>
          <p:cNvSpPr txBox="1">
            <a:spLocks noChangeArrowheads="1"/>
          </p:cNvSpPr>
          <p:nvPr/>
        </p:nvSpPr>
        <p:spPr bwMode="auto">
          <a:xfrm>
            <a:off x="54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16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277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38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493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60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709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79256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The </a:t>
            </a:r>
            <a:r>
              <a:rPr lang="en-US" altLang="zh-TW" dirty="0" smtClean="0"/>
              <a:t>Worst-case </a:t>
            </a:r>
            <a:r>
              <a:rPr lang="en-US" altLang="zh-TW" dirty="0"/>
              <a:t>Time Complexity</a:t>
            </a:r>
            <a:endParaRPr lang="en-US" altLang="zh-TW" dirty="0" smtClean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xfrm>
            <a:off x="792000" y="1449000"/>
            <a:ext cx="7380000" cy="4860000"/>
          </a:xfrm>
        </p:spPr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zh-TW" dirty="0" smtClean="0"/>
              <a:t>For </a:t>
            </a:r>
            <a:r>
              <a:rPr lang="en-US" altLang="zh-TW" dirty="0"/>
              <a:t>each node, the edges that leave the </a:t>
            </a:r>
            <a:r>
              <a:rPr lang="en-US" altLang="zh-TW" dirty="0" smtClean="0"/>
              <a:t>node </a:t>
            </a:r>
            <a:r>
              <a:rPr lang="en-US" altLang="zh-TW" dirty="0"/>
              <a:t>are each examined exactly once.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zh-TW" dirty="0"/>
              <a:t>The worst-case </a:t>
            </a:r>
            <a:r>
              <a:rPr lang="en-US" altLang="zh-TW" dirty="0" smtClean="0"/>
              <a:t>time complexity is </a:t>
            </a:r>
            <a:r>
              <a:rPr lang="el-GR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Θ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</a:t>
            </a:r>
            <a:r>
              <a:rPr lang="en-US" altLang="zh-TW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/>
              <a:t> </a:t>
            </a:r>
            <a:r>
              <a:rPr lang="en-US" altLang="zh-TW" i="1" dirty="0" smtClean="0"/>
              <a:t>m</a:t>
            </a:r>
            <a:r>
              <a:rPr lang="en-US" altLang="zh-TW" dirty="0" smtClean="0"/>
              <a:t>), where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dirty="0"/>
              <a:t> and </a:t>
            </a:r>
            <a:r>
              <a:rPr lang="en-US" altLang="zh-TW" i="1" dirty="0"/>
              <a:t>m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spc="100" dirty="0">
                <a:latin typeface="Georgia" panose="02040502050405020303" pitchFamily="18" charset="0"/>
              </a:rPr>
              <a:t>|</a:t>
            </a:r>
            <a:r>
              <a:rPr lang="en-US" altLang="zh-TW" i="1" spc="1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dirty="0">
                <a:latin typeface="Georgia" panose="02040502050405020303" pitchFamily="18" charset="0"/>
              </a:rPr>
              <a:t>|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marL="719138" lvl="1" indent="-265113" eaLnBrk="1" hangingPunct="1">
              <a:spcBef>
                <a:spcPct val="40000"/>
              </a:spcBef>
              <a:buSzPct val="80000"/>
              <a:buFont typeface="Wingdings" pitchFamily="2" charset="2"/>
              <a:buChar char="Ø"/>
            </a:pPr>
            <a:endParaRPr lang="en-US" altLang="zh-TW" sz="600" dirty="0" smtClean="0"/>
          </a:p>
        </p:txBody>
      </p:sp>
    </p:spTree>
    <p:extLst>
      <p:ext uri="{BB962C8B-B14F-4D97-AF65-F5344CB8AC3E}">
        <p14:creationId xmlns:p14="http://schemas.microsoft.com/office/powerpoint/2010/main" val="6938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buClr>
                <a:srgbClr val="000000"/>
              </a:buClr>
              <a:buSzTx/>
            </a:pPr>
            <a:r>
              <a:rPr lang="en-US" altLang="zh-TW" dirty="0">
                <a:solidFill>
                  <a:srgbClr val="000000"/>
                </a:solidFill>
                <a:ea typeface="標楷體"/>
              </a:rPr>
              <a:t>For a graph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G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(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E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) with source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, we define the </a:t>
            </a:r>
            <a:r>
              <a:rPr lang="en-US" altLang="zh-TW" i="1" dirty="0">
                <a:solidFill>
                  <a:srgbClr val="0000FF"/>
                </a:solidFill>
                <a:ea typeface="標楷體"/>
              </a:rPr>
              <a:t>predecessor subgraph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of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G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as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(</a:t>
            </a:r>
            <a:r>
              <a:rPr lang="en-US" altLang="zh-TW" i="1" spc="300" dirty="0">
                <a:solidFill>
                  <a:srgbClr val="000000"/>
                </a:solidFill>
                <a:ea typeface="標楷體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  <a:ea typeface="標楷體"/>
                <a:sym typeface="Symbol" pitchFamily="18" charset="2"/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),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where</a:t>
            </a:r>
          </a:p>
          <a:p>
            <a:pPr marL="0" lvl="0" indent="0" eaLnBrk="1" hangingPunct="1">
              <a:buClr>
                <a:srgbClr val="000000"/>
              </a:buClr>
              <a:buSzTx/>
            </a:pPr>
            <a:r>
              <a:rPr lang="en-US" altLang="zh-TW" i="1" dirty="0">
                <a:solidFill>
                  <a:srgbClr val="000000"/>
                </a:solidFill>
                <a:ea typeface="標楷體"/>
                <a:sym typeface="Symbol" pitchFamily="18" charset="2"/>
              </a:rPr>
              <a:t>      </a:t>
            </a:r>
            <a:r>
              <a:rPr lang="en-US" altLang="zh-TW" i="1" spc="300" dirty="0">
                <a:solidFill>
                  <a:srgbClr val="000000"/>
                </a:solidFill>
                <a:ea typeface="標楷體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{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ea typeface="標楷體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: </a:t>
            </a:r>
            <a:r>
              <a:rPr lang="en-US" altLang="zh-TW" i="1" dirty="0">
                <a:solidFill>
                  <a:srgbClr val="000000"/>
                </a:solidFill>
                <a:ea typeface="細明體" panose="02020509000000000000" pitchFamily="49" charset="-120"/>
              </a:rPr>
              <a:t>paren</a:t>
            </a:r>
            <a:r>
              <a:rPr lang="en-US" altLang="zh-TW" i="1" spc="100" dirty="0">
                <a:solidFill>
                  <a:srgbClr val="00000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spc="1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i="1" spc="100" dirty="0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≠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1}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MT Extra" pitchFamily="18" charset="2"/>
              </a:rPr>
              <a:t>⋃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MT Extra" pitchFamily="18" charset="2"/>
              </a:rPr>
              <a:t> {</a:t>
            </a:r>
            <a:r>
              <a:rPr lang="en-US" altLang="zh-TW" i="1" dirty="0">
                <a:solidFill>
                  <a:srgbClr val="000000"/>
                </a:solidFill>
                <a:ea typeface="標楷體"/>
                <a:sym typeface="MT Extra" pitchFamily="18" charset="2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MT Extra" pitchFamily="18" charset="2"/>
              </a:rPr>
              <a:t>} and</a:t>
            </a:r>
          </a:p>
          <a:p>
            <a:pPr marL="0" lvl="0" indent="0" eaLnBrk="1" hangingPunct="1">
              <a:buClr>
                <a:srgbClr val="000000"/>
              </a:buClr>
              <a:buSzTx/>
            </a:pPr>
            <a:r>
              <a:rPr lang="en-US" altLang="zh-TW" i="1" dirty="0">
                <a:solidFill>
                  <a:srgbClr val="000000"/>
                </a:solidFill>
                <a:ea typeface="標楷體"/>
                <a:sym typeface="Symbol" pitchFamily="18" charset="2"/>
              </a:rPr>
              <a:t>      </a:t>
            </a:r>
            <a:r>
              <a:rPr lang="en-US" altLang="zh-TW" i="1" spc="300" dirty="0">
                <a:solidFill>
                  <a:srgbClr val="000000"/>
                </a:solidFill>
                <a:ea typeface="標楷體"/>
                <a:sym typeface="Symbol" pitchFamily="18" charset="2"/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{</a:t>
            </a:r>
            <a:r>
              <a:rPr lang="en-US" altLang="zh-TW" spc="300" dirty="0">
                <a:solidFill>
                  <a:srgbClr val="000000"/>
                </a:solidFill>
                <a:ea typeface="標楷體"/>
              </a:rPr>
              <a:t>(</a:t>
            </a:r>
            <a:r>
              <a:rPr lang="en-US" altLang="zh-TW" i="1" dirty="0">
                <a:solidFill>
                  <a:srgbClr val="000000"/>
                </a:solidFill>
                <a:ea typeface="細明體" panose="02020509000000000000" pitchFamily="49" charset="-120"/>
              </a:rPr>
              <a:t>paren</a:t>
            </a:r>
            <a:r>
              <a:rPr lang="en-US" altLang="zh-TW" i="1" spc="100" dirty="0">
                <a:solidFill>
                  <a:srgbClr val="00000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spc="1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i="1" spc="100" dirty="0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)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: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  <a:ea typeface="標楷體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MT Extra" pitchFamily="18" charset="2"/>
              </a:rPr>
              <a:t>{</a:t>
            </a:r>
            <a:r>
              <a:rPr lang="en-US" altLang="zh-TW" i="1" dirty="0">
                <a:solidFill>
                  <a:srgbClr val="000000"/>
                </a:solidFill>
                <a:ea typeface="標楷體"/>
                <a:sym typeface="MT Extra" pitchFamily="18" charset="2"/>
              </a:rPr>
              <a:t>s</a:t>
            </a:r>
            <a:r>
              <a:rPr lang="en-US" altLang="zh-TW" dirty="0" smtClean="0">
                <a:solidFill>
                  <a:srgbClr val="000000"/>
                </a:solidFill>
                <a:ea typeface="標楷體"/>
                <a:sym typeface="MT Extra" pitchFamily="18" charset="2"/>
              </a:rPr>
              <a:t>}}</a:t>
            </a:r>
            <a:r>
              <a:rPr lang="en-US" altLang="zh-TW" dirty="0" smtClean="0">
                <a:sym typeface="MT Extra" pitchFamily="18" charset="2"/>
              </a:rPr>
              <a:t>.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buSzTx/>
            </a:pPr>
            <a:endParaRPr lang="en-US" altLang="zh-TW" dirty="0" smtClean="0">
              <a:sym typeface="MT Extra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buSzTx/>
            </a:pPr>
            <a:r>
              <a:rPr lang="en-US" altLang="zh-TW" sz="2000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[0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1, 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1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, 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[2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1, 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[3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1, </a:t>
            </a:r>
            <a:r>
              <a:rPr lang="en-US" altLang="zh-TW" sz="2000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[4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3, </a:t>
            </a:r>
            <a:r>
              <a:rPr lang="en-US" altLang="zh-TW" sz="2000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[5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4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.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buSzTx/>
            </a:pPr>
            <a:endParaRPr lang="en-US" altLang="zh-TW" sz="2000" dirty="0">
              <a:solidFill>
                <a:srgbClr val="000000"/>
              </a:solidFill>
              <a:ea typeface="標楷體"/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buSzTx/>
              <a:tabLst>
                <a:tab pos="361950" algn="l"/>
              </a:tabLst>
            </a:pPr>
            <a:r>
              <a:rPr lang="en-US" altLang="zh-TW" sz="2000" i="1" spc="3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E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	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{</a:t>
            </a:r>
            <a:r>
              <a:rPr lang="en-US" altLang="zh-TW" sz="2000" spc="300" dirty="0" smtClean="0">
                <a:solidFill>
                  <a:srgbClr val="000000"/>
                </a:solidFill>
                <a:ea typeface="標楷體"/>
              </a:rPr>
              <a:t>(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[2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, 2),</a:t>
            </a:r>
            <a:r>
              <a:rPr lang="en-US" altLang="zh-TW" sz="2000" spc="300" dirty="0">
                <a:solidFill>
                  <a:srgbClr val="000000"/>
                </a:solidFill>
                <a:ea typeface="標楷體"/>
              </a:rPr>
              <a:t> (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[3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, 3), </a:t>
            </a:r>
            <a:r>
              <a:rPr lang="en-US" altLang="zh-TW" sz="2000" spc="300" dirty="0" smtClean="0">
                <a:solidFill>
                  <a:srgbClr val="000000"/>
                </a:solidFill>
                <a:ea typeface="標楷體"/>
              </a:rPr>
              <a:t>(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[4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, 4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), </a:t>
            </a:r>
            <a:r>
              <a:rPr lang="en-US" altLang="zh-TW" sz="2000" spc="300" dirty="0">
                <a:solidFill>
                  <a:srgbClr val="000000"/>
                </a:solidFill>
                <a:ea typeface="標楷體"/>
              </a:rPr>
              <a:t>(</a:t>
            </a:r>
            <a:r>
              <a:rPr lang="en-US" altLang="zh-TW" sz="2000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[5</a:t>
            </a:r>
            <a:r>
              <a:rPr lang="en-US" altLang="zh-TW" sz="20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, 5)}</a:t>
            </a:r>
            <a:endParaRPr lang="en-US" altLang="zh-TW" sz="2000" dirty="0">
              <a:solidFill>
                <a:srgbClr val="000000"/>
              </a:solidFill>
              <a:ea typeface="標楷體"/>
            </a:endParaRPr>
          </a:p>
          <a:p>
            <a:pPr marL="0" lvl="0" indent="0" eaLnBrk="1" hangingPunct="1">
              <a:buClr>
                <a:srgbClr val="000000"/>
              </a:buClr>
              <a:buSzTx/>
              <a:tabLst>
                <a:tab pos="361950" algn="l"/>
              </a:tabLst>
            </a:pP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	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{(1, 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2),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(1, 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3),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(3, 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4),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(4, 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5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)}.</a:t>
            </a:r>
          </a:p>
        </p:txBody>
      </p:sp>
      <p:sp>
        <p:nvSpPr>
          <p:cNvPr id="35" name="Line 3"/>
          <p:cNvSpPr>
            <a:spLocks noChangeShapeType="1"/>
          </p:cNvSpPr>
          <p:nvPr/>
        </p:nvSpPr>
        <p:spPr bwMode="auto">
          <a:xfrm flipH="1" flipV="1">
            <a:off x="6372000" y="522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4"/>
          <p:cNvSpPr>
            <a:spLocks noChangeArrowheads="1"/>
          </p:cNvSpPr>
          <p:nvPr/>
        </p:nvSpPr>
        <p:spPr bwMode="auto">
          <a:xfrm>
            <a:off x="16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</a:p>
        </p:txBody>
      </p:sp>
      <p:sp>
        <p:nvSpPr>
          <p:cNvPr id="37" name="Line 5"/>
          <p:cNvSpPr>
            <a:spLocks noChangeShapeType="1"/>
          </p:cNvSpPr>
          <p:nvPr/>
        </p:nvSpPr>
        <p:spPr bwMode="auto">
          <a:xfrm>
            <a:off x="2052000" y="522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H="1" flipV="1">
            <a:off x="5292000" y="522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9" name="Oval 13"/>
          <p:cNvSpPr>
            <a:spLocks noChangeArrowheads="1"/>
          </p:cNvSpPr>
          <p:nvPr/>
        </p:nvSpPr>
        <p:spPr bwMode="auto">
          <a:xfrm>
            <a:off x="27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0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40" name="Oval 14"/>
          <p:cNvSpPr>
            <a:spLocks noChangeArrowheads="1"/>
          </p:cNvSpPr>
          <p:nvPr/>
        </p:nvSpPr>
        <p:spPr bwMode="auto">
          <a:xfrm>
            <a:off x="38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2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41" name="Oval 15"/>
          <p:cNvSpPr>
            <a:spLocks noChangeArrowheads="1"/>
          </p:cNvSpPr>
          <p:nvPr/>
        </p:nvSpPr>
        <p:spPr bwMode="auto">
          <a:xfrm>
            <a:off x="49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6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42" name="Oval 16"/>
          <p:cNvSpPr>
            <a:spLocks noChangeArrowheads="1"/>
          </p:cNvSpPr>
          <p:nvPr/>
        </p:nvSpPr>
        <p:spPr bwMode="auto">
          <a:xfrm>
            <a:off x="60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5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43" name="Oval 17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3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 flipH="1" flipV="1">
            <a:off x="4212000" y="522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19"/>
          <p:cNvSpPr>
            <a:spLocks noChangeShapeType="1"/>
          </p:cNvSpPr>
          <p:nvPr/>
        </p:nvSpPr>
        <p:spPr bwMode="auto">
          <a:xfrm flipH="1" flipV="1">
            <a:off x="3132000" y="522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triangl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6" name="Text Box 20"/>
          <p:cNvSpPr txBox="1">
            <a:spLocks noChangeArrowheads="1"/>
          </p:cNvSpPr>
          <p:nvPr/>
        </p:nvSpPr>
        <p:spPr bwMode="auto">
          <a:xfrm>
            <a:off x="223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47" name="Text Box 21"/>
          <p:cNvSpPr txBox="1">
            <a:spLocks noChangeArrowheads="1"/>
          </p:cNvSpPr>
          <p:nvPr/>
        </p:nvSpPr>
        <p:spPr bwMode="auto">
          <a:xfrm>
            <a:off x="331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48" name="Text Box 22"/>
          <p:cNvSpPr txBox="1">
            <a:spLocks noChangeArrowheads="1"/>
          </p:cNvSpPr>
          <p:nvPr/>
        </p:nvSpPr>
        <p:spPr bwMode="auto">
          <a:xfrm>
            <a:off x="43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49" name="Text Box 23"/>
          <p:cNvSpPr txBox="1"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655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51" name="AutoShape 25"/>
          <p:cNvCxnSpPr>
            <a:cxnSpLocks noChangeShapeType="1"/>
            <a:stCxn id="39" idx="7"/>
            <a:endCxn id="41" idx="1"/>
          </p:cNvCxnSpPr>
          <p:nvPr/>
        </p:nvCxnSpPr>
        <p:spPr bwMode="auto">
          <a:xfrm rot="5400000" flipH="1" flipV="1">
            <a:off x="4032000" y="414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rgbClr val="FF0000"/>
            </a:solidFill>
            <a:miter lim="800000"/>
            <a:headEnd type="triangle" w="lg" len="lg"/>
            <a:tailEnd type="none" w="lg" len="lg"/>
          </a:ln>
        </p:spPr>
      </p:cxnSp>
      <p:cxnSp>
        <p:nvCxnSpPr>
          <p:cNvPr id="52" name="AutoShape 26"/>
          <p:cNvCxnSpPr>
            <a:cxnSpLocks noChangeShapeType="1"/>
            <a:stCxn id="36" idx="5"/>
            <a:endCxn id="40" idx="3"/>
          </p:cNvCxnSpPr>
          <p:nvPr/>
        </p:nvCxnSpPr>
        <p:spPr bwMode="auto">
          <a:xfrm rot="16200000" flipH="1">
            <a:off x="2952000" y="4403558"/>
            <a:ext cx="12700" cy="1905442"/>
          </a:xfrm>
          <a:prstGeom prst="curvedConnector3">
            <a:avLst>
              <a:gd name="adj1" fmla="val 1953307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53" name="AutoShape 27"/>
          <p:cNvCxnSpPr>
            <a:cxnSpLocks noChangeShapeType="1"/>
            <a:stCxn id="41" idx="7"/>
            <a:endCxn id="43" idx="1"/>
          </p:cNvCxnSpPr>
          <p:nvPr/>
        </p:nvCxnSpPr>
        <p:spPr bwMode="auto">
          <a:xfrm rot="5400000" flipH="1" flipV="1">
            <a:off x="6192000" y="4149000"/>
            <a:ext cx="12700" cy="1905442"/>
          </a:xfrm>
          <a:prstGeom prst="curvedConnector3">
            <a:avLst>
              <a:gd name="adj1" fmla="val 3327858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54" name="AutoShape 28"/>
          <p:cNvCxnSpPr>
            <a:cxnSpLocks noChangeShapeType="1"/>
            <a:stCxn id="40" idx="5"/>
            <a:endCxn id="42" idx="3"/>
          </p:cNvCxnSpPr>
          <p:nvPr/>
        </p:nvCxnSpPr>
        <p:spPr bwMode="auto">
          <a:xfrm rot="16200000" flipH="1">
            <a:off x="5112000" y="4403558"/>
            <a:ext cx="12700" cy="1905442"/>
          </a:xfrm>
          <a:prstGeom prst="curvedConnector3">
            <a:avLst>
              <a:gd name="adj1" fmla="val 1887858"/>
            </a:avLst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triangle" w="lg" len="lg"/>
          </a:ln>
        </p:spPr>
      </p:cxnSp>
      <p:cxnSp>
        <p:nvCxnSpPr>
          <p:cNvPr id="55" name="AutoShape 29"/>
          <p:cNvCxnSpPr>
            <a:cxnSpLocks noChangeShapeType="1"/>
            <a:stCxn id="40" idx="4"/>
            <a:endCxn id="43" idx="4"/>
          </p:cNvCxnSpPr>
          <p:nvPr/>
        </p:nvCxnSpPr>
        <p:spPr bwMode="auto">
          <a:xfrm rot="16200000" flipH="1">
            <a:off x="5652000" y="3789000"/>
            <a:ext cx="12700" cy="3240000"/>
          </a:xfrm>
          <a:prstGeom prst="curvedConnector3">
            <a:avLst>
              <a:gd name="adj1" fmla="val 4287268"/>
            </a:avLst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triangle" w="lg" len="lg"/>
          </a:ln>
        </p:spPr>
      </p:cxnSp>
      <p:sp>
        <p:nvSpPr>
          <p:cNvPr id="56" name="Text Box 30"/>
          <p:cNvSpPr txBox="1">
            <a:spLocks noChangeArrowheads="1"/>
          </p:cNvSpPr>
          <p:nvPr/>
        </p:nvSpPr>
        <p:spPr bwMode="auto">
          <a:xfrm>
            <a:off x="38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57" name="Text Box 31"/>
          <p:cNvSpPr txBox="1">
            <a:spLocks noChangeArrowheads="1"/>
          </p:cNvSpPr>
          <p:nvPr/>
        </p:nvSpPr>
        <p:spPr bwMode="auto">
          <a:xfrm>
            <a:off x="60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58" name="Text Box 32"/>
          <p:cNvSpPr txBox="1">
            <a:spLocks noChangeArrowheads="1"/>
          </p:cNvSpPr>
          <p:nvPr/>
        </p:nvSpPr>
        <p:spPr bwMode="auto">
          <a:xfrm>
            <a:off x="277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59" name="Text Box 33"/>
          <p:cNvSpPr txBox="1"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60" name="Text Box 34"/>
          <p:cNvSpPr txBox="1">
            <a:spLocks noChangeArrowheads="1"/>
          </p:cNvSpPr>
          <p:nvPr/>
        </p:nvSpPr>
        <p:spPr bwMode="auto">
          <a:xfrm>
            <a:off x="54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61" name="Text Box 20"/>
          <p:cNvSpPr txBox="1">
            <a:spLocks noChangeArrowheads="1"/>
          </p:cNvSpPr>
          <p:nvPr/>
        </p:nvSpPr>
        <p:spPr bwMode="auto">
          <a:xfrm>
            <a:off x="16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27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601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buClr>
                <a:srgbClr val="000000"/>
              </a:buClr>
              <a:buSzTx/>
            </a:pPr>
            <a:r>
              <a:rPr lang="en-US" altLang="zh-TW" dirty="0">
                <a:solidFill>
                  <a:srgbClr val="000000"/>
                </a:solidFill>
                <a:ea typeface="標楷體"/>
              </a:rPr>
              <a:t>For a graph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G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(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E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) with source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, we define the </a:t>
            </a:r>
            <a:r>
              <a:rPr lang="en-US" altLang="zh-TW" i="1" dirty="0">
                <a:solidFill>
                  <a:srgbClr val="0000FF"/>
                </a:solidFill>
                <a:ea typeface="標楷體"/>
              </a:rPr>
              <a:t>predecessor subgraph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of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G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as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(</a:t>
            </a:r>
            <a:r>
              <a:rPr lang="en-US" altLang="zh-TW" i="1" spc="300" dirty="0">
                <a:solidFill>
                  <a:srgbClr val="000000"/>
                </a:solidFill>
                <a:ea typeface="標楷體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  <a:ea typeface="標楷體"/>
                <a:sym typeface="Symbol" pitchFamily="18" charset="2"/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),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where</a:t>
            </a:r>
          </a:p>
          <a:p>
            <a:pPr marL="0" lvl="0" indent="0" eaLnBrk="1" hangingPunct="1">
              <a:buClr>
                <a:srgbClr val="000000"/>
              </a:buClr>
              <a:buSzTx/>
            </a:pPr>
            <a:r>
              <a:rPr lang="en-US" altLang="zh-TW" i="1" dirty="0">
                <a:solidFill>
                  <a:srgbClr val="000000"/>
                </a:solidFill>
                <a:ea typeface="標楷體"/>
                <a:sym typeface="Symbol" pitchFamily="18" charset="2"/>
              </a:rPr>
              <a:t>      </a:t>
            </a:r>
            <a:r>
              <a:rPr lang="en-US" altLang="zh-TW" i="1" spc="300" dirty="0">
                <a:solidFill>
                  <a:srgbClr val="000000"/>
                </a:solidFill>
                <a:ea typeface="標楷體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{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ea typeface="標楷體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: </a:t>
            </a:r>
            <a:r>
              <a:rPr lang="en-US" altLang="zh-TW" i="1" dirty="0">
                <a:solidFill>
                  <a:srgbClr val="000000"/>
                </a:solidFill>
                <a:ea typeface="細明體" panose="02020509000000000000" pitchFamily="49" charset="-120"/>
              </a:rPr>
              <a:t>paren</a:t>
            </a:r>
            <a:r>
              <a:rPr lang="en-US" altLang="zh-TW" i="1" spc="100" dirty="0">
                <a:solidFill>
                  <a:srgbClr val="00000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spc="1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i="1" spc="100" dirty="0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≠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1}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MT Extra" pitchFamily="18" charset="2"/>
              </a:rPr>
              <a:t>⋃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MT Extra" pitchFamily="18" charset="2"/>
              </a:rPr>
              <a:t> {</a:t>
            </a:r>
            <a:r>
              <a:rPr lang="en-US" altLang="zh-TW" i="1" dirty="0">
                <a:solidFill>
                  <a:srgbClr val="000000"/>
                </a:solidFill>
                <a:ea typeface="標楷體"/>
                <a:sym typeface="MT Extra" pitchFamily="18" charset="2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MT Extra" pitchFamily="18" charset="2"/>
              </a:rPr>
              <a:t>} and</a:t>
            </a:r>
          </a:p>
          <a:p>
            <a:pPr marL="0" lvl="0" indent="0" eaLnBrk="1" hangingPunct="1">
              <a:buClr>
                <a:srgbClr val="000000"/>
              </a:buClr>
              <a:buSzTx/>
            </a:pPr>
            <a:r>
              <a:rPr lang="en-US" altLang="zh-TW" i="1" dirty="0">
                <a:solidFill>
                  <a:srgbClr val="000000"/>
                </a:solidFill>
                <a:ea typeface="標楷體"/>
                <a:sym typeface="Symbol" pitchFamily="18" charset="2"/>
              </a:rPr>
              <a:t>      </a:t>
            </a:r>
            <a:r>
              <a:rPr lang="en-US" altLang="zh-TW" i="1" spc="300" dirty="0">
                <a:solidFill>
                  <a:srgbClr val="000000"/>
                </a:solidFill>
                <a:ea typeface="標楷體"/>
                <a:sym typeface="Symbol" pitchFamily="18" charset="2"/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{</a:t>
            </a:r>
            <a:r>
              <a:rPr lang="en-US" altLang="zh-TW" spc="300" dirty="0">
                <a:solidFill>
                  <a:srgbClr val="000000"/>
                </a:solidFill>
                <a:ea typeface="標楷體"/>
              </a:rPr>
              <a:t>(</a:t>
            </a:r>
            <a:r>
              <a:rPr lang="en-US" altLang="zh-TW" i="1" dirty="0">
                <a:solidFill>
                  <a:srgbClr val="000000"/>
                </a:solidFill>
                <a:ea typeface="細明體" panose="02020509000000000000" pitchFamily="49" charset="-120"/>
              </a:rPr>
              <a:t>paren</a:t>
            </a:r>
            <a:r>
              <a:rPr lang="en-US" altLang="zh-TW" i="1" spc="100" dirty="0">
                <a:solidFill>
                  <a:srgbClr val="00000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spc="1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i="1" spc="100" dirty="0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)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: </a:t>
            </a:r>
            <a:r>
              <a:rPr lang="en-US" altLang="zh-TW" i="1" dirty="0">
                <a:solidFill>
                  <a:srgbClr val="000000"/>
                </a:solidFill>
                <a:ea typeface="標楷體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  <a:ea typeface="標楷體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標楷體"/>
                <a:sym typeface="MT Extra" pitchFamily="18" charset="2"/>
              </a:rPr>
              <a:t>{</a:t>
            </a:r>
            <a:r>
              <a:rPr lang="en-US" altLang="zh-TW" i="1" dirty="0">
                <a:solidFill>
                  <a:srgbClr val="000000"/>
                </a:solidFill>
                <a:ea typeface="標楷體"/>
                <a:sym typeface="MT Extra" pitchFamily="18" charset="2"/>
              </a:rPr>
              <a:t>s</a:t>
            </a:r>
            <a:r>
              <a:rPr lang="en-US" altLang="zh-TW" dirty="0" smtClean="0">
                <a:solidFill>
                  <a:srgbClr val="000000"/>
                </a:solidFill>
                <a:ea typeface="標楷體"/>
                <a:sym typeface="MT Extra" pitchFamily="18" charset="2"/>
              </a:rPr>
              <a:t>}}</a:t>
            </a:r>
            <a:r>
              <a:rPr lang="en-US" altLang="zh-TW" dirty="0" smtClean="0">
                <a:sym typeface="MT Extra" pitchFamily="18" charset="2"/>
              </a:rPr>
              <a:t>.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buSzTx/>
            </a:pPr>
            <a:endParaRPr lang="en-US" altLang="zh-TW" dirty="0" smtClean="0">
              <a:sym typeface="MT Extra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buSzTx/>
            </a:pPr>
            <a:r>
              <a:rPr lang="en-US" altLang="zh-TW" sz="2000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[0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1, 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1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, 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[2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1, 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[3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1, </a:t>
            </a:r>
            <a:r>
              <a:rPr lang="en-US" altLang="zh-TW" sz="2000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[4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3, </a:t>
            </a:r>
            <a:r>
              <a:rPr lang="en-US" altLang="zh-TW" sz="2000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[5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  <a:sym typeface="Symbol" pitchFamily="18" charset="2"/>
              </a:rPr>
              <a:t> 4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.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buSzTx/>
            </a:pPr>
            <a:endParaRPr lang="en-US" altLang="zh-TW" sz="2000" dirty="0">
              <a:solidFill>
                <a:srgbClr val="000000"/>
              </a:solidFill>
              <a:ea typeface="標楷體"/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buSzTx/>
              <a:tabLst>
                <a:tab pos="361950" algn="l"/>
              </a:tabLst>
            </a:pPr>
            <a:r>
              <a:rPr lang="en-US" altLang="zh-TW" sz="2000" i="1" spc="300" dirty="0" smtClean="0">
                <a:solidFill>
                  <a:srgbClr val="000000"/>
                </a:solidFill>
                <a:ea typeface="標楷體"/>
                <a:sym typeface="Symbol" pitchFamily="18" charset="2"/>
              </a:rPr>
              <a:t>E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	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{</a:t>
            </a:r>
            <a:r>
              <a:rPr lang="en-US" altLang="zh-TW" sz="2000" spc="300" dirty="0" smtClean="0">
                <a:solidFill>
                  <a:srgbClr val="000000"/>
                </a:solidFill>
                <a:ea typeface="標楷體"/>
              </a:rPr>
              <a:t>(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[2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, 2),</a:t>
            </a:r>
            <a:r>
              <a:rPr lang="en-US" altLang="zh-TW" sz="2000" spc="300" dirty="0">
                <a:solidFill>
                  <a:srgbClr val="000000"/>
                </a:solidFill>
                <a:ea typeface="標楷體"/>
              </a:rPr>
              <a:t> (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[3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, 3), </a:t>
            </a:r>
            <a:r>
              <a:rPr lang="en-US" altLang="zh-TW" sz="2000" spc="300" dirty="0" smtClean="0">
                <a:solidFill>
                  <a:srgbClr val="000000"/>
                </a:solidFill>
                <a:ea typeface="標楷體"/>
              </a:rPr>
              <a:t>(</a:t>
            </a:r>
            <a:r>
              <a:rPr lang="en-US" altLang="zh-TW" sz="2000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>
                <a:solidFill>
                  <a:srgbClr val="000000"/>
                </a:solidFill>
                <a:ea typeface="細明體" panose="02020509000000000000" pitchFamily="49" charset="-120"/>
              </a:rPr>
              <a:t>[4</a:t>
            </a:r>
            <a:r>
              <a:rPr lang="en-US" altLang="zh-TW" sz="2000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, 4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), </a:t>
            </a:r>
            <a:r>
              <a:rPr lang="en-US" altLang="zh-TW" sz="2000" spc="300" dirty="0">
                <a:solidFill>
                  <a:srgbClr val="000000"/>
                </a:solidFill>
                <a:ea typeface="標楷體"/>
              </a:rPr>
              <a:t>(</a:t>
            </a:r>
            <a:r>
              <a:rPr lang="en-US" altLang="zh-TW" sz="2000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z="2000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[5</a:t>
            </a:r>
            <a:r>
              <a:rPr lang="en-US" altLang="zh-TW" sz="20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, 5)}</a:t>
            </a:r>
            <a:endParaRPr lang="en-US" altLang="zh-TW" sz="2000" dirty="0">
              <a:solidFill>
                <a:srgbClr val="000000"/>
              </a:solidFill>
              <a:ea typeface="標楷體"/>
            </a:endParaRPr>
          </a:p>
          <a:p>
            <a:pPr marL="0" lvl="0" indent="0" eaLnBrk="1" hangingPunct="1">
              <a:buClr>
                <a:srgbClr val="000000"/>
              </a:buClr>
              <a:buSzTx/>
              <a:tabLst>
                <a:tab pos="361950" algn="l"/>
              </a:tabLst>
            </a:pP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	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{(1, 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2),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(1, 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3),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(3, 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4), 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(4, </a:t>
            </a:r>
            <a:r>
              <a:rPr lang="en-US" altLang="zh-TW" sz="2000" dirty="0">
                <a:solidFill>
                  <a:srgbClr val="000000"/>
                </a:solidFill>
                <a:ea typeface="標楷體"/>
              </a:rPr>
              <a:t>5</a:t>
            </a:r>
            <a:r>
              <a:rPr lang="en-US" altLang="zh-TW" sz="2000" dirty="0" smtClean="0">
                <a:solidFill>
                  <a:srgbClr val="000000"/>
                </a:solidFill>
                <a:ea typeface="標楷體"/>
              </a:rPr>
              <a:t>)}.</a:t>
            </a:r>
          </a:p>
        </p:txBody>
      </p:sp>
      <p:sp>
        <p:nvSpPr>
          <p:cNvPr id="35" name="Line 3"/>
          <p:cNvSpPr>
            <a:spLocks noChangeShapeType="1"/>
          </p:cNvSpPr>
          <p:nvPr/>
        </p:nvSpPr>
        <p:spPr bwMode="auto">
          <a:xfrm flipH="1" flipV="1">
            <a:off x="6372000" y="522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H="1" flipV="1">
            <a:off x="5292000" y="522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9" name="Oval 13"/>
          <p:cNvSpPr>
            <a:spLocks noChangeArrowheads="1"/>
          </p:cNvSpPr>
          <p:nvPr/>
        </p:nvSpPr>
        <p:spPr bwMode="auto">
          <a:xfrm>
            <a:off x="27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0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40" name="Oval 14"/>
          <p:cNvSpPr>
            <a:spLocks noChangeArrowheads="1"/>
          </p:cNvSpPr>
          <p:nvPr/>
        </p:nvSpPr>
        <p:spPr bwMode="auto">
          <a:xfrm>
            <a:off x="38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2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41" name="Oval 15"/>
          <p:cNvSpPr>
            <a:spLocks noChangeArrowheads="1"/>
          </p:cNvSpPr>
          <p:nvPr/>
        </p:nvSpPr>
        <p:spPr bwMode="auto">
          <a:xfrm>
            <a:off x="49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6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42" name="Oval 16"/>
          <p:cNvSpPr>
            <a:spLocks noChangeArrowheads="1"/>
          </p:cNvSpPr>
          <p:nvPr/>
        </p:nvSpPr>
        <p:spPr bwMode="auto">
          <a:xfrm>
            <a:off x="60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5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43" name="Oval 17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sym typeface="Symbol" pitchFamily="18" charset="2"/>
              </a:rPr>
              <a:t>3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45" name="Line 19"/>
          <p:cNvSpPr>
            <a:spLocks noChangeShapeType="1"/>
          </p:cNvSpPr>
          <p:nvPr/>
        </p:nvSpPr>
        <p:spPr bwMode="auto">
          <a:xfrm flipH="1" flipV="1">
            <a:off x="3132000" y="5229000"/>
            <a:ext cx="72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triangle" w="lg" len="lg"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7" name="Text Box 21"/>
          <p:cNvSpPr txBox="1">
            <a:spLocks noChangeArrowheads="1"/>
          </p:cNvSpPr>
          <p:nvPr/>
        </p:nvSpPr>
        <p:spPr bwMode="auto">
          <a:xfrm>
            <a:off x="331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48" name="Text Box 22"/>
          <p:cNvSpPr txBox="1">
            <a:spLocks noChangeArrowheads="1"/>
          </p:cNvSpPr>
          <p:nvPr/>
        </p:nvSpPr>
        <p:spPr bwMode="auto">
          <a:xfrm>
            <a:off x="43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49" name="Text Box 23"/>
          <p:cNvSpPr txBox="1"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1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655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>
                <a:solidFill>
                  <a:srgbClr val="0000FF"/>
                </a:solidFill>
              </a:rPr>
              <a:t>2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51" name="AutoShape 25"/>
          <p:cNvCxnSpPr>
            <a:cxnSpLocks noChangeShapeType="1"/>
            <a:stCxn id="39" idx="7"/>
            <a:endCxn id="41" idx="1"/>
          </p:cNvCxnSpPr>
          <p:nvPr/>
        </p:nvCxnSpPr>
        <p:spPr bwMode="auto">
          <a:xfrm rot="5400000" flipH="1" flipV="1">
            <a:off x="4032000" y="4149000"/>
            <a:ext cx="12700" cy="1905442"/>
          </a:xfrm>
          <a:prstGeom prst="curvedConnector3">
            <a:avLst>
              <a:gd name="adj1" fmla="val 3327850"/>
            </a:avLst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triangle" w="lg" len="lg"/>
          </a:ln>
        </p:spPr>
      </p:cxnSp>
      <p:sp>
        <p:nvSpPr>
          <p:cNvPr id="56" name="Text Box 30"/>
          <p:cNvSpPr txBox="1">
            <a:spLocks noChangeArrowheads="1"/>
          </p:cNvSpPr>
          <p:nvPr/>
        </p:nvSpPr>
        <p:spPr bwMode="auto">
          <a:xfrm>
            <a:off x="385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/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27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601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6" name="Text Box 20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44168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en-US" altLang="zh-TW" dirty="0" err="1" smtClean="0"/>
              <a:t>Dijkstra’s</a:t>
            </a:r>
            <a:r>
              <a:rPr lang="en-US" altLang="zh-TW" dirty="0" smtClean="0"/>
              <a:t> Algorithm</a:t>
            </a:r>
          </a:p>
        </p:txBody>
      </p:sp>
      <p:sp>
        <p:nvSpPr>
          <p:cNvPr id="96259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</a:pPr>
            <a:r>
              <a:rPr lang="en-US" altLang="zh-TW" dirty="0" err="1" smtClean="0"/>
              <a:t>Dijkstra’s</a:t>
            </a:r>
            <a:r>
              <a:rPr lang="en-US" altLang="zh-TW" dirty="0" smtClean="0"/>
              <a:t> algorithm solves the single-source shortest-paths problem on a </a:t>
            </a:r>
            <a:r>
              <a:rPr lang="en-US" altLang="zh-TW" dirty="0" smtClean="0">
                <a:solidFill>
                  <a:schemeClr val="hlink"/>
                </a:solidFill>
              </a:rPr>
              <a:t>weighted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chemeClr val="hlink"/>
                </a:solidFill>
              </a:rPr>
              <a:t>directed</a:t>
            </a:r>
            <a:r>
              <a:rPr lang="en-US" altLang="zh-TW" dirty="0" smtClean="0"/>
              <a:t> graph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) for the case in which all edges weights are </a:t>
            </a:r>
            <a:r>
              <a:rPr lang="en-US" altLang="zh-TW" dirty="0" smtClean="0">
                <a:solidFill>
                  <a:schemeClr val="hlink"/>
                </a:solidFill>
              </a:rPr>
              <a:t>nonnegative</a:t>
            </a:r>
            <a:r>
              <a:rPr lang="en-US" altLang="zh-TW" dirty="0" smtClean="0"/>
              <a:t>.</a:t>
            </a:r>
          </a:p>
        </p:txBody>
      </p:sp>
      <p:cxnSp>
        <p:nvCxnSpPr>
          <p:cNvPr id="5" name="AutoShape 18"/>
          <p:cNvCxnSpPr>
            <a:cxnSpLocks noChangeShapeType="1"/>
            <a:stCxn id="14" idx="3"/>
            <a:endCxn id="17" idx="7"/>
          </p:cNvCxnSpPr>
          <p:nvPr/>
        </p:nvCxnSpPr>
        <p:spPr bwMode="auto">
          <a:xfrm flipH="1">
            <a:off x="3799279" y="39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2899279" y="39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22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349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 Box 46"/>
          <p:cNvSpPr txBox="1">
            <a:spLocks noChangeArrowheads="1"/>
          </p:cNvSpPr>
          <p:nvPr/>
        </p:nvSpPr>
        <p:spPr bwMode="auto">
          <a:xfrm>
            <a:off x="529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0" name="Text Box 48"/>
          <p:cNvSpPr txBox="1">
            <a:spLocks noChangeArrowheads="1"/>
          </p:cNvSpPr>
          <p:nvPr/>
        </p:nvSpPr>
        <p:spPr bwMode="auto">
          <a:xfrm>
            <a:off x="349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1" name="Text Box 49"/>
          <p:cNvSpPr txBox="1"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2" name="Text Box 50"/>
          <p:cNvSpPr txBox="1">
            <a:spLocks noChangeArrowheads="1"/>
          </p:cNvSpPr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3" name="Oval 52"/>
          <p:cNvSpPr>
            <a:spLocks noChangeArrowheads="1"/>
          </p:cNvSpPr>
          <p:nvPr/>
        </p:nvSpPr>
        <p:spPr bwMode="auto">
          <a:xfrm>
            <a:off x="3492000" y="36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4" name="Oval 53"/>
          <p:cNvSpPr>
            <a:spLocks noChangeArrowheads="1"/>
          </p:cNvSpPr>
          <p:nvPr/>
        </p:nvSpPr>
        <p:spPr bwMode="auto">
          <a:xfrm>
            <a:off x="5292000" y="36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5" name="Oval 54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6" name="Oval 55"/>
          <p:cNvSpPr>
            <a:spLocks noChangeArrowheads="1"/>
          </p:cNvSpPr>
          <p:nvPr/>
        </p:nvSpPr>
        <p:spPr bwMode="auto">
          <a:xfrm>
            <a:off x="2592000" y="45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7" name="Oval 56"/>
          <p:cNvSpPr>
            <a:spLocks noChangeArrowheads="1"/>
          </p:cNvSpPr>
          <p:nvPr/>
        </p:nvSpPr>
        <p:spPr bwMode="auto">
          <a:xfrm>
            <a:off x="3492000" y="54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8" name="Oval 57"/>
          <p:cNvSpPr>
            <a:spLocks noChangeArrowheads="1"/>
          </p:cNvSpPr>
          <p:nvPr/>
        </p:nvSpPr>
        <p:spPr bwMode="auto">
          <a:xfrm>
            <a:off x="5292000" y="54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19" name="AutoShape 24"/>
          <p:cNvCxnSpPr>
            <a:cxnSpLocks noChangeShapeType="1"/>
            <a:stCxn id="18" idx="7"/>
            <a:endCxn id="15" idx="3"/>
          </p:cNvCxnSpPr>
          <p:nvPr/>
        </p:nvCxnSpPr>
        <p:spPr bwMode="auto">
          <a:xfrm flipV="1">
            <a:off x="5599279" y="48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6" idx="5"/>
            <a:endCxn id="17" idx="1"/>
          </p:cNvCxnSpPr>
          <p:nvPr/>
        </p:nvCxnSpPr>
        <p:spPr bwMode="auto">
          <a:xfrm>
            <a:off x="2899279" y="48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3" idx="4"/>
            <a:endCxn id="17" idx="0"/>
          </p:cNvCxnSpPr>
          <p:nvPr/>
        </p:nvCxnSpPr>
        <p:spPr bwMode="auto">
          <a:xfrm>
            <a:off x="3672000" y="39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5599279" y="39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3" idx="6"/>
            <a:endCxn id="14" idx="2"/>
          </p:cNvCxnSpPr>
          <p:nvPr/>
        </p:nvCxnSpPr>
        <p:spPr bwMode="auto">
          <a:xfrm>
            <a:off x="3852000" y="37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4" name="AutoShape 24"/>
          <p:cNvCxnSpPr>
            <a:cxnSpLocks noChangeShapeType="1"/>
            <a:stCxn id="17" idx="6"/>
            <a:endCxn id="18" idx="2"/>
          </p:cNvCxnSpPr>
          <p:nvPr/>
        </p:nvCxnSpPr>
        <p:spPr bwMode="auto">
          <a:xfrm>
            <a:off x="3852000" y="55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5" name="AutoShape 24"/>
          <p:cNvCxnSpPr>
            <a:cxnSpLocks noChangeShapeType="1"/>
            <a:stCxn id="14" idx="4"/>
            <a:endCxn id="18" idx="0"/>
          </p:cNvCxnSpPr>
          <p:nvPr/>
        </p:nvCxnSpPr>
        <p:spPr bwMode="auto">
          <a:xfrm>
            <a:off x="5472000" y="39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9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439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4392000" y="55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33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54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5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583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34" name="Text Box 44"/>
          <p:cNvSpPr txBox="1">
            <a:spLocks noChangeArrowheads="1"/>
          </p:cNvSpPr>
          <p:nvPr/>
        </p:nvSpPr>
        <p:spPr bwMode="auto">
          <a:xfrm>
            <a:off x="295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en-US" altLang="zh-TW" dirty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Dijkstra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</p:txBody>
      </p:sp>
    </p:spTree>
    <p:extLst>
      <p:ext uri="{BB962C8B-B14F-4D97-AF65-F5344CB8AC3E}">
        <p14:creationId xmlns:p14="http://schemas.microsoft.com/office/powerpoint/2010/main" val="492233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0428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&gt;::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&gt;::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min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Q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 it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Q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it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it ] &lt; d[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min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min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it;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min;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Q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min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02459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Dijkstra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2240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31" name="AutoShape 24"/>
          <p:cNvCxnSpPr>
            <a:cxnSpLocks noChangeShapeType="1"/>
            <a:stCxn id="44" idx="7"/>
            <a:endCxn id="41" idx="3"/>
          </p:cNvCxnSpPr>
          <p:nvPr/>
        </p:nvCxnSpPr>
        <p:spPr bwMode="auto">
          <a:xfrm flipV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2" name="AutoShape 24"/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720761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31" name="AutoShape 24"/>
          <p:cNvCxnSpPr>
            <a:cxnSpLocks noChangeShapeType="1"/>
            <a:stCxn id="44" idx="7"/>
            <a:endCxn id="41" idx="3"/>
          </p:cNvCxnSpPr>
          <p:nvPr/>
        </p:nvCxnSpPr>
        <p:spPr bwMode="auto">
          <a:xfrm flipV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2" name="AutoShape 24"/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30743129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31" name="AutoShape 24"/>
          <p:cNvCxnSpPr>
            <a:cxnSpLocks noChangeShapeType="1"/>
            <a:stCxn id="41" idx="3"/>
            <a:endCxn id="44" idx="7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5" idx="1"/>
            <a:endCxn id="44" idx="5"/>
          </p:cNvCxnSpPr>
          <p:nvPr/>
        </p:nvCxnSpPr>
        <p:spPr bwMode="auto">
          <a:xfrm flipH="1" flipV="1"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2" name="AutoShape 24"/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24675588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2" name="AutoShape 24"/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40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0" name="AutoShape 24"/>
          <p:cNvCxnSpPr>
            <a:cxnSpLocks noChangeShapeType="1"/>
          </p:cNvCxnSpPr>
          <p:nvPr/>
        </p:nvCxnSpPr>
        <p:spPr bwMode="auto">
          <a:xfrm flipH="1" flipV="1"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7530483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2" name="AutoShape 24"/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40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0" name="AutoShape 24"/>
          <p:cNvCxnSpPr>
            <a:cxnSpLocks noChangeShapeType="1"/>
          </p:cNvCxnSpPr>
          <p:nvPr/>
        </p:nvCxnSpPr>
        <p:spPr bwMode="auto">
          <a:xfrm flipH="1" flipV="1"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642062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31" name="AutoShape 24"/>
          <p:cNvCxnSpPr>
            <a:cxnSpLocks noChangeShapeType="1"/>
            <a:stCxn id="41" idx="3"/>
            <a:endCxn id="44" idx="7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5" idx="0"/>
            <a:endCxn id="41" idx="4"/>
          </p:cNvCxnSpPr>
          <p:nvPr/>
        </p:nvCxnSpPr>
        <p:spPr bwMode="auto">
          <a:xfrm flipV="1"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2" name="AutoShape 24"/>
          <p:cNvCxnSpPr>
            <a:cxnSpLocks noChangeShapeType="1"/>
            <a:stCxn id="42" idx="2"/>
            <a:endCxn id="41" idx="6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3014039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7" name="AutoShape 24"/>
          <p:cNvCxnSpPr>
            <a:cxnSpLocks noChangeShapeType="1"/>
          </p:cNvCxnSpPr>
          <p:nvPr/>
        </p:nvCxnSpPr>
        <p:spPr bwMode="auto">
          <a:xfrm flipV="1"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975099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7" name="AutoShape 24"/>
          <p:cNvCxnSpPr>
            <a:cxnSpLocks noChangeShapeType="1"/>
          </p:cNvCxnSpPr>
          <p:nvPr/>
        </p:nvCxnSpPr>
        <p:spPr bwMode="auto">
          <a:xfrm flipV="1"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4599247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6" idx="0"/>
            <a:endCxn id="42" idx="4"/>
          </p:cNvCxnSpPr>
          <p:nvPr/>
        </p:nvCxnSpPr>
        <p:spPr bwMode="auto">
          <a:xfrm flipV="1"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9392570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6" idx="0"/>
            <a:endCxn id="42" idx="4"/>
          </p:cNvCxnSpPr>
          <p:nvPr/>
        </p:nvCxnSpPr>
        <p:spPr bwMode="auto">
          <a:xfrm flipV="1"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3311062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6" idx="0"/>
            <a:endCxn id="42" idx="4"/>
          </p:cNvCxnSpPr>
          <p:nvPr/>
        </p:nvCxnSpPr>
        <p:spPr bwMode="auto">
          <a:xfrm flipV="1"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4240971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6328055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8699044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3732158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6029465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3" idx="3"/>
            <a:endCxn id="46" idx="7"/>
          </p:cNvCxnSpPr>
          <p:nvPr/>
        </p:nvCxnSpPr>
        <p:spPr bwMode="auto">
          <a:xfrm flipH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1364931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3" idx="3"/>
            <a:endCxn id="46" idx="7"/>
          </p:cNvCxnSpPr>
          <p:nvPr/>
        </p:nvCxnSpPr>
        <p:spPr bwMode="auto">
          <a:xfrm flipH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4784780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3" idx="3"/>
            <a:endCxn id="46" idx="7"/>
          </p:cNvCxnSpPr>
          <p:nvPr/>
        </p:nvCxnSpPr>
        <p:spPr bwMode="auto">
          <a:xfrm flipH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85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0562287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3" idx="3"/>
            <a:endCxn id="46" idx="7"/>
          </p:cNvCxnSpPr>
          <p:nvPr/>
        </p:nvCxnSpPr>
        <p:spPr bwMode="auto">
          <a:xfrm flipH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85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8120595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1788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31" name="AutoShape 24"/>
          <p:cNvCxnSpPr>
            <a:cxnSpLocks noChangeShapeType="1"/>
            <a:stCxn id="44" idx="7"/>
            <a:endCxn id="41" idx="3"/>
          </p:cNvCxnSpPr>
          <p:nvPr/>
        </p:nvCxnSpPr>
        <p:spPr bwMode="auto">
          <a:xfrm flipV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2" name="AutoShape 24"/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349925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31" name="AutoShape 24"/>
          <p:cNvCxnSpPr>
            <a:cxnSpLocks noChangeShapeType="1"/>
            <a:stCxn id="44" idx="7"/>
            <a:endCxn id="41" idx="3"/>
          </p:cNvCxnSpPr>
          <p:nvPr/>
        </p:nvCxnSpPr>
        <p:spPr bwMode="auto">
          <a:xfrm flipV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2" name="AutoShape 24"/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9783348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31" name="AutoShape 24"/>
          <p:cNvCxnSpPr>
            <a:cxnSpLocks noChangeShapeType="1"/>
            <a:stCxn id="41" idx="3"/>
            <a:endCxn id="44" idx="7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5" idx="1"/>
            <a:endCxn id="44" idx="5"/>
          </p:cNvCxnSpPr>
          <p:nvPr/>
        </p:nvCxnSpPr>
        <p:spPr bwMode="auto">
          <a:xfrm flipH="1" flipV="1"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2" name="AutoShape 24"/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2372328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2" name="AutoShape 24"/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40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0" name="AutoShape 24"/>
          <p:cNvCxnSpPr>
            <a:cxnSpLocks noChangeShapeType="1"/>
          </p:cNvCxnSpPr>
          <p:nvPr/>
        </p:nvCxnSpPr>
        <p:spPr bwMode="auto">
          <a:xfrm flipH="1" flipV="1"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7102090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2" name="AutoShape 24"/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40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0" name="AutoShape 24"/>
          <p:cNvCxnSpPr>
            <a:cxnSpLocks noChangeShapeType="1"/>
          </p:cNvCxnSpPr>
          <p:nvPr/>
        </p:nvCxnSpPr>
        <p:spPr bwMode="auto">
          <a:xfrm flipH="1" flipV="1"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0059164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31" name="AutoShape 24"/>
          <p:cNvCxnSpPr>
            <a:cxnSpLocks noChangeShapeType="1"/>
            <a:stCxn id="41" idx="3"/>
            <a:endCxn id="44" idx="7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5" idx="0"/>
            <a:endCxn id="41" idx="4"/>
          </p:cNvCxnSpPr>
          <p:nvPr/>
        </p:nvCxnSpPr>
        <p:spPr bwMode="auto">
          <a:xfrm flipV="1"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2" name="AutoShape 24"/>
          <p:cNvCxnSpPr>
            <a:cxnSpLocks noChangeShapeType="1"/>
            <a:stCxn id="42" idx="2"/>
            <a:endCxn id="41" idx="6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5989961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7" name="AutoShape 24"/>
          <p:cNvCxnSpPr>
            <a:cxnSpLocks noChangeShapeType="1"/>
          </p:cNvCxnSpPr>
          <p:nvPr/>
        </p:nvCxnSpPr>
        <p:spPr bwMode="auto">
          <a:xfrm flipV="1"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3340702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2" idx="3"/>
            <a:endCxn id="45" idx="7"/>
          </p:cNvCxnSpPr>
          <p:nvPr/>
        </p:nvCxnSpPr>
        <p:spPr bwMode="auto">
          <a:xfrm flipH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7" name="AutoShape 24"/>
          <p:cNvCxnSpPr>
            <a:cxnSpLocks noChangeShapeType="1"/>
          </p:cNvCxnSpPr>
          <p:nvPr/>
        </p:nvCxnSpPr>
        <p:spPr bwMode="auto">
          <a:xfrm flipV="1"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3696878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4" name="AutoShape 24"/>
          <p:cNvCxnSpPr>
            <a:cxnSpLocks noChangeShapeType="1"/>
            <a:stCxn id="46" idx="0"/>
            <a:endCxn id="42" idx="4"/>
          </p:cNvCxnSpPr>
          <p:nvPr/>
        </p:nvCxnSpPr>
        <p:spPr bwMode="auto">
          <a:xfrm flipV="1"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8605903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4" name="AutoShape 24"/>
          <p:cNvCxnSpPr>
            <a:cxnSpLocks noChangeShapeType="1"/>
            <a:stCxn id="46" idx="0"/>
            <a:endCxn id="42" idx="4"/>
          </p:cNvCxnSpPr>
          <p:nvPr/>
        </p:nvCxnSpPr>
        <p:spPr bwMode="auto">
          <a:xfrm flipV="1"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4536400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5" idx="6"/>
            <a:endCxn id="46" idx="2"/>
          </p:cNvCxnSpPr>
          <p:nvPr/>
        </p:nvCxnSpPr>
        <p:spPr bwMode="auto">
          <a:xfrm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4" name="AutoShape 24"/>
          <p:cNvCxnSpPr>
            <a:cxnSpLocks noChangeShapeType="1"/>
            <a:stCxn id="46" idx="0"/>
            <a:endCxn id="42" idx="4"/>
          </p:cNvCxnSpPr>
          <p:nvPr/>
        </p:nvCxnSpPr>
        <p:spPr bwMode="auto">
          <a:xfrm flipV="1"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5393001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6138236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1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1896956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8747023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19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6" idx="7"/>
            <a:endCxn id="43" idx="3"/>
          </p:cNvCxnSpPr>
          <p:nvPr/>
        </p:nvCxnSpPr>
        <p:spPr bwMode="auto">
          <a:xfrm flipV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3" idx="1"/>
            <a:endCxn id="42" idx="5"/>
          </p:cNvCxnSpPr>
          <p:nvPr/>
        </p:nvCxnSpPr>
        <p:spPr bwMode="auto">
          <a:xfrm flipH="1" flipV="1"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1543939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3" idx="3"/>
            <a:endCxn id="46" idx="7"/>
          </p:cNvCxnSpPr>
          <p:nvPr/>
        </p:nvCxnSpPr>
        <p:spPr bwMode="auto">
          <a:xfrm flipH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0223564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3" idx="3"/>
            <a:endCxn id="46" idx="7"/>
          </p:cNvCxnSpPr>
          <p:nvPr/>
        </p:nvCxnSpPr>
        <p:spPr bwMode="auto">
          <a:xfrm flipH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6912000" y="63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6862372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3" idx="3"/>
            <a:endCxn id="46" idx="7"/>
          </p:cNvCxnSpPr>
          <p:nvPr/>
        </p:nvCxnSpPr>
        <p:spPr bwMode="auto">
          <a:xfrm flipH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85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8736373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cxnSp>
        <p:nvCxnSpPr>
          <p:cNvPr id="29" name="AutoShape 18"/>
          <p:cNvCxnSpPr>
            <a:cxnSpLocks noChangeShapeType="1"/>
            <a:stCxn id="45" idx="7"/>
            <a:endCxn id="42" idx="3"/>
          </p:cNvCxnSpPr>
          <p:nvPr/>
        </p:nvCxnSpPr>
        <p:spPr bwMode="auto">
          <a:xfrm flipV="1">
            <a:off x="5419279" y="409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385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9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51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8" name="Text Box 49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39" name="Text Box 50"/>
          <p:cNvSpPr txBox="1">
            <a:spLocks noChangeArrowheads="1"/>
          </p:cNvSpPr>
          <p:nvPr/>
        </p:nvSpPr>
        <p:spPr bwMode="auto">
          <a:xfrm>
            <a:off x="817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1" name="Oval 52"/>
          <p:cNvSpPr>
            <a:spLocks noChangeArrowheads="1"/>
          </p:cNvSpPr>
          <p:nvPr/>
        </p:nvSpPr>
        <p:spPr bwMode="auto">
          <a:xfrm>
            <a:off x="51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2" name="Oval 53"/>
          <p:cNvSpPr>
            <a:spLocks noChangeArrowheads="1"/>
          </p:cNvSpPr>
          <p:nvPr/>
        </p:nvSpPr>
        <p:spPr bwMode="auto">
          <a:xfrm>
            <a:off x="6912000" y="37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3" name="Oval 54"/>
          <p:cNvSpPr>
            <a:spLocks noChangeArrowheads="1"/>
          </p:cNvSpPr>
          <p:nvPr/>
        </p:nvSpPr>
        <p:spPr bwMode="auto">
          <a:xfrm>
            <a:off x="78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17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4" name="Oval 55"/>
          <p:cNvSpPr>
            <a:spLocks noChangeArrowheads="1"/>
          </p:cNvSpPr>
          <p:nvPr/>
        </p:nvSpPr>
        <p:spPr bwMode="auto">
          <a:xfrm>
            <a:off x="4212000" y="46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5" name="Oval 56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6" name="Oval 57"/>
          <p:cNvSpPr>
            <a:spLocks noChangeArrowheads="1"/>
          </p:cNvSpPr>
          <p:nvPr/>
        </p:nvSpPr>
        <p:spPr bwMode="auto">
          <a:xfrm>
            <a:off x="6912000" y="558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13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7" name="AutoShape 24"/>
          <p:cNvCxnSpPr>
            <a:cxnSpLocks noChangeShapeType="1"/>
            <a:stCxn id="43" idx="3"/>
            <a:endCxn id="46" idx="7"/>
          </p:cNvCxnSpPr>
          <p:nvPr/>
        </p:nvCxnSpPr>
        <p:spPr bwMode="auto">
          <a:xfrm flipH="1">
            <a:off x="72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8" name="AutoShape 24"/>
          <p:cNvCxnSpPr>
            <a:cxnSpLocks noChangeShapeType="1"/>
            <a:stCxn id="44" idx="5"/>
            <a:endCxn id="45" idx="1"/>
          </p:cNvCxnSpPr>
          <p:nvPr/>
        </p:nvCxnSpPr>
        <p:spPr bwMode="auto">
          <a:xfrm>
            <a:off x="4519279" y="499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49" name="AutoShape 24"/>
          <p:cNvCxnSpPr>
            <a:cxnSpLocks noChangeShapeType="1"/>
            <a:stCxn id="41" idx="4"/>
            <a:endCxn id="45" idx="0"/>
          </p:cNvCxnSpPr>
          <p:nvPr/>
        </p:nvCxnSpPr>
        <p:spPr bwMode="auto">
          <a:xfrm>
            <a:off x="5292000" y="414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1" name="AutoShape 24"/>
          <p:cNvCxnSpPr>
            <a:cxnSpLocks noChangeShapeType="1"/>
            <a:stCxn id="42" idx="5"/>
            <a:endCxn id="43" idx="1"/>
          </p:cNvCxnSpPr>
          <p:nvPr/>
        </p:nvCxnSpPr>
        <p:spPr bwMode="auto">
          <a:xfrm>
            <a:off x="7219279" y="4096279"/>
            <a:ext cx="645442" cy="64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3" name="AutoShape 24"/>
          <p:cNvCxnSpPr>
            <a:cxnSpLocks noChangeShapeType="1"/>
            <a:stCxn id="46" idx="2"/>
            <a:endCxn id="45" idx="6"/>
          </p:cNvCxnSpPr>
          <p:nvPr/>
        </p:nvCxnSpPr>
        <p:spPr bwMode="auto">
          <a:xfrm flipH="1">
            <a:off x="5472000" y="57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4" name="AutoShape 24"/>
          <p:cNvCxnSpPr>
            <a:cxnSpLocks noChangeShapeType="1"/>
            <a:stCxn id="42" idx="4"/>
            <a:endCxn id="46" idx="0"/>
          </p:cNvCxnSpPr>
          <p:nvPr/>
        </p:nvCxnSpPr>
        <p:spPr bwMode="auto">
          <a:xfrm>
            <a:off x="7092000" y="4149000"/>
            <a:ext cx="0" cy="14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45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0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6" name="Text Box 44"/>
          <p:cNvSpPr txBox="1">
            <a:spLocks noChangeArrowheads="1"/>
          </p:cNvSpPr>
          <p:nvPr/>
        </p:nvSpPr>
        <p:spPr bwMode="auto">
          <a:xfrm>
            <a:off x="6012000" y="57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70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19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0" name="Text Box 44"/>
          <p:cNvSpPr txBox="1">
            <a:spLocks noChangeArrowheads="1"/>
          </p:cNvSpPr>
          <p:nvPr/>
        </p:nvSpPr>
        <p:spPr bwMode="auto">
          <a:xfrm>
            <a:off x="74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1" name="Text Box 44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2" name="Text Box 44"/>
          <p:cNvSpPr txBox="1">
            <a:spLocks noChangeArrowheads="1"/>
          </p:cNvSpPr>
          <p:nvPr/>
        </p:nvSpPr>
        <p:spPr bwMode="auto">
          <a:xfrm>
            <a:off x="45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853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5" name="AutoShape 24"/>
          <p:cNvCxnSpPr>
            <a:cxnSpLocks noChangeShapeType="1"/>
          </p:cNvCxnSpPr>
          <p:nvPr/>
        </p:nvCxnSpPr>
        <p:spPr bwMode="auto">
          <a:xfrm flipH="1">
            <a:off x="4519279" y="409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56" name="AutoShape 24"/>
          <p:cNvCxnSpPr>
            <a:cxnSpLocks noChangeShapeType="1"/>
          </p:cNvCxnSpPr>
          <p:nvPr/>
        </p:nvCxnSpPr>
        <p:spPr bwMode="auto">
          <a:xfrm flipH="1">
            <a:off x="5472000" y="396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3094359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Dijkstra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59142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</a:pPr>
            <a:r>
              <a:rPr lang="en-US" altLang="zh-TW" i="1" dirty="0" smtClean="0">
                <a:solidFill>
                  <a:srgbClr val="0000FF"/>
                </a:solidFill>
              </a:rPr>
              <a:t>Theorem 1</a:t>
            </a:r>
            <a:r>
              <a:rPr lang="en-US" altLang="zh-TW" dirty="0" smtClean="0">
                <a:solidFill>
                  <a:srgbClr val="0000FF"/>
                </a:solidFill>
              </a:rPr>
              <a:t> (</a:t>
            </a:r>
            <a:r>
              <a:rPr lang="en-US" altLang="zh-TW" i="1" dirty="0" smtClean="0">
                <a:solidFill>
                  <a:srgbClr val="0000FF"/>
                </a:solidFill>
              </a:rPr>
              <a:t>Correctness of </a:t>
            </a:r>
            <a:r>
              <a:rPr lang="en-US" altLang="zh-TW" i="1" dirty="0" err="1" smtClean="0">
                <a:solidFill>
                  <a:srgbClr val="0000FF"/>
                </a:solidFill>
              </a:rPr>
              <a:t>Dijkstra’s</a:t>
            </a:r>
            <a:r>
              <a:rPr lang="en-US" altLang="zh-TW" i="1" dirty="0" smtClean="0">
                <a:solidFill>
                  <a:srgbClr val="0000FF"/>
                </a:solidFill>
              </a:rPr>
              <a:t> algorithm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marL="0" indent="0" eaLnBrk="1" hangingPunct="1">
              <a:lnSpc>
                <a:spcPct val="110000"/>
              </a:lnSpc>
            </a:pPr>
            <a:r>
              <a:rPr lang="en-US" altLang="zh-TW" dirty="0" err="1" smtClean="0"/>
              <a:t>Dijkstra’s</a:t>
            </a:r>
            <a:r>
              <a:rPr lang="en-US" altLang="zh-TW" dirty="0" smtClean="0"/>
              <a:t> algorithm, run on a weighted, directed graph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) with nonnegative weight function </a:t>
            </a:r>
            <a:r>
              <a:rPr lang="en-US" altLang="zh-TW" i="1" dirty="0" smtClean="0"/>
              <a:t>w</a:t>
            </a:r>
            <a:r>
              <a:rPr lang="en-US" altLang="zh-TW" dirty="0" smtClean="0"/>
              <a:t> and source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, terminates with   </a:t>
            </a:r>
            <a:r>
              <a:rPr lang="en-US" altLang="zh-TW" i="1" spc="300" dirty="0" smtClean="0"/>
              <a:t>d</a:t>
            </a:r>
            <a:r>
              <a:rPr lang="en-US" altLang="zh-TW" spc="300" dirty="0" smtClean="0"/>
              <a:t>[</a:t>
            </a:r>
            <a:r>
              <a:rPr lang="en-US" altLang="zh-TW" i="1" spc="300" dirty="0" smtClean="0"/>
              <a:t>u</a:t>
            </a:r>
            <a:r>
              <a:rPr lang="en-US" altLang="zh-TW" dirty="0" smtClean="0"/>
              <a:t>]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i="1" dirty="0" smtClean="0">
                <a:sym typeface="Symbol" pitchFamily="18" charset="2"/>
              </a:rPr>
              <a:t></a:t>
            </a:r>
            <a:r>
              <a:rPr lang="en-US" altLang="zh-TW" sz="1200" i="1" dirty="0" smtClean="0">
                <a:sym typeface="Symbol" pitchFamily="18" charset="2"/>
              </a:rPr>
              <a:t> 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smtClean="0">
                <a:sym typeface="Symbol" pitchFamily="18" charset="2"/>
              </a:rPr>
              <a:t>s</a:t>
            </a:r>
            <a:r>
              <a:rPr lang="en-US" altLang="zh-TW" dirty="0" smtClean="0">
                <a:sym typeface="Symbol" pitchFamily="18" charset="2"/>
              </a:rPr>
              <a:t>, </a:t>
            </a:r>
            <a:r>
              <a:rPr lang="en-US" altLang="zh-TW" i="1" dirty="0" smtClean="0">
                <a:sym typeface="Symbol" pitchFamily="18" charset="2"/>
              </a:rPr>
              <a:t>u</a:t>
            </a:r>
            <a:r>
              <a:rPr lang="en-US" altLang="zh-TW" dirty="0" smtClean="0">
                <a:sym typeface="Symbol" pitchFamily="18" charset="2"/>
              </a:rPr>
              <a:t>)</a:t>
            </a:r>
            <a:r>
              <a:rPr lang="en-US" altLang="zh-TW" dirty="0" smtClean="0"/>
              <a:t> for all nodes </a:t>
            </a:r>
            <a:r>
              <a:rPr lang="en-US" altLang="zh-TW" i="1" dirty="0" smtClean="0"/>
              <a:t>u</a:t>
            </a:r>
            <a:r>
              <a:rPr lang="en-US" altLang="zh-TW" dirty="0" smtClean="0"/>
              <a:t> 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∈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i="1" dirty="0" smtClean="0">
                <a:sym typeface="Symbol" pitchFamily="18" charset="2"/>
              </a:rPr>
              <a:t>V</a:t>
            </a:r>
            <a:r>
              <a:rPr lang="en-US" altLang="zh-TW" dirty="0" smtClean="0"/>
              <a:t>.</a:t>
            </a:r>
          </a:p>
          <a:p>
            <a:pPr marL="0" indent="0" eaLnBrk="1" hangingPunct="1">
              <a:lnSpc>
                <a:spcPct val="110000"/>
              </a:lnSpc>
            </a:pPr>
            <a:endParaRPr lang="en-US" altLang="zh-TW" dirty="0" smtClean="0"/>
          </a:p>
          <a:p>
            <a:pPr marL="0" indent="0" eaLnBrk="1" hangingPunct="1">
              <a:lnSpc>
                <a:spcPct val="110000"/>
              </a:lnSpc>
            </a:pPr>
            <a:r>
              <a:rPr lang="en-US" altLang="zh-TW" i="1" dirty="0" smtClean="0">
                <a:solidFill>
                  <a:srgbClr val="0000FF"/>
                </a:solidFill>
              </a:rPr>
              <a:t>Corollary 2</a:t>
            </a:r>
          </a:p>
          <a:p>
            <a:pPr marL="0" indent="0" eaLnBrk="1" hangingPunct="1">
              <a:lnSpc>
                <a:spcPct val="110000"/>
              </a:lnSpc>
            </a:pPr>
            <a:r>
              <a:rPr lang="en-US" altLang="zh-TW" dirty="0" smtClean="0"/>
              <a:t>If we run </a:t>
            </a:r>
            <a:r>
              <a:rPr lang="en-US" altLang="zh-TW" dirty="0" err="1" smtClean="0"/>
              <a:t>Dijkstra’s</a:t>
            </a:r>
            <a:r>
              <a:rPr lang="en-US" altLang="zh-TW" dirty="0" smtClean="0"/>
              <a:t> algorithm on a weighted, directed graph         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) with nonnegative weight function </a:t>
            </a:r>
            <a:r>
              <a:rPr lang="en-US" altLang="zh-TW" i="1" dirty="0" smtClean="0"/>
              <a:t>w</a:t>
            </a:r>
            <a:r>
              <a:rPr lang="en-US" altLang="zh-TW" dirty="0" smtClean="0"/>
              <a:t> and source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, then at termination, the predecessor subgraph </a:t>
            </a:r>
            <a:r>
              <a:rPr lang="en-US" altLang="zh-TW" i="1" spc="-150" dirty="0" smtClean="0"/>
              <a:t>T</a:t>
            </a:r>
            <a:r>
              <a:rPr lang="en-US" altLang="zh-TW" dirty="0" smtClean="0"/>
              <a:t> is a shortest-paths tree rooted at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The </a:t>
            </a:r>
            <a:r>
              <a:rPr lang="en-US" altLang="zh-TW" dirty="0" smtClean="0"/>
              <a:t>Worst-case </a:t>
            </a:r>
            <a:r>
              <a:rPr lang="en-US" altLang="zh-TW" dirty="0"/>
              <a:t>Time Complexity</a:t>
            </a:r>
            <a:endParaRPr lang="en-US" altLang="zh-TW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0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spcBef>
                    <a:spcPct val="40000"/>
                  </a:spcBef>
                </a:pPr>
                <a:r>
                  <a:rPr lang="en-US" altLang="zh-TW" dirty="0" smtClean="0"/>
                  <a:t>Let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dirty="0" smtClean="0"/>
                  <a:t> and </a:t>
                </a:r>
                <a:r>
                  <a:rPr lang="en-US" altLang="zh-TW" i="1" dirty="0" smtClean="0"/>
                  <a:t>m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/>
                  <a:t> </a:t>
                </a:r>
                <a:r>
                  <a:rPr lang="en-US" altLang="zh-TW" spc="100" dirty="0" smtClean="0">
                    <a:latin typeface="Georgia" panose="02040502050405020303" pitchFamily="18" charset="0"/>
                  </a:rPr>
                  <a:t>|</a:t>
                </a:r>
                <a:r>
                  <a:rPr lang="en-US" altLang="zh-TW" i="1" spc="100" dirty="0" smtClean="0">
                    <a:solidFill>
                      <a:srgbClr val="000000"/>
                    </a:solidFill>
                    <a:sym typeface="Symbol" pitchFamily="18" charset="2"/>
                  </a:rPr>
                  <a:t>E</a:t>
                </a:r>
                <a:r>
                  <a:rPr lang="en-US" altLang="zh-TW" dirty="0" smtClean="0">
                    <a:latin typeface="Georgia" panose="02040502050405020303" pitchFamily="18" charset="0"/>
                  </a:rPr>
                  <a:t>|</a:t>
                </a:r>
                <a:r>
                  <a:rPr lang="en-US" altLang="zh-TW" dirty="0" smtClean="0"/>
                  <a:t>.</a:t>
                </a:r>
              </a:p>
              <a:p>
                <a:pPr eaLnBrk="1" hangingPunct="1">
                  <a:spcBef>
                    <a:spcPct val="40000"/>
                  </a:spcBef>
                </a:pPr>
                <a:r>
                  <a:rPr lang="en-US" altLang="zh-TW" dirty="0" smtClean="0"/>
                  <a:t>For </a:t>
                </a:r>
                <a:r>
                  <a:rPr lang="en-US" altLang="zh-TW" dirty="0"/>
                  <a:t>each </a:t>
                </a:r>
                <a:r>
                  <a:rPr lang="en-US" altLang="zh-TW" dirty="0" smtClean="0"/>
                  <a:t>node 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 reachable from 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the for </a:t>
                </a:r>
                <a:r>
                  <a:rPr lang="en-US" altLang="zh-TW" dirty="0"/>
                  <a:t>loop </a:t>
                </a:r>
                <a:r>
                  <a:rPr lang="en-US" altLang="zh-TW" dirty="0" smtClean="0"/>
                  <a:t>in the while loop </a:t>
                </a:r>
                <a:r>
                  <a:rPr lang="en-US" altLang="zh-TW" dirty="0"/>
                  <a:t>is executed </a:t>
                </a:r>
                <a:r>
                  <a:rPr lang="en-US" altLang="zh-TW" dirty="0" smtClean="0">
                    <a:latin typeface="Georgia" panose="02040502050405020303" pitchFamily="18" charset="0"/>
                  </a:rPr>
                  <a:t>|</a:t>
                </a:r>
                <a:r>
                  <a:rPr lang="en-US" altLang="zh-TW" sz="1800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adjList</a:t>
                </a:r>
                <a:r>
                  <a:rPr lang="en-US" altLang="zh-TW" sz="1800" spc="3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[u</a:t>
                </a:r>
                <a:r>
                  <a:rPr lang="en-US" altLang="zh-TW" sz="18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</a:t>
                </a:r>
                <a:r>
                  <a:rPr lang="en-US" altLang="zh-TW" dirty="0" smtClean="0">
                    <a:latin typeface="Georgia" panose="02040502050405020303" pitchFamily="18" charset="0"/>
                  </a:rPr>
                  <a:t>|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times.</a:t>
                </a:r>
              </a:p>
              <a:p>
                <a:pPr eaLnBrk="1" hangingPunct="1">
                  <a:spcBef>
                    <a:spcPct val="40000"/>
                  </a:spcBef>
                </a:pPr>
                <a:r>
                  <a:rPr lang="en-US" altLang="zh-TW" dirty="0" smtClean="0"/>
                  <a:t>Since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000000"/>
                            </a:solidFill>
                            <a:latin typeface="Georgia" panose="02040502050405020303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zh-TW" sz="18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adjList</m:t>
                        </m:r>
                        <m:r>
                          <m:rPr>
                            <m:nor/>
                          </m:rPr>
                          <a:rPr lang="en-US" altLang="zh-TW" sz="1800" spc="3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zh-TW" sz="1800" spc="3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TW" sz="18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000000"/>
                            </a:solidFill>
                            <a:latin typeface="Georgia" panose="02040502050405020303" pitchFamily="18" charset="0"/>
                          </a:rPr>
                          <m:t>|</m:t>
                        </m:r>
                      </m:e>
                    </m:nary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b="0" i="1" smtClean="0"/>
                      <m:t>m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/>
              </a:p>
              <a:p>
                <a:pPr eaLnBrk="1" hangingPunct="1">
                  <a:spcBef>
                    <a:spcPct val="40000"/>
                  </a:spcBef>
                </a:pPr>
                <a:r>
                  <a:rPr lang="en-US" altLang="zh-TW" dirty="0"/>
                  <a:t>the for loop in the while loop takes time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m</a:t>
                </a:r>
                <a:r>
                  <a:rPr lang="en-US" altLang="zh-TW" dirty="0" smtClean="0"/>
                  <a:t>).</a:t>
                </a:r>
                <a:endParaRPr lang="en-US" altLang="zh-TW" dirty="0"/>
              </a:p>
              <a:p>
                <a:pPr eaLnBrk="1" hangingPunct="1">
                  <a:spcBef>
                    <a:spcPct val="40000"/>
                  </a:spcBef>
                </a:pP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extractMin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is invoked once per </a:t>
                </a:r>
                <a:r>
                  <a:rPr lang="en-US" altLang="zh-TW" dirty="0" smtClean="0"/>
                  <a:t>node, </a:t>
                </a:r>
                <a:r>
                  <a:rPr lang="en-US" altLang="zh-TW" dirty="0"/>
                  <a:t>and each </a:t>
                </a: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extractMin</a:t>
                </a:r>
                <a:r>
                  <a:rPr lang="en-US" altLang="zh-TW" dirty="0" smtClean="0"/>
                  <a:t> takes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time.</a:t>
                </a:r>
              </a:p>
              <a:p>
                <a:pPr eaLnBrk="1" hangingPunct="1">
                  <a:spcBef>
                    <a:spcPct val="40000"/>
                  </a:spcBef>
                </a:pPr>
                <a:r>
                  <a:rPr lang="en-US" altLang="zh-TW" dirty="0"/>
                  <a:t>Therefore the worst-case </a:t>
                </a:r>
                <a:r>
                  <a:rPr lang="en-US" altLang="zh-TW" dirty="0" smtClean="0"/>
                  <a:t>time complexity is </a:t>
                </a:r>
                <a:r>
                  <a:rPr lang="en-US" altLang="zh-TW" i="1" dirty="0" smtClean="0">
                    <a:sym typeface="Symbol" pitchFamily="18" charset="2"/>
                  </a:rPr>
                  <a:t>O</a:t>
                </a:r>
                <a:r>
                  <a:rPr lang="en-US" altLang="zh-TW" dirty="0" smtClean="0">
                    <a:sym typeface="Symbol" pitchFamily="18" charset="2"/>
                  </a:rPr>
                  <a:t>(</a:t>
                </a:r>
                <a:r>
                  <a:rPr lang="en-US" altLang="zh-TW" i="1" spc="50" dirty="0" smtClean="0">
                    <a:sym typeface="Symbol" pitchFamily="18" charset="2"/>
                  </a:rPr>
                  <a:t>n</a:t>
                </a:r>
                <a:r>
                  <a:rPr lang="en-US" altLang="zh-TW" baseline="30000" dirty="0" smtClean="0">
                    <a:sym typeface="Symbol" pitchFamily="18" charset="2"/>
                  </a:rPr>
                  <a:t>2</a:t>
                </a:r>
                <a:r>
                  <a:rPr lang="en-US" altLang="zh-TW" dirty="0" smtClean="0">
                    <a:sym typeface="Symbol" pitchFamily="18" charset="2"/>
                  </a:rPr>
                  <a:t> </a:t>
                </a:r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+</a:t>
                </a:r>
                <a:r>
                  <a:rPr lang="en-US" altLang="zh-TW" dirty="0" smtClean="0">
                    <a:sym typeface="Symbol" pitchFamily="18" charset="2"/>
                  </a:rPr>
                  <a:t> </a:t>
                </a:r>
                <a:r>
                  <a:rPr lang="en-US" altLang="zh-TW" i="1" dirty="0" smtClean="0">
                    <a:sym typeface="Symbol" pitchFamily="18" charset="2"/>
                  </a:rPr>
                  <a:t>m</a:t>
                </a:r>
                <a:r>
                  <a:rPr lang="en-US" altLang="zh-TW" dirty="0" smtClean="0">
                    <a:sym typeface="Symbol" pitchFamily="18" charset="2"/>
                  </a:rPr>
                  <a:t>)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=</a:t>
                </a:r>
                <a:r>
                  <a:rPr lang="en-US" altLang="zh-TW" dirty="0">
                    <a:sym typeface="Symbol" pitchFamily="18" charset="2"/>
                  </a:rPr>
                  <a:t> </a:t>
                </a:r>
                <a:r>
                  <a:rPr lang="en-US" altLang="zh-TW" i="1" dirty="0" smtClean="0">
                    <a:sym typeface="Symbol" pitchFamily="18" charset="2"/>
                  </a:rPr>
                  <a:t>O</a:t>
                </a:r>
                <a:r>
                  <a:rPr lang="en-US" altLang="zh-TW" dirty="0" smtClean="0">
                    <a:sym typeface="Symbol" pitchFamily="18" charset="2"/>
                  </a:rPr>
                  <a:t>(</a:t>
                </a:r>
                <a:r>
                  <a:rPr lang="en-US" altLang="zh-TW" i="1" spc="50" dirty="0" smtClean="0">
                    <a:sym typeface="Symbol" pitchFamily="18" charset="2"/>
                  </a:rPr>
                  <a:t>n</a:t>
                </a:r>
                <a:r>
                  <a:rPr lang="en-US" altLang="zh-TW" spc="300" baseline="30000" dirty="0" smtClean="0">
                    <a:sym typeface="Symbol" pitchFamily="18" charset="2"/>
                  </a:rPr>
                  <a:t>2</a:t>
                </a:r>
                <a:r>
                  <a:rPr lang="en-US" altLang="zh-TW" dirty="0" smtClean="0">
                    <a:sym typeface="Symbol" pitchFamily="18" charset="2"/>
                  </a:rPr>
                  <a:t>).</a:t>
                </a:r>
                <a:endParaRPr lang="en-US" altLang="zh-TW" sz="2400" dirty="0" smtClean="0"/>
              </a:p>
              <a:p>
                <a:pPr marL="719138" lvl="1" indent="-265113" eaLnBrk="1" hangingPunct="1">
                  <a:spcBef>
                    <a:spcPct val="40000"/>
                  </a:spcBef>
                  <a:buSzPct val="80000"/>
                  <a:buFont typeface="Wingdings" pitchFamily="2" charset="2"/>
                  <a:buChar char="Ø"/>
                </a:pPr>
                <a:endParaRPr lang="en-US" altLang="zh-TW" sz="600" dirty="0" smtClean="0"/>
              </a:p>
            </p:txBody>
          </p:sp>
        </mc:Choice>
        <mc:Fallback xmlns="">
          <p:sp>
            <p:nvSpPr>
              <p:cNvPr id="1946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2000" y="1449000"/>
                <a:ext cx="7380000" cy="4860000"/>
              </a:xfrm>
              <a:blipFill>
                <a:blip r:embed="rId2"/>
                <a:stretch>
                  <a:fillRect l="-991" t="-1004" r="-3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4863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Dijkstra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heap.resize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index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index[ u ] = u;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96426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index;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532227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&lt; 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"heap underflow\n"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 =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- 1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- 1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minHeapify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12753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minHeapify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smallest;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l = 2 *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+ 1;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r = 2 * </a:t>
            </a:r>
            <a:r>
              <a:rPr lang="pt-B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+ 2;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&amp;&amp;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&lt;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smallest = 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smallest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&amp;&amp;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&lt;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smallest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smallest = r;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smallest !=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smallest;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smallest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swap(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smallest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minHeapify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smallest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58854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"new key is larger than current key\n"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sv-S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sv-SE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sv-S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 = ( </a:t>
            </a:r>
            <a:r>
              <a:rPr lang="sv-SE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sv-S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&amp;&amp;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&gt;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swap(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parent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 = 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2;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swap(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HeapNode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buffer = heap[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heap[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heap[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heap[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buffer;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39445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" name="AutoShape 24"/>
          <p:cNvCxnSpPr>
            <a:cxnSpLocks noChangeShapeType="1"/>
            <a:stCxn id="14" idx="7"/>
            <a:endCxn id="11" idx="3"/>
          </p:cNvCxnSpPr>
          <p:nvPr/>
        </p:nvCxnSpPr>
        <p:spPr bwMode="auto">
          <a:xfrm flipV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0, 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60" name="Oval 57"/>
          <p:cNvSpPr>
            <a:spLocks noChangeArrowheads="1"/>
          </p:cNvSpPr>
          <p:nvPr/>
        </p:nvSpPr>
        <p:spPr bwMode="auto">
          <a:xfrm>
            <a:off x="781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61" name="AutoShape 24"/>
          <p:cNvCxnSpPr>
            <a:cxnSpLocks noChangeShapeType="1"/>
            <a:stCxn id="57" idx="4"/>
            <a:endCxn id="60" idx="0"/>
          </p:cNvCxnSpPr>
          <p:nvPr/>
        </p:nvCxnSpPr>
        <p:spPr bwMode="auto">
          <a:xfrm>
            <a:off x="8172000" y="2169000"/>
            <a:ext cx="0" cy="5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34" name="Text Box 50"/>
          <p:cNvSpPr txBox="1">
            <a:spLocks noChangeArrowheads="1"/>
          </p:cNvSpPr>
          <p:nvPr/>
        </p:nvSpPr>
        <p:spPr bwMode="auto">
          <a:xfrm>
            <a:off x="79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/>
          </p:nvPr>
        </p:nvGraphicFramePr>
        <p:xfrm>
          <a:off x="3672000" y="3609000"/>
          <a:ext cx="50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0,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/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137" name="矩形 136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885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" name="AutoShape 24"/>
          <p:cNvCxnSpPr>
            <a:cxnSpLocks noChangeShapeType="1"/>
            <a:stCxn id="14" idx="7"/>
            <a:endCxn id="11" idx="3"/>
          </p:cNvCxnSpPr>
          <p:nvPr/>
        </p:nvCxnSpPr>
        <p:spPr bwMode="auto">
          <a:xfrm flipV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0, 0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60" name="Oval 57"/>
          <p:cNvSpPr>
            <a:spLocks noChangeArrowheads="1"/>
          </p:cNvSpPr>
          <p:nvPr/>
        </p:nvSpPr>
        <p:spPr bwMode="auto">
          <a:xfrm>
            <a:off x="781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61" name="AutoShape 24"/>
          <p:cNvCxnSpPr>
            <a:cxnSpLocks noChangeShapeType="1"/>
            <a:stCxn id="57" idx="4"/>
            <a:endCxn id="60" idx="0"/>
          </p:cNvCxnSpPr>
          <p:nvPr/>
        </p:nvCxnSpPr>
        <p:spPr bwMode="auto">
          <a:xfrm>
            <a:off x="8172000" y="2169000"/>
            <a:ext cx="0" cy="5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34" name="Text Box 50"/>
          <p:cNvSpPr txBox="1">
            <a:spLocks noChangeArrowheads="1"/>
          </p:cNvSpPr>
          <p:nvPr/>
        </p:nvSpPr>
        <p:spPr bwMode="auto">
          <a:xfrm>
            <a:off x="79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/>
          </p:nvPr>
        </p:nvGraphicFramePr>
        <p:xfrm>
          <a:off x="3672000" y="3609000"/>
          <a:ext cx="50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0, 0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/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矩形 51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49545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" name="AutoShape 24"/>
          <p:cNvCxnSpPr>
            <a:cxnSpLocks noChangeShapeType="1"/>
            <a:stCxn id="14" idx="7"/>
            <a:endCxn id="11" idx="3"/>
          </p:cNvCxnSpPr>
          <p:nvPr/>
        </p:nvCxnSpPr>
        <p:spPr bwMode="auto">
          <a:xfrm flipV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/>
          </p:nvPr>
        </p:nvGraphicFramePr>
        <p:xfrm>
          <a:off x="3672000" y="360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/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53" name="矩形 5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77874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" name="AutoShape 24"/>
          <p:cNvCxnSpPr>
            <a:cxnSpLocks noChangeShapeType="1"/>
            <a:stCxn id="11" idx="3"/>
            <a:endCxn id="14" idx="7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/>
          </p:nvPr>
        </p:nvGraphicFramePr>
        <p:xfrm>
          <a:off x="3672000" y="360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/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53" name="矩形 5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76679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1, 1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/>
          </p:nvPr>
        </p:nvGraphicFramePr>
        <p:xfrm>
          <a:off x="3672000" y="360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1, 1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/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0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1" name="矩形 50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4173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1"/>
            <a:endCxn id="14" idx="5"/>
          </p:cNvCxnSpPr>
          <p:nvPr/>
        </p:nvCxnSpPr>
        <p:spPr bwMode="auto">
          <a:xfrm flipH="1" flipV="1"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1, 1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2, 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30123"/>
              </p:ext>
            </p:extLst>
          </p:nvPr>
        </p:nvGraphicFramePr>
        <p:xfrm>
          <a:off x="3672000" y="360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1, 1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/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88176019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1"/>
            <a:endCxn id="14" idx="5"/>
          </p:cNvCxnSpPr>
          <p:nvPr/>
        </p:nvCxnSpPr>
        <p:spPr bwMode="auto">
          <a:xfrm flipH="1" flipV="1"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1, 1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2,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59692"/>
              </p:ext>
            </p:extLst>
          </p:nvPr>
        </p:nvGraphicFramePr>
        <p:xfrm>
          <a:off x="3672000" y="360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1, 1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2, 12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/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50295644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1252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Dijkstra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heap.resize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index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index[ u ] = u;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527005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index;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17368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&lt; 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"heap underflow\n"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 =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- 1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- 1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minHeapify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919201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minHeapify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smallest;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l = 2 *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+ 1;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r = 2 * </a:t>
            </a:r>
            <a:r>
              <a:rPr lang="pt-B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+ 2;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&amp;&amp;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&lt;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smallest = 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smallest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&amp;&amp;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&lt;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smallest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smallest = r;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smallest !=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smallest;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smallest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swap(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smallest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minHeapify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smallest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054846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"new key is larger than current key\n"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sv-S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sv-SE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sv-S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 = ( </a:t>
            </a:r>
            <a:r>
              <a:rPr lang="sv-SE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sv-S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&amp;&amp;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&gt;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swap(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parent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 = 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2;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swap(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HeapNode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buffer = heap[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heap[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heap[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heap[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buffer;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17746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" name="AutoShape 24"/>
          <p:cNvCxnSpPr>
            <a:cxnSpLocks noChangeShapeType="1"/>
            <a:stCxn id="14" idx="7"/>
            <a:endCxn id="11" idx="3"/>
          </p:cNvCxnSpPr>
          <p:nvPr/>
        </p:nvCxnSpPr>
        <p:spPr bwMode="auto">
          <a:xfrm flipV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sym typeface="Symbol" pitchFamily="18" charset="2"/>
              </a:rPr>
              <a:t>0, </a:t>
            </a:r>
            <a:r>
              <a:rPr kumimoji="0" lang="en-US" altLang="zh-TW" sz="2000" kern="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60" name="Oval 57"/>
          <p:cNvSpPr>
            <a:spLocks noChangeArrowheads="1"/>
          </p:cNvSpPr>
          <p:nvPr/>
        </p:nvSpPr>
        <p:spPr bwMode="auto">
          <a:xfrm>
            <a:off x="781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cxnSp>
        <p:nvCxnSpPr>
          <p:cNvPr id="61" name="AutoShape 24"/>
          <p:cNvCxnSpPr>
            <a:cxnSpLocks noChangeShapeType="1"/>
            <a:stCxn id="57" idx="4"/>
            <a:endCxn id="60" idx="0"/>
          </p:cNvCxnSpPr>
          <p:nvPr/>
        </p:nvCxnSpPr>
        <p:spPr bwMode="auto">
          <a:xfrm>
            <a:off x="8172000" y="2169000"/>
            <a:ext cx="0" cy="5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34" name="Text Box 50"/>
          <p:cNvSpPr txBox="1">
            <a:spLocks noChangeArrowheads="1"/>
          </p:cNvSpPr>
          <p:nvPr/>
        </p:nvSpPr>
        <p:spPr bwMode="auto">
          <a:xfrm>
            <a:off x="79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477237"/>
              </p:ext>
            </p:extLst>
          </p:nvPr>
        </p:nvGraphicFramePr>
        <p:xfrm>
          <a:off x="3672000" y="3609000"/>
          <a:ext cx="50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0,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805864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137" name="矩形 136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id</a:t>
            </a: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, </a:t>
            </a: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d</a:t>
            </a:r>
            <a:endParaRPr kumimoji="1" lang="zh-TW" altLang="en-US" sz="20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61072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" name="AutoShape 24"/>
          <p:cNvCxnSpPr>
            <a:cxnSpLocks noChangeShapeType="1"/>
            <a:stCxn id="14" idx="7"/>
            <a:endCxn id="11" idx="3"/>
          </p:cNvCxnSpPr>
          <p:nvPr/>
        </p:nvCxnSpPr>
        <p:spPr bwMode="auto">
          <a:xfrm flipV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sym typeface="Symbol" pitchFamily="18" charset="2"/>
              </a:rPr>
              <a:t>0, 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18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60" name="Oval 57"/>
          <p:cNvSpPr>
            <a:spLocks noChangeArrowheads="1"/>
          </p:cNvSpPr>
          <p:nvPr/>
        </p:nvSpPr>
        <p:spPr bwMode="auto">
          <a:xfrm>
            <a:off x="781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cxnSp>
        <p:nvCxnSpPr>
          <p:cNvPr id="61" name="AutoShape 24"/>
          <p:cNvCxnSpPr>
            <a:cxnSpLocks noChangeShapeType="1"/>
            <a:stCxn id="57" idx="4"/>
            <a:endCxn id="60" idx="0"/>
          </p:cNvCxnSpPr>
          <p:nvPr/>
        </p:nvCxnSpPr>
        <p:spPr bwMode="auto">
          <a:xfrm>
            <a:off x="8172000" y="2169000"/>
            <a:ext cx="0" cy="5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34" name="Text Box 50"/>
          <p:cNvSpPr txBox="1">
            <a:spLocks noChangeArrowheads="1"/>
          </p:cNvSpPr>
          <p:nvPr/>
        </p:nvSpPr>
        <p:spPr bwMode="auto">
          <a:xfrm>
            <a:off x="79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826884"/>
              </p:ext>
            </p:extLst>
          </p:nvPr>
        </p:nvGraphicFramePr>
        <p:xfrm>
          <a:off x="3672000" y="3609000"/>
          <a:ext cx="50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0, 0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989587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矩形 51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id</a:t>
            </a: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, </a:t>
            </a: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d</a:t>
            </a:r>
            <a:endParaRPr kumimoji="1" lang="zh-TW" altLang="en-US" sz="20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312271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" name="AutoShape 24"/>
          <p:cNvCxnSpPr>
            <a:cxnSpLocks noChangeShapeType="1"/>
            <a:stCxn id="14" idx="7"/>
            <a:endCxn id="11" idx="3"/>
          </p:cNvCxnSpPr>
          <p:nvPr/>
        </p:nvCxnSpPr>
        <p:spPr bwMode="auto">
          <a:xfrm flipV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214036"/>
              </p:ext>
            </p:extLst>
          </p:nvPr>
        </p:nvGraphicFramePr>
        <p:xfrm>
          <a:off x="3672000" y="360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677721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53" name="矩形 5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id</a:t>
            </a: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, </a:t>
            </a: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d</a:t>
            </a:r>
            <a:endParaRPr kumimoji="1" lang="zh-TW" altLang="en-US" sz="20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552052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4" name="AutoShape 24"/>
          <p:cNvCxnSpPr>
            <a:cxnSpLocks noChangeShapeType="1"/>
            <a:stCxn id="11" idx="3"/>
            <a:endCxn id="14" idx="7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214036"/>
              </p:ext>
            </p:extLst>
          </p:nvPr>
        </p:nvGraphicFramePr>
        <p:xfrm>
          <a:off x="3672000" y="360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285661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53" name="矩形 5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id</a:t>
            </a: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, </a:t>
            </a: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d</a:t>
            </a:r>
            <a:endParaRPr kumimoji="1" lang="zh-TW" altLang="en-US" sz="20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297272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107531"/>
              </p:ext>
            </p:extLst>
          </p:nvPr>
        </p:nvGraphicFramePr>
        <p:xfrm>
          <a:off x="3672000" y="360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1, 1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208919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cxnSp>
        <p:nvCxnSpPr>
          <p:cNvPr id="50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1" name="矩形 50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id</a:t>
            </a: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, </a:t>
            </a: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d</a:t>
            </a:r>
            <a:endParaRPr kumimoji="1" lang="zh-TW" altLang="en-US" sz="20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003961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v.id ] = d[ u ] + v.weight</a:t>
            </a:r>
            <a:r>
              <a:rPr lang="nl-NL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nl-NL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parent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1, </a:t>
            </a: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277047"/>
              </p:ext>
            </p:extLst>
          </p:nvPr>
        </p:nvGraphicFramePr>
        <p:xfrm>
          <a:off x="3672000" y="360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1, 1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396835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id</a:t>
            </a: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, </a:t>
            </a: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d</a:t>
            </a:r>
            <a:endParaRPr kumimoji="1" lang="zh-TW" altLang="en-US" sz="20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58066039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1"/>
            <a:endCxn id="14" idx="5"/>
          </p:cNvCxnSpPr>
          <p:nvPr/>
        </p:nvCxnSpPr>
        <p:spPr bwMode="auto">
          <a:xfrm flipH="1" flipV="1"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1, </a:t>
            </a: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899812"/>
              </p:ext>
            </p:extLst>
          </p:nvPr>
        </p:nvGraphicFramePr>
        <p:xfrm>
          <a:off x="3672000" y="360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1, 1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471195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id</a:t>
            </a: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, </a:t>
            </a:r>
            <a:r>
              <a:rPr kumimoji="1" lang="en-US" altLang="zh-TW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d</a:t>
            </a:r>
            <a:endParaRPr kumimoji="1" lang="zh-TW" altLang="en-US" sz="20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92785514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24"/>
          <p:cNvCxnSpPr>
            <a:cxnSpLocks noChangeShapeType="1"/>
          </p:cNvCxnSpPr>
          <p:nvPr/>
        </p:nvCxnSpPr>
        <p:spPr bwMode="auto">
          <a:xfrm>
            <a:off x="6372000" y="1989000"/>
            <a:ext cx="54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1"/>
            <a:endCxn id="14" idx="5"/>
          </p:cNvCxnSpPr>
          <p:nvPr/>
        </p:nvCxnSpPr>
        <p:spPr bwMode="auto">
          <a:xfrm flipH="1" flipV="1"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1,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2,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655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9" name="Text Box 46"/>
          <p:cNvSpPr txBox="1">
            <a:spLocks noChangeArrowheads="1"/>
          </p:cNvSpPr>
          <p:nvPr/>
        </p:nvSpPr>
        <p:spPr bwMode="auto">
          <a:xfrm>
            <a:off x="67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/>
        </p:nvGraphicFramePr>
        <p:xfrm>
          <a:off x="3672000" y="360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1, 1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2, 12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/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2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82161014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1"/>
            <a:endCxn id="14" idx="5"/>
          </p:cNvCxnSpPr>
          <p:nvPr/>
        </p:nvCxnSpPr>
        <p:spPr bwMode="auto">
          <a:xfrm flipH="1" flipV="1"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2,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062369"/>
              </p:ext>
            </p:extLst>
          </p:nvPr>
        </p:nvGraphicFramePr>
        <p:xfrm>
          <a:off x="3672000" y="360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2, 12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995966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15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86109083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12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1"/>
            <a:endCxn id="14" idx="5"/>
          </p:cNvCxnSpPr>
          <p:nvPr/>
        </p:nvCxnSpPr>
        <p:spPr bwMode="auto">
          <a:xfrm flipH="1" flipV="1"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2, 12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72742"/>
              </p:ext>
            </p:extLst>
          </p:nvPr>
        </p:nvGraphicFramePr>
        <p:xfrm>
          <a:off x="3672000" y="360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2, 12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694728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15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96435920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0"/>
            <a:endCxn id="11" idx="4"/>
          </p:cNvCxnSpPr>
          <p:nvPr/>
        </p:nvCxnSpPr>
        <p:spPr bwMode="auto">
          <a:xfrm flipV="1"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2, 10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260555"/>
              </p:ext>
            </p:extLst>
          </p:nvPr>
        </p:nvGraphicFramePr>
        <p:xfrm>
          <a:off x="3672000" y="360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2, 10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964186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15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416065543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20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0"/>
            <a:endCxn id="11" idx="4"/>
          </p:cNvCxnSpPr>
          <p:nvPr/>
        </p:nvCxnSpPr>
        <p:spPr bwMode="auto">
          <a:xfrm flipV="1"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2, 10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260555"/>
              </p:ext>
            </p:extLst>
          </p:nvPr>
        </p:nvGraphicFramePr>
        <p:xfrm>
          <a:off x="3672000" y="360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2, 10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964186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15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68668217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20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0"/>
            <a:endCxn id="11" idx="4"/>
          </p:cNvCxnSpPr>
          <p:nvPr/>
        </p:nvCxnSpPr>
        <p:spPr bwMode="auto">
          <a:xfrm flipV="1"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2, 10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, 4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77582"/>
              </p:ext>
            </p:extLst>
          </p:nvPr>
        </p:nvGraphicFramePr>
        <p:xfrm>
          <a:off x="3672000" y="360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2, 10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3, 4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964186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15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78166791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20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0"/>
            <a:endCxn id="11" idx="4"/>
          </p:cNvCxnSpPr>
          <p:nvPr/>
        </p:nvCxnSpPr>
        <p:spPr bwMode="auto">
          <a:xfrm flipV="1"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3, 4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2, 10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825297"/>
              </p:ext>
            </p:extLst>
          </p:nvPr>
        </p:nvGraphicFramePr>
        <p:xfrm>
          <a:off x="3672000" y="360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2, 10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3, 4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501975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15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0416666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4" name="AutoShape 24"/>
          <p:cNvCxnSpPr>
            <a:cxnSpLocks noChangeShapeType="1"/>
          </p:cNvCxnSpPr>
          <p:nvPr/>
        </p:nvCxnSpPr>
        <p:spPr bwMode="auto">
          <a:xfrm flipH="1">
            <a:off x="5832000" y="1989000"/>
            <a:ext cx="540001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0"/>
            <a:endCxn id="11" idx="4"/>
          </p:cNvCxnSpPr>
          <p:nvPr/>
        </p:nvCxnSpPr>
        <p:spPr bwMode="auto">
          <a:xfrm flipV="1"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2, 10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3, 4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55"/>
          <p:cNvSpPr>
            <a:spLocks noChangeArrowheads="1"/>
          </p:cNvSpPr>
          <p:nvPr/>
        </p:nvSpPr>
        <p:spPr bwMode="auto">
          <a:xfrm>
            <a:off x="5472000" y="27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33" name="Text Box 49"/>
          <p:cNvSpPr txBox="1"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/>
        </p:nvGraphicFramePr>
        <p:xfrm>
          <a:off x="3672000" y="360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3, 4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2, 10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/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15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1035813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0"/>
            <a:endCxn id="11" idx="4"/>
          </p:cNvCxnSpPr>
          <p:nvPr/>
        </p:nvCxnSpPr>
        <p:spPr bwMode="auto">
          <a:xfrm flipV="1"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2, 10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516739"/>
              </p:ext>
            </p:extLst>
          </p:nvPr>
        </p:nvGraphicFramePr>
        <p:xfrm>
          <a:off x="3672000" y="360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2, 10</a:t>
                      </a:r>
                      <a:endParaRPr kumimoji="0" lang="en-US" altLang="zh-TW" sz="1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904703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6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45442556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2" idx="3"/>
            <a:endCxn id="15" idx="7"/>
          </p:cNvCxnSpPr>
          <p:nvPr/>
        </p:nvCxnSpPr>
        <p:spPr bwMode="auto">
          <a:xfrm flipH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10</a:t>
            </a:r>
            <a:endParaRPr kumimoji="0" lang="en-US" altLang="zh-TW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0"/>
            <a:endCxn id="11" idx="4"/>
          </p:cNvCxnSpPr>
          <p:nvPr/>
        </p:nvCxnSpPr>
        <p:spPr bwMode="auto">
          <a:xfrm flipV="1"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2, 10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216733"/>
              </p:ext>
            </p:extLst>
          </p:nvPr>
        </p:nvGraphicFramePr>
        <p:xfrm>
          <a:off x="3672000" y="360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2, 10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854320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6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73465140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2, 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691930"/>
              </p:ext>
            </p:extLst>
          </p:nvPr>
        </p:nvGraphicFramePr>
        <p:xfrm>
          <a:off x="3672000" y="360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2, 8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43095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6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6600639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6" idx="0"/>
            <a:endCxn id="12" idx="4"/>
          </p:cNvCxnSpPr>
          <p:nvPr/>
        </p:nvCxnSpPr>
        <p:spPr bwMode="auto">
          <a:xfrm flipV="1"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2, 8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691930"/>
              </p:ext>
            </p:extLst>
          </p:nvPr>
        </p:nvGraphicFramePr>
        <p:xfrm>
          <a:off x="3672000" y="360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2, 8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43095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6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63118997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6" idx="0"/>
            <a:endCxn id="12" idx="4"/>
          </p:cNvCxnSpPr>
          <p:nvPr/>
        </p:nvCxnSpPr>
        <p:spPr bwMode="auto">
          <a:xfrm flipV="1"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2, 8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4, 17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84201"/>
              </p:ext>
            </p:extLst>
          </p:nvPr>
        </p:nvGraphicFramePr>
        <p:xfrm>
          <a:off x="3672000" y="360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2, 8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4, 17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43095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6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90076911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3" idx="1"/>
            <a:endCxn id="12" idx="5"/>
          </p:cNvCxnSpPr>
          <p:nvPr/>
        </p:nvCxnSpPr>
        <p:spPr bwMode="auto">
          <a:xfrm flipH="1" flipV="1"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6" idx="0"/>
            <a:endCxn id="12" idx="4"/>
          </p:cNvCxnSpPr>
          <p:nvPr/>
        </p:nvCxnSpPr>
        <p:spPr bwMode="auto">
          <a:xfrm flipV="1"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2, 8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4, 17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227148"/>
              </p:ext>
            </p:extLst>
          </p:nvPr>
        </p:nvGraphicFramePr>
        <p:xfrm>
          <a:off x="3672000" y="360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2, 8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</a:t>
                      </a:r>
                      <a:r>
                        <a:rPr kumimoji="0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∞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4, 17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43095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6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57264044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AutoShape 24"/>
          <p:cNvCxnSpPr>
            <a:cxnSpLocks noChangeShapeType="1"/>
          </p:cNvCxnSpPr>
          <p:nvPr/>
        </p:nvCxnSpPr>
        <p:spPr bwMode="auto">
          <a:xfrm>
            <a:off x="72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3" idx="1"/>
            <a:endCxn id="12" idx="5"/>
          </p:cNvCxnSpPr>
          <p:nvPr/>
        </p:nvCxnSpPr>
        <p:spPr bwMode="auto">
          <a:xfrm flipH="1" flipV="1"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6" idx="0"/>
            <a:endCxn id="12" idx="4"/>
          </p:cNvCxnSpPr>
          <p:nvPr/>
        </p:nvCxnSpPr>
        <p:spPr bwMode="auto">
          <a:xfrm flipV="1"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2, 8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7" name="Oval 54"/>
          <p:cNvSpPr>
            <a:spLocks noChangeArrowheads="1"/>
          </p:cNvSpPr>
          <p:nvPr/>
        </p:nvSpPr>
        <p:spPr bwMode="auto">
          <a:xfrm>
            <a:off x="78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4, 17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79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209824"/>
              </p:ext>
            </p:extLst>
          </p:nvPr>
        </p:nvGraphicFramePr>
        <p:xfrm>
          <a:off x="3672000" y="360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2, 8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5, 19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4, 17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43095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6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90447530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3" idx="1"/>
            <a:endCxn id="12" idx="5"/>
          </p:cNvCxnSpPr>
          <p:nvPr/>
        </p:nvCxnSpPr>
        <p:spPr bwMode="auto">
          <a:xfrm flipH="1" flipV="1"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5" idx="6"/>
            <a:endCxn id="16" idx="2"/>
          </p:cNvCxnSpPr>
          <p:nvPr/>
        </p:nvCxnSpPr>
        <p:spPr bwMode="auto">
          <a:xfrm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6" idx="0"/>
            <a:endCxn id="12" idx="4"/>
          </p:cNvCxnSpPr>
          <p:nvPr/>
        </p:nvCxnSpPr>
        <p:spPr bwMode="auto">
          <a:xfrm flipV="1"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4, 17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496107"/>
              </p:ext>
            </p:extLst>
          </p:nvPr>
        </p:nvGraphicFramePr>
        <p:xfrm>
          <a:off x="3672000" y="3609000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4, 17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5, 19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092977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15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32925868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3" idx="1"/>
            <a:endCxn id="12" idx="5"/>
          </p:cNvCxnSpPr>
          <p:nvPr/>
        </p:nvCxnSpPr>
        <p:spPr bwMode="auto">
          <a:xfrm flipH="1" flipV="1"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6" idx="2"/>
            <a:endCxn id="15" idx="6"/>
          </p:cNvCxnSpPr>
          <p:nvPr/>
        </p:nvCxnSpPr>
        <p:spPr bwMode="auto">
          <a:xfrm flipH="1"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4, 17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496107"/>
              </p:ext>
            </p:extLst>
          </p:nvPr>
        </p:nvGraphicFramePr>
        <p:xfrm>
          <a:off x="3672000" y="3609000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4, 17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5, 19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092977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15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82036909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AutoShape 24"/>
          <p:cNvCxnSpPr>
            <a:cxnSpLocks noChangeShapeType="1"/>
          </p:cNvCxnSpPr>
          <p:nvPr/>
        </p:nvCxnSpPr>
        <p:spPr bwMode="auto">
          <a:xfrm flipH="1">
            <a:off x="6372000" y="1089000"/>
            <a:ext cx="90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3" idx="1"/>
            <a:endCxn id="12" idx="5"/>
          </p:cNvCxnSpPr>
          <p:nvPr/>
        </p:nvCxnSpPr>
        <p:spPr bwMode="auto">
          <a:xfrm flipH="1" flipV="1"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6" idx="2"/>
            <a:endCxn id="15" idx="6"/>
          </p:cNvCxnSpPr>
          <p:nvPr/>
        </p:nvCxnSpPr>
        <p:spPr bwMode="auto">
          <a:xfrm flipH="1"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6012000" y="18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4, 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76" name="Text Box 48"/>
          <p:cNvSpPr txBox="1">
            <a:spLocks noChangeArrowheads="1"/>
          </p:cNvSpPr>
          <p:nvPr/>
        </p:nvSpPr>
        <p:spPr bwMode="auto">
          <a:xfrm>
            <a:off x="619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242446"/>
              </p:ext>
            </p:extLst>
          </p:nvPr>
        </p:nvGraphicFramePr>
        <p:xfrm>
          <a:off x="3672000" y="3609000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4, 13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5, 19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092977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15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25858464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3" idx="1"/>
            <a:endCxn id="12" idx="5"/>
          </p:cNvCxnSpPr>
          <p:nvPr/>
        </p:nvCxnSpPr>
        <p:spPr bwMode="auto">
          <a:xfrm flipH="1" flipV="1"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6" idx="2"/>
            <a:endCxn id="15" idx="6"/>
          </p:cNvCxnSpPr>
          <p:nvPr/>
        </p:nvCxnSpPr>
        <p:spPr bwMode="auto">
          <a:xfrm flipH="1"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449295"/>
              </p:ext>
            </p:extLst>
          </p:nvPr>
        </p:nvGraphicFramePr>
        <p:xfrm>
          <a:off x="3672000" y="360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5, 19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28020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87584270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3" idx="3"/>
            <a:endCxn id="16" idx="7"/>
          </p:cNvCxnSpPr>
          <p:nvPr/>
        </p:nvCxnSpPr>
        <p:spPr bwMode="auto">
          <a:xfrm flipH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6" idx="2"/>
            <a:endCxn id="15" idx="6"/>
          </p:cNvCxnSpPr>
          <p:nvPr/>
        </p:nvCxnSpPr>
        <p:spPr bwMode="auto">
          <a:xfrm flipH="1"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5, 19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449295"/>
              </p:ext>
            </p:extLst>
          </p:nvPr>
        </p:nvGraphicFramePr>
        <p:xfrm>
          <a:off x="3672000" y="360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5, 19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28020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47806656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3" idx="3"/>
            <a:endCxn id="16" idx="7"/>
          </p:cNvCxnSpPr>
          <p:nvPr/>
        </p:nvCxnSpPr>
        <p:spPr bwMode="auto">
          <a:xfrm flipH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6" idx="2"/>
            <a:endCxn id="15" idx="6"/>
          </p:cNvCxnSpPr>
          <p:nvPr/>
        </p:nvCxnSpPr>
        <p:spPr bwMode="auto">
          <a:xfrm flipH="1"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6912000" y="909000"/>
            <a:ext cx="72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5, 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77" name="Text Box 49"/>
          <p:cNvSpPr txBox="1"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937424"/>
              </p:ext>
            </p:extLst>
          </p:nvPr>
        </p:nvGraphicFramePr>
        <p:xfrm>
          <a:off x="3672000" y="360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mbria Math" panose="02040503050406030204" pitchFamily="18" charset="0"/>
                          <a:cs typeface="+mn-cs"/>
                          <a:sym typeface="Symbol" pitchFamily="18" charset="2"/>
                        </a:rPr>
                        <a:t>5, 17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新細明體" pitchFamily="18" charset="-120"/>
                        <a:cs typeface="+mn-cs"/>
                        <a:sym typeface="Symbol" pitchFamily="18" charset="2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28020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00725451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         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3" name="AutoShape 18"/>
          <p:cNvCxnSpPr>
            <a:cxnSpLocks noChangeShapeType="1"/>
            <a:stCxn id="11" idx="4"/>
            <a:endCxn id="15" idx="0"/>
          </p:cNvCxnSpPr>
          <p:nvPr/>
        </p:nvCxnSpPr>
        <p:spPr bwMode="auto">
          <a:xfrm>
            <a:off x="18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16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4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6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34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475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16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2" name="Oval 53"/>
          <p:cNvSpPr>
            <a:spLocks noChangeArrowheads="1"/>
          </p:cNvSpPr>
          <p:nvPr/>
        </p:nvSpPr>
        <p:spPr bwMode="auto">
          <a:xfrm>
            <a:off x="3492000" y="9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cs"/>
              <a:sym typeface="Symbol" pitchFamily="18" charset="2"/>
            </a:endParaRPr>
          </a:p>
        </p:txBody>
      </p:sp>
      <p:sp>
        <p:nvSpPr>
          <p:cNvPr id="13" name="Oval 54"/>
          <p:cNvSpPr>
            <a:spLocks noChangeArrowheads="1"/>
          </p:cNvSpPr>
          <p:nvPr/>
        </p:nvSpPr>
        <p:spPr bwMode="auto">
          <a:xfrm>
            <a:off x="43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17</a:t>
            </a:r>
            <a:endParaRPr kumimoji="0" lang="en-US" altLang="zh-TW" sz="18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5"/>
          <p:cNvSpPr>
            <a:spLocks noChangeArrowheads="1"/>
          </p:cNvSpPr>
          <p:nvPr/>
        </p:nvSpPr>
        <p:spPr bwMode="auto">
          <a:xfrm>
            <a:off x="792000" y="18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56"/>
          <p:cNvSpPr>
            <a:spLocks noChangeArrowheads="1"/>
          </p:cNvSpPr>
          <p:nvPr/>
        </p:nvSpPr>
        <p:spPr bwMode="auto">
          <a:xfrm>
            <a:off x="169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16" name="Oval 57"/>
          <p:cNvSpPr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chemeClr val="bg1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13</a:t>
            </a:r>
            <a:endParaRPr kumimoji="0" lang="en-US" altLang="zh-TW" sz="1800" kern="0" dirty="0">
              <a:solidFill>
                <a:schemeClr val="bg1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17" name="AutoShape 24"/>
          <p:cNvCxnSpPr>
            <a:cxnSpLocks noChangeShapeType="1"/>
            <a:stCxn id="12" idx="5"/>
            <a:endCxn id="13" idx="1"/>
          </p:cNvCxnSpPr>
          <p:nvPr/>
        </p:nvCxnSpPr>
        <p:spPr bwMode="auto">
          <a:xfrm>
            <a:off x="37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8" name="AutoShape 24"/>
          <p:cNvCxnSpPr>
            <a:cxnSpLocks noChangeShapeType="1"/>
            <a:stCxn id="15" idx="7"/>
            <a:endCxn id="12" idx="3"/>
          </p:cNvCxnSpPr>
          <p:nvPr/>
        </p:nvCxnSpPr>
        <p:spPr bwMode="auto">
          <a:xfrm flipV="1">
            <a:off x="1999279" y="121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9" name="AutoShape 24"/>
          <p:cNvCxnSpPr>
            <a:cxnSpLocks noChangeShapeType="1"/>
            <a:stCxn id="14" idx="5"/>
            <a:endCxn id="15" idx="1"/>
          </p:cNvCxnSpPr>
          <p:nvPr/>
        </p:nvCxnSpPr>
        <p:spPr bwMode="auto">
          <a:xfrm>
            <a:off x="10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0" name="AutoShape 24"/>
          <p:cNvCxnSpPr>
            <a:cxnSpLocks noChangeShapeType="1"/>
            <a:stCxn id="13" idx="3"/>
            <a:endCxn id="16" idx="7"/>
          </p:cNvCxnSpPr>
          <p:nvPr/>
        </p:nvCxnSpPr>
        <p:spPr bwMode="auto">
          <a:xfrm flipH="1">
            <a:off x="3799279" y="21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1" name="AutoShape 24"/>
          <p:cNvCxnSpPr>
            <a:cxnSpLocks noChangeShapeType="1"/>
            <a:stCxn id="12" idx="2"/>
            <a:endCxn id="11" idx="6"/>
          </p:cNvCxnSpPr>
          <p:nvPr/>
        </p:nvCxnSpPr>
        <p:spPr bwMode="auto">
          <a:xfrm flipH="1">
            <a:off x="2052000" y="10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2" name="AutoShape 24"/>
          <p:cNvCxnSpPr>
            <a:cxnSpLocks noChangeShapeType="1"/>
            <a:stCxn id="12" idx="4"/>
            <a:endCxn id="16" idx="0"/>
          </p:cNvCxnSpPr>
          <p:nvPr/>
        </p:nvCxnSpPr>
        <p:spPr bwMode="auto">
          <a:xfrm>
            <a:off x="3672000" y="126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23" name="AutoShape 24"/>
          <p:cNvCxnSpPr>
            <a:cxnSpLocks noChangeShapeType="1"/>
            <a:stCxn id="16" idx="2"/>
            <a:endCxn id="15" idx="6"/>
          </p:cNvCxnSpPr>
          <p:nvPr/>
        </p:nvCxnSpPr>
        <p:spPr bwMode="auto">
          <a:xfrm flipH="1">
            <a:off x="2052000" y="288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15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25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151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367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2772000" y="19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403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72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032000" y="12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2" name="Text Box 44"/>
          <p:cNvSpPr txBox="1">
            <a:spLocks noChangeArrowheads="1"/>
          </p:cNvSpPr>
          <p:nvPr/>
        </p:nvSpPr>
        <p:spPr bwMode="auto">
          <a:xfrm>
            <a:off x="115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graphicFrame>
        <p:nvGraphicFramePr>
          <p:cNvPr id="135" name="表格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615523"/>
              </p:ext>
            </p:extLst>
          </p:nvPr>
        </p:nvGraphicFramePr>
        <p:xfrm>
          <a:off x="3672000" y="360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heap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graphicFrame>
        <p:nvGraphicFramePr>
          <p:cNvPr id="136" name="表格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28020"/>
              </p:ext>
            </p:extLst>
          </p:nvPr>
        </p:nvGraphicFramePr>
        <p:xfrm>
          <a:off x="5832000" y="468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35603956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98198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30805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503138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2729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9755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560347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3058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i="1" dirty="0" smtClean="0">
                          <a:latin typeface="+mn-lt"/>
                        </a:rPr>
                        <a:t>index</a:t>
                      </a:r>
                      <a:endParaRPr lang="zh-TW" altLang="en-US" i="1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000675"/>
                  </a:ext>
                </a:extLst>
              </a:tr>
            </a:tbl>
          </a:graphicData>
        </a:graphic>
      </p:graphicFrame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5292000" y="549000"/>
            <a:ext cx="720000" cy="360000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id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 </a:t>
            </a: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  <a:endParaRPr kumimoji="1" lang="zh-TW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AutoShape 24"/>
          <p:cNvCxnSpPr>
            <a:cxnSpLocks noChangeShapeType="1"/>
          </p:cNvCxnSpPr>
          <p:nvPr/>
        </p:nvCxnSpPr>
        <p:spPr bwMode="auto">
          <a:xfrm flipH="1">
            <a:off x="1099279" y="121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44232874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Implement the min-priority queue with a binary min-heap</a:t>
            </a:r>
          </a:p>
        </p:txBody>
      </p:sp>
      <p:sp>
        <p:nvSpPr>
          <p:cNvPr id="11571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Dijkstra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heap.resize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index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= u;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index[ u ] = u;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Implement the min-priority queue with a binary min-heap</a:t>
            </a:r>
          </a:p>
        </p:txBody>
      </p:sp>
      <p:sp>
        <p:nvSpPr>
          <p:cNvPr id="10240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index;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The </a:t>
            </a:r>
            <a:r>
              <a:rPr lang="en-US" altLang="zh-TW" dirty="0" smtClean="0"/>
              <a:t>Worst-case </a:t>
            </a:r>
            <a:r>
              <a:rPr lang="en-US" altLang="zh-TW" dirty="0"/>
              <a:t>Time Complexity</a:t>
            </a:r>
            <a:endParaRPr lang="en-US" altLang="zh-TW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0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spcBef>
                    <a:spcPct val="40000"/>
                  </a:spcBef>
                </a:pPr>
                <a:r>
                  <a:rPr lang="en-US" altLang="zh-TW" dirty="0" smtClean="0"/>
                  <a:t>Let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dirty="0" smtClean="0"/>
                  <a:t> and </a:t>
                </a:r>
                <a:r>
                  <a:rPr lang="en-US" altLang="zh-TW" i="1" dirty="0" smtClean="0"/>
                  <a:t>m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/>
                  <a:t> </a:t>
                </a:r>
                <a:r>
                  <a:rPr lang="en-US" altLang="zh-TW" spc="100" dirty="0" smtClean="0">
                    <a:latin typeface="Georgia" panose="02040502050405020303" pitchFamily="18" charset="0"/>
                  </a:rPr>
                  <a:t>|</a:t>
                </a:r>
                <a:r>
                  <a:rPr lang="en-US" altLang="zh-TW" i="1" spc="100" dirty="0" smtClean="0">
                    <a:solidFill>
                      <a:srgbClr val="000000"/>
                    </a:solidFill>
                    <a:sym typeface="Symbol" pitchFamily="18" charset="2"/>
                  </a:rPr>
                  <a:t>E</a:t>
                </a:r>
                <a:r>
                  <a:rPr lang="en-US" altLang="zh-TW" dirty="0" smtClean="0">
                    <a:latin typeface="Georgia" panose="02040502050405020303" pitchFamily="18" charset="0"/>
                  </a:rPr>
                  <a:t>|</a:t>
                </a:r>
                <a:r>
                  <a:rPr lang="en-US" altLang="zh-TW" dirty="0" smtClean="0"/>
                  <a:t>.</a:t>
                </a:r>
              </a:p>
              <a:p>
                <a:pPr eaLnBrk="1" hangingPunct="1">
                  <a:spcBef>
                    <a:spcPct val="40000"/>
                  </a:spcBef>
                </a:pPr>
                <a:r>
                  <a:rPr lang="en-US" altLang="zh-TW" dirty="0" smtClean="0"/>
                  <a:t>For </a:t>
                </a:r>
                <a:r>
                  <a:rPr lang="en-US" altLang="zh-TW" dirty="0"/>
                  <a:t>each </a:t>
                </a:r>
                <a:r>
                  <a:rPr lang="en-US" altLang="zh-TW" dirty="0" smtClean="0"/>
                  <a:t>node 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 reachable from 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the for </a:t>
                </a:r>
                <a:r>
                  <a:rPr lang="en-US" altLang="zh-TW" dirty="0"/>
                  <a:t>loop </a:t>
                </a:r>
                <a:r>
                  <a:rPr lang="en-US" altLang="zh-TW" dirty="0" smtClean="0"/>
                  <a:t>in the while loop </a:t>
                </a:r>
                <a:r>
                  <a:rPr lang="en-US" altLang="zh-TW" dirty="0"/>
                  <a:t>is executed </a:t>
                </a:r>
                <a:r>
                  <a:rPr lang="en-US" altLang="zh-TW" dirty="0" smtClean="0">
                    <a:latin typeface="Georgia" panose="02040502050405020303" pitchFamily="18" charset="0"/>
                  </a:rPr>
                  <a:t>|</a:t>
                </a:r>
                <a:r>
                  <a:rPr lang="en-US" altLang="zh-TW" sz="1800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adjList</a:t>
                </a:r>
                <a:r>
                  <a:rPr lang="en-US" altLang="zh-TW" sz="1800" spc="3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[u</a:t>
                </a:r>
                <a:r>
                  <a:rPr lang="en-US" altLang="zh-TW" sz="18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</a:t>
                </a:r>
                <a:r>
                  <a:rPr lang="en-US" altLang="zh-TW" dirty="0" smtClean="0">
                    <a:latin typeface="Georgia" panose="02040502050405020303" pitchFamily="18" charset="0"/>
                  </a:rPr>
                  <a:t>|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times.</a:t>
                </a:r>
              </a:p>
              <a:p>
                <a:pPr eaLnBrk="1" hangingPunct="1">
                  <a:spcBef>
                    <a:spcPct val="40000"/>
                  </a:spcBef>
                </a:pPr>
                <a:r>
                  <a:rPr lang="en-US" altLang="zh-TW" dirty="0" smtClean="0"/>
                  <a:t>Since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000000"/>
                            </a:solidFill>
                            <a:latin typeface="Georgia" panose="02040502050405020303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zh-TW" sz="18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adjList</m:t>
                        </m:r>
                        <m:r>
                          <m:rPr>
                            <m:nor/>
                          </m:rPr>
                          <a:rPr lang="en-US" altLang="zh-TW" sz="1800" spc="3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zh-TW" sz="1800" spc="3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TW" sz="18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000000"/>
                            </a:solidFill>
                            <a:latin typeface="Georgia" panose="02040502050405020303" pitchFamily="18" charset="0"/>
                          </a:rPr>
                          <m:t>|</m:t>
                        </m:r>
                      </m:e>
                    </m:nary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b="0" i="1" smtClean="0"/>
                      <m:t>m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/>
              </a:p>
              <a:p>
                <a:pPr eaLnBrk="1" hangingPunct="1">
                  <a:spcBef>
                    <a:spcPct val="40000"/>
                  </a:spcBef>
                </a:pPr>
                <a:r>
                  <a:rPr lang="en-US" altLang="zh-TW" dirty="0"/>
                  <a:t>the for loop in the while loop takes time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m</a:t>
                </a:r>
                <a:r>
                  <a:rPr lang="en-US" altLang="zh-TW" dirty="0" smtClean="0"/>
                  <a:t>).</a:t>
                </a:r>
                <a:endParaRPr lang="en-US" altLang="zh-TW" dirty="0"/>
              </a:p>
              <a:p>
                <a:pPr eaLnBrk="1" hangingPunct="1">
                  <a:spcBef>
                    <a:spcPct val="40000"/>
                  </a:spcBef>
                </a:pP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extractMin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is invoked once per </a:t>
                </a:r>
                <a:r>
                  <a:rPr lang="en-US" altLang="zh-TW" dirty="0" smtClean="0"/>
                  <a:t>node, </a:t>
                </a:r>
                <a:r>
                  <a:rPr lang="en-US" altLang="zh-TW" dirty="0"/>
                  <a:t>and each </a:t>
                </a: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extractMin</a:t>
                </a:r>
                <a:r>
                  <a:rPr lang="en-US" altLang="zh-TW" dirty="0" smtClean="0"/>
                  <a:t> takes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dirty="0" err="1" smtClean="0"/>
                  <a:t>log</a:t>
                </a:r>
                <a:r>
                  <a:rPr lang="en-US" altLang="zh-TW" spc="300" baseline="-25000" dirty="0" err="1" smtClean="0"/>
                  <a:t>2</a:t>
                </a:r>
                <a:r>
                  <a:rPr lang="en-US" altLang="zh-TW" i="1" dirty="0" err="1" smtClean="0"/>
                  <a:t>n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time</a:t>
                </a:r>
                <a:r>
                  <a:rPr lang="en-US" altLang="zh-TW" dirty="0" smtClean="0"/>
                  <a:t>.</a:t>
                </a:r>
              </a:p>
              <a:p>
                <a:pPr eaLnBrk="1" hangingPunct="1">
                  <a:spcBef>
                    <a:spcPct val="40000"/>
                  </a:spcBef>
                </a:pPr>
                <a:r>
                  <a:rPr lang="en-US" altLang="zh-TW" sz="1800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heapDecreaseKey</a:t>
                </a:r>
                <a:r>
                  <a:rPr lang="en-US" altLang="zh-TW" sz="1900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is totally invoked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m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times,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and each </a:t>
                </a: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heapDecreaseKey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takes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O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dirty="0" err="1">
                    <a:solidFill>
                      <a:srgbClr val="000000"/>
                    </a:solidFill>
                  </a:rPr>
                  <a:t>log</a:t>
                </a:r>
                <a:r>
                  <a:rPr lang="en-US" altLang="zh-TW" spc="300" baseline="-25000" dirty="0" err="1">
                    <a:solidFill>
                      <a:srgbClr val="000000"/>
                    </a:solidFill>
                  </a:rPr>
                  <a:t>2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time.</a:t>
                </a:r>
                <a:endParaRPr lang="en-US" altLang="zh-TW" dirty="0"/>
              </a:p>
              <a:p>
                <a:pPr eaLnBrk="1" hangingPunct="1">
                  <a:spcBef>
                    <a:spcPct val="40000"/>
                  </a:spcBef>
                </a:pPr>
                <a:r>
                  <a:rPr lang="en-US" altLang="zh-TW" dirty="0"/>
                  <a:t>Therefore the worst-case </a:t>
                </a:r>
                <a:r>
                  <a:rPr lang="en-US" altLang="zh-TW" dirty="0" smtClean="0"/>
                  <a:t>complexity </a:t>
                </a:r>
                <a:r>
                  <a:rPr lang="en-US" altLang="zh-TW" dirty="0"/>
                  <a:t>time </a:t>
                </a:r>
                <a:r>
                  <a:rPr lang="en-US" altLang="zh-TW" dirty="0" smtClean="0"/>
                  <a:t>is </a:t>
                </a:r>
                <a:r>
                  <a:rPr lang="en-US" altLang="zh-TW" i="1" dirty="0" smtClean="0">
                    <a:sym typeface="Symbol" pitchFamily="18" charset="2"/>
                  </a:rPr>
                  <a:t>O</a:t>
                </a:r>
                <a:r>
                  <a:rPr lang="en-US" altLang="zh-TW" dirty="0" smtClean="0">
                    <a:sym typeface="Symbol" pitchFamily="18" charset="2"/>
                  </a:rPr>
                  <a:t>((</a:t>
                </a:r>
                <a:r>
                  <a:rPr lang="en-US" altLang="zh-TW" i="1" dirty="0" smtClean="0">
                    <a:sym typeface="Symbol" pitchFamily="18" charset="2"/>
                  </a:rPr>
                  <a:t>n</a:t>
                </a:r>
                <a:r>
                  <a:rPr lang="en-US" altLang="zh-TW" dirty="0" smtClean="0">
                    <a:sym typeface="Symbol" pitchFamily="18" charset="2"/>
                  </a:rPr>
                  <a:t> </a:t>
                </a:r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+</a:t>
                </a:r>
                <a:r>
                  <a:rPr lang="en-US" altLang="zh-TW" dirty="0" smtClean="0">
                    <a:sym typeface="Symbol" pitchFamily="18" charset="2"/>
                  </a:rPr>
                  <a:t> </a:t>
                </a:r>
                <a:r>
                  <a:rPr lang="en-US" altLang="zh-TW" i="1" dirty="0" smtClean="0">
                    <a:sym typeface="Symbol" pitchFamily="18" charset="2"/>
                  </a:rPr>
                  <a:t>m</a:t>
                </a:r>
                <a:r>
                  <a:rPr lang="en-US" altLang="zh-TW" dirty="0" smtClean="0">
                    <a:sym typeface="Symbol" pitchFamily="18" charset="2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err="1">
                    <a:solidFill>
                      <a:srgbClr val="000000"/>
                    </a:solidFill>
                  </a:rPr>
                  <a:t>log</a:t>
                </a:r>
                <a:r>
                  <a:rPr lang="en-US" altLang="zh-TW" spc="300" baseline="-25000" dirty="0" err="1">
                    <a:solidFill>
                      <a:srgbClr val="000000"/>
                    </a:solidFill>
                  </a:rPr>
                  <a:t>2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>
                    <a:sym typeface="Symbol" pitchFamily="18" charset="2"/>
                  </a:rPr>
                  <a:t>.</a:t>
                </a:r>
                <a:endParaRPr lang="en-US" altLang="zh-TW" sz="2400" dirty="0" smtClean="0"/>
              </a:p>
              <a:p>
                <a:pPr marL="719138" lvl="1" indent="-265113" eaLnBrk="1" hangingPunct="1">
                  <a:spcBef>
                    <a:spcPct val="40000"/>
                  </a:spcBef>
                  <a:buSzPct val="80000"/>
                  <a:buFont typeface="Wingdings" pitchFamily="2" charset="2"/>
                  <a:buChar char="Ø"/>
                </a:pPr>
                <a:endParaRPr lang="en-US" altLang="zh-TW" sz="600" dirty="0" smtClean="0"/>
              </a:p>
            </p:txBody>
          </p:sp>
        </mc:Choice>
        <mc:Fallback xmlns="">
          <p:sp>
            <p:nvSpPr>
              <p:cNvPr id="1946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6" t="-1004" r="-1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832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 err="1" smtClean="0"/>
              <a:t>Dijkstra's</a:t>
            </a:r>
            <a:r>
              <a:rPr lang="en-US" altLang="zh-TW" sz="3200" dirty="0" smtClean="0"/>
              <a:t> algorithm cannot apply to a directed graph with negative weight edges</a:t>
            </a:r>
          </a:p>
        </p:txBody>
      </p:sp>
      <p:sp>
        <p:nvSpPr>
          <p:cNvPr id="10445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18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0445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455" name="Text Box 35"/>
          <p:cNvSpPr txBox="1"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445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0445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04458" name="Oval 39"/>
          <p:cNvSpPr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0445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0446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72000" rIns="0" bIns="0" anchor="ctr" anchorCtr="0"/>
          <a:lstStyle/>
          <a:p>
            <a:pPr algn="ctr"/>
            <a:r>
              <a:rPr lang="en-US" altLang="zh-TW" sz="2000" dirty="0"/>
              <a:t>3</a:t>
            </a:r>
          </a:p>
        </p:txBody>
      </p:sp>
      <p:sp>
        <p:nvSpPr>
          <p:cNvPr id="10446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108000" bIns="0" anchor="ctr" anchorCtr="0"/>
          <a:lstStyle/>
          <a:p>
            <a:pPr algn="ctr"/>
            <a:r>
              <a:rPr lang="en-US" altLang="zh-TW" sz="2000"/>
              <a:t>2</a:t>
            </a:r>
          </a:p>
        </p:txBody>
      </p:sp>
      <p:sp>
        <p:nvSpPr>
          <p:cNvPr id="10446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463" name="Text Box 44"/>
          <p:cNvSpPr txBox="1">
            <a:spLocks noChangeArrowheads="1"/>
          </p:cNvSpPr>
          <p:nvPr/>
        </p:nvSpPr>
        <p:spPr bwMode="auto">
          <a:xfrm>
            <a:off x="5652000" y="432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/>
              <a:t>4</a:t>
            </a:r>
          </a:p>
        </p:txBody>
      </p:sp>
      <p:sp>
        <p:nvSpPr>
          <p:cNvPr id="10446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104465" name="AutoShape 46"/>
          <p:cNvCxnSpPr>
            <a:cxnSpLocks noChangeShapeType="1"/>
            <a:stCxn id="104464" idx="3"/>
            <a:endCxn id="104457" idx="7"/>
          </p:cNvCxnSpPr>
          <p:nvPr/>
        </p:nvCxnSpPr>
        <p:spPr bwMode="auto">
          <a:xfrm flipH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04466" name="AutoShape 47"/>
          <p:cNvCxnSpPr>
            <a:cxnSpLocks noChangeShapeType="1"/>
            <a:stCxn id="104464" idx="5"/>
            <a:endCxn id="10445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46"/>
          <p:cNvCxnSpPr>
            <a:cxnSpLocks noChangeShapeType="1"/>
            <a:stCxn id="104457" idx="6"/>
            <a:endCxn id="104459" idx="2"/>
          </p:cNvCxnSpPr>
          <p:nvPr/>
        </p:nvCxnSpPr>
        <p:spPr bwMode="auto">
          <a:xfrm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6" name="AutoShape 46"/>
          <p:cNvCxnSpPr>
            <a:cxnSpLocks noChangeShapeType="1"/>
            <a:stCxn id="104459" idx="4"/>
            <a:endCxn id="104458" idx="0"/>
          </p:cNvCxnSpPr>
          <p:nvPr/>
        </p:nvCxnSpPr>
        <p:spPr bwMode="auto">
          <a:xfrm>
            <a:off x="5652000" y="4149000"/>
            <a:ext cx="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 err="1" smtClean="0"/>
              <a:t>Dijkstra's</a:t>
            </a:r>
            <a:r>
              <a:rPr lang="en-US" altLang="zh-TW" sz="3200" dirty="0" smtClean="0"/>
              <a:t> algorithm cannot apply to a directed graph with negative weight edges</a:t>
            </a:r>
          </a:p>
        </p:txBody>
      </p:sp>
      <p:sp>
        <p:nvSpPr>
          <p:cNvPr id="10445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18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0445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455" name="Text Box 35"/>
          <p:cNvSpPr txBox="1"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445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0445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04458" name="Oval 39"/>
          <p:cNvSpPr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0445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0446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72000" rIns="0" bIns="0" anchor="ctr" anchorCtr="0"/>
          <a:lstStyle/>
          <a:p>
            <a:pPr algn="ctr"/>
            <a:r>
              <a:rPr lang="en-US" altLang="zh-TW" sz="2000" dirty="0"/>
              <a:t>3</a:t>
            </a:r>
          </a:p>
        </p:txBody>
      </p:sp>
      <p:sp>
        <p:nvSpPr>
          <p:cNvPr id="10446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108000" bIns="0" anchor="ctr" anchorCtr="0"/>
          <a:lstStyle/>
          <a:p>
            <a:pPr algn="ctr"/>
            <a:r>
              <a:rPr lang="en-US" altLang="zh-TW" sz="2000"/>
              <a:t>2</a:t>
            </a:r>
          </a:p>
        </p:txBody>
      </p:sp>
      <p:sp>
        <p:nvSpPr>
          <p:cNvPr id="10446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463" name="Text Box 44"/>
          <p:cNvSpPr txBox="1">
            <a:spLocks noChangeArrowheads="1"/>
          </p:cNvSpPr>
          <p:nvPr/>
        </p:nvSpPr>
        <p:spPr bwMode="auto">
          <a:xfrm>
            <a:off x="5652000" y="432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/>
              <a:t>4</a:t>
            </a:r>
          </a:p>
        </p:txBody>
      </p:sp>
      <p:sp>
        <p:nvSpPr>
          <p:cNvPr id="10446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104465" name="AutoShape 46"/>
          <p:cNvCxnSpPr>
            <a:cxnSpLocks noChangeShapeType="1"/>
            <a:stCxn id="104464" idx="3"/>
            <a:endCxn id="104457" idx="7"/>
          </p:cNvCxnSpPr>
          <p:nvPr/>
        </p:nvCxnSpPr>
        <p:spPr bwMode="auto">
          <a:xfrm flipH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04466" name="AutoShape 47"/>
          <p:cNvCxnSpPr>
            <a:cxnSpLocks noChangeShapeType="1"/>
            <a:stCxn id="104464" idx="5"/>
            <a:endCxn id="10445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46"/>
          <p:cNvCxnSpPr>
            <a:cxnSpLocks noChangeShapeType="1"/>
            <a:stCxn id="104457" idx="6"/>
            <a:endCxn id="104459" idx="2"/>
          </p:cNvCxnSpPr>
          <p:nvPr/>
        </p:nvCxnSpPr>
        <p:spPr bwMode="auto">
          <a:xfrm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6" name="AutoShape 46"/>
          <p:cNvCxnSpPr>
            <a:cxnSpLocks noChangeShapeType="1"/>
            <a:stCxn id="104459" idx="4"/>
            <a:endCxn id="104458" idx="0"/>
          </p:cNvCxnSpPr>
          <p:nvPr/>
        </p:nvCxnSpPr>
        <p:spPr bwMode="auto">
          <a:xfrm>
            <a:off x="5652000" y="4149000"/>
            <a:ext cx="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14601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 err="1" smtClean="0"/>
              <a:t>Dijkstra's</a:t>
            </a:r>
            <a:r>
              <a:rPr lang="en-US" altLang="zh-TW" sz="3200" dirty="0" smtClean="0"/>
              <a:t> algorithm cannot apply to a directed graph with negative weight edges</a:t>
            </a:r>
          </a:p>
        </p:txBody>
      </p:sp>
      <p:sp>
        <p:nvSpPr>
          <p:cNvPr id="10445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18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0445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455" name="Text Box 35"/>
          <p:cNvSpPr txBox="1"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445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0445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04458" name="Oval 39"/>
          <p:cNvSpPr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0445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0446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72000" rIns="0" bIns="0" anchor="ctr" anchorCtr="0"/>
          <a:lstStyle/>
          <a:p>
            <a:pPr algn="ctr"/>
            <a:r>
              <a:rPr lang="en-US" altLang="zh-TW" sz="2000" dirty="0"/>
              <a:t>3</a:t>
            </a:r>
          </a:p>
        </p:txBody>
      </p:sp>
      <p:sp>
        <p:nvSpPr>
          <p:cNvPr id="10446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108000" bIns="0" anchor="ctr" anchorCtr="0"/>
          <a:lstStyle/>
          <a:p>
            <a:pPr algn="ctr"/>
            <a:r>
              <a:rPr lang="en-US" altLang="zh-TW" sz="2000"/>
              <a:t>2</a:t>
            </a:r>
          </a:p>
        </p:txBody>
      </p:sp>
      <p:sp>
        <p:nvSpPr>
          <p:cNvPr id="10446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463" name="Text Box 44"/>
          <p:cNvSpPr txBox="1">
            <a:spLocks noChangeArrowheads="1"/>
          </p:cNvSpPr>
          <p:nvPr/>
        </p:nvSpPr>
        <p:spPr bwMode="auto">
          <a:xfrm>
            <a:off x="5652000" y="432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/>
              <a:t>4</a:t>
            </a:r>
          </a:p>
        </p:txBody>
      </p:sp>
      <p:sp>
        <p:nvSpPr>
          <p:cNvPr id="10446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104465" name="AutoShape 46"/>
          <p:cNvCxnSpPr>
            <a:cxnSpLocks noChangeShapeType="1"/>
            <a:stCxn id="104464" idx="3"/>
            <a:endCxn id="104457" idx="7"/>
          </p:cNvCxnSpPr>
          <p:nvPr/>
        </p:nvCxnSpPr>
        <p:spPr bwMode="auto">
          <a:xfrm flipH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04466" name="AutoShape 47"/>
          <p:cNvCxnSpPr>
            <a:cxnSpLocks noChangeShapeType="1"/>
            <a:stCxn id="104464" idx="5"/>
            <a:endCxn id="10445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46"/>
          <p:cNvCxnSpPr>
            <a:cxnSpLocks noChangeShapeType="1"/>
            <a:stCxn id="104457" idx="6"/>
            <a:endCxn id="104459" idx="2"/>
          </p:cNvCxnSpPr>
          <p:nvPr/>
        </p:nvCxnSpPr>
        <p:spPr bwMode="auto">
          <a:xfrm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6" name="AutoShape 46"/>
          <p:cNvCxnSpPr>
            <a:cxnSpLocks noChangeShapeType="1"/>
            <a:stCxn id="104459" idx="4"/>
            <a:endCxn id="104458" idx="0"/>
          </p:cNvCxnSpPr>
          <p:nvPr/>
        </p:nvCxnSpPr>
        <p:spPr bwMode="auto">
          <a:xfrm>
            <a:off x="5652000" y="4149000"/>
            <a:ext cx="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425297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 err="1" smtClean="0"/>
              <a:t>Dijkstra's</a:t>
            </a:r>
            <a:r>
              <a:rPr lang="en-US" altLang="zh-TW" sz="3200" dirty="0" smtClean="0"/>
              <a:t> algorithm cannot apply to a directed graph with negative weight edges</a:t>
            </a:r>
          </a:p>
        </p:txBody>
      </p:sp>
      <p:sp>
        <p:nvSpPr>
          <p:cNvPr id="10445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18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0445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455" name="Text Box 35"/>
          <p:cNvSpPr txBox="1"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445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0445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04458" name="Oval 39"/>
          <p:cNvSpPr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0445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0446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72000" rIns="0" bIns="0" anchor="ctr" anchorCtr="0"/>
          <a:lstStyle/>
          <a:p>
            <a:pPr algn="ctr"/>
            <a:r>
              <a:rPr lang="en-US" altLang="zh-TW" sz="2000" dirty="0"/>
              <a:t>3</a:t>
            </a:r>
          </a:p>
        </p:txBody>
      </p:sp>
      <p:sp>
        <p:nvSpPr>
          <p:cNvPr id="10446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108000" bIns="0" anchor="ctr" anchorCtr="0"/>
          <a:lstStyle/>
          <a:p>
            <a:pPr algn="ctr"/>
            <a:r>
              <a:rPr lang="en-US" altLang="zh-TW" sz="2000"/>
              <a:t>2</a:t>
            </a:r>
          </a:p>
        </p:txBody>
      </p:sp>
      <p:sp>
        <p:nvSpPr>
          <p:cNvPr id="10446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463" name="Text Box 44"/>
          <p:cNvSpPr txBox="1">
            <a:spLocks noChangeArrowheads="1"/>
          </p:cNvSpPr>
          <p:nvPr/>
        </p:nvSpPr>
        <p:spPr bwMode="auto">
          <a:xfrm>
            <a:off x="5652000" y="432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/>
              <a:t>4</a:t>
            </a:r>
          </a:p>
        </p:txBody>
      </p:sp>
      <p:sp>
        <p:nvSpPr>
          <p:cNvPr id="10446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104465" name="AutoShape 46"/>
          <p:cNvCxnSpPr>
            <a:cxnSpLocks noChangeShapeType="1"/>
            <a:stCxn id="104464" idx="3"/>
            <a:endCxn id="104457" idx="7"/>
          </p:cNvCxnSpPr>
          <p:nvPr/>
        </p:nvCxnSpPr>
        <p:spPr bwMode="auto">
          <a:xfrm flipH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04466" name="AutoShape 47"/>
          <p:cNvCxnSpPr>
            <a:cxnSpLocks noChangeShapeType="1"/>
            <a:stCxn id="104464" idx="5"/>
            <a:endCxn id="10445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46"/>
          <p:cNvCxnSpPr>
            <a:cxnSpLocks noChangeShapeType="1"/>
            <a:stCxn id="104457" idx="6"/>
            <a:endCxn id="104459" idx="2"/>
          </p:cNvCxnSpPr>
          <p:nvPr/>
        </p:nvCxnSpPr>
        <p:spPr bwMode="auto">
          <a:xfrm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6" name="AutoShape 46"/>
          <p:cNvCxnSpPr>
            <a:cxnSpLocks noChangeShapeType="1"/>
            <a:stCxn id="104459" idx="4"/>
            <a:endCxn id="104458" idx="0"/>
          </p:cNvCxnSpPr>
          <p:nvPr/>
        </p:nvCxnSpPr>
        <p:spPr bwMode="auto">
          <a:xfrm>
            <a:off x="5652000" y="4149000"/>
            <a:ext cx="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11871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 err="1" smtClean="0"/>
              <a:t>Dijkstra's</a:t>
            </a:r>
            <a:r>
              <a:rPr lang="en-US" altLang="zh-TW" sz="3200" dirty="0" smtClean="0"/>
              <a:t> algorithm cannot apply to a directed graph with negative weight edges</a:t>
            </a:r>
          </a:p>
        </p:txBody>
      </p:sp>
      <p:sp>
        <p:nvSpPr>
          <p:cNvPr id="10445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18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0445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455" name="Text Box 35"/>
          <p:cNvSpPr txBox="1"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445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0445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04458" name="Oval 39"/>
          <p:cNvSpPr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0445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0446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72000" rIns="0" bIns="0" anchor="ctr" anchorCtr="0"/>
          <a:lstStyle/>
          <a:p>
            <a:pPr algn="ctr"/>
            <a:r>
              <a:rPr lang="en-US" altLang="zh-TW" sz="2000" dirty="0"/>
              <a:t>3</a:t>
            </a:r>
          </a:p>
        </p:txBody>
      </p:sp>
      <p:sp>
        <p:nvSpPr>
          <p:cNvPr id="10446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108000" bIns="0" anchor="ctr" anchorCtr="0"/>
          <a:lstStyle/>
          <a:p>
            <a:pPr algn="ctr"/>
            <a:r>
              <a:rPr lang="en-US" altLang="zh-TW" sz="2000"/>
              <a:t>2</a:t>
            </a:r>
          </a:p>
        </p:txBody>
      </p:sp>
      <p:sp>
        <p:nvSpPr>
          <p:cNvPr id="10446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463" name="Text Box 44"/>
          <p:cNvSpPr txBox="1">
            <a:spLocks noChangeArrowheads="1"/>
          </p:cNvSpPr>
          <p:nvPr/>
        </p:nvSpPr>
        <p:spPr bwMode="auto">
          <a:xfrm>
            <a:off x="5652000" y="432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/>
              <a:t>4</a:t>
            </a:r>
          </a:p>
        </p:txBody>
      </p:sp>
      <p:sp>
        <p:nvSpPr>
          <p:cNvPr id="10446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104465" name="AutoShape 46"/>
          <p:cNvCxnSpPr>
            <a:cxnSpLocks noChangeShapeType="1"/>
            <a:stCxn id="104464" idx="3"/>
            <a:endCxn id="104457" idx="7"/>
          </p:cNvCxnSpPr>
          <p:nvPr/>
        </p:nvCxnSpPr>
        <p:spPr bwMode="auto">
          <a:xfrm flipH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04466" name="AutoShape 47"/>
          <p:cNvCxnSpPr>
            <a:cxnSpLocks noChangeShapeType="1"/>
            <a:stCxn id="104464" idx="5"/>
            <a:endCxn id="10445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46"/>
          <p:cNvCxnSpPr>
            <a:cxnSpLocks noChangeShapeType="1"/>
            <a:stCxn id="104457" idx="6"/>
            <a:endCxn id="104459" idx="2"/>
          </p:cNvCxnSpPr>
          <p:nvPr/>
        </p:nvCxnSpPr>
        <p:spPr bwMode="auto">
          <a:xfrm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6" name="AutoShape 46"/>
          <p:cNvCxnSpPr>
            <a:cxnSpLocks noChangeShapeType="1"/>
            <a:stCxn id="104459" idx="4"/>
            <a:endCxn id="104458" idx="0"/>
          </p:cNvCxnSpPr>
          <p:nvPr/>
        </p:nvCxnSpPr>
        <p:spPr bwMode="auto">
          <a:xfrm>
            <a:off x="5652000" y="4149000"/>
            <a:ext cx="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351588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Dijkstra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311763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 err="1" smtClean="0"/>
              <a:t>Dijkstra's</a:t>
            </a:r>
            <a:r>
              <a:rPr lang="en-US" altLang="zh-TW" sz="3200" dirty="0" smtClean="0"/>
              <a:t> algorithm cannot apply to an undirected </a:t>
            </a:r>
            <a:r>
              <a:rPr lang="en-US" altLang="zh-TW" sz="3200" dirty="0"/>
              <a:t>graph </a:t>
            </a:r>
            <a:r>
              <a:rPr lang="en-US" altLang="zh-TW" sz="3200" dirty="0" smtClean="0"/>
              <a:t>with negative weight edges</a:t>
            </a:r>
          </a:p>
        </p:txBody>
      </p:sp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18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8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72000" rIns="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2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108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3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4" name="AutoShape 46"/>
          <p:cNvCxnSpPr>
            <a:cxnSpLocks noChangeShapeType="1"/>
            <a:stCxn id="23" idx="3"/>
            <a:endCxn id="18" idx="7"/>
          </p:cNvCxnSpPr>
          <p:nvPr/>
        </p:nvCxnSpPr>
        <p:spPr bwMode="auto">
          <a:xfrm flipH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47"/>
          <p:cNvCxnSpPr>
            <a:cxnSpLocks noChangeShapeType="1"/>
            <a:stCxn id="23" idx="5"/>
            <a:endCxn id="1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6" name="AutoShape 46"/>
          <p:cNvCxnSpPr>
            <a:cxnSpLocks noChangeShapeType="1"/>
            <a:stCxn id="18" idx="6"/>
            <a:endCxn id="19" idx="2"/>
          </p:cNvCxnSpPr>
          <p:nvPr/>
        </p:nvCxnSpPr>
        <p:spPr bwMode="auto">
          <a:xfrm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213249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 err="1" smtClean="0"/>
              <a:t>Dijkstra's</a:t>
            </a:r>
            <a:r>
              <a:rPr lang="en-US" altLang="zh-TW" sz="3200" dirty="0" smtClean="0"/>
              <a:t> algorithm cannot apply to an undirected </a:t>
            </a:r>
            <a:r>
              <a:rPr lang="en-US" altLang="zh-TW" sz="3200" dirty="0"/>
              <a:t>graph </a:t>
            </a:r>
            <a:r>
              <a:rPr lang="en-US" altLang="zh-TW" sz="3200" dirty="0" smtClean="0"/>
              <a:t>with negative weight edges</a:t>
            </a:r>
          </a:p>
        </p:txBody>
      </p:sp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18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8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72000" rIns="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2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108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3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24" name="AutoShape 46"/>
          <p:cNvCxnSpPr>
            <a:cxnSpLocks noChangeShapeType="1"/>
            <a:stCxn id="23" idx="3"/>
            <a:endCxn id="18" idx="7"/>
          </p:cNvCxnSpPr>
          <p:nvPr/>
        </p:nvCxnSpPr>
        <p:spPr bwMode="auto">
          <a:xfrm flipH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47"/>
          <p:cNvCxnSpPr>
            <a:cxnSpLocks noChangeShapeType="1"/>
            <a:stCxn id="23" idx="5"/>
            <a:endCxn id="1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6" name="AutoShape 46"/>
          <p:cNvCxnSpPr>
            <a:cxnSpLocks noChangeShapeType="1"/>
            <a:stCxn id="18" idx="6"/>
            <a:endCxn id="19" idx="2"/>
          </p:cNvCxnSpPr>
          <p:nvPr/>
        </p:nvCxnSpPr>
        <p:spPr bwMode="auto">
          <a:xfrm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323923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 err="1" smtClean="0"/>
              <a:t>Dijkstra's</a:t>
            </a:r>
            <a:r>
              <a:rPr lang="en-US" altLang="zh-TW" sz="3200" dirty="0" smtClean="0"/>
              <a:t> algorithm cannot apply to an undirected </a:t>
            </a:r>
            <a:r>
              <a:rPr lang="en-US" altLang="zh-TW" sz="3200" dirty="0"/>
              <a:t>graph </a:t>
            </a:r>
            <a:r>
              <a:rPr lang="en-US" altLang="zh-TW" sz="3200" dirty="0" smtClean="0"/>
              <a:t>with negative weight edges</a:t>
            </a:r>
          </a:p>
        </p:txBody>
      </p:sp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18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8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72000" rIns="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2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108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3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24" name="AutoShape 46"/>
          <p:cNvCxnSpPr>
            <a:cxnSpLocks noChangeShapeType="1"/>
            <a:stCxn id="23" idx="3"/>
            <a:endCxn id="18" idx="7"/>
          </p:cNvCxnSpPr>
          <p:nvPr/>
        </p:nvCxnSpPr>
        <p:spPr bwMode="auto">
          <a:xfrm flipH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47"/>
          <p:cNvCxnSpPr>
            <a:cxnSpLocks noChangeShapeType="1"/>
            <a:stCxn id="23" idx="5"/>
            <a:endCxn id="1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6" name="AutoShape 46"/>
          <p:cNvCxnSpPr>
            <a:cxnSpLocks noChangeShapeType="1"/>
            <a:stCxn id="18" idx="6"/>
            <a:endCxn id="19" idx="2"/>
          </p:cNvCxnSpPr>
          <p:nvPr/>
        </p:nvCxnSpPr>
        <p:spPr bwMode="auto">
          <a:xfrm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233886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 err="1" smtClean="0"/>
              <a:t>Dijkstra's</a:t>
            </a:r>
            <a:r>
              <a:rPr lang="en-US" altLang="zh-TW" sz="3200" dirty="0" smtClean="0"/>
              <a:t> algorithm cannot apply to an undirected </a:t>
            </a:r>
            <a:r>
              <a:rPr lang="en-US" altLang="zh-TW" sz="3200" dirty="0"/>
              <a:t>graph </a:t>
            </a:r>
            <a:r>
              <a:rPr lang="en-US" altLang="zh-TW" sz="3200" dirty="0" smtClean="0"/>
              <a:t>with negative weight edges</a:t>
            </a:r>
          </a:p>
        </p:txBody>
      </p:sp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18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8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72000" rIns="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2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108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3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24" name="AutoShape 46"/>
          <p:cNvCxnSpPr>
            <a:cxnSpLocks noChangeShapeType="1"/>
            <a:stCxn id="23" idx="3"/>
            <a:endCxn id="18" idx="7"/>
          </p:cNvCxnSpPr>
          <p:nvPr/>
        </p:nvCxnSpPr>
        <p:spPr bwMode="auto">
          <a:xfrm flipH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47"/>
          <p:cNvCxnSpPr>
            <a:cxnSpLocks noChangeShapeType="1"/>
            <a:stCxn id="23" idx="5"/>
            <a:endCxn id="1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6" name="AutoShape 46"/>
          <p:cNvCxnSpPr>
            <a:cxnSpLocks noChangeShapeType="1"/>
            <a:stCxn id="18" idx="6"/>
            <a:endCxn id="19" idx="2"/>
          </p:cNvCxnSpPr>
          <p:nvPr/>
        </p:nvCxnSpPr>
        <p:spPr bwMode="auto">
          <a:xfrm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84664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 err="1" smtClean="0"/>
              <a:t>Dijkstra's</a:t>
            </a:r>
            <a:r>
              <a:rPr lang="en-US" altLang="zh-TW" sz="3200" dirty="0" smtClean="0"/>
              <a:t> algorithm cannot apply to an undirected </a:t>
            </a:r>
            <a:r>
              <a:rPr lang="en-US" altLang="zh-TW" sz="3200" dirty="0"/>
              <a:t>graph </a:t>
            </a:r>
            <a:r>
              <a:rPr lang="en-US" altLang="zh-TW" sz="3200" dirty="0" smtClean="0"/>
              <a:t>with negative weight edges</a:t>
            </a:r>
          </a:p>
        </p:txBody>
      </p:sp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18000" anchor="ctr"/>
          <a:lstStyle/>
          <a:p>
            <a:pPr algn="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8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72000" rIns="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2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108000" bIns="0" anchor="ctr" anchorCtr="0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3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24" name="AutoShape 46"/>
          <p:cNvCxnSpPr>
            <a:cxnSpLocks noChangeShapeType="1"/>
            <a:stCxn id="23" idx="3"/>
            <a:endCxn id="18" idx="7"/>
          </p:cNvCxnSpPr>
          <p:nvPr/>
        </p:nvCxnSpPr>
        <p:spPr bwMode="auto">
          <a:xfrm flipH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47"/>
          <p:cNvCxnSpPr>
            <a:cxnSpLocks noChangeShapeType="1"/>
            <a:stCxn id="23" idx="5"/>
            <a:endCxn id="1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6" name="AutoShape 46"/>
          <p:cNvCxnSpPr>
            <a:cxnSpLocks noChangeShapeType="1"/>
            <a:stCxn id="18" idx="6"/>
            <a:endCxn id="19" idx="2"/>
          </p:cNvCxnSpPr>
          <p:nvPr/>
        </p:nvCxnSpPr>
        <p:spPr bwMode="auto">
          <a:xfrm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310750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The Bellman-Ford algorithm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</a:pPr>
            <a:r>
              <a:rPr lang="en-US" altLang="zh-TW" dirty="0" smtClean="0"/>
              <a:t>Given a </a:t>
            </a:r>
            <a:r>
              <a:rPr lang="en-US" altLang="zh-TW" dirty="0" smtClean="0">
                <a:solidFill>
                  <a:schemeClr val="hlink"/>
                </a:solidFill>
              </a:rPr>
              <a:t>weighted, directed</a:t>
            </a:r>
            <a:r>
              <a:rPr lang="en-US" altLang="zh-TW" dirty="0" smtClean="0"/>
              <a:t> graph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Symbol" pitchFamily="18" charset="2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)  with source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and weight function </a:t>
            </a:r>
            <a:r>
              <a:rPr lang="en-US" altLang="zh-TW" i="1" dirty="0" smtClean="0"/>
              <a:t>w</a:t>
            </a:r>
            <a:r>
              <a:rPr lang="en-US" altLang="zh-TW" dirty="0" smtClean="0"/>
              <a:t> :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 pitchFamily="18" charset="2"/>
              </a:rPr>
              <a:t> </a:t>
            </a:r>
            <a:r>
              <a:rPr lang="en-US" altLang="zh-TW" b="1" i="1" dirty="0" smtClean="0">
                <a:sym typeface="Symbol" pitchFamily="18" charset="2"/>
              </a:rPr>
              <a:t>R</a:t>
            </a:r>
            <a:r>
              <a:rPr lang="en-US" altLang="zh-TW" dirty="0" smtClean="0"/>
              <a:t>.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en-US" altLang="zh-TW" dirty="0" smtClean="0"/>
              <a:t>If there is a </a:t>
            </a:r>
            <a:r>
              <a:rPr lang="en-US" altLang="zh-TW" dirty="0" smtClean="0">
                <a:solidFill>
                  <a:schemeClr val="hlink"/>
                </a:solidFill>
                <a:sym typeface="Symbol" pitchFamily="18" charset="2"/>
              </a:rPr>
              <a:t>negative-weight</a:t>
            </a:r>
            <a:r>
              <a:rPr lang="en-US" altLang="zh-TW" dirty="0" smtClean="0">
                <a:solidFill>
                  <a:schemeClr val="hlink"/>
                </a:solidFill>
              </a:rPr>
              <a:t> cycle </a:t>
            </a:r>
            <a:r>
              <a:rPr lang="en-US" altLang="zh-TW" dirty="0" smtClean="0">
                <a:solidFill>
                  <a:schemeClr val="hlink"/>
                </a:solidFill>
                <a:sym typeface="Symbol" pitchFamily="18" charset="2"/>
              </a:rPr>
              <a:t>that is </a:t>
            </a:r>
            <a:r>
              <a:rPr lang="en-US" altLang="zh-TW" dirty="0" smtClean="0">
                <a:solidFill>
                  <a:schemeClr val="hlink"/>
                </a:solidFill>
              </a:rPr>
              <a:t>reachable from the source</a:t>
            </a:r>
            <a:r>
              <a:rPr lang="en-US" altLang="zh-TW" dirty="0" smtClean="0"/>
              <a:t>, the </a:t>
            </a:r>
            <a:r>
              <a:rPr lang="en-US" altLang="zh-TW" dirty="0" smtClean="0">
                <a:sym typeface="Symbol" pitchFamily="18" charset="2"/>
              </a:rPr>
              <a:t>Bellman-Ford</a:t>
            </a:r>
            <a:r>
              <a:rPr lang="en-US" altLang="zh-TW" dirty="0" smtClean="0"/>
              <a:t> algorithm indicates that no solution exists.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en-US" altLang="zh-TW" dirty="0" smtClean="0"/>
              <a:t>If there is no such cycle, the algorithm produces the shortest paths and their weights.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Bellman-Ford Algorithm for Directed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tail;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head;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en-US" altLang="zh-TW" dirty="0" smtClean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BellmanFord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746013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Bellman-Ford Algorithm for Directed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1;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i++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&gt;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&gt;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613621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300"/>
              </a:spcBef>
              <a:buClr>
                <a:srgbClr val="000000"/>
              </a:buClr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/>
              </a:rPr>
              <a:t>(3, 1), (4, 3), (1, 3), (1, 2), (1, 4), (2, 3), (2, 4), (0, 1), (0, 2)</a:t>
            </a:r>
            <a:endParaRPr lang="en-US" altLang="zh-TW" sz="2000" dirty="0" smtClean="0"/>
          </a:p>
          <a:p>
            <a:pPr marL="0" lvl="0" indent="0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&gt;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marL="0" lvl="0" indent="0">
              <a:spcBef>
                <a:spcPts val="30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</p:txBody>
      </p:sp>
      <p:cxnSp>
        <p:nvCxnSpPr>
          <p:cNvPr id="5" name="AutoShape 18"/>
          <p:cNvCxnSpPr>
            <a:cxnSpLocks noChangeShapeType="1"/>
            <a:stCxn id="17" idx="7"/>
            <a:endCxn id="14" idx="3"/>
          </p:cNvCxnSpPr>
          <p:nvPr/>
        </p:nvCxnSpPr>
        <p:spPr bwMode="auto">
          <a:xfrm flipV="1">
            <a:off x="3979279" y="337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6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079279" y="337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24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36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 Box 46"/>
          <p:cNvSpPr txBox="1">
            <a:spLocks noChangeArrowheads="1"/>
          </p:cNvSpPr>
          <p:nvPr/>
        </p:nvSpPr>
        <p:spPr bwMode="auto">
          <a:xfrm>
            <a:off x="54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0" name="Text Box 48"/>
          <p:cNvSpPr txBox="1"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1" name="Text Box 49"/>
          <p:cNvSpPr txBox="1">
            <a:spLocks noChangeArrowheads="1"/>
          </p:cNvSpPr>
          <p:nvPr/>
        </p:nvSpPr>
        <p:spPr bwMode="auto">
          <a:xfrm>
            <a:off x="58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2" name="Text Box 50"/>
          <p:cNvSpPr txBox="1">
            <a:spLocks noChangeArrowheads="1"/>
          </p:cNvSpPr>
          <p:nvPr/>
        </p:nvSpPr>
        <p:spPr bwMode="auto">
          <a:xfrm>
            <a:off x="45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3" name="Oval 52"/>
          <p:cNvSpPr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4" name="Oval 53"/>
          <p:cNvSpPr>
            <a:spLocks noChangeArrowheads="1"/>
          </p:cNvSpPr>
          <p:nvPr/>
        </p:nvSpPr>
        <p:spPr bwMode="auto">
          <a:xfrm>
            <a:off x="5472000" y="30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6" name="Oval 55"/>
          <p:cNvSpPr>
            <a:spLocks noChangeArrowheads="1"/>
          </p:cNvSpPr>
          <p:nvPr/>
        </p:nvSpPr>
        <p:spPr bwMode="auto">
          <a:xfrm>
            <a:off x="2772000" y="39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7" name="Oval 56"/>
          <p:cNvSpPr>
            <a:spLocks noChangeArrowheads="1"/>
          </p:cNvSpPr>
          <p:nvPr/>
        </p:nvSpPr>
        <p:spPr bwMode="auto">
          <a:xfrm>
            <a:off x="3672000" y="48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8" name="Oval 57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20" name="AutoShape 24"/>
          <p:cNvCxnSpPr>
            <a:cxnSpLocks noChangeShapeType="1"/>
            <a:stCxn id="16" idx="5"/>
            <a:endCxn id="17" idx="1"/>
          </p:cNvCxnSpPr>
          <p:nvPr/>
        </p:nvCxnSpPr>
        <p:spPr bwMode="auto">
          <a:xfrm>
            <a:off x="3079279" y="427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1" name="AutoShape 24"/>
          <p:cNvCxnSpPr>
            <a:cxnSpLocks noChangeShapeType="1"/>
            <a:stCxn id="13" idx="4"/>
            <a:endCxn id="17" idx="0"/>
          </p:cNvCxnSpPr>
          <p:nvPr/>
        </p:nvCxnSpPr>
        <p:spPr bwMode="auto">
          <a:xfrm>
            <a:off x="3852000" y="342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3" name="AutoShape 24"/>
          <p:cNvCxnSpPr>
            <a:cxnSpLocks noChangeShapeType="1"/>
            <a:stCxn id="14" idx="2"/>
            <a:endCxn id="13" idx="6"/>
          </p:cNvCxnSpPr>
          <p:nvPr/>
        </p:nvCxnSpPr>
        <p:spPr bwMode="auto">
          <a:xfrm flipH="1">
            <a:off x="4032000" y="324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7" idx="6"/>
            <a:endCxn id="18" idx="2"/>
          </p:cNvCxnSpPr>
          <p:nvPr/>
        </p:nvCxnSpPr>
        <p:spPr bwMode="auto">
          <a:xfrm>
            <a:off x="4032000" y="504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5" name="AutoShape 24"/>
          <p:cNvCxnSpPr>
            <a:cxnSpLocks noChangeShapeType="1"/>
            <a:stCxn id="18" idx="0"/>
            <a:endCxn id="14" idx="4"/>
          </p:cNvCxnSpPr>
          <p:nvPr/>
        </p:nvCxnSpPr>
        <p:spPr bwMode="auto">
          <a:xfrm flipV="1">
            <a:off x="5652000" y="342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313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45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457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34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56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212000" y="450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0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4" name="Text Box 44"/>
          <p:cNvSpPr txBox="1">
            <a:spLocks noChangeArrowheads="1"/>
          </p:cNvSpPr>
          <p:nvPr/>
        </p:nvSpPr>
        <p:spPr bwMode="auto">
          <a:xfrm>
            <a:off x="31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</a:p>
        </p:txBody>
      </p:sp>
      <p:cxnSp>
        <p:nvCxnSpPr>
          <p:cNvPr id="36" name="弧形接點 35"/>
          <p:cNvCxnSpPr>
            <a:stCxn id="13" idx="0"/>
            <a:endCxn id="14" idx="0"/>
          </p:cNvCxnSpPr>
          <p:nvPr/>
        </p:nvCxnSpPr>
        <p:spPr bwMode="auto">
          <a:xfrm rot="5400000" flipH="1" flipV="1">
            <a:off x="4752000" y="2169000"/>
            <a:ext cx="12700" cy="180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40" name="AutoShape 24"/>
          <p:cNvCxnSpPr>
            <a:cxnSpLocks noChangeShapeType="1"/>
            <a:stCxn id="13" idx="5"/>
            <a:endCxn id="18" idx="1"/>
          </p:cNvCxnSpPr>
          <p:nvPr/>
        </p:nvCxnSpPr>
        <p:spPr bwMode="auto">
          <a:xfrm>
            <a:off x="3979279" y="337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4032000" y="37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203365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300"/>
              </a:spcBef>
              <a:buClr>
                <a:srgbClr val="000000"/>
              </a:buClr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/>
              </a:rPr>
              <a:t>(3, 1), (4, 3), (1, 3), (1, 2), (1, 4), (2, 3), (2, 4), (0, 1), (0, 2)</a:t>
            </a:r>
            <a:endParaRPr lang="en-US" altLang="zh-TW" sz="2000" dirty="0" smtClean="0"/>
          </a:p>
          <a:p>
            <a:pPr marL="0" lvl="0" indent="0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&gt;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marL="0" lvl="0" indent="0">
              <a:spcBef>
                <a:spcPts val="30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</p:txBody>
      </p:sp>
      <p:cxnSp>
        <p:nvCxnSpPr>
          <p:cNvPr id="5" name="AutoShape 18"/>
          <p:cNvCxnSpPr>
            <a:cxnSpLocks noChangeShapeType="1"/>
            <a:stCxn id="17" idx="7"/>
            <a:endCxn id="14" idx="3"/>
          </p:cNvCxnSpPr>
          <p:nvPr/>
        </p:nvCxnSpPr>
        <p:spPr bwMode="auto">
          <a:xfrm flipV="1">
            <a:off x="3979279" y="337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6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079279" y="337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24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36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 Box 46"/>
          <p:cNvSpPr txBox="1">
            <a:spLocks noChangeArrowheads="1"/>
          </p:cNvSpPr>
          <p:nvPr/>
        </p:nvSpPr>
        <p:spPr bwMode="auto">
          <a:xfrm>
            <a:off x="54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0" name="Text Box 48"/>
          <p:cNvSpPr txBox="1"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1" name="Text Box 49"/>
          <p:cNvSpPr txBox="1">
            <a:spLocks noChangeArrowheads="1"/>
          </p:cNvSpPr>
          <p:nvPr/>
        </p:nvSpPr>
        <p:spPr bwMode="auto">
          <a:xfrm>
            <a:off x="58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2" name="Text Box 50"/>
          <p:cNvSpPr txBox="1">
            <a:spLocks noChangeArrowheads="1"/>
          </p:cNvSpPr>
          <p:nvPr/>
        </p:nvSpPr>
        <p:spPr bwMode="auto">
          <a:xfrm>
            <a:off x="45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3" name="Oval 52"/>
          <p:cNvSpPr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4" name="Oval 53"/>
          <p:cNvSpPr>
            <a:spLocks noChangeArrowheads="1"/>
          </p:cNvSpPr>
          <p:nvPr/>
        </p:nvSpPr>
        <p:spPr bwMode="auto">
          <a:xfrm>
            <a:off x="5472000" y="30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6" name="Oval 55"/>
          <p:cNvSpPr>
            <a:spLocks noChangeArrowheads="1"/>
          </p:cNvSpPr>
          <p:nvPr/>
        </p:nvSpPr>
        <p:spPr bwMode="auto">
          <a:xfrm>
            <a:off x="2772000" y="39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7" name="Oval 56"/>
          <p:cNvSpPr>
            <a:spLocks noChangeArrowheads="1"/>
          </p:cNvSpPr>
          <p:nvPr/>
        </p:nvSpPr>
        <p:spPr bwMode="auto">
          <a:xfrm>
            <a:off x="3672000" y="48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8" name="Oval 57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20" name="AutoShape 24"/>
          <p:cNvCxnSpPr>
            <a:cxnSpLocks noChangeShapeType="1"/>
            <a:stCxn id="16" idx="5"/>
            <a:endCxn id="17" idx="1"/>
          </p:cNvCxnSpPr>
          <p:nvPr/>
        </p:nvCxnSpPr>
        <p:spPr bwMode="auto">
          <a:xfrm>
            <a:off x="3079279" y="427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1" name="AutoShape 24"/>
          <p:cNvCxnSpPr>
            <a:cxnSpLocks noChangeShapeType="1"/>
            <a:stCxn id="13" idx="4"/>
            <a:endCxn id="17" idx="0"/>
          </p:cNvCxnSpPr>
          <p:nvPr/>
        </p:nvCxnSpPr>
        <p:spPr bwMode="auto">
          <a:xfrm>
            <a:off x="3852000" y="342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3" name="AutoShape 24"/>
          <p:cNvCxnSpPr>
            <a:cxnSpLocks noChangeShapeType="1"/>
            <a:stCxn id="14" idx="2"/>
            <a:endCxn id="13" idx="6"/>
          </p:cNvCxnSpPr>
          <p:nvPr/>
        </p:nvCxnSpPr>
        <p:spPr bwMode="auto">
          <a:xfrm flipH="1">
            <a:off x="4032000" y="324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7" idx="6"/>
            <a:endCxn id="18" idx="2"/>
          </p:cNvCxnSpPr>
          <p:nvPr/>
        </p:nvCxnSpPr>
        <p:spPr bwMode="auto">
          <a:xfrm>
            <a:off x="4032000" y="504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5" name="AutoShape 24"/>
          <p:cNvCxnSpPr>
            <a:cxnSpLocks noChangeShapeType="1"/>
            <a:stCxn id="18" idx="0"/>
            <a:endCxn id="14" idx="4"/>
          </p:cNvCxnSpPr>
          <p:nvPr/>
        </p:nvCxnSpPr>
        <p:spPr bwMode="auto">
          <a:xfrm flipV="1">
            <a:off x="5652000" y="342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313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45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457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34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56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212000" y="450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0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4" name="Text Box 44"/>
          <p:cNvSpPr txBox="1">
            <a:spLocks noChangeArrowheads="1"/>
          </p:cNvSpPr>
          <p:nvPr/>
        </p:nvSpPr>
        <p:spPr bwMode="auto">
          <a:xfrm>
            <a:off x="31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</a:p>
        </p:txBody>
      </p:sp>
      <p:cxnSp>
        <p:nvCxnSpPr>
          <p:cNvPr id="36" name="弧形接點 35"/>
          <p:cNvCxnSpPr>
            <a:stCxn id="13" idx="0"/>
            <a:endCxn id="14" idx="0"/>
          </p:cNvCxnSpPr>
          <p:nvPr/>
        </p:nvCxnSpPr>
        <p:spPr bwMode="auto">
          <a:xfrm rot="5400000" flipH="1" flipV="1">
            <a:off x="4752000" y="2169000"/>
            <a:ext cx="12700" cy="180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40" name="AutoShape 24"/>
          <p:cNvCxnSpPr>
            <a:cxnSpLocks noChangeShapeType="1"/>
            <a:stCxn id="13" idx="5"/>
            <a:endCxn id="18" idx="1"/>
          </p:cNvCxnSpPr>
          <p:nvPr/>
        </p:nvCxnSpPr>
        <p:spPr bwMode="auto">
          <a:xfrm>
            <a:off x="3979279" y="337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4032000" y="37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9056331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300"/>
              </a:spcBef>
              <a:buClr>
                <a:srgbClr val="000000"/>
              </a:buClr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/>
              </a:rPr>
              <a:t>(3, 1), (4, 3), (1, 3), (1, 2), (1, 4), (2, 3), (2, 4), (0, 1), (0, 2)</a:t>
            </a:r>
            <a:endParaRPr lang="en-US" altLang="zh-TW" sz="2000" dirty="0" smtClean="0"/>
          </a:p>
          <a:p>
            <a:pPr marL="0" lvl="0" indent="0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&gt;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marL="0" lvl="0" indent="0">
              <a:spcBef>
                <a:spcPts val="30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</p:txBody>
      </p:sp>
      <p:cxnSp>
        <p:nvCxnSpPr>
          <p:cNvPr id="5" name="AutoShape 18"/>
          <p:cNvCxnSpPr>
            <a:cxnSpLocks noChangeShapeType="1"/>
            <a:stCxn id="17" idx="7"/>
            <a:endCxn id="14" idx="3"/>
          </p:cNvCxnSpPr>
          <p:nvPr/>
        </p:nvCxnSpPr>
        <p:spPr bwMode="auto">
          <a:xfrm flipV="1">
            <a:off x="3979279" y="337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6" name="AutoShape 24"/>
          <p:cNvCxnSpPr>
            <a:cxnSpLocks noChangeShapeType="1"/>
            <a:stCxn id="13" idx="3"/>
            <a:endCxn id="16" idx="7"/>
          </p:cNvCxnSpPr>
          <p:nvPr/>
        </p:nvCxnSpPr>
        <p:spPr bwMode="auto">
          <a:xfrm flipH="1">
            <a:off x="3079279" y="337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24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36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 Box 46"/>
          <p:cNvSpPr txBox="1">
            <a:spLocks noChangeArrowheads="1"/>
          </p:cNvSpPr>
          <p:nvPr/>
        </p:nvSpPr>
        <p:spPr bwMode="auto">
          <a:xfrm>
            <a:off x="54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0" name="Text Box 48"/>
          <p:cNvSpPr txBox="1"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1" name="Text Box 49"/>
          <p:cNvSpPr txBox="1">
            <a:spLocks noChangeArrowheads="1"/>
          </p:cNvSpPr>
          <p:nvPr/>
        </p:nvSpPr>
        <p:spPr bwMode="auto">
          <a:xfrm>
            <a:off x="58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2" name="Text Box 50"/>
          <p:cNvSpPr txBox="1">
            <a:spLocks noChangeArrowheads="1"/>
          </p:cNvSpPr>
          <p:nvPr/>
        </p:nvSpPr>
        <p:spPr bwMode="auto">
          <a:xfrm>
            <a:off x="45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3" name="Oval 52"/>
          <p:cNvSpPr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3"/>
          <p:cNvSpPr>
            <a:spLocks noChangeArrowheads="1"/>
          </p:cNvSpPr>
          <p:nvPr/>
        </p:nvSpPr>
        <p:spPr bwMode="auto">
          <a:xfrm>
            <a:off x="5472000" y="30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6" name="Oval 55"/>
          <p:cNvSpPr>
            <a:spLocks noChangeArrowheads="1"/>
          </p:cNvSpPr>
          <p:nvPr/>
        </p:nvSpPr>
        <p:spPr bwMode="auto">
          <a:xfrm>
            <a:off x="2772000" y="39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7" name="Oval 56"/>
          <p:cNvSpPr>
            <a:spLocks noChangeArrowheads="1"/>
          </p:cNvSpPr>
          <p:nvPr/>
        </p:nvSpPr>
        <p:spPr bwMode="auto">
          <a:xfrm>
            <a:off x="3672000" y="48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8" name="Oval 57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Symbol" pitchFamily="18" charset="2"/>
            </a:endParaRPr>
          </a:p>
        </p:txBody>
      </p:sp>
      <p:cxnSp>
        <p:nvCxnSpPr>
          <p:cNvPr id="20" name="AutoShape 24"/>
          <p:cNvCxnSpPr>
            <a:cxnSpLocks noChangeShapeType="1"/>
            <a:stCxn id="17" idx="1"/>
            <a:endCxn id="16" idx="5"/>
          </p:cNvCxnSpPr>
          <p:nvPr/>
        </p:nvCxnSpPr>
        <p:spPr bwMode="auto">
          <a:xfrm flipH="1" flipV="1">
            <a:off x="3079279" y="427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1" name="AutoShape 24"/>
          <p:cNvCxnSpPr>
            <a:cxnSpLocks noChangeShapeType="1"/>
            <a:stCxn id="13" idx="4"/>
            <a:endCxn id="17" idx="0"/>
          </p:cNvCxnSpPr>
          <p:nvPr/>
        </p:nvCxnSpPr>
        <p:spPr bwMode="auto">
          <a:xfrm>
            <a:off x="3852000" y="342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3" name="AutoShape 24"/>
          <p:cNvCxnSpPr>
            <a:cxnSpLocks noChangeShapeType="1"/>
            <a:stCxn id="14" idx="2"/>
            <a:endCxn id="13" idx="6"/>
          </p:cNvCxnSpPr>
          <p:nvPr/>
        </p:nvCxnSpPr>
        <p:spPr bwMode="auto">
          <a:xfrm flipH="1">
            <a:off x="4032000" y="324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7" idx="6"/>
            <a:endCxn id="18" idx="2"/>
          </p:cNvCxnSpPr>
          <p:nvPr/>
        </p:nvCxnSpPr>
        <p:spPr bwMode="auto">
          <a:xfrm>
            <a:off x="4032000" y="504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5" name="AutoShape 24"/>
          <p:cNvCxnSpPr>
            <a:cxnSpLocks noChangeShapeType="1"/>
            <a:stCxn id="18" idx="0"/>
            <a:endCxn id="14" idx="4"/>
          </p:cNvCxnSpPr>
          <p:nvPr/>
        </p:nvCxnSpPr>
        <p:spPr bwMode="auto">
          <a:xfrm flipV="1">
            <a:off x="5652000" y="342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313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45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457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34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56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212000" y="450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0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4" name="Text Box 44"/>
          <p:cNvSpPr txBox="1">
            <a:spLocks noChangeArrowheads="1"/>
          </p:cNvSpPr>
          <p:nvPr/>
        </p:nvSpPr>
        <p:spPr bwMode="auto">
          <a:xfrm>
            <a:off x="31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</a:p>
        </p:txBody>
      </p:sp>
      <p:cxnSp>
        <p:nvCxnSpPr>
          <p:cNvPr id="36" name="弧形接點 35"/>
          <p:cNvCxnSpPr>
            <a:stCxn id="13" idx="0"/>
            <a:endCxn id="14" idx="0"/>
          </p:cNvCxnSpPr>
          <p:nvPr/>
        </p:nvCxnSpPr>
        <p:spPr bwMode="auto">
          <a:xfrm rot="5400000" flipH="1" flipV="1">
            <a:off x="4752000" y="2169000"/>
            <a:ext cx="12700" cy="180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40" name="AutoShape 24"/>
          <p:cNvCxnSpPr>
            <a:cxnSpLocks noChangeShapeType="1"/>
            <a:stCxn id="13" idx="5"/>
            <a:endCxn id="18" idx="1"/>
          </p:cNvCxnSpPr>
          <p:nvPr/>
        </p:nvCxnSpPr>
        <p:spPr bwMode="auto">
          <a:xfrm>
            <a:off x="3979279" y="3376279"/>
            <a:ext cx="1545442" cy="15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4032000" y="37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952854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300"/>
              </a:spcBef>
              <a:buClr>
                <a:srgbClr val="000000"/>
              </a:buClr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/>
              </a:rPr>
              <a:t>(3, 1), (4, 3), (1, 3), (1, 2), (1, 4), (2, 3), (2, 4), (0, 1), (0, 2)</a:t>
            </a:r>
            <a:endParaRPr lang="en-US" altLang="zh-TW" sz="2000" dirty="0" smtClean="0"/>
          </a:p>
          <a:p>
            <a:pPr marL="0" lvl="0" indent="0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&gt;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marL="0" lvl="0" indent="0">
              <a:spcBef>
                <a:spcPts val="30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</p:txBody>
      </p:sp>
      <p:cxnSp>
        <p:nvCxnSpPr>
          <p:cNvPr id="5" name="AutoShape 18"/>
          <p:cNvCxnSpPr>
            <a:cxnSpLocks noChangeShapeType="1"/>
            <a:stCxn id="14" idx="3"/>
            <a:endCxn id="17" idx="7"/>
          </p:cNvCxnSpPr>
          <p:nvPr/>
        </p:nvCxnSpPr>
        <p:spPr bwMode="auto">
          <a:xfrm flipH="1">
            <a:off x="3979279" y="337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6" name="AutoShape 24"/>
          <p:cNvCxnSpPr>
            <a:cxnSpLocks noChangeShapeType="1"/>
            <a:stCxn id="13" idx="3"/>
            <a:endCxn id="16" idx="7"/>
          </p:cNvCxnSpPr>
          <p:nvPr/>
        </p:nvCxnSpPr>
        <p:spPr bwMode="auto">
          <a:xfrm flipH="1">
            <a:off x="3079279" y="337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24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36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 Box 46"/>
          <p:cNvSpPr txBox="1">
            <a:spLocks noChangeArrowheads="1"/>
          </p:cNvSpPr>
          <p:nvPr/>
        </p:nvSpPr>
        <p:spPr bwMode="auto">
          <a:xfrm>
            <a:off x="54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0" name="Text Box 48"/>
          <p:cNvSpPr txBox="1"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1" name="Text Box 49"/>
          <p:cNvSpPr txBox="1">
            <a:spLocks noChangeArrowheads="1"/>
          </p:cNvSpPr>
          <p:nvPr/>
        </p:nvSpPr>
        <p:spPr bwMode="auto">
          <a:xfrm>
            <a:off x="58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2" name="Text Box 50"/>
          <p:cNvSpPr txBox="1">
            <a:spLocks noChangeArrowheads="1"/>
          </p:cNvSpPr>
          <p:nvPr/>
        </p:nvSpPr>
        <p:spPr bwMode="auto">
          <a:xfrm>
            <a:off x="45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3" name="Oval 52"/>
          <p:cNvSpPr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3"/>
          <p:cNvSpPr>
            <a:spLocks noChangeArrowheads="1"/>
          </p:cNvSpPr>
          <p:nvPr/>
        </p:nvSpPr>
        <p:spPr bwMode="auto">
          <a:xfrm>
            <a:off x="5472000" y="30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6" name="Oval 55"/>
          <p:cNvSpPr>
            <a:spLocks noChangeArrowheads="1"/>
          </p:cNvSpPr>
          <p:nvPr/>
        </p:nvSpPr>
        <p:spPr bwMode="auto">
          <a:xfrm>
            <a:off x="2772000" y="39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7" name="Oval 56"/>
          <p:cNvSpPr>
            <a:spLocks noChangeArrowheads="1"/>
          </p:cNvSpPr>
          <p:nvPr/>
        </p:nvSpPr>
        <p:spPr bwMode="auto">
          <a:xfrm>
            <a:off x="3672000" y="48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8" name="Oval 57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20" name="AutoShape 24"/>
          <p:cNvCxnSpPr>
            <a:cxnSpLocks noChangeShapeType="1"/>
            <a:stCxn id="17" idx="1"/>
            <a:endCxn id="16" idx="5"/>
          </p:cNvCxnSpPr>
          <p:nvPr/>
        </p:nvCxnSpPr>
        <p:spPr bwMode="auto">
          <a:xfrm flipH="1" flipV="1">
            <a:off x="3079279" y="427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1" name="AutoShape 24"/>
          <p:cNvCxnSpPr>
            <a:cxnSpLocks noChangeShapeType="1"/>
            <a:stCxn id="13" idx="4"/>
            <a:endCxn id="17" idx="0"/>
          </p:cNvCxnSpPr>
          <p:nvPr/>
        </p:nvCxnSpPr>
        <p:spPr bwMode="auto">
          <a:xfrm>
            <a:off x="3852000" y="342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3" name="AutoShape 24"/>
          <p:cNvCxnSpPr>
            <a:cxnSpLocks noChangeShapeType="1"/>
            <a:stCxn id="14" idx="2"/>
            <a:endCxn id="13" idx="6"/>
          </p:cNvCxnSpPr>
          <p:nvPr/>
        </p:nvCxnSpPr>
        <p:spPr bwMode="auto">
          <a:xfrm flipH="1">
            <a:off x="4032000" y="324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7" idx="6"/>
            <a:endCxn id="18" idx="2"/>
          </p:cNvCxnSpPr>
          <p:nvPr/>
        </p:nvCxnSpPr>
        <p:spPr bwMode="auto">
          <a:xfrm>
            <a:off x="4032000" y="504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5" name="AutoShape 24"/>
          <p:cNvCxnSpPr>
            <a:cxnSpLocks noChangeShapeType="1"/>
            <a:stCxn id="18" idx="0"/>
            <a:endCxn id="14" idx="4"/>
          </p:cNvCxnSpPr>
          <p:nvPr/>
        </p:nvCxnSpPr>
        <p:spPr bwMode="auto">
          <a:xfrm flipV="1">
            <a:off x="5652000" y="342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313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45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457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34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56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212000" y="450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0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4" name="Text Box 44"/>
          <p:cNvSpPr txBox="1">
            <a:spLocks noChangeArrowheads="1"/>
          </p:cNvSpPr>
          <p:nvPr/>
        </p:nvSpPr>
        <p:spPr bwMode="auto">
          <a:xfrm>
            <a:off x="31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</a:p>
        </p:txBody>
      </p:sp>
      <p:cxnSp>
        <p:nvCxnSpPr>
          <p:cNvPr id="36" name="弧形接點 35"/>
          <p:cNvCxnSpPr>
            <a:stCxn id="13" idx="0"/>
            <a:endCxn id="14" idx="0"/>
          </p:cNvCxnSpPr>
          <p:nvPr/>
        </p:nvCxnSpPr>
        <p:spPr bwMode="auto">
          <a:xfrm rot="5400000" flipH="1" flipV="1">
            <a:off x="4752000" y="2169000"/>
            <a:ext cx="12700" cy="180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40" name="AutoShape 24"/>
          <p:cNvCxnSpPr>
            <a:cxnSpLocks noChangeShapeType="1"/>
            <a:stCxn id="18" idx="1"/>
            <a:endCxn id="13" idx="5"/>
          </p:cNvCxnSpPr>
          <p:nvPr/>
        </p:nvCxnSpPr>
        <p:spPr bwMode="auto">
          <a:xfrm flipH="1" flipV="1">
            <a:off x="3979279" y="337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4032000" y="37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8048726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300"/>
              </a:spcBef>
              <a:buClr>
                <a:srgbClr val="000000"/>
              </a:buClr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/>
              </a:rPr>
              <a:t>(3, 1), (4, 3), (1, 3), (1, 2), (1, 4), (2, 3), (2, 4), (0, 1), (0, 2)</a:t>
            </a:r>
            <a:endParaRPr lang="en-US" altLang="zh-TW" sz="2000" dirty="0" smtClean="0"/>
          </a:p>
          <a:p>
            <a:pPr marL="0" lvl="0" indent="0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&gt;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marL="0" lvl="0" indent="0">
              <a:spcBef>
                <a:spcPts val="30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</p:txBody>
      </p:sp>
      <p:cxnSp>
        <p:nvCxnSpPr>
          <p:cNvPr id="5" name="AutoShape 18"/>
          <p:cNvCxnSpPr>
            <a:cxnSpLocks noChangeShapeType="1"/>
            <a:stCxn id="14" idx="3"/>
            <a:endCxn id="17" idx="7"/>
          </p:cNvCxnSpPr>
          <p:nvPr/>
        </p:nvCxnSpPr>
        <p:spPr bwMode="auto">
          <a:xfrm flipH="1">
            <a:off x="3979279" y="337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6" name="AutoShape 24"/>
          <p:cNvCxnSpPr>
            <a:cxnSpLocks noChangeShapeType="1"/>
            <a:stCxn id="13" idx="6"/>
            <a:endCxn id="14" idx="2"/>
          </p:cNvCxnSpPr>
          <p:nvPr/>
        </p:nvCxnSpPr>
        <p:spPr bwMode="auto">
          <a:xfrm>
            <a:off x="4032000" y="3249000"/>
            <a:ext cx="144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241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36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 Box 46"/>
          <p:cNvSpPr txBox="1">
            <a:spLocks noChangeArrowheads="1"/>
          </p:cNvSpPr>
          <p:nvPr/>
        </p:nvSpPr>
        <p:spPr bwMode="auto">
          <a:xfrm>
            <a:off x="54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10" name="Text Box 48"/>
          <p:cNvSpPr txBox="1">
            <a:spLocks noChangeArrowheads="1"/>
          </p:cNvSpPr>
          <p:nvPr/>
        </p:nvSpPr>
        <p:spPr bwMode="auto">
          <a:xfrm>
            <a:off x="34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1" name="Text Box 49"/>
          <p:cNvSpPr txBox="1">
            <a:spLocks noChangeArrowheads="1"/>
          </p:cNvSpPr>
          <p:nvPr/>
        </p:nvSpPr>
        <p:spPr bwMode="auto">
          <a:xfrm>
            <a:off x="58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12" name="Text Box 50"/>
          <p:cNvSpPr txBox="1">
            <a:spLocks noChangeArrowheads="1"/>
          </p:cNvSpPr>
          <p:nvPr/>
        </p:nvSpPr>
        <p:spPr bwMode="auto">
          <a:xfrm>
            <a:off x="45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13" name="Oval 52"/>
          <p:cNvSpPr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4" name="Oval 53"/>
          <p:cNvSpPr>
            <a:spLocks noChangeArrowheads="1"/>
          </p:cNvSpPr>
          <p:nvPr/>
        </p:nvSpPr>
        <p:spPr bwMode="auto">
          <a:xfrm>
            <a:off x="5472000" y="30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6" name="Oval 55"/>
          <p:cNvSpPr>
            <a:spLocks noChangeArrowheads="1"/>
          </p:cNvSpPr>
          <p:nvPr/>
        </p:nvSpPr>
        <p:spPr bwMode="auto">
          <a:xfrm>
            <a:off x="2772000" y="39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sym typeface="Symbol" pitchFamily="18" charset="2"/>
            </a:endParaRPr>
          </a:p>
        </p:txBody>
      </p:sp>
      <p:sp>
        <p:nvSpPr>
          <p:cNvPr id="17" name="Oval 56"/>
          <p:cNvSpPr>
            <a:spLocks noChangeArrowheads="1"/>
          </p:cNvSpPr>
          <p:nvPr/>
        </p:nvSpPr>
        <p:spPr bwMode="auto">
          <a:xfrm>
            <a:off x="3672000" y="48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sp>
        <p:nvSpPr>
          <p:cNvPr id="18" name="Oval 57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1800" kern="0" dirty="0" smtClean="0">
                <a:solidFill>
                  <a:srgbClr val="000000"/>
                </a:solidFill>
                <a:latin typeface="Times New Roman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1800" kern="0" dirty="0">
              <a:solidFill>
                <a:srgbClr val="000000"/>
              </a:solidFill>
              <a:latin typeface="Times New Roman"/>
              <a:sym typeface="Symbol" pitchFamily="18" charset="2"/>
            </a:endParaRPr>
          </a:p>
        </p:txBody>
      </p:sp>
      <p:cxnSp>
        <p:nvCxnSpPr>
          <p:cNvPr id="20" name="AutoShape 24"/>
          <p:cNvCxnSpPr>
            <a:cxnSpLocks noChangeShapeType="1"/>
            <a:stCxn id="17" idx="1"/>
            <a:endCxn id="16" idx="5"/>
          </p:cNvCxnSpPr>
          <p:nvPr/>
        </p:nvCxnSpPr>
        <p:spPr bwMode="auto">
          <a:xfrm flipH="1" flipV="1">
            <a:off x="3079279" y="4276279"/>
            <a:ext cx="645442" cy="6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1" name="AutoShape 24"/>
          <p:cNvCxnSpPr>
            <a:cxnSpLocks noChangeShapeType="1"/>
            <a:stCxn id="13" idx="4"/>
            <a:endCxn id="17" idx="0"/>
          </p:cNvCxnSpPr>
          <p:nvPr/>
        </p:nvCxnSpPr>
        <p:spPr bwMode="auto">
          <a:xfrm>
            <a:off x="3852000" y="342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3" name="AutoShape 24"/>
          <p:cNvCxnSpPr>
            <a:cxnSpLocks noChangeShapeType="1"/>
            <a:stCxn id="16" idx="7"/>
            <a:endCxn id="13" idx="3"/>
          </p:cNvCxnSpPr>
          <p:nvPr/>
        </p:nvCxnSpPr>
        <p:spPr bwMode="auto">
          <a:xfrm flipV="1">
            <a:off x="3079279" y="3376279"/>
            <a:ext cx="645442" cy="645442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7" idx="6"/>
            <a:endCxn id="18" idx="2"/>
          </p:cNvCxnSpPr>
          <p:nvPr/>
        </p:nvCxnSpPr>
        <p:spPr bwMode="auto">
          <a:xfrm>
            <a:off x="4032000" y="5049000"/>
            <a:ext cx="144000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cxnSp>
        <p:nvCxnSpPr>
          <p:cNvPr id="25" name="AutoShape 24"/>
          <p:cNvCxnSpPr>
            <a:cxnSpLocks noChangeShapeType="1"/>
            <a:stCxn id="18" idx="0"/>
            <a:endCxn id="14" idx="4"/>
          </p:cNvCxnSpPr>
          <p:nvPr/>
        </p:nvCxnSpPr>
        <p:spPr bwMode="auto">
          <a:xfrm flipV="1">
            <a:off x="5652000" y="3429000"/>
            <a:ext cx="0" cy="1440000"/>
          </a:xfrm>
          <a:prstGeom prst="straightConnector1">
            <a:avLst/>
          </a:prstGeom>
          <a:noFill/>
          <a:ln w="19050">
            <a:solidFill>
              <a:srgbClr val="00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313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4572000" y="32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457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</a:p>
        </p:txBody>
      </p:sp>
      <p:sp>
        <p:nvSpPr>
          <p:cNvPr id="29" name="Text Box 44"/>
          <p:cNvSpPr txBox="1">
            <a:spLocks noChangeArrowheads="1"/>
          </p:cNvSpPr>
          <p:nvPr/>
        </p:nvSpPr>
        <p:spPr bwMode="auto">
          <a:xfrm>
            <a:off x="34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565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bIns="5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4212000" y="450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08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34" name="Text Box 44"/>
          <p:cNvSpPr txBox="1">
            <a:spLocks noChangeArrowheads="1"/>
          </p:cNvSpPr>
          <p:nvPr/>
        </p:nvSpPr>
        <p:spPr bwMode="auto">
          <a:xfrm>
            <a:off x="31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10800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</a:p>
        </p:txBody>
      </p:sp>
      <p:cxnSp>
        <p:nvCxnSpPr>
          <p:cNvPr id="36" name="弧形接點 35"/>
          <p:cNvCxnSpPr>
            <a:stCxn id="13" idx="0"/>
            <a:endCxn id="14" idx="0"/>
          </p:cNvCxnSpPr>
          <p:nvPr/>
        </p:nvCxnSpPr>
        <p:spPr bwMode="auto">
          <a:xfrm rot="5400000" flipH="1" flipV="1">
            <a:off x="4752000" y="2169000"/>
            <a:ext cx="12700" cy="180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40" name="AutoShape 24"/>
          <p:cNvCxnSpPr>
            <a:cxnSpLocks noChangeShapeType="1"/>
            <a:stCxn id="18" idx="1"/>
            <a:endCxn id="13" idx="5"/>
          </p:cNvCxnSpPr>
          <p:nvPr/>
        </p:nvCxnSpPr>
        <p:spPr bwMode="auto">
          <a:xfrm flipH="1" flipV="1">
            <a:off x="3979279" y="3376279"/>
            <a:ext cx="1545442" cy="154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triangle" w="lg" len="lg"/>
          </a:ln>
        </p:spPr>
      </p:cxn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4032000" y="3789000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180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2172674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The Bellman-Ford algorithm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</a:pPr>
            <a:r>
              <a:rPr lang="en-US" altLang="zh-TW" dirty="0" smtClean="0"/>
              <a:t>Given a </a:t>
            </a:r>
            <a:r>
              <a:rPr lang="en-US" altLang="zh-TW" dirty="0" smtClean="0">
                <a:solidFill>
                  <a:schemeClr val="hlink"/>
                </a:solidFill>
              </a:rPr>
              <a:t>weighted</a:t>
            </a:r>
            <a:r>
              <a:rPr lang="en-US" altLang="zh-TW" dirty="0" smtClean="0"/>
              <a:t> graph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Symbol" pitchFamily="18" charset="2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)  with source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and weight function </a:t>
            </a:r>
            <a:r>
              <a:rPr lang="en-US" altLang="zh-TW" i="1" dirty="0" smtClean="0"/>
              <a:t>w</a:t>
            </a:r>
            <a:r>
              <a:rPr lang="en-US" altLang="zh-TW" dirty="0" smtClean="0"/>
              <a:t> :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 pitchFamily="18" charset="2"/>
              </a:rPr>
              <a:t> </a:t>
            </a:r>
            <a:r>
              <a:rPr lang="en-US" altLang="zh-TW" b="1" i="1" dirty="0" smtClean="0">
                <a:sym typeface="Symbol" pitchFamily="18" charset="2"/>
              </a:rPr>
              <a:t>R</a:t>
            </a:r>
            <a:r>
              <a:rPr lang="en-US" altLang="zh-TW" dirty="0" smtClean="0"/>
              <a:t>.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en-US" altLang="zh-TW" dirty="0" smtClean="0"/>
              <a:t>If there is a </a:t>
            </a:r>
            <a:r>
              <a:rPr lang="en-US" altLang="zh-TW" dirty="0" smtClean="0">
                <a:solidFill>
                  <a:schemeClr val="hlink"/>
                </a:solidFill>
                <a:sym typeface="Symbol" pitchFamily="18" charset="2"/>
              </a:rPr>
              <a:t>negative-weight</a:t>
            </a:r>
            <a:r>
              <a:rPr lang="en-US" altLang="zh-TW" dirty="0" smtClean="0">
                <a:solidFill>
                  <a:schemeClr val="hlink"/>
                </a:solidFill>
              </a:rPr>
              <a:t> cycle </a:t>
            </a:r>
            <a:r>
              <a:rPr lang="en-US" altLang="zh-TW" dirty="0" smtClean="0">
                <a:solidFill>
                  <a:schemeClr val="hlink"/>
                </a:solidFill>
                <a:sym typeface="Symbol" pitchFamily="18" charset="2"/>
              </a:rPr>
              <a:t>that is </a:t>
            </a:r>
            <a:r>
              <a:rPr lang="en-US" altLang="zh-TW" dirty="0" smtClean="0">
                <a:solidFill>
                  <a:schemeClr val="hlink"/>
                </a:solidFill>
              </a:rPr>
              <a:t>reachable from the source</a:t>
            </a:r>
            <a:r>
              <a:rPr lang="en-US" altLang="zh-TW" dirty="0" smtClean="0"/>
              <a:t>, the </a:t>
            </a:r>
            <a:r>
              <a:rPr lang="en-US" altLang="zh-TW" dirty="0" smtClean="0">
                <a:sym typeface="Symbol" pitchFamily="18" charset="2"/>
              </a:rPr>
              <a:t>Bellman-Ford</a:t>
            </a:r>
            <a:r>
              <a:rPr lang="en-US" altLang="zh-TW" dirty="0" smtClean="0"/>
              <a:t> algorithm indicates that no solution exists.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en-US" altLang="zh-TW" dirty="0" smtClean="0"/>
              <a:t>If there is no such cycle, the algorithm produces the shortest paths and their weights.</a:t>
            </a:r>
          </a:p>
        </p:txBody>
      </p:sp>
    </p:spTree>
    <p:extLst>
      <p:ext uri="{BB962C8B-B14F-4D97-AF65-F5344CB8AC3E}">
        <p14:creationId xmlns:p14="http://schemas.microsoft.com/office/powerpoint/2010/main" val="326343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Bellman-Ford Algorithm for </a:t>
            </a:r>
            <a:r>
              <a:rPr lang="en-US" altLang="zh-TW" dirty="0" smtClean="0"/>
              <a:t>Undirected </a:t>
            </a:r>
            <a:r>
              <a:rPr lang="en-US" altLang="zh-TW" dirty="0"/>
              <a:t>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BellmanFord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83383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1;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i++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139150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293730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3"/>
          <p:cNvSpPr>
            <a:spLocks noGrp="1" noChangeArrowheads="1"/>
          </p:cNvSpPr>
          <p:nvPr>
            <p:ph idx="1"/>
          </p:nvPr>
        </p:nvSpPr>
        <p:spPr>
          <a:xfrm>
            <a:off x="539972" y="692981"/>
            <a:ext cx="8064056" cy="3888027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en-US" altLang="zh-TW" i="1" dirty="0" smtClean="0">
                <a:solidFill>
                  <a:srgbClr val="0000FF"/>
                </a:solidFill>
              </a:rPr>
              <a:t>Lemma 1</a:t>
            </a:r>
          </a:p>
          <a:p>
            <a:pPr marL="0" indent="0" eaLnBrk="1" hangingPunct="1">
              <a:defRPr/>
            </a:pPr>
            <a:r>
              <a:rPr lang="en-US" altLang="zh-TW" dirty="0" smtClean="0"/>
              <a:t>Let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</a:t>
            </a:r>
            <a:r>
              <a:rPr lang="en-US" altLang="zh-TW" i="1" spc="300" dirty="0" smtClean="0"/>
              <a:t>E</a:t>
            </a:r>
            <a:r>
              <a:rPr lang="en-US" altLang="zh-TW" dirty="0" smtClean="0"/>
              <a:t>) be a weighted, directed graph with source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and weight function </a:t>
            </a:r>
            <a:r>
              <a:rPr lang="en-US" altLang="zh-TW" i="1" dirty="0" smtClean="0"/>
              <a:t>w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Symbol" pitchFamily="18" charset="2"/>
              </a:rPr>
              <a:t>: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 pitchFamily="18" charset="2"/>
              </a:rPr>
              <a:t> </a:t>
            </a:r>
            <a:r>
              <a:rPr lang="en-US" altLang="zh-TW" b="1" i="1" dirty="0" smtClean="0">
                <a:sym typeface="Symbol" pitchFamily="18" charset="2"/>
              </a:rPr>
              <a:t>R</a:t>
            </a:r>
            <a:r>
              <a:rPr lang="en-US" altLang="zh-TW" dirty="0" smtClean="0">
                <a:sym typeface="Symbol" pitchFamily="18" charset="2"/>
              </a:rPr>
              <a:t>, and assume that </a:t>
            </a:r>
            <a:r>
              <a:rPr lang="en-US" altLang="zh-TW" i="1" dirty="0" smtClean="0">
                <a:sym typeface="Symbol" pitchFamily="18" charset="2"/>
              </a:rPr>
              <a:t>G</a:t>
            </a:r>
            <a:r>
              <a:rPr lang="en-US" altLang="zh-TW" dirty="0" smtClean="0">
                <a:sym typeface="Symbol" pitchFamily="18" charset="2"/>
              </a:rPr>
              <a:t> contains no negative-weight cycles that are </a:t>
            </a:r>
            <a:r>
              <a:rPr lang="en-US" altLang="zh-TW" dirty="0" smtClean="0"/>
              <a:t>reachable from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.</a:t>
            </a:r>
          </a:p>
          <a:p>
            <a:pPr marL="0" indent="0" eaLnBrk="1" hangingPunct="1">
              <a:defRPr/>
            </a:pPr>
            <a:r>
              <a:rPr lang="en-US" altLang="zh-TW" dirty="0" smtClean="0"/>
              <a:t>Then, </a:t>
            </a:r>
            <a:r>
              <a:rPr lang="en-US" altLang="zh-TW" dirty="0">
                <a:solidFill>
                  <a:srgbClr val="000000"/>
                </a:solidFill>
              </a:rPr>
              <a:t>after the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pc="-300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1 iterations of the 2nd 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 loop of </a:t>
            </a:r>
            <a:r>
              <a:rPr lang="en-US" altLang="zh-TW" sz="18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BellmanFord</a:t>
            </a:r>
            <a:r>
              <a:rPr lang="en-US" altLang="zh-TW" dirty="0" smtClean="0"/>
              <a:t>, we have </a:t>
            </a:r>
            <a:r>
              <a:rPr lang="en-US" altLang="zh-TW" i="1" spc="150" dirty="0" smtClean="0"/>
              <a:t>d</a:t>
            </a:r>
            <a:r>
              <a:rPr lang="en-US" altLang="zh-TW" spc="150" dirty="0" smtClean="0"/>
              <a:t>[</a:t>
            </a:r>
            <a:r>
              <a:rPr lang="en-US" altLang="zh-TW" i="1" spc="150" dirty="0" smtClean="0"/>
              <a:t>v</a:t>
            </a:r>
            <a:r>
              <a:rPr lang="en-US" altLang="zh-TW" dirty="0" smtClean="0"/>
              <a:t>]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i="1" dirty="0" smtClean="0">
                <a:sym typeface="Symbol" pitchFamily="18" charset="2"/>
              </a:rPr>
              <a:t></a:t>
            </a:r>
            <a:r>
              <a:rPr lang="en-US" altLang="zh-TW" sz="1200" i="1" dirty="0" smtClean="0">
                <a:sym typeface="Symbol" pitchFamily="18" charset="2"/>
              </a:rPr>
              <a:t> 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smtClean="0">
                <a:sym typeface="Symbol" pitchFamily="18" charset="2"/>
              </a:rPr>
              <a:t>s</a:t>
            </a:r>
            <a:r>
              <a:rPr lang="en-US" altLang="zh-TW" dirty="0" smtClean="0">
                <a:sym typeface="Symbol" pitchFamily="18" charset="2"/>
              </a:rPr>
              <a:t>, </a:t>
            </a:r>
            <a:r>
              <a:rPr lang="en-US" altLang="zh-TW" i="1" dirty="0" smtClean="0">
                <a:sym typeface="Symbol" pitchFamily="18" charset="2"/>
              </a:rPr>
              <a:t>v</a:t>
            </a:r>
            <a:r>
              <a:rPr lang="en-US" altLang="zh-TW" dirty="0" smtClean="0">
                <a:sym typeface="Symbol" pitchFamily="18" charset="2"/>
              </a:rPr>
              <a:t>)</a:t>
            </a:r>
            <a:r>
              <a:rPr lang="en-US" altLang="zh-TW" dirty="0" smtClean="0"/>
              <a:t> for all nodes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that are reachable from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dirty="0" smtClean="0"/>
              <a:t>.</a:t>
            </a:r>
          </a:p>
          <a:p>
            <a:pPr marL="0" indent="0" eaLnBrk="1" hangingPunct="1">
              <a:defRPr/>
            </a:pPr>
            <a:endParaRPr lang="en-US" altLang="zh-TW" dirty="0" smtClean="0"/>
          </a:p>
          <a:p>
            <a:pPr marL="0" indent="0" eaLnBrk="1" hangingPunct="1">
              <a:defRPr/>
            </a:pPr>
            <a:r>
              <a:rPr lang="en-US" altLang="zh-TW" i="1" dirty="0" smtClean="0">
                <a:solidFill>
                  <a:srgbClr val="0000FF"/>
                </a:solidFill>
              </a:rPr>
              <a:t>Lemma</a:t>
            </a:r>
          </a:p>
          <a:p>
            <a:pPr marL="0" indent="0" eaLnBrk="1" hangingPunct="1">
              <a:defRPr/>
            </a:pPr>
            <a:r>
              <a:rPr lang="en-US" altLang="zh-TW" dirty="0" smtClean="0"/>
              <a:t>The worst-case running time of B</a:t>
            </a:r>
            <a:r>
              <a:rPr lang="en-US" altLang="zh-TW" sz="1800" dirty="0" smtClean="0"/>
              <a:t>ELLMAN</a:t>
            </a:r>
            <a:r>
              <a:rPr lang="en-US" altLang="zh-TW" dirty="0" smtClean="0"/>
              <a:t>-F</a:t>
            </a:r>
            <a:r>
              <a:rPr lang="en-US" altLang="zh-TW" sz="1800" dirty="0" smtClean="0"/>
              <a:t>ORD</a:t>
            </a:r>
            <a:r>
              <a:rPr lang="en-US" altLang="zh-TW" dirty="0" smtClean="0"/>
              <a:t> algorithm is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V</a:t>
            </a:r>
            <a:r>
              <a:rPr lang="en-US" altLang="zh-TW" i="1" spc="300" dirty="0" smtClean="0"/>
              <a:t>E</a:t>
            </a:r>
            <a:r>
              <a:rPr lang="en-US" altLang="zh-TW" dirty="0" smtClean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Correctness of Lemma 1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>
          <a:xfrm>
            <a:off x="612000" y="1449000"/>
            <a:ext cx="7920000" cy="3780000"/>
          </a:xfrm>
        </p:spPr>
        <p:txBody>
          <a:bodyPr/>
          <a:lstStyle/>
          <a:p>
            <a:pPr marL="266700" indent="-266700" eaLnBrk="1" hangingPunct="1">
              <a:spcBef>
                <a:spcPct val="50000"/>
              </a:spcBef>
              <a:buSzPct val="100000"/>
              <a:buFontTx/>
              <a:buChar char="•"/>
              <a:defRPr/>
            </a:pPr>
            <a:r>
              <a:rPr lang="en-US" altLang="zh-TW" dirty="0" smtClean="0"/>
              <a:t>For every non-simple path </a:t>
            </a:r>
            <a:r>
              <a:rPr lang="en-US" altLang="zh-TW" i="1" dirty="0" smtClean="0"/>
              <a:t>p</a:t>
            </a:r>
            <a:r>
              <a:rPr lang="en-US" altLang="zh-TW" dirty="0" smtClean="0"/>
              <a:t> from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to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there is a simple path </a:t>
            </a:r>
            <a:r>
              <a:rPr lang="en-US" altLang="zh-TW" i="1" dirty="0" smtClean="0"/>
              <a:t>p</a:t>
            </a:r>
            <a:r>
              <a:rPr lang="en-US" altLang="zh-TW" dirty="0" smtClean="0">
                <a:sym typeface="Symbol"/>
              </a:rPr>
              <a:t></a:t>
            </a:r>
            <a:r>
              <a:rPr lang="en-US" altLang="zh-TW" dirty="0" smtClean="0"/>
              <a:t> from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to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such that </a:t>
            </a:r>
            <a:r>
              <a:rPr lang="en-US" altLang="zh-TW" i="1" dirty="0" smtClean="0"/>
              <a:t>w</a:t>
            </a:r>
            <a:r>
              <a:rPr lang="en-US" altLang="zh-TW" dirty="0" smtClean="0"/>
              <a:t>(</a:t>
            </a:r>
            <a:r>
              <a:rPr lang="en-US" altLang="zh-TW" sz="1200" dirty="0" smtClean="0"/>
              <a:t> </a:t>
            </a:r>
            <a:r>
              <a:rPr lang="en-US" altLang="zh-TW" i="1" dirty="0" smtClean="0"/>
              <a:t>p</a:t>
            </a:r>
            <a:r>
              <a:rPr lang="en-US" altLang="zh-TW" dirty="0" smtClean="0">
                <a:sym typeface="Symbol"/>
              </a:rPr>
              <a:t></a:t>
            </a:r>
            <a:r>
              <a:rPr lang="en-US" altLang="zh-TW" dirty="0" smtClean="0"/>
              <a:t>)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w</a:t>
            </a:r>
            <a:r>
              <a:rPr lang="en-US" altLang="zh-TW" dirty="0" smtClean="0"/>
              <a:t>(</a:t>
            </a:r>
            <a:r>
              <a:rPr lang="en-US" altLang="zh-TW" sz="1200" dirty="0" smtClean="0"/>
              <a:t> </a:t>
            </a:r>
            <a:r>
              <a:rPr lang="en-US" altLang="zh-TW" i="1" dirty="0" smtClean="0"/>
              <a:t>p</a:t>
            </a:r>
            <a:r>
              <a:rPr lang="en-US" altLang="zh-TW" dirty="0" smtClean="0"/>
              <a:t>).</a:t>
            </a:r>
          </a:p>
          <a:p>
            <a:pPr marL="266700" indent="-266700"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zh-TW" dirty="0" smtClean="0"/>
              <a:t>Hence, for every </a:t>
            </a:r>
            <a:r>
              <a:rPr lang="en-US" altLang="zh-TW" dirty="0" smtClean="0">
                <a:solidFill>
                  <a:srgbClr val="000000"/>
                </a:solidFill>
              </a:rPr>
              <a:t>node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that </a:t>
            </a:r>
            <a:r>
              <a:rPr lang="en-US" altLang="zh-TW" dirty="0" smtClean="0">
                <a:solidFill>
                  <a:srgbClr val="000000"/>
                </a:solidFill>
              </a:rPr>
              <a:t>is </a:t>
            </a:r>
            <a:r>
              <a:rPr lang="en-US" altLang="zh-TW" dirty="0">
                <a:solidFill>
                  <a:srgbClr val="000000"/>
                </a:solidFill>
              </a:rPr>
              <a:t>reachable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 smtClean="0"/>
              <a:t>, there </a:t>
            </a:r>
            <a:r>
              <a:rPr lang="en-US" altLang="zh-TW" dirty="0"/>
              <a:t>is a shortest path from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</a:t>
            </a:r>
            <a:r>
              <a:rPr lang="en-US" altLang="zh-TW" dirty="0"/>
              <a:t>to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</a:t>
            </a:r>
            <a:r>
              <a:rPr lang="en-US" altLang="zh-TW" dirty="0"/>
              <a:t>that is </a:t>
            </a:r>
            <a:r>
              <a:rPr lang="en-US" altLang="zh-TW" dirty="0" smtClean="0"/>
              <a:t>simple and </a:t>
            </a:r>
            <a:r>
              <a:rPr lang="en-US" altLang="zh-TW" dirty="0"/>
              <a:t>thus contains </a:t>
            </a:r>
            <a:r>
              <a:rPr lang="en-US" altLang="zh-TW" dirty="0" smtClean="0"/>
              <a:t>at most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pc="-300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1</a:t>
            </a:r>
            <a:r>
              <a:rPr lang="en-US" altLang="zh-TW" dirty="0" smtClean="0"/>
              <a:t> </a:t>
            </a:r>
            <a:r>
              <a:rPr lang="en-US" altLang="zh-TW" dirty="0"/>
              <a:t>edges</a:t>
            </a:r>
            <a:r>
              <a:rPr lang="en-US" altLang="zh-TW" dirty="0" smtClean="0"/>
              <a:t>.</a:t>
            </a:r>
          </a:p>
          <a:p>
            <a:pPr marL="266700" indent="-266700"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zh-TW" dirty="0" smtClean="0"/>
              <a:t>Therefore, after the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pc="-300" dirty="0" smtClean="0"/>
              <a:t> </a:t>
            </a:r>
            <a:r>
              <a:rPr lang="en-US" altLang="zh-TW" dirty="0" smtClean="0"/>
              <a:t>1 iterations of the 2nd </a:t>
            </a:r>
            <a:r>
              <a:rPr lang="en-US" altLang="zh-TW" b="1" dirty="0" smtClean="0"/>
              <a:t>for</a:t>
            </a:r>
            <a:r>
              <a:rPr lang="en-US" altLang="zh-TW" dirty="0" smtClean="0"/>
              <a:t> loop of </a:t>
            </a:r>
            <a:r>
              <a:rPr lang="en-US" altLang="zh-TW" sz="18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BellmanFord</a:t>
            </a:r>
            <a:r>
              <a:rPr lang="en-US" altLang="zh-TW" dirty="0" smtClean="0"/>
              <a:t>, </a:t>
            </a:r>
            <a:r>
              <a:rPr lang="en-US" altLang="zh-TW" i="1" spc="150" dirty="0">
                <a:solidFill>
                  <a:srgbClr val="000000"/>
                </a:solidFill>
              </a:rPr>
              <a:t>d</a:t>
            </a:r>
            <a:r>
              <a:rPr lang="en-US" altLang="zh-TW" spc="150" dirty="0">
                <a:solidFill>
                  <a:srgbClr val="000000"/>
                </a:solidFill>
              </a:rPr>
              <a:t>[</a:t>
            </a:r>
            <a:r>
              <a:rPr lang="en-US" altLang="zh-TW" i="1" spc="15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 smtClean="0"/>
              <a:t> is the minimum among the weights of all simple paths from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to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for all nodes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that are reachable from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Bellman-Ford Algorithm for Directed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BellmanFord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975566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Bellman-Ford Algorithm for Directed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1;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i++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&gt;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e.head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&gt; d[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082349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rgbClr val="0000FF"/>
                </a:solidFill>
                <a:cs typeface="+mj-cs"/>
              </a:rPr>
              <a:t>A graph with a negative weight cycle reachable from </a:t>
            </a:r>
            <a:r>
              <a:rPr lang="en-US" altLang="zh-TW" sz="2800" i="1" dirty="0">
                <a:solidFill>
                  <a:srgbClr val="0000FF"/>
                </a:solidFill>
                <a:cs typeface="+mj-cs"/>
              </a:rPr>
              <a:t>s</a:t>
            </a:r>
            <a:endParaRPr lang="zh-TW" altLang="en-US" dirty="0"/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5" name="Text Box 35"/>
          <p:cNvSpPr txBox="1">
            <a:spLocks noChangeArrowheads="1"/>
          </p:cNvSpPr>
          <p:nvPr/>
        </p:nvSpPr>
        <p:spPr bwMode="auto">
          <a:xfrm>
            <a:off x="61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8" name="Oval 39"/>
          <p:cNvSpPr>
            <a:spLocks noChangeArrowheads="1"/>
          </p:cNvSpPr>
          <p:nvPr/>
        </p:nvSpPr>
        <p:spPr bwMode="auto">
          <a:xfrm>
            <a:off x="58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18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3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51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3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35" name="AutoShape 46"/>
          <p:cNvCxnSpPr>
            <a:cxnSpLocks noChangeShapeType="1"/>
            <a:stCxn id="27" idx="7"/>
            <a:endCxn id="34" idx="3"/>
          </p:cNvCxnSpPr>
          <p:nvPr/>
        </p:nvCxnSpPr>
        <p:spPr bwMode="auto">
          <a:xfrm flipV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47"/>
          <p:cNvCxnSpPr>
            <a:cxnSpLocks noChangeShapeType="1"/>
            <a:stCxn id="34" idx="5"/>
            <a:endCxn id="2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46"/>
          <p:cNvCxnSpPr>
            <a:cxnSpLocks noChangeShapeType="1"/>
            <a:stCxn id="29" idx="2"/>
            <a:endCxn id="27" idx="6"/>
          </p:cNvCxnSpPr>
          <p:nvPr/>
        </p:nvCxnSpPr>
        <p:spPr bwMode="auto">
          <a:xfrm flipH="1"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46"/>
          <p:cNvCxnSpPr>
            <a:cxnSpLocks noChangeShapeType="1"/>
            <a:stCxn id="34" idx="6"/>
            <a:endCxn id="28" idx="2"/>
          </p:cNvCxnSpPr>
          <p:nvPr/>
        </p:nvCxnSpPr>
        <p:spPr bwMode="auto">
          <a:xfrm>
            <a:off x="475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8" name="Text Box 33"/>
          <p:cNvSpPr txBox="1">
            <a:spLocks noChangeArrowheads="1"/>
          </p:cNvSpPr>
          <p:nvPr/>
        </p:nvSpPr>
        <p:spPr bwMode="auto">
          <a:xfrm>
            <a:off x="25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9" name="Oval 38"/>
          <p:cNvSpPr>
            <a:spLocks noChangeArrowheads="1"/>
          </p:cNvSpPr>
          <p:nvPr/>
        </p:nvSpPr>
        <p:spPr bwMode="auto">
          <a:xfrm>
            <a:off x="29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0" name="Text Box 43"/>
          <p:cNvSpPr txBox="1">
            <a:spLocks noChangeArrowheads="1"/>
          </p:cNvSpPr>
          <p:nvPr/>
        </p:nvSpPr>
        <p:spPr bwMode="auto">
          <a:xfrm>
            <a:off x="36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51" name="AutoShape 46"/>
          <p:cNvCxnSpPr>
            <a:cxnSpLocks noChangeShapeType="1"/>
            <a:stCxn id="34" idx="2"/>
            <a:endCxn id="49" idx="6"/>
          </p:cNvCxnSpPr>
          <p:nvPr/>
        </p:nvCxnSpPr>
        <p:spPr bwMode="auto">
          <a:xfrm flipH="1">
            <a:off x="331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rgbClr val="0000FF"/>
                </a:solidFill>
                <a:cs typeface="+mj-cs"/>
              </a:rPr>
              <a:t>A graph with a negative weight cycle reachable from </a:t>
            </a:r>
            <a:r>
              <a:rPr lang="en-US" altLang="zh-TW" sz="2800" i="1" dirty="0">
                <a:solidFill>
                  <a:srgbClr val="0000FF"/>
                </a:solidFill>
                <a:cs typeface="+mj-cs"/>
              </a:rPr>
              <a:t>s</a:t>
            </a:r>
            <a:endParaRPr lang="zh-TW" altLang="en-US" dirty="0"/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5" name="Text Box 35"/>
          <p:cNvSpPr txBox="1">
            <a:spLocks noChangeArrowheads="1"/>
          </p:cNvSpPr>
          <p:nvPr/>
        </p:nvSpPr>
        <p:spPr bwMode="auto">
          <a:xfrm>
            <a:off x="61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8" name="Oval 39"/>
          <p:cNvSpPr>
            <a:spLocks noChangeArrowheads="1"/>
          </p:cNvSpPr>
          <p:nvPr/>
        </p:nvSpPr>
        <p:spPr bwMode="auto">
          <a:xfrm>
            <a:off x="58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18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3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51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3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35" name="AutoShape 46"/>
          <p:cNvCxnSpPr>
            <a:cxnSpLocks noChangeShapeType="1"/>
            <a:stCxn id="27" idx="7"/>
            <a:endCxn id="34" idx="3"/>
          </p:cNvCxnSpPr>
          <p:nvPr/>
        </p:nvCxnSpPr>
        <p:spPr bwMode="auto">
          <a:xfrm flipV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47"/>
          <p:cNvCxnSpPr>
            <a:cxnSpLocks noChangeShapeType="1"/>
            <a:stCxn id="34" idx="5"/>
            <a:endCxn id="2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46"/>
          <p:cNvCxnSpPr>
            <a:cxnSpLocks noChangeShapeType="1"/>
            <a:stCxn id="29" idx="2"/>
            <a:endCxn id="27" idx="6"/>
          </p:cNvCxnSpPr>
          <p:nvPr/>
        </p:nvCxnSpPr>
        <p:spPr bwMode="auto">
          <a:xfrm flipH="1"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46"/>
          <p:cNvCxnSpPr>
            <a:cxnSpLocks noChangeShapeType="1"/>
            <a:stCxn id="34" idx="6"/>
            <a:endCxn id="28" idx="2"/>
          </p:cNvCxnSpPr>
          <p:nvPr/>
        </p:nvCxnSpPr>
        <p:spPr bwMode="auto">
          <a:xfrm>
            <a:off x="475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8" name="Text Box 33"/>
          <p:cNvSpPr txBox="1">
            <a:spLocks noChangeArrowheads="1"/>
          </p:cNvSpPr>
          <p:nvPr/>
        </p:nvSpPr>
        <p:spPr bwMode="auto">
          <a:xfrm>
            <a:off x="25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9" name="Oval 38"/>
          <p:cNvSpPr>
            <a:spLocks noChangeArrowheads="1"/>
          </p:cNvSpPr>
          <p:nvPr/>
        </p:nvSpPr>
        <p:spPr bwMode="auto">
          <a:xfrm>
            <a:off x="29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Text Box 43"/>
          <p:cNvSpPr txBox="1">
            <a:spLocks noChangeArrowheads="1"/>
          </p:cNvSpPr>
          <p:nvPr/>
        </p:nvSpPr>
        <p:spPr bwMode="auto">
          <a:xfrm>
            <a:off x="36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51" name="AutoShape 46"/>
          <p:cNvCxnSpPr>
            <a:cxnSpLocks noChangeShapeType="1"/>
            <a:stCxn id="34" idx="2"/>
            <a:endCxn id="49" idx="6"/>
          </p:cNvCxnSpPr>
          <p:nvPr/>
        </p:nvCxnSpPr>
        <p:spPr bwMode="auto">
          <a:xfrm flipH="1">
            <a:off x="331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50491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rgbClr val="0000FF"/>
                </a:solidFill>
                <a:cs typeface="+mj-cs"/>
              </a:rPr>
              <a:t>A graph with a negative weight cycle reachable from </a:t>
            </a:r>
            <a:r>
              <a:rPr lang="en-US" altLang="zh-TW" sz="2800" i="1" dirty="0">
                <a:solidFill>
                  <a:srgbClr val="0000FF"/>
                </a:solidFill>
                <a:cs typeface="+mj-cs"/>
              </a:rPr>
              <a:t>s</a:t>
            </a:r>
            <a:endParaRPr lang="zh-TW" altLang="en-US" dirty="0"/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5" name="Text Box 35"/>
          <p:cNvSpPr txBox="1">
            <a:spLocks noChangeArrowheads="1"/>
          </p:cNvSpPr>
          <p:nvPr/>
        </p:nvSpPr>
        <p:spPr bwMode="auto">
          <a:xfrm>
            <a:off x="61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8" name="Oval 39"/>
          <p:cNvSpPr>
            <a:spLocks noChangeArrowheads="1"/>
          </p:cNvSpPr>
          <p:nvPr/>
        </p:nvSpPr>
        <p:spPr bwMode="auto">
          <a:xfrm>
            <a:off x="58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18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3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51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3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35" name="AutoShape 46"/>
          <p:cNvCxnSpPr>
            <a:cxnSpLocks noChangeShapeType="1"/>
            <a:stCxn id="27" idx="7"/>
            <a:endCxn id="34" idx="3"/>
          </p:cNvCxnSpPr>
          <p:nvPr/>
        </p:nvCxnSpPr>
        <p:spPr bwMode="auto">
          <a:xfrm flipV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47"/>
          <p:cNvCxnSpPr>
            <a:cxnSpLocks noChangeShapeType="1"/>
            <a:stCxn id="34" idx="5"/>
            <a:endCxn id="2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46"/>
          <p:cNvCxnSpPr>
            <a:cxnSpLocks noChangeShapeType="1"/>
            <a:stCxn id="29" idx="2"/>
            <a:endCxn id="27" idx="6"/>
          </p:cNvCxnSpPr>
          <p:nvPr/>
        </p:nvCxnSpPr>
        <p:spPr bwMode="auto">
          <a:xfrm flipH="1"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46"/>
          <p:cNvCxnSpPr>
            <a:cxnSpLocks noChangeShapeType="1"/>
            <a:stCxn id="34" idx="6"/>
            <a:endCxn id="28" idx="2"/>
          </p:cNvCxnSpPr>
          <p:nvPr/>
        </p:nvCxnSpPr>
        <p:spPr bwMode="auto">
          <a:xfrm>
            <a:off x="475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8" name="Text Box 33"/>
          <p:cNvSpPr txBox="1">
            <a:spLocks noChangeArrowheads="1"/>
          </p:cNvSpPr>
          <p:nvPr/>
        </p:nvSpPr>
        <p:spPr bwMode="auto">
          <a:xfrm>
            <a:off x="25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9" name="Oval 38"/>
          <p:cNvSpPr>
            <a:spLocks noChangeArrowheads="1"/>
          </p:cNvSpPr>
          <p:nvPr/>
        </p:nvSpPr>
        <p:spPr bwMode="auto">
          <a:xfrm>
            <a:off x="29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Text Box 43"/>
          <p:cNvSpPr txBox="1">
            <a:spLocks noChangeArrowheads="1"/>
          </p:cNvSpPr>
          <p:nvPr/>
        </p:nvSpPr>
        <p:spPr bwMode="auto">
          <a:xfrm>
            <a:off x="36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51" name="AutoShape 46"/>
          <p:cNvCxnSpPr>
            <a:cxnSpLocks noChangeShapeType="1"/>
            <a:stCxn id="34" idx="2"/>
            <a:endCxn id="49" idx="6"/>
          </p:cNvCxnSpPr>
          <p:nvPr/>
        </p:nvCxnSpPr>
        <p:spPr bwMode="auto">
          <a:xfrm flipH="1">
            <a:off x="331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246595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rgbClr val="0000FF"/>
                </a:solidFill>
                <a:cs typeface="+mj-cs"/>
              </a:rPr>
              <a:t>A graph with a negative weight cycle reachable from </a:t>
            </a:r>
            <a:r>
              <a:rPr lang="en-US" altLang="zh-TW" sz="2800" i="1" dirty="0">
                <a:solidFill>
                  <a:srgbClr val="0000FF"/>
                </a:solidFill>
                <a:cs typeface="+mj-cs"/>
              </a:rPr>
              <a:t>s</a:t>
            </a:r>
            <a:endParaRPr lang="zh-TW" altLang="en-US" dirty="0"/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5" name="Text Box 35"/>
          <p:cNvSpPr txBox="1">
            <a:spLocks noChangeArrowheads="1"/>
          </p:cNvSpPr>
          <p:nvPr/>
        </p:nvSpPr>
        <p:spPr bwMode="auto">
          <a:xfrm>
            <a:off x="61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8" name="Oval 39"/>
          <p:cNvSpPr>
            <a:spLocks noChangeArrowheads="1"/>
          </p:cNvSpPr>
          <p:nvPr/>
        </p:nvSpPr>
        <p:spPr bwMode="auto">
          <a:xfrm>
            <a:off x="58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18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3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51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3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35" name="AutoShape 46"/>
          <p:cNvCxnSpPr>
            <a:cxnSpLocks noChangeShapeType="1"/>
            <a:stCxn id="27" idx="7"/>
            <a:endCxn id="34" idx="3"/>
          </p:cNvCxnSpPr>
          <p:nvPr/>
        </p:nvCxnSpPr>
        <p:spPr bwMode="auto">
          <a:xfrm flipV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47"/>
          <p:cNvCxnSpPr>
            <a:cxnSpLocks noChangeShapeType="1"/>
            <a:stCxn id="34" idx="5"/>
            <a:endCxn id="2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46"/>
          <p:cNvCxnSpPr>
            <a:cxnSpLocks noChangeShapeType="1"/>
            <a:stCxn id="29" idx="2"/>
            <a:endCxn id="27" idx="6"/>
          </p:cNvCxnSpPr>
          <p:nvPr/>
        </p:nvCxnSpPr>
        <p:spPr bwMode="auto">
          <a:xfrm flipH="1"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46"/>
          <p:cNvCxnSpPr>
            <a:cxnSpLocks noChangeShapeType="1"/>
            <a:stCxn id="34" idx="6"/>
            <a:endCxn id="28" idx="2"/>
          </p:cNvCxnSpPr>
          <p:nvPr/>
        </p:nvCxnSpPr>
        <p:spPr bwMode="auto">
          <a:xfrm>
            <a:off x="475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8" name="Text Box 33"/>
          <p:cNvSpPr txBox="1">
            <a:spLocks noChangeArrowheads="1"/>
          </p:cNvSpPr>
          <p:nvPr/>
        </p:nvSpPr>
        <p:spPr bwMode="auto">
          <a:xfrm>
            <a:off x="25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9" name="Oval 38"/>
          <p:cNvSpPr>
            <a:spLocks noChangeArrowheads="1"/>
          </p:cNvSpPr>
          <p:nvPr/>
        </p:nvSpPr>
        <p:spPr bwMode="auto">
          <a:xfrm>
            <a:off x="29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Text Box 43"/>
          <p:cNvSpPr txBox="1">
            <a:spLocks noChangeArrowheads="1"/>
          </p:cNvSpPr>
          <p:nvPr/>
        </p:nvSpPr>
        <p:spPr bwMode="auto">
          <a:xfrm>
            <a:off x="36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51" name="AutoShape 46"/>
          <p:cNvCxnSpPr>
            <a:cxnSpLocks noChangeShapeType="1"/>
            <a:stCxn id="34" idx="2"/>
            <a:endCxn id="49" idx="6"/>
          </p:cNvCxnSpPr>
          <p:nvPr/>
        </p:nvCxnSpPr>
        <p:spPr bwMode="auto">
          <a:xfrm flipH="1">
            <a:off x="331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73170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rgbClr val="0000FF"/>
                </a:solidFill>
                <a:cs typeface="+mj-cs"/>
              </a:rPr>
              <a:t>A graph with a negative weight cycle reachable from </a:t>
            </a:r>
            <a:r>
              <a:rPr lang="en-US" altLang="zh-TW" sz="2800" i="1" dirty="0">
                <a:solidFill>
                  <a:srgbClr val="0000FF"/>
                </a:solidFill>
                <a:cs typeface="+mj-cs"/>
              </a:rPr>
              <a:t>s</a:t>
            </a:r>
            <a:endParaRPr lang="zh-TW" altLang="en-US" dirty="0"/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5" name="Text Box 35"/>
          <p:cNvSpPr txBox="1">
            <a:spLocks noChangeArrowheads="1"/>
          </p:cNvSpPr>
          <p:nvPr/>
        </p:nvSpPr>
        <p:spPr bwMode="auto">
          <a:xfrm>
            <a:off x="61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8" name="Oval 39"/>
          <p:cNvSpPr>
            <a:spLocks noChangeArrowheads="1"/>
          </p:cNvSpPr>
          <p:nvPr/>
        </p:nvSpPr>
        <p:spPr bwMode="auto">
          <a:xfrm>
            <a:off x="58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18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3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51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3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35" name="AutoShape 46"/>
          <p:cNvCxnSpPr>
            <a:cxnSpLocks noChangeShapeType="1"/>
            <a:stCxn id="27" idx="7"/>
            <a:endCxn id="34" idx="3"/>
          </p:cNvCxnSpPr>
          <p:nvPr/>
        </p:nvCxnSpPr>
        <p:spPr bwMode="auto">
          <a:xfrm flipV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47"/>
          <p:cNvCxnSpPr>
            <a:cxnSpLocks noChangeShapeType="1"/>
            <a:stCxn id="34" idx="5"/>
            <a:endCxn id="2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46"/>
          <p:cNvCxnSpPr>
            <a:cxnSpLocks noChangeShapeType="1"/>
            <a:stCxn id="29" idx="2"/>
            <a:endCxn id="27" idx="6"/>
          </p:cNvCxnSpPr>
          <p:nvPr/>
        </p:nvCxnSpPr>
        <p:spPr bwMode="auto">
          <a:xfrm flipH="1"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46"/>
          <p:cNvCxnSpPr>
            <a:cxnSpLocks noChangeShapeType="1"/>
            <a:stCxn id="34" idx="6"/>
            <a:endCxn id="28" idx="2"/>
          </p:cNvCxnSpPr>
          <p:nvPr/>
        </p:nvCxnSpPr>
        <p:spPr bwMode="auto">
          <a:xfrm>
            <a:off x="475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8" name="Text Box 33"/>
          <p:cNvSpPr txBox="1">
            <a:spLocks noChangeArrowheads="1"/>
          </p:cNvSpPr>
          <p:nvPr/>
        </p:nvSpPr>
        <p:spPr bwMode="auto">
          <a:xfrm>
            <a:off x="25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9" name="Oval 38"/>
          <p:cNvSpPr>
            <a:spLocks noChangeArrowheads="1"/>
          </p:cNvSpPr>
          <p:nvPr/>
        </p:nvSpPr>
        <p:spPr bwMode="auto">
          <a:xfrm>
            <a:off x="29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Text Box 43"/>
          <p:cNvSpPr txBox="1">
            <a:spLocks noChangeArrowheads="1"/>
          </p:cNvSpPr>
          <p:nvPr/>
        </p:nvSpPr>
        <p:spPr bwMode="auto">
          <a:xfrm>
            <a:off x="36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51" name="AutoShape 46"/>
          <p:cNvCxnSpPr>
            <a:cxnSpLocks noChangeShapeType="1"/>
            <a:stCxn id="34" idx="2"/>
            <a:endCxn id="49" idx="6"/>
          </p:cNvCxnSpPr>
          <p:nvPr/>
        </p:nvCxnSpPr>
        <p:spPr bwMode="auto">
          <a:xfrm flipH="1">
            <a:off x="331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78197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rgbClr val="0000FF"/>
                </a:solidFill>
                <a:cs typeface="+mj-cs"/>
              </a:rPr>
              <a:t>A graph with a negative weight cycle reachable from </a:t>
            </a:r>
            <a:r>
              <a:rPr lang="en-US" altLang="zh-TW" sz="2800" i="1" dirty="0">
                <a:solidFill>
                  <a:srgbClr val="0000FF"/>
                </a:solidFill>
                <a:cs typeface="+mj-cs"/>
              </a:rPr>
              <a:t>s</a:t>
            </a:r>
            <a:endParaRPr lang="zh-TW" altLang="en-US" dirty="0"/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5" name="Text Box 35"/>
          <p:cNvSpPr txBox="1">
            <a:spLocks noChangeArrowheads="1"/>
          </p:cNvSpPr>
          <p:nvPr/>
        </p:nvSpPr>
        <p:spPr bwMode="auto">
          <a:xfrm>
            <a:off x="61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8" name="Oval 39"/>
          <p:cNvSpPr>
            <a:spLocks noChangeArrowheads="1"/>
          </p:cNvSpPr>
          <p:nvPr/>
        </p:nvSpPr>
        <p:spPr bwMode="auto">
          <a:xfrm>
            <a:off x="58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18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3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51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3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35" name="AutoShape 46"/>
          <p:cNvCxnSpPr>
            <a:cxnSpLocks noChangeShapeType="1"/>
            <a:stCxn id="27" idx="7"/>
            <a:endCxn id="34" idx="3"/>
          </p:cNvCxnSpPr>
          <p:nvPr/>
        </p:nvCxnSpPr>
        <p:spPr bwMode="auto">
          <a:xfrm flipV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47"/>
          <p:cNvCxnSpPr>
            <a:cxnSpLocks noChangeShapeType="1"/>
            <a:stCxn id="34" idx="5"/>
            <a:endCxn id="2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46"/>
          <p:cNvCxnSpPr>
            <a:cxnSpLocks noChangeShapeType="1"/>
            <a:stCxn id="29" idx="2"/>
            <a:endCxn id="27" idx="6"/>
          </p:cNvCxnSpPr>
          <p:nvPr/>
        </p:nvCxnSpPr>
        <p:spPr bwMode="auto">
          <a:xfrm flipH="1"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46"/>
          <p:cNvCxnSpPr>
            <a:cxnSpLocks noChangeShapeType="1"/>
            <a:stCxn id="34" idx="6"/>
            <a:endCxn id="28" idx="2"/>
          </p:cNvCxnSpPr>
          <p:nvPr/>
        </p:nvCxnSpPr>
        <p:spPr bwMode="auto">
          <a:xfrm>
            <a:off x="475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8" name="Text Box 33"/>
          <p:cNvSpPr txBox="1">
            <a:spLocks noChangeArrowheads="1"/>
          </p:cNvSpPr>
          <p:nvPr/>
        </p:nvSpPr>
        <p:spPr bwMode="auto">
          <a:xfrm>
            <a:off x="25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9" name="Oval 38"/>
          <p:cNvSpPr>
            <a:spLocks noChangeArrowheads="1"/>
          </p:cNvSpPr>
          <p:nvPr/>
        </p:nvSpPr>
        <p:spPr bwMode="auto">
          <a:xfrm>
            <a:off x="29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Text Box 43"/>
          <p:cNvSpPr txBox="1">
            <a:spLocks noChangeArrowheads="1"/>
          </p:cNvSpPr>
          <p:nvPr/>
        </p:nvSpPr>
        <p:spPr bwMode="auto">
          <a:xfrm>
            <a:off x="36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51" name="AutoShape 46"/>
          <p:cNvCxnSpPr>
            <a:cxnSpLocks noChangeShapeType="1"/>
            <a:stCxn id="34" idx="2"/>
            <a:endCxn id="49" idx="6"/>
          </p:cNvCxnSpPr>
          <p:nvPr/>
        </p:nvCxnSpPr>
        <p:spPr bwMode="auto">
          <a:xfrm flipH="1">
            <a:off x="331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413096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rgbClr val="0000FF"/>
                </a:solidFill>
                <a:cs typeface="+mj-cs"/>
              </a:rPr>
              <a:t>A graph with a negative weight cycle reachable from </a:t>
            </a:r>
            <a:r>
              <a:rPr lang="en-US" altLang="zh-TW" sz="2800" i="1" dirty="0">
                <a:solidFill>
                  <a:srgbClr val="0000FF"/>
                </a:solidFill>
                <a:cs typeface="+mj-cs"/>
              </a:rPr>
              <a:t>s</a:t>
            </a:r>
            <a:endParaRPr lang="zh-TW" altLang="en-US" dirty="0"/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29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58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18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25" name="Text Box 35"/>
          <p:cNvSpPr txBox="1">
            <a:spLocks noChangeArrowheads="1"/>
          </p:cNvSpPr>
          <p:nvPr/>
        </p:nvSpPr>
        <p:spPr bwMode="auto">
          <a:xfrm>
            <a:off x="61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7" name="Oval 38"/>
          <p:cNvSpPr>
            <a:spLocks noChangeArrowheads="1"/>
          </p:cNvSpPr>
          <p:nvPr/>
        </p:nvSpPr>
        <p:spPr bwMode="auto">
          <a:xfrm>
            <a:off x="33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8" name="Oval 39"/>
          <p:cNvSpPr>
            <a:spLocks noChangeArrowheads="1"/>
          </p:cNvSpPr>
          <p:nvPr/>
        </p:nvSpPr>
        <p:spPr bwMode="auto">
          <a:xfrm>
            <a:off x="58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9" name="Oval 40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36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18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31" name="Text Box 42"/>
          <p:cNvSpPr txBox="1"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44000" rIns="72000" bIns="0" anchor="ctr" anchorCtr="0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32" name="Text Box 43"/>
          <p:cNvSpPr txBox="1"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 anchorCtr="0"/>
          <a:lstStyle/>
          <a:p>
            <a:pPr algn="ctr"/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51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34" name="Oval 45"/>
          <p:cNvSpPr>
            <a:spLocks noChangeArrowheads="1"/>
          </p:cNvSpPr>
          <p:nvPr/>
        </p:nvSpPr>
        <p:spPr bwMode="auto">
          <a:xfrm>
            <a:off x="439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35" name="AutoShape 46"/>
          <p:cNvCxnSpPr>
            <a:cxnSpLocks noChangeShapeType="1"/>
            <a:stCxn id="27" idx="7"/>
            <a:endCxn id="34" idx="3"/>
          </p:cNvCxnSpPr>
          <p:nvPr/>
        </p:nvCxnSpPr>
        <p:spPr bwMode="auto">
          <a:xfrm flipV="1">
            <a:off x="361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47"/>
          <p:cNvCxnSpPr>
            <a:cxnSpLocks noChangeShapeType="1"/>
            <a:stCxn id="34" idx="5"/>
            <a:endCxn id="29" idx="1"/>
          </p:cNvCxnSpPr>
          <p:nvPr/>
        </p:nvCxnSpPr>
        <p:spPr bwMode="auto">
          <a:xfrm>
            <a:off x="469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46"/>
          <p:cNvCxnSpPr>
            <a:cxnSpLocks noChangeShapeType="1"/>
            <a:stCxn id="29" idx="2"/>
            <a:endCxn id="27" idx="6"/>
          </p:cNvCxnSpPr>
          <p:nvPr/>
        </p:nvCxnSpPr>
        <p:spPr bwMode="auto">
          <a:xfrm flipH="1">
            <a:off x="3672000" y="396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46"/>
          <p:cNvCxnSpPr>
            <a:cxnSpLocks noChangeShapeType="1"/>
            <a:stCxn id="34" idx="6"/>
            <a:endCxn id="28" idx="2"/>
          </p:cNvCxnSpPr>
          <p:nvPr/>
        </p:nvCxnSpPr>
        <p:spPr bwMode="auto">
          <a:xfrm>
            <a:off x="475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8" name="Text Box 33"/>
          <p:cNvSpPr txBox="1">
            <a:spLocks noChangeArrowheads="1"/>
          </p:cNvSpPr>
          <p:nvPr/>
        </p:nvSpPr>
        <p:spPr bwMode="auto">
          <a:xfrm>
            <a:off x="25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18000" anchor="ctr"/>
          <a:lstStyle/>
          <a:p>
            <a:pPr algn="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9" name="Oval 38"/>
          <p:cNvSpPr>
            <a:spLocks noChangeArrowheads="1"/>
          </p:cNvSpPr>
          <p:nvPr/>
        </p:nvSpPr>
        <p:spPr bwMode="auto">
          <a:xfrm>
            <a:off x="29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Text Box 43"/>
          <p:cNvSpPr txBox="1">
            <a:spLocks noChangeArrowheads="1"/>
          </p:cNvSpPr>
          <p:nvPr/>
        </p:nvSpPr>
        <p:spPr bwMode="auto">
          <a:xfrm>
            <a:off x="36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72000" anchor="ctr" anchorCtr="0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51" name="AutoShape 46"/>
          <p:cNvCxnSpPr>
            <a:cxnSpLocks noChangeShapeType="1"/>
            <a:stCxn id="34" idx="2"/>
            <a:endCxn id="49" idx="6"/>
          </p:cNvCxnSpPr>
          <p:nvPr/>
        </p:nvCxnSpPr>
        <p:spPr bwMode="auto">
          <a:xfrm flipH="1">
            <a:off x="3312000" y="28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16961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Modified </a:t>
            </a:r>
            <a:r>
              <a:rPr lang="en-US" altLang="zh-TW" dirty="0" err="1" smtClean="0"/>
              <a:t>Dijkstra’s</a:t>
            </a:r>
            <a:r>
              <a:rPr lang="en-US" altLang="zh-TW" dirty="0" smtClean="0"/>
              <a:t>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Dijkstra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812570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"tree edges:\n\n"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982613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d[ 0 ]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Dijkstra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</p:txBody>
      </p:sp>
    </p:spTree>
    <p:extLst>
      <p:ext uri="{BB962C8B-B14F-4D97-AF65-F5344CB8AC3E}">
        <p14:creationId xmlns:p14="http://schemas.microsoft.com/office/powerpoint/2010/main" val="18635455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/>
              <a:t>Modified </a:t>
            </a:r>
            <a:r>
              <a:rPr lang="en-US" altLang="zh-TW" sz="3200" dirty="0" err="1"/>
              <a:t>Dijkstra’s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algorithm cannot apply to a graph with negative weight edges</a:t>
            </a:r>
          </a:p>
        </p:txBody>
      </p:sp>
      <p:sp>
        <p:nvSpPr>
          <p:cNvPr id="134147" name="Oval 3"/>
          <p:cNvSpPr>
            <a:spLocks noChangeArrowheads="1"/>
          </p:cNvSpPr>
          <p:nvPr/>
        </p:nvSpPr>
        <p:spPr bwMode="auto">
          <a:xfrm>
            <a:off x="4212000" y="2889000"/>
            <a:ext cx="360000" cy="3600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lvl="0" algn="ctr">
              <a:lnSpc>
                <a:spcPct val="70000"/>
              </a:lnSpc>
            </a:pP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134148" name="AutoShape 4"/>
          <p:cNvCxnSpPr>
            <a:cxnSpLocks noChangeShapeType="1"/>
            <a:stCxn id="134147" idx="3"/>
            <a:endCxn id="134156" idx="7"/>
          </p:cNvCxnSpPr>
          <p:nvPr/>
        </p:nvCxnSpPr>
        <p:spPr bwMode="auto">
          <a:xfrm flipH="1">
            <a:off x="3439279" y="3196279"/>
            <a:ext cx="825442" cy="100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34149" name="AutoShape 5"/>
          <p:cNvCxnSpPr>
            <a:cxnSpLocks noChangeShapeType="1"/>
            <a:stCxn id="134156" idx="6"/>
            <a:endCxn id="134155" idx="2"/>
          </p:cNvCxnSpPr>
          <p:nvPr/>
        </p:nvCxnSpPr>
        <p:spPr bwMode="auto">
          <a:xfrm>
            <a:off x="3492000" y="432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34150" name="AutoShape 6"/>
          <p:cNvCxnSpPr>
            <a:cxnSpLocks noChangeShapeType="1"/>
            <a:stCxn id="134147" idx="5"/>
            <a:endCxn id="134155" idx="1"/>
          </p:cNvCxnSpPr>
          <p:nvPr/>
        </p:nvCxnSpPr>
        <p:spPr bwMode="auto">
          <a:xfrm>
            <a:off x="4519279" y="3196279"/>
            <a:ext cx="825442" cy="100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34152" name="Text Box 8"/>
          <p:cNvSpPr txBox="1">
            <a:spLocks noChangeArrowheads="1"/>
          </p:cNvSpPr>
          <p:nvPr/>
        </p:nvSpPr>
        <p:spPr bwMode="auto">
          <a:xfrm>
            <a:off x="42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4153" name="Text Box 9"/>
          <p:cNvSpPr txBox="1">
            <a:spLocks noChangeArrowheads="1"/>
          </p:cNvSpPr>
          <p:nvPr/>
        </p:nvSpPr>
        <p:spPr bwMode="auto">
          <a:xfrm>
            <a:off x="4932000" y="324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bIns="36000" anchor="b" anchorCtr="0">
            <a:noAutofit/>
          </a:bodyPr>
          <a:lstStyle/>
          <a:p>
            <a:r>
              <a:rPr lang="en-US" altLang="zh-TW" sz="2000" dirty="0"/>
              <a:t>2</a:t>
            </a:r>
          </a:p>
        </p:txBody>
      </p:sp>
      <p:sp>
        <p:nvSpPr>
          <p:cNvPr id="134155" name="Oval 14"/>
          <p:cNvSpPr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lvl="0" algn="ctr">
              <a:lnSpc>
                <a:spcPct val="70000"/>
              </a:lnSpc>
            </a:pP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34156" name="Oval 15"/>
          <p:cNvSpPr>
            <a:spLocks noChangeArrowheads="1"/>
          </p:cNvSpPr>
          <p:nvPr/>
        </p:nvSpPr>
        <p:spPr bwMode="auto">
          <a:xfrm>
            <a:off x="3132000" y="4149000"/>
            <a:ext cx="360000" cy="3600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algn="ctr">
              <a:lnSpc>
                <a:spcPct val="70000"/>
              </a:lnSpc>
            </a:pP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134158" name="Text Box 18"/>
          <p:cNvSpPr txBox="1">
            <a:spLocks noChangeArrowheads="1"/>
          </p:cNvSpPr>
          <p:nvPr/>
        </p:nvSpPr>
        <p:spPr bwMode="auto">
          <a:xfrm>
            <a:off x="42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/>
              <a:t>s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27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36000" anchor="ctr" anchorCtr="0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 smtClean="0"/>
              <a:t>x</a:t>
            </a:r>
            <a:endParaRPr lang="en-US" altLang="zh-TW" sz="2200" i="1" dirty="0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56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36000" anchor="ctr" anchorCtr="0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 smtClean="0"/>
              <a:t>y</a:t>
            </a:r>
            <a:endParaRPr lang="en-US" altLang="zh-TW" sz="2200" i="1" dirty="0"/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3492000" y="324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72000" bIns="36000" anchor="b" anchorCtr="0">
            <a:noAutofit/>
          </a:bodyPr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0297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/>
              <a:t>Modified </a:t>
            </a:r>
            <a:r>
              <a:rPr lang="en-US" altLang="zh-TW" sz="3200" dirty="0" err="1"/>
              <a:t>Dijkstra’s</a:t>
            </a:r>
            <a:r>
              <a:rPr lang="en-US" altLang="zh-TW" sz="3200" dirty="0"/>
              <a:t> algorithm cannot apply to a graph with negative weight edges</a:t>
            </a:r>
            <a:endParaRPr lang="en-US" altLang="zh-TW" sz="3200" dirty="0" smtClean="0"/>
          </a:p>
        </p:txBody>
      </p:sp>
      <p:sp>
        <p:nvSpPr>
          <p:cNvPr id="134147" name="Oval 3"/>
          <p:cNvSpPr>
            <a:spLocks noChangeArrowheads="1"/>
          </p:cNvSpPr>
          <p:nvPr/>
        </p:nvSpPr>
        <p:spPr bwMode="auto">
          <a:xfrm>
            <a:off x="4212000" y="2889000"/>
            <a:ext cx="360000" cy="36000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algn="ctr">
              <a:lnSpc>
                <a:spcPct val="70000"/>
              </a:lnSpc>
            </a:pPr>
            <a:r>
              <a:rPr lang="en-US" altLang="zh-TW" sz="2000" dirty="0" smtClean="0">
                <a:sym typeface="Symbol" pitchFamily="18" charset="2"/>
              </a:rPr>
              <a:t>0</a:t>
            </a:r>
            <a:endParaRPr lang="en-US" altLang="zh-TW" sz="2000" dirty="0">
              <a:sym typeface="Symbol" pitchFamily="18" charset="2"/>
            </a:endParaRPr>
          </a:p>
        </p:txBody>
      </p:sp>
      <p:cxnSp>
        <p:nvCxnSpPr>
          <p:cNvPr id="134148" name="AutoShape 4"/>
          <p:cNvCxnSpPr>
            <a:cxnSpLocks noChangeShapeType="1"/>
            <a:stCxn id="134147" idx="3"/>
            <a:endCxn id="134156" idx="7"/>
          </p:cNvCxnSpPr>
          <p:nvPr/>
        </p:nvCxnSpPr>
        <p:spPr bwMode="auto">
          <a:xfrm flipH="1">
            <a:off x="3439279" y="3196279"/>
            <a:ext cx="825442" cy="100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34149" name="AutoShape 5"/>
          <p:cNvCxnSpPr>
            <a:cxnSpLocks noChangeShapeType="1"/>
            <a:stCxn id="134156" idx="6"/>
            <a:endCxn id="134155" idx="2"/>
          </p:cNvCxnSpPr>
          <p:nvPr/>
        </p:nvCxnSpPr>
        <p:spPr bwMode="auto">
          <a:xfrm>
            <a:off x="3492000" y="432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34150" name="AutoShape 6"/>
          <p:cNvCxnSpPr>
            <a:cxnSpLocks noChangeShapeType="1"/>
            <a:stCxn id="134147" idx="5"/>
            <a:endCxn id="134155" idx="1"/>
          </p:cNvCxnSpPr>
          <p:nvPr/>
        </p:nvCxnSpPr>
        <p:spPr bwMode="auto">
          <a:xfrm>
            <a:off x="4519279" y="3196279"/>
            <a:ext cx="825442" cy="100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34152" name="Text Box 8"/>
          <p:cNvSpPr txBox="1">
            <a:spLocks noChangeArrowheads="1"/>
          </p:cNvSpPr>
          <p:nvPr/>
        </p:nvSpPr>
        <p:spPr bwMode="auto">
          <a:xfrm>
            <a:off x="42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4153" name="Text Box 9"/>
          <p:cNvSpPr txBox="1">
            <a:spLocks noChangeArrowheads="1"/>
          </p:cNvSpPr>
          <p:nvPr/>
        </p:nvSpPr>
        <p:spPr bwMode="auto">
          <a:xfrm>
            <a:off x="4932000" y="324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bIns="36000" anchor="b" anchorCtr="0">
            <a:noAutofit/>
          </a:bodyPr>
          <a:lstStyle/>
          <a:p>
            <a:r>
              <a:rPr lang="en-US" altLang="zh-TW" sz="2000" dirty="0"/>
              <a:t>2</a:t>
            </a:r>
          </a:p>
        </p:txBody>
      </p:sp>
      <p:sp>
        <p:nvSpPr>
          <p:cNvPr id="134155" name="Oval 14"/>
          <p:cNvSpPr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lvl="0" algn="ctr">
              <a:lnSpc>
                <a:spcPct val="70000"/>
              </a:lnSpc>
            </a:pP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34156" name="Oval 15"/>
          <p:cNvSpPr>
            <a:spLocks noChangeArrowheads="1"/>
          </p:cNvSpPr>
          <p:nvPr/>
        </p:nvSpPr>
        <p:spPr bwMode="auto">
          <a:xfrm>
            <a:off x="3132000" y="4149000"/>
            <a:ext cx="360000" cy="3600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algn="ctr">
              <a:lnSpc>
                <a:spcPct val="70000"/>
              </a:lnSpc>
            </a:pP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134158" name="Text Box 18"/>
          <p:cNvSpPr txBox="1">
            <a:spLocks noChangeArrowheads="1"/>
          </p:cNvSpPr>
          <p:nvPr/>
        </p:nvSpPr>
        <p:spPr bwMode="auto">
          <a:xfrm>
            <a:off x="42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/>
              <a:t>s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27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36000" anchor="ctr" anchorCtr="0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 smtClean="0"/>
              <a:t>x</a:t>
            </a:r>
            <a:endParaRPr lang="en-US" altLang="zh-TW" sz="2200" i="1" dirty="0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56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36000" anchor="ctr" anchorCtr="0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 smtClean="0"/>
              <a:t>y</a:t>
            </a:r>
            <a:endParaRPr lang="en-US" altLang="zh-TW" sz="2200" i="1" dirty="0"/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3492000" y="324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72000" bIns="36000" anchor="b" anchorCtr="0">
            <a:noAutofit/>
          </a:bodyPr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35606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/>
              <a:t>Modified </a:t>
            </a:r>
            <a:r>
              <a:rPr lang="en-US" altLang="zh-TW" sz="3200" dirty="0" err="1"/>
              <a:t>Dijkstra’s</a:t>
            </a:r>
            <a:r>
              <a:rPr lang="en-US" altLang="zh-TW" sz="3200" dirty="0"/>
              <a:t> algorithm cannot apply to a graph with negative weight edges</a:t>
            </a:r>
            <a:endParaRPr lang="en-US" altLang="zh-TW" sz="3200" dirty="0" smtClean="0"/>
          </a:p>
        </p:txBody>
      </p:sp>
      <p:sp>
        <p:nvSpPr>
          <p:cNvPr id="134147" name="Oval 3"/>
          <p:cNvSpPr>
            <a:spLocks noChangeArrowheads="1"/>
          </p:cNvSpPr>
          <p:nvPr/>
        </p:nvSpPr>
        <p:spPr bwMode="auto">
          <a:xfrm>
            <a:off x="4212000" y="28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algn="ctr">
              <a:lnSpc>
                <a:spcPct val="70000"/>
              </a:lnSpc>
            </a:pPr>
            <a:r>
              <a:rPr lang="en-US" altLang="zh-TW" sz="2000" dirty="0" smtClean="0">
                <a:sym typeface="Symbol" pitchFamily="18" charset="2"/>
              </a:rPr>
              <a:t>0</a:t>
            </a:r>
            <a:endParaRPr lang="en-US" altLang="zh-TW" sz="2000" dirty="0">
              <a:sym typeface="Symbol" pitchFamily="18" charset="2"/>
            </a:endParaRPr>
          </a:p>
        </p:txBody>
      </p:sp>
      <p:cxnSp>
        <p:nvCxnSpPr>
          <p:cNvPr id="134148" name="AutoShape 4"/>
          <p:cNvCxnSpPr>
            <a:cxnSpLocks noChangeShapeType="1"/>
            <a:stCxn id="134147" idx="3"/>
            <a:endCxn id="134156" idx="7"/>
          </p:cNvCxnSpPr>
          <p:nvPr/>
        </p:nvCxnSpPr>
        <p:spPr bwMode="auto">
          <a:xfrm flipH="1">
            <a:off x="3439279" y="3196279"/>
            <a:ext cx="825442" cy="100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34149" name="AutoShape 5"/>
          <p:cNvCxnSpPr>
            <a:cxnSpLocks noChangeShapeType="1"/>
            <a:stCxn id="134156" idx="6"/>
            <a:endCxn id="134155" idx="2"/>
          </p:cNvCxnSpPr>
          <p:nvPr/>
        </p:nvCxnSpPr>
        <p:spPr bwMode="auto">
          <a:xfrm>
            <a:off x="3492000" y="432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34150" name="AutoShape 6"/>
          <p:cNvCxnSpPr>
            <a:cxnSpLocks noChangeShapeType="1"/>
            <a:stCxn id="134147" idx="5"/>
            <a:endCxn id="134155" idx="1"/>
          </p:cNvCxnSpPr>
          <p:nvPr/>
        </p:nvCxnSpPr>
        <p:spPr bwMode="auto">
          <a:xfrm>
            <a:off x="4519279" y="3196279"/>
            <a:ext cx="825442" cy="100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34152" name="Text Box 8"/>
          <p:cNvSpPr txBox="1">
            <a:spLocks noChangeArrowheads="1"/>
          </p:cNvSpPr>
          <p:nvPr/>
        </p:nvSpPr>
        <p:spPr bwMode="auto">
          <a:xfrm>
            <a:off x="42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4153" name="Text Box 9"/>
          <p:cNvSpPr txBox="1">
            <a:spLocks noChangeArrowheads="1"/>
          </p:cNvSpPr>
          <p:nvPr/>
        </p:nvSpPr>
        <p:spPr bwMode="auto">
          <a:xfrm>
            <a:off x="4932000" y="324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bIns="36000" anchor="b" anchorCtr="0">
            <a:noAutofit/>
          </a:bodyPr>
          <a:lstStyle/>
          <a:p>
            <a:r>
              <a:rPr lang="en-US" altLang="zh-TW" sz="2000" dirty="0"/>
              <a:t>2</a:t>
            </a:r>
          </a:p>
        </p:txBody>
      </p:sp>
      <p:sp>
        <p:nvSpPr>
          <p:cNvPr id="134155" name="Oval 14"/>
          <p:cNvSpPr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lvl="0" algn="ctr">
              <a:lnSpc>
                <a:spcPct val="70000"/>
              </a:lnSpc>
            </a:pPr>
            <a:r>
              <a:rPr lang="en-US" altLang="zh-TW" sz="2000" dirty="0" smtClean="0">
                <a:solidFill>
                  <a:srgbClr val="000000"/>
                </a:solidFill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34156" name="Oval 15"/>
          <p:cNvSpPr>
            <a:spLocks noChangeArrowheads="1"/>
          </p:cNvSpPr>
          <p:nvPr/>
        </p:nvSpPr>
        <p:spPr bwMode="auto">
          <a:xfrm>
            <a:off x="3132000" y="4149000"/>
            <a:ext cx="360000" cy="3600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lvl="0" algn="ctr">
              <a:lnSpc>
                <a:spcPct val="70000"/>
              </a:lnSpc>
            </a:pPr>
            <a:r>
              <a:rPr lang="en-US" altLang="zh-TW" sz="2000" dirty="0" smtClean="0">
                <a:solidFill>
                  <a:srgbClr val="000000"/>
                </a:solidFill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34158" name="Text Box 18"/>
          <p:cNvSpPr txBox="1">
            <a:spLocks noChangeArrowheads="1"/>
          </p:cNvSpPr>
          <p:nvPr/>
        </p:nvSpPr>
        <p:spPr bwMode="auto">
          <a:xfrm>
            <a:off x="42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/>
              <a:t>s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27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36000" anchor="ctr" anchorCtr="0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 smtClean="0"/>
              <a:t>x</a:t>
            </a:r>
            <a:endParaRPr lang="en-US" altLang="zh-TW" sz="2200" i="1" dirty="0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56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36000" anchor="ctr" anchorCtr="0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 smtClean="0"/>
              <a:t>y</a:t>
            </a:r>
            <a:endParaRPr lang="en-US" altLang="zh-TW" sz="2200" i="1" dirty="0"/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3492000" y="324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72000" bIns="36000" anchor="b" anchorCtr="0">
            <a:noAutofit/>
          </a:bodyPr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50480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/>
              <a:t>Modified </a:t>
            </a:r>
            <a:r>
              <a:rPr lang="en-US" altLang="zh-TW" sz="3200" dirty="0" err="1"/>
              <a:t>Dijkstra’s</a:t>
            </a:r>
            <a:r>
              <a:rPr lang="en-US" altLang="zh-TW" sz="3200" dirty="0"/>
              <a:t> algorithm cannot apply to a graph with negative weight edges</a:t>
            </a:r>
            <a:endParaRPr lang="en-US" altLang="zh-TW" sz="3200" dirty="0" smtClean="0"/>
          </a:p>
        </p:txBody>
      </p:sp>
      <p:sp>
        <p:nvSpPr>
          <p:cNvPr id="134147" name="Oval 3"/>
          <p:cNvSpPr>
            <a:spLocks noChangeArrowheads="1"/>
          </p:cNvSpPr>
          <p:nvPr/>
        </p:nvSpPr>
        <p:spPr bwMode="auto">
          <a:xfrm>
            <a:off x="4212000" y="28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algn="ctr">
              <a:lnSpc>
                <a:spcPct val="70000"/>
              </a:lnSpc>
            </a:pPr>
            <a:r>
              <a:rPr lang="en-US" altLang="zh-TW" sz="2000" dirty="0" smtClean="0">
                <a:sym typeface="Symbol" pitchFamily="18" charset="2"/>
              </a:rPr>
              <a:t>0</a:t>
            </a:r>
            <a:endParaRPr lang="en-US" altLang="zh-TW" sz="2000" dirty="0">
              <a:sym typeface="Symbol" pitchFamily="18" charset="2"/>
            </a:endParaRPr>
          </a:p>
        </p:txBody>
      </p:sp>
      <p:cxnSp>
        <p:nvCxnSpPr>
          <p:cNvPr id="134148" name="AutoShape 4"/>
          <p:cNvCxnSpPr>
            <a:cxnSpLocks noChangeShapeType="1"/>
            <a:stCxn id="134147" idx="3"/>
            <a:endCxn id="134156" idx="7"/>
          </p:cNvCxnSpPr>
          <p:nvPr/>
        </p:nvCxnSpPr>
        <p:spPr bwMode="auto">
          <a:xfrm flipH="1">
            <a:off x="3439279" y="3196279"/>
            <a:ext cx="825442" cy="100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34149" name="AutoShape 5"/>
          <p:cNvCxnSpPr>
            <a:cxnSpLocks noChangeShapeType="1"/>
            <a:stCxn id="134156" idx="6"/>
            <a:endCxn id="134155" idx="2"/>
          </p:cNvCxnSpPr>
          <p:nvPr/>
        </p:nvCxnSpPr>
        <p:spPr bwMode="auto">
          <a:xfrm>
            <a:off x="3492000" y="432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34150" name="AutoShape 6"/>
          <p:cNvCxnSpPr>
            <a:cxnSpLocks noChangeShapeType="1"/>
            <a:stCxn id="134147" idx="5"/>
            <a:endCxn id="134155" idx="1"/>
          </p:cNvCxnSpPr>
          <p:nvPr/>
        </p:nvCxnSpPr>
        <p:spPr bwMode="auto">
          <a:xfrm>
            <a:off x="4519279" y="3196279"/>
            <a:ext cx="825442" cy="100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34152" name="Text Box 8"/>
          <p:cNvSpPr txBox="1">
            <a:spLocks noChangeArrowheads="1"/>
          </p:cNvSpPr>
          <p:nvPr/>
        </p:nvSpPr>
        <p:spPr bwMode="auto">
          <a:xfrm>
            <a:off x="42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4153" name="Text Box 9"/>
          <p:cNvSpPr txBox="1">
            <a:spLocks noChangeArrowheads="1"/>
          </p:cNvSpPr>
          <p:nvPr/>
        </p:nvSpPr>
        <p:spPr bwMode="auto">
          <a:xfrm>
            <a:off x="4932000" y="324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bIns="36000" anchor="b" anchorCtr="0">
            <a:noAutofit/>
          </a:bodyPr>
          <a:lstStyle/>
          <a:p>
            <a:r>
              <a:rPr lang="en-US" altLang="zh-TW" sz="2000" dirty="0"/>
              <a:t>2</a:t>
            </a:r>
          </a:p>
        </p:txBody>
      </p:sp>
      <p:sp>
        <p:nvSpPr>
          <p:cNvPr id="134155" name="Oval 14"/>
          <p:cNvSpPr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lvl="0" algn="ctr">
              <a:lnSpc>
                <a:spcPct val="70000"/>
              </a:lnSpc>
            </a:pPr>
            <a:r>
              <a:rPr lang="en-US" altLang="zh-TW" sz="2000" dirty="0" smtClean="0">
                <a:sym typeface="Symbol" pitchFamily="18" charset="2"/>
              </a:rPr>
              <a:t>2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134156" name="Oval 15"/>
          <p:cNvSpPr>
            <a:spLocks noChangeArrowheads="1"/>
          </p:cNvSpPr>
          <p:nvPr/>
        </p:nvSpPr>
        <p:spPr bwMode="auto">
          <a:xfrm>
            <a:off x="3132000" y="4149000"/>
            <a:ext cx="360000" cy="36000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lvl="0" algn="ctr">
              <a:lnSpc>
                <a:spcPct val="70000"/>
              </a:lnSpc>
            </a:pPr>
            <a:r>
              <a:rPr lang="en-US" altLang="zh-TW" sz="2000" dirty="0" smtClean="0">
                <a:solidFill>
                  <a:srgbClr val="000000"/>
                </a:solidFill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34158" name="Text Box 18"/>
          <p:cNvSpPr txBox="1">
            <a:spLocks noChangeArrowheads="1"/>
          </p:cNvSpPr>
          <p:nvPr/>
        </p:nvSpPr>
        <p:spPr bwMode="auto">
          <a:xfrm>
            <a:off x="42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/>
              <a:t>s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27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36000" anchor="ctr" anchorCtr="0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 smtClean="0"/>
              <a:t>x</a:t>
            </a:r>
            <a:endParaRPr lang="en-US" altLang="zh-TW" sz="2200" i="1" dirty="0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56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36000" anchor="ctr" anchorCtr="0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 smtClean="0"/>
              <a:t>y</a:t>
            </a:r>
            <a:endParaRPr lang="en-US" altLang="zh-TW" sz="2200" i="1" dirty="0"/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3492000" y="324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72000" bIns="36000" anchor="b" anchorCtr="0">
            <a:noAutofit/>
          </a:bodyPr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49810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 dirty="0"/>
              <a:t>Modified </a:t>
            </a:r>
            <a:r>
              <a:rPr lang="en-US" altLang="zh-TW" sz="3200" dirty="0" err="1"/>
              <a:t>Dijkstra’s</a:t>
            </a:r>
            <a:r>
              <a:rPr lang="en-US" altLang="zh-TW" sz="3200" dirty="0"/>
              <a:t> algorithm cannot apply to a graph with negative weight edges</a:t>
            </a:r>
            <a:endParaRPr lang="en-US" altLang="zh-TW" sz="3200" dirty="0" smtClean="0"/>
          </a:p>
        </p:txBody>
      </p:sp>
      <p:sp>
        <p:nvSpPr>
          <p:cNvPr id="134147" name="Oval 3"/>
          <p:cNvSpPr>
            <a:spLocks noChangeArrowheads="1"/>
          </p:cNvSpPr>
          <p:nvPr/>
        </p:nvSpPr>
        <p:spPr bwMode="auto">
          <a:xfrm>
            <a:off x="4212000" y="28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algn="ctr">
              <a:lnSpc>
                <a:spcPct val="70000"/>
              </a:lnSpc>
            </a:pPr>
            <a:r>
              <a:rPr lang="en-US" altLang="zh-TW" sz="2000" dirty="0" smtClean="0">
                <a:sym typeface="Symbol" pitchFamily="18" charset="2"/>
              </a:rPr>
              <a:t>0</a:t>
            </a:r>
            <a:endParaRPr lang="en-US" altLang="zh-TW" sz="2000" dirty="0">
              <a:sym typeface="Symbol" pitchFamily="18" charset="2"/>
            </a:endParaRPr>
          </a:p>
        </p:txBody>
      </p:sp>
      <p:cxnSp>
        <p:nvCxnSpPr>
          <p:cNvPr id="134148" name="AutoShape 4"/>
          <p:cNvCxnSpPr>
            <a:cxnSpLocks noChangeShapeType="1"/>
            <a:stCxn id="134147" idx="3"/>
            <a:endCxn id="134156" idx="7"/>
          </p:cNvCxnSpPr>
          <p:nvPr/>
        </p:nvCxnSpPr>
        <p:spPr bwMode="auto">
          <a:xfrm flipH="1">
            <a:off x="3439279" y="3196279"/>
            <a:ext cx="825442" cy="100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34149" name="AutoShape 5"/>
          <p:cNvCxnSpPr>
            <a:cxnSpLocks noChangeShapeType="1"/>
            <a:stCxn id="134156" idx="6"/>
            <a:endCxn id="134155" idx="2"/>
          </p:cNvCxnSpPr>
          <p:nvPr/>
        </p:nvCxnSpPr>
        <p:spPr bwMode="auto">
          <a:xfrm>
            <a:off x="3492000" y="4329000"/>
            <a:ext cx="180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134150" name="AutoShape 6"/>
          <p:cNvCxnSpPr>
            <a:cxnSpLocks noChangeShapeType="1"/>
            <a:stCxn id="134147" idx="5"/>
            <a:endCxn id="134155" idx="1"/>
          </p:cNvCxnSpPr>
          <p:nvPr/>
        </p:nvCxnSpPr>
        <p:spPr bwMode="auto">
          <a:xfrm>
            <a:off x="4519279" y="3196279"/>
            <a:ext cx="825442" cy="100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sp>
        <p:nvSpPr>
          <p:cNvPr id="134152" name="Text Box 8"/>
          <p:cNvSpPr txBox="1">
            <a:spLocks noChangeArrowheads="1"/>
          </p:cNvSpPr>
          <p:nvPr/>
        </p:nvSpPr>
        <p:spPr bwMode="auto">
          <a:xfrm>
            <a:off x="4212000" y="43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r>
              <a:rPr lang="en-US" altLang="zh-TW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4153" name="Text Box 9"/>
          <p:cNvSpPr txBox="1">
            <a:spLocks noChangeArrowheads="1"/>
          </p:cNvSpPr>
          <p:nvPr/>
        </p:nvSpPr>
        <p:spPr bwMode="auto">
          <a:xfrm>
            <a:off x="4932000" y="324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bIns="36000" anchor="b" anchorCtr="0">
            <a:noAutofit/>
          </a:bodyPr>
          <a:lstStyle/>
          <a:p>
            <a:r>
              <a:rPr lang="en-US" altLang="zh-TW" sz="2000" dirty="0"/>
              <a:t>2</a:t>
            </a:r>
          </a:p>
        </p:txBody>
      </p:sp>
      <p:sp>
        <p:nvSpPr>
          <p:cNvPr id="134155" name="Oval 14"/>
          <p:cNvSpPr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lvl="0" algn="ctr">
              <a:lnSpc>
                <a:spcPct val="70000"/>
              </a:lnSpc>
            </a:pPr>
            <a:r>
              <a:rPr lang="en-US" altLang="zh-TW" sz="2000" dirty="0" smtClean="0">
                <a:sym typeface="Symbol" pitchFamily="18" charset="2"/>
              </a:rPr>
              <a:t>2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134156" name="Oval 15"/>
          <p:cNvSpPr>
            <a:spLocks noChangeArrowheads="1"/>
          </p:cNvSpPr>
          <p:nvPr/>
        </p:nvSpPr>
        <p:spPr bwMode="auto">
          <a:xfrm>
            <a:off x="31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0" anchor="ctr"/>
          <a:lstStyle/>
          <a:p>
            <a:pPr lvl="0" algn="ctr">
              <a:lnSpc>
                <a:spcPct val="70000"/>
              </a:lnSpc>
            </a:pPr>
            <a:r>
              <a:rPr lang="en-US" altLang="zh-TW" sz="2000" dirty="0" smtClean="0">
                <a:sym typeface="Symbol" pitchFamily="18" charset="2"/>
              </a:rPr>
              <a:t>3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134158" name="Text Box 18"/>
          <p:cNvSpPr txBox="1">
            <a:spLocks noChangeArrowheads="1"/>
          </p:cNvSpPr>
          <p:nvPr/>
        </p:nvSpPr>
        <p:spPr bwMode="auto">
          <a:xfrm>
            <a:off x="42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/>
              <a:t>s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27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36000" anchor="ctr" anchorCtr="0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 smtClean="0"/>
              <a:t>x</a:t>
            </a:r>
            <a:endParaRPr lang="en-US" altLang="zh-TW" sz="2200" i="1" dirty="0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56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36000" anchor="ctr" anchorCtr="0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zh-TW" sz="2200" i="1" dirty="0" smtClean="0"/>
              <a:t>y</a:t>
            </a:r>
            <a:endParaRPr lang="en-US" altLang="zh-TW" sz="2200" i="1" dirty="0"/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3492000" y="324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72000" bIns="36000" anchor="b" anchorCtr="0">
            <a:noAutofit/>
          </a:bodyPr>
          <a:lstStyle/>
          <a:p>
            <a:pPr algn="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61056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74901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sPFA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799101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[ 0 ]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74786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sPFA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inStack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540654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stack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inStack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[ 0 ]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Q.top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inStack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inStack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inStack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inStack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0028966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18586</TotalTime>
  <Words>18304</Words>
  <Application>Microsoft Office PowerPoint</Application>
  <PresentationFormat>如螢幕大小 (4:3)</PresentationFormat>
  <Paragraphs>5417</Paragraphs>
  <Slides>178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178</vt:i4>
      </vt:variant>
    </vt:vector>
  </HeadingPairs>
  <TitlesOfParts>
    <vt:vector size="192" baseType="lpstr">
      <vt:lpstr>細明體</vt:lpstr>
      <vt:lpstr>新細明體</vt:lpstr>
      <vt:lpstr>標楷體</vt:lpstr>
      <vt:lpstr>Arial</vt:lpstr>
      <vt:lpstr>Cambria Math</vt:lpstr>
      <vt:lpstr>Georgia</vt:lpstr>
      <vt:lpstr>Lucida Console</vt:lpstr>
      <vt:lpstr>MT Extra</vt:lpstr>
      <vt:lpstr>Symbol</vt:lpstr>
      <vt:lpstr>Times New Roman</vt:lpstr>
      <vt:lpstr>Wingdings</vt:lpstr>
      <vt:lpstr>Blends</vt:lpstr>
      <vt:lpstr>方程式</vt:lpstr>
      <vt:lpstr>Visio</vt:lpstr>
      <vt:lpstr>Single-Source Shortest Paths</vt:lpstr>
      <vt:lpstr>PowerPoint 簡報</vt:lpstr>
      <vt:lpstr>Single-source shortest-paths problem</vt:lpstr>
      <vt:lpstr>Single-source shortest-paths problem</vt:lpstr>
      <vt:lpstr>Shortest-paths tree</vt:lpstr>
      <vt:lpstr>A graph contains a negative-weight cycle reachable from s</vt:lpstr>
      <vt:lpstr>Shortest-paths trees are not necessarily unique</vt:lpstr>
      <vt:lpstr>Shortest-paths trees are not necessarily unique</vt:lpstr>
      <vt:lpstr>Shortest-paths trees are not necessarily unique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Single-source shortest paths in  directed acyclic graphs</vt:lpstr>
      <vt:lpstr>Single-source shortest paths in  directed acyclic graphs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Worst-case Time Complexity</vt:lpstr>
      <vt:lpstr>PowerPoint 簡報</vt:lpstr>
      <vt:lpstr>PowerPoint 簡報</vt:lpstr>
      <vt:lpstr>Dijkstra’s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Worst-case Time Complexity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Implement the min-priority queue with a binary min-heap</vt:lpstr>
      <vt:lpstr>Implement the min-priority queue with a binary min-heap</vt:lpstr>
      <vt:lpstr>The Worst-case Time Complexity</vt:lpstr>
      <vt:lpstr>Dijkstra's algorithm cannot apply to a directed graph with negative weight edges</vt:lpstr>
      <vt:lpstr>Dijkstra's algorithm cannot apply to a directed graph with negative weight edges</vt:lpstr>
      <vt:lpstr>Dijkstra's algorithm cannot apply to a directed graph with negative weight edges</vt:lpstr>
      <vt:lpstr>Dijkstra's algorithm cannot apply to a directed graph with negative weight edges</vt:lpstr>
      <vt:lpstr>Dijkstra's algorithm cannot apply to a directed graph with negative weight edges</vt:lpstr>
      <vt:lpstr>PowerPoint 簡報</vt:lpstr>
      <vt:lpstr>Dijkstra's algorithm cannot apply to an undirected graph with negative weight edges</vt:lpstr>
      <vt:lpstr>Dijkstra's algorithm cannot apply to an undirected graph with negative weight edges</vt:lpstr>
      <vt:lpstr>Dijkstra's algorithm cannot apply to an undirected graph with negative weight edges</vt:lpstr>
      <vt:lpstr>Dijkstra's algorithm cannot apply to an undirected graph with negative weight edges</vt:lpstr>
      <vt:lpstr>Dijkstra's algorithm cannot apply to an undirected graph with negative weight edges</vt:lpstr>
      <vt:lpstr>The Bellman-Ford algorithm</vt:lpstr>
      <vt:lpstr>The Bellman-Ford Algorithm for Directed Graph</vt:lpstr>
      <vt:lpstr>The Bellman-Ford Algorithm for Directed Graph</vt:lpstr>
      <vt:lpstr>PowerPoint 簡報</vt:lpstr>
      <vt:lpstr>PowerPoint 簡報</vt:lpstr>
      <vt:lpstr>PowerPoint 簡報</vt:lpstr>
      <vt:lpstr>PowerPoint 簡報</vt:lpstr>
      <vt:lpstr>PowerPoint 簡報</vt:lpstr>
      <vt:lpstr>The Bellman-Ford algorithm</vt:lpstr>
      <vt:lpstr>The Bellman-Ford Algorithm for Undirected Graph</vt:lpstr>
      <vt:lpstr>PowerPoint 簡報</vt:lpstr>
      <vt:lpstr>PowerPoint 簡報</vt:lpstr>
      <vt:lpstr>PowerPoint 簡報</vt:lpstr>
      <vt:lpstr>Correctness of Lemma 1</vt:lpstr>
      <vt:lpstr>The Bellman-Ford Algorithm for Directed Graph</vt:lpstr>
      <vt:lpstr>The Bellman-Ford Algorithm for Directed Graph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Modified Dijkstra’s Algorithm</vt:lpstr>
      <vt:lpstr>PowerPoint 簡報</vt:lpstr>
      <vt:lpstr>PowerPoint 簡報</vt:lpstr>
      <vt:lpstr>Modified Dijkstra’s algorithm cannot apply to a graph with negative weight edges</vt:lpstr>
      <vt:lpstr>Modified Dijkstra’s algorithm cannot apply to a graph with negative weight edges</vt:lpstr>
      <vt:lpstr>Modified Dijkstra’s algorithm cannot apply to a graph with negative weight edges</vt:lpstr>
      <vt:lpstr>Modified Dijkstra’s algorithm cannot apply to a graph with negative weight edges</vt:lpstr>
      <vt:lpstr>Modified Dijkstra’s algorithm cannot apply to a graph with negative weight edges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806</cp:revision>
  <dcterms:created xsi:type="dcterms:W3CDTF">2001-09-06T13:56:50Z</dcterms:created>
  <dcterms:modified xsi:type="dcterms:W3CDTF">2025-10-21T01:02:55Z</dcterms:modified>
</cp:coreProperties>
</file>