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4"/>
  </p:notesMasterIdLst>
  <p:handoutMasterIdLst>
    <p:handoutMasterId r:id="rId65"/>
  </p:handoutMasterIdLst>
  <p:sldIdLst>
    <p:sldId id="256" r:id="rId2"/>
    <p:sldId id="706" r:id="rId3"/>
    <p:sldId id="257" r:id="rId4"/>
    <p:sldId id="685" r:id="rId5"/>
    <p:sldId id="678" r:id="rId6"/>
    <p:sldId id="818" r:id="rId7"/>
    <p:sldId id="719" r:id="rId8"/>
    <p:sldId id="760" r:id="rId9"/>
    <p:sldId id="720" r:id="rId10"/>
    <p:sldId id="817" r:id="rId11"/>
    <p:sldId id="840" r:id="rId12"/>
    <p:sldId id="762" r:id="rId13"/>
    <p:sldId id="841" r:id="rId14"/>
    <p:sldId id="764" r:id="rId15"/>
    <p:sldId id="787" r:id="rId16"/>
    <p:sldId id="816" r:id="rId17"/>
    <p:sldId id="815" r:id="rId18"/>
    <p:sldId id="702" r:id="rId19"/>
    <p:sldId id="701" r:id="rId20"/>
    <p:sldId id="703" r:id="rId21"/>
    <p:sldId id="704" r:id="rId22"/>
    <p:sldId id="705" r:id="rId23"/>
    <p:sldId id="794" r:id="rId24"/>
    <p:sldId id="810" r:id="rId25"/>
    <p:sldId id="811" r:id="rId26"/>
    <p:sldId id="812" r:id="rId27"/>
    <p:sldId id="813" r:id="rId28"/>
    <p:sldId id="819" r:id="rId29"/>
    <p:sldId id="695" r:id="rId30"/>
    <p:sldId id="805" r:id="rId31"/>
    <p:sldId id="820" r:id="rId32"/>
    <p:sldId id="806" r:id="rId33"/>
    <p:sldId id="802" r:id="rId34"/>
    <p:sldId id="804" r:id="rId35"/>
    <p:sldId id="821" r:id="rId36"/>
    <p:sldId id="822" r:id="rId37"/>
    <p:sldId id="732" r:id="rId38"/>
    <p:sldId id="733" r:id="rId39"/>
    <p:sldId id="808" r:id="rId40"/>
    <p:sldId id="807" r:id="rId41"/>
    <p:sldId id="739" r:id="rId42"/>
    <p:sldId id="824" r:id="rId43"/>
    <p:sldId id="773" r:id="rId44"/>
    <p:sldId id="774" r:id="rId45"/>
    <p:sldId id="838" r:id="rId46"/>
    <p:sldId id="837" r:id="rId47"/>
    <p:sldId id="839" r:id="rId48"/>
    <p:sldId id="775" r:id="rId49"/>
    <p:sldId id="828" r:id="rId50"/>
    <p:sldId id="827" r:id="rId51"/>
    <p:sldId id="826" r:id="rId52"/>
    <p:sldId id="825" r:id="rId53"/>
    <p:sldId id="829" r:id="rId54"/>
    <p:sldId id="836" r:id="rId55"/>
    <p:sldId id="707" r:id="rId56"/>
    <p:sldId id="830" r:id="rId57"/>
    <p:sldId id="831" r:id="rId58"/>
    <p:sldId id="737" r:id="rId59"/>
    <p:sldId id="748" r:id="rId60"/>
    <p:sldId id="832" r:id="rId61"/>
    <p:sldId id="833" r:id="rId62"/>
    <p:sldId id="834" r:id="rId63"/>
  </p:sldIdLst>
  <p:sldSz cx="9144000" cy="6858000" type="screen4x3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7C80"/>
    <a:srgbClr val="9999FF"/>
    <a:srgbClr val="006600"/>
    <a:srgbClr val="008000"/>
    <a:srgbClr val="6666F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3" autoAdjust="0"/>
    <p:restoredTop sz="94637" autoAdjust="0"/>
  </p:normalViewPr>
  <p:slideViewPr>
    <p:cSldViewPr showGuides="1">
      <p:cViewPr varScale="1">
        <p:scale>
          <a:sx n="95" d="100"/>
          <a:sy n="95" d="100"/>
        </p:scale>
        <p:origin x="86" y="77"/>
      </p:cViewPr>
      <p:guideLst>
        <p:guide orient="horz" pos="5"/>
        <p:guide pos="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6BF26EBD-3E09-44EF-956B-8BD3C916C0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8638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3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76B13448-43F4-443B-9CE2-651BE8BCA09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6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11494" y="2708908"/>
            <a:ext cx="7921012" cy="1440183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4974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1448" y="1268724"/>
            <a:ext cx="8641103" cy="5040001"/>
          </a:xfrm>
        </p:spPr>
        <p:txBody>
          <a:bodyPr/>
          <a:lstStyle>
            <a:lvl1pPr marL="0" indent="0">
              <a:buFontTx/>
              <a:buNone/>
              <a:defRPr sz="21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1448" y="1268724"/>
            <a:ext cx="8641103" cy="5040001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6407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4"/>
            <a:ext cx="8281058" cy="5040001"/>
          </a:xfrm>
        </p:spPr>
        <p:txBody>
          <a:bodyPr/>
          <a:lstStyle>
            <a:lvl1pPr marL="0" indent="0">
              <a:buFontTx/>
              <a:buNone/>
              <a:defRPr sz="21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7512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1448" y="1268724"/>
            <a:ext cx="8641103" cy="5040001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2317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4"/>
            <a:ext cx="8281058" cy="5220667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4521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5"/>
            <a:ext cx="8281058" cy="3600460"/>
          </a:xfrm>
        </p:spPr>
        <p:txBody>
          <a:bodyPr wrap="none"/>
          <a:lstStyle>
            <a:lvl1pPr marL="0" indent="0">
              <a:buFontTx/>
              <a:buNone/>
              <a:defRPr sz="1600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1636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2348862"/>
            <a:ext cx="6840874" cy="3960505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3384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9001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1448" y="1268724"/>
            <a:ext cx="8641103" cy="5040001"/>
          </a:xfrm>
        </p:spPr>
        <p:txBody>
          <a:bodyPr/>
          <a:lstStyle>
            <a:lvl1pPr marL="0" indent="0"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8535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1494" y="548632"/>
            <a:ext cx="7921012" cy="5760093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007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548632"/>
            <a:ext cx="8281058" cy="5940759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9548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628770"/>
            <a:ext cx="5580713" cy="3060390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45561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628770"/>
            <a:ext cx="8101035" cy="3240414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3611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4689161"/>
            <a:ext cx="8101035" cy="1620207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1470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4329114"/>
            <a:ext cx="8281058" cy="2340299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13836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548632"/>
            <a:ext cx="8281057" cy="1260161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67821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494" y="1268724"/>
            <a:ext cx="7921012" cy="50400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04209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1448" y="1268724"/>
            <a:ext cx="8641104" cy="1800230"/>
          </a:xfrm>
        </p:spPr>
        <p:txBody>
          <a:bodyPr/>
          <a:lstStyle>
            <a:lvl1pPr marL="0" indent="0">
              <a:buFontTx/>
              <a:buNone/>
              <a:defRPr sz="2000">
                <a:latin typeface="+mn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251448" y="3248977"/>
            <a:ext cx="8641104" cy="3060392"/>
          </a:xfrm>
        </p:spPr>
        <p:txBody>
          <a:bodyPr/>
          <a:lstStyle>
            <a:lvl1pPr marL="0" indent="0">
              <a:buFontTx/>
              <a:buNone/>
              <a:defRPr sz="1600">
                <a:latin typeface="+mn-ea"/>
                <a:ea typeface="+mn-ea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1448" y="548632"/>
            <a:ext cx="7921012" cy="4680598"/>
          </a:xfrm>
        </p:spPr>
        <p:txBody>
          <a:bodyPr/>
          <a:lstStyle>
            <a:lvl1pPr marL="0" indent="0"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112069" y="2708908"/>
            <a:ext cx="3780483" cy="3780482"/>
          </a:xfrm>
        </p:spPr>
        <p:txBody>
          <a:bodyPr/>
          <a:lstStyle>
            <a:lvl1pPr marL="0" indent="0"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76965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1449" y="908678"/>
            <a:ext cx="3960506" cy="2520322"/>
          </a:xfrm>
        </p:spPr>
        <p:txBody>
          <a:bodyPr/>
          <a:lstStyle>
            <a:lvl1pPr marL="0" indent="0"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391977" y="908678"/>
            <a:ext cx="4500575" cy="2520322"/>
          </a:xfrm>
        </p:spPr>
        <p:txBody>
          <a:bodyPr/>
          <a:lstStyle>
            <a:lvl1pPr marL="0" indent="0"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34241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4"/>
            <a:ext cx="8281057" cy="504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3" r:id="rId2"/>
    <p:sldLayoutId id="2147483670" r:id="rId3"/>
    <p:sldLayoutId id="2147483668" r:id="rId4"/>
    <p:sldLayoutId id="2147483664" r:id="rId5"/>
    <p:sldLayoutId id="2147483676" r:id="rId6"/>
    <p:sldLayoutId id="2147483669" r:id="rId7"/>
    <p:sldLayoutId id="2147483675" r:id="rId8"/>
    <p:sldLayoutId id="2147483666" r:id="rId9"/>
    <p:sldLayoutId id="2147483661" r:id="rId10"/>
    <p:sldLayoutId id="2147483673" r:id="rId11"/>
    <p:sldLayoutId id="2147483671" r:id="rId12"/>
    <p:sldLayoutId id="2147483672" r:id="rId13"/>
    <p:sldLayoutId id="2147483674" r:id="rId14"/>
    <p:sldLayoutId id="2147483665" r:id="rId15"/>
    <p:sldLayoutId id="2147483663" r:id="rId16"/>
    <p:sldLayoutId id="2147483659" r:id="rId17"/>
    <p:sldLayoutId id="2147483655" r:id="rId18"/>
    <p:sldLayoutId id="2147483667" r:id="rId19"/>
    <p:sldLayoutId id="2147483662" r:id="rId20"/>
    <p:sldLayoutId id="2147483657" r:id="rId21"/>
    <p:sldLayoutId id="2147483658" r:id="rId2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All-Pairs Shortest Paths</a:t>
            </a:r>
            <a:endParaRPr lang="en-US" altLang="zh-TW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All-Pairs Shortest Paths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100" dirty="0"/>
              <a:t>We are given a weighted, directed graph </a:t>
            </a:r>
            <a:r>
              <a:rPr lang="en-US" altLang="zh-TW" sz="2100" i="1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G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 (</a:t>
            </a:r>
            <a:r>
              <a:rPr lang="en-US" altLang="zh-TW" sz="2100" i="1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V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, </a:t>
            </a:r>
            <a:r>
              <a:rPr lang="en-US" altLang="zh-TW" sz="2100" i="1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E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)</a:t>
            </a:r>
            <a:r>
              <a:rPr lang="en-US" altLang="zh-TW" sz="2100" dirty="0"/>
              <a:t> with a weight function      </a:t>
            </a:r>
            <a:r>
              <a:rPr lang="en-US" altLang="zh-TW" sz="2100" i="1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w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: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 </a:t>
            </a:r>
            <a:r>
              <a:rPr lang="en-US" altLang="zh-TW" sz="2100" i="1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E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</a:rPr>
              <a:t> </a:t>
            </a:r>
            <a:r>
              <a:rPr lang="en-US" altLang="zh-TW" sz="2100" dirty="0">
                <a:solidFill>
                  <a:srgbClr val="000000"/>
                </a:solidFill>
                <a:latin typeface="Times New Roman"/>
                <a:ea typeface="新細明體"/>
                <a:cs typeface="+mn-cs"/>
                <a:sym typeface="Symbol" pitchFamily="18" charset="2"/>
              </a:rPr>
              <a:t> </a:t>
            </a:r>
            <a:r>
              <a:rPr lang="en-US" altLang="zh-TW" sz="2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ℝ</a:t>
            </a:r>
            <a:r>
              <a:rPr lang="en-US" altLang="zh-TW" sz="2100" dirty="0"/>
              <a:t> that maps edges to real-valued weights. We wish to find, for every pair of nodes </a:t>
            </a:r>
            <a:r>
              <a:rPr lang="en-US" altLang="zh-TW" sz="2100" i="1" dirty="0"/>
              <a:t>u</a:t>
            </a:r>
            <a:r>
              <a:rPr lang="en-US" altLang="zh-TW" sz="2100" dirty="0"/>
              <a:t>, </a:t>
            </a:r>
            <a:r>
              <a:rPr lang="en-US" altLang="zh-TW" sz="2100" i="1" dirty="0"/>
              <a:t>v</a:t>
            </a:r>
            <a:r>
              <a:rPr lang="en-US" altLang="zh-TW" sz="2100" dirty="0"/>
              <a:t> </a:t>
            </a:r>
            <a:r>
              <a:rPr lang="en-US" altLang="zh-TW" sz="21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sz="2100" dirty="0"/>
              <a:t> </a:t>
            </a:r>
            <a:r>
              <a:rPr lang="en-US" altLang="zh-TW" sz="2100" i="1" dirty="0"/>
              <a:t>V</a:t>
            </a:r>
            <a:r>
              <a:rPr lang="en-US" altLang="zh-TW" sz="2100" dirty="0"/>
              <a:t>, a shortest (least-weight) path from </a:t>
            </a:r>
            <a:r>
              <a:rPr lang="en-US" altLang="zh-TW" sz="2100" i="1" dirty="0"/>
              <a:t>u</a:t>
            </a:r>
            <a:r>
              <a:rPr lang="en-US" altLang="zh-TW" sz="2100" dirty="0"/>
              <a:t> to </a:t>
            </a:r>
            <a:r>
              <a:rPr lang="en-US" altLang="zh-TW" sz="2100" i="1" dirty="0"/>
              <a:t>v</a:t>
            </a:r>
            <a:r>
              <a:rPr lang="en-US" altLang="zh-TW" sz="2100" dirty="0"/>
              <a:t>, where the weight of a path is the sum of the weights of its constituent edges. We typically want the output in tabular form: the entry in </a:t>
            </a:r>
            <a:r>
              <a:rPr lang="en-US" altLang="zh-TW" sz="2100" i="1" dirty="0"/>
              <a:t>u</a:t>
            </a:r>
            <a:r>
              <a:rPr lang="en-US" altLang="zh-TW" sz="2100" dirty="0"/>
              <a:t>’s row and </a:t>
            </a:r>
            <a:r>
              <a:rPr lang="en-US" altLang="zh-TW" sz="2100" i="1" dirty="0"/>
              <a:t>v</a:t>
            </a:r>
            <a:r>
              <a:rPr lang="en-US" altLang="zh-TW" sz="2100" dirty="0"/>
              <a:t>’s column should be the weight of a shortest path from </a:t>
            </a:r>
            <a:r>
              <a:rPr lang="en-US" altLang="zh-TW" sz="2100" i="1" dirty="0"/>
              <a:t>u</a:t>
            </a:r>
            <a:r>
              <a:rPr lang="en-US" altLang="zh-TW" sz="2100" dirty="0"/>
              <a:t> to </a:t>
            </a:r>
            <a:r>
              <a:rPr lang="en-US" altLang="zh-TW" sz="2100" i="1" dirty="0"/>
              <a:t>v</a:t>
            </a:r>
            <a:r>
              <a:rPr lang="en-US" altLang="zh-TW" sz="2100" dirty="0"/>
              <a:t>.</a:t>
            </a:r>
            <a:endParaRPr lang="zh-TW" altLang="en-US" sz="21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092322" y="3789046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572000" y="378904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070642"/>
              </p:ext>
            </p:extLst>
          </p:nvPr>
        </p:nvGraphicFramePr>
        <p:xfrm>
          <a:off x="5472115" y="396906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33" name="直線單箭頭接點 32"/>
          <p:cNvCxnSpPr>
            <a:endCxn id="39" idx="1"/>
          </p:cNvCxnSpPr>
          <p:nvPr/>
        </p:nvCxnSpPr>
        <p:spPr bwMode="auto">
          <a:xfrm>
            <a:off x="2951793" y="3789046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38" idx="7"/>
          </p:cNvCxnSpPr>
          <p:nvPr/>
        </p:nvCxnSpPr>
        <p:spPr bwMode="auto">
          <a:xfrm flipH="1">
            <a:off x="2358996" y="3789046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 bwMode="auto">
          <a:xfrm>
            <a:off x="2771770" y="360902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6" name="橢圓 35"/>
          <p:cNvSpPr/>
          <p:nvPr/>
        </p:nvSpPr>
        <p:spPr bwMode="auto">
          <a:xfrm>
            <a:off x="2051678" y="432911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7" name="橢圓 36"/>
          <p:cNvSpPr/>
          <p:nvPr/>
        </p:nvSpPr>
        <p:spPr bwMode="auto">
          <a:xfrm>
            <a:off x="3491862" y="432911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8" name="橢圓 37"/>
          <p:cNvSpPr/>
          <p:nvPr/>
        </p:nvSpPr>
        <p:spPr bwMode="auto">
          <a:xfrm>
            <a:off x="2051678" y="576929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9" name="橢圓 38"/>
          <p:cNvSpPr/>
          <p:nvPr/>
        </p:nvSpPr>
        <p:spPr bwMode="auto">
          <a:xfrm>
            <a:off x="3491862" y="576929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40" name="直線單箭頭接點 39"/>
          <p:cNvCxnSpPr>
            <a:stCxn id="36" idx="7"/>
            <a:endCxn id="35" idx="3"/>
          </p:cNvCxnSpPr>
          <p:nvPr/>
        </p:nvCxnSpPr>
        <p:spPr bwMode="auto">
          <a:xfrm flipV="1">
            <a:off x="2358996" y="3916341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37" idx="1"/>
            <a:endCxn id="35" idx="5"/>
          </p:cNvCxnSpPr>
          <p:nvPr/>
        </p:nvCxnSpPr>
        <p:spPr bwMode="auto">
          <a:xfrm flipH="1" flipV="1">
            <a:off x="3079088" y="3916341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36" idx="6"/>
            <a:endCxn id="37" idx="2"/>
          </p:cNvCxnSpPr>
          <p:nvPr/>
        </p:nvCxnSpPr>
        <p:spPr bwMode="auto">
          <a:xfrm>
            <a:off x="2411724" y="450913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39" idx="0"/>
            <a:endCxn id="37" idx="4"/>
          </p:cNvCxnSpPr>
          <p:nvPr/>
        </p:nvCxnSpPr>
        <p:spPr bwMode="auto">
          <a:xfrm flipV="1">
            <a:off x="3671885" y="4689161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36" idx="4"/>
            <a:endCxn id="38" idx="0"/>
          </p:cNvCxnSpPr>
          <p:nvPr/>
        </p:nvCxnSpPr>
        <p:spPr bwMode="auto">
          <a:xfrm>
            <a:off x="2231701" y="4689161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38" idx="6"/>
            <a:endCxn id="39" idx="2"/>
          </p:cNvCxnSpPr>
          <p:nvPr/>
        </p:nvCxnSpPr>
        <p:spPr bwMode="auto">
          <a:xfrm>
            <a:off x="2411724" y="5949322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9" idx="1"/>
            <a:endCxn id="36" idx="5"/>
          </p:cNvCxnSpPr>
          <p:nvPr/>
        </p:nvCxnSpPr>
        <p:spPr bwMode="auto">
          <a:xfrm flipH="1" flipV="1">
            <a:off x="2358996" y="4636433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2231701" y="3789046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691632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671884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771770" y="5949322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2411724" y="5409253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2591747" y="5049207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771770" y="450913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3131816" y="4689161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3131816" y="3789046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4411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All-Pairs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4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zh-TW" sz="2100" dirty="0">
                    <a:solidFill>
                      <a:srgbClr val="000000"/>
                    </a:solidFill>
                  </a:rPr>
                  <a:t>We assume that the nodes are numbered 1, 2, . . . , </a:t>
                </a:r>
                <a:r>
                  <a:rPr lang="en-US" altLang="zh-TW" sz="2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sz="2100" i="1" spc="3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, so that the input is an 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matrix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W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representing the edge weights of an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-node directed graph	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1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). That is,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W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100" i="1" dirty="0" err="1">
                    <a:solidFill>
                      <a:srgbClr val="000000"/>
                    </a:solidFill>
                  </a:rPr>
                  <a:t>w</a:t>
                </a:r>
                <a:r>
                  <a:rPr lang="en-US" altLang="zh-TW" sz="2100" i="1" spc="200" baseline="-250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z="2100" i="1" baseline="-25000" dirty="0" err="1">
                    <a:solidFill>
                      <a:srgbClr val="000000"/>
                    </a:solidFill>
                  </a:rPr>
                  <a:t>j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), where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100" i="1" smtClean="0">
                          <a:solidFill>
                            <a:srgbClr val="000000"/>
                          </a:solidFill>
                        </a:rPr>
                        <m:t>w</m:t>
                      </m:r>
                      <m:r>
                        <m:rPr>
                          <m:nor/>
                        </m:rPr>
                        <a:rPr lang="en-US" altLang="zh-TW" sz="2100" i="1" baseline="-25000" smtClean="0">
                          <a:solidFill>
                            <a:srgbClr val="000000"/>
                          </a:solidFill>
                        </a:rPr>
                        <m:t>ij</m:t>
                      </m:r>
                      <m:r>
                        <m:rPr>
                          <m:nor/>
                        </m:rPr>
                        <a:rPr lang="en-US" altLang="zh-TW" sz="2100" b="0" i="0" baseline="-25000" smtClean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100" b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100" b="0" i="0" smtClean="0"/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>
                                    <a:solidFill>
                                      <a:srgbClr val="000000"/>
                                    </a:solidFill>
                                  </a:rPr>
                                  <m:t>,   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weight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 smtClean="0"/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irecte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 smtClean="0"/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/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/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1" smtClean="0"/>
                                  <m:t>i</m:t>
                                </m:r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1" smtClean="0"/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a:rPr lang="en-US" altLang="zh-TW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1" smtClean="0"/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/>
                                  <m:t>,             (25.1)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  <m:r>
                                  <a:rPr lang="en-US" altLang="zh-TW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>
                                    <a:solidFill>
                                      <a:srgbClr val="000000"/>
                                    </a:solidFill>
                                  </a:rPr>
                                  <m:t>.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100" dirty="0"/>
              </a:p>
              <a:p>
                <a:pPr eaLnBrk="1" hangingPunct="1">
                  <a:spcBef>
                    <a:spcPts val="1200"/>
                  </a:spcBef>
                </a:pPr>
                <a:r>
                  <a:rPr lang="en-US" altLang="zh-TW" sz="2100" dirty="0"/>
                  <a:t>We allow negative-weight edges, but </a:t>
                </a:r>
                <a:r>
                  <a:rPr lang="en-US" altLang="zh-TW" sz="2100" dirty="0">
                    <a:solidFill>
                      <a:srgbClr val="FF0000"/>
                    </a:solidFill>
                  </a:rPr>
                  <a:t>we assume</a:t>
                </a:r>
                <a:r>
                  <a:rPr lang="en-US" altLang="zh-TW" sz="2100" dirty="0"/>
                  <a:t> for the time being that </a:t>
                </a:r>
                <a:r>
                  <a:rPr lang="en-US" altLang="zh-TW" sz="2100" dirty="0">
                    <a:solidFill>
                      <a:srgbClr val="FF0000"/>
                    </a:solidFill>
                  </a:rPr>
                  <a:t>the input graph contains no negative-weight cycles</a:t>
                </a:r>
                <a:r>
                  <a:rPr lang="en-US" altLang="zh-TW" sz="2100" dirty="0"/>
                  <a:t>.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zh-TW" sz="2100" dirty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zh-TW" sz="2100" dirty="0"/>
                  <a:t>The tabular output of the all-pairs shortest-paths algorithms is an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sz="2100" dirty="0"/>
                  <a:t> matrix </a:t>
                </a:r>
                <a:r>
                  <a:rPr lang="en-US" altLang="zh-TW" sz="2100" i="1" dirty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100" i="1" dirty="0" err="1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100" i="1" spc="200" baseline="-250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z="2100" i="1" baseline="-25000" dirty="0" err="1">
                    <a:solidFill>
                      <a:srgbClr val="000000"/>
                    </a:solidFill>
                  </a:rPr>
                  <a:t>j</a:t>
                </a:r>
                <a:r>
                  <a:rPr lang="en-US" altLang="zh-TW" sz="21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z="2100" dirty="0"/>
                  <a:t>, where entry </a:t>
                </a:r>
                <a:r>
                  <a:rPr lang="en-US" altLang="zh-TW" sz="2100" i="1" dirty="0" err="1"/>
                  <a:t>d</a:t>
                </a:r>
                <a:r>
                  <a:rPr lang="en-US" altLang="zh-TW" sz="2100" i="1" spc="200" baseline="-25000" dirty="0" err="1"/>
                  <a:t>i</a:t>
                </a:r>
                <a:r>
                  <a:rPr lang="en-US" altLang="zh-TW" sz="2100" i="1" baseline="-25000" dirty="0" err="1"/>
                  <a:t>j</a:t>
                </a:r>
                <a:r>
                  <a:rPr lang="en-US" altLang="zh-TW" sz="2100" dirty="0"/>
                  <a:t> contains the weight of a shortest path from node </a:t>
                </a:r>
                <a:r>
                  <a:rPr lang="en-US" altLang="zh-TW" sz="2100" i="1" dirty="0"/>
                  <a:t>i</a:t>
                </a:r>
                <a:r>
                  <a:rPr lang="en-US" altLang="zh-TW" sz="2100" dirty="0"/>
                  <a:t> to node </a:t>
                </a:r>
                <a:r>
                  <a:rPr lang="en-US" altLang="zh-TW" sz="2200" i="1" dirty="0"/>
                  <a:t>j</a:t>
                </a:r>
                <a:r>
                  <a:rPr lang="en-US" altLang="zh-TW" sz="2200" dirty="0"/>
                  <a:t>.</a:t>
                </a:r>
              </a:p>
            </p:txBody>
          </p:sp>
        </mc:Choice>
        <mc:Fallback xmlns="">
          <p:sp>
            <p:nvSpPr>
              <p:cNvPr id="3075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6" t="-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/>
          <p:cNvCxnSpPr>
            <a:endCxn id="10" idx="1"/>
          </p:cNvCxnSpPr>
          <p:nvPr/>
        </p:nvCxnSpPr>
        <p:spPr bwMode="auto">
          <a:xfrm>
            <a:off x="2591747" y="1448747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9" idx="7"/>
          </p:cNvCxnSpPr>
          <p:nvPr/>
        </p:nvCxnSpPr>
        <p:spPr bwMode="auto">
          <a:xfrm flipH="1">
            <a:off x="1998950" y="1448747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All-Pairs Shortest Paths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 bwMode="auto">
          <a:xfrm>
            <a:off x="2411724" y="1268724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1691632" y="1988816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" name="橢圓 7"/>
          <p:cNvSpPr/>
          <p:nvPr/>
        </p:nvSpPr>
        <p:spPr bwMode="auto">
          <a:xfrm>
            <a:off x="3131816" y="1988816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9" name="橢圓 8"/>
          <p:cNvSpPr/>
          <p:nvPr/>
        </p:nvSpPr>
        <p:spPr bwMode="auto">
          <a:xfrm>
            <a:off x="1691632" y="3429000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3131816" y="3429000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12" name="直線單箭頭接點 11"/>
          <p:cNvCxnSpPr>
            <a:stCxn id="7" idx="7"/>
            <a:endCxn id="6" idx="3"/>
          </p:cNvCxnSpPr>
          <p:nvPr/>
        </p:nvCxnSpPr>
        <p:spPr bwMode="auto">
          <a:xfrm flipV="1">
            <a:off x="1998950" y="1576042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8" idx="1"/>
            <a:endCxn id="6" idx="5"/>
          </p:cNvCxnSpPr>
          <p:nvPr/>
        </p:nvCxnSpPr>
        <p:spPr bwMode="auto">
          <a:xfrm flipH="1" flipV="1">
            <a:off x="2719042" y="1576042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7" idx="6"/>
            <a:endCxn id="8" idx="2"/>
          </p:cNvCxnSpPr>
          <p:nvPr/>
        </p:nvCxnSpPr>
        <p:spPr bwMode="auto">
          <a:xfrm>
            <a:off x="2051678" y="2168839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0"/>
            <a:endCxn id="8" idx="4"/>
          </p:cNvCxnSpPr>
          <p:nvPr/>
        </p:nvCxnSpPr>
        <p:spPr bwMode="auto">
          <a:xfrm flipV="1">
            <a:off x="3311839" y="2348862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4"/>
            <a:endCxn id="9" idx="0"/>
          </p:cNvCxnSpPr>
          <p:nvPr/>
        </p:nvCxnSpPr>
        <p:spPr bwMode="auto">
          <a:xfrm>
            <a:off x="1871655" y="2348862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6"/>
            <a:endCxn id="10" idx="2"/>
          </p:cNvCxnSpPr>
          <p:nvPr/>
        </p:nvCxnSpPr>
        <p:spPr bwMode="auto">
          <a:xfrm>
            <a:off x="2051678" y="3609023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0" idx="1"/>
            <a:endCxn id="7" idx="5"/>
          </p:cNvCxnSpPr>
          <p:nvPr/>
        </p:nvCxnSpPr>
        <p:spPr bwMode="auto">
          <a:xfrm flipH="1" flipV="1">
            <a:off x="1998950" y="2296134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1871655" y="1448747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331586" y="2708908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3311838" y="2708908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2411724" y="3609023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2051678" y="306895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231701" y="2708908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2411724" y="216883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2771770" y="2348862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2771770" y="1448747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79284"/>
              </p:ext>
            </p:extLst>
          </p:nvPr>
        </p:nvGraphicFramePr>
        <p:xfrm>
          <a:off x="6012184" y="1628770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7632391" y="1448747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112069" y="1448747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632391" y="4149092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112069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97929"/>
              </p:ext>
            </p:extLst>
          </p:nvPr>
        </p:nvGraphicFramePr>
        <p:xfrm>
          <a:off x="6012184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37" name="文字方塊 36"/>
          <p:cNvSpPr txBox="1"/>
          <p:nvPr/>
        </p:nvSpPr>
        <p:spPr>
          <a:xfrm>
            <a:off x="3491862" y="4149092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971540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287909"/>
              </p:ext>
            </p:extLst>
          </p:nvPr>
        </p:nvGraphicFramePr>
        <p:xfrm>
          <a:off x="1871655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752022" y="2168839"/>
            <a:ext cx="900115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22" y="4869184"/>
            <a:ext cx="900115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i="1"/>
              <a:t>D</a:t>
            </a:r>
            <a:r>
              <a:rPr lang="en-US" altLang="zh-TW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11493" y="4869184"/>
            <a:ext cx="900115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l-GR" altLang="zh-TW" dirty="0"/>
              <a:t>Π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800" dirty="0"/>
              <a:t>The Floyd-</a:t>
            </a:r>
            <a:r>
              <a:rPr lang="en-US" altLang="zh-TW" sz="4800" dirty="0" err="1"/>
              <a:t>Warshall</a:t>
            </a:r>
            <a:r>
              <a:rPr lang="en-US" altLang="zh-TW" sz="4800" dirty="0"/>
              <a:t> Algorithm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2326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</p:spPr>
            <p:txBody>
              <a:bodyPr/>
              <a:lstStyle/>
              <a:p>
                <a:r>
                  <a:rPr lang="en-US" altLang="zh-TW" dirty="0"/>
                  <a:t>An </a:t>
                </a:r>
                <a:r>
                  <a:rPr lang="en-US" altLang="zh-TW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dirty="0"/>
                  <a:t> of a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simple path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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dirty="0">
                    <a:sym typeface="Symbol" panose="05050102010706020507" pitchFamily="18" charset="2"/>
                  </a:rPr>
                  <a:t></a:t>
                </a:r>
                <a:r>
                  <a:rPr lang="en-US" altLang="zh-TW" dirty="0"/>
                  <a:t> is any node of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other than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 or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dirty="0"/>
                  <a:t>, that is, any node in the set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}.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Under our assumption that the nodes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 be</a:t>
                </a:r>
                <a:r>
                  <a:rPr lang="en-US" altLang="zh-TW" dirty="0"/>
                  <a:t> the weight of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. Following the above discussion,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 recursively 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600" i="1" spc="1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b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                                 (25.5)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/>
                  <a:t> gives the final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answer: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  <a:latin typeface="Times New Roman"/>
                      </a:rPr>
                      <m:t>i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1" spc="150">
                        <a:solidFill>
                          <a:srgbClr val="000000"/>
                        </a:solidFill>
                        <a:latin typeface="Times New Roman"/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</a:t>
                </a:r>
                <a:r>
                  <a:rPr lang="en-US" altLang="zh-TW" dirty="0"/>
                  <a:t>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  <a:blipFill>
                <a:blip r:embed="rId2"/>
                <a:stretch>
                  <a:fillRect l="-810" t="-726" b="-1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79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</p:spPr>
            <p:txBody>
              <a:bodyPr/>
              <a:lstStyle/>
              <a:p>
                <a:r>
                  <a:rPr lang="en-US" altLang="zh-TW" sz="2000" dirty="0"/>
                  <a:t>An </a:t>
                </a:r>
                <a:r>
                  <a:rPr lang="en-US" altLang="zh-TW" sz="2000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sz="2000" dirty="0"/>
                  <a:t> of a simple path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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</a:t>
                </a:r>
                <a:r>
                  <a:rPr lang="en-US" altLang="zh-TW" sz="2000" dirty="0"/>
                  <a:t> is any node of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other than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 or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/>
                  <a:t>, that is, any node in the set {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}.</a:t>
                </a:r>
              </a:p>
              <a:p>
                <a:r>
                  <a:rPr lang="en-US" altLang="zh-TW" sz="2000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000" b="0" i="1" spc="100" smtClean="0"/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000" b="0" i="0" spc="-3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2000" dirty="0"/>
                  <a:t> be the weight of a shortest path from node </a:t>
                </a:r>
                <a:r>
                  <a:rPr lang="en-US" altLang="zh-TW" sz="2000" i="1" dirty="0"/>
                  <a:t>i</a:t>
                </a:r>
                <a:r>
                  <a:rPr lang="en-US" altLang="zh-TW" sz="2000" dirty="0"/>
                  <a:t> to node </a:t>
                </a:r>
                <a:r>
                  <a:rPr lang="en-US" altLang="zh-TW" sz="2000" i="1" dirty="0"/>
                  <a:t>j</a:t>
                </a:r>
                <a:r>
                  <a:rPr lang="en-US" altLang="zh-TW" sz="2000" dirty="0"/>
                  <a:t> for which all intermediate nodes are in the set {1, 2, </a:t>
                </a:r>
                <a:r>
                  <a:rPr lang="en-US" altLang="zh-TW" sz="2000" spc="300" dirty="0"/>
                  <a:t>...</a:t>
                </a:r>
                <a:r>
                  <a:rPr lang="en-US" altLang="zh-TW" sz="2000" dirty="0"/>
                  <a:t>, </a:t>
                </a:r>
                <a:r>
                  <a:rPr lang="en-US" altLang="zh-TW" sz="2000" i="1" dirty="0"/>
                  <a:t>k</a:t>
                </a:r>
                <a:r>
                  <a:rPr lang="en-US" altLang="zh-TW" sz="2000" dirty="0"/>
                  <a:t>}.</a:t>
                </a:r>
                <a:endParaRPr lang="zh-TW" altLang="en-US" sz="2000" baseline="46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  <a:blipFill>
                <a:blip r:embed="rId2"/>
                <a:stretch>
                  <a:fillRect l="-810" t="-2256" b="-18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4752023" y="270890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992437" y="198881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472115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42861"/>
              </p:ext>
            </p:extLst>
          </p:nvPr>
        </p:nvGraphicFramePr>
        <p:xfrm>
          <a:off x="6372230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96662"/>
              </p:ext>
            </p:extLst>
          </p:nvPr>
        </p:nvGraphicFramePr>
        <p:xfrm>
          <a:off x="2231701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971539" y="2708908"/>
            <a:ext cx="900115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851908" y="198881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331586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750465" y="486918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990879" y="414909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470557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701953"/>
              </p:ext>
            </p:extLst>
          </p:nvPr>
        </p:nvGraphicFramePr>
        <p:xfrm>
          <a:off x="6370672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69" name="直線單箭頭接點 68"/>
          <p:cNvCxnSpPr>
            <a:endCxn id="75" idx="1"/>
          </p:cNvCxnSpPr>
          <p:nvPr/>
        </p:nvCxnSpPr>
        <p:spPr bwMode="auto">
          <a:xfrm>
            <a:off x="151160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74" idx="7"/>
          </p:cNvCxnSpPr>
          <p:nvPr/>
        </p:nvCxnSpPr>
        <p:spPr bwMode="auto">
          <a:xfrm flipH="1">
            <a:off x="918812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 bwMode="auto">
          <a:xfrm>
            <a:off x="1331586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2" name="橢圓 71"/>
          <p:cNvSpPr/>
          <p:nvPr/>
        </p:nvSpPr>
        <p:spPr bwMode="auto">
          <a:xfrm>
            <a:off x="611494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3" name="橢圓 72"/>
          <p:cNvSpPr/>
          <p:nvPr/>
        </p:nvSpPr>
        <p:spPr bwMode="auto">
          <a:xfrm>
            <a:off x="2051678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4" name="橢圓 73"/>
          <p:cNvSpPr/>
          <p:nvPr/>
        </p:nvSpPr>
        <p:spPr bwMode="auto">
          <a:xfrm>
            <a:off x="611494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5" name="橢圓 74"/>
          <p:cNvSpPr/>
          <p:nvPr/>
        </p:nvSpPr>
        <p:spPr bwMode="auto">
          <a:xfrm>
            <a:off x="2051678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76" name="直線單箭頭接點 75"/>
          <p:cNvCxnSpPr>
            <a:stCxn id="72" idx="7"/>
            <a:endCxn id="71" idx="3"/>
          </p:cNvCxnSpPr>
          <p:nvPr/>
        </p:nvCxnSpPr>
        <p:spPr bwMode="auto">
          <a:xfrm flipV="1">
            <a:off x="918812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73" idx="1"/>
            <a:endCxn id="71" idx="5"/>
          </p:cNvCxnSpPr>
          <p:nvPr/>
        </p:nvCxnSpPr>
        <p:spPr bwMode="auto">
          <a:xfrm flipH="1" flipV="1">
            <a:off x="1638904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72" idx="6"/>
            <a:endCxn id="73" idx="2"/>
          </p:cNvCxnSpPr>
          <p:nvPr/>
        </p:nvCxnSpPr>
        <p:spPr bwMode="auto">
          <a:xfrm>
            <a:off x="971540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75" idx="0"/>
            <a:endCxn id="73" idx="4"/>
          </p:cNvCxnSpPr>
          <p:nvPr/>
        </p:nvCxnSpPr>
        <p:spPr bwMode="auto">
          <a:xfrm flipV="1">
            <a:off x="2231701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72" idx="4"/>
            <a:endCxn id="74" idx="0"/>
          </p:cNvCxnSpPr>
          <p:nvPr/>
        </p:nvCxnSpPr>
        <p:spPr bwMode="auto">
          <a:xfrm>
            <a:off x="791517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4" idx="6"/>
            <a:endCxn id="75" idx="2"/>
          </p:cNvCxnSpPr>
          <p:nvPr/>
        </p:nvCxnSpPr>
        <p:spPr bwMode="auto">
          <a:xfrm>
            <a:off x="971540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75" idx="1"/>
            <a:endCxn id="72" idx="5"/>
          </p:cNvCxnSpPr>
          <p:nvPr/>
        </p:nvCxnSpPr>
        <p:spPr bwMode="auto">
          <a:xfrm flipH="1" flipV="1">
            <a:off x="918812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791517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251448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2231700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1331586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971540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1151563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1331586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1691632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1691632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5507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</p:spPr>
            <p:txBody>
              <a:bodyPr/>
              <a:lstStyle/>
              <a:p>
                <a:r>
                  <a:rPr lang="en-US" altLang="zh-TW" sz="2000" dirty="0"/>
                  <a:t>An </a:t>
                </a:r>
                <a:r>
                  <a:rPr lang="en-US" altLang="zh-TW" sz="2000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sz="2000" dirty="0"/>
                  <a:t> of a simple path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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</a:t>
                </a:r>
                <a:r>
                  <a:rPr lang="en-US" altLang="zh-TW" sz="2000" dirty="0"/>
                  <a:t> is any node of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other than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 or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/>
                  <a:t>, that is, any node in the set {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}.</a:t>
                </a:r>
              </a:p>
              <a:p>
                <a:r>
                  <a:rPr lang="en-US" altLang="zh-TW" sz="2000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2000" dirty="0"/>
                  <a:t> be the weight of a shortest path from node </a:t>
                </a:r>
                <a:r>
                  <a:rPr lang="en-US" altLang="zh-TW" sz="2000" i="1" dirty="0"/>
                  <a:t>i</a:t>
                </a:r>
                <a:r>
                  <a:rPr lang="en-US" altLang="zh-TW" sz="2000" dirty="0"/>
                  <a:t> to node </a:t>
                </a:r>
                <a:r>
                  <a:rPr lang="en-US" altLang="zh-TW" sz="2000" i="1" dirty="0"/>
                  <a:t>j</a:t>
                </a:r>
                <a:r>
                  <a:rPr lang="en-US" altLang="zh-TW" sz="2000" dirty="0"/>
                  <a:t> for which all intermediate nodes are in the set {1, 2, </a:t>
                </a:r>
                <a:r>
                  <a:rPr lang="en-US" altLang="zh-TW" sz="2000" spc="300" dirty="0"/>
                  <a:t>...</a:t>
                </a:r>
                <a:r>
                  <a:rPr lang="en-US" altLang="zh-TW" sz="2000" dirty="0"/>
                  <a:t>, </a:t>
                </a:r>
                <a:r>
                  <a:rPr lang="en-US" altLang="zh-TW" sz="2000" i="1" dirty="0"/>
                  <a:t>k</a:t>
                </a:r>
                <a:r>
                  <a:rPr lang="en-US" altLang="zh-TW" sz="2000" dirty="0"/>
                  <a:t>}.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  <a:blipFill>
                <a:blip r:embed="rId2"/>
                <a:stretch>
                  <a:fillRect l="-810" t="-2256" b="-18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96662"/>
              </p:ext>
            </p:extLst>
          </p:nvPr>
        </p:nvGraphicFramePr>
        <p:xfrm>
          <a:off x="2231701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971539" y="2708908"/>
            <a:ext cx="900115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851908" y="198881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331586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752023" y="270890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992437" y="1988816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472115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957426"/>
              </p:ext>
            </p:extLst>
          </p:nvPr>
        </p:nvGraphicFramePr>
        <p:xfrm>
          <a:off x="6372230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69" name="直線單箭頭接點 68"/>
          <p:cNvCxnSpPr>
            <a:endCxn id="75" idx="1"/>
          </p:cNvCxnSpPr>
          <p:nvPr/>
        </p:nvCxnSpPr>
        <p:spPr bwMode="auto">
          <a:xfrm>
            <a:off x="151160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74" idx="7"/>
          </p:cNvCxnSpPr>
          <p:nvPr/>
        </p:nvCxnSpPr>
        <p:spPr bwMode="auto">
          <a:xfrm flipH="1">
            <a:off x="918812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 bwMode="auto">
          <a:xfrm>
            <a:off x="1331586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2" name="橢圓 71"/>
          <p:cNvSpPr/>
          <p:nvPr/>
        </p:nvSpPr>
        <p:spPr bwMode="auto">
          <a:xfrm>
            <a:off x="611494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3" name="橢圓 72"/>
          <p:cNvSpPr/>
          <p:nvPr/>
        </p:nvSpPr>
        <p:spPr bwMode="auto">
          <a:xfrm>
            <a:off x="2051678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4" name="橢圓 73"/>
          <p:cNvSpPr/>
          <p:nvPr/>
        </p:nvSpPr>
        <p:spPr bwMode="auto">
          <a:xfrm>
            <a:off x="611494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5" name="橢圓 74"/>
          <p:cNvSpPr/>
          <p:nvPr/>
        </p:nvSpPr>
        <p:spPr bwMode="auto">
          <a:xfrm>
            <a:off x="2051678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76" name="直線單箭頭接點 75"/>
          <p:cNvCxnSpPr>
            <a:stCxn id="72" idx="7"/>
            <a:endCxn id="71" idx="3"/>
          </p:cNvCxnSpPr>
          <p:nvPr/>
        </p:nvCxnSpPr>
        <p:spPr bwMode="auto">
          <a:xfrm flipV="1">
            <a:off x="918812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73" idx="1"/>
            <a:endCxn id="71" idx="5"/>
          </p:cNvCxnSpPr>
          <p:nvPr/>
        </p:nvCxnSpPr>
        <p:spPr bwMode="auto">
          <a:xfrm flipH="1" flipV="1">
            <a:off x="1638904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72" idx="6"/>
            <a:endCxn id="73" idx="2"/>
          </p:cNvCxnSpPr>
          <p:nvPr/>
        </p:nvCxnSpPr>
        <p:spPr bwMode="auto">
          <a:xfrm>
            <a:off x="971540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75" idx="0"/>
            <a:endCxn id="73" idx="4"/>
          </p:cNvCxnSpPr>
          <p:nvPr/>
        </p:nvCxnSpPr>
        <p:spPr bwMode="auto">
          <a:xfrm flipV="1">
            <a:off x="2231701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72" idx="4"/>
            <a:endCxn id="74" idx="0"/>
          </p:cNvCxnSpPr>
          <p:nvPr/>
        </p:nvCxnSpPr>
        <p:spPr bwMode="auto">
          <a:xfrm>
            <a:off x="791517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4" idx="6"/>
            <a:endCxn id="75" idx="2"/>
          </p:cNvCxnSpPr>
          <p:nvPr/>
        </p:nvCxnSpPr>
        <p:spPr bwMode="auto">
          <a:xfrm>
            <a:off x="971540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75" idx="1"/>
            <a:endCxn id="72" idx="5"/>
          </p:cNvCxnSpPr>
          <p:nvPr/>
        </p:nvCxnSpPr>
        <p:spPr bwMode="auto">
          <a:xfrm flipH="1" flipV="1">
            <a:off x="918812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791517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251448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2231700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1331586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971540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1151563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1331586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1691632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1691632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752023" y="486918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7992437" y="414909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472115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195160"/>
              </p:ext>
            </p:extLst>
          </p:nvPr>
        </p:nvGraphicFramePr>
        <p:xfrm>
          <a:off x="6372230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10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</p:spPr>
            <p:txBody>
              <a:bodyPr/>
              <a:lstStyle/>
              <a:p>
                <a:r>
                  <a:rPr lang="en-US" altLang="zh-TW" sz="2000" dirty="0"/>
                  <a:t>An </a:t>
                </a:r>
                <a:r>
                  <a:rPr lang="en-US" altLang="zh-TW" sz="2000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sz="2000" dirty="0"/>
                  <a:t> of a simple path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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>
                    <a:sym typeface="Symbol" panose="05050102010706020507" pitchFamily="18" charset="2"/>
                  </a:rPr>
                  <a:t></a:t>
                </a:r>
                <a:r>
                  <a:rPr lang="en-US" altLang="zh-TW" sz="2000" dirty="0"/>
                  <a:t> is any node of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other than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 or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dirty="0"/>
                  <a:t>, that is, any node in the set {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sz="2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sz="2000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sz="2000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sz="2000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sz="2000" dirty="0"/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be</a:t>
                </a:r>
                <a:r>
                  <a:rPr lang="en-US" altLang="zh-TW" sz="2000" dirty="0"/>
                  <a:t> the weight of a shortest path from node </a:t>
                </a:r>
                <a:r>
                  <a:rPr lang="en-US" altLang="zh-TW" sz="2000" i="1" dirty="0"/>
                  <a:t>i</a:t>
                </a:r>
                <a:r>
                  <a:rPr lang="en-US" altLang="zh-TW" sz="2000" dirty="0"/>
                  <a:t> to node </a:t>
                </a:r>
                <a:r>
                  <a:rPr lang="en-US" altLang="zh-TW" sz="2000" i="1" dirty="0"/>
                  <a:t>j</a:t>
                </a:r>
                <a:r>
                  <a:rPr lang="en-US" altLang="zh-TW" sz="2000" dirty="0"/>
                  <a:t> for which all intermediate nodes are in the set {1, 2, </a:t>
                </a:r>
                <a:r>
                  <a:rPr lang="en-US" altLang="zh-TW" sz="2000" spc="300" dirty="0"/>
                  <a:t>...</a:t>
                </a:r>
                <a:r>
                  <a:rPr lang="en-US" altLang="zh-TW" sz="2000" dirty="0"/>
                  <a:t>, </a:t>
                </a:r>
                <a:r>
                  <a:rPr lang="en-US" altLang="zh-TW" sz="2000" i="1" dirty="0"/>
                  <a:t>k</a:t>
                </a:r>
                <a:r>
                  <a:rPr lang="en-US" altLang="zh-TW" sz="2000" dirty="0"/>
                  <a:t>}.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368609"/>
                <a:ext cx="8281058" cy="1620207"/>
              </a:xfrm>
              <a:blipFill>
                <a:blip r:embed="rId2"/>
                <a:stretch>
                  <a:fillRect l="-810" t="-2256" b="-18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96662"/>
              </p:ext>
            </p:extLst>
          </p:nvPr>
        </p:nvGraphicFramePr>
        <p:xfrm>
          <a:off x="2231701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971539" y="2708908"/>
            <a:ext cx="900115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851908" y="198881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331586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cxnSp>
        <p:nvCxnSpPr>
          <p:cNvPr id="69" name="直線單箭頭接點 68"/>
          <p:cNvCxnSpPr>
            <a:endCxn id="75" idx="1"/>
          </p:cNvCxnSpPr>
          <p:nvPr/>
        </p:nvCxnSpPr>
        <p:spPr bwMode="auto">
          <a:xfrm>
            <a:off x="151160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74" idx="7"/>
          </p:cNvCxnSpPr>
          <p:nvPr/>
        </p:nvCxnSpPr>
        <p:spPr bwMode="auto">
          <a:xfrm flipH="1">
            <a:off x="918812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橢圓 70"/>
          <p:cNvSpPr/>
          <p:nvPr/>
        </p:nvSpPr>
        <p:spPr bwMode="auto">
          <a:xfrm>
            <a:off x="1331586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2" name="橢圓 71"/>
          <p:cNvSpPr/>
          <p:nvPr/>
        </p:nvSpPr>
        <p:spPr bwMode="auto">
          <a:xfrm>
            <a:off x="611494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3" name="橢圓 72"/>
          <p:cNvSpPr/>
          <p:nvPr/>
        </p:nvSpPr>
        <p:spPr bwMode="auto">
          <a:xfrm>
            <a:off x="2051678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4" name="橢圓 73"/>
          <p:cNvSpPr/>
          <p:nvPr/>
        </p:nvSpPr>
        <p:spPr bwMode="auto">
          <a:xfrm>
            <a:off x="611494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5" name="橢圓 74"/>
          <p:cNvSpPr/>
          <p:nvPr/>
        </p:nvSpPr>
        <p:spPr bwMode="auto">
          <a:xfrm>
            <a:off x="2051678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76" name="直線單箭頭接點 75"/>
          <p:cNvCxnSpPr>
            <a:stCxn id="72" idx="7"/>
            <a:endCxn id="71" idx="3"/>
          </p:cNvCxnSpPr>
          <p:nvPr/>
        </p:nvCxnSpPr>
        <p:spPr bwMode="auto">
          <a:xfrm flipV="1">
            <a:off x="918812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73" idx="1"/>
            <a:endCxn id="71" idx="5"/>
          </p:cNvCxnSpPr>
          <p:nvPr/>
        </p:nvCxnSpPr>
        <p:spPr bwMode="auto">
          <a:xfrm flipH="1" flipV="1">
            <a:off x="1638904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72" idx="6"/>
            <a:endCxn id="73" idx="2"/>
          </p:cNvCxnSpPr>
          <p:nvPr/>
        </p:nvCxnSpPr>
        <p:spPr bwMode="auto">
          <a:xfrm>
            <a:off x="971540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75" idx="0"/>
            <a:endCxn id="73" idx="4"/>
          </p:cNvCxnSpPr>
          <p:nvPr/>
        </p:nvCxnSpPr>
        <p:spPr bwMode="auto">
          <a:xfrm flipV="1">
            <a:off x="2231701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72" idx="4"/>
            <a:endCxn id="74" idx="0"/>
          </p:cNvCxnSpPr>
          <p:nvPr/>
        </p:nvCxnSpPr>
        <p:spPr bwMode="auto">
          <a:xfrm>
            <a:off x="791517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4" idx="6"/>
            <a:endCxn id="75" idx="2"/>
          </p:cNvCxnSpPr>
          <p:nvPr/>
        </p:nvCxnSpPr>
        <p:spPr bwMode="auto">
          <a:xfrm>
            <a:off x="971540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75" idx="1"/>
            <a:endCxn id="72" idx="5"/>
          </p:cNvCxnSpPr>
          <p:nvPr/>
        </p:nvCxnSpPr>
        <p:spPr bwMode="auto">
          <a:xfrm flipH="1" flipV="1">
            <a:off x="918812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791517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251448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2231700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1331586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971540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1151563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1331586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1691632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1691632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753581" y="270890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7993995" y="198881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473673" y="198881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756610"/>
              </p:ext>
            </p:extLst>
          </p:nvPr>
        </p:nvGraphicFramePr>
        <p:xfrm>
          <a:off x="6373788" y="216883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42" name="文字方塊 41"/>
          <p:cNvSpPr txBox="1"/>
          <p:nvPr/>
        </p:nvSpPr>
        <p:spPr>
          <a:xfrm>
            <a:off x="4752023" y="486918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7992437" y="414909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5472115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89687"/>
              </p:ext>
            </p:extLst>
          </p:nvPr>
        </p:nvGraphicFramePr>
        <p:xfrm>
          <a:off x="6372230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57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</p:spPr>
            <p:txBody>
              <a:bodyPr/>
              <a:lstStyle/>
              <a:p>
                <a:r>
                  <a:rPr lang="en-US" altLang="zh-TW" dirty="0"/>
                  <a:t>An </a:t>
                </a:r>
                <a:r>
                  <a:rPr lang="en-US" altLang="zh-TW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dirty="0"/>
                  <a:t> of a simple path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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dirty="0">
                    <a:sym typeface="Symbol" panose="05050102010706020507" pitchFamily="18" charset="2"/>
                  </a:rPr>
                  <a:t></a:t>
                </a:r>
                <a:r>
                  <a:rPr lang="en-US" altLang="zh-TW" dirty="0"/>
                  <a:t> is any node of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other than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 or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dirty="0"/>
                  <a:t>, that is, any node in the set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}.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Under our assumption that the nodes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 be</a:t>
                </a:r>
                <a:r>
                  <a:rPr lang="en-US" altLang="zh-TW" dirty="0"/>
                  <a:t> the weight of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. Following the above discussion,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 recursively 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600" i="1" spc="1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b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                                 (25.5)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/>
                  <a:t> gives the final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answer: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  <a:latin typeface="Times New Roman"/>
                      </a:rPr>
                      <m:t>i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1" spc="150">
                        <a:solidFill>
                          <a:srgbClr val="000000"/>
                        </a:solidFill>
                        <a:latin typeface="Times New Roman"/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</a:t>
                </a:r>
                <a:r>
                  <a:rPr lang="en-US" altLang="zh-TW" dirty="0"/>
                  <a:t>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  <a:blipFill>
                <a:blip r:embed="rId2"/>
                <a:stretch>
                  <a:fillRect l="-810" t="-726" b="-4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207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8839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5049208"/>
                <a:ext cx="5940760" cy="1080138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sz="2000" smtClean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  <m:r>
                            <a:rPr lang="en-US" altLang="zh-TW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</m:e>
                      </m:d>
                      <m:r>
                        <a:rPr lang="en-US" altLang="zh-TW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chemeClr val="bg1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5049208"/>
                <a:ext cx="5940760" cy="10801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80868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41348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8839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5049208"/>
                <a:ext cx="5940760" cy="1080138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sz="200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  <m: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</m:e>
                      </m:d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sz="200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5049208"/>
                <a:ext cx="5940760" cy="10801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80868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1040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7520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5229231"/>
                <a:ext cx="3420437" cy="720092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TW" sz="2000" b="0" i="1" u="none" strike="noStrike" kern="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10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zh-TW" sz="2000" b="0" i="0" u="none" strike="noStrike" kern="0" cap="none" spc="-3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TW" sz="2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-US" altLang="zh-TW" sz="2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10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kumimoji="1" lang="en-US" altLang="zh-TW" sz="20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10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5229231"/>
                <a:ext cx="3420437" cy="7200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13380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87403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7520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5229231"/>
                <a:ext cx="3420437" cy="720092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TW" sz="2000" b="0" i="1" u="none" strike="noStrike" kern="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10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zh-TW" sz="2000" b="0" i="0" u="none" strike="noStrike" kern="0" cap="none" spc="-3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TW" sz="2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-US" altLang="zh-TW" sz="2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10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kumimoji="1" lang="en-US" altLang="zh-TW" sz="20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10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-US" altLang="zh-TW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000" b="0" i="1" u="none" strike="noStrike" kern="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10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kumimoji="1" lang="en-US" altLang="zh-TW" sz="2000" b="0" i="0" u="none" strike="noStrike" kern="0" cap="none" spc="-3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5229231"/>
                <a:ext cx="3420437" cy="7200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13380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861188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</p:spPr>
            <p:txBody>
              <a:bodyPr/>
              <a:lstStyle/>
              <a:p>
                <a:r>
                  <a:rPr lang="en-US" altLang="zh-TW" dirty="0"/>
                  <a:t>An </a:t>
                </a:r>
                <a:r>
                  <a:rPr lang="en-US" altLang="zh-TW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dirty="0"/>
                  <a:t> of a simple path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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dirty="0">
                    <a:sym typeface="Symbol" panose="05050102010706020507" pitchFamily="18" charset="2"/>
                  </a:rPr>
                  <a:t></a:t>
                </a:r>
                <a:r>
                  <a:rPr lang="en-US" altLang="zh-TW" dirty="0"/>
                  <a:t> is any node of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other than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 or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dirty="0"/>
                  <a:t>, that is, any node in the set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}.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Under our assumption that the nodes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 be</a:t>
                </a:r>
                <a:r>
                  <a:rPr lang="en-US" altLang="zh-TW" dirty="0"/>
                  <a:t> the weight of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. Following the above discussion,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 recursively 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600" i="1" spc="1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b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                                 (25.5)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/>
                  <a:t> gives the final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answer: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  <a:latin typeface="Times New Roman"/>
                      </a:rPr>
                      <m:t>i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1" spc="150">
                        <a:solidFill>
                          <a:srgbClr val="000000"/>
                        </a:solidFill>
                        <a:latin typeface="Times New Roman"/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</a:t>
                </a:r>
                <a:r>
                  <a:rPr lang="en-US" altLang="zh-TW" dirty="0"/>
                  <a:t>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  <a:blipFill>
                <a:blip r:embed="rId2"/>
                <a:stretch>
                  <a:fillRect l="-810" t="-726" b="-4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31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</p:spPr>
            <p:txBody>
              <a:bodyPr/>
              <a:lstStyle/>
              <a:p>
                <a:r>
                  <a:rPr lang="en-US" altLang="zh-TW" dirty="0"/>
                  <a:t>An </a:t>
                </a:r>
                <a:r>
                  <a:rPr lang="en-US" altLang="zh-TW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dirty="0"/>
                  <a:t> of a simple path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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dirty="0">
                    <a:sym typeface="Symbol" panose="05050102010706020507" pitchFamily="18" charset="2"/>
                  </a:rPr>
                  <a:t></a:t>
                </a:r>
                <a:r>
                  <a:rPr lang="en-US" altLang="zh-TW" dirty="0"/>
                  <a:t> is any node of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other than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 or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dirty="0"/>
                  <a:t>, that is, any node in the set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}.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Under our assumption that the nodes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 be</a:t>
                </a:r>
                <a:r>
                  <a:rPr lang="en-US" altLang="zh-TW" dirty="0"/>
                  <a:t> the weight of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. Following the above discussion,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 recursively 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600" i="1" spc="1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b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chemeClr val="bg1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                                 (25.5)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/>
                  <a:t> gives the final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answer: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  <a:latin typeface="Times New Roman"/>
                      </a:rPr>
                      <m:t>i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1" spc="150">
                        <a:solidFill>
                          <a:srgbClr val="000000"/>
                        </a:solidFill>
                        <a:latin typeface="Times New Roman"/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</a:t>
                </a:r>
                <a:r>
                  <a:rPr lang="en-US" altLang="zh-TW" dirty="0"/>
                  <a:t>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  <a:blipFill>
                <a:blip r:embed="rId2"/>
                <a:stretch>
                  <a:fillRect l="-810" t="-726" b="-4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23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</p:spPr>
            <p:txBody>
              <a:bodyPr/>
              <a:lstStyle/>
              <a:p>
                <a:r>
                  <a:rPr lang="en-US" altLang="zh-TW" dirty="0"/>
                  <a:t>An </a:t>
                </a:r>
                <a:r>
                  <a:rPr lang="en-US" altLang="zh-TW" b="1" i="1" dirty="0">
                    <a:solidFill>
                      <a:srgbClr val="0000FF"/>
                    </a:solidFill>
                  </a:rPr>
                  <a:t>intermediate node</a:t>
                </a:r>
                <a:r>
                  <a:rPr lang="en-US" altLang="zh-TW" dirty="0"/>
                  <a:t> of a simple path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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ym typeface="Symbol" panose="05050102010706020507" pitchFamily="18" charset="2"/>
                  </a:rPr>
                  <a:t>l</a:t>
                </a:r>
                <a:r>
                  <a:rPr lang="en-US" altLang="zh-TW" dirty="0">
                    <a:sym typeface="Symbol" panose="05050102010706020507" pitchFamily="18" charset="2"/>
                  </a:rPr>
                  <a:t></a:t>
                </a:r>
                <a:r>
                  <a:rPr lang="en-US" altLang="zh-TW" dirty="0"/>
                  <a:t> is any node of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other than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 or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dirty="0"/>
                  <a:t>, that is, any node in the set {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. . ., </a:t>
                </a:r>
                <a:r>
                  <a:rPr lang="en-US" altLang="zh-TW" i="1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v</a:t>
                </a:r>
                <a:r>
                  <a:rPr lang="en-US" altLang="zh-TW" i="1" spc="300" baseline="-25000" dirty="0" err="1">
                    <a:solidFill>
                      <a:srgbClr val="000000"/>
                    </a:solidFill>
                    <a:sym typeface="Symbol" panose="05050102010706020507" pitchFamily="18" charset="2"/>
                  </a:rPr>
                  <a:t>l</a:t>
                </a:r>
                <a:r>
                  <a:rPr lang="en-US" altLang="zh-TW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−</a:t>
                </a:r>
                <a:r>
                  <a:rPr lang="en-US" altLang="zh-TW" baseline="-25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TW" dirty="0"/>
                  <a:t>}.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Under our assumption that the nodes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cs typeface="+mn-cs"/>
                  </a:rPr>
                  <a:t> be</a:t>
                </a:r>
                <a:r>
                  <a:rPr lang="en-US" altLang="zh-TW" dirty="0"/>
                  <a:t> the weight of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. Following the above discussion,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 recursively 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i="1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TW" sz="1600" i="1" spc="100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TW" b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i="1" spc="10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TW" spc="-3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i="1" spc="15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1600" dirty="0">
                                          <a:solidFill>
                                            <a:srgbClr val="000000"/>
                                          </a:solidFill>
                                          <a:latin typeface="Times New Roman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a:rPr lang="en-US" altLang="zh-TW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olidFill>
                                    <a:srgbClr val="0000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>
                                  <a:solidFill>
                                    <a:srgbClr val="000000"/>
                                  </a:solidFill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                                 (25.5)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/>
                  <a:t> gives the final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answer: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  <a:latin typeface="Times New Roman"/>
                      </a:rPr>
                      <m:t>i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1" spc="150">
                        <a:solidFill>
                          <a:srgbClr val="000000"/>
                        </a:solidFill>
                        <a:latin typeface="Times New Roman"/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</a:rPr>
                      <m:t>)</m:t>
                    </m:r>
                  </m:oMath>
                </a14:m>
                <a:r>
                  <a:rPr lang="zh-TW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</a:t>
                </a:r>
                <a:r>
                  <a:rPr lang="en-US" altLang="zh-TW" dirty="0"/>
                  <a:t>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4"/>
                <a:ext cx="8281057" cy="5040643"/>
              </a:xfrm>
              <a:blipFill>
                <a:blip r:embed="rId2"/>
                <a:stretch>
                  <a:fillRect l="-810" t="-726" b="-4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39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4869184"/>
            <a:ext cx="8281057" cy="1439541"/>
          </a:xfrm>
        </p:spPr>
        <p:txBody>
          <a:bodyPr/>
          <a:lstStyle/>
          <a:p>
            <a:r>
              <a:rPr lang="en-US" altLang="zh-TW" b="1" dirty="0"/>
              <a:t>Figure 25.3</a:t>
            </a:r>
            <a:r>
              <a:rPr lang="en-US" altLang="zh-TW" dirty="0"/>
              <a:t>   Path </a:t>
            </a:r>
            <a:r>
              <a:rPr lang="en-US" altLang="zh-TW" i="1" dirty="0"/>
              <a:t>p</a:t>
            </a:r>
            <a:r>
              <a:rPr lang="en-US" altLang="zh-TW" dirty="0"/>
              <a:t> is a shortest path from node </a:t>
            </a:r>
            <a:r>
              <a:rPr lang="en-US" altLang="zh-TW" i="1" dirty="0"/>
              <a:t>i</a:t>
            </a:r>
            <a:r>
              <a:rPr lang="en-US" altLang="zh-TW" dirty="0"/>
              <a:t> to node </a:t>
            </a:r>
            <a:r>
              <a:rPr lang="en-US" altLang="zh-TW" i="1" dirty="0"/>
              <a:t>j</a:t>
            </a:r>
            <a:r>
              <a:rPr lang="en-US" altLang="zh-TW" dirty="0"/>
              <a:t>, and </a:t>
            </a:r>
            <a:r>
              <a:rPr lang="en-US" altLang="zh-TW" i="1" dirty="0"/>
              <a:t>k</a:t>
            </a:r>
            <a:r>
              <a:rPr lang="en-US" altLang="zh-TW" dirty="0"/>
              <a:t> is the highest-numbered intermediate node of </a:t>
            </a:r>
            <a:r>
              <a:rPr lang="en-US" altLang="zh-TW" i="1" dirty="0"/>
              <a:t>p</a:t>
            </a:r>
            <a:r>
              <a:rPr lang="en-US" altLang="zh-TW" dirty="0"/>
              <a:t>. Path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, the portion of path </a:t>
            </a:r>
            <a:r>
              <a:rPr lang="en-US" altLang="zh-TW" i="1" dirty="0"/>
              <a:t>p</a:t>
            </a:r>
            <a:r>
              <a:rPr lang="en-US" altLang="zh-TW" dirty="0"/>
              <a:t> from node </a:t>
            </a:r>
            <a:r>
              <a:rPr lang="en-US" altLang="zh-TW" i="1" dirty="0"/>
              <a:t>i</a:t>
            </a:r>
            <a:r>
              <a:rPr lang="en-US" altLang="zh-TW" dirty="0"/>
              <a:t> to node </a:t>
            </a:r>
            <a:r>
              <a:rPr lang="en-US" altLang="zh-TW" i="1" dirty="0"/>
              <a:t>k</a:t>
            </a:r>
            <a:r>
              <a:rPr lang="en-US" altLang="zh-TW" dirty="0"/>
              <a:t>, has all intermediate nodes in the set </a:t>
            </a:r>
            <a:r>
              <a:rPr lang="en-US" altLang="zh-TW" dirty="0">
                <a:solidFill>
                  <a:srgbClr val="000000"/>
                </a:solidFill>
              </a:rPr>
              <a:t>{1, 2, </a:t>
            </a:r>
            <a:r>
              <a:rPr lang="en-US" altLang="zh-TW" spc="300" dirty="0">
                <a:solidFill>
                  <a:srgbClr val="000000"/>
                </a:solidFill>
              </a:rPr>
              <a:t>...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200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1}</a:t>
            </a:r>
            <a:r>
              <a:rPr lang="en-US" altLang="zh-TW" dirty="0"/>
              <a:t>. The same holds for path 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from node </a:t>
            </a:r>
            <a:r>
              <a:rPr lang="en-US" altLang="zh-TW" i="1" dirty="0"/>
              <a:t>k</a:t>
            </a:r>
            <a:r>
              <a:rPr lang="en-US" altLang="zh-TW" dirty="0"/>
              <a:t> to node </a:t>
            </a:r>
            <a:r>
              <a:rPr lang="en-US" altLang="zh-TW" i="1" dirty="0"/>
              <a:t>j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91632" y="1448747"/>
            <a:ext cx="2880368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all intermediate nodes in {1, 2, </a:t>
            </a:r>
            <a:r>
              <a:rPr lang="en-US" altLang="zh-TW" sz="2000" kern="0" spc="30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...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000" i="1" kern="0" spc="20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k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1}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52022" y="1448747"/>
            <a:ext cx="2880368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all intermediate nodes in {1, 2, </a:t>
            </a:r>
            <a:r>
              <a:rPr lang="en-US" altLang="zh-TW" sz="2000" kern="0" spc="30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...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000" i="1" kern="0" spc="20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k</a:t>
            </a:r>
            <a:r>
              <a:rPr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1}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231701" y="4149092"/>
            <a:ext cx="4680598" cy="5399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TW" sz="2000" i="1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: all intermediate nodes in {1, 2, </a:t>
            </a:r>
            <a:r>
              <a:rPr lang="en-US" altLang="zh-TW" sz="2000" kern="0" spc="30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...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000" i="1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k</a:t>
            </a:r>
            <a:r>
              <a:rPr lang="en-US" altLang="zh-TW" sz="2000" kern="0" dirty="0">
                <a:solidFill>
                  <a:srgbClr val="000000"/>
                </a:solidFill>
                <a:ea typeface="標楷體"/>
                <a:cs typeface="Times New Roman" panose="02020603050405020304" pitchFamily="18" charset="0"/>
              </a:rPr>
              <a:t>}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86" y="2168839"/>
            <a:ext cx="6480000" cy="20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35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8839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4689161"/>
                <a:ext cx="5940760" cy="1980253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  <m: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(0)</m:t>
                              </m:r>
                            </m:sup>
                          </m:sSubSup>
                        </m:e>
                      </m:d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i="1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 sz="200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zh-TW" sz="2000" smtClean="0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4689161"/>
                <a:ext cx="5940760" cy="198025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80868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4143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7520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13380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28542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30943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03177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79" name="直線單箭頭接點 78"/>
          <p:cNvCxnSpPr>
            <a:endCxn id="85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84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橢圓 80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2" name="橢圓 81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3" name="橢圓 82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4" name="橢圓 83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5" name="橢圓 84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6" name="直線單箭頭接點 85"/>
          <p:cNvCxnSpPr>
            <a:stCxn id="82" idx="7"/>
            <a:endCxn id="81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83" idx="1"/>
            <a:endCxn id="81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82" idx="6"/>
            <a:endCxn id="83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85" idx="0"/>
            <a:endCxn id="83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82" idx="4"/>
            <a:endCxn id="84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84" idx="6"/>
            <a:endCxn id="85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85" idx="1"/>
            <a:endCxn id="82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99" name="文字方塊 98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633480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85898"/>
              </p:ext>
            </p:extLst>
          </p:nvPr>
        </p:nvGraphicFramePr>
        <p:xfrm>
          <a:off x="2231701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851908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3158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992437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472115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92314"/>
              </p:ext>
            </p:extLst>
          </p:nvPr>
        </p:nvGraphicFramePr>
        <p:xfrm>
          <a:off x="6372230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</p:spPr>
            <p:txBody>
              <a:bodyPr lIns="90000" rIns="0"/>
              <a:lstStyle/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1793" y="4869184"/>
                <a:ext cx="5400690" cy="162020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19817"/>
              </p:ext>
            </p:extLst>
          </p:nvPr>
        </p:nvGraphicFramePr>
        <p:xfrm>
          <a:off x="2231701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851908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3158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990879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470557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08958"/>
              </p:ext>
            </p:extLst>
          </p:nvPr>
        </p:nvGraphicFramePr>
        <p:xfrm>
          <a:off x="6370672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62" idx="1"/>
          </p:cNvCxnSpPr>
          <p:nvPr/>
        </p:nvCxnSpPr>
        <p:spPr bwMode="auto">
          <a:xfrm>
            <a:off x="1331586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61" idx="7"/>
          </p:cNvCxnSpPr>
          <p:nvPr/>
        </p:nvCxnSpPr>
        <p:spPr bwMode="auto">
          <a:xfrm flipH="1">
            <a:off x="738789" y="4149092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 bwMode="auto">
          <a:xfrm>
            <a:off x="1151563" y="396906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9" name="橢圓 58"/>
          <p:cNvSpPr/>
          <p:nvPr/>
        </p:nvSpPr>
        <p:spPr bwMode="auto">
          <a:xfrm>
            <a:off x="431471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0" name="橢圓 59"/>
          <p:cNvSpPr/>
          <p:nvPr/>
        </p:nvSpPr>
        <p:spPr bwMode="auto">
          <a:xfrm>
            <a:off x="1871655" y="468916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" name="橢圓 60"/>
          <p:cNvSpPr/>
          <p:nvPr/>
        </p:nvSpPr>
        <p:spPr bwMode="auto">
          <a:xfrm>
            <a:off x="431471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 bwMode="auto">
          <a:xfrm>
            <a:off x="1871655" y="612934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63" name="直線單箭頭接點 62"/>
          <p:cNvCxnSpPr>
            <a:stCxn id="59" idx="7"/>
            <a:endCxn id="58" idx="3"/>
          </p:cNvCxnSpPr>
          <p:nvPr/>
        </p:nvCxnSpPr>
        <p:spPr bwMode="auto">
          <a:xfrm flipV="1">
            <a:off x="738789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60" idx="1"/>
            <a:endCxn id="58" idx="5"/>
          </p:cNvCxnSpPr>
          <p:nvPr/>
        </p:nvCxnSpPr>
        <p:spPr bwMode="auto">
          <a:xfrm flipH="1" flipV="1">
            <a:off x="1458881" y="4276387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9" idx="6"/>
            <a:endCxn id="60" idx="2"/>
          </p:cNvCxnSpPr>
          <p:nvPr/>
        </p:nvCxnSpPr>
        <p:spPr bwMode="auto">
          <a:xfrm>
            <a:off x="791517" y="4869184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2" idx="0"/>
            <a:endCxn id="60" idx="4"/>
          </p:cNvCxnSpPr>
          <p:nvPr/>
        </p:nvCxnSpPr>
        <p:spPr bwMode="auto">
          <a:xfrm flipV="1">
            <a:off x="2051678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9" idx="4"/>
            <a:endCxn id="61" idx="0"/>
          </p:cNvCxnSpPr>
          <p:nvPr/>
        </p:nvCxnSpPr>
        <p:spPr bwMode="auto">
          <a:xfrm>
            <a:off x="611494" y="5049207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61" idx="6"/>
            <a:endCxn id="62" idx="2"/>
          </p:cNvCxnSpPr>
          <p:nvPr/>
        </p:nvCxnSpPr>
        <p:spPr bwMode="auto">
          <a:xfrm>
            <a:off x="791517" y="630936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62" idx="1"/>
            <a:endCxn id="59" idx="5"/>
          </p:cNvCxnSpPr>
          <p:nvPr/>
        </p:nvCxnSpPr>
        <p:spPr bwMode="auto">
          <a:xfrm flipH="1" flipV="1">
            <a:off x="738789" y="4996479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11494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71425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2051677" y="5409253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51563" y="630936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91517" y="5769299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71540" y="5409253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51563" y="4869184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511609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511609" y="4149092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1149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971540" y="3068954"/>
            <a:ext cx="900116" cy="720000"/>
          </a:xfrm>
          <a:prstGeom prst="rect">
            <a:avLst/>
          </a:prstGeom>
          <a:noFill/>
        </p:spPr>
        <p:txBody>
          <a:bodyPr wrap="square" lIns="36000" rtlCol="0" anchor="ctr" anchorCtr="0">
            <a:noAutofit/>
          </a:bodyPr>
          <a:lstStyle/>
          <a:p>
            <a:r>
              <a:rPr lang="en-US" altLang="zh-TW" i="1" dirty="0"/>
              <a:t>W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2023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(5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750465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34723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d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= min(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],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  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1"/>
              <p:cNvSpPr txBox="1">
                <a:spLocks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000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Tx/>
                  <a:buNone/>
                  <a:defRPr kumimoji="1" sz="160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kern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71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Floyd-Warshall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d</a:t>
            </a:r>
            <a:r>
              <a:rPr lang="pl-PL" altLang="zh-TW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= min( d</a:t>
            </a:r>
            <a:r>
              <a:rPr lang="nn-NO" altLang="zh-TW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],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                 d</a:t>
            </a:r>
            <a:r>
              <a:rPr lang="nn-NO" altLang="zh-TW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+ d</a:t>
            </a:r>
            <a:r>
              <a:rPr lang="nn-NO" altLang="zh-TW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1"/>
              <p:cNvSpPr txBox="1">
                <a:spLocks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000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Tx/>
                  <a:buNone/>
                  <a:defRPr kumimoji="1" sz="160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kern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305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Floyd-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= min(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],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1"/>
              <p:cNvSpPr txBox="1">
                <a:spLocks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000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Tx/>
                  <a:buNone/>
                  <a:defRPr kumimoji="1" sz="160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Clr>
                    <a:srgbClr val="000000"/>
                  </a:buClr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kern="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0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kern="0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kern="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000" kern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471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k++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i++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= min(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],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              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+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);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632391" y="54863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112069" y="54863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982677"/>
              </p:ext>
            </p:extLst>
          </p:nvPr>
        </p:nvGraphicFramePr>
        <p:xfrm>
          <a:off x="6012184" y="72865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391977" y="126872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632391" y="3068954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112069" y="3068954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545039"/>
              </p:ext>
            </p:extLst>
          </p:nvPr>
        </p:nvGraphicFramePr>
        <p:xfrm>
          <a:off x="6012184" y="3248977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391977" y="3789046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(5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cxnSp>
        <p:nvCxnSpPr>
          <p:cNvPr id="14" name="直線單箭頭接點 13"/>
          <p:cNvCxnSpPr>
            <a:endCxn id="20" idx="1"/>
          </p:cNvCxnSpPr>
          <p:nvPr/>
        </p:nvCxnSpPr>
        <p:spPr bwMode="auto">
          <a:xfrm>
            <a:off x="2231701" y="126872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19" idx="7"/>
          </p:cNvCxnSpPr>
          <p:nvPr/>
        </p:nvCxnSpPr>
        <p:spPr bwMode="auto">
          <a:xfrm flipH="1">
            <a:off x="1638904" y="126872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 bwMode="auto">
          <a:xfrm>
            <a:off x="2051678" y="108870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7" name="橢圓 16"/>
          <p:cNvSpPr/>
          <p:nvPr/>
        </p:nvSpPr>
        <p:spPr bwMode="auto">
          <a:xfrm>
            <a:off x="1331586" y="180879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8" name="橢圓 17"/>
          <p:cNvSpPr/>
          <p:nvPr/>
        </p:nvSpPr>
        <p:spPr bwMode="auto">
          <a:xfrm>
            <a:off x="2771770" y="180879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9" name="橢圓 18"/>
          <p:cNvSpPr/>
          <p:nvPr/>
        </p:nvSpPr>
        <p:spPr bwMode="auto">
          <a:xfrm>
            <a:off x="1331586" y="324897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2771770" y="324897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17" idx="7"/>
            <a:endCxn id="16" idx="3"/>
          </p:cNvCxnSpPr>
          <p:nvPr/>
        </p:nvCxnSpPr>
        <p:spPr bwMode="auto">
          <a:xfrm flipV="1">
            <a:off x="1638904" y="139601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8" idx="1"/>
            <a:endCxn id="16" idx="5"/>
          </p:cNvCxnSpPr>
          <p:nvPr/>
        </p:nvCxnSpPr>
        <p:spPr bwMode="auto">
          <a:xfrm flipH="1" flipV="1">
            <a:off x="2358996" y="139601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7" idx="6"/>
            <a:endCxn id="18" idx="2"/>
          </p:cNvCxnSpPr>
          <p:nvPr/>
        </p:nvCxnSpPr>
        <p:spPr bwMode="auto">
          <a:xfrm>
            <a:off x="1691632" y="1988816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20" idx="0"/>
            <a:endCxn id="18" idx="4"/>
          </p:cNvCxnSpPr>
          <p:nvPr/>
        </p:nvCxnSpPr>
        <p:spPr bwMode="auto">
          <a:xfrm flipV="1">
            <a:off x="2951793" y="216883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4"/>
            <a:endCxn id="19" idx="0"/>
          </p:cNvCxnSpPr>
          <p:nvPr/>
        </p:nvCxnSpPr>
        <p:spPr bwMode="auto">
          <a:xfrm>
            <a:off x="1511609" y="216883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9" idx="6"/>
            <a:endCxn id="20" idx="2"/>
          </p:cNvCxnSpPr>
          <p:nvPr/>
        </p:nvCxnSpPr>
        <p:spPr bwMode="auto">
          <a:xfrm>
            <a:off x="1691632" y="3429000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0" idx="1"/>
            <a:endCxn id="17" idx="5"/>
          </p:cNvCxnSpPr>
          <p:nvPr/>
        </p:nvCxnSpPr>
        <p:spPr bwMode="auto">
          <a:xfrm flipH="1" flipV="1">
            <a:off x="1638904" y="2116111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511609" y="126872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71540" y="252888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951792" y="252888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051678" y="3429000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691632" y="2888931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871655" y="2528885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051678" y="1988816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2411724" y="2168839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411724" y="126872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51647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k++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i++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)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= min(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],</a:t>
            </a:r>
          </a:p>
          <a:p>
            <a:pPr lvl="0">
              <a:spcBef>
                <a:spcPct val="2000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                    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+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[k-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 );</a:t>
            </a:r>
            <a:endParaRPr lang="zh-TW" altLang="en-US" dirty="0"/>
          </a:p>
        </p:txBody>
      </p:sp>
      <p:cxnSp>
        <p:nvCxnSpPr>
          <p:cNvPr id="14" name="直線單箭頭接點 13"/>
          <p:cNvCxnSpPr>
            <a:endCxn id="20" idx="1"/>
          </p:cNvCxnSpPr>
          <p:nvPr/>
        </p:nvCxnSpPr>
        <p:spPr bwMode="auto">
          <a:xfrm>
            <a:off x="2231701" y="126872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19" idx="7"/>
          </p:cNvCxnSpPr>
          <p:nvPr/>
        </p:nvCxnSpPr>
        <p:spPr bwMode="auto">
          <a:xfrm flipH="1">
            <a:off x="1638904" y="126872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 bwMode="auto">
          <a:xfrm>
            <a:off x="2051678" y="108870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7" name="橢圓 16"/>
          <p:cNvSpPr/>
          <p:nvPr/>
        </p:nvSpPr>
        <p:spPr bwMode="auto">
          <a:xfrm>
            <a:off x="1331586" y="180879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8" name="橢圓 17"/>
          <p:cNvSpPr/>
          <p:nvPr/>
        </p:nvSpPr>
        <p:spPr bwMode="auto">
          <a:xfrm>
            <a:off x="2771770" y="180879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9" name="橢圓 18"/>
          <p:cNvSpPr/>
          <p:nvPr/>
        </p:nvSpPr>
        <p:spPr bwMode="auto">
          <a:xfrm>
            <a:off x="1331586" y="324897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2771770" y="324897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21" name="直線單箭頭接點 20"/>
          <p:cNvCxnSpPr>
            <a:stCxn id="17" idx="7"/>
            <a:endCxn id="16" idx="3"/>
          </p:cNvCxnSpPr>
          <p:nvPr/>
        </p:nvCxnSpPr>
        <p:spPr bwMode="auto">
          <a:xfrm flipV="1">
            <a:off x="1638904" y="139601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8" idx="1"/>
            <a:endCxn id="16" idx="5"/>
          </p:cNvCxnSpPr>
          <p:nvPr/>
        </p:nvCxnSpPr>
        <p:spPr bwMode="auto">
          <a:xfrm flipH="1" flipV="1">
            <a:off x="2358996" y="139601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7" idx="6"/>
            <a:endCxn id="18" idx="2"/>
          </p:cNvCxnSpPr>
          <p:nvPr/>
        </p:nvCxnSpPr>
        <p:spPr bwMode="auto">
          <a:xfrm>
            <a:off x="1691632" y="1988816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20" idx="0"/>
            <a:endCxn id="18" idx="4"/>
          </p:cNvCxnSpPr>
          <p:nvPr/>
        </p:nvCxnSpPr>
        <p:spPr bwMode="auto">
          <a:xfrm flipV="1">
            <a:off x="2951793" y="216883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4"/>
            <a:endCxn id="19" idx="0"/>
          </p:cNvCxnSpPr>
          <p:nvPr/>
        </p:nvCxnSpPr>
        <p:spPr bwMode="auto">
          <a:xfrm>
            <a:off x="1511609" y="216883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9" idx="6"/>
            <a:endCxn id="20" idx="2"/>
          </p:cNvCxnSpPr>
          <p:nvPr/>
        </p:nvCxnSpPr>
        <p:spPr bwMode="auto">
          <a:xfrm>
            <a:off x="1691632" y="3429000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0" idx="1"/>
            <a:endCxn id="17" idx="5"/>
          </p:cNvCxnSpPr>
          <p:nvPr/>
        </p:nvCxnSpPr>
        <p:spPr bwMode="auto">
          <a:xfrm flipH="1" flipV="1">
            <a:off x="1638904" y="2116111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511609" y="126872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71540" y="252888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951792" y="252888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051678" y="3429000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691632" y="2888931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871655" y="2528885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051678" y="1988816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2411724" y="2168839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411724" y="126872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7632391" y="54863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5112069" y="54863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032432"/>
              </p:ext>
            </p:extLst>
          </p:nvPr>
        </p:nvGraphicFramePr>
        <p:xfrm>
          <a:off x="6012184" y="72865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40" name="文字方塊 39"/>
          <p:cNvSpPr txBox="1"/>
          <p:nvPr/>
        </p:nvSpPr>
        <p:spPr>
          <a:xfrm>
            <a:off x="4391977" y="126872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632391" y="3068954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112069" y="3068954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77868"/>
              </p:ext>
            </p:extLst>
          </p:nvPr>
        </p:nvGraphicFramePr>
        <p:xfrm>
          <a:off x="6012184" y="3248977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>
            <a:off x="4391977" y="3789046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813002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 altLang="zh-TW" sz="4000" dirty="0"/>
              <a:t>The Floyd-</a:t>
            </a:r>
            <a:r>
              <a:rPr lang="en-US" altLang="zh-TW" sz="4000" dirty="0" err="1"/>
              <a:t>Warshall</a:t>
            </a:r>
            <a:r>
              <a:rPr lang="en-US" altLang="zh-TW" sz="4000" dirty="0"/>
              <a:t> Algorithm is Correct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With the superscripts, the computation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  <a:latin typeface="Times New Roman"/>
                        <a:ea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150" dirty="0">
                                <a:solidFill>
                                  <a:srgbClr val="000000"/>
                                </a:solidFill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altLang="zh-TW">
                            <a:solidFill>
                              <a:srgbClr val="000000"/>
                            </a:solidFill>
                            <a:latin typeface="Times New Roman"/>
                            <a:ea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k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150" dirty="0">
                                <a:solidFill>
                                  <a:srgbClr val="000000"/>
                                </a:solidFill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150" dirty="0">
                                <a:solidFill>
                                  <a:srgbClr val="000000"/>
                                </a:solidFill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lang="en-US" altLang="zh-TW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.</m:t>
                    </m:r>
                  </m:oMath>
                </a14:m>
                <a:r>
                  <a:rPr lang="en-US" altLang="zh-TW" dirty="0"/>
                  <a:t> having dropped the superscripts, we were to compute and 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zh-TW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b="0" i="1" spc="100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 before using these values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b="0" i="1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/>
                  <a:t>, we might be computing one of the following: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Times New Roman"/>
                          <a:ea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Times New Roman"/>
                              <a:ea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rgbClr val="000000"/>
                          </a:solidFill>
                          <a:latin typeface="+mn-lt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</m:oMath>
                  </m:oMathPara>
                </a14:m>
                <a:endParaRPr lang="en-US" altLang="zh-TW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Times New Roman"/>
                          <a:ea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Times New Roman"/>
                              <a:ea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Times New Roman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  <a:latin typeface="Times New Roman"/>
                          <a:ea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  <a:latin typeface="Times New Roman"/>
                              <a:ea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In any of these scenarios, we’re computing the weight of a shortest path from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</a:t>
                </a:r>
                <a:r>
                  <a:rPr lang="en-US" altLang="zh-TW" i="1" dirty="0"/>
                  <a:t>j</a:t>
                </a:r>
              </a:p>
              <a:p>
                <a:r>
                  <a:rPr lang="en-US" altLang="zh-TW" dirty="0"/>
                  <a:t>with all intermediate nodes in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. If we 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, rather than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spc="150" dirty="0">
                            <a:solidFill>
                              <a:srgbClr val="00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/>
                  <a:t>, in the computation, then we’re using a </a:t>
                </a:r>
                <a:r>
                  <a:rPr lang="en-US" altLang="zh-TW" dirty="0" err="1"/>
                  <a:t>subpath</a:t>
                </a:r>
                <a:r>
                  <a:rPr lang="en-US" altLang="zh-TW" dirty="0"/>
                  <a:t> from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with all intermediate nodes in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.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But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cannot be an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intermediate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node on a shortest path from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, since otherwise there would be a cycle on this shortest path. Thus,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FF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FF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spc="150" dirty="0">
                            <a:solidFill>
                              <a:srgbClr val="FF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. A similar argument applies to show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FF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b="0" i="1" spc="100" dirty="0" smtClean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FF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b="0" i="1" spc="100" dirty="0" smtClean="0">
                            <a:solidFill>
                              <a:srgbClr val="FF0000"/>
                            </a:solidFill>
                            <a:latin typeface="Times New Roman"/>
                          </a:rPr>
                          <m:t>kj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spc="150" dirty="0">
                            <a:solidFill>
                              <a:srgbClr val="FF0000"/>
                            </a:solidFill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FF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. </a:t>
                </a:r>
                <a:r>
                  <a:rPr lang="en-US" altLang="zh-TW" dirty="0"/>
                  <a:t>Hence, we can drop the superscripts in the computation.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5" r="-1481" b="-5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52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Floyd-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time complexity of the Floyd-</a:t>
            </a:r>
            <a:r>
              <a:rPr lang="en-US" altLang="zh-TW" dirty="0" err="1"/>
              <a:t>Warshall</a:t>
            </a:r>
            <a:r>
              <a:rPr lang="en-US" altLang="zh-TW" dirty="0"/>
              <a:t> algorithm is determined by the triply</a:t>
            </a:r>
          </a:p>
          <a:p>
            <a:r>
              <a:rPr lang="en-US" altLang="zh-TW" dirty="0"/>
              <a:t>nested for loops. The algorithm runs in time </a:t>
            </a:r>
            <a:r>
              <a:rPr lang="en-US" altLang="zh-TW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baseline="30000" dirty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5903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Constructing a Shortest Path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265113"/>
                <a:r>
                  <a:rPr lang="en-US" altLang="zh-TW" dirty="0"/>
                  <a:t>We can compute the predecessor matrix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while the algorithm computes the matrices </a:t>
                </a:r>
                <a:r>
                  <a:rPr lang="en-US" altLang="zh-TW" i="1" spc="100" dirty="0" smtClean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 smtClean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/>
                  <a:t>. Specifically, we compute a sequence of matrices</a:t>
                </a:r>
                <a:r>
                  <a:rPr lang="zh-TW" altLang="en-US" dirty="0"/>
                  <a:t>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(0)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(1)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. . . ,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as</a:t>
                </a:r>
                <a:r>
                  <a:rPr lang="en-US" altLang="zh-TW" dirty="0"/>
                  <a:t> the predecessor of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on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.</a:t>
                </a:r>
              </a:p>
              <a:p>
                <a:pPr indent="265113">
                  <a:spcAft>
                    <a:spcPts val="1200"/>
                  </a:spcAft>
                </a:pPr>
                <a:r>
                  <a:rPr lang="en-US" altLang="zh-TW" dirty="0"/>
                  <a:t>We can give a recursive formulation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r>
                  <a:rPr lang="en-US" altLang="zh-TW" dirty="0"/>
                  <a:t>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shortest path from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has no intermediate nodes at all. Thus,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,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&lt;∞.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TW" dirty="0">
                    <a:latin typeface="+mn-lt"/>
                  </a:rPr>
                  <a:t>For </a:t>
                </a:r>
                <a:r>
                  <a:rPr lang="en-US" altLang="zh-TW" i="1" dirty="0">
                    <a:latin typeface="+mn-lt"/>
                  </a:rPr>
                  <a:t>k</a:t>
                </a:r>
                <a:r>
                  <a:rPr lang="en-US" altLang="zh-TW" dirty="0">
                    <a:latin typeface="+mn-lt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latin typeface="+mn-lt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 i="1" spc="100" smtClean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chemeClr val="bg1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 i="1" spc="100" smtClean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chemeClr val="bg1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5" t="-605" r="-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842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Constructing a Shortest Path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265113"/>
                <a:r>
                  <a:rPr lang="en-US" altLang="zh-TW" dirty="0"/>
                  <a:t>We can compute the predecessor matrix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 while the algorithm computes the matrices </a:t>
                </a:r>
                <a:r>
                  <a:rPr lang="en-US" altLang="zh-TW" i="1" spc="100" dirty="0" smtClean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 smtClean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/>
                  <a:t>. Specifically, we compute a sequence of matrices</a:t>
                </a:r>
                <a:r>
                  <a:rPr lang="zh-TW" altLang="en-US" dirty="0"/>
                  <a:t>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(0)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(1)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. . . ,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150" dirty="0">
                    <a:solidFill>
                      <a:srgbClr val="000000"/>
                    </a:solidFill>
                  </a:rPr>
                  <a:t>P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baseline="44000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as</a:t>
                </a:r>
                <a:r>
                  <a:rPr lang="en-US" altLang="zh-TW" dirty="0"/>
                  <a:t> the predecessor of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on a shortest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.</a:t>
                </a:r>
              </a:p>
              <a:p>
                <a:pPr indent="265113">
                  <a:spcAft>
                    <a:spcPts val="1200"/>
                  </a:spcAft>
                </a:pPr>
                <a:r>
                  <a:rPr lang="en-US" altLang="zh-TW" dirty="0"/>
                  <a:t>We can give a recursive formulation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r>
                  <a:rPr lang="en-US" altLang="zh-TW" dirty="0"/>
                  <a:t>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shortest path from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has no intermediate nodes at all. Thus,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,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&lt;∞.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TW" dirty="0">
                    <a:latin typeface="+mn-lt"/>
                  </a:rPr>
                  <a:t>For </a:t>
                </a:r>
                <a:r>
                  <a:rPr lang="en-US" altLang="zh-TW" i="1" dirty="0">
                    <a:latin typeface="+mn-lt"/>
                  </a:rPr>
                  <a:t>k</a:t>
                </a:r>
                <a:r>
                  <a:rPr lang="en-US" altLang="zh-TW" dirty="0">
                    <a:latin typeface="+mn-lt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latin typeface="+mn-lt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 i="1" spc="100" smtClea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 i="1" spc="100" smtClea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5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5" t="-605" r="-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024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</a:rPr>
              <a:t>void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err="1">
                <a:solidFill>
                  <a:srgbClr val="000000"/>
                </a:solidFill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d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</a:t>
            </a:r>
            <a:r>
              <a:rPr lang="pl-PL" altLang="zh-TW" dirty="0">
                <a:solidFill>
                  <a:srgbClr val="0000FF"/>
                </a:solidFill>
              </a:rPr>
              <a:t>if</a:t>
            </a:r>
            <a:r>
              <a:rPr lang="pl-PL" altLang="zh-TW" dirty="0">
                <a:solidFill>
                  <a:srgbClr val="000000"/>
                </a:solidFill>
              </a:rPr>
              <a:t>( i == j ||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== </a:t>
            </a:r>
            <a:r>
              <a:rPr lang="pl-PL" altLang="zh-TW" dirty="0">
                <a:solidFill>
                  <a:srgbClr val="6F008A"/>
                </a:solidFill>
              </a:rPr>
              <a:t>INT_MAX</a:t>
            </a:r>
            <a:r>
              <a:rPr lang="pl-PL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</a:t>
            </a:r>
            <a:r>
              <a:rPr lang="en-US" altLang="zh-TW" dirty="0">
                <a:solidFill>
                  <a:srgbClr val="0000FF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i;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2342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         d</a:t>
            </a:r>
            <a:r>
              <a:rPr lang="pl-PL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pl-PL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( i == j || w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 == </a:t>
            </a:r>
            <a:r>
              <a:rPr lang="pl-PL" altLang="zh-TW" dirty="0">
                <a:solidFill>
                  <a:srgbClr val="6F008A"/>
                </a:solidFill>
                <a:latin typeface="Lucida Console"/>
              </a:rPr>
              <a:t>INT_MAX</a:t>
            </a:r>
            <a:r>
              <a:rPr lang="pl-PL" altLang="zh-TW" dirty="0">
                <a:solidFill>
                  <a:srgbClr val="000000"/>
                </a:solidFill>
                <a:latin typeface="Lucida Console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i;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812414" y="414909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292092" y="414909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87582"/>
              </p:ext>
            </p:extLst>
          </p:nvPr>
        </p:nvGraphicFramePr>
        <p:xfrm>
          <a:off x="6192207" y="432911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572000" y="486918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(0)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812414" y="54863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292092" y="54863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828695"/>
              </p:ext>
            </p:extLst>
          </p:nvPr>
        </p:nvGraphicFramePr>
        <p:xfrm>
          <a:off x="6192207" y="72865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572000" y="126872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11494" y="5229230"/>
                <a:ext cx="3600000" cy="90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,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&lt;∞.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94" y="5229230"/>
                <a:ext cx="3600000" cy="90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453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k++ )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d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871655" y="5229229"/>
                <a:ext cx="5040000" cy="126016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0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 kern="0" spc="1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altLang="zh-TW" sz="2000" kern="0" spc="-3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kern="0" spc="15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kern="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655" y="5229229"/>
                <a:ext cx="5040000" cy="1260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533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691632" y="4869184"/>
            <a:ext cx="7020896" cy="1260161"/>
          </a:xfrm>
        </p:spPr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[3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&gt; 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[3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[3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[3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pl-PL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[3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p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56701"/>
              </p:ext>
            </p:extLst>
          </p:nvPr>
        </p:nvGraphicFramePr>
        <p:xfrm>
          <a:off x="5832161" y="368609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52483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3204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36930"/>
              </p:ext>
            </p:extLst>
          </p:nvPr>
        </p:nvGraphicFramePr>
        <p:xfrm>
          <a:off x="5832161" y="2528885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352483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93204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491862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71540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807792"/>
              </p:ext>
            </p:extLst>
          </p:nvPr>
        </p:nvGraphicFramePr>
        <p:xfrm>
          <a:off x="1871655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3490304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69982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154417"/>
              </p:ext>
            </p:extLst>
          </p:nvPr>
        </p:nvGraphicFramePr>
        <p:xfrm>
          <a:off x="1870097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251448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49890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1195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(3)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211954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(4)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21" name="內容版面配置區 3"/>
          <p:cNvSpPr txBox="1">
            <a:spLocks/>
          </p:cNvSpPr>
          <p:nvPr/>
        </p:nvSpPr>
        <p:spPr bwMode="auto">
          <a:xfrm>
            <a:off x="431471" y="5409253"/>
            <a:ext cx="900115" cy="36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300"/>
              </a:spcBef>
              <a:buClr>
                <a:srgbClr val="000000"/>
              </a:buClr>
              <a:tabLst>
                <a:tab pos="270000" algn="l"/>
              </a:tabLst>
            </a:pPr>
            <a:r>
              <a:rPr lang="en-US" altLang="zh-TW" sz="1800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k = 4</a:t>
            </a:r>
            <a:endParaRPr lang="en-US" altLang="zh-TW" sz="1800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97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691632" y="4869184"/>
            <a:ext cx="7020896" cy="1260162"/>
          </a:xfrm>
        </p:spPr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[2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[2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[2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[2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[2</a:t>
            </a:r>
            <a:r>
              <a:rPr lang="nn-NO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z="1600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[5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93240"/>
              </p:ext>
            </p:extLst>
          </p:nvPr>
        </p:nvGraphicFramePr>
        <p:xfrm>
          <a:off x="5832161" y="368609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52483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3204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017755"/>
              </p:ext>
            </p:extLst>
          </p:nvPr>
        </p:nvGraphicFramePr>
        <p:xfrm>
          <a:off x="5832161" y="2528885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352483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93204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491862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71540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66494"/>
              </p:ext>
            </p:extLst>
          </p:nvPr>
        </p:nvGraphicFramePr>
        <p:xfrm>
          <a:off x="1871655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3490304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69982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742398"/>
              </p:ext>
            </p:extLst>
          </p:nvPr>
        </p:nvGraphicFramePr>
        <p:xfrm>
          <a:off x="1870097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251448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49890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1195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(3)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211954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(4)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21" name="內容版面配置區 3"/>
          <p:cNvSpPr txBox="1">
            <a:spLocks/>
          </p:cNvSpPr>
          <p:nvPr/>
        </p:nvSpPr>
        <p:spPr bwMode="auto">
          <a:xfrm>
            <a:off x="431471" y="5409253"/>
            <a:ext cx="900115" cy="36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300"/>
              </a:spcBef>
              <a:buClr>
                <a:srgbClr val="000000"/>
              </a:buClr>
              <a:tabLst>
                <a:tab pos="270000" algn="l"/>
              </a:tabLst>
            </a:pPr>
            <a:r>
              <a:rPr lang="en-US" altLang="zh-TW" sz="1800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k = 4</a:t>
            </a:r>
            <a:endParaRPr lang="en-US" altLang="zh-TW" sz="1800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522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8352483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3204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491862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71540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352483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93204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493420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973098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3491862" y="4509138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971540" y="4509138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352483" y="4509138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932046" y="4509138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932904"/>
              </p:ext>
            </p:extLst>
          </p:nvPr>
        </p:nvGraphicFramePr>
        <p:xfrm>
          <a:off x="1871655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904818"/>
              </p:ext>
            </p:extLst>
          </p:nvPr>
        </p:nvGraphicFramePr>
        <p:xfrm>
          <a:off x="1873213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26347"/>
              </p:ext>
            </p:extLst>
          </p:nvPr>
        </p:nvGraphicFramePr>
        <p:xfrm>
          <a:off x="1871655" y="4689161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581903"/>
              </p:ext>
            </p:extLst>
          </p:nvPr>
        </p:nvGraphicFramePr>
        <p:xfrm>
          <a:off x="5832161" y="368609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4301"/>
              </p:ext>
            </p:extLst>
          </p:nvPr>
        </p:nvGraphicFramePr>
        <p:xfrm>
          <a:off x="5832161" y="2528885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43799"/>
              </p:ext>
            </p:extLst>
          </p:nvPr>
        </p:nvGraphicFramePr>
        <p:xfrm>
          <a:off x="5832161" y="4689161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51448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53006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51448" y="5229230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21195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(0)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211954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(1)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11954" y="5229230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(2)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906218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3703"/>
              </p:ext>
            </p:extLst>
          </p:nvPr>
        </p:nvGraphicFramePr>
        <p:xfrm>
          <a:off x="5832161" y="368609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8352483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32046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6629"/>
              </p:ext>
            </p:extLst>
          </p:nvPr>
        </p:nvGraphicFramePr>
        <p:xfrm>
          <a:off x="5832161" y="2528885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8352483" y="2348862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932046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90627"/>
              </p:ext>
            </p:extLst>
          </p:nvPr>
        </p:nvGraphicFramePr>
        <p:xfrm>
          <a:off x="5832161" y="4689161"/>
          <a:ext cx="27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NIL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NIL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38" name="文字方塊 37"/>
          <p:cNvSpPr txBox="1"/>
          <p:nvPr/>
        </p:nvSpPr>
        <p:spPr>
          <a:xfrm>
            <a:off x="8352483" y="4509138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932046" y="4509138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3491862" y="188586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971540" y="18858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773390"/>
              </p:ext>
            </p:extLst>
          </p:nvPr>
        </p:nvGraphicFramePr>
        <p:xfrm>
          <a:off x="1871655" y="36860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1" name="文字方塊 50"/>
          <p:cNvSpPr txBox="1"/>
          <p:nvPr/>
        </p:nvSpPr>
        <p:spPr>
          <a:xfrm>
            <a:off x="3490304" y="2348862"/>
            <a:ext cx="721650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969982" y="2348862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95655"/>
              </p:ext>
            </p:extLst>
          </p:nvPr>
        </p:nvGraphicFramePr>
        <p:xfrm>
          <a:off x="1870097" y="2528885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3491862" y="4509138"/>
            <a:ext cx="720092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971540" y="4509138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285095"/>
              </p:ext>
            </p:extLst>
          </p:nvPr>
        </p:nvGraphicFramePr>
        <p:xfrm>
          <a:off x="1871655" y="4689161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sp>
        <p:nvSpPr>
          <p:cNvPr id="46" name="文字方塊 45"/>
          <p:cNvSpPr txBox="1"/>
          <p:nvPr/>
        </p:nvSpPr>
        <p:spPr>
          <a:xfrm>
            <a:off x="251448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49890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251448" y="5229230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i="1"/>
              <a:t>D</a:t>
            </a:r>
            <a:r>
              <a:rPr lang="en-US" altLang="zh-TW" baseline="40000"/>
              <a:t>(5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211954" y="908678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(3)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211954" y="3068954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(4)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11954" y="5229230"/>
            <a:ext cx="1260161" cy="72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l-GR" altLang="zh-TW" dirty="0"/>
              <a:t>Π</a:t>
            </a:r>
            <a:r>
              <a:rPr lang="en-US" altLang="zh-TW" baseline="40000" dirty="0"/>
              <a:t>(5)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4190221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</a:rPr>
              <a:t>void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err="1">
                <a:solidFill>
                  <a:srgbClr val="000000"/>
                </a:solidFill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d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</a:t>
            </a:r>
            <a:r>
              <a:rPr lang="pl-PL" altLang="zh-TW" dirty="0">
                <a:solidFill>
                  <a:srgbClr val="0000FF"/>
                </a:solidFill>
              </a:rPr>
              <a:t>if</a:t>
            </a:r>
            <a:r>
              <a:rPr lang="pl-PL" altLang="zh-TW" dirty="0">
                <a:solidFill>
                  <a:srgbClr val="000000"/>
                </a:solidFill>
              </a:rPr>
              <a:t>( i == j ||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== </a:t>
            </a:r>
            <a:r>
              <a:rPr lang="pl-PL" altLang="zh-TW" dirty="0">
                <a:solidFill>
                  <a:srgbClr val="6F008A"/>
                </a:solidFill>
              </a:rPr>
              <a:t>INT_MAX</a:t>
            </a:r>
            <a:r>
              <a:rPr lang="pl-PL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</a:t>
            </a:r>
            <a:r>
              <a:rPr lang="en-US" altLang="zh-TW" dirty="0">
                <a:solidFill>
                  <a:srgbClr val="0000FF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pl-PL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[0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i;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[k-1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9585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</a:rPr>
              <a:t>void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err="1">
                <a:solidFill>
                  <a:srgbClr val="000000"/>
                </a:solidFill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srgbClr val="000000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srgbClr val="000000"/>
                </a:solidFill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</a:rPr>
              <a:t>n</a:t>
            </a:r>
            <a:r>
              <a:rPr lang="nn-NO" altLang="zh-TW" dirty="0">
                <a:solidFill>
                  <a:srgbClr val="000000"/>
                </a:solidFill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</a:t>
            </a:r>
            <a:r>
              <a:rPr lang="en-US" altLang="zh-TW" dirty="0">
                <a:solidFill>
                  <a:srgbClr val="0000FF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00"/>
                </a:solidFill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; </a:t>
            </a:r>
            <a:r>
              <a:rPr lang="en-US" altLang="zh-TW" dirty="0" err="1">
                <a:solidFill>
                  <a:srgbClr val="000000"/>
                </a:solidFill>
              </a:rPr>
              <a:t>j++</a:t>
            </a:r>
            <a:r>
              <a:rPr lang="en-US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</a:rPr>
              <a:t>         </a:t>
            </a:r>
            <a:r>
              <a:rPr lang="pl-PL" altLang="zh-TW" dirty="0">
                <a:solidFill>
                  <a:srgbClr val="0000FF"/>
                </a:solidFill>
              </a:rPr>
              <a:t>if</a:t>
            </a:r>
            <a:r>
              <a:rPr lang="pl-PL" altLang="zh-TW" dirty="0">
                <a:solidFill>
                  <a:srgbClr val="000000"/>
                </a:solidFill>
              </a:rPr>
              <a:t>( i == j ||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</a:rPr>
              <a:t> == </a:t>
            </a:r>
            <a:r>
              <a:rPr lang="pl-PL" altLang="zh-TW" dirty="0">
                <a:solidFill>
                  <a:srgbClr val="6F008A"/>
                </a:solidFill>
              </a:rPr>
              <a:t>INT_MAX</a:t>
            </a:r>
            <a:r>
              <a:rPr lang="pl-PL" altLang="zh-TW" dirty="0">
                <a:solidFill>
                  <a:srgbClr val="000000"/>
                </a:solidFill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</a:t>
            </a:r>
            <a:r>
              <a:rPr lang="en-US" altLang="zh-TW" dirty="0">
                <a:solidFill>
                  <a:srgbClr val="0000FF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= i;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anose="02020603050405020304" pitchFamily="18" charset="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p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5363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Finding the Diameter </a:t>
            </a:r>
            <a:r>
              <a:rPr lang="en-US" altLang="zh-TW" dirty="0"/>
              <a:t>of a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720092"/>
          </a:xfrm>
        </p:spPr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diameter</a:t>
            </a:r>
            <a:r>
              <a:rPr lang="en-US" altLang="zh-TW" dirty="0">
                <a:solidFill>
                  <a:srgbClr val="000000"/>
                </a:solidFill>
              </a:rPr>
              <a:t> of a graph is defined as the maximum shortest path distance between any pair of nodes of that graph.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5652138" y="3248977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131816" y="3248977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175135"/>
              </p:ext>
            </p:extLst>
          </p:nvPr>
        </p:nvGraphicFramePr>
        <p:xfrm>
          <a:off x="4031931" y="3429000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8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>
            <a:endCxn id="13" idx="1"/>
          </p:cNvCxnSpPr>
          <p:nvPr/>
        </p:nvCxnSpPr>
        <p:spPr bwMode="auto">
          <a:xfrm>
            <a:off x="1691632" y="306895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endCxn id="12" idx="7"/>
          </p:cNvCxnSpPr>
          <p:nvPr/>
        </p:nvCxnSpPr>
        <p:spPr bwMode="auto">
          <a:xfrm flipH="1">
            <a:off x="1098835" y="3068954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 bwMode="auto">
          <a:xfrm>
            <a:off x="1511609" y="2888931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791517" y="360902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橢圓 10"/>
          <p:cNvSpPr/>
          <p:nvPr/>
        </p:nvSpPr>
        <p:spPr bwMode="auto">
          <a:xfrm>
            <a:off x="2231701" y="360902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791517" y="504920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3" name="橢圓 12"/>
          <p:cNvSpPr/>
          <p:nvPr/>
        </p:nvSpPr>
        <p:spPr bwMode="auto">
          <a:xfrm>
            <a:off x="2231701" y="5049207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14" name="直線單箭頭接點 13"/>
          <p:cNvCxnSpPr>
            <a:stCxn id="10" idx="7"/>
            <a:endCxn id="9" idx="3"/>
          </p:cNvCxnSpPr>
          <p:nvPr/>
        </p:nvCxnSpPr>
        <p:spPr bwMode="auto">
          <a:xfrm flipV="1">
            <a:off x="1098835" y="319624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11" idx="1"/>
            <a:endCxn id="9" idx="5"/>
          </p:cNvCxnSpPr>
          <p:nvPr/>
        </p:nvCxnSpPr>
        <p:spPr bwMode="auto">
          <a:xfrm flipH="1" flipV="1">
            <a:off x="1818927" y="3196249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6"/>
            <a:endCxn id="11" idx="2"/>
          </p:cNvCxnSpPr>
          <p:nvPr/>
        </p:nvCxnSpPr>
        <p:spPr bwMode="auto">
          <a:xfrm>
            <a:off x="1151563" y="3789046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3" idx="0"/>
            <a:endCxn id="11" idx="4"/>
          </p:cNvCxnSpPr>
          <p:nvPr/>
        </p:nvCxnSpPr>
        <p:spPr bwMode="auto">
          <a:xfrm flipV="1">
            <a:off x="2411724" y="396906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0" idx="4"/>
            <a:endCxn id="12" idx="0"/>
          </p:cNvCxnSpPr>
          <p:nvPr/>
        </p:nvCxnSpPr>
        <p:spPr bwMode="auto">
          <a:xfrm>
            <a:off x="971540" y="3969069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6"/>
            <a:endCxn id="13" idx="2"/>
          </p:cNvCxnSpPr>
          <p:nvPr/>
        </p:nvCxnSpPr>
        <p:spPr bwMode="auto">
          <a:xfrm>
            <a:off x="1151563" y="5229230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1"/>
            <a:endCxn id="10" idx="5"/>
          </p:cNvCxnSpPr>
          <p:nvPr/>
        </p:nvCxnSpPr>
        <p:spPr bwMode="auto">
          <a:xfrm flipH="1" flipV="1">
            <a:off x="1098835" y="3916341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971540" y="306895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31471" y="432911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411723" y="4329115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511609" y="5229230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151563" y="4689161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331586" y="4329115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511609" y="3789046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871655" y="3969069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871655" y="3068954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30" name="橢圓 29"/>
          <p:cNvSpPr/>
          <p:nvPr/>
        </p:nvSpPr>
        <p:spPr bwMode="auto">
          <a:xfrm>
            <a:off x="6912299" y="3429000"/>
            <a:ext cx="1800000" cy="180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5358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Finding the Diameter </a:t>
            </a:r>
            <a:r>
              <a:rPr lang="en-US" altLang="zh-TW" dirty="0"/>
              <a:t>of a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diameter</a:t>
            </a:r>
            <a:r>
              <a:rPr lang="en-US" altLang="zh-TW" dirty="0">
                <a:solidFill>
                  <a:srgbClr val="000000"/>
                </a:solidFill>
              </a:rPr>
              <a:t> of a graph is defined as the maximum shortest path distance between any pair of nodes of that graph.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findDiameter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w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</a:pPr>
            <a:endParaRPr lang="zh-TW" altLang="en-US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= min(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],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+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</a:pPr>
            <a:endParaRPr lang="nn-NO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diameter = 0;</a:t>
            </a:r>
            <a:endParaRPr lang="en-US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diameter &lt; 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diameter = d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z="16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diameter;</a:t>
            </a:r>
            <a:endParaRPr lang="nn-NO" altLang="zh-TW" sz="160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11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7" cy="1440184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Given a directed graph 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G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 with node set 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{1, 2, </a:t>
            </a:r>
            <a:r>
              <a:rPr lang="en-US" altLang="zh-TW" spc="300" dirty="0">
                <a:solidFill>
                  <a:srgbClr val="000000"/>
                </a:solidFill>
              </a:rPr>
              <a:t>...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}, we might wish to determine whether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contains a path from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for all node pairs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. We define the </a:t>
            </a:r>
            <a:r>
              <a:rPr lang="en-US" altLang="zh-TW" i="1" dirty="0">
                <a:solidFill>
                  <a:srgbClr val="0000FF"/>
                </a:solidFill>
              </a:rPr>
              <a:t>transitive closure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as the graph </a:t>
            </a:r>
            <a:r>
              <a:rPr lang="en-US" altLang="zh-TW" i="1" spc="100" dirty="0">
                <a:solidFill>
                  <a:srgbClr val="000000"/>
                </a:solidFill>
                <a:latin typeface="Times New Roman"/>
                <a:ea typeface="新細明體"/>
              </a:rPr>
              <a:t>G</a:t>
            </a:r>
            <a:r>
              <a:rPr lang="en-US" altLang="zh-TW" sz="2800" baseline="2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800" baseline="2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, where</a:t>
            </a:r>
          </a:p>
          <a:p>
            <a:r>
              <a:rPr lang="en-US" altLang="zh-TW" i="1" spc="100" dirty="0">
                <a:solidFill>
                  <a:srgbClr val="000000"/>
                </a:solidFill>
                <a:latin typeface="Times New Roman"/>
                <a:ea typeface="新細明體"/>
              </a:rPr>
              <a:t>E</a:t>
            </a:r>
            <a:r>
              <a:rPr lang="en-US" altLang="zh-TW" sz="2800" baseline="2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  <a:latin typeface="Times New Roman"/>
                <a:ea typeface="新細明體"/>
              </a:rPr>
              <a:t>j</a:t>
            </a:r>
            <a:r>
              <a:rPr lang="en-US" altLang="zh-TW" dirty="0">
                <a:solidFill>
                  <a:srgbClr val="000000"/>
                </a:solidFill>
                <a:latin typeface="Times New Roman"/>
                <a:ea typeface="新細明體"/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 : there is a path from node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to node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in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}.</a:t>
            </a:r>
          </a:p>
        </p:txBody>
      </p:sp>
      <p:sp>
        <p:nvSpPr>
          <p:cNvPr id="4" name="橢圓 3"/>
          <p:cNvSpPr/>
          <p:nvPr/>
        </p:nvSpPr>
        <p:spPr bwMode="auto">
          <a:xfrm>
            <a:off x="1511609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2951793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1511609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2951793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3131816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1691632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1871655" y="576929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181892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3311839" y="432911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0" name="橢圓 39"/>
          <p:cNvSpPr/>
          <p:nvPr/>
        </p:nvSpPr>
        <p:spPr bwMode="auto">
          <a:xfrm>
            <a:off x="5112069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1" name="橢圓 40"/>
          <p:cNvSpPr/>
          <p:nvPr/>
        </p:nvSpPr>
        <p:spPr bwMode="auto">
          <a:xfrm>
            <a:off x="6552253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2" name="橢圓 41"/>
          <p:cNvSpPr/>
          <p:nvPr/>
        </p:nvSpPr>
        <p:spPr bwMode="auto">
          <a:xfrm>
            <a:off x="5112069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3" name="橢圓 42"/>
          <p:cNvSpPr/>
          <p:nvPr/>
        </p:nvSpPr>
        <p:spPr bwMode="auto">
          <a:xfrm>
            <a:off x="6552253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44" name="直線單箭頭接點 43"/>
          <p:cNvCxnSpPr>
            <a:stCxn id="41" idx="4"/>
            <a:endCxn id="43" idx="0"/>
          </p:cNvCxnSpPr>
          <p:nvPr/>
        </p:nvCxnSpPr>
        <p:spPr bwMode="auto">
          <a:xfrm>
            <a:off x="6732276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42" idx="0"/>
            <a:endCxn id="40" idx="4"/>
          </p:cNvCxnSpPr>
          <p:nvPr/>
        </p:nvCxnSpPr>
        <p:spPr bwMode="auto">
          <a:xfrm flipV="1">
            <a:off x="5292092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42" idx="6"/>
            <a:endCxn id="43" idx="2"/>
          </p:cNvCxnSpPr>
          <p:nvPr/>
        </p:nvCxnSpPr>
        <p:spPr bwMode="auto">
          <a:xfrm>
            <a:off x="5472115" y="576929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41" idx="3"/>
            <a:endCxn id="42" idx="7"/>
          </p:cNvCxnSpPr>
          <p:nvPr/>
        </p:nvCxnSpPr>
        <p:spPr bwMode="auto">
          <a:xfrm flipH="1">
            <a:off x="541938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弧形接點 47"/>
          <p:cNvCxnSpPr>
            <a:stCxn id="43" idx="6"/>
            <a:endCxn id="41" idx="6"/>
          </p:cNvCxnSpPr>
          <p:nvPr/>
        </p:nvCxnSpPr>
        <p:spPr bwMode="auto">
          <a:xfrm flipV="1">
            <a:off x="6912299" y="432911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9" name="直線單箭頭接點 48"/>
          <p:cNvCxnSpPr>
            <a:stCxn id="41" idx="2"/>
            <a:endCxn id="40" idx="6"/>
          </p:cNvCxnSpPr>
          <p:nvPr/>
        </p:nvCxnSpPr>
        <p:spPr bwMode="auto">
          <a:xfrm flipH="1">
            <a:off x="5472115" y="432911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弧形接點 49"/>
          <p:cNvCxnSpPr>
            <a:stCxn id="43" idx="4"/>
            <a:endCxn id="42" idx="4"/>
          </p:cNvCxnSpPr>
          <p:nvPr/>
        </p:nvCxnSpPr>
        <p:spPr bwMode="auto">
          <a:xfrm rot="5400000">
            <a:off x="6012184" y="5229230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1" name="直線單箭頭接點 50"/>
          <p:cNvCxnSpPr>
            <a:stCxn id="43" idx="1"/>
            <a:endCxn id="40" idx="5"/>
          </p:cNvCxnSpPr>
          <p:nvPr/>
        </p:nvCxnSpPr>
        <p:spPr bwMode="auto">
          <a:xfrm flipH="1" flipV="1">
            <a:off x="541938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弧形接點 51"/>
          <p:cNvCxnSpPr>
            <a:stCxn id="42" idx="2"/>
            <a:endCxn id="41" idx="0"/>
          </p:cNvCxnSpPr>
          <p:nvPr/>
        </p:nvCxnSpPr>
        <p:spPr bwMode="auto">
          <a:xfrm rot="10800000" flipH="1">
            <a:off x="5112068" y="4149093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3" name="弧形接點 52"/>
          <p:cNvCxnSpPr>
            <a:stCxn id="43" idx="3"/>
            <a:endCxn id="43" idx="5"/>
          </p:cNvCxnSpPr>
          <p:nvPr/>
        </p:nvCxnSpPr>
        <p:spPr bwMode="auto">
          <a:xfrm rot="16200000" flipH="1">
            <a:off x="6732276" y="5769299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4" name="弧形接點 53"/>
          <p:cNvCxnSpPr>
            <a:stCxn id="42" idx="5"/>
            <a:endCxn id="42" idx="3"/>
          </p:cNvCxnSpPr>
          <p:nvPr/>
        </p:nvCxnSpPr>
        <p:spPr bwMode="auto">
          <a:xfrm rot="5400000">
            <a:off x="5292092" y="5769299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5" name="弧形接點 54"/>
          <p:cNvCxnSpPr>
            <a:stCxn id="41" idx="1"/>
            <a:endCxn id="41" idx="7"/>
          </p:cNvCxnSpPr>
          <p:nvPr/>
        </p:nvCxnSpPr>
        <p:spPr bwMode="auto">
          <a:xfrm rot="5400000" flipH="1" flipV="1">
            <a:off x="6732276" y="407452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6" name="弧形接點 55"/>
          <p:cNvCxnSpPr>
            <a:stCxn id="40" idx="7"/>
            <a:endCxn id="40" idx="1"/>
          </p:cNvCxnSpPr>
          <p:nvPr/>
        </p:nvCxnSpPr>
        <p:spPr bwMode="auto">
          <a:xfrm rot="16200000" flipV="1">
            <a:off x="5292092" y="407452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108990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Transitive Closure of a Relation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288036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TW" dirty="0">
                <a:solidFill>
                  <a:srgbClr val="00B0F0"/>
                </a:solidFill>
              </a:rPr>
              <a:t>DEFINITION</a:t>
            </a:r>
            <a:r>
              <a:rPr lang="en-US" altLang="zh-TW" dirty="0">
                <a:solidFill>
                  <a:srgbClr val="000000"/>
                </a:solidFill>
              </a:rPr>
              <a:t>  Let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be a relation on a set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. The smallest transitive relation that contains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is called the </a:t>
            </a:r>
            <a:r>
              <a:rPr lang="en-US" altLang="zh-TW" i="1" dirty="0">
                <a:solidFill>
                  <a:srgbClr val="0000FF"/>
                </a:solidFill>
              </a:rPr>
              <a:t>transitive closure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altLang="zh-TW" dirty="0">
                <a:solidFill>
                  <a:srgbClr val="00B0F0"/>
                </a:solidFill>
              </a:rPr>
              <a:t>DEFINITION</a:t>
            </a:r>
            <a:r>
              <a:rPr lang="en-US" altLang="zh-TW" dirty="0">
                <a:solidFill>
                  <a:srgbClr val="000000"/>
                </a:solidFill>
              </a:rPr>
              <a:t>  Let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be a relation on a set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. The </a:t>
            </a:r>
            <a:r>
              <a:rPr lang="en-US" altLang="zh-TW" i="1" dirty="0">
                <a:solidFill>
                  <a:srgbClr val="0000FF"/>
                </a:solidFill>
              </a:rPr>
              <a:t>connectivity relation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sz="2800" baseline="2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TW" dirty="0">
                <a:solidFill>
                  <a:srgbClr val="000000"/>
                </a:solidFill>
              </a:rPr>
              <a:t> consists of the pairs (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b</a:t>
            </a:r>
            <a:r>
              <a:rPr lang="en-US" altLang="zh-TW" dirty="0">
                <a:solidFill>
                  <a:srgbClr val="000000"/>
                </a:solidFill>
              </a:rPr>
              <a:t>) such that there is a path of </a:t>
            </a:r>
            <a:r>
              <a:rPr lang="en-US" altLang="zh-TW" dirty="0">
                <a:solidFill>
                  <a:srgbClr val="FF0000"/>
                </a:solidFill>
              </a:rPr>
              <a:t>length at least one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b</a:t>
            </a:r>
            <a:r>
              <a:rPr lang="en-US" altLang="zh-TW" dirty="0">
                <a:solidFill>
                  <a:srgbClr val="000000"/>
                </a:solidFill>
              </a:rPr>
              <a:t> in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TW" dirty="0">
                <a:solidFill>
                  <a:srgbClr val="00B0F0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The transitive closure of a relation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equals the connectivity relation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sz="2800" baseline="2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∗</a:t>
            </a:r>
            <a:r>
              <a:rPr lang="en-US" altLang="zh-TW" dirty="0" smtClean="0">
                <a:solidFill>
                  <a:srgbClr val="000000"/>
                </a:solidFill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00B0F0"/>
                </a:solidFill>
              </a:rPr>
              <a:t>Example: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{ </a:t>
            </a:r>
            <a:r>
              <a:rPr lang="en-US" altLang="zh-TW" dirty="0" smtClean="0"/>
              <a:t>(</a:t>
            </a:r>
            <a:r>
              <a:rPr lang="en-US" altLang="zh-TW" dirty="0"/>
              <a:t>2, 3), (2, 4), (3, 2), (4, 1), (4, 3)}.</a:t>
            </a:r>
          </a:p>
        </p:txBody>
      </p:sp>
      <p:sp>
        <p:nvSpPr>
          <p:cNvPr id="4" name="橢圓 3"/>
          <p:cNvSpPr/>
          <p:nvPr/>
        </p:nvSpPr>
        <p:spPr bwMode="auto">
          <a:xfrm>
            <a:off x="2591747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4031931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2591747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4031931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4211954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2771770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2951793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2899065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4391977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3" name="橢圓 12"/>
          <p:cNvSpPr/>
          <p:nvPr/>
        </p:nvSpPr>
        <p:spPr bwMode="auto">
          <a:xfrm>
            <a:off x="6192207" y="4329115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4" name="橢圓 13"/>
          <p:cNvSpPr/>
          <p:nvPr/>
        </p:nvSpPr>
        <p:spPr bwMode="auto">
          <a:xfrm>
            <a:off x="7632391" y="4329115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5" name="橢圓 14"/>
          <p:cNvSpPr/>
          <p:nvPr/>
        </p:nvSpPr>
        <p:spPr bwMode="auto">
          <a:xfrm>
            <a:off x="6192207" y="5769299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6" name="橢圓 15"/>
          <p:cNvSpPr/>
          <p:nvPr/>
        </p:nvSpPr>
        <p:spPr bwMode="auto">
          <a:xfrm>
            <a:off x="7632391" y="5769299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14" idx="4"/>
            <a:endCxn id="16" idx="0"/>
          </p:cNvCxnSpPr>
          <p:nvPr/>
        </p:nvCxnSpPr>
        <p:spPr bwMode="auto">
          <a:xfrm>
            <a:off x="7812414" y="4689161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5" idx="0"/>
            <a:endCxn id="13" idx="4"/>
          </p:cNvCxnSpPr>
          <p:nvPr/>
        </p:nvCxnSpPr>
        <p:spPr bwMode="auto">
          <a:xfrm flipV="1">
            <a:off x="6372230" y="4689161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5" idx="6"/>
            <a:endCxn id="16" idx="2"/>
          </p:cNvCxnSpPr>
          <p:nvPr/>
        </p:nvCxnSpPr>
        <p:spPr bwMode="auto">
          <a:xfrm>
            <a:off x="6552253" y="5949322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4" idx="3"/>
            <a:endCxn id="15" idx="7"/>
          </p:cNvCxnSpPr>
          <p:nvPr/>
        </p:nvCxnSpPr>
        <p:spPr bwMode="auto">
          <a:xfrm flipH="1">
            <a:off x="6499525" y="4636433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弧形接點 20"/>
          <p:cNvCxnSpPr>
            <a:stCxn id="16" idx="6"/>
            <a:endCxn id="14" idx="6"/>
          </p:cNvCxnSpPr>
          <p:nvPr/>
        </p:nvCxnSpPr>
        <p:spPr bwMode="auto">
          <a:xfrm flipV="1">
            <a:off x="7992437" y="4509138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2" name="直線單箭頭接點 21"/>
          <p:cNvCxnSpPr>
            <a:stCxn id="14" idx="2"/>
            <a:endCxn id="13" idx="6"/>
          </p:cNvCxnSpPr>
          <p:nvPr/>
        </p:nvCxnSpPr>
        <p:spPr bwMode="auto">
          <a:xfrm flipH="1">
            <a:off x="6552253" y="4509138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弧形接點 24"/>
          <p:cNvCxnSpPr>
            <a:stCxn id="16" idx="4"/>
            <a:endCxn id="15" idx="4"/>
          </p:cNvCxnSpPr>
          <p:nvPr/>
        </p:nvCxnSpPr>
        <p:spPr bwMode="auto">
          <a:xfrm rot="5400000">
            <a:off x="7092322" y="5409253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直線單箭頭接點 27"/>
          <p:cNvCxnSpPr>
            <a:stCxn id="16" idx="1"/>
            <a:endCxn id="13" idx="5"/>
          </p:cNvCxnSpPr>
          <p:nvPr/>
        </p:nvCxnSpPr>
        <p:spPr bwMode="auto">
          <a:xfrm flipH="1" flipV="1">
            <a:off x="6499525" y="4636433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弧形接點 30"/>
          <p:cNvCxnSpPr>
            <a:stCxn id="15" idx="2"/>
            <a:endCxn id="14" idx="0"/>
          </p:cNvCxnSpPr>
          <p:nvPr/>
        </p:nvCxnSpPr>
        <p:spPr bwMode="auto">
          <a:xfrm rot="10800000" flipH="1">
            <a:off x="6192206" y="4329116"/>
            <a:ext cx="1620207" cy="1620207"/>
          </a:xfrm>
          <a:prstGeom prst="curvedConnector4">
            <a:avLst>
              <a:gd name="adj1" fmla="val -21827"/>
              <a:gd name="adj2" fmla="val 122792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6" idx="3"/>
            <a:endCxn id="16" idx="5"/>
          </p:cNvCxnSpPr>
          <p:nvPr/>
        </p:nvCxnSpPr>
        <p:spPr bwMode="auto">
          <a:xfrm rot="16200000" flipH="1">
            <a:off x="7812414" y="5949322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1" name="弧形接點 50"/>
          <p:cNvCxnSpPr>
            <a:stCxn id="15" idx="5"/>
            <a:endCxn id="15" idx="3"/>
          </p:cNvCxnSpPr>
          <p:nvPr/>
        </p:nvCxnSpPr>
        <p:spPr bwMode="auto">
          <a:xfrm rot="5400000">
            <a:off x="6372230" y="5949322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4" name="弧形接點 53"/>
          <p:cNvCxnSpPr>
            <a:stCxn id="14" idx="1"/>
            <a:endCxn id="14" idx="7"/>
          </p:cNvCxnSpPr>
          <p:nvPr/>
        </p:nvCxnSpPr>
        <p:spPr bwMode="auto">
          <a:xfrm rot="5400000" flipH="1" flipV="1">
            <a:off x="7812414" y="4254548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154954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2340298"/>
              </a:xfrm>
            </p:spPr>
            <p:txBody>
              <a:bodyPr/>
              <a:lstStyle/>
              <a:p>
                <a:r>
                  <a:rPr lang="en-US" altLang="zh-TW" dirty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 One way to compute the transitive closure of a graph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in </a:t>
                </a:r>
                <a:r>
                  <a:rPr lang="el-GR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baseline="30000" dirty="0" err="1" smtClean="0">
                    <a:solidFill>
                      <a:srgbClr val="000000"/>
                    </a:solidFill>
                  </a:rPr>
                  <a:t>3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time is to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assign a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weight of 1 to each edge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run the Floyd-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Warshall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algorithm. If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there is a path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you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b="0" i="1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Otherwise, you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2340298"/>
              </a:xfrm>
              <a:blipFill>
                <a:blip r:embed="rId2"/>
                <a:stretch>
                  <a:fillRect l="-810" t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1511609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2951793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1511609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2951793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3131816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1691632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1871655" y="576929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181892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3311839" y="432911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0" name="橢圓 39"/>
          <p:cNvSpPr/>
          <p:nvPr/>
        </p:nvSpPr>
        <p:spPr bwMode="auto">
          <a:xfrm>
            <a:off x="5112069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1" name="橢圓 40"/>
          <p:cNvSpPr/>
          <p:nvPr/>
        </p:nvSpPr>
        <p:spPr bwMode="auto">
          <a:xfrm>
            <a:off x="6552253" y="414909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2" name="橢圓 41"/>
          <p:cNvSpPr/>
          <p:nvPr/>
        </p:nvSpPr>
        <p:spPr bwMode="auto">
          <a:xfrm>
            <a:off x="5112069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3" name="橢圓 42"/>
          <p:cNvSpPr/>
          <p:nvPr/>
        </p:nvSpPr>
        <p:spPr bwMode="auto">
          <a:xfrm>
            <a:off x="6552253" y="558927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44" name="直線單箭頭接點 43"/>
          <p:cNvCxnSpPr>
            <a:stCxn id="41" idx="4"/>
            <a:endCxn id="43" idx="0"/>
          </p:cNvCxnSpPr>
          <p:nvPr/>
        </p:nvCxnSpPr>
        <p:spPr bwMode="auto">
          <a:xfrm>
            <a:off x="6732276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42" idx="0"/>
            <a:endCxn id="40" idx="4"/>
          </p:cNvCxnSpPr>
          <p:nvPr/>
        </p:nvCxnSpPr>
        <p:spPr bwMode="auto">
          <a:xfrm flipV="1">
            <a:off x="5292092" y="450913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42" idx="6"/>
            <a:endCxn id="43" idx="2"/>
          </p:cNvCxnSpPr>
          <p:nvPr/>
        </p:nvCxnSpPr>
        <p:spPr bwMode="auto">
          <a:xfrm>
            <a:off x="5472115" y="576929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41" idx="3"/>
            <a:endCxn id="42" idx="7"/>
          </p:cNvCxnSpPr>
          <p:nvPr/>
        </p:nvCxnSpPr>
        <p:spPr bwMode="auto">
          <a:xfrm flipH="1">
            <a:off x="541938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弧形接點 47"/>
          <p:cNvCxnSpPr>
            <a:stCxn id="43" idx="6"/>
            <a:endCxn id="41" idx="6"/>
          </p:cNvCxnSpPr>
          <p:nvPr/>
        </p:nvCxnSpPr>
        <p:spPr bwMode="auto">
          <a:xfrm flipV="1">
            <a:off x="6912299" y="432911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9" name="直線單箭頭接點 48"/>
          <p:cNvCxnSpPr>
            <a:stCxn id="41" idx="2"/>
            <a:endCxn id="40" idx="6"/>
          </p:cNvCxnSpPr>
          <p:nvPr/>
        </p:nvCxnSpPr>
        <p:spPr bwMode="auto">
          <a:xfrm flipH="1">
            <a:off x="5472115" y="432911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弧形接點 49"/>
          <p:cNvCxnSpPr>
            <a:stCxn id="43" idx="4"/>
            <a:endCxn id="42" idx="4"/>
          </p:cNvCxnSpPr>
          <p:nvPr/>
        </p:nvCxnSpPr>
        <p:spPr bwMode="auto">
          <a:xfrm rot="5400000">
            <a:off x="6012184" y="5229230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1" name="直線單箭頭接點 50"/>
          <p:cNvCxnSpPr>
            <a:stCxn id="43" idx="1"/>
            <a:endCxn id="40" idx="5"/>
          </p:cNvCxnSpPr>
          <p:nvPr/>
        </p:nvCxnSpPr>
        <p:spPr bwMode="auto">
          <a:xfrm flipH="1" flipV="1">
            <a:off x="5419387" y="445641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弧形接點 51"/>
          <p:cNvCxnSpPr>
            <a:stCxn id="42" idx="2"/>
            <a:endCxn id="41" idx="0"/>
          </p:cNvCxnSpPr>
          <p:nvPr/>
        </p:nvCxnSpPr>
        <p:spPr bwMode="auto">
          <a:xfrm rot="10800000" flipH="1">
            <a:off x="5112068" y="4149093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3" name="弧形接點 52"/>
          <p:cNvCxnSpPr>
            <a:stCxn id="43" idx="3"/>
            <a:endCxn id="43" idx="5"/>
          </p:cNvCxnSpPr>
          <p:nvPr/>
        </p:nvCxnSpPr>
        <p:spPr bwMode="auto">
          <a:xfrm rot="16200000" flipH="1">
            <a:off x="6732276" y="5769299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4" name="弧形接點 53"/>
          <p:cNvCxnSpPr>
            <a:stCxn id="42" idx="5"/>
            <a:endCxn id="42" idx="3"/>
          </p:cNvCxnSpPr>
          <p:nvPr/>
        </p:nvCxnSpPr>
        <p:spPr bwMode="auto">
          <a:xfrm rot="5400000">
            <a:off x="5292092" y="5769299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5" name="弧形接點 54"/>
          <p:cNvCxnSpPr>
            <a:stCxn id="41" idx="1"/>
            <a:endCxn id="41" idx="7"/>
          </p:cNvCxnSpPr>
          <p:nvPr/>
        </p:nvCxnSpPr>
        <p:spPr bwMode="auto">
          <a:xfrm rot="5400000" flipH="1" flipV="1">
            <a:off x="6732276" y="407452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6" name="弧形接點 55"/>
          <p:cNvCxnSpPr>
            <a:stCxn id="40" idx="7"/>
            <a:endCxn id="40" idx="1"/>
          </p:cNvCxnSpPr>
          <p:nvPr/>
        </p:nvCxnSpPr>
        <p:spPr bwMode="auto">
          <a:xfrm rot="16200000" flipV="1">
            <a:off x="5292092" y="407452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82672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3491862" y="2708908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511609" y="2708908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48681"/>
              </p:ext>
            </p:extLst>
          </p:nvPr>
        </p:nvGraphicFramePr>
        <p:xfrm>
          <a:off x="2231701" y="2888931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1517" y="3248977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/>
              <a:t>D</a:t>
            </a:r>
            <a:r>
              <a:rPr lang="en-US" altLang="zh-TW" baseline="40000" dirty="0" smtClean="0"/>
              <a:t>(1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452368" y="548632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472115" y="548632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99669"/>
              </p:ext>
            </p:extLst>
          </p:nvPr>
        </p:nvGraphicFramePr>
        <p:xfrm>
          <a:off x="6192207" y="728655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4752023" y="1088701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 smtClean="0"/>
              <a:t>D</a:t>
            </a:r>
            <a:r>
              <a:rPr lang="en-US" altLang="zh-TW" baseline="40000" dirty="0" smtClean="0"/>
              <a:t>(0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52368" y="2708908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472115" y="2708908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175351"/>
              </p:ext>
            </p:extLst>
          </p:nvPr>
        </p:nvGraphicFramePr>
        <p:xfrm>
          <a:off x="6192207" y="2888931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4752023" y="3248977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/>
              <a:t>D</a:t>
            </a:r>
            <a:r>
              <a:rPr lang="en-US" altLang="zh-TW" baseline="40000" dirty="0" smtClean="0"/>
              <a:t>(2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491862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11609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150441"/>
              </p:ext>
            </p:extLst>
          </p:nvPr>
        </p:nvGraphicFramePr>
        <p:xfrm>
          <a:off x="2231701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791517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/>
              <a:t>D</a:t>
            </a:r>
            <a:r>
              <a:rPr lang="en-US" altLang="zh-TW" baseline="40000" dirty="0" smtClean="0"/>
              <a:t>(3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52368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472115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00427"/>
              </p:ext>
            </p:extLst>
          </p:nvPr>
        </p:nvGraphicFramePr>
        <p:xfrm>
          <a:off x="6192207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4752023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/>
              <a:t>D</a:t>
            </a:r>
            <a:r>
              <a:rPr lang="en-US" altLang="zh-TW" baseline="40000" dirty="0" smtClean="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8" name="橢圓 27"/>
          <p:cNvSpPr/>
          <p:nvPr/>
        </p:nvSpPr>
        <p:spPr bwMode="auto">
          <a:xfrm>
            <a:off x="1511609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9" name="橢圓 28"/>
          <p:cNvSpPr/>
          <p:nvPr/>
        </p:nvSpPr>
        <p:spPr bwMode="auto">
          <a:xfrm>
            <a:off x="2951793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" name="橢圓 29"/>
          <p:cNvSpPr/>
          <p:nvPr/>
        </p:nvSpPr>
        <p:spPr bwMode="auto">
          <a:xfrm>
            <a:off x="1511609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1" name="橢圓 30"/>
          <p:cNvSpPr/>
          <p:nvPr/>
        </p:nvSpPr>
        <p:spPr bwMode="auto">
          <a:xfrm>
            <a:off x="2951793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>
            <a:stCxn id="29" idx="4"/>
            <a:endCxn id="31" idx="0"/>
          </p:cNvCxnSpPr>
          <p:nvPr/>
        </p:nvCxnSpPr>
        <p:spPr bwMode="auto">
          <a:xfrm>
            <a:off x="3131816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30" idx="0"/>
            <a:endCxn id="28" idx="4"/>
          </p:cNvCxnSpPr>
          <p:nvPr/>
        </p:nvCxnSpPr>
        <p:spPr bwMode="auto">
          <a:xfrm flipV="1">
            <a:off x="1691632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30" idx="6"/>
            <a:endCxn id="31" idx="2"/>
          </p:cNvCxnSpPr>
          <p:nvPr/>
        </p:nvCxnSpPr>
        <p:spPr bwMode="auto">
          <a:xfrm>
            <a:off x="1871655" y="216883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29" idx="3"/>
            <a:endCxn id="30" idx="7"/>
          </p:cNvCxnSpPr>
          <p:nvPr/>
        </p:nvCxnSpPr>
        <p:spPr bwMode="auto">
          <a:xfrm flipH="1">
            <a:off x="1818927" y="85595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31" idx="6"/>
            <a:endCxn id="29" idx="6"/>
          </p:cNvCxnSpPr>
          <p:nvPr/>
        </p:nvCxnSpPr>
        <p:spPr bwMode="auto">
          <a:xfrm flipV="1">
            <a:off x="3311839" y="72865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81850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方塊 22"/>
          <p:cNvSpPr txBox="1"/>
          <p:nvPr/>
        </p:nvSpPr>
        <p:spPr>
          <a:xfrm>
            <a:off x="7452368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472115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00427"/>
              </p:ext>
            </p:extLst>
          </p:nvPr>
        </p:nvGraphicFramePr>
        <p:xfrm>
          <a:off x="6192207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4752023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dirty="0"/>
              <a:t>D</a:t>
            </a:r>
            <a:r>
              <a:rPr lang="en-US" altLang="zh-TW" baseline="40000" dirty="0" smtClean="0"/>
              <a:t>(4</a:t>
            </a:r>
            <a:r>
              <a:rPr lang="en-US" altLang="zh-TW" baseline="40000" dirty="0"/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8" name="橢圓 27"/>
          <p:cNvSpPr/>
          <p:nvPr/>
        </p:nvSpPr>
        <p:spPr bwMode="auto">
          <a:xfrm>
            <a:off x="1511609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9" name="橢圓 28"/>
          <p:cNvSpPr/>
          <p:nvPr/>
        </p:nvSpPr>
        <p:spPr bwMode="auto">
          <a:xfrm>
            <a:off x="2951793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" name="橢圓 29"/>
          <p:cNvSpPr/>
          <p:nvPr/>
        </p:nvSpPr>
        <p:spPr bwMode="auto">
          <a:xfrm>
            <a:off x="1511609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1" name="橢圓 30"/>
          <p:cNvSpPr/>
          <p:nvPr/>
        </p:nvSpPr>
        <p:spPr bwMode="auto">
          <a:xfrm>
            <a:off x="2951793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>
            <a:stCxn id="29" idx="4"/>
            <a:endCxn id="31" idx="0"/>
          </p:cNvCxnSpPr>
          <p:nvPr/>
        </p:nvCxnSpPr>
        <p:spPr bwMode="auto">
          <a:xfrm>
            <a:off x="3131816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30" idx="0"/>
            <a:endCxn id="28" idx="4"/>
          </p:cNvCxnSpPr>
          <p:nvPr/>
        </p:nvCxnSpPr>
        <p:spPr bwMode="auto">
          <a:xfrm flipV="1">
            <a:off x="1691632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30" idx="6"/>
            <a:endCxn id="31" idx="2"/>
          </p:cNvCxnSpPr>
          <p:nvPr/>
        </p:nvCxnSpPr>
        <p:spPr bwMode="auto">
          <a:xfrm>
            <a:off x="1871655" y="216883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29" idx="3"/>
            <a:endCxn id="30" idx="7"/>
          </p:cNvCxnSpPr>
          <p:nvPr/>
        </p:nvCxnSpPr>
        <p:spPr bwMode="auto">
          <a:xfrm flipH="1">
            <a:off x="1818927" y="85595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31" idx="6"/>
            <a:endCxn id="29" idx="6"/>
          </p:cNvCxnSpPr>
          <p:nvPr/>
        </p:nvCxnSpPr>
        <p:spPr bwMode="auto">
          <a:xfrm flipV="1">
            <a:off x="3311839" y="72865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9" name="文字方塊 38"/>
          <p:cNvSpPr txBox="1"/>
          <p:nvPr/>
        </p:nvSpPr>
        <p:spPr>
          <a:xfrm>
            <a:off x="3491862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511609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82331"/>
              </p:ext>
            </p:extLst>
          </p:nvPr>
        </p:nvGraphicFramePr>
        <p:xfrm>
          <a:off x="2231701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43" name="文字方塊 42"/>
          <p:cNvSpPr txBox="1"/>
          <p:nvPr/>
        </p:nvSpPr>
        <p:spPr>
          <a:xfrm>
            <a:off x="791517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(4)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828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pPr indent="265113"/>
                <a:r>
                  <a:rPr lang="en-US" altLang="zh-TW" dirty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1 if there exists a path in graph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G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from node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with all intermediate nodes in the set {1, 2, </a:t>
                </a:r>
                <a:r>
                  <a:rPr lang="en-US" altLang="zh-TW" spc="300" dirty="0">
                    <a:solidFill>
                      <a:schemeClr val="bg1"/>
                    </a:solidFill>
                  </a:rPr>
                  <a:t>...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,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k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}, and 0 otherwise. We construct the transitive closure  by putting edge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into </a:t>
                </a:r>
                <a:r>
                  <a:rPr lang="en-US" altLang="zh-TW" i="1" spc="100" dirty="0">
                    <a:solidFill>
                      <a:schemeClr val="bg1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if and only 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chemeClr val="bg1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chemeClr val="bg1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chemeClr val="bg1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chemeClr val="bg1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chemeClr val="bg1"/>
                    </a:solidFill>
                  </a:rPr>
                  <a:t> is</a:t>
                </a:r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chemeClr val="bg1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chemeClr val="bg1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chemeClr val="bg1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chemeClr val="bg1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t="-781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6732276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8172460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732276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72460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8352483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912299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7092322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8532506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7092322" y="4689161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7632391" y="5589276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6732275" y="4509139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8352483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912299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8352483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912299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305819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pPr indent="265113"/>
                <a:r>
                  <a:rPr lang="en-US" altLang="zh-TW" dirty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1 if there exists a path in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and 0 otherwise. We construct the transitive closure  by putting edge 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/>
                  <a:t> into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/>
                  <a:t> if 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is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chemeClr val="bg1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chemeClr val="bg1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chemeClr val="bg1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t="-781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6732276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8172460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732276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72460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8352483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912299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7092322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8532506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7092322" y="4689161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7632391" y="5589276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6732275" y="4509139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8352483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912299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8352483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912299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357875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pPr indent="265113"/>
                <a:r>
                  <a:rPr lang="en-US" altLang="zh-TW" dirty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1 if there exists a path in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and 0 otherwise. We construct the transitive closure  by putting edge 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/>
                  <a:t> into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/>
                  <a:t> if 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is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chemeClr val="bg1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chemeClr val="bg1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chemeClr val="bg1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chemeClr val="bg1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t="-781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6732276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8172460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732276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72460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8352483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912299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7092322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8532506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7092322" y="4689161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7632391" y="5589276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6732275" y="4509139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8352483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912299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8352483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912299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7750380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pPr indent="265113"/>
                <a:r>
                  <a:rPr lang="en-US" altLang="zh-TW" dirty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1 if there exists a path in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and 0 otherwise. We construct the transitive closure  by putting edge 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/>
                  <a:t> into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/>
                  <a:t> if 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is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t="-781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6732276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8172460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732276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72460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8352483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912299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7092322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8532506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7092322" y="4689161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7632391" y="5589276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6732275" y="4509139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8352483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912299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8352483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912299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2482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000000"/>
                    </a:solidFill>
                  </a:rPr>
                  <a:t>Given a directed graph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node set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}, we might wish to determine whether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contains a path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node pairs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We define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transitive closure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as the graph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G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 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where</a:t>
                </a:r>
              </a:p>
              <a:p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{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: there is a path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}.</a:t>
                </a:r>
              </a:p>
              <a:p>
                <a:pPr indent="265113"/>
                <a:r>
                  <a:rPr lang="en-US" altLang="zh-TW" dirty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1 if there exists a path in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and 0 otherwise. We construct the transitive closure  by putting edge 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/>
                  <a:t> into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/>
                  <a:t> if 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is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t="-781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6732276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8172460" y="4509138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732276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72460" y="594932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8352483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912299" y="4869184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7092322" y="6129345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8532506" y="4689161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7092322" y="4689161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7632391" y="5589276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7039594" y="4816456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6732275" y="4509139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8352483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912299" y="6129345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8352483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912299" y="4434571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30933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</p:spPr>
            <p:txBody>
              <a:bodyPr/>
              <a:lstStyle/>
              <a:p>
                <a:pPr indent="265113"/>
                <a:r>
                  <a:rPr lang="en-US" altLang="zh-TW" dirty="0" smtClean="0"/>
                  <a:t>For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/>
                  <a:t>, we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to</a:t>
                </a:r>
                <a:r>
                  <a:rPr lang="en-US" altLang="zh-TW" dirty="0"/>
                  <a:t> be 1 if there exists a path in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all intermediate nodes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and 0 otherwise. We construct the transitive closure  by putting edge 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, </a:t>
                </a:r>
                <a:r>
                  <a:rPr lang="en-US" altLang="zh-TW" i="1" spc="3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)</a:t>
                </a:r>
                <a:r>
                  <a:rPr lang="en-US" altLang="zh-TW" dirty="0"/>
                  <a:t> into </a:t>
                </a:r>
                <a:r>
                  <a:rPr lang="en-US" altLang="zh-TW" i="1" spc="100" dirty="0">
                    <a:solidFill>
                      <a:srgbClr val="000000"/>
                    </a:solidFill>
                    <a:latin typeface="Times New Roman"/>
                    <a:ea typeface="新細明體"/>
                  </a:rPr>
                  <a:t>E</a:t>
                </a:r>
                <a:r>
                  <a:rPr lang="en-US" altLang="zh-TW" sz="2800" baseline="2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∗</a:t>
                </a:r>
                <a:r>
                  <a:rPr lang="en-US" altLang="zh-TW" dirty="0"/>
                  <a:t> if 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b="0" i="1" dirty="0" smtClean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 A recursive definition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is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dirty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</a:rPr>
                                  <m:t>)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)</m:t>
                                </m:r>
                                <m:r>
                                  <a:rPr lang="en-US" altLang="zh-TW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新細明體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and for </a:t>
                </a:r>
                <a:r>
                  <a:rPr lang="en-US" altLang="zh-TW" i="1" dirty="0">
                    <a:solidFill>
                      <a:srgbClr val="000000"/>
                    </a:solidFill>
                    <a:latin typeface="Times New Roman"/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dirty="0">
                    <a:solidFill>
                      <a:srgbClr val="000000"/>
                    </a:solidFill>
                    <a:latin typeface="Times New Roman"/>
                  </a:rPr>
                  <a:t> 1,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b="0" i="1" spc="10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1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spc="150" dirty="0">
                                  <a:solidFill>
                                    <a:srgbClr val="000000"/>
                                  </a:solidFill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 smtClean="0">
                  <a:solidFill>
                    <a:srgbClr val="000000"/>
                  </a:solidFill>
                </a:endParaRPr>
              </a:p>
              <a:p>
                <a:endParaRPr lang="en-US" altLang="zh-TW" dirty="0" smtClean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b="0" i="0" dirty="0" smtClean="0">
                              <a:solidFill>
                                <a:srgbClr val="000000"/>
                              </a:solidFill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i="1" spc="10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b="0" i="0" spc="10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b="0" i="0" dirty="0" smtClean="0">
                                  <a:solidFill>
                                    <a:srgbClr val="000000"/>
                                  </a:solidFill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dirty="0">
                                  <a:solidFill>
                                    <a:srgbClr val="000000"/>
                                  </a:solidFill>
                                  <a:latin typeface="Times New Roman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680598"/>
              </a:xfrm>
              <a:blipFill>
                <a:blip r:embed="rId2"/>
                <a:stretch>
                  <a:fillRect l="-810" r="-13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/>
          <p:cNvSpPr/>
          <p:nvPr/>
        </p:nvSpPr>
        <p:spPr bwMode="auto">
          <a:xfrm>
            <a:off x="5832161" y="3969069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7272345" y="3969069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5832161" y="5409253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7272345" y="5409253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8" name="直線單箭頭接點 7"/>
          <p:cNvCxnSpPr>
            <a:stCxn id="5" idx="4"/>
            <a:endCxn id="7" idx="0"/>
          </p:cNvCxnSpPr>
          <p:nvPr/>
        </p:nvCxnSpPr>
        <p:spPr bwMode="auto">
          <a:xfrm>
            <a:off x="7452368" y="4329115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6" idx="0"/>
            <a:endCxn id="4" idx="4"/>
          </p:cNvCxnSpPr>
          <p:nvPr/>
        </p:nvCxnSpPr>
        <p:spPr bwMode="auto">
          <a:xfrm flipV="1">
            <a:off x="6012184" y="4329115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6" idx="6"/>
            <a:endCxn id="7" idx="2"/>
          </p:cNvCxnSpPr>
          <p:nvPr/>
        </p:nvCxnSpPr>
        <p:spPr bwMode="auto">
          <a:xfrm>
            <a:off x="6192207" y="5589276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3"/>
            <a:endCxn id="6" idx="7"/>
          </p:cNvCxnSpPr>
          <p:nvPr/>
        </p:nvCxnSpPr>
        <p:spPr bwMode="auto">
          <a:xfrm flipH="1">
            <a:off x="6139479" y="4276387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弧形接點 11"/>
          <p:cNvCxnSpPr>
            <a:stCxn id="7" idx="6"/>
            <a:endCxn id="5" idx="6"/>
          </p:cNvCxnSpPr>
          <p:nvPr/>
        </p:nvCxnSpPr>
        <p:spPr bwMode="auto">
          <a:xfrm flipV="1">
            <a:off x="7632391" y="4149092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5" idx="2"/>
            <a:endCxn id="4" idx="6"/>
          </p:cNvCxnSpPr>
          <p:nvPr/>
        </p:nvCxnSpPr>
        <p:spPr bwMode="auto">
          <a:xfrm flipH="1">
            <a:off x="6192207" y="4149092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弧形接點 13"/>
          <p:cNvCxnSpPr>
            <a:stCxn id="7" idx="4"/>
            <a:endCxn id="6" idx="4"/>
          </p:cNvCxnSpPr>
          <p:nvPr/>
        </p:nvCxnSpPr>
        <p:spPr bwMode="auto">
          <a:xfrm rot="5400000">
            <a:off x="6732276" y="5049207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7" idx="1"/>
            <a:endCxn id="4" idx="5"/>
          </p:cNvCxnSpPr>
          <p:nvPr/>
        </p:nvCxnSpPr>
        <p:spPr bwMode="auto">
          <a:xfrm flipH="1" flipV="1">
            <a:off x="6139479" y="4276387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弧形接點 15"/>
          <p:cNvCxnSpPr>
            <a:stCxn id="6" idx="2"/>
            <a:endCxn id="5" idx="0"/>
          </p:cNvCxnSpPr>
          <p:nvPr/>
        </p:nvCxnSpPr>
        <p:spPr bwMode="auto">
          <a:xfrm rot="10800000" flipH="1">
            <a:off x="5832160" y="3969070"/>
            <a:ext cx="1620207" cy="1620207"/>
          </a:xfrm>
          <a:prstGeom prst="curvedConnector4">
            <a:avLst>
              <a:gd name="adj1" fmla="val -30509"/>
              <a:gd name="adj2" fmla="val 134369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7" name="弧形接點 16"/>
          <p:cNvCxnSpPr>
            <a:stCxn id="7" idx="3"/>
            <a:endCxn id="7" idx="5"/>
          </p:cNvCxnSpPr>
          <p:nvPr/>
        </p:nvCxnSpPr>
        <p:spPr bwMode="auto">
          <a:xfrm rot="16200000" flipH="1">
            <a:off x="7452368" y="5589276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8" name="弧形接點 17"/>
          <p:cNvCxnSpPr>
            <a:stCxn id="6" idx="5"/>
            <a:endCxn id="6" idx="3"/>
          </p:cNvCxnSpPr>
          <p:nvPr/>
        </p:nvCxnSpPr>
        <p:spPr bwMode="auto">
          <a:xfrm rot="5400000">
            <a:off x="6012184" y="5589276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9" name="弧形接點 18"/>
          <p:cNvCxnSpPr>
            <a:stCxn id="5" idx="1"/>
            <a:endCxn id="5" idx="7"/>
          </p:cNvCxnSpPr>
          <p:nvPr/>
        </p:nvCxnSpPr>
        <p:spPr bwMode="auto">
          <a:xfrm rot="5400000" flipH="1" flipV="1">
            <a:off x="7452368" y="3894502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4" idx="7"/>
            <a:endCxn id="4" idx="1"/>
          </p:cNvCxnSpPr>
          <p:nvPr/>
        </p:nvCxnSpPr>
        <p:spPr bwMode="auto">
          <a:xfrm rot="16200000" flipV="1">
            <a:off x="6012184" y="3894502"/>
            <a:ext cx="12700" cy="254590"/>
          </a:xfrm>
          <a:prstGeom prst="curvedConnector3">
            <a:avLst>
              <a:gd name="adj1" fmla="val 221518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296594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TransitiveClosure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i == j ||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adjMatrix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[ i ][ j ]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t[ 0 ][ i ][ j ] = 1;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t[ 0 ][ i ][ j ] = 0;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k ][ i ][ j ] = t[ k - 1 ][ i ][ j ] || </a:t>
            </a: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  ( t[ k - 1 ][ i ][ k ] &amp;&amp;</a:t>
            </a:r>
          </a:p>
          <a:p>
            <a:r>
              <a:rPr lang="de-DE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    t[ k - 1 ][ k ][ j ]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112069" y="2348862"/>
                <a:ext cx="3600000" cy="54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0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69" y="2348862"/>
                <a:ext cx="3600000" cy="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112069" y="1268724"/>
                <a:ext cx="3780000" cy="90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 kern="0" spc="3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 </m:t>
                                </m:r>
                                <m:r>
                                  <a:rPr lang="en-US" altLang="zh-TW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69" y="1268724"/>
                <a:ext cx="3780000" cy="90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4026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3491862" y="2708908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511609" y="2708908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36072"/>
              </p:ext>
            </p:extLst>
          </p:nvPr>
        </p:nvGraphicFramePr>
        <p:xfrm>
          <a:off x="2231701" y="2888931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1517" y="3248977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(1)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452368" y="548632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472115" y="548632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05963"/>
              </p:ext>
            </p:extLst>
          </p:nvPr>
        </p:nvGraphicFramePr>
        <p:xfrm>
          <a:off x="6192207" y="728655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4752023" y="1088701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(0)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52368" y="2708908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472115" y="2708908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84861"/>
              </p:ext>
            </p:extLst>
          </p:nvPr>
        </p:nvGraphicFramePr>
        <p:xfrm>
          <a:off x="6192207" y="2888931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4752023" y="3248977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(2)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491862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11609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874273"/>
              </p:ext>
            </p:extLst>
          </p:nvPr>
        </p:nvGraphicFramePr>
        <p:xfrm>
          <a:off x="2231701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791517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(3)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52368" y="4689161"/>
            <a:ext cx="900000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6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472115" y="4689161"/>
            <a:ext cx="900115" cy="1800000"/>
          </a:xfrm>
          <a:prstGeom prst="rect">
            <a:avLst/>
          </a:prstGeom>
          <a:noFill/>
        </p:spPr>
        <p:txBody>
          <a:bodyPr wrap="square" tIns="133200" bIns="0" rtlCol="0">
            <a:noAutofit/>
          </a:bodyPr>
          <a:lstStyle/>
          <a:p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6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5700"/>
              </a:lnSpc>
            </a:pPr>
            <a:r>
              <a:rPr lang="zh-TW" altLang="en-US" sz="60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6000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41286"/>
              </p:ext>
            </p:extLst>
          </p:nvPr>
        </p:nvGraphicFramePr>
        <p:xfrm>
          <a:off x="6192207" y="48691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4752023" y="5229230"/>
            <a:ext cx="1260161" cy="720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ctr"/>
            <a:r>
              <a:rPr lang="en-US" altLang="zh-TW" i="1" spc="500" dirty="0"/>
              <a:t>T</a:t>
            </a:r>
            <a:r>
              <a:rPr lang="en-US" altLang="zh-TW" baseline="40000" dirty="0"/>
              <a:t>(4)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TW" altLang="en-US" sz="9600" dirty="0">
              <a:latin typeface="Cambria Math" panose="02040503050406030204" pitchFamily="18" charset="0"/>
            </a:endParaRPr>
          </a:p>
        </p:txBody>
      </p:sp>
      <p:sp>
        <p:nvSpPr>
          <p:cNvPr id="28" name="橢圓 27"/>
          <p:cNvSpPr/>
          <p:nvPr/>
        </p:nvSpPr>
        <p:spPr bwMode="auto">
          <a:xfrm>
            <a:off x="1511609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9" name="橢圓 28"/>
          <p:cNvSpPr/>
          <p:nvPr/>
        </p:nvSpPr>
        <p:spPr bwMode="auto">
          <a:xfrm>
            <a:off x="2951793" y="548632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" name="橢圓 29"/>
          <p:cNvSpPr/>
          <p:nvPr/>
        </p:nvSpPr>
        <p:spPr bwMode="auto">
          <a:xfrm>
            <a:off x="1511609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1" name="橢圓 30"/>
          <p:cNvSpPr/>
          <p:nvPr/>
        </p:nvSpPr>
        <p:spPr bwMode="auto">
          <a:xfrm>
            <a:off x="2951793" y="1988816"/>
            <a:ext cx="360046" cy="360046"/>
          </a:xfrm>
          <a:prstGeom prst="ellips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32" name="直線單箭頭接點 31"/>
          <p:cNvCxnSpPr>
            <a:stCxn id="29" idx="4"/>
            <a:endCxn id="31" idx="0"/>
          </p:cNvCxnSpPr>
          <p:nvPr/>
        </p:nvCxnSpPr>
        <p:spPr bwMode="auto">
          <a:xfrm>
            <a:off x="3131816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30" idx="0"/>
            <a:endCxn id="28" idx="4"/>
          </p:cNvCxnSpPr>
          <p:nvPr/>
        </p:nvCxnSpPr>
        <p:spPr bwMode="auto">
          <a:xfrm flipV="1">
            <a:off x="1691632" y="908678"/>
            <a:ext cx="0" cy="10801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30" idx="6"/>
            <a:endCxn id="31" idx="2"/>
          </p:cNvCxnSpPr>
          <p:nvPr/>
        </p:nvCxnSpPr>
        <p:spPr bwMode="auto">
          <a:xfrm>
            <a:off x="1871655" y="2168839"/>
            <a:ext cx="108013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29" idx="3"/>
            <a:endCxn id="30" idx="7"/>
          </p:cNvCxnSpPr>
          <p:nvPr/>
        </p:nvCxnSpPr>
        <p:spPr bwMode="auto">
          <a:xfrm flipH="1">
            <a:off x="1818927" y="855950"/>
            <a:ext cx="1185594" cy="11855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31" idx="6"/>
            <a:endCxn id="29" idx="6"/>
          </p:cNvCxnSpPr>
          <p:nvPr/>
        </p:nvCxnSpPr>
        <p:spPr bwMode="auto">
          <a:xfrm flipV="1">
            <a:off x="3311839" y="728655"/>
            <a:ext cx="12700" cy="144018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7043877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Transitive Closure of a Directed Graph</a:t>
            </a:r>
            <a:endParaRPr lang="zh-TW" altLang="en-US" sz="40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378048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TransitiveClosure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pPr>
              <a:spcBef>
                <a:spcPts val="0"/>
              </a:spcBef>
            </a:pP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i == j ||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adjMatrix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[ i ][ j ] 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i ][ j ] = 1;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i ][ j ] = 0;</a:t>
            </a:r>
          </a:p>
          <a:p>
            <a:pPr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k++ )</a:t>
            </a:r>
          </a:p>
          <a:p>
            <a:pPr>
              <a:spcBef>
                <a:spcPts val="0"/>
              </a:spcBef>
            </a:pP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pPr>
              <a:spcBef>
                <a:spcPts val="0"/>
              </a:spcBef>
            </a:pPr>
            <a:r>
              <a:rPr lang="de-DE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t[ i ][ j ] = t[ i ][ j ] || </a:t>
            </a:r>
            <a:endParaRPr lang="de-DE" altLang="zh-TW" dirty="0" smtClean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de-DE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de-DE" altLang="zh-TW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( </a:t>
            </a:r>
            <a:r>
              <a:rPr lang="de-DE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t[ i ][ k ] &amp;&amp; t[ k ][ j ] );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411724" y="5589276"/>
                <a:ext cx="3600000" cy="540000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kern="0" spc="10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kern="0" spc="10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kern="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kern="0" spc="15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TW" sz="1600" kern="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d>
                        <m:dPr>
                          <m:ctrlP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sz="2000" i="1" kern="0" spc="10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kern="0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2000" kern="0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kern="0" spc="15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TW" sz="2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20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TW" sz="2000" i="1" kern="0" spc="10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sz="1600" i="1" kern="0" spc="10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zh-TW" sz="2000" kern="0" spc="-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i="1" kern="0" spc="15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TW" sz="1600" kern="0" dirty="0">
                                  <a:solidFill>
                                    <a:srgbClr val="000000"/>
                                  </a:solidFill>
                                  <a:latin typeface="Times New Roman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24" y="5589276"/>
                <a:ext cx="3600000" cy="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736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Floyd-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FloydWarshall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w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= min(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],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+ d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[k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nn-NO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1"/>
              <p:cNvSpPr txBox="1">
                <a:spLocks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000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Tx/>
                  <a:buNone/>
                  <a:defRPr kumimoji="1" sz="160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None/>
                  <a:tabLst>
                    <a:tab pos="357188" algn="l"/>
                    <a:tab pos="715963" algn="l"/>
                    <a:tab pos="1079500" algn="l"/>
                    <a:tab pos="17049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TW" sz="2000" b="0" i="1" u="none" strike="noStrike" kern="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10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zh-TW" sz="2000" b="0" i="0" u="none" strike="noStrike" kern="0" cap="none" spc="-3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kumimoji="1" lang="en-US" altLang="zh-TW" sz="2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TW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TW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1" lang="en-US" altLang="zh-TW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1" lang="en-US" altLang="zh-TW" sz="1600" b="0" i="1" u="none" strike="noStrike" kern="0" cap="none" spc="10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1" lang="en-US" altLang="zh-TW" sz="1600" b="0" i="1" u="none" strike="noStrike" kern="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kumimoji="1" lang="en-US" altLang="zh-TW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kumimoji="1" lang="en-US" altLang="zh-TW" sz="20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1" u="none" strike="noStrike" kern="0" cap="none" spc="1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0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0" u="none" strike="noStrike" kern="0" cap="none" spc="-3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5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kumimoji="1" lang="en-US" altLang="zh-TW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Times New Roman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kumimoji="1" lang="en-US" altLang="zh-TW" sz="20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1" u="none" strike="noStrike" kern="0" cap="none" spc="1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0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0" u="none" strike="noStrike" kern="0" cap="none" spc="-3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5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kumimoji="1" lang="en-US" altLang="zh-TW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kumimoji="1" lang="en-US" altLang="zh-TW" sz="20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1" u="none" strike="noStrike" kern="0" cap="none" spc="1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0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2000" b="0" i="0" u="none" strike="noStrike" kern="0" cap="none" spc="-3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1" u="none" strike="noStrike" kern="0" cap="none" spc="15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kumimoji="1" lang="en-US" altLang="zh-TW" sz="1600" b="0" i="0" u="none" strike="noStrike" kern="0" cap="none" spc="0" normalizeH="0" baseline="0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kumimoji="1" lang="en-US" altLang="zh-TW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TW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32" y="5229230"/>
                <a:ext cx="576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748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Minimax and </a:t>
            </a:r>
            <a:r>
              <a:rPr lang="en-US" altLang="zh-TW" dirty="0" err="1"/>
              <a:t>Maximin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2160276"/>
          </a:xfrm>
        </p:spPr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minimax path problem</a:t>
            </a:r>
            <a:r>
              <a:rPr lang="en-US" altLang="zh-TW" dirty="0"/>
              <a:t> is a problem of finding the minimum of maximum edge weight among all possible paths </a:t>
            </a:r>
            <a:r>
              <a:rPr lang="en-US" altLang="zh-TW" dirty="0">
                <a:solidFill>
                  <a:srgbClr val="000000"/>
                </a:solidFill>
              </a:rPr>
              <a:t>from node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to node </a:t>
            </a:r>
            <a:r>
              <a:rPr lang="en-US" altLang="zh-TW" i="1" dirty="0"/>
              <a:t>j</a:t>
            </a:r>
            <a:r>
              <a:rPr lang="en-US" altLang="zh-TW" dirty="0"/>
              <a:t>. The cost for a path from </a:t>
            </a:r>
            <a:r>
              <a:rPr lang="en-US" altLang="zh-TW" i="1" dirty="0"/>
              <a:t>i</a:t>
            </a:r>
            <a:r>
              <a:rPr lang="en-US" altLang="zh-TW" dirty="0"/>
              <a:t> to </a:t>
            </a:r>
            <a:r>
              <a:rPr lang="en-US" altLang="zh-TW" i="1" dirty="0"/>
              <a:t>j</a:t>
            </a:r>
            <a:r>
              <a:rPr lang="en-US" altLang="zh-TW" dirty="0"/>
              <a:t> is determined by the maximum edge weight along this path. Among all these possible paths from </a:t>
            </a:r>
            <a:r>
              <a:rPr lang="en-US" altLang="zh-TW" i="1" dirty="0"/>
              <a:t>i</a:t>
            </a:r>
            <a:r>
              <a:rPr lang="en-US" altLang="zh-TW" dirty="0"/>
              <a:t> to </a:t>
            </a:r>
            <a:r>
              <a:rPr lang="en-US" altLang="zh-TW" i="1" dirty="0"/>
              <a:t>j</a:t>
            </a:r>
            <a:r>
              <a:rPr lang="en-US" altLang="zh-TW" dirty="0"/>
              <a:t>, pick the one with the minimum max-edge-weight. The reverse problem of maximum is defined similarly.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7092322" y="3789046"/>
            <a:ext cx="1080138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⎞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⎠</a:t>
            </a:r>
            <a:endParaRPr lang="zh-TW" altLang="en-US" sz="7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572000" y="3789046"/>
            <a:ext cx="1080137" cy="2160000"/>
          </a:xfrm>
          <a:prstGeom prst="rect">
            <a:avLst/>
          </a:prstGeom>
          <a:noFill/>
        </p:spPr>
        <p:txBody>
          <a:bodyPr wrap="square" tIns="133200" bIns="0" rtlCol="0">
            <a:spAutoFit/>
          </a:bodyPr>
          <a:lstStyle/>
          <a:p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⎛</a:t>
            </a:r>
            <a:endParaRPr lang="en-US" altLang="zh-TW" sz="7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ts val="6900"/>
              </a:lnSpc>
            </a:pPr>
            <a:r>
              <a:rPr lang="zh-TW" altLang="en-US" sz="7200" dirty="0">
                <a:latin typeface="Yu Gothic" panose="020B0400000000000000" pitchFamily="34" charset="-128"/>
                <a:ea typeface="Yu Gothic" panose="020B0400000000000000" pitchFamily="34" charset="-128"/>
              </a:rPr>
              <a:t>⎝</a:t>
            </a:r>
            <a:endParaRPr lang="zh-TW" altLang="en-US" sz="72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27568"/>
              </p:ext>
            </p:extLst>
          </p:nvPr>
        </p:nvGraphicFramePr>
        <p:xfrm>
          <a:off x="5472115" y="3969069"/>
          <a:ext cx="18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239413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407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2595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21593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57445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655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1772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7757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lang="en-US" altLang="zh-TW" sz="2000" dirty="0">
                          <a:latin typeface="+mn-lt"/>
                        </a:rPr>
                        <a:t>5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4888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6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0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663573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>
            <a:endCxn id="13" idx="1"/>
          </p:cNvCxnSpPr>
          <p:nvPr/>
        </p:nvCxnSpPr>
        <p:spPr bwMode="auto">
          <a:xfrm>
            <a:off x="2951793" y="3789046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endCxn id="12" idx="7"/>
          </p:cNvCxnSpPr>
          <p:nvPr/>
        </p:nvCxnSpPr>
        <p:spPr bwMode="auto">
          <a:xfrm flipH="1">
            <a:off x="2358996" y="3789046"/>
            <a:ext cx="592797" cy="2032981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 bwMode="auto">
          <a:xfrm>
            <a:off x="2771770" y="3609023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2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2051678" y="432911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1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橢圓 10"/>
          <p:cNvSpPr/>
          <p:nvPr/>
        </p:nvSpPr>
        <p:spPr bwMode="auto">
          <a:xfrm>
            <a:off x="3491862" y="4329115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3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2051678" y="576929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5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3" name="橢圓 12"/>
          <p:cNvSpPr/>
          <p:nvPr/>
        </p:nvSpPr>
        <p:spPr bwMode="auto">
          <a:xfrm>
            <a:off x="3491862" y="5769299"/>
            <a:ext cx="360046" cy="360046"/>
          </a:xfrm>
          <a:prstGeom prst="ellips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</a:rPr>
              <a:t>4</a:t>
            </a:r>
            <a:endParaRPr kumimoji="1" lang="zh-TW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14" name="直線單箭頭接點 13"/>
          <p:cNvCxnSpPr>
            <a:stCxn id="10" idx="7"/>
            <a:endCxn id="9" idx="3"/>
          </p:cNvCxnSpPr>
          <p:nvPr/>
        </p:nvCxnSpPr>
        <p:spPr bwMode="auto">
          <a:xfrm flipV="1">
            <a:off x="2358996" y="3916341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11" idx="1"/>
            <a:endCxn id="9" idx="5"/>
          </p:cNvCxnSpPr>
          <p:nvPr/>
        </p:nvCxnSpPr>
        <p:spPr bwMode="auto">
          <a:xfrm flipH="1" flipV="1">
            <a:off x="3079088" y="3916341"/>
            <a:ext cx="465502" cy="465502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6"/>
            <a:endCxn id="11" idx="2"/>
          </p:cNvCxnSpPr>
          <p:nvPr/>
        </p:nvCxnSpPr>
        <p:spPr bwMode="auto">
          <a:xfrm>
            <a:off x="2411724" y="4509138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3" idx="0"/>
            <a:endCxn id="11" idx="4"/>
          </p:cNvCxnSpPr>
          <p:nvPr/>
        </p:nvCxnSpPr>
        <p:spPr bwMode="auto">
          <a:xfrm flipV="1">
            <a:off x="3671885" y="4689161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0" idx="4"/>
            <a:endCxn id="12" idx="0"/>
          </p:cNvCxnSpPr>
          <p:nvPr/>
        </p:nvCxnSpPr>
        <p:spPr bwMode="auto">
          <a:xfrm>
            <a:off x="2231701" y="4689161"/>
            <a:ext cx="0" cy="1080138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6"/>
            <a:endCxn id="13" idx="2"/>
          </p:cNvCxnSpPr>
          <p:nvPr/>
        </p:nvCxnSpPr>
        <p:spPr bwMode="auto">
          <a:xfrm>
            <a:off x="2411724" y="5949322"/>
            <a:ext cx="1080138" cy="0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1"/>
            <a:endCxn id="10" idx="5"/>
          </p:cNvCxnSpPr>
          <p:nvPr/>
        </p:nvCxnSpPr>
        <p:spPr bwMode="auto">
          <a:xfrm flipH="1" flipV="1">
            <a:off x="2358996" y="4636433"/>
            <a:ext cx="1185594" cy="1185594"/>
          </a:xfrm>
          <a:prstGeom prst="straightConnector1">
            <a:avLst/>
          </a:prstGeom>
          <a:ln w="19050"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2231701" y="3789046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3</a:t>
            </a:r>
            <a:endParaRPr lang="zh-TW" altLang="en-US" sz="1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691632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4</a:t>
            </a:r>
            <a:endParaRPr lang="zh-TW" altLang="en-US" sz="18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671884" y="5049207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1800" dirty="0"/>
              <a:t>5</a:t>
            </a:r>
            <a:endParaRPr lang="zh-TW" altLang="en-US" sz="18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771770" y="5949322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6</a:t>
            </a:r>
            <a:endParaRPr lang="zh-TW" altLang="en-US" sz="18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411724" y="5409253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7</a:t>
            </a:r>
            <a:endParaRPr lang="zh-TW" altLang="en-US" sz="18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591747" y="5049207"/>
            <a:ext cx="540069" cy="540023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2</a:t>
            </a:r>
            <a:endParaRPr lang="zh-TW" altLang="en-US" sz="1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771770" y="4509138"/>
            <a:ext cx="36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8</a:t>
            </a:r>
            <a:endParaRPr lang="zh-TW" altLang="en-US" sz="1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131816" y="4689161"/>
            <a:ext cx="540000" cy="360000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/>
            <a:r>
              <a:rPr lang="en-US" altLang="zh-TW" sz="1800" dirty="0"/>
              <a:t>1</a:t>
            </a:r>
            <a:endParaRPr lang="zh-TW" altLang="en-US" sz="1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131816" y="3789046"/>
            <a:ext cx="540000" cy="540000"/>
          </a:xfrm>
          <a:prstGeom prst="rect">
            <a:avLst/>
          </a:prstGeom>
          <a:noFill/>
        </p:spPr>
        <p:txBody>
          <a:bodyPr wrap="square" tIns="36000" bIns="36000" rtlCol="0" anchor="ctr" anchorCtr="1">
            <a:noAutofit/>
          </a:bodyPr>
          <a:lstStyle/>
          <a:p>
            <a:pPr algn="ctr"/>
            <a:r>
              <a:rPr lang="en-US" altLang="zh-TW" sz="1800" dirty="0"/>
              <a:t>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66237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Minimax and </a:t>
            </a:r>
            <a:r>
              <a:rPr lang="en-US" altLang="zh-TW" dirty="0" err="1"/>
              <a:t>Maximin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860620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be </a:t>
                </a:r>
                <a:r>
                  <a:rPr lang="en-US" altLang="zh-TW" dirty="0"/>
                  <a:t>the weight of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minimum of maximum edge weight among all possible paths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Following the above discussion, we </a:t>
                </a:r>
                <a:r>
                  <a:rPr lang="en-US" altLang="zh-TW" dirty="0" smtClean="0"/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recursively </a:t>
                </a:r>
                <a:r>
                  <a:rPr lang="en-US" altLang="zh-TW" dirty="0"/>
                  <a:t>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mtClean="0">
                                    <a:solidFill>
                                      <a:schemeClr val="bg1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chemeClr val="bg1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chemeClr val="bg1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chemeClr val="bg1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chemeClr val="bg1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chemeClr val="bg1"/>
                                            </a:solidFill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chemeClr val="bg1"/>
                                            </a:solidFill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chemeClr val="bg1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chemeClr val="bg1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max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TW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k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pc="-30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50" dirty="0">
                                                <a:solidFill>
                                                  <a:schemeClr val="bg1"/>
                                                </a:solidFill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chemeClr val="bg1"/>
                                            </a:solidFill>
                                          </a:rPr>
                                          <m:t>, 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TW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j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pc="-30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50" dirty="0">
                                                <a:solidFill>
                                                  <a:schemeClr val="bg1"/>
                                                </a:solidFill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Times New Roman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gives</a:t>
                </a:r>
                <a:r>
                  <a:rPr lang="en-US" altLang="zh-TW" dirty="0"/>
                  <a:t> the final answer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minimum of maximum edge weight among all possible paths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dirty="0"/>
                  <a:t>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860620"/>
              </a:xfrm>
              <a:blipFill>
                <a:blip r:embed="rId2"/>
                <a:stretch>
                  <a:fillRect l="-810" r="-1325" b="-2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5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Minimax and </a:t>
            </a:r>
            <a:r>
              <a:rPr lang="en-US" altLang="zh-TW" dirty="0" err="1"/>
              <a:t>Maximin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7" cy="4860620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be </a:t>
                </a:r>
                <a:r>
                  <a:rPr lang="en-US" altLang="zh-TW" dirty="0"/>
                  <a:t>the weight of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minimum of maximum edge weight among all possible paths</a:t>
                </a:r>
                <a:r>
                  <a:rPr lang="en-US" altLang="zh-TW" dirty="0"/>
                  <a:t>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for which all intermediate nodes are in the set {1, 2, </a:t>
                </a:r>
                <a:r>
                  <a:rPr lang="en-US" altLang="zh-TW" spc="300" dirty="0"/>
                  <a:t>...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}. When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0, a path from node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to node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with no intermediate node numbered higher than 0 has no intermediate nodes at all. Such a path has at most one edge, and hence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(0)</m:t>
                        </m:r>
                      </m:sup>
                    </m:sSub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  <a:latin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Following the above discussion, we </a:t>
                </a:r>
                <a:r>
                  <a:rPr lang="en-US" altLang="zh-TW" dirty="0" smtClean="0"/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recursively </a:t>
                </a:r>
                <a:r>
                  <a:rPr lang="en-US" altLang="zh-TW" dirty="0"/>
                  <a:t>by</a:t>
                </a:r>
              </a:p>
              <a:p>
                <a:pPr lvl="0">
                  <a:spcBef>
                    <a:spcPts val="120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i="1" spc="10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1600" i="1" spc="1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sz="1600" dirty="0">
                              <a:solidFill>
                                <a:srgbClr val="000000"/>
                              </a:solidFill>
                              <a:latin typeface="Times New Roman"/>
                            </a:rPr>
                            <m:t>)</m:t>
                          </m:r>
                        </m:sup>
                      </m:sSubSup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sz="1600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1600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k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</a:rPr>
                                      <m:t>max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TW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k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pc="-3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50" dirty="0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, 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TW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j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pc="-3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i="1" spc="150" dirty="0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16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k</m:t>
                                </m:r>
                                <m:r>
                                  <a:rPr lang="en-US" altLang="zh-TW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TW" dirty="0"/>
                  <a:t>Because for any path, all intermediate nodes are in the set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...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/>
                  <a:t>, the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zh-TW" i="1" spc="10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1600" i="1" spc="1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TW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  <a:latin typeface="Times New Roman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>
                    <a:solidFill>
                      <a:srgbClr val="000000"/>
                    </a:solidFill>
                  </a:rPr>
                  <a:t> gives</a:t>
                </a:r>
                <a:r>
                  <a:rPr lang="en-US" altLang="zh-TW" dirty="0"/>
                  <a:t> the final answer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 spc="100">
                            <a:solidFill>
                              <a:srgbClr val="000000"/>
                            </a:solidFill>
                            <a:latin typeface="Times New Roman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1600" i="1" spc="1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j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pc="-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Times New Roman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minimum of maximum edge weight among all possible paths 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dirty="0"/>
                  <a:t>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7" cy="4860620"/>
              </a:xfrm>
              <a:blipFill>
                <a:blip r:embed="rId2"/>
                <a:stretch>
                  <a:fillRect l="-810" r="-1325" b="-2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6416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Minimax and </a:t>
            </a:r>
            <a:r>
              <a:rPr lang="en-US" altLang="zh-TW" dirty="0" err="1"/>
              <a:t>Maximin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void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miniMax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{</a:t>
                </a:r>
              </a:p>
              <a:p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</a:t>
                </a:r>
                <a:r>
                  <a:rPr lang="nn-NO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for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nn-NO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i = 1; i &lt;= </a:t>
                </a:r>
                <a:r>
                  <a:rPr lang="nn-NO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; i++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j = 1; j &lt;=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;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j++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)</a:t>
                </a:r>
              </a:p>
              <a:p>
                <a:r>
                  <a:rPr lang="pl-PL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   d[ 0 ][ i ][ j ] = w[ i ][ j ];</a:t>
                </a:r>
              </a:p>
              <a:p>
                <a:endParaRPr lang="zh-TW" altLang="en-US" dirty="0">
                  <a:solidFill>
                    <a:srgbClr val="000000"/>
                  </a:solidFill>
                  <a:highlight>
                    <a:srgbClr val="FFFFFF"/>
                  </a:highlight>
                </a:endParaRP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k = 1; k &lt;=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; k++ )</a:t>
                </a:r>
              </a:p>
              <a:p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</a:t>
                </a:r>
                <a:r>
                  <a:rPr lang="nn-NO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for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nn-NO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i = 1; i &lt;= </a:t>
                </a:r>
                <a:r>
                  <a:rPr lang="nn-NO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; i++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j = 1; j &lt;=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;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j++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      d[ k ][ i ][ j ] = min( d[ k - 1 ][ i ][ j ],</a:t>
                </a:r>
              </a:p>
              <a:p>
                <a:r>
                  <a:rPr lang="nn-NO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                              max( d[ k - 1 ][ i ][ k ],</a:t>
                </a:r>
              </a:p>
              <a:p>
                <a:r>
                  <a:rPr lang="pl-PL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                                        d[ k - 1 ][ k ][ j ] ) );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}</a:t>
                </a:r>
              </a:p>
              <a:p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TW" sz="2000" i="1" spc="10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i="1" spc="100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TW" sz="2000" spc="-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  <a:latin typeface="Times New Roman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000" i="1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TW" i="1" spc="100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dirty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altLang="zh-TW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i="1" spc="10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spc="-3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i="1" spc="15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TW" sz="20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0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  <m:d>
                                      <m:dPr>
                                        <m:ctrlPr>
                                          <a:rPr lang="en-US" altLang="zh-TW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TW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2000" i="1" spc="10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k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2000" spc="-3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5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0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TW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2000" i="1" spc="10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0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sz="2000" spc="-3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 spc="150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Times New Roman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</m:t>
                                </m:r>
                                <m:r>
                                  <a:rPr lang="en-US" altLang="zh-TW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3" t="-3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2245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Minimax and </a:t>
            </a:r>
            <a:r>
              <a:rPr lang="en-US" altLang="zh-TW" dirty="0" err="1"/>
              <a:t>Maximin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miniMax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d[ i ][ j ] = w[ i ][ j ];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k = 1; k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k++ )</a:t>
            </a: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i = 1; i &lt;= </a:t>
            </a:r>
            <a:r>
              <a:rPr lang="nn-NO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j = 1; j &lt;=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</a:rPr>
              <a:t>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d[ i ][ j ] = min( d[ i ][ j ],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    max( d[ i ][ k ], d[ k ][ j ] )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3646112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6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13260</TotalTime>
  <Words>13880</Words>
  <Application>Microsoft Office PowerPoint</Application>
  <PresentationFormat>如螢幕大小 (4:3)</PresentationFormat>
  <Paragraphs>3161</Paragraphs>
  <Slides>62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71" baseType="lpstr">
      <vt:lpstr>Yu Gothic</vt:lpstr>
      <vt:lpstr>細明體</vt:lpstr>
      <vt:lpstr>新細明體</vt:lpstr>
      <vt:lpstr>標楷體</vt:lpstr>
      <vt:lpstr>Cambria Math</vt:lpstr>
      <vt:lpstr>Lucida Console</vt:lpstr>
      <vt:lpstr>Symbol</vt:lpstr>
      <vt:lpstr>Times New Roman</vt:lpstr>
      <vt:lpstr>Blends</vt:lpstr>
      <vt:lpstr>All-Pairs Shortest Paths</vt:lpstr>
      <vt:lpstr>All-Pairs Shortest Paths</vt:lpstr>
      <vt:lpstr>All-Pairs Shortest Paths</vt:lpstr>
      <vt:lpstr>All-Pairs Shortest Paths</vt:lpstr>
      <vt:lpstr>The Floyd-Warshall Algorithm</vt:lpstr>
      <vt:lpstr>The Floyd-Warshall Algorithm</vt:lpstr>
      <vt:lpstr>PowerPoint 簡報</vt:lpstr>
      <vt:lpstr>PowerPoint 簡報</vt:lpstr>
      <vt:lpstr>PowerPoint 簡報</vt:lpstr>
      <vt:lpstr>The Floyd-Warshall Algorithm</vt:lpstr>
      <vt:lpstr>PowerPoint 簡報</vt:lpstr>
      <vt:lpstr>PowerPoint 簡報</vt:lpstr>
      <vt:lpstr>PowerPoint 簡報</vt:lpstr>
      <vt:lpstr>PowerPoint 簡報</vt:lpstr>
      <vt:lpstr>The Floyd-Warshall Algorithm</vt:lpstr>
      <vt:lpstr>The Floyd-Warshall Algorithm</vt:lpstr>
      <vt:lpstr>The Floyd-Warshall Algorithm</vt:lpstr>
      <vt:lpstr>The Floyd-Warshall Algorithm</vt:lpstr>
      <vt:lpstr>PowerPoint 簡報</vt:lpstr>
      <vt:lpstr>PowerPoint 簡報</vt:lpstr>
      <vt:lpstr>PowerPoint 簡報</vt:lpstr>
      <vt:lpstr>PowerPoint 簡報</vt:lpstr>
      <vt:lpstr>The Floyd-Warshall Algorithm</vt:lpstr>
      <vt:lpstr>The Floyd-Warshall Algorithm</vt:lpstr>
      <vt:lpstr>The Floyd-Warshall Algorithm</vt:lpstr>
      <vt:lpstr>PowerPoint 簡報</vt:lpstr>
      <vt:lpstr>PowerPoint 簡報</vt:lpstr>
      <vt:lpstr>The Floyd-Warshall Algorithm is Correct</vt:lpstr>
      <vt:lpstr>The Floyd-Warshall Algorithm</vt:lpstr>
      <vt:lpstr>Constructing a Shortest Path</vt:lpstr>
      <vt:lpstr>Constructing a Shortest Path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Finding the Diameter of a Graph</vt:lpstr>
      <vt:lpstr>Finding the Diameter of a Graph</vt:lpstr>
      <vt:lpstr>Transitive Closure of a Directed Graph</vt:lpstr>
      <vt:lpstr>Transitive Closure of a Relation</vt:lpstr>
      <vt:lpstr>Transitive Closure of a Directed Graph</vt:lpstr>
      <vt:lpstr>PowerPoint 簡報</vt:lpstr>
      <vt:lpstr>PowerPoint 簡報</vt:lpstr>
      <vt:lpstr>Transitive Closure of a Directed Graph</vt:lpstr>
      <vt:lpstr>Transitive Closure of a Directed Graph</vt:lpstr>
      <vt:lpstr>Transitive Closure of a Directed Graph</vt:lpstr>
      <vt:lpstr>Transitive Closure of a Directed Graph</vt:lpstr>
      <vt:lpstr>Transitive Closure of a Directed Graph</vt:lpstr>
      <vt:lpstr>Transitive Closure of a Directed Graph</vt:lpstr>
      <vt:lpstr>Transitive Closure of a Directed Graph</vt:lpstr>
      <vt:lpstr>PowerPoint 簡報</vt:lpstr>
      <vt:lpstr>Transitive Closure of a Directed Graph</vt:lpstr>
      <vt:lpstr>The Floyd-Warshall Algorithm</vt:lpstr>
      <vt:lpstr>Minimax and Maximin</vt:lpstr>
      <vt:lpstr>Minimax and Maximin</vt:lpstr>
      <vt:lpstr>Minimax and Maximin</vt:lpstr>
      <vt:lpstr>Minimax and Maximin</vt:lpstr>
      <vt:lpstr>Minimax and Maximin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860</cp:revision>
  <dcterms:created xsi:type="dcterms:W3CDTF">2001-09-06T13:56:50Z</dcterms:created>
  <dcterms:modified xsi:type="dcterms:W3CDTF">2025-11-21T13:45:20Z</dcterms:modified>
</cp:coreProperties>
</file>