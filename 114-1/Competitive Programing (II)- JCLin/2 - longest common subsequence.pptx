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52"/>
  </p:notesMasterIdLst>
  <p:handoutMasterIdLst>
    <p:handoutMasterId r:id="rId53"/>
  </p:handoutMasterIdLst>
  <p:sldIdLst>
    <p:sldId id="256" r:id="rId2"/>
    <p:sldId id="708" r:id="rId3"/>
    <p:sldId id="740" r:id="rId4"/>
    <p:sldId id="741" r:id="rId5"/>
    <p:sldId id="889" r:id="rId6"/>
    <p:sldId id="885" r:id="rId7"/>
    <p:sldId id="886" r:id="rId8"/>
    <p:sldId id="793" r:id="rId9"/>
    <p:sldId id="887" r:id="rId10"/>
    <p:sldId id="1077" r:id="rId11"/>
    <p:sldId id="1080" r:id="rId12"/>
    <p:sldId id="1079" r:id="rId13"/>
    <p:sldId id="1078" r:id="rId14"/>
    <p:sldId id="1018" r:id="rId15"/>
    <p:sldId id="1021" r:id="rId16"/>
    <p:sldId id="792" r:id="rId17"/>
    <p:sldId id="890" r:id="rId18"/>
    <p:sldId id="1074" r:id="rId19"/>
    <p:sldId id="1075" r:id="rId20"/>
    <p:sldId id="748" r:id="rId21"/>
    <p:sldId id="914" r:id="rId22"/>
    <p:sldId id="1106" r:id="rId23"/>
    <p:sldId id="1063" r:id="rId24"/>
    <p:sldId id="1064" r:id="rId25"/>
    <p:sldId id="1065" r:id="rId26"/>
    <p:sldId id="1066" r:id="rId27"/>
    <p:sldId id="1067" r:id="rId28"/>
    <p:sldId id="1068" r:id="rId29"/>
    <p:sldId id="1069" r:id="rId30"/>
    <p:sldId id="1030" r:id="rId31"/>
    <p:sldId id="1031" r:id="rId32"/>
    <p:sldId id="1032" r:id="rId33"/>
    <p:sldId id="1033" r:id="rId34"/>
    <p:sldId id="1034" r:id="rId35"/>
    <p:sldId id="1035" r:id="rId36"/>
    <p:sldId id="1036" r:id="rId37"/>
    <p:sldId id="1009" r:id="rId38"/>
    <p:sldId id="1038" r:id="rId39"/>
    <p:sldId id="1039" r:id="rId40"/>
    <p:sldId id="1040" r:id="rId41"/>
    <p:sldId id="1041" r:id="rId42"/>
    <p:sldId id="1042" r:id="rId43"/>
    <p:sldId id="1043" r:id="rId44"/>
    <p:sldId id="1044" r:id="rId45"/>
    <p:sldId id="1045" r:id="rId46"/>
    <p:sldId id="1046" r:id="rId47"/>
    <p:sldId id="1047" r:id="rId48"/>
    <p:sldId id="1048" r:id="rId49"/>
    <p:sldId id="1049" r:id="rId50"/>
    <p:sldId id="1050" r:id="rId51"/>
  </p:sldIdLst>
  <p:sldSz cx="9144000" cy="6858000" type="screen4x3"/>
  <p:notesSz cx="6734175" cy="9866313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sz="20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sz="20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sz="20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sz="20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9" userDrawn="1">
          <p15:clr>
            <a:srgbClr val="A4A3A4"/>
          </p15:clr>
        </p15:guide>
        <p15:guide id="2" pos="231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8000"/>
    <a:srgbClr val="FF99FF"/>
    <a:srgbClr val="CC00CC"/>
    <a:srgbClr val="0000CC"/>
    <a:srgbClr val="0033CC"/>
    <a:srgbClr val="006600"/>
    <a:srgbClr val="003300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276" autoAdjust="0"/>
    <p:restoredTop sz="94660" autoAdjust="0"/>
  </p:normalViewPr>
  <p:slideViewPr>
    <p:cSldViewPr showGuides="1">
      <p:cViewPr varScale="1">
        <p:scale>
          <a:sx n="92" d="100"/>
          <a:sy n="92" d="100"/>
        </p:scale>
        <p:origin x="106" y="82"/>
      </p:cViewPr>
      <p:guideLst>
        <p:guide orient="horz" pos="799"/>
        <p:guide pos="2313"/>
      </p:guideLst>
    </p:cSldViewPr>
  </p:slideViewPr>
  <p:outlineViewPr>
    <p:cViewPr>
      <p:scale>
        <a:sx n="33" d="100"/>
        <a:sy n="33" d="100"/>
      </p:scale>
      <p:origin x="0" y="30840"/>
    </p:cViewPr>
  </p:outlineViewPr>
  <p:notesTextViewPr>
    <p:cViewPr>
      <p:scale>
        <a:sx n="100" d="100"/>
        <a:sy n="100" d="100"/>
      </p:scale>
      <p:origin x="0" y="0"/>
    </p:cViewPr>
  </p:notesTextViewPr>
  <p:gridSpacing cx="180000" cy="180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7825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48" tIns="47424" rIns="94848" bIns="47424" numCol="1" anchor="t" anchorCtr="0" compatLnSpc="1">
            <a:prstTxWarp prst="textNoShape">
              <a:avLst/>
            </a:prstTxWarp>
          </a:bodyPr>
          <a:lstStyle>
            <a:lvl1pPr defTabSz="949325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4763" y="0"/>
            <a:ext cx="2917825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48" tIns="47424" rIns="94848" bIns="47424" numCol="1" anchor="t" anchorCtr="0" compatLnSpc="1">
            <a:prstTxWarp prst="textNoShape">
              <a:avLst/>
            </a:prstTxWarp>
          </a:bodyPr>
          <a:lstStyle>
            <a:lvl1pPr algn="r" defTabSz="949325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45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2600"/>
            <a:ext cx="2917825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48" tIns="47424" rIns="94848" bIns="47424" numCol="1" anchor="b" anchorCtr="0" compatLnSpc="1">
            <a:prstTxWarp prst="textNoShape">
              <a:avLst/>
            </a:prstTxWarp>
          </a:bodyPr>
          <a:lstStyle>
            <a:lvl1pPr defTabSz="949325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45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4763" y="9372600"/>
            <a:ext cx="2917825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48" tIns="47424" rIns="94848" bIns="47424" numCol="1" anchor="b" anchorCtr="0" compatLnSpc="1">
            <a:prstTxWarp prst="textNoShape">
              <a:avLst/>
            </a:prstTxWarp>
          </a:bodyPr>
          <a:lstStyle>
            <a:lvl1pPr algn="r" defTabSz="949325">
              <a:defRPr sz="1200"/>
            </a:lvl1pPr>
          </a:lstStyle>
          <a:p>
            <a:pPr>
              <a:defRPr/>
            </a:pPr>
            <a:fld id="{6B4D7513-F378-43C0-A193-8CB84BC696C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047327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7825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48" tIns="47424" rIns="94848" bIns="47424" numCol="1" anchor="t" anchorCtr="0" compatLnSpc="1">
            <a:prstTxWarp prst="textNoShape">
              <a:avLst/>
            </a:prstTxWarp>
          </a:bodyPr>
          <a:lstStyle>
            <a:lvl1pPr defTabSz="949325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4763" y="0"/>
            <a:ext cx="2917825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48" tIns="47424" rIns="94848" bIns="47424" numCol="1" anchor="t" anchorCtr="0" compatLnSpc="1">
            <a:prstTxWarp prst="textNoShape">
              <a:avLst/>
            </a:prstTxWarp>
          </a:bodyPr>
          <a:lstStyle>
            <a:lvl1pPr algn="r" defTabSz="949325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60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1700" y="741363"/>
            <a:ext cx="4932363" cy="36988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3100" y="4686300"/>
            <a:ext cx="5387975" cy="443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48" tIns="47424" rIns="94848" bIns="474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/>
              <a:t>按一下以編輯母片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225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2600"/>
            <a:ext cx="2917825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48" tIns="47424" rIns="94848" bIns="47424" numCol="1" anchor="b" anchorCtr="0" compatLnSpc="1">
            <a:prstTxWarp prst="textNoShape">
              <a:avLst/>
            </a:prstTxWarp>
          </a:bodyPr>
          <a:lstStyle>
            <a:lvl1pPr defTabSz="949325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25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4763" y="9372600"/>
            <a:ext cx="2917825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48" tIns="47424" rIns="94848" bIns="47424" numCol="1" anchor="b" anchorCtr="0" compatLnSpc="1">
            <a:prstTxWarp prst="textNoShape">
              <a:avLst/>
            </a:prstTxWarp>
          </a:bodyPr>
          <a:lstStyle>
            <a:lvl1pPr algn="r" defTabSz="949325">
              <a:defRPr sz="1200"/>
            </a:lvl1pPr>
          </a:lstStyle>
          <a:p>
            <a:pPr>
              <a:defRPr/>
            </a:pPr>
            <a:fld id="{5149967C-0829-4505-A4E5-E9B3D95B6F1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940947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252000" y="2709000"/>
            <a:ext cx="8640000" cy="1440000"/>
          </a:xfrm>
        </p:spPr>
        <p:txBody>
          <a:bodyPr anchor="ctr" anchorCtr="0"/>
          <a:lstStyle>
            <a:lvl1pPr>
              <a:defRPr sz="54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32000" y="188913"/>
            <a:ext cx="8280000" cy="90011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31471" y="1268413"/>
            <a:ext cx="8281058" cy="5040312"/>
          </a:xfrm>
        </p:spPr>
        <p:txBody>
          <a:bodyPr/>
          <a:lstStyle>
            <a:lvl1pPr marL="0" indent="0">
              <a:defRPr sz="2200"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496346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11188" y="188912"/>
            <a:ext cx="7920000" cy="144008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611188" y="1808999"/>
            <a:ext cx="7920000" cy="4499725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410928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52000" y="188913"/>
            <a:ext cx="8640000" cy="90011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31471" y="1268413"/>
            <a:ext cx="8281058" cy="5040312"/>
          </a:xfrm>
        </p:spPr>
        <p:txBody>
          <a:bodyPr/>
          <a:lstStyle>
            <a:lvl1pPr marL="0" indent="0">
              <a:spcBef>
                <a:spcPts val="0"/>
              </a:spcBef>
              <a:defRPr sz="1600">
                <a:latin typeface="Lucida Console" panose="020B0609040504020204" pitchFamily="49" charset="0"/>
              </a:defRPr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209328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32000" y="549000"/>
            <a:ext cx="4680000" cy="1260000"/>
          </a:xfrm>
        </p:spPr>
        <p:txBody>
          <a:bodyPr/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31471" y="2529001"/>
            <a:ext cx="8281058" cy="3779724"/>
          </a:xfrm>
        </p:spPr>
        <p:txBody>
          <a:bodyPr/>
          <a:lstStyle>
            <a:lvl1pPr marL="0" indent="0">
              <a:spcBef>
                <a:spcPts val="0"/>
              </a:spcBef>
              <a:defRPr sz="1600">
                <a:latin typeface="Lucida Console" panose="020B0609040504020204" pitchFamily="49" charset="0"/>
              </a:defRPr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09918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9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32000" y="549000"/>
            <a:ext cx="4680000" cy="1260000"/>
          </a:xfrm>
        </p:spPr>
        <p:txBody>
          <a:bodyPr/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31471" y="2169000"/>
            <a:ext cx="8281058" cy="4139725"/>
          </a:xfrm>
        </p:spPr>
        <p:txBody>
          <a:bodyPr/>
          <a:lstStyle>
            <a:lvl1pPr marL="0" indent="0">
              <a:spcBef>
                <a:spcPts val="0"/>
              </a:spcBef>
              <a:defRPr sz="1600">
                <a:latin typeface="Lucida Console" panose="020B0609040504020204" pitchFamily="49" charset="0"/>
              </a:defRPr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4248812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52000" y="188913"/>
            <a:ext cx="8640000" cy="90011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32000" y="1989000"/>
            <a:ext cx="6120000" cy="3780000"/>
          </a:xfrm>
        </p:spPr>
        <p:txBody>
          <a:bodyPr wrap="none"/>
          <a:lstStyle>
            <a:lvl1pPr marL="0" indent="0">
              <a:spcBef>
                <a:spcPts val="0"/>
              </a:spcBef>
              <a:defRPr sz="1600">
                <a:latin typeface="Lucida Console" panose="020B0609040504020204" pitchFamily="49" charset="0"/>
              </a:defRPr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651743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32000" y="729000"/>
            <a:ext cx="4500000" cy="90011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32000" y="2529000"/>
            <a:ext cx="6300000" cy="3780000"/>
          </a:xfrm>
        </p:spPr>
        <p:txBody>
          <a:bodyPr wrap="none"/>
          <a:lstStyle>
            <a:lvl1pPr marL="0" indent="0">
              <a:spcBef>
                <a:spcPts val="0"/>
              </a:spcBef>
              <a:defRPr sz="1600">
                <a:latin typeface="Lucida Console" panose="020B0609040504020204" pitchFamily="49" charset="0"/>
              </a:defRPr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79340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52000" y="188913"/>
            <a:ext cx="8640000" cy="90011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252000" y="1449000"/>
            <a:ext cx="5040000" cy="3060000"/>
          </a:xfrm>
        </p:spPr>
        <p:txBody>
          <a:bodyPr/>
          <a:lstStyle>
            <a:lvl1pPr marL="0" indent="0">
              <a:defRPr sz="1600">
                <a:latin typeface="Lucida Console" panose="020B0609040504020204" pitchFamily="49" charset="0"/>
              </a:defRPr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514747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7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52000" y="188913"/>
            <a:ext cx="8640000" cy="90011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32000" y="1269000"/>
            <a:ext cx="5400000" cy="5040000"/>
          </a:xfrm>
        </p:spPr>
        <p:txBody>
          <a:bodyPr wrap="none"/>
          <a:lstStyle>
            <a:lvl1pPr marL="0" indent="0">
              <a:spcBef>
                <a:spcPts val="0"/>
              </a:spcBef>
              <a:defRPr sz="1600">
                <a:latin typeface="Lucida Console" panose="020B0609040504020204" pitchFamily="49" charset="0"/>
              </a:defRPr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202060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8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52000" y="188913"/>
            <a:ext cx="8640000" cy="90011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32000" y="1448999"/>
            <a:ext cx="4860000" cy="3960001"/>
          </a:xfrm>
        </p:spPr>
        <p:txBody>
          <a:bodyPr wrap="none"/>
          <a:lstStyle>
            <a:lvl1pPr marL="0" indent="0">
              <a:defRPr sz="1600">
                <a:latin typeface="Lucida Console" panose="020B0609040504020204" pitchFamily="49" charset="0"/>
              </a:defRPr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只有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611188" y="549275"/>
            <a:ext cx="6480812" cy="5579725"/>
          </a:xfrm>
        </p:spPr>
        <p:txBody>
          <a:bodyPr/>
          <a:lstStyle>
            <a:lvl1pPr marL="0" indent="0">
              <a:spcBef>
                <a:spcPts val="0"/>
              </a:spcBef>
              <a:defRPr sz="1600">
                <a:latin typeface="Lucida Console" panose="020B0609040504020204" pitchFamily="49" charset="0"/>
              </a:defRPr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只有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32000" y="1269001"/>
            <a:ext cx="6120000" cy="4860000"/>
          </a:xfrm>
        </p:spPr>
        <p:txBody>
          <a:bodyPr/>
          <a:lstStyle>
            <a:lvl1pPr marL="0" indent="0">
              <a:spcBef>
                <a:spcPts val="0"/>
              </a:spcBef>
              <a:defRPr sz="1600">
                <a:latin typeface="Lucida Console" panose="020B0609040504020204" pitchFamily="49" charset="0"/>
              </a:defRPr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40989342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只有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612000" y="3069000"/>
            <a:ext cx="6840000" cy="3240274"/>
          </a:xfrm>
        </p:spPr>
        <p:txBody>
          <a:bodyPr/>
          <a:lstStyle>
            <a:lvl1pPr marL="0" indent="0">
              <a:spcBef>
                <a:spcPts val="0"/>
              </a:spcBef>
              <a:defRPr sz="1600">
                <a:latin typeface="Lucida Console" panose="020B0609040504020204" pitchFamily="49" charset="0"/>
              </a:defRPr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0595220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 hasCustomPrompt="1"/>
          </p:nvPr>
        </p:nvSpPr>
        <p:spPr>
          <a:xfrm>
            <a:off x="611188" y="1268413"/>
            <a:ext cx="3780000" cy="5040312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4751388" y="1268413"/>
            <a:ext cx="3780000" cy="5040312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32000" y="188913"/>
            <a:ext cx="8280000" cy="900088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611188" y="188913"/>
            <a:ext cx="7920037" cy="900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29699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1268413"/>
            <a:ext cx="7920037" cy="5040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65" r:id="rId2"/>
    <p:sldLayoutId id="2147483667" r:id="rId3"/>
    <p:sldLayoutId id="2147483673" r:id="rId4"/>
    <p:sldLayoutId id="2147483677" r:id="rId5"/>
    <p:sldLayoutId id="2147483682" r:id="rId6"/>
    <p:sldLayoutId id="2147483670" r:id="rId7"/>
    <p:sldLayoutId id="2147483681" r:id="rId8"/>
    <p:sldLayoutId id="2147483668" r:id="rId9"/>
    <p:sldLayoutId id="2147483678" r:id="rId10"/>
    <p:sldLayoutId id="2147483653" r:id="rId11"/>
    <p:sldLayoutId id="2147483654" r:id="rId12"/>
    <p:sldLayoutId id="2147483672" r:id="rId13"/>
    <p:sldLayoutId id="2147483680" r:id="rId14"/>
    <p:sldLayoutId id="2147483655" r:id="rId15"/>
    <p:sldLayoutId id="2147483656" r:id="rId16"/>
    <p:sldLayoutId id="2147483657" r:id="rId17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82550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defRPr kumimoji="1" sz="2400">
          <a:solidFill>
            <a:schemeClr val="tx1"/>
          </a:solidFill>
          <a:latin typeface="+mn-lt"/>
          <a:ea typeface="+mn-ea"/>
        </a:defRPr>
      </a:lvl2pPr>
      <a:lvl3pPr marL="1233488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defRPr kumimoji="1" sz="2400">
          <a:solidFill>
            <a:schemeClr val="tx1"/>
          </a:solidFill>
          <a:latin typeface="+mn-lt"/>
          <a:ea typeface="+mn-ea"/>
        </a:defRPr>
      </a:lvl3pPr>
      <a:lvl4pPr marL="1641475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defRPr kumimoji="1" sz="24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defRPr kumimoji="1" sz="24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defRPr kumimoji="1" sz="28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defRPr kumimoji="1" sz="28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defRPr kumimoji="1" sz="28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defRPr kumimoji="1" sz="28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zh-TW" sz="5400" dirty="0"/>
              <a:t>Dynamic Programming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標題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sz="4800" dirty="0"/>
              <a:t>Longest Common Subsequence</a:t>
            </a:r>
            <a:endParaRPr lang="zh-TW" altLang="en-US" sz="4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Longest Common Subsequence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1470" y="1268413"/>
            <a:ext cx="8460529" cy="5040312"/>
          </a:xfrm>
        </p:spPr>
        <p:txBody>
          <a:bodyPr/>
          <a:lstStyle/>
          <a:p>
            <a:r>
              <a:rPr lang="en-US" altLang="zh-TW" sz="2200" dirty="0"/>
              <a:t>A subsequence of a given sequence is just the given sequence with zero or more elements left out. Formally, given a sequence </a:t>
            </a:r>
            <a:r>
              <a:rPr lang="en-US" altLang="zh-TW" sz="2200" i="1" dirty="0"/>
              <a:t>X</a:t>
            </a:r>
            <a:r>
              <a:rPr lang="en-US" altLang="zh-TW" sz="2200" dirty="0"/>
              <a:t>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200" dirty="0">
                <a:solidFill>
                  <a:srgbClr val="000000"/>
                </a:solidFill>
              </a:rPr>
              <a:t> </a:t>
            </a:r>
            <a:r>
              <a:rPr lang="en-US" altLang="zh-TW" sz="2200" dirty="0">
                <a:solidFill>
                  <a:srgbClr val="000000"/>
                </a:solidFill>
                <a:sym typeface="Symbol" panose="05050102010706020507" pitchFamily="18" charset="2"/>
              </a:rPr>
              <a:t></a:t>
            </a:r>
            <a:r>
              <a:rPr lang="en-US" altLang="zh-TW" sz="2200" i="1" dirty="0" err="1"/>
              <a:t>x</a:t>
            </a:r>
            <a:r>
              <a:rPr lang="en-US" altLang="zh-TW" sz="2200" baseline="-25000" dirty="0" err="1"/>
              <a:t>1</a:t>
            </a:r>
            <a:r>
              <a:rPr lang="en-US" altLang="zh-TW" sz="2200" dirty="0"/>
              <a:t>, </a:t>
            </a:r>
            <a:r>
              <a:rPr lang="en-US" altLang="zh-TW" sz="2200" i="1" dirty="0" err="1"/>
              <a:t>x</a:t>
            </a:r>
            <a:r>
              <a:rPr lang="en-US" altLang="zh-TW" sz="2200" baseline="-25000" dirty="0" err="1"/>
              <a:t>2</a:t>
            </a:r>
            <a:r>
              <a:rPr lang="en-US" altLang="zh-TW" sz="2200" dirty="0"/>
              <a:t>,</a:t>
            </a:r>
            <a:r>
              <a:rPr lang="en-US" altLang="zh-TW" sz="1400" dirty="0"/>
              <a:t> </a:t>
            </a:r>
            <a:r>
              <a:rPr lang="en-US" altLang="zh-TW" sz="2200" dirty="0"/>
              <a:t>.</a:t>
            </a:r>
            <a:r>
              <a:rPr lang="en-US" altLang="zh-TW" sz="1400" dirty="0"/>
              <a:t> </a:t>
            </a:r>
            <a:r>
              <a:rPr lang="en-US" altLang="zh-TW" sz="2200" dirty="0"/>
              <a:t>.</a:t>
            </a:r>
            <a:r>
              <a:rPr lang="en-US" altLang="zh-TW" sz="1400" dirty="0"/>
              <a:t> </a:t>
            </a:r>
            <a:r>
              <a:rPr lang="en-US" altLang="zh-TW" sz="2200" dirty="0"/>
              <a:t>., </a:t>
            </a:r>
            <a:r>
              <a:rPr lang="en-US" altLang="zh-TW" sz="2200" i="1" dirty="0" err="1"/>
              <a:t>x</a:t>
            </a:r>
            <a:r>
              <a:rPr lang="en-US" altLang="zh-TW" sz="2200" i="1" baseline="-25000" dirty="0" err="1"/>
              <a:t>m</a:t>
            </a:r>
            <a:r>
              <a:rPr lang="en-US" altLang="zh-TW" sz="2200" dirty="0">
                <a:solidFill>
                  <a:srgbClr val="000000"/>
                </a:solidFill>
                <a:sym typeface="Symbol" panose="05050102010706020507" pitchFamily="18" charset="2"/>
              </a:rPr>
              <a:t></a:t>
            </a:r>
            <a:r>
              <a:rPr lang="en-US" altLang="zh-TW" sz="2200" dirty="0"/>
              <a:t> another sequence </a:t>
            </a:r>
            <a:r>
              <a:rPr lang="en-US" altLang="zh-TW" sz="2200" i="1" dirty="0"/>
              <a:t>Z</a:t>
            </a:r>
            <a:r>
              <a:rPr lang="en-US" altLang="zh-TW" sz="2200" dirty="0"/>
              <a:t>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200" dirty="0">
                <a:solidFill>
                  <a:srgbClr val="000000"/>
                </a:solidFill>
              </a:rPr>
              <a:t> </a:t>
            </a:r>
            <a:r>
              <a:rPr lang="en-US" altLang="zh-TW" sz="2200" dirty="0">
                <a:solidFill>
                  <a:srgbClr val="000000"/>
                </a:solidFill>
                <a:sym typeface="Symbol" panose="05050102010706020507" pitchFamily="18" charset="2"/>
              </a:rPr>
              <a:t></a:t>
            </a:r>
            <a:r>
              <a:rPr lang="en-US" altLang="zh-TW" sz="2200" i="1" dirty="0" err="1">
                <a:solidFill>
                  <a:srgbClr val="000000"/>
                </a:solidFill>
              </a:rPr>
              <a:t>z</a:t>
            </a:r>
            <a:r>
              <a:rPr lang="en-US" altLang="zh-TW" sz="2200" baseline="-25000" dirty="0" err="1">
                <a:solidFill>
                  <a:srgbClr val="000000"/>
                </a:solidFill>
              </a:rPr>
              <a:t>1</a:t>
            </a:r>
            <a:r>
              <a:rPr lang="en-US" altLang="zh-TW" sz="2200" dirty="0">
                <a:solidFill>
                  <a:srgbClr val="000000"/>
                </a:solidFill>
              </a:rPr>
              <a:t>, </a:t>
            </a:r>
            <a:r>
              <a:rPr lang="en-US" altLang="zh-TW" sz="2200" i="1" dirty="0" err="1">
                <a:solidFill>
                  <a:srgbClr val="000000"/>
                </a:solidFill>
              </a:rPr>
              <a:t>z</a:t>
            </a:r>
            <a:r>
              <a:rPr lang="en-US" altLang="zh-TW" sz="2200" baseline="-25000" dirty="0" err="1">
                <a:solidFill>
                  <a:srgbClr val="000000"/>
                </a:solidFill>
              </a:rPr>
              <a:t>2</a:t>
            </a:r>
            <a:r>
              <a:rPr lang="en-US" altLang="zh-TW" sz="2200" dirty="0">
                <a:solidFill>
                  <a:srgbClr val="000000"/>
                </a:solidFill>
              </a:rPr>
              <a:t>, . . ., </a:t>
            </a:r>
            <a:r>
              <a:rPr lang="en-US" altLang="zh-TW" sz="2200" i="1" dirty="0" err="1">
                <a:solidFill>
                  <a:srgbClr val="000000"/>
                </a:solidFill>
              </a:rPr>
              <a:t>z</a:t>
            </a:r>
            <a:r>
              <a:rPr lang="en-US" altLang="zh-TW" sz="2200" i="1" baseline="-25000" dirty="0" err="1">
                <a:solidFill>
                  <a:srgbClr val="000000"/>
                </a:solidFill>
              </a:rPr>
              <a:t>k</a:t>
            </a:r>
            <a:r>
              <a:rPr lang="en-US" altLang="zh-TW" sz="2200" dirty="0">
                <a:solidFill>
                  <a:srgbClr val="000000"/>
                </a:solidFill>
                <a:sym typeface="Symbol" panose="05050102010706020507" pitchFamily="18" charset="2"/>
              </a:rPr>
              <a:t> </a:t>
            </a:r>
            <a:r>
              <a:rPr lang="en-US" altLang="zh-TW" sz="2200" dirty="0"/>
              <a:t>is a </a:t>
            </a:r>
            <a:r>
              <a:rPr lang="en-US" altLang="zh-TW" sz="2200" i="1" dirty="0">
                <a:solidFill>
                  <a:srgbClr val="0000FF"/>
                </a:solidFill>
              </a:rPr>
              <a:t>subsequence</a:t>
            </a:r>
            <a:r>
              <a:rPr lang="en-US" altLang="zh-TW" sz="2200" b="1" i="1" dirty="0"/>
              <a:t> </a:t>
            </a:r>
            <a:r>
              <a:rPr lang="en-US" altLang="zh-TW" sz="2200" dirty="0"/>
              <a:t>of </a:t>
            </a:r>
            <a:r>
              <a:rPr lang="en-US" altLang="zh-TW" sz="2200" i="1" dirty="0"/>
              <a:t>X</a:t>
            </a:r>
            <a:r>
              <a:rPr lang="en-US" altLang="zh-TW" sz="2200" dirty="0"/>
              <a:t> if there exists a strictly increasing sequence </a:t>
            </a:r>
            <a:r>
              <a:rPr lang="en-US" altLang="zh-TW" sz="2200" dirty="0">
                <a:solidFill>
                  <a:srgbClr val="000000"/>
                </a:solidFill>
                <a:sym typeface="Symbol" panose="05050102010706020507" pitchFamily="18" charset="2"/>
              </a:rPr>
              <a:t></a:t>
            </a:r>
            <a:r>
              <a:rPr lang="en-US" altLang="zh-TW" sz="2200" i="1" dirty="0" err="1">
                <a:solidFill>
                  <a:srgbClr val="000000"/>
                </a:solidFill>
              </a:rPr>
              <a:t>i</a:t>
            </a:r>
            <a:r>
              <a:rPr lang="en-US" altLang="zh-TW" sz="2200" baseline="-25000" dirty="0" err="1">
                <a:solidFill>
                  <a:srgbClr val="000000"/>
                </a:solidFill>
              </a:rPr>
              <a:t>1</a:t>
            </a:r>
            <a:r>
              <a:rPr lang="en-US" altLang="zh-TW" sz="2200" dirty="0">
                <a:solidFill>
                  <a:srgbClr val="000000"/>
                </a:solidFill>
              </a:rPr>
              <a:t>, </a:t>
            </a:r>
            <a:r>
              <a:rPr lang="en-US" altLang="zh-TW" sz="2200" i="1" dirty="0" err="1">
                <a:solidFill>
                  <a:srgbClr val="000000"/>
                </a:solidFill>
              </a:rPr>
              <a:t>i</a:t>
            </a:r>
            <a:r>
              <a:rPr lang="en-US" altLang="zh-TW" sz="2200" baseline="-25000" dirty="0" err="1">
                <a:solidFill>
                  <a:srgbClr val="000000"/>
                </a:solidFill>
              </a:rPr>
              <a:t>2</a:t>
            </a:r>
            <a:r>
              <a:rPr lang="en-US" altLang="zh-TW" sz="2200" dirty="0">
                <a:solidFill>
                  <a:srgbClr val="000000"/>
                </a:solidFill>
              </a:rPr>
              <a:t>, . . ., </a:t>
            </a:r>
            <a:r>
              <a:rPr lang="en-US" altLang="zh-TW" sz="2200" i="1" dirty="0" err="1">
                <a:solidFill>
                  <a:srgbClr val="000000"/>
                </a:solidFill>
              </a:rPr>
              <a:t>i</a:t>
            </a:r>
            <a:r>
              <a:rPr lang="en-US" altLang="zh-TW" sz="2200" i="1" baseline="-25000" dirty="0" err="1">
                <a:solidFill>
                  <a:srgbClr val="000000"/>
                </a:solidFill>
              </a:rPr>
              <a:t>k</a:t>
            </a:r>
            <a:r>
              <a:rPr lang="en-US" altLang="zh-TW" sz="2200" dirty="0">
                <a:solidFill>
                  <a:srgbClr val="000000"/>
                </a:solidFill>
                <a:sym typeface="Symbol" panose="05050102010706020507" pitchFamily="18" charset="2"/>
              </a:rPr>
              <a:t> </a:t>
            </a:r>
            <a:r>
              <a:rPr lang="en-US" altLang="zh-TW" sz="2200" dirty="0"/>
              <a:t>of indices of </a:t>
            </a:r>
            <a:r>
              <a:rPr lang="en-US" altLang="zh-TW" sz="2200" i="1" dirty="0"/>
              <a:t>X</a:t>
            </a:r>
            <a:r>
              <a:rPr lang="en-US" altLang="zh-TW" sz="2200" dirty="0"/>
              <a:t> such that for all </a:t>
            </a:r>
            <a:r>
              <a:rPr lang="en-US" altLang="zh-TW" sz="2200" i="1" dirty="0"/>
              <a:t>j</a:t>
            </a:r>
            <a:r>
              <a:rPr lang="en-US" altLang="zh-TW" sz="2200" dirty="0"/>
              <a:t>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200" dirty="0"/>
              <a:t> 1, 2, . . . , </a:t>
            </a:r>
            <a:r>
              <a:rPr lang="en-US" altLang="zh-TW" sz="2200" i="1" dirty="0"/>
              <a:t>k</a:t>
            </a:r>
            <a:r>
              <a:rPr lang="en-US" altLang="zh-TW" sz="2200" dirty="0"/>
              <a:t>, we have </a:t>
            </a:r>
            <a:r>
              <a:rPr lang="en-US" altLang="zh-TW" sz="2200" i="1" dirty="0" err="1"/>
              <a:t>x</a:t>
            </a:r>
            <a:r>
              <a:rPr lang="en-US" altLang="zh-TW" sz="2200" i="1" baseline="-25000" dirty="0" err="1"/>
              <a:t>i</a:t>
            </a:r>
            <a:r>
              <a:rPr lang="en-US" altLang="zh-TW" sz="1800" i="1" baseline="-50000" dirty="0" err="1"/>
              <a:t>j</a:t>
            </a:r>
            <a:r>
              <a:rPr lang="en-US" altLang="zh-TW" sz="2200" dirty="0"/>
              <a:t>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200" dirty="0"/>
              <a:t> </a:t>
            </a:r>
            <a:r>
              <a:rPr lang="en-US" altLang="zh-TW" sz="2200" i="1" dirty="0" err="1"/>
              <a:t>z</a:t>
            </a:r>
            <a:r>
              <a:rPr lang="en-US" altLang="zh-TW" sz="2200" i="1" baseline="-25000" dirty="0" err="1"/>
              <a:t>j</a:t>
            </a:r>
            <a:r>
              <a:rPr lang="en-US" altLang="zh-TW" sz="2200" dirty="0"/>
              <a:t>. For example, </a:t>
            </a:r>
            <a:r>
              <a:rPr lang="en-US" altLang="zh-TW" sz="2200" i="1" dirty="0"/>
              <a:t>Z</a:t>
            </a:r>
            <a:r>
              <a:rPr lang="en-US" altLang="zh-TW" sz="2200" dirty="0"/>
              <a:t>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200" dirty="0"/>
              <a:t> </a:t>
            </a:r>
            <a:r>
              <a:rPr lang="en-US" altLang="zh-TW" sz="2200" dirty="0">
                <a:sym typeface="Symbol" panose="05050102010706020507" pitchFamily="18" charset="2"/>
              </a:rPr>
              <a:t></a:t>
            </a:r>
            <a:r>
              <a:rPr lang="en-US" altLang="zh-TW" sz="2200" i="1" dirty="0"/>
              <a:t>b</a:t>
            </a:r>
            <a:r>
              <a:rPr lang="en-US" altLang="zh-TW" sz="2200" dirty="0"/>
              <a:t>, </a:t>
            </a:r>
            <a:r>
              <a:rPr lang="en-US" altLang="zh-TW" sz="2200" i="1" dirty="0"/>
              <a:t>c</a:t>
            </a:r>
            <a:r>
              <a:rPr lang="en-US" altLang="zh-TW" sz="2200" dirty="0"/>
              <a:t>, </a:t>
            </a:r>
            <a:r>
              <a:rPr lang="en-US" altLang="zh-TW" sz="2200" i="1" dirty="0"/>
              <a:t>d</a:t>
            </a:r>
            <a:r>
              <a:rPr lang="en-US" altLang="zh-TW" sz="2200" dirty="0"/>
              <a:t>, </a:t>
            </a:r>
            <a:r>
              <a:rPr lang="en-US" altLang="zh-TW" sz="2200" i="1" dirty="0"/>
              <a:t>b</a:t>
            </a:r>
            <a:r>
              <a:rPr lang="en-US" altLang="zh-TW" sz="2200" dirty="0">
                <a:sym typeface="Symbol" panose="05050102010706020507" pitchFamily="18" charset="2"/>
              </a:rPr>
              <a:t></a:t>
            </a:r>
            <a:r>
              <a:rPr lang="en-US" altLang="zh-TW" sz="2200" dirty="0"/>
              <a:t> is a subsequence of </a:t>
            </a:r>
            <a:r>
              <a:rPr lang="en-US" altLang="zh-TW" sz="2200" i="1" dirty="0">
                <a:solidFill>
                  <a:srgbClr val="000000"/>
                </a:solidFill>
              </a:rPr>
              <a:t>X</a:t>
            </a:r>
            <a:r>
              <a:rPr lang="en-US" altLang="zh-TW" sz="2200" dirty="0">
                <a:solidFill>
                  <a:srgbClr val="000000"/>
                </a:solidFill>
              </a:rPr>
              <a:t>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200" dirty="0">
                <a:solidFill>
                  <a:srgbClr val="000000"/>
                </a:solidFill>
              </a:rPr>
              <a:t> </a:t>
            </a:r>
            <a:r>
              <a:rPr lang="en-US" altLang="zh-TW" sz="2200" dirty="0">
                <a:solidFill>
                  <a:srgbClr val="000000"/>
                </a:solidFill>
                <a:sym typeface="Symbol" panose="05050102010706020507" pitchFamily="18" charset="2"/>
              </a:rPr>
              <a:t></a:t>
            </a:r>
            <a:r>
              <a:rPr lang="en-US" altLang="zh-TW" sz="2200" i="1" dirty="0">
                <a:solidFill>
                  <a:srgbClr val="000000"/>
                </a:solidFill>
                <a:sym typeface="Symbol" panose="05050102010706020507" pitchFamily="18" charset="2"/>
              </a:rPr>
              <a:t>a</a:t>
            </a:r>
            <a:r>
              <a:rPr lang="en-US" altLang="zh-TW" sz="2200" dirty="0">
                <a:solidFill>
                  <a:srgbClr val="000000"/>
                </a:solidFill>
                <a:sym typeface="Symbol" panose="05050102010706020507" pitchFamily="18" charset="2"/>
              </a:rPr>
              <a:t>, </a:t>
            </a:r>
            <a:r>
              <a:rPr lang="en-US" altLang="zh-TW" sz="2200" i="1" dirty="0">
                <a:solidFill>
                  <a:srgbClr val="000000"/>
                </a:solidFill>
              </a:rPr>
              <a:t>b</a:t>
            </a:r>
            <a:r>
              <a:rPr lang="en-US" altLang="zh-TW" sz="2200" dirty="0">
                <a:solidFill>
                  <a:srgbClr val="000000"/>
                </a:solidFill>
              </a:rPr>
              <a:t>, </a:t>
            </a:r>
            <a:r>
              <a:rPr lang="en-US" altLang="zh-TW" sz="2200" i="1" dirty="0">
                <a:solidFill>
                  <a:srgbClr val="000000"/>
                </a:solidFill>
              </a:rPr>
              <a:t>c</a:t>
            </a:r>
            <a:r>
              <a:rPr lang="en-US" altLang="zh-TW" sz="2200" dirty="0">
                <a:solidFill>
                  <a:srgbClr val="000000"/>
                </a:solidFill>
              </a:rPr>
              <a:t>, </a:t>
            </a:r>
            <a:r>
              <a:rPr lang="en-US" altLang="zh-TW" sz="2200" i="1" dirty="0">
                <a:solidFill>
                  <a:srgbClr val="000000"/>
                </a:solidFill>
              </a:rPr>
              <a:t>b</a:t>
            </a:r>
            <a:r>
              <a:rPr lang="en-US" altLang="zh-TW" sz="2200" dirty="0">
                <a:solidFill>
                  <a:srgbClr val="000000"/>
                </a:solidFill>
              </a:rPr>
              <a:t>,</a:t>
            </a:r>
            <a:r>
              <a:rPr lang="en-US" altLang="zh-TW" sz="2200" dirty="0">
                <a:solidFill>
                  <a:srgbClr val="000000"/>
                </a:solidFill>
                <a:sym typeface="Symbol" panose="05050102010706020507" pitchFamily="18" charset="2"/>
              </a:rPr>
              <a:t> </a:t>
            </a:r>
            <a:r>
              <a:rPr lang="en-US" altLang="zh-TW" sz="2200" i="1" dirty="0">
                <a:solidFill>
                  <a:srgbClr val="000000"/>
                </a:solidFill>
              </a:rPr>
              <a:t>d</a:t>
            </a:r>
            <a:r>
              <a:rPr lang="en-US" altLang="zh-TW" sz="2200" dirty="0">
                <a:solidFill>
                  <a:srgbClr val="000000"/>
                </a:solidFill>
              </a:rPr>
              <a:t>, </a:t>
            </a:r>
            <a:r>
              <a:rPr lang="en-US" altLang="zh-TW" sz="2200" i="1" dirty="0">
                <a:solidFill>
                  <a:srgbClr val="000000"/>
                </a:solidFill>
                <a:sym typeface="Symbol" panose="05050102010706020507" pitchFamily="18" charset="2"/>
              </a:rPr>
              <a:t>a</a:t>
            </a:r>
            <a:r>
              <a:rPr lang="en-US" altLang="zh-TW" sz="2200" dirty="0">
                <a:solidFill>
                  <a:srgbClr val="000000"/>
                </a:solidFill>
                <a:sym typeface="Symbol" panose="05050102010706020507" pitchFamily="18" charset="2"/>
              </a:rPr>
              <a:t>, </a:t>
            </a:r>
            <a:r>
              <a:rPr lang="en-US" altLang="zh-TW" sz="2200" i="1" dirty="0">
                <a:solidFill>
                  <a:srgbClr val="000000"/>
                </a:solidFill>
              </a:rPr>
              <a:t>b</a:t>
            </a:r>
            <a:r>
              <a:rPr lang="en-US" altLang="zh-TW" sz="2200" dirty="0">
                <a:solidFill>
                  <a:srgbClr val="000000"/>
                </a:solidFill>
                <a:sym typeface="Symbol" panose="05050102010706020507" pitchFamily="18" charset="2"/>
              </a:rPr>
              <a:t> </a:t>
            </a:r>
            <a:r>
              <a:rPr lang="en-US" altLang="zh-TW" sz="2200" dirty="0"/>
              <a:t>with corresponding index sequence </a:t>
            </a:r>
            <a:r>
              <a:rPr lang="en-US" altLang="zh-TW" sz="2200" dirty="0">
                <a:sym typeface="Symbol" panose="05050102010706020507" pitchFamily="18" charset="2"/>
              </a:rPr>
              <a:t>2, 3, 5, 7</a:t>
            </a:r>
            <a:r>
              <a:rPr lang="en-US" altLang="zh-TW" sz="2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67087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Longest Common Subsequence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1471" y="1268413"/>
            <a:ext cx="8280529" cy="5040312"/>
          </a:xfrm>
        </p:spPr>
        <p:txBody>
          <a:bodyPr/>
          <a:lstStyle/>
          <a:p>
            <a:r>
              <a:rPr lang="en-US" altLang="zh-TW" sz="2200" dirty="0"/>
              <a:t>Given two sequences </a:t>
            </a:r>
            <a:r>
              <a:rPr lang="en-US" altLang="zh-TW" sz="2200" i="1" dirty="0"/>
              <a:t>X</a:t>
            </a:r>
            <a:r>
              <a:rPr lang="en-US" altLang="zh-TW" sz="2200" dirty="0"/>
              <a:t> and </a:t>
            </a:r>
            <a:r>
              <a:rPr lang="en-US" altLang="zh-TW" sz="2200" i="1" dirty="0"/>
              <a:t>Y</a:t>
            </a:r>
            <a:r>
              <a:rPr lang="en-US" altLang="zh-TW" sz="2200" dirty="0"/>
              <a:t>, we say that a sequence </a:t>
            </a:r>
            <a:r>
              <a:rPr lang="en-US" altLang="zh-TW" sz="2200" i="1" dirty="0"/>
              <a:t>Z</a:t>
            </a:r>
            <a:r>
              <a:rPr lang="en-US" altLang="zh-TW" sz="2200" dirty="0"/>
              <a:t> is a </a:t>
            </a:r>
            <a:r>
              <a:rPr lang="en-US" altLang="zh-TW" sz="2200" i="1" dirty="0">
                <a:solidFill>
                  <a:srgbClr val="0000FF"/>
                </a:solidFill>
              </a:rPr>
              <a:t>common subsequence</a:t>
            </a:r>
            <a:r>
              <a:rPr lang="en-US" altLang="zh-TW" sz="2200" dirty="0"/>
              <a:t> of </a:t>
            </a:r>
            <a:r>
              <a:rPr lang="en-US" altLang="zh-TW" sz="2200" i="1" dirty="0"/>
              <a:t>X</a:t>
            </a:r>
            <a:r>
              <a:rPr lang="en-US" altLang="zh-TW" sz="2200" dirty="0"/>
              <a:t> and </a:t>
            </a:r>
            <a:r>
              <a:rPr lang="en-US" altLang="zh-TW" sz="2200" i="1" dirty="0"/>
              <a:t>Y</a:t>
            </a:r>
            <a:r>
              <a:rPr lang="en-US" altLang="zh-TW" sz="2200" dirty="0"/>
              <a:t> if </a:t>
            </a:r>
            <a:r>
              <a:rPr lang="en-US" altLang="zh-TW" sz="2200" i="1" dirty="0"/>
              <a:t>Z</a:t>
            </a:r>
            <a:r>
              <a:rPr lang="en-US" altLang="zh-TW" sz="2200" dirty="0"/>
              <a:t> is a subsequence of both </a:t>
            </a:r>
            <a:r>
              <a:rPr lang="en-US" altLang="zh-TW" sz="2200" i="1" dirty="0"/>
              <a:t>X</a:t>
            </a:r>
            <a:r>
              <a:rPr lang="en-US" altLang="zh-TW" sz="2200" dirty="0"/>
              <a:t> and </a:t>
            </a:r>
            <a:r>
              <a:rPr lang="en-US" altLang="zh-TW" sz="2200" i="1" dirty="0"/>
              <a:t>Y</a:t>
            </a:r>
            <a:r>
              <a:rPr lang="en-US" altLang="zh-TW" sz="2200" dirty="0"/>
              <a:t>.	      For example, if </a:t>
            </a:r>
            <a:r>
              <a:rPr lang="en-US" altLang="zh-TW" sz="2200" i="1" dirty="0">
                <a:solidFill>
                  <a:srgbClr val="000000"/>
                </a:solidFill>
              </a:rPr>
              <a:t>X</a:t>
            </a:r>
            <a:r>
              <a:rPr lang="en-US" altLang="zh-TW" sz="2200" dirty="0">
                <a:solidFill>
                  <a:srgbClr val="000000"/>
                </a:solidFill>
              </a:rPr>
              <a:t>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200" dirty="0">
                <a:solidFill>
                  <a:srgbClr val="000000"/>
                </a:solidFill>
              </a:rPr>
              <a:t> </a:t>
            </a:r>
            <a:r>
              <a:rPr lang="en-US" altLang="zh-TW" sz="2200" dirty="0">
                <a:solidFill>
                  <a:srgbClr val="000000"/>
                </a:solidFill>
                <a:sym typeface="Symbol" panose="05050102010706020507" pitchFamily="18" charset="2"/>
              </a:rPr>
              <a:t></a:t>
            </a:r>
            <a:r>
              <a:rPr lang="en-US" altLang="zh-TW" sz="2200" i="1" dirty="0">
                <a:solidFill>
                  <a:srgbClr val="000000"/>
                </a:solidFill>
                <a:sym typeface="Symbol" panose="05050102010706020507" pitchFamily="18" charset="2"/>
              </a:rPr>
              <a:t>a</a:t>
            </a:r>
            <a:r>
              <a:rPr lang="en-US" altLang="zh-TW" sz="2200" dirty="0">
                <a:solidFill>
                  <a:srgbClr val="000000"/>
                </a:solidFill>
                <a:sym typeface="Symbol" panose="05050102010706020507" pitchFamily="18" charset="2"/>
              </a:rPr>
              <a:t>, </a:t>
            </a:r>
            <a:r>
              <a:rPr lang="en-US" altLang="zh-TW" sz="2200" i="1" dirty="0">
                <a:solidFill>
                  <a:srgbClr val="000000"/>
                </a:solidFill>
              </a:rPr>
              <a:t>b</a:t>
            </a:r>
            <a:r>
              <a:rPr lang="en-US" altLang="zh-TW" sz="2200" dirty="0">
                <a:solidFill>
                  <a:srgbClr val="000000"/>
                </a:solidFill>
              </a:rPr>
              <a:t>, </a:t>
            </a:r>
            <a:r>
              <a:rPr lang="en-US" altLang="zh-TW" sz="2200" i="1" dirty="0">
                <a:solidFill>
                  <a:srgbClr val="000000"/>
                </a:solidFill>
              </a:rPr>
              <a:t>c</a:t>
            </a:r>
            <a:r>
              <a:rPr lang="en-US" altLang="zh-TW" sz="2200" dirty="0">
                <a:solidFill>
                  <a:srgbClr val="000000"/>
                </a:solidFill>
              </a:rPr>
              <a:t>, </a:t>
            </a:r>
            <a:r>
              <a:rPr lang="en-US" altLang="zh-TW" sz="2200" i="1" dirty="0">
                <a:solidFill>
                  <a:srgbClr val="000000"/>
                </a:solidFill>
              </a:rPr>
              <a:t>b</a:t>
            </a:r>
            <a:r>
              <a:rPr lang="en-US" altLang="zh-TW" sz="2200" dirty="0">
                <a:solidFill>
                  <a:srgbClr val="000000"/>
                </a:solidFill>
              </a:rPr>
              <a:t>,</a:t>
            </a:r>
            <a:r>
              <a:rPr lang="en-US" altLang="zh-TW" sz="2200" dirty="0">
                <a:solidFill>
                  <a:srgbClr val="000000"/>
                </a:solidFill>
                <a:sym typeface="Symbol" panose="05050102010706020507" pitchFamily="18" charset="2"/>
              </a:rPr>
              <a:t> </a:t>
            </a:r>
            <a:r>
              <a:rPr lang="en-US" altLang="zh-TW" sz="2200" i="1" dirty="0">
                <a:solidFill>
                  <a:srgbClr val="000000"/>
                </a:solidFill>
              </a:rPr>
              <a:t>d</a:t>
            </a:r>
            <a:r>
              <a:rPr lang="en-US" altLang="zh-TW" sz="2200" dirty="0">
                <a:solidFill>
                  <a:srgbClr val="000000"/>
                </a:solidFill>
              </a:rPr>
              <a:t>, </a:t>
            </a:r>
            <a:r>
              <a:rPr lang="en-US" altLang="zh-TW" sz="2200" i="1" dirty="0">
                <a:solidFill>
                  <a:srgbClr val="000000"/>
                </a:solidFill>
                <a:sym typeface="Symbol" panose="05050102010706020507" pitchFamily="18" charset="2"/>
              </a:rPr>
              <a:t>a</a:t>
            </a:r>
            <a:r>
              <a:rPr lang="en-US" altLang="zh-TW" sz="2200" dirty="0">
                <a:solidFill>
                  <a:srgbClr val="000000"/>
                </a:solidFill>
                <a:sym typeface="Symbol" panose="05050102010706020507" pitchFamily="18" charset="2"/>
              </a:rPr>
              <a:t>, </a:t>
            </a:r>
            <a:r>
              <a:rPr lang="en-US" altLang="zh-TW" sz="2200" i="1" dirty="0">
                <a:solidFill>
                  <a:srgbClr val="000000"/>
                </a:solidFill>
              </a:rPr>
              <a:t>b</a:t>
            </a:r>
            <a:r>
              <a:rPr lang="en-US" altLang="zh-TW" sz="2200" dirty="0">
                <a:solidFill>
                  <a:srgbClr val="000000"/>
                </a:solidFill>
                <a:sym typeface="Symbol" panose="05050102010706020507" pitchFamily="18" charset="2"/>
              </a:rPr>
              <a:t></a:t>
            </a:r>
            <a:r>
              <a:rPr lang="en-US" altLang="zh-TW" sz="2200" dirty="0"/>
              <a:t> and </a:t>
            </a:r>
            <a:r>
              <a:rPr lang="en-US" altLang="zh-TW" sz="2200" i="1" dirty="0">
                <a:solidFill>
                  <a:srgbClr val="000000"/>
                </a:solidFill>
              </a:rPr>
              <a:t>Y</a:t>
            </a:r>
            <a:r>
              <a:rPr lang="en-US" altLang="zh-TW" sz="2200" dirty="0">
                <a:solidFill>
                  <a:srgbClr val="000000"/>
                </a:solidFill>
              </a:rPr>
              <a:t>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200" dirty="0">
                <a:solidFill>
                  <a:srgbClr val="000000"/>
                </a:solidFill>
              </a:rPr>
              <a:t> </a:t>
            </a:r>
            <a:r>
              <a:rPr lang="en-US" altLang="zh-TW" sz="2200" dirty="0">
                <a:solidFill>
                  <a:srgbClr val="000000"/>
                </a:solidFill>
                <a:sym typeface="Symbol" panose="05050102010706020507" pitchFamily="18" charset="2"/>
              </a:rPr>
              <a:t></a:t>
            </a:r>
            <a:r>
              <a:rPr lang="en-US" altLang="zh-TW" sz="2200" i="1" dirty="0">
                <a:solidFill>
                  <a:srgbClr val="000000"/>
                </a:solidFill>
              </a:rPr>
              <a:t>b</a:t>
            </a:r>
            <a:r>
              <a:rPr lang="en-US" altLang="zh-TW" sz="2200" dirty="0">
                <a:solidFill>
                  <a:srgbClr val="000000"/>
                </a:solidFill>
              </a:rPr>
              <a:t>, </a:t>
            </a:r>
            <a:r>
              <a:rPr lang="en-US" altLang="zh-TW" sz="2200" i="1" dirty="0">
                <a:solidFill>
                  <a:srgbClr val="000000"/>
                </a:solidFill>
              </a:rPr>
              <a:t>d</a:t>
            </a:r>
            <a:r>
              <a:rPr lang="en-US" altLang="zh-TW" sz="2200" dirty="0">
                <a:solidFill>
                  <a:srgbClr val="000000"/>
                </a:solidFill>
              </a:rPr>
              <a:t>, </a:t>
            </a:r>
            <a:r>
              <a:rPr lang="en-US" altLang="zh-TW" sz="2200" i="1" dirty="0">
                <a:solidFill>
                  <a:srgbClr val="000000"/>
                </a:solidFill>
              </a:rPr>
              <a:t>c</a:t>
            </a:r>
            <a:r>
              <a:rPr lang="en-US" altLang="zh-TW" sz="2200" dirty="0">
                <a:solidFill>
                  <a:srgbClr val="000000"/>
                </a:solidFill>
              </a:rPr>
              <a:t>, </a:t>
            </a:r>
            <a:r>
              <a:rPr lang="en-US" altLang="zh-TW" sz="2200" i="1" dirty="0">
                <a:solidFill>
                  <a:srgbClr val="000000"/>
                </a:solidFill>
                <a:sym typeface="Symbol" panose="05050102010706020507" pitchFamily="18" charset="2"/>
              </a:rPr>
              <a:t>a</a:t>
            </a:r>
            <a:r>
              <a:rPr lang="en-US" altLang="zh-TW" sz="2200" dirty="0">
                <a:solidFill>
                  <a:srgbClr val="000000"/>
                </a:solidFill>
                <a:sym typeface="Symbol" panose="05050102010706020507" pitchFamily="18" charset="2"/>
              </a:rPr>
              <a:t>, </a:t>
            </a:r>
            <a:r>
              <a:rPr lang="en-US" altLang="zh-TW" sz="2200" i="1" dirty="0">
                <a:solidFill>
                  <a:srgbClr val="000000"/>
                </a:solidFill>
              </a:rPr>
              <a:t>b</a:t>
            </a:r>
            <a:r>
              <a:rPr lang="en-US" altLang="zh-TW" sz="2200" dirty="0">
                <a:solidFill>
                  <a:srgbClr val="000000"/>
                </a:solidFill>
              </a:rPr>
              <a:t>,</a:t>
            </a:r>
            <a:r>
              <a:rPr lang="en-US" altLang="zh-TW" sz="2200" dirty="0">
                <a:solidFill>
                  <a:srgbClr val="000000"/>
                </a:solidFill>
                <a:sym typeface="Symbol" panose="05050102010706020507" pitchFamily="18" charset="2"/>
              </a:rPr>
              <a:t> </a:t>
            </a:r>
            <a:r>
              <a:rPr lang="en-US" altLang="zh-TW" sz="2200" i="1" dirty="0">
                <a:solidFill>
                  <a:srgbClr val="000000"/>
                </a:solidFill>
                <a:sym typeface="Symbol" panose="05050102010706020507" pitchFamily="18" charset="2"/>
              </a:rPr>
              <a:t>a</a:t>
            </a:r>
            <a:r>
              <a:rPr lang="en-US" altLang="zh-TW" sz="2200" dirty="0">
                <a:solidFill>
                  <a:srgbClr val="000000"/>
                </a:solidFill>
                <a:sym typeface="Symbol" panose="05050102010706020507" pitchFamily="18" charset="2"/>
              </a:rPr>
              <a:t></a:t>
            </a:r>
            <a:r>
              <a:rPr lang="en-US" altLang="zh-TW" sz="2200" dirty="0"/>
              <a:t>, the sequence </a:t>
            </a:r>
            <a:r>
              <a:rPr lang="en-US" altLang="zh-TW" sz="2200" dirty="0">
                <a:solidFill>
                  <a:srgbClr val="000000"/>
                </a:solidFill>
                <a:sym typeface="Symbol" panose="05050102010706020507" pitchFamily="18" charset="2"/>
              </a:rPr>
              <a:t></a:t>
            </a:r>
            <a:r>
              <a:rPr lang="en-US" altLang="zh-TW" sz="2200" i="1" dirty="0">
                <a:solidFill>
                  <a:srgbClr val="000000"/>
                </a:solidFill>
              </a:rPr>
              <a:t>b</a:t>
            </a:r>
            <a:r>
              <a:rPr lang="en-US" altLang="zh-TW" sz="2200" dirty="0">
                <a:solidFill>
                  <a:srgbClr val="000000"/>
                </a:solidFill>
              </a:rPr>
              <a:t>, </a:t>
            </a:r>
            <a:r>
              <a:rPr lang="en-US" altLang="zh-TW" sz="2200" i="1" dirty="0">
                <a:solidFill>
                  <a:srgbClr val="000000"/>
                </a:solidFill>
              </a:rPr>
              <a:t>c</a:t>
            </a:r>
            <a:r>
              <a:rPr lang="en-US" altLang="zh-TW" sz="2200" dirty="0">
                <a:solidFill>
                  <a:srgbClr val="000000"/>
                </a:solidFill>
              </a:rPr>
              <a:t>, </a:t>
            </a:r>
            <a:r>
              <a:rPr lang="en-US" altLang="zh-TW" sz="2200" i="1" dirty="0">
                <a:solidFill>
                  <a:srgbClr val="000000"/>
                </a:solidFill>
                <a:sym typeface="Symbol" panose="05050102010706020507" pitchFamily="18" charset="2"/>
              </a:rPr>
              <a:t>a</a:t>
            </a:r>
            <a:r>
              <a:rPr lang="en-US" altLang="zh-TW" sz="2200" dirty="0">
                <a:solidFill>
                  <a:srgbClr val="000000"/>
                </a:solidFill>
                <a:sym typeface="Symbol" panose="05050102010706020507" pitchFamily="18" charset="2"/>
              </a:rPr>
              <a:t></a:t>
            </a:r>
            <a:r>
              <a:rPr lang="en-US" altLang="zh-TW" sz="2200" dirty="0"/>
              <a:t> is a common subsequence of both </a:t>
            </a:r>
            <a:r>
              <a:rPr lang="en-US" altLang="zh-TW" sz="2200" i="1" dirty="0"/>
              <a:t>X</a:t>
            </a:r>
            <a:r>
              <a:rPr lang="en-US" altLang="zh-TW" sz="2200" dirty="0"/>
              <a:t> and </a:t>
            </a:r>
            <a:r>
              <a:rPr lang="en-US" altLang="zh-TW" sz="2200" i="1" dirty="0"/>
              <a:t>Y</a:t>
            </a:r>
            <a:r>
              <a:rPr lang="en-US" altLang="zh-TW" sz="2200" dirty="0"/>
              <a:t>. The sequence </a:t>
            </a:r>
            <a:r>
              <a:rPr lang="en-US" altLang="zh-TW" sz="2200" dirty="0">
                <a:solidFill>
                  <a:srgbClr val="000000"/>
                </a:solidFill>
                <a:sym typeface="Symbol" panose="05050102010706020507" pitchFamily="18" charset="2"/>
              </a:rPr>
              <a:t></a:t>
            </a:r>
            <a:r>
              <a:rPr lang="en-US" altLang="zh-TW" sz="2200" i="1" dirty="0">
                <a:solidFill>
                  <a:srgbClr val="000000"/>
                </a:solidFill>
              </a:rPr>
              <a:t>b</a:t>
            </a:r>
            <a:r>
              <a:rPr lang="en-US" altLang="zh-TW" sz="2200" dirty="0">
                <a:solidFill>
                  <a:srgbClr val="000000"/>
                </a:solidFill>
              </a:rPr>
              <a:t>, </a:t>
            </a:r>
            <a:r>
              <a:rPr lang="en-US" altLang="zh-TW" sz="2200" i="1" dirty="0">
                <a:solidFill>
                  <a:srgbClr val="000000"/>
                </a:solidFill>
              </a:rPr>
              <a:t>c</a:t>
            </a:r>
            <a:r>
              <a:rPr lang="en-US" altLang="zh-TW" sz="2200" dirty="0">
                <a:solidFill>
                  <a:srgbClr val="000000"/>
                </a:solidFill>
              </a:rPr>
              <a:t>, </a:t>
            </a:r>
            <a:r>
              <a:rPr lang="en-US" altLang="zh-TW" sz="2200" i="1" dirty="0">
                <a:solidFill>
                  <a:srgbClr val="000000"/>
                </a:solidFill>
                <a:sym typeface="Symbol" panose="05050102010706020507" pitchFamily="18" charset="2"/>
              </a:rPr>
              <a:t>a</a:t>
            </a:r>
            <a:r>
              <a:rPr lang="en-US" altLang="zh-TW" sz="2200" dirty="0">
                <a:solidFill>
                  <a:srgbClr val="000000"/>
                </a:solidFill>
                <a:sym typeface="Symbol" panose="05050102010706020507" pitchFamily="18" charset="2"/>
              </a:rPr>
              <a:t></a:t>
            </a:r>
            <a:r>
              <a:rPr lang="en-US" altLang="zh-TW" sz="2200" dirty="0"/>
              <a:t> is not a </a:t>
            </a:r>
            <a:r>
              <a:rPr lang="en-US" altLang="zh-TW" sz="2200" i="1" dirty="0">
                <a:solidFill>
                  <a:srgbClr val="0000FF"/>
                </a:solidFill>
              </a:rPr>
              <a:t>longest</a:t>
            </a:r>
            <a:r>
              <a:rPr lang="en-US" altLang="zh-TW" sz="2200" dirty="0"/>
              <a:t> common subsequence (LCS) of </a:t>
            </a:r>
            <a:r>
              <a:rPr lang="en-US" altLang="zh-TW" sz="2200" i="1" dirty="0"/>
              <a:t>X</a:t>
            </a:r>
            <a:r>
              <a:rPr lang="en-US" altLang="zh-TW" sz="2200" dirty="0"/>
              <a:t> and </a:t>
            </a:r>
            <a:r>
              <a:rPr lang="en-US" altLang="zh-TW" sz="2200" i="1" dirty="0"/>
              <a:t>Y</a:t>
            </a:r>
            <a:r>
              <a:rPr lang="en-US" altLang="zh-TW" sz="2200" dirty="0"/>
              <a:t>, however, since it has length 3 and the sequence </a:t>
            </a:r>
            <a:r>
              <a:rPr lang="en-US" altLang="zh-TW" sz="2200" dirty="0">
                <a:solidFill>
                  <a:srgbClr val="000000"/>
                </a:solidFill>
                <a:sym typeface="Symbol" panose="05050102010706020507" pitchFamily="18" charset="2"/>
              </a:rPr>
              <a:t></a:t>
            </a:r>
            <a:r>
              <a:rPr lang="en-US" altLang="zh-TW" sz="2200" i="1" dirty="0">
                <a:solidFill>
                  <a:srgbClr val="000000"/>
                </a:solidFill>
              </a:rPr>
              <a:t>b</a:t>
            </a:r>
            <a:r>
              <a:rPr lang="en-US" altLang="zh-TW" sz="2200" dirty="0">
                <a:solidFill>
                  <a:srgbClr val="000000"/>
                </a:solidFill>
              </a:rPr>
              <a:t>, </a:t>
            </a:r>
            <a:r>
              <a:rPr lang="en-US" altLang="zh-TW" sz="2200" i="1" dirty="0">
                <a:solidFill>
                  <a:srgbClr val="000000"/>
                </a:solidFill>
              </a:rPr>
              <a:t>c</a:t>
            </a:r>
            <a:r>
              <a:rPr lang="en-US" altLang="zh-TW" sz="2200" dirty="0">
                <a:solidFill>
                  <a:srgbClr val="000000"/>
                </a:solidFill>
              </a:rPr>
              <a:t>, </a:t>
            </a:r>
            <a:r>
              <a:rPr lang="en-US" altLang="zh-TW" sz="2200" i="1" dirty="0">
                <a:solidFill>
                  <a:srgbClr val="000000"/>
                </a:solidFill>
              </a:rPr>
              <a:t>b</a:t>
            </a:r>
            <a:r>
              <a:rPr lang="en-US" altLang="zh-TW" sz="2200" dirty="0">
                <a:solidFill>
                  <a:srgbClr val="000000"/>
                </a:solidFill>
              </a:rPr>
              <a:t>,</a:t>
            </a:r>
            <a:r>
              <a:rPr lang="en-US" altLang="zh-TW" sz="2200" dirty="0">
                <a:solidFill>
                  <a:srgbClr val="000000"/>
                </a:solidFill>
                <a:sym typeface="Symbol" panose="05050102010706020507" pitchFamily="18" charset="2"/>
              </a:rPr>
              <a:t> </a:t>
            </a:r>
            <a:r>
              <a:rPr lang="en-US" altLang="zh-TW" sz="2200" i="1" dirty="0">
                <a:solidFill>
                  <a:srgbClr val="000000"/>
                </a:solidFill>
                <a:sym typeface="Symbol" panose="05050102010706020507" pitchFamily="18" charset="2"/>
              </a:rPr>
              <a:t>a</a:t>
            </a:r>
            <a:r>
              <a:rPr lang="en-US" altLang="zh-TW" sz="2200" dirty="0">
                <a:solidFill>
                  <a:srgbClr val="000000"/>
                </a:solidFill>
                <a:sym typeface="Symbol" panose="05050102010706020507" pitchFamily="18" charset="2"/>
              </a:rPr>
              <a:t></a:t>
            </a:r>
            <a:r>
              <a:rPr lang="en-US" altLang="zh-TW" sz="2200" dirty="0"/>
              <a:t>, which is also common to both </a:t>
            </a:r>
            <a:r>
              <a:rPr lang="en-US" altLang="zh-TW" sz="2200" i="1" dirty="0"/>
              <a:t>X</a:t>
            </a:r>
            <a:r>
              <a:rPr lang="en-US" altLang="zh-TW" sz="2200" dirty="0"/>
              <a:t> and </a:t>
            </a:r>
            <a:r>
              <a:rPr lang="en-US" altLang="zh-TW" sz="2200" i="1" dirty="0"/>
              <a:t>Y</a:t>
            </a:r>
            <a:r>
              <a:rPr lang="en-US" altLang="zh-TW" sz="2200" dirty="0"/>
              <a:t>, has length 4. The sequence </a:t>
            </a:r>
            <a:r>
              <a:rPr lang="en-US" altLang="zh-TW" sz="2200" dirty="0">
                <a:solidFill>
                  <a:srgbClr val="000000"/>
                </a:solidFill>
                <a:sym typeface="Symbol" panose="05050102010706020507" pitchFamily="18" charset="2"/>
              </a:rPr>
              <a:t></a:t>
            </a:r>
            <a:r>
              <a:rPr lang="en-US" altLang="zh-TW" sz="2200" i="1" dirty="0">
                <a:solidFill>
                  <a:srgbClr val="000000"/>
                </a:solidFill>
              </a:rPr>
              <a:t>b</a:t>
            </a:r>
            <a:r>
              <a:rPr lang="en-US" altLang="zh-TW" sz="2200" dirty="0">
                <a:solidFill>
                  <a:srgbClr val="000000"/>
                </a:solidFill>
              </a:rPr>
              <a:t>, </a:t>
            </a:r>
            <a:r>
              <a:rPr lang="en-US" altLang="zh-TW" sz="2200" i="1" dirty="0">
                <a:solidFill>
                  <a:srgbClr val="000000"/>
                </a:solidFill>
              </a:rPr>
              <a:t>c</a:t>
            </a:r>
            <a:r>
              <a:rPr lang="en-US" altLang="zh-TW" sz="2200" dirty="0">
                <a:solidFill>
                  <a:srgbClr val="000000"/>
                </a:solidFill>
              </a:rPr>
              <a:t>, </a:t>
            </a:r>
            <a:r>
              <a:rPr lang="en-US" altLang="zh-TW" sz="2200" i="1" dirty="0">
                <a:solidFill>
                  <a:srgbClr val="000000"/>
                </a:solidFill>
              </a:rPr>
              <a:t>b</a:t>
            </a:r>
            <a:r>
              <a:rPr lang="en-US" altLang="zh-TW" sz="2200" dirty="0">
                <a:solidFill>
                  <a:srgbClr val="000000"/>
                </a:solidFill>
              </a:rPr>
              <a:t>,</a:t>
            </a:r>
            <a:r>
              <a:rPr lang="en-US" altLang="zh-TW" sz="2200" dirty="0">
                <a:solidFill>
                  <a:srgbClr val="000000"/>
                </a:solidFill>
                <a:sym typeface="Symbol" panose="05050102010706020507" pitchFamily="18" charset="2"/>
              </a:rPr>
              <a:t> </a:t>
            </a:r>
            <a:r>
              <a:rPr lang="en-US" altLang="zh-TW" sz="2200" i="1" dirty="0">
                <a:solidFill>
                  <a:srgbClr val="000000"/>
                </a:solidFill>
                <a:sym typeface="Symbol" panose="05050102010706020507" pitchFamily="18" charset="2"/>
              </a:rPr>
              <a:t>a</a:t>
            </a:r>
            <a:r>
              <a:rPr lang="en-US" altLang="zh-TW" sz="2200" dirty="0">
                <a:solidFill>
                  <a:srgbClr val="000000"/>
                </a:solidFill>
                <a:sym typeface="Symbol" panose="05050102010706020507" pitchFamily="18" charset="2"/>
              </a:rPr>
              <a:t></a:t>
            </a:r>
            <a:r>
              <a:rPr lang="en-US" altLang="zh-TW" sz="2200" dirty="0"/>
              <a:t> is an LCS of </a:t>
            </a:r>
            <a:r>
              <a:rPr lang="en-US" altLang="zh-TW" sz="2200" i="1" dirty="0"/>
              <a:t>X</a:t>
            </a:r>
            <a:r>
              <a:rPr lang="en-US" altLang="zh-TW" sz="2200" dirty="0"/>
              <a:t> and </a:t>
            </a:r>
            <a:r>
              <a:rPr lang="en-US" altLang="zh-TW" sz="2200" i="1" dirty="0"/>
              <a:t>Y</a:t>
            </a:r>
            <a:r>
              <a:rPr lang="en-US" altLang="zh-TW" sz="2200" dirty="0"/>
              <a:t>, as is the sequence </a:t>
            </a:r>
            <a:r>
              <a:rPr lang="en-US" altLang="zh-TW" sz="2200" dirty="0">
                <a:solidFill>
                  <a:srgbClr val="000000"/>
                </a:solidFill>
                <a:sym typeface="Symbol" panose="05050102010706020507" pitchFamily="18" charset="2"/>
              </a:rPr>
              <a:t></a:t>
            </a:r>
            <a:r>
              <a:rPr lang="en-US" altLang="zh-TW" sz="2200" i="1" dirty="0">
                <a:solidFill>
                  <a:srgbClr val="000000"/>
                </a:solidFill>
              </a:rPr>
              <a:t>b</a:t>
            </a:r>
            <a:r>
              <a:rPr lang="en-US" altLang="zh-TW" sz="2200" dirty="0">
                <a:solidFill>
                  <a:srgbClr val="000000"/>
                </a:solidFill>
              </a:rPr>
              <a:t>,</a:t>
            </a:r>
            <a:r>
              <a:rPr lang="en-US" altLang="zh-TW" sz="2200" dirty="0">
                <a:solidFill>
                  <a:srgbClr val="000000"/>
                </a:solidFill>
                <a:sym typeface="Symbol" panose="05050102010706020507" pitchFamily="18" charset="2"/>
              </a:rPr>
              <a:t> </a:t>
            </a:r>
            <a:r>
              <a:rPr lang="en-US" altLang="zh-TW" sz="2200" i="1" dirty="0">
                <a:solidFill>
                  <a:srgbClr val="000000"/>
                </a:solidFill>
              </a:rPr>
              <a:t>d</a:t>
            </a:r>
            <a:r>
              <a:rPr lang="en-US" altLang="zh-TW" sz="2200" dirty="0">
                <a:solidFill>
                  <a:srgbClr val="000000"/>
                </a:solidFill>
              </a:rPr>
              <a:t>, </a:t>
            </a:r>
            <a:r>
              <a:rPr lang="en-US" altLang="zh-TW" sz="2200" i="1" dirty="0">
                <a:solidFill>
                  <a:srgbClr val="000000"/>
                </a:solidFill>
                <a:sym typeface="Symbol" panose="05050102010706020507" pitchFamily="18" charset="2"/>
              </a:rPr>
              <a:t>a</a:t>
            </a:r>
            <a:r>
              <a:rPr lang="en-US" altLang="zh-TW" sz="2200" dirty="0">
                <a:solidFill>
                  <a:srgbClr val="000000"/>
                </a:solidFill>
                <a:sym typeface="Symbol" panose="05050102010706020507" pitchFamily="18" charset="2"/>
              </a:rPr>
              <a:t>, </a:t>
            </a:r>
            <a:r>
              <a:rPr lang="en-US" altLang="zh-TW" sz="2200" i="1" dirty="0">
                <a:solidFill>
                  <a:srgbClr val="000000"/>
                </a:solidFill>
              </a:rPr>
              <a:t>b</a:t>
            </a:r>
            <a:r>
              <a:rPr lang="en-US" altLang="zh-TW" sz="2200" dirty="0">
                <a:solidFill>
                  <a:srgbClr val="000000"/>
                </a:solidFill>
                <a:sym typeface="Symbol" panose="05050102010706020507" pitchFamily="18" charset="2"/>
              </a:rPr>
              <a:t></a:t>
            </a:r>
            <a:r>
              <a:rPr lang="en-US" altLang="zh-TW" sz="2200" dirty="0"/>
              <a:t>, since </a:t>
            </a:r>
            <a:r>
              <a:rPr lang="en-US" altLang="zh-TW" sz="2200" i="1" dirty="0"/>
              <a:t>X</a:t>
            </a:r>
            <a:r>
              <a:rPr lang="en-US" altLang="zh-TW" sz="2200" dirty="0"/>
              <a:t> and </a:t>
            </a:r>
            <a:r>
              <a:rPr lang="en-US" altLang="zh-TW" sz="2200" i="1" dirty="0"/>
              <a:t>Y</a:t>
            </a:r>
            <a:r>
              <a:rPr lang="en-US" altLang="zh-TW" sz="2200" dirty="0"/>
              <a:t> have no common subsequence of length 5 or greater.</a:t>
            </a:r>
          </a:p>
          <a:p>
            <a:pPr indent="358775"/>
            <a:r>
              <a:rPr lang="en-US" altLang="zh-TW" sz="2200" dirty="0"/>
              <a:t>In the </a:t>
            </a:r>
            <a:r>
              <a:rPr lang="en-US" altLang="zh-TW" sz="2200" i="1" dirty="0">
                <a:solidFill>
                  <a:srgbClr val="0000FF"/>
                </a:solidFill>
              </a:rPr>
              <a:t>longest-common-subsequence problem</a:t>
            </a:r>
            <a:r>
              <a:rPr lang="en-US" altLang="zh-TW" sz="2200" dirty="0"/>
              <a:t>, the input is two sequences </a:t>
            </a:r>
            <a:r>
              <a:rPr lang="en-US" altLang="zh-TW" sz="2200" i="1" dirty="0">
                <a:solidFill>
                  <a:srgbClr val="000000"/>
                </a:solidFill>
              </a:rPr>
              <a:t>X</a:t>
            </a:r>
            <a:r>
              <a:rPr lang="en-US" altLang="zh-TW" sz="2200" dirty="0">
                <a:solidFill>
                  <a:srgbClr val="000000"/>
                </a:solidFill>
              </a:rPr>
              <a:t>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200" dirty="0">
                <a:solidFill>
                  <a:srgbClr val="000000"/>
                </a:solidFill>
              </a:rPr>
              <a:t> </a:t>
            </a:r>
            <a:r>
              <a:rPr lang="en-US" altLang="zh-TW" sz="2200" spc="300" dirty="0">
                <a:solidFill>
                  <a:srgbClr val="000000"/>
                </a:solidFill>
                <a:sym typeface="Symbol" panose="05050102010706020507" pitchFamily="18" charset="2"/>
              </a:rPr>
              <a:t></a:t>
            </a:r>
            <a:r>
              <a:rPr lang="en-US" altLang="zh-TW" sz="2200" i="1" dirty="0" err="1">
                <a:solidFill>
                  <a:srgbClr val="000000"/>
                </a:solidFill>
              </a:rPr>
              <a:t>x</a:t>
            </a:r>
            <a:r>
              <a:rPr lang="en-US" altLang="zh-TW" sz="2200" baseline="-25000" dirty="0" err="1">
                <a:solidFill>
                  <a:srgbClr val="000000"/>
                </a:solidFill>
              </a:rPr>
              <a:t>1</a:t>
            </a:r>
            <a:r>
              <a:rPr lang="en-US" altLang="zh-TW" sz="2200" dirty="0">
                <a:solidFill>
                  <a:srgbClr val="000000"/>
                </a:solidFill>
              </a:rPr>
              <a:t>, </a:t>
            </a:r>
            <a:r>
              <a:rPr lang="en-US" altLang="zh-TW" sz="2200" i="1" dirty="0" err="1">
                <a:solidFill>
                  <a:srgbClr val="000000"/>
                </a:solidFill>
              </a:rPr>
              <a:t>x</a:t>
            </a:r>
            <a:r>
              <a:rPr lang="en-US" altLang="zh-TW" sz="2200" baseline="-25000" dirty="0" err="1">
                <a:solidFill>
                  <a:srgbClr val="000000"/>
                </a:solidFill>
              </a:rPr>
              <a:t>2</a:t>
            </a:r>
            <a:r>
              <a:rPr lang="en-US" altLang="zh-TW" sz="2200" dirty="0">
                <a:solidFill>
                  <a:srgbClr val="000000"/>
                </a:solidFill>
              </a:rPr>
              <a:t>, . . ., </a:t>
            </a:r>
            <a:r>
              <a:rPr lang="en-US" altLang="zh-TW" sz="2200" i="1" dirty="0" err="1">
                <a:solidFill>
                  <a:srgbClr val="000000"/>
                </a:solidFill>
              </a:rPr>
              <a:t>x</a:t>
            </a:r>
            <a:r>
              <a:rPr lang="en-US" altLang="zh-TW" sz="2200" i="1" spc="300" baseline="-25000" dirty="0" err="1">
                <a:solidFill>
                  <a:srgbClr val="000000"/>
                </a:solidFill>
              </a:rPr>
              <a:t>m</a:t>
            </a:r>
            <a:r>
              <a:rPr lang="en-US" altLang="zh-TW" sz="2200" dirty="0">
                <a:solidFill>
                  <a:srgbClr val="000000"/>
                </a:solidFill>
                <a:sym typeface="Symbol" panose="05050102010706020507" pitchFamily="18" charset="2"/>
              </a:rPr>
              <a:t></a:t>
            </a:r>
            <a:r>
              <a:rPr lang="en-US" altLang="zh-TW" sz="2200" dirty="0"/>
              <a:t> and </a:t>
            </a:r>
            <a:r>
              <a:rPr lang="en-US" altLang="zh-TW" sz="2200" i="1" dirty="0">
                <a:solidFill>
                  <a:srgbClr val="000000"/>
                </a:solidFill>
              </a:rPr>
              <a:t>Y</a:t>
            </a:r>
            <a:r>
              <a:rPr lang="en-US" altLang="zh-TW" sz="2200" dirty="0">
                <a:solidFill>
                  <a:srgbClr val="000000"/>
                </a:solidFill>
              </a:rPr>
              <a:t>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200" dirty="0">
                <a:solidFill>
                  <a:srgbClr val="000000"/>
                </a:solidFill>
              </a:rPr>
              <a:t> </a:t>
            </a:r>
            <a:r>
              <a:rPr lang="en-US" altLang="zh-TW" sz="2200" dirty="0">
                <a:solidFill>
                  <a:srgbClr val="000000"/>
                </a:solidFill>
                <a:sym typeface="Symbol" panose="05050102010706020507" pitchFamily="18" charset="2"/>
              </a:rPr>
              <a:t> </a:t>
            </a:r>
            <a:r>
              <a:rPr lang="en-US" altLang="zh-TW" sz="2200" i="1" dirty="0" err="1">
                <a:solidFill>
                  <a:srgbClr val="000000"/>
                </a:solidFill>
              </a:rPr>
              <a:t>y</a:t>
            </a:r>
            <a:r>
              <a:rPr lang="en-US" altLang="zh-TW" sz="2200" baseline="-25000" dirty="0" err="1">
                <a:solidFill>
                  <a:srgbClr val="000000"/>
                </a:solidFill>
              </a:rPr>
              <a:t>1</a:t>
            </a:r>
            <a:r>
              <a:rPr lang="en-US" altLang="zh-TW" sz="2200" dirty="0">
                <a:solidFill>
                  <a:srgbClr val="000000"/>
                </a:solidFill>
              </a:rPr>
              <a:t>, </a:t>
            </a:r>
            <a:r>
              <a:rPr lang="en-US" altLang="zh-TW" sz="2200" i="1" dirty="0" err="1">
                <a:solidFill>
                  <a:srgbClr val="000000"/>
                </a:solidFill>
              </a:rPr>
              <a:t>y</a:t>
            </a:r>
            <a:r>
              <a:rPr lang="en-US" altLang="zh-TW" sz="2200" baseline="-25000" dirty="0" err="1">
                <a:solidFill>
                  <a:srgbClr val="000000"/>
                </a:solidFill>
              </a:rPr>
              <a:t>2</a:t>
            </a:r>
            <a:r>
              <a:rPr lang="en-US" altLang="zh-TW" sz="2200" dirty="0">
                <a:solidFill>
                  <a:srgbClr val="000000"/>
                </a:solidFill>
              </a:rPr>
              <a:t>, . . ., </a:t>
            </a:r>
            <a:r>
              <a:rPr lang="en-US" altLang="zh-TW" sz="2200" i="1" dirty="0" err="1">
                <a:solidFill>
                  <a:srgbClr val="000000"/>
                </a:solidFill>
              </a:rPr>
              <a:t>y</a:t>
            </a:r>
            <a:r>
              <a:rPr lang="en-US" altLang="zh-TW" sz="2200" i="1" spc="300" baseline="-25000" dirty="0" err="1">
                <a:solidFill>
                  <a:srgbClr val="000000"/>
                </a:solidFill>
              </a:rPr>
              <a:t>n</a:t>
            </a:r>
            <a:r>
              <a:rPr lang="en-US" altLang="zh-TW" sz="2200" dirty="0">
                <a:solidFill>
                  <a:srgbClr val="000000"/>
                </a:solidFill>
                <a:sym typeface="Symbol" panose="05050102010706020507" pitchFamily="18" charset="2"/>
              </a:rPr>
              <a:t>,</a:t>
            </a:r>
            <a:r>
              <a:rPr lang="en-US" altLang="zh-TW" sz="2200" dirty="0"/>
              <a:t> and the goal is to find a maximum length common subsequence of </a:t>
            </a:r>
            <a:r>
              <a:rPr lang="en-US" altLang="zh-TW" sz="2200" i="1" dirty="0"/>
              <a:t>X</a:t>
            </a:r>
            <a:r>
              <a:rPr lang="en-US" altLang="zh-TW" sz="2200" dirty="0"/>
              <a:t> and </a:t>
            </a:r>
            <a:r>
              <a:rPr lang="en-US" altLang="zh-TW" sz="2200" i="1" dirty="0"/>
              <a:t>Y</a:t>
            </a:r>
            <a:r>
              <a:rPr lang="en-US" altLang="zh-TW" sz="2200" dirty="0"/>
              <a:t>.</a:t>
            </a:r>
            <a:endParaRPr lang="zh-TW" altLang="en-US" sz="2200" dirty="0"/>
          </a:p>
        </p:txBody>
      </p:sp>
    </p:spTree>
    <p:extLst>
      <p:ext uri="{BB962C8B-B14F-4D97-AF65-F5344CB8AC3E}">
        <p14:creationId xmlns:p14="http://schemas.microsoft.com/office/powerpoint/2010/main" val="894188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151063" indent="-1524000" algn="l"/>
            <a:r>
              <a:rPr lang="en-US" altLang="zh-TW" dirty="0"/>
              <a:t>Step 1:	Characterizing a Longest Common Subsequence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2000" y="1808999"/>
            <a:ext cx="7560000" cy="2700001"/>
          </a:xfrm>
        </p:spPr>
        <p:txBody>
          <a:bodyPr rIns="36000"/>
          <a:lstStyle/>
          <a:p>
            <a:pPr marL="0" indent="0"/>
            <a:r>
              <a:rPr lang="en-US" altLang="zh-TW" sz="2200" i="1" dirty="0">
                <a:solidFill>
                  <a:srgbClr val="0000FF"/>
                </a:solidFill>
              </a:rPr>
              <a:t>Theorem (Optimal substructure of an LCS)</a:t>
            </a:r>
          </a:p>
          <a:p>
            <a:pPr marL="0" indent="0"/>
            <a:r>
              <a:rPr lang="en-US" altLang="zh-TW" sz="2200" dirty="0"/>
              <a:t>Let </a:t>
            </a:r>
            <a:r>
              <a:rPr lang="en-US" altLang="zh-TW" sz="2200" i="1" dirty="0">
                <a:solidFill>
                  <a:srgbClr val="000000"/>
                </a:solidFill>
              </a:rPr>
              <a:t>X</a:t>
            </a:r>
            <a:r>
              <a:rPr lang="en-US" altLang="zh-TW" sz="2200" dirty="0">
                <a:solidFill>
                  <a:srgbClr val="000000"/>
                </a:solidFill>
              </a:rPr>
              <a:t>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200" dirty="0">
                <a:solidFill>
                  <a:srgbClr val="000000"/>
                </a:solidFill>
              </a:rPr>
              <a:t> </a:t>
            </a:r>
            <a:r>
              <a:rPr lang="en-US" altLang="zh-TW" sz="2200" spc="300" dirty="0">
                <a:solidFill>
                  <a:srgbClr val="000000"/>
                </a:solidFill>
                <a:sym typeface="Symbol" panose="05050102010706020507" pitchFamily="18" charset="2"/>
              </a:rPr>
              <a:t></a:t>
            </a:r>
            <a:r>
              <a:rPr lang="en-US" altLang="zh-TW" sz="2200" i="1" dirty="0" err="1">
                <a:solidFill>
                  <a:srgbClr val="000000"/>
                </a:solidFill>
              </a:rPr>
              <a:t>x</a:t>
            </a:r>
            <a:r>
              <a:rPr lang="en-US" altLang="zh-TW" sz="2200" baseline="-25000" dirty="0" err="1">
                <a:solidFill>
                  <a:srgbClr val="000000"/>
                </a:solidFill>
              </a:rPr>
              <a:t>1</a:t>
            </a:r>
            <a:r>
              <a:rPr lang="en-US" altLang="zh-TW" sz="2200" dirty="0">
                <a:solidFill>
                  <a:srgbClr val="000000"/>
                </a:solidFill>
              </a:rPr>
              <a:t>, </a:t>
            </a:r>
            <a:r>
              <a:rPr lang="en-US" altLang="zh-TW" sz="2200" i="1" dirty="0" err="1">
                <a:solidFill>
                  <a:srgbClr val="000000"/>
                </a:solidFill>
              </a:rPr>
              <a:t>x</a:t>
            </a:r>
            <a:r>
              <a:rPr lang="en-US" altLang="zh-TW" sz="2200" baseline="-25000" dirty="0" err="1">
                <a:solidFill>
                  <a:srgbClr val="000000"/>
                </a:solidFill>
              </a:rPr>
              <a:t>2</a:t>
            </a:r>
            <a:r>
              <a:rPr lang="en-US" altLang="zh-TW" sz="2200" dirty="0">
                <a:solidFill>
                  <a:srgbClr val="000000"/>
                </a:solidFill>
              </a:rPr>
              <a:t>, . . ., </a:t>
            </a:r>
            <a:r>
              <a:rPr lang="en-US" altLang="zh-TW" sz="2200" i="1" dirty="0" err="1">
                <a:solidFill>
                  <a:srgbClr val="000000"/>
                </a:solidFill>
              </a:rPr>
              <a:t>x</a:t>
            </a:r>
            <a:r>
              <a:rPr lang="en-US" altLang="zh-TW" sz="2200" i="1" spc="300" baseline="-25000" dirty="0" err="1">
                <a:solidFill>
                  <a:srgbClr val="000000"/>
                </a:solidFill>
              </a:rPr>
              <a:t>m</a:t>
            </a:r>
            <a:r>
              <a:rPr lang="en-US" altLang="zh-TW" sz="2200" dirty="0">
                <a:solidFill>
                  <a:srgbClr val="000000"/>
                </a:solidFill>
                <a:sym typeface="Symbol" panose="05050102010706020507" pitchFamily="18" charset="2"/>
              </a:rPr>
              <a:t></a:t>
            </a:r>
            <a:r>
              <a:rPr lang="en-US" altLang="zh-TW" sz="2200" dirty="0">
                <a:solidFill>
                  <a:srgbClr val="000000"/>
                </a:solidFill>
              </a:rPr>
              <a:t> and </a:t>
            </a:r>
            <a:r>
              <a:rPr lang="en-US" altLang="zh-TW" sz="2200" i="1" dirty="0">
                <a:solidFill>
                  <a:srgbClr val="000000"/>
                </a:solidFill>
              </a:rPr>
              <a:t>Y</a:t>
            </a:r>
            <a:r>
              <a:rPr lang="en-US" altLang="zh-TW" sz="2200" dirty="0">
                <a:solidFill>
                  <a:srgbClr val="000000"/>
                </a:solidFill>
              </a:rPr>
              <a:t>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200" dirty="0">
                <a:solidFill>
                  <a:srgbClr val="000000"/>
                </a:solidFill>
              </a:rPr>
              <a:t> </a:t>
            </a:r>
            <a:r>
              <a:rPr lang="en-US" altLang="zh-TW" sz="2200" dirty="0">
                <a:solidFill>
                  <a:srgbClr val="000000"/>
                </a:solidFill>
                <a:sym typeface="Symbol" panose="05050102010706020507" pitchFamily="18" charset="2"/>
              </a:rPr>
              <a:t> </a:t>
            </a:r>
            <a:r>
              <a:rPr lang="en-US" altLang="zh-TW" sz="2200" i="1" dirty="0" err="1">
                <a:solidFill>
                  <a:srgbClr val="000000"/>
                </a:solidFill>
              </a:rPr>
              <a:t>y</a:t>
            </a:r>
            <a:r>
              <a:rPr lang="en-US" altLang="zh-TW" sz="2200" baseline="-25000" dirty="0" err="1">
                <a:solidFill>
                  <a:srgbClr val="000000"/>
                </a:solidFill>
              </a:rPr>
              <a:t>1</a:t>
            </a:r>
            <a:r>
              <a:rPr lang="en-US" altLang="zh-TW" sz="2200" dirty="0">
                <a:solidFill>
                  <a:srgbClr val="000000"/>
                </a:solidFill>
              </a:rPr>
              <a:t>, </a:t>
            </a:r>
            <a:r>
              <a:rPr lang="en-US" altLang="zh-TW" sz="2200" i="1" dirty="0" err="1">
                <a:solidFill>
                  <a:srgbClr val="000000"/>
                </a:solidFill>
              </a:rPr>
              <a:t>y</a:t>
            </a:r>
            <a:r>
              <a:rPr lang="en-US" altLang="zh-TW" sz="2200" baseline="-25000" dirty="0" err="1">
                <a:solidFill>
                  <a:srgbClr val="000000"/>
                </a:solidFill>
              </a:rPr>
              <a:t>2</a:t>
            </a:r>
            <a:r>
              <a:rPr lang="en-US" altLang="zh-TW" sz="2200" dirty="0">
                <a:solidFill>
                  <a:srgbClr val="000000"/>
                </a:solidFill>
              </a:rPr>
              <a:t>, . . ., </a:t>
            </a:r>
            <a:r>
              <a:rPr lang="en-US" altLang="zh-TW" sz="2200" i="1" dirty="0" err="1">
                <a:solidFill>
                  <a:srgbClr val="000000"/>
                </a:solidFill>
              </a:rPr>
              <a:t>y</a:t>
            </a:r>
            <a:r>
              <a:rPr lang="en-US" altLang="zh-TW" sz="2200" i="1" spc="300" baseline="-25000" dirty="0" err="1">
                <a:solidFill>
                  <a:srgbClr val="000000"/>
                </a:solidFill>
              </a:rPr>
              <a:t>n</a:t>
            </a:r>
            <a:r>
              <a:rPr lang="en-US" altLang="zh-TW" sz="2200" dirty="0">
                <a:solidFill>
                  <a:srgbClr val="000000"/>
                </a:solidFill>
                <a:sym typeface="Symbol" panose="05050102010706020507" pitchFamily="18" charset="2"/>
              </a:rPr>
              <a:t></a:t>
            </a:r>
            <a:r>
              <a:rPr lang="en-US" altLang="zh-TW" sz="2200" dirty="0"/>
              <a:t> be sequences.</a:t>
            </a:r>
          </a:p>
          <a:p>
            <a:pPr marL="1530000" indent="-1530000">
              <a:tabLst>
                <a:tab pos="2250000" algn="l"/>
                <a:tab pos="4500000" algn="l"/>
                <a:tab pos="6390000" algn="l"/>
              </a:tabLst>
            </a:pPr>
            <a:r>
              <a:rPr lang="en-US" altLang="zh-TW" sz="2200" dirty="0"/>
              <a:t>1. If </a:t>
            </a:r>
            <a:r>
              <a:rPr lang="en-US" altLang="zh-TW" sz="2200" i="1" dirty="0" err="1">
                <a:solidFill>
                  <a:srgbClr val="000000"/>
                </a:solidFill>
              </a:rPr>
              <a:t>x</a:t>
            </a:r>
            <a:r>
              <a:rPr lang="en-US" altLang="zh-TW" sz="2200" i="1" baseline="-25000" dirty="0" err="1">
                <a:solidFill>
                  <a:srgbClr val="000000"/>
                </a:solidFill>
              </a:rPr>
              <a:t>m</a:t>
            </a:r>
            <a:r>
              <a:rPr lang="en-US" altLang="zh-TW" sz="2200" dirty="0"/>
              <a:t>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200" dirty="0"/>
              <a:t> </a:t>
            </a:r>
            <a:r>
              <a:rPr lang="en-US" altLang="zh-TW" sz="2200" i="1" dirty="0" err="1">
                <a:solidFill>
                  <a:srgbClr val="000000"/>
                </a:solidFill>
              </a:rPr>
              <a:t>y</a:t>
            </a:r>
            <a:r>
              <a:rPr lang="en-US" altLang="zh-TW" sz="2200" i="1" baseline="-25000" dirty="0" err="1">
                <a:solidFill>
                  <a:srgbClr val="000000"/>
                </a:solidFill>
              </a:rPr>
              <a:t>n</a:t>
            </a:r>
            <a:r>
              <a:rPr lang="en-US" altLang="zh-TW" sz="2200" dirty="0"/>
              <a:t>,	</a:t>
            </a:r>
            <a:r>
              <a:rPr lang="en-US" altLang="zh-TW" sz="2200" dirty="0">
                <a:solidFill>
                  <a:schemeClr val="bg1"/>
                </a:solidFill>
              </a:rPr>
              <a:t>let </a:t>
            </a:r>
            <a:r>
              <a:rPr lang="en-US" altLang="zh-TW" sz="2200" i="1" dirty="0">
                <a:solidFill>
                  <a:schemeClr val="bg1"/>
                </a:solidFill>
              </a:rPr>
              <a:t>Z</a:t>
            </a:r>
            <a:r>
              <a:rPr lang="en-US" altLang="zh-TW" sz="2200" dirty="0">
                <a:solidFill>
                  <a:schemeClr val="bg1"/>
                </a:solidFill>
              </a:rPr>
              <a:t> </a:t>
            </a:r>
            <a:r>
              <a:rPr lang="en-US" altLang="zh-TW" sz="2200" dirty="0">
                <a:solidFill>
                  <a:schemeClr val="bg1"/>
                </a:solidFill>
                <a:latin typeface="Symbol" panose="05050102010706020507" pitchFamily="18" charset="2"/>
              </a:rPr>
              <a:t>=</a:t>
            </a:r>
            <a:r>
              <a:rPr lang="en-US" altLang="zh-TW" sz="2200" dirty="0">
                <a:solidFill>
                  <a:schemeClr val="bg1"/>
                </a:solidFill>
              </a:rPr>
              <a:t> </a:t>
            </a:r>
            <a:r>
              <a:rPr lang="en-US" altLang="zh-TW" sz="2200" spc="300" dirty="0">
                <a:solidFill>
                  <a:schemeClr val="bg1"/>
                </a:solidFill>
                <a:sym typeface="Symbol" panose="05050102010706020507" pitchFamily="18" charset="2"/>
              </a:rPr>
              <a:t></a:t>
            </a:r>
            <a:r>
              <a:rPr lang="en-US" altLang="zh-TW" sz="2200" i="1" dirty="0" err="1">
                <a:solidFill>
                  <a:schemeClr val="bg1"/>
                </a:solidFill>
              </a:rPr>
              <a:t>z</a:t>
            </a:r>
            <a:r>
              <a:rPr lang="en-US" altLang="zh-TW" sz="2200" baseline="-25000" dirty="0" err="1">
                <a:solidFill>
                  <a:schemeClr val="bg1"/>
                </a:solidFill>
              </a:rPr>
              <a:t>1</a:t>
            </a:r>
            <a:r>
              <a:rPr lang="en-US" altLang="zh-TW" sz="2200" dirty="0">
                <a:solidFill>
                  <a:schemeClr val="bg1"/>
                </a:solidFill>
              </a:rPr>
              <a:t>, </a:t>
            </a:r>
            <a:r>
              <a:rPr lang="en-US" altLang="zh-TW" sz="2200" i="1" dirty="0" err="1">
                <a:solidFill>
                  <a:schemeClr val="bg1"/>
                </a:solidFill>
              </a:rPr>
              <a:t>z</a:t>
            </a:r>
            <a:r>
              <a:rPr lang="en-US" altLang="zh-TW" sz="2200" baseline="-25000" dirty="0" err="1">
                <a:solidFill>
                  <a:schemeClr val="bg1"/>
                </a:solidFill>
              </a:rPr>
              <a:t>2</a:t>
            </a:r>
            <a:r>
              <a:rPr lang="en-US" altLang="zh-TW" sz="2200" dirty="0">
                <a:solidFill>
                  <a:schemeClr val="bg1"/>
                </a:solidFill>
              </a:rPr>
              <a:t>, . . ., </a:t>
            </a:r>
            <a:r>
              <a:rPr lang="en-US" altLang="zh-TW" sz="2200" i="1" dirty="0" err="1">
                <a:solidFill>
                  <a:schemeClr val="bg1"/>
                </a:solidFill>
              </a:rPr>
              <a:t>z</a:t>
            </a:r>
            <a:r>
              <a:rPr lang="en-US" altLang="zh-TW" sz="2200" i="1" spc="300" baseline="-25000" dirty="0" err="1">
                <a:solidFill>
                  <a:schemeClr val="bg1"/>
                </a:solidFill>
              </a:rPr>
              <a:t>k</a:t>
            </a:r>
            <a:r>
              <a:rPr lang="en-US" altLang="zh-TW" sz="2200" dirty="0">
                <a:solidFill>
                  <a:schemeClr val="bg1"/>
                </a:solidFill>
                <a:sym typeface="Symbol" panose="05050102010706020507" pitchFamily="18" charset="2"/>
              </a:rPr>
              <a:t> be	</a:t>
            </a:r>
            <a:r>
              <a:rPr lang="en-US" altLang="zh-TW" sz="2200" dirty="0">
                <a:solidFill>
                  <a:schemeClr val="bg1"/>
                </a:solidFill>
              </a:rPr>
              <a:t>an LCS of </a:t>
            </a:r>
            <a:r>
              <a:rPr lang="en-US" altLang="zh-TW" sz="2200" i="1" dirty="0" err="1">
                <a:solidFill>
                  <a:schemeClr val="bg1"/>
                </a:solidFill>
              </a:rPr>
              <a:t>X</a:t>
            </a:r>
            <a:r>
              <a:rPr lang="en-US" altLang="zh-TW" sz="2200" i="1" spc="150" baseline="-25000" dirty="0" err="1">
                <a:solidFill>
                  <a:schemeClr val="bg1"/>
                </a:solidFill>
              </a:rPr>
              <a:t>m</a:t>
            </a:r>
            <a:r>
              <a:rPr lang="en-US" altLang="zh-TW" sz="2200" baseline="-25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2200" baseline="-25000" dirty="0">
                <a:solidFill>
                  <a:schemeClr val="bg1"/>
                </a:solidFill>
              </a:rPr>
              <a:t>1</a:t>
            </a:r>
            <a:r>
              <a:rPr lang="en-US" altLang="zh-TW" sz="2200" dirty="0">
                <a:solidFill>
                  <a:schemeClr val="bg1"/>
                </a:solidFill>
              </a:rPr>
              <a:t>	and </a:t>
            </a:r>
            <a:r>
              <a:rPr lang="en-US" altLang="zh-TW" sz="2200" i="1" dirty="0" err="1">
                <a:solidFill>
                  <a:schemeClr val="bg1"/>
                </a:solidFill>
              </a:rPr>
              <a:t>Y</a:t>
            </a:r>
            <a:r>
              <a:rPr lang="en-US" altLang="zh-TW" sz="2200" i="1" spc="150" baseline="-25000" dirty="0" err="1">
                <a:solidFill>
                  <a:schemeClr val="bg1"/>
                </a:solidFill>
              </a:rPr>
              <a:t>n</a:t>
            </a:r>
            <a:r>
              <a:rPr lang="en-US" altLang="zh-TW" sz="2200" baseline="-25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2200" baseline="-25000" dirty="0">
                <a:solidFill>
                  <a:schemeClr val="bg1"/>
                </a:solidFill>
              </a:rPr>
              <a:t>1</a:t>
            </a:r>
            <a:r>
              <a:rPr lang="en-US" altLang="zh-TW" sz="2200" dirty="0">
                <a:solidFill>
                  <a:schemeClr val="bg1"/>
                </a:solidFill>
              </a:rPr>
              <a:t>, then </a:t>
            </a:r>
            <a:r>
              <a:rPr lang="en-US" altLang="zh-TW" sz="2200" spc="300" dirty="0">
                <a:solidFill>
                  <a:schemeClr val="bg1"/>
                </a:solidFill>
                <a:sym typeface="Symbol" panose="05050102010706020507" pitchFamily="18" charset="2"/>
              </a:rPr>
              <a:t></a:t>
            </a:r>
            <a:r>
              <a:rPr lang="en-US" altLang="zh-TW" sz="2200" i="1" dirty="0" err="1">
                <a:solidFill>
                  <a:schemeClr val="bg1"/>
                </a:solidFill>
              </a:rPr>
              <a:t>z</a:t>
            </a:r>
            <a:r>
              <a:rPr lang="en-US" altLang="zh-TW" sz="2200" baseline="-25000" dirty="0" err="1">
                <a:solidFill>
                  <a:schemeClr val="bg1"/>
                </a:solidFill>
              </a:rPr>
              <a:t>1</a:t>
            </a:r>
            <a:r>
              <a:rPr lang="en-US" altLang="zh-TW" sz="2200" dirty="0">
                <a:solidFill>
                  <a:schemeClr val="bg1"/>
                </a:solidFill>
              </a:rPr>
              <a:t>, </a:t>
            </a:r>
            <a:r>
              <a:rPr lang="en-US" altLang="zh-TW" sz="2200" i="1" dirty="0" err="1">
                <a:solidFill>
                  <a:schemeClr val="bg1"/>
                </a:solidFill>
              </a:rPr>
              <a:t>z</a:t>
            </a:r>
            <a:r>
              <a:rPr lang="en-US" altLang="zh-TW" sz="2200" baseline="-25000" dirty="0" err="1">
                <a:solidFill>
                  <a:schemeClr val="bg1"/>
                </a:solidFill>
              </a:rPr>
              <a:t>2</a:t>
            </a:r>
            <a:r>
              <a:rPr lang="en-US" altLang="zh-TW" sz="2200" dirty="0">
                <a:solidFill>
                  <a:schemeClr val="bg1"/>
                </a:solidFill>
              </a:rPr>
              <a:t>, . . ., </a:t>
            </a:r>
            <a:r>
              <a:rPr lang="en-US" altLang="zh-TW" sz="2200" i="1" dirty="0" err="1">
                <a:solidFill>
                  <a:schemeClr val="bg1"/>
                </a:solidFill>
              </a:rPr>
              <a:t>z</a:t>
            </a:r>
            <a:r>
              <a:rPr lang="en-US" altLang="zh-TW" sz="2200" i="1" baseline="-25000" dirty="0" err="1">
                <a:solidFill>
                  <a:schemeClr val="bg1"/>
                </a:solidFill>
              </a:rPr>
              <a:t>k</a:t>
            </a:r>
            <a:r>
              <a:rPr lang="en-US" altLang="zh-TW" sz="2200" dirty="0">
                <a:solidFill>
                  <a:schemeClr val="bg1"/>
                </a:solidFill>
              </a:rPr>
              <a:t>, </a:t>
            </a:r>
            <a:r>
              <a:rPr lang="en-US" altLang="zh-TW" sz="2200" i="1" dirty="0" err="1">
                <a:solidFill>
                  <a:schemeClr val="bg1"/>
                </a:solidFill>
              </a:rPr>
              <a:t>x</a:t>
            </a:r>
            <a:r>
              <a:rPr lang="en-US" altLang="zh-TW" sz="2200" i="1" spc="300" baseline="-25000" dirty="0" err="1">
                <a:solidFill>
                  <a:schemeClr val="bg1"/>
                </a:solidFill>
              </a:rPr>
              <a:t>m</a:t>
            </a:r>
            <a:r>
              <a:rPr lang="en-US" altLang="zh-TW" sz="2200" dirty="0">
                <a:solidFill>
                  <a:schemeClr val="bg1"/>
                </a:solidFill>
                <a:sym typeface="Symbol" panose="05050102010706020507" pitchFamily="18" charset="2"/>
              </a:rPr>
              <a:t></a:t>
            </a:r>
            <a:r>
              <a:rPr lang="en-US" altLang="zh-TW" sz="2200" dirty="0">
                <a:solidFill>
                  <a:schemeClr val="bg1"/>
                </a:solidFill>
              </a:rPr>
              <a:t> is	an LCS of </a:t>
            </a:r>
            <a:r>
              <a:rPr lang="en-US" altLang="zh-TW" sz="2200" i="1" dirty="0">
                <a:solidFill>
                  <a:schemeClr val="bg1"/>
                </a:solidFill>
              </a:rPr>
              <a:t>X</a:t>
            </a:r>
            <a:r>
              <a:rPr lang="en-US" altLang="zh-TW" sz="2200" dirty="0">
                <a:solidFill>
                  <a:schemeClr val="bg1"/>
                </a:solidFill>
              </a:rPr>
              <a:t>	and </a:t>
            </a:r>
            <a:r>
              <a:rPr lang="en-US" altLang="zh-TW" sz="2200" i="1" dirty="0">
                <a:solidFill>
                  <a:schemeClr val="bg1"/>
                </a:solidFill>
              </a:rPr>
              <a:t>Y</a:t>
            </a:r>
            <a:r>
              <a:rPr lang="en-US" altLang="zh-TW" sz="2200" dirty="0">
                <a:solidFill>
                  <a:schemeClr val="bg1"/>
                </a:solidFill>
              </a:rPr>
              <a:t>.</a:t>
            </a:r>
          </a:p>
          <a:p>
            <a:pPr marL="1530000" indent="-1530000">
              <a:tabLst>
                <a:tab pos="4410000" algn="l"/>
                <a:tab pos="5580000" algn="l"/>
              </a:tabLst>
            </a:pPr>
            <a:r>
              <a:rPr lang="en-US" altLang="zh-TW" sz="2200" dirty="0"/>
              <a:t>2. If </a:t>
            </a:r>
            <a:r>
              <a:rPr lang="en-US" altLang="zh-TW" sz="2200" i="1" dirty="0" err="1">
                <a:solidFill>
                  <a:srgbClr val="000000"/>
                </a:solidFill>
              </a:rPr>
              <a:t>x</a:t>
            </a:r>
            <a:r>
              <a:rPr lang="en-US" altLang="zh-TW" sz="2200" i="1" baseline="-25000" dirty="0" err="1">
                <a:solidFill>
                  <a:srgbClr val="000000"/>
                </a:solidFill>
              </a:rPr>
              <a:t>m</a:t>
            </a:r>
            <a:r>
              <a:rPr lang="en-US" altLang="zh-TW" sz="2200" dirty="0"/>
              <a:t> </a:t>
            </a:r>
            <a:r>
              <a:rPr lang="en-US" altLang="zh-TW" sz="2200" dirty="0"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≠</a:t>
            </a:r>
            <a:r>
              <a:rPr lang="en-US" altLang="zh-TW" sz="2200" dirty="0"/>
              <a:t> </a:t>
            </a:r>
            <a:r>
              <a:rPr lang="en-US" altLang="zh-TW" sz="2200" i="1" dirty="0" err="1">
                <a:solidFill>
                  <a:srgbClr val="000000"/>
                </a:solidFill>
              </a:rPr>
              <a:t>y</a:t>
            </a:r>
            <a:r>
              <a:rPr lang="en-US" altLang="zh-TW" sz="2200" i="1" baseline="-25000" dirty="0" err="1">
                <a:solidFill>
                  <a:srgbClr val="000000"/>
                </a:solidFill>
              </a:rPr>
              <a:t>n</a:t>
            </a:r>
            <a:r>
              <a:rPr lang="en-US" altLang="zh-TW" sz="2200" dirty="0"/>
              <a:t>,	</a:t>
            </a:r>
            <a:r>
              <a:rPr lang="en-US" altLang="zh-TW" sz="2200" dirty="0">
                <a:solidFill>
                  <a:schemeClr val="bg1"/>
                </a:solidFill>
              </a:rPr>
              <a:t>let </a:t>
            </a:r>
            <a:r>
              <a:rPr lang="en-US" altLang="zh-TW" sz="2200" i="1" dirty="0" err="1">
                <a:solidFill>
                  <a:schemeClr val="bg1"/>
                </a:solidFill>
              </a:rPr>
              <a:t>Z</a:t>
            </a:r>
            <a:r>
              <a:rPr lang="en-US" altLang="zh-TW" sz="2200" baseline="-25000" dirty="0" err="1">
                <a:solidFill>
                  <a:schemeClr val="bg1"/>
                </a:solidFill>
              </a:rPr>
              <a:t>1</a:t>
            </a:r>
            <a:r>
              <a:rPr lang="en-US" altLang="zh-TW" sz="2200" dirty="0">
                <a:solidFill>
                  <a:schemeClr val="bg1"/>
                </a:solidFill>
              </a:rPr>
              <a:t> be an LCS of </a:t>
            </a:r>
            <a:r>
              <a:rPr lang="en-US" altLang="zh-TW" sz="2200" i="1" dirty="0" err="1">
                <a:solidFill>
                  <a:schemeClr val="bg1"/>
                </a:solidFill>
              </a:rPr>
              <a:t>X</a:t>
            </a:r>
            <a:r>
              <a:rPr lang="en-US" altLang="zh-TW" sz="2200" i="1" spc="150" baseline="-25000" dirty="0" err="1">
                <a:solidFill>
                  <a:schemeClr val="bg1"/>
                </a:solidFill>
              </a:rPr>
              <a:t>m</a:t>
            </a:r>
            <a:r>
              <a:rPr lang="en-US" altLang="zh-TW" sz="2200" baseline="-25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2200" baseline="-25000" dirty="0">
                <a:solidFill>
                  <a:schemeClr val="bg1"/>
                </a:solidFill>
              </a:rPr>
              <a:t>1</a:t>
            </a:r>
            <a:r>
              <a:rPr lang="en-US" altLang="zh-TW" sz="2200" dirty="0">
                <a:solidFill>
                  <a:schemeClr val="bg1"/>
                </a:solidFill>
              </a:rPr>
              <a:t>	and </a:t>
            </a:r>
            <a:r>
              <a:rPr lang="en-US" altLang="zh-TW" sz="2200" i="1" dirty="0">
                <a:solidFill>
                  <a:schemeClr val="bg1"/>
                </a:solidFill>
              </a:rPr>
              <a:t>Y</a:t>
            </a:r>
            <a:r>
              <a:rPr lang="en-US" altLang="zh-TW" sz="2200" dirty="0">
                <a:solidFill>
                  <a:schemeClr val="bg1"/>
                </a:solidFill>
              </a:rPr>
              <a:t>,	and		 let </a:t>
            </a:r>
            <a:r>
              <a:rPr lang="en-US" altLang="zh-TW" sz="2200" i="1" dirty="0" err="1">
                <a:solidFill>
                  <a:schemeClr val="bg1"/>
                </a:solidFill>
              </a:rPr>
              <a:t>Z</a:t>
            </a:r>
            <a:r>
              <a:rPr lang="en-US" altLang="zh-TW" sz="2200" baseline="-25000" dirty="0" err="1">
                <a:solidFill>
                  <a:schemeClr val="bg1"/>
                </a:solidFill>
              </a:rPr>
              <a:t>2</a:t>
            </a:r>
            <a:r>
              <a:rPr lang="en-US" altLang="zh-TW" sz="2200" dirty="0">
                <a:solidFill>
                  <a:schemeClr val="bg1"/>
                </a:solidFill>
              </a:rPr>
              <a:t> be an LCS of </a:t>
            </a:r>
            <a:r>
              <a:rPr lang="en-US" altLang="zh-TW" sz="2200" i="1" dirty="0">
                <a:solidFill>
                  <a:schemeClr val="bg1"/>
                </a:solidFill>
              </a:rPr>
              <a:t>X</a:t>
            </a:r>
            <a:r>
              <a:rPr lang="en-US" altLang="zh-TW" sz="2200" dirty="0">
                <a:solidFill>
                  <a:schemeClr val="bg1"/>
                </a:solidFill>
              </a:rPr>
              <a:t>	and </a:t>
            </a:r>
            <a:r>
              <a:rPr lang="en-US" altLang="zh-TW" sz="2200" i="1" dirty="0" err="1">
                <a:solidFill>
                  <a:schemeClr val="bg1"/>
                </a:solidFill>
              </a:rPr>
              <a:t>Y</a:t>
            </a:r>
            <a:r>
              <a:rPr lang="en-US" altLang="zh-TW" sz="2200" i="1" spc="150" baseline="-25000" dirty="0" err="1">
                <a:solidFill>
                  <a:schemeClr val="bg1"/>
                </a:solidFill>
              </a:rPr>
              <a:t>n</a:t>
            </a:r>
            <a:r>
              <a:rPr lang="en-US" altLang="zh-TW" sz="2200" baseline="-25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2200" baseline="-25000" dirty="0">
                <a:solidFill>
                  <a:schemeClr val="bg1"/>
                </a:solidFill>
              </a:rPr>
              <a:t>1</a:t>
            </a:r>
            <a:r>
              <a:rPr lang="en-US" altLang="zh-TW" sz="2200" dirty="0">
                <a:solidFill>
                  <a:schemeClr val="bg1"/>
                </a:solidFill>
              </a:rPr>
              <a:t>,	then	          the longer one of </a:t>
            </a:r>
            <a:r>
              <a:rPr lang="en-US" altLang="zh-TW" sz="2200" i="1" dirty="0" err="1">
                <a:solidFill>
                  <a:schemeClr val="bg1"/>
                </a:solidFill>
              </a:rPr>
              <a:t>Z</a:t>
            </a:r>
            <a:r>
              <a:rPr lang="en-US" altLang="zh-TW" sz="2200" baseline="-25000" dirty="0" err="1">
                <a:solidFill>
                  <a:schemeClr val="bg1"/>
                </a:solidFill>
              </a:rPr>
              <a:t>1</a:t>
            </a:r>
            <a:r>
              <a:rPr lang="en-US" altLang="zh-TW" sz="2200" dirty="0">
                <a:solidFill>
                  <a:schemeClr val="bg1"/>
                </a:solidFill>
              </a:rPr>
              <a:t> and </a:t>
            </a:r>
            <a:r>
              <a:rPr lang="en-US" altLang="zh-TW" sz="2200" i="1" dirty="0" err="1">
                <a:solidFill>
                  <a:schemeClr val="bg1"/>
                </a:solidFill>
              </a:rPr>
              <a:t>Z</a:t>
            </a:r>
            <a:r>
              <a:rPr lang="en-US" altLang="zh-TW" sz="2200" baseline="-25000" dirty="0" err="1">
                <a:solidFill>
                  <a:schemeClr val="bg1"/>
                </a:solidFill>
              </a:rPr>
              <a:t>2</a:t>
            </a:r>
            <a:r>
              <a:rPr lang="en-US" altLang="zh-TW" sz="2200" dirty="0">
                <a:solidFill>
                  <a:schemeClr val="bg1"/>
                </a:solidFill>
              </a:rPr>
              <a:t> is an LCS of </a:t>
            </a:r>
            <a:r>
              <a:rPr lang="en-US" altLang="zh-TW" sz="2200" i="1" dirty="0">
                <a:solidFill>
                  <a:schemeClr val="bg1"/>
                </a:solidFill>
              </a:rPr>
              <a:t>X</a:t>
            </a:r>
            <a:r>
              <a:rPr lang="en-US" altLang="zh-TW" sz="2200" dirty="0">
                <a:solidFill>
                  <a:schemeClr val="bg1"/>
                </a:solidFill>
              </a:rPr>
              <a:t> and </a:t>
            </a:r>
            <a:r>
              <a:rPr lang="en-US" altLang="zh-TW" sz="2200" i="1" dirty="0">
                <a:solidFill>
                  <a:schemeClr val="bg1"/>
                </a:solidFill>
              </a:rPr>
              <a:t>Y</a:t>
            </a:r>
            <a:r>
              <a:rPr lang="en-US" altLang="zh-TW" sz="2200" dirty="0">
                <a:solidFill>
                  <a:schemeClr val="bg1"/>
                </a:solidFill>
              </a:rPr>
              <a:t>.</a:t>
            </a:r>
          </a:p>
          <a:p>
            <a:pPr marL="0" indent="0">
              <a:spcBef>
                <a:spcPts val="0"/>
              </a:spcBef>
            </a:pPr>
            <a:endParaRPr lang="en-US" altLang="zh-TW" sz="2200" dirty="0"/>
          </a:p>
          <a:p>
            <a:pPr marL="0" indent="0">
              <a:spcBef>
                <a:spcPts val="0"/>
              </a:spcBef>
            </a:pPr>
            <a:endParaRPr lang="en-US" altLang="zh-TW" sz="2200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0704117"/>
              </p:ext>
            </p:extLst>
          </p:nvPr>
        </p:nvGraphicFramePr>
        <p:xfrm>
          <a:off x="2592000" y="5769000"/>
          <a:ext cx="3960000" cy="360000"/>
        </p:xfrm>
        <a:graphic>
          <a:graphicData uri="http://schemas.openxmlformats.org/drawingml/2006/table">
            <a:tbl>
              <a:tblPr firstRow="1" bandRow="1"/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</a:defRPr>
                      </a:lvl9pPr>
                    </a:lstStyle>
                    <a:p>
                      <a:r>
                        <a:rPr kumimoji="1" lang="en-US" altLang="zh-TW" sz="2000" b="0" i="1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新細明體"/>
                          <a:cs typeface="+mn-cs"/>
                        </a:rPr>
                        <a:t>Y</a:t>
                      </a:r>
                      <a:r>
                        <a:rPr kumimoji="1" lang="en-US" altLang="zh-TW" sz="2000" b="0" i="1" u="none" strike="noStrike" kern="0" cap="none" spc="150" normalizeH="0" baseline="-2500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新細明體"/>
                          <a:cs typeface="+mn-cs"/>
                        </a:rPr>
                        <a:t>n</a:t>
                      </a:r>
                      <a:r>
                        <a:rPr kumimoji="1" lang="en-US" altLang="zh-TW" sz="20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1" lang="en-US" altLang="zh-TW" sz="20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新細明體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L="0" marR="0" marT="18000" marB="0" anchorCtr="1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</a:defRPr>
                      </a:lvl9pPr>
                    </a:lstStyle>
                    <a:p>
                      <a:r>
                        <a:rPr kumimoji="1" lang="en-US" altLang="zh-TW" sz="2000" b="0" i="1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新細明體"/>
                          <a:cs typeface="+mn-cs"/>
                        </a:rPr>
                        <a:t>y</a:t>
                      </a:r>
                      <a:r>
                        <a:rPr kumimoji="1" lang="en-US" altLang="zh-TW" sz="2000" b="0" i="1" u="none" strike="noStrike" kern="0" cap="none" spc="300" normalizeH="0" baseline="-2500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新細明體"/>
                          <a:cs typeface="+mn-cs"/>
                        </a:rPr>
                        <a:t>n</a:t>
                      </a:r>
                      <a:endParaRPr lang="zh-TW" altLang="en-US" sz="2000" dirty="0">
                        <a:latin typeface="Cambria Math" panose="02040503050406030204" pitchFamily="18" charset="0"/>
                      </a:endParaRPr>
                    </a:p>
                  </a:txBody>
                  <a:tcPr marL="0" marR="0" marT="0" marB="0" anchorCtr="1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8008351"/>
              </p:ext>
            </p:extLst>
          </p:nvPr>
        </p:nvGraphicFramePr>
        <p:xfrm>
          <a:off x="2592000" y="5229000"/>
          <a:ext cx="3960000" cy="360000"/>
        </p:xfrm>
        <a:graphic>
          <a:graphicData uri="http://schemas.openxmlformats.org/drawingml/2006/table">
            <a:tbl>
              <a:tblPr firstRow="1" bandRow="1"/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</a:defRPr>
                      </a:lvl9pPr>
                    </a:lstStyle>
                    <a:p>
                      <a:r>
                        <a:rPr kumimoji="1" lang="en-US" altLang="zh-TW" sz="2000" b="0" i="1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新細明體"/>
                          <a:cs typeface="+mn-cs"/>
                        </a:rPr>
                        <a:t>X</a:t>
                      </a:r>
                      <a:r>
                        <a:rPr kumimoji="1" lang="en-US" altLang="zh-TW" sz="2000" b="0" i="1" u="none" strike="noStrike" kern="0" cap="none" spc="150" normalizeH="0" baseline="-2500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新細明體"/>
                          <a:cs typeface="+mn-cs"/>
                        </a:rPr>
                        <a:t>m</a:t>
                      </a:r>
                      <a:r>
                        <a:rPr kumimoji="1" lang="en-US" altLang="zh-TW" sz="20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−</a:t>
                      </a:r>
                      <a:r>
                        <a:rPr kumimoji="1" lang="en-US" altLang="zh-TW" sz="20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新細明體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L="0" marR="0" marT="18000" marB="0" anchorCtr="1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</a:defRPr>
                      </a:lvl9pPr>
                    </a:lstStyle>
                    <a:p>
                      <a:r>
                        <a:rPr kumimoji="1" lang="en-US" altLang="zh-TW" sz="2000" b="0" i="1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新細明體"/>
                          <a:cs typeface="+mn-cs"/>
                        </a:rPr>
                        <a:t>x</a:t>
                      </a:r>
                      <a:r>
                        <a:rPr kumimoji="1" lang="en-US" altLang="zh-TW" sz="2000" b="0" i="1" u="none" strike="noStrike" kern="0" cap="none" spc="300" normalizeH="0" baseline="-2500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新細明體"/>
                          <a:cs typeface="+mn-cs"/>
                        </a:rPr>
                        <a:t>m</a:t>
                      </a:r>
                      <a:endParaRPr lang="zh-TW" altLang="en-US" sz="2000" dirty="0">
                        <a:latin typeface="Cambria Math" panose="02040503050406030204" pitchFamily="18" charset="0"/>
                      </a:endParaRPr>
                    </a:p>
                  </a:txBody>
                  <a:tcPr marL="0" marR="0" marT="0" marB="0" anchorCtr="1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0086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151063" indent="-1524000" algn="l"/>
            <a:r>
              <a:rPr lang="en-US" altLang="zh-TW" dirty="0"/>
              <a:t>Step 1:	Characterizing a Longest Common Subsequence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2000" y="1808999"/>
            <a:ext cx="7560000" cy="4500001"/>
          </a:xfrm>
        </p:spPr>
        <p:txBody>
          <a:bodyPr rIns="36000"/>
          <a:lstStyle/>
          <a:p>
            <a:pPr marL="0" indent="0"/>
            <a:r>
              <a:rPr lang="en-US" altLang="zh-TW" sz="2200" i="1" dirty="0">
                <a:solidFill>
                  <a:srgbClr val="0000FF"/>
                </a:solidFill>
              </a:rPr>
              <a:t>Theorem (Optimal substructure of an LCS)</a:t>
            </a:r>
          </a:p>
          <a:p>
            <a:pPr marL="0" indent="0"/>
            <a:r>
              <a:rPr lang="en-US" altLang="zh-TW" sz="2200" dirty="0"/>
              <a:t>Let </a:t>
            </a:r>
            <a:r>
              <a:rPr lang="en-US" altLang="zh-TW" sz="2200" i="1" dirty="0">
                <a:solidFill>
                  <a:srgbClr val="000000"/>
                </a:solidFill>
              </a:rPr>
              <a:t>X</a:t>
            </a:r>
            <a:r>
              <a:rPr lang="en-US" altLang="zh-TW" sz="2200" dirty="0">
                <a:solidFill>
                  <a:srgbClr val="000000"/>
                </a:solidFill>
              </a:rPr>
              <a:t>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200" dirty="0">
                <a:solidFill>
                  <a:srgbClr val="000000"/>
                </a:solidFill>
              </a:rPr>
              <a:t> </a:t>
            </a:r>
            <a:r>
              <a:rPr lang="en-US" altLang="zh-TW" sz="2200" spc="300" dirty="0">
                <a:solidFill>
                  <a:srgbClr val="000000"/>
                </a:solidFill>
                <a:sym typeface="Symbol" panose="05050102010706020507" pitchFamily="18" charset="2"/>
              </a:rPr>
              <a:t></a:t>
            </a:r>
            <a:r>
              <a:rPr lang="en-US" altLang="zh-TW" sz="2200" i="1" dirty="0" err="1">
                <a:solidFill>
                  <a:srgbClr val="000000"/>
                </a:solidFill>
              </a:rPr>
              <a:t>x</a:t>
            </a:r>
            <a:r>
              <a:rPr lang="en-US" altLang="zh-TW" sz="2200" baseline="-25000" dirty="0" err="1">
                <a:solidFill>
                  <a:srgbClr val="000000"/>
                </a:solidFill>
              </a:rPr>
              <a:t>1</a:t>
            </a:r>
            <a:r>
              <a:rPr lang="en-US" altLang="zh-TW" sz="2200" dirty="0">
                <a:solidFill>
                  <a:srgbClr val="000000"/>
                </a:solidFill>
              </a:rPr>
              <a:t>, </a:t>
            </a:r>
            <a:r>
              <a:rPr lang="en-US" altLang="zh-TW" sz="2200" i="1" dirty="0" err="1">
                <a:solidFill>
                  <a:srgbClr val="000000"/>
                </a:solidFill>
              </a:rPr>
              <a:t>x</a:t>
            </a:r>
            <a:r>
              <a:rPr lang="en-US" altLang="zh-TW" sz="2200" baseline="-25000" dirty="0" err="1">
                <a:solidFill>
                  <a:srgbClr val="000000"/>
                </a:solidFill>
              </a:rPr>
              <a:t>2</a:t>
            </a:r>
            <a:r>
              <a:rPr lang="en-US" altLang="zh-TW" sz="2200" dirty="0">
                <a:solidFill>
                  <a:srgbClr val="000000"/>
                </a:solidFill>
              </a:rPr>
              <a:t>, . . ., </a:t>
            </a:r>
            <a:r>
              <a:rPr lang="en-US" altLang="zh-TW" sz="2200" i="1" dirty="0" err="1">
                <a:solidFill>
                  <a:srgbClr val="000000"/>
                </a:solidFill>
              </a:rPr>
              <a:t>x</a:t>
            </a:r>
            <a:r>
              <a:rPr lang="en-US" altLang="zh-TW" sz="2200" i="1" spc="300" baseline="-25000" dirty="0" err="1">
                <a:solidFill>
                  <a:srgbClr val="000000"/>
                </a:solidFill>
              </a:rPr>
              <a:t>m</a:t>
            </a:r>
            <a:r>
              <a:rPr lang="en-US" altLang="zh-TW" sz="2200" dirty="0">
                <a:solidFill>
                  <a:srgbClr val="000000"/>
                </a:solidFill>
                <a:sym typeface="Symbol" panose="05050102010706020507" pitchFamily="18" charset="2"/>
              </a:rPr>
              <a:t></a:t>
            </a:r>
            <a:r>
              <a:rPr lang="en-US" altLang="zh-TW" sz="2200" dirty="0">
                <a:solidFill>
                  <a:srgbClr val="000000"/>
                </a:solidFill>
              </a:rPr>
              <a:t> and </a:t>
            </a:r>
            <a:r>
              <a:rPr lang="en-US" altLang="zh-TW" sz="2200" i="1" dirty="0">
                <a:solidFill>
                  <a:srgbClr val="000000"/>
                </a:solidFill>
              </a:rPr>
              <a:t>Y</a:t>
            </a:r>
            <a:r>
              <a:rPr lang="en-US" altLang="zh-TW" sz="2200" dirty="0">
                <a:solidFill>
                  <a:srgbClr val="000000"/>
                </a:solidFill>
              </a:rPr>
              <a:t>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200" dirty="0">
                <a:solidFill>
                  <a:srgbClr val="000000"/>
                </a:solidFill>
              </a:rPr>
              <a:t> </a:t>
            </a:r>
            <a:r>
              <a:rPr lang="en-US" altLang="zh-TW" sz="2200" dirty="0">
                <a:solidFill>
                  <a:srgbClr val="000000"/>
                </a:solidFill>
                <a:sym typeface="Symbol" panose="05050102010706020507" pitchFamily="18" charset="2"/>
              </a:rPr>
              <a:t> </a:t>
            </a:r>
            <a:r>
              <a:rPr lang="en-US" altLang="zh-TW" sz="2200" i="1" dirty="0" err="1">
                <a:solidFill>
                  <a:srgbClr val="000000"/>
                </a:solidFill>
              </a:rPr>
              <a:t>y</a:t>
            </a:r>
            <a:r>
              <a:rPr lang="en-US" altLang="zh-TW" sz="2200" baseline="-25000" dirty="0" err="1">
                <a:solidFill>
                  <a:srgbClr val="000000"/>
                </a:solidFill>
              </a:rPr>
              <a:t>1</a:t>
            </a:r>
            <a:r>
              <a:rPr lang="en-US" altLang="zh-TW" sz="2200" dirty="0">
                <a:solidFill>
                  <a:srgbClr val="000000"/>
                </a:solidFill>
              </a:rPr>
              <a:t>, </a:t>
            </a:r>
            <a:r>
              <a:rPr lang="en-US" altLang="zh-TW" sz="2200" i="1" dirty="0" err="1">
                <a:solidFill>
                  <a:srgbClr val="000000"/>
                </a:solidFill>
              </a:rPr>
              <a:t>y</a:t>
            </a:r>
            <a:r>
              <a:rPr lang="en-US" altLang="zh-TW" sz="2200" baseline="-25000" dirty="0" err="1">
                <a:solidFill>
                  <a:srgbClr val="000000"/>
                </a:solidFill>
              </a:rPr>
              <a:t>2</a:t>
            </a:r>
            <a:r>
              <a:rPr lang="en-US" altLang="zh-TW" sz="2200" dirty="0">
                <a:solidFill>
                  <a:srgbClr val="000000"/>
                </a:solidFill>
              </a:rPr>
              <a:t>, . . ., </a:t>
            </a:r>
            <a:r>
              <a:rPr lang="en-US" altLang="zh-TW" sz="2200" i="1" dirty="0" err="1">
                <a:solidFill>
                  <a:srgbClr val="000000"/>
                </a:solidFill>
              </a:rPr>
              <a:t>y</a:t>
            </a:r>
            <a:r>
              <a:rPr lang="en-US" altLang="zh-TW" sz="2200" i="1" spc="300" baseline="-25000" dirty="0" err="1">
                <a:solidFill>
                  <a:srgbClr val="000000"/>
                </a:solidFill>
              </a:rPr>
              <a:t>n</a:t>
            </a:r>
            <a:r>
              <a:rPr lang="en-US" altLang="zh-TW" sz="2200" dirty="0">
                <a:solidFill>
                  <a:srgbClr val="000000"/>
                </a:solidFill>
                <a:sym typeface="Symbol" panose="05050102010706020507" pitchFamily="18" charset="2"/>
              </a:rPr>
              <a:t></a:t>
            </a:r>
            <a:r>
              <a:rPr lang="en-US" altLang="zh-TW" sz="2200" dirty="0"/>
              <a:t> be sequences.</a:t>
            </a:r>
          </a:p>
          <a:p>
            <a:pPr marL="1530000" indent="-1530000">
              <a:tabLst>
                <a:tab pos="2250000" algn="l"/>
                <a:tab pos="4500000" algn="l"/>
                <a:tab pos="6390000" algn="l"/>
              </a:tabLst>
            </a:pPr>
            <a:r>
              <a:rPr lang="en-US" altLang="zh-TW" sz="2200" dirty="0"/>
              <a:t>1. If </a:t>
            </a:r>
            <a:r>
              <a:rPr lang="en-US" altLang="zh-TW" sz="2200" i="1" dirty="0" err="1">
                <a:solidFill>
                  <a:srgbClr val="000000"/>
                </a:solidFill>
              </a:rPr>
              <a:t>x</a:t>
            </a:r>
            <a:r>
              <a:rPr lang="en-US" altLang="zh-TW" sz="2200" i="1" baseline="-25000" dirty="0" err="1">
                <a:solidFill>
                  <a:srgbClr val="000000"/>
                </a:solidFill>
              </a:rPr>
              <a:t>m</a:t>
            </a:r>
            <a:r>
              <a:rPr lang="en-US" altLang="zh-TW" sz="2200" dirty="0"/>
              <a:t>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200" dirty="0"/>
              <a:t> </a:t>
            </a:r>
            <a:r>
              <a:rPr lang="en-US" altLang="zh-TW" sz="2200" i="1" dirty="0" err="1">
                <a:solidFill>
                  <a:srgbClr val="000000"/>
                </a:solidFill>
              </a:rPr>
              <a:t>y</a:t>
            </a:r>
            <a:r>
              <a:rPr lang="en-US" altLang="zh-TW" sz="2200" i="1" baseline="-25000" dirty="0" err="1">
                <a:solidFill>
                  <a:srgbClr val="000000"/>
                </a:solidFill>
              </a:rPr>
              <a:t>n</a:t>
            </a:r>
            <a:r>
              <a:rPr lang="en-US" altLang="zh-TW" sz="2200" dirty="0"/>
              <a:t>,	</a:t>
            </a:r>
            <a:r>
              <a:rPr lang="en-US" altLang="zh-TW" sz="2200" dirty="0">
                <a:solidFill>
                  <a:schemeClr val="bg1"/>
                </a:solidFill>
              </a:rPr>
              <a:t>let </a:t>
            </a:r>
            <a:r>
              <a:rPr lang="en-US" altLang="zh-TW" sz="2200" i="1" dirty="0">
                <a:solidFill>
                  <a:schemeClr val="bg1"/>
                </a:solidFill>
              </a:rPr>
              <a:t>Z</a:t>
            </a:r>
            <a:r>
              <a:rPr lang="en-US" altLang="zh-TW" sz="2200" dirty="0">
                <a:solidFill>
                  <a:schemeClr val="bg1"/>
                </a:solidFill>
              </a:rPr>
              <a:t> </a:t>
            </a:r>
            <a:r>
              <a:rPr lang="en-US" altLang="zh-TW" sz="2200" dirty="0">
                <a:solidFill>
                  <a:schemeClr val="bg1"/>
                </a:solidFill>
                <a:latin typeface="Symbol" panose="05050102010706020507" pitchFamily="18" charset="2"/>
              </a:rPr>
              <a:t>=</a:t>
            </a:r>
            <a:r>
              <a:rPr lang="en-US" altLang="zh-TW" sz="2200" dirty="0">
                <a:solidFill>
                  <a:schemeClr val="bg1"/>
                </a:solidFill>
              </a:rPr>
              <a:t> </a:t>
            </a:r>
            <a:r>
              <a:rPr lang="en-US" altLang="zh-TW" sz="2200" spc="300" dirty="0">
                <a:solidFill>
                  <a:schemeClr val="bg1"/>
                </a:solidFill>
                <a:sym typeface="Symbol" panose="05050102010706020507" pitchFamily="18" charset="2"/>
              </a:rPr>
              <a:t></a:t>
            </a:r>
            <a:r>
              <a:rPr lang="en-US" altLang="zh-TW" sz="2200" i="1" dirty="0" err="1">
                <a:solidFill>
                  <a:schemeClr val="bg1"/>
                </a:solidFill>
              </a:rPr>
              <a:t>z</a:t>
            </a:r>
            <a:r>
              <a:rPr lang="en-US" altLang="zh-TW" sz="2200" baseline="-25000" dirty="0" err="1">
                <a:solidFill>
                  <a:schemeClr val="bg1"/>
                </a:solidFill>
              </a:rPr>
              <a:t>1</a:t>
            </a:r>
            <a:r>
              <a:rPr lang="en-US" altLang="zh-TW" sz="2200" dirty="0">
                <a:solidFill>
                  <a:schemeClr val="bg1"/>
                </a:solidFill>
              </a:rPr>
              <a:t>, </a:t>
            </a:r>
            <a:r>
              <a:rPr lang="en-US" altLang="zh-TW" sz="2200" i="1" dirty="0" err="1">
                <a:solidFill>
                  <a:schemeClr val="bg1"/>
                </a:solidFill>
              </a:rPr>
              <a:t>z</a:t>
            </a:r>
            <a:r>
              <a:rPr lang="en-US" altLang="zh-TW" sz="2200" baseline="-25000" dirty="0" err="1">
                <a:solidFill>
                  <a:schemeClr val="bg1"/>
                </a:solidFill>
              </a:rPr>
              <a:t>2</a:t>
            </a:r>
            <a:r>
              <a:rPr lang="en-US" altLang="zh-TW" sz="2200" dirty="0">
                <a:solidFill>
                  <a:schemeClr val="bg1"/>
                </a:solidFill>
              </a:rPr>
              <a:t>, . . ., </a:t>
            </a:r>
            <a:r>
              <a:rPr lang="en-US" altLang="zh-TW" sz="2200" i="1" dirty="0" err="1">
                <a:solidFill>
                  <a:schemeClr val="bg1"/>
                </a:solidFill>
              </a:rPr>
              <a:t>z</a:t>
            </a:r>
            <a:r>
              <a:rPr lang="en-US" altLang="zh-TW" sz="2200" i="1" spc="300" baseline="-25000" dirty="0" err="1">
                <a:solidFill>
                  <a:schemeClr val="bg1"/>
                </a:solidFill>
              </a:rPr>
              <a:t>k</a:t>
            </a:r>
            <a:r>
              <a:rPr lang="en-US" altLang="zh-TW" sz="2200" dirty="0">
                <a:solidFill>
                  <a:schemeClr val="bg1"/>
                </a:solidFill>
                <a:sym typeface="Symbol" panose="05050102010706020507" pitchFamily="18" charset="2"/>
              </a:rPr>
              <a:t> be	</a:t>
            </a:r>
            <a:r>
              <a:rPr lang="en-US" altLang="zh-TW" sz="2200" dirty="0">
                <a:solidFill>
                  <a:schemeClr val="bg1"/>
                </a:solidFill>
              </a:rPr>
              <a:t>an LCS of </a:t>
            </a:r>
            <a:r>
              <a:rPr lang="en-US" altLang="zh-TW" sz="2200" i="1" dirty="0" err="1">
                <a:solidFill>
                  <a:schemeClr val="bg1"/>
                </a:solidFill>
              </a:rPr>
              <a:t>X</a:t>
            </a:r>
            <a:r>
              <a:rPr lang="en-US" altLang="zh-TW" sz="2200" i="1" spc="150" baseline="-25000" dirty="0" err="1">
                <a:solidFill>
                  <a:schemeClr val="bg1"/>
                </a:solidFill>
              </a:rPr>
              <a:t>m</a:t>
            </a:r>
            <a:r>
              <a:rPr lang="en-US" altLang="zh-TW" sz="2200" baseline="-25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2200" baseline="-25000" dirty="0">
                <a:solidFill>
                  <a:schemeClr val="bg1"/>
                </a:solidFill>
              </a:rPr>
              <a:t>1</a:t>
            </a:r>
            <a:r>
              <a:rPr lang="en-US" altLang="zh-TW" sz="2200" dirty="0">
                <a:solidFill>
                  <a:schemeClr val="bg1"/>
                </a:solidFill>
              </a:rPr>
              <a:t>	and </a:t>
            </a:r>
            <a:r>
              <a:rPr lang="en-US" altLang="zh-TW" sz="2200" i="1" dirty="0" err="1">
                <a:solidFill>
                  <a:schemeClr val="bg1"/>
                </a:solidFill>
              </a:rPr>
              <a:t>Y</a:t>
            </a:r>
            <a:r>
              <a:rPr lang="en-US" altLang="zh-TW" sz="2200" i="1" spc="150" baseline="-25000" dirty="0" err="1">
                <a:solidFill>
                  <a:schemeClr val="bg1"/>
                </a:solidFill>
              </a:rPr>
              <a:t>n</a:t>
            </a:r>
            <a:r>
              <a:rPr lang="en-US" altLang="zh-TW" sz="2200" baseline="-25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2200" baseline="-25000" dirty="0">
                <a:solidFill>
                  <a:schemeClr val="bg1"/>
                </a:solidFill>
              </a:rPr>
              <a:t>1</a:t>
            </a:r>
            <a:r>
              <a:rPr lang="en-US" altLang="zh-TW" sz="2200" dirty="0">
                <a:solidFill>
                  <a:schemeClr val="bg1"/>
                </a:solidFill>
              </a:rPr>
              <a:t>, then </a:t>
            </a:r>
            <a:r>
              <a:rPr lang="en-US" altLang="zh-TW" sz="2200" spc="300" dirty="0">
                <a:solidFill>
                  <a:schemeClr val="bg1"/>
                </a:solidFill>
                <a:sym typeface="Symbol" panose="05050102010706020507" pitchFamily="18" charset="2"/>
              </a:rPr>
              <a:t></a:t>
            </a:r>
            <a:r>
              <a:rPr lang="en-US" altLang="zh-TW" sz="2200" i="1" dirty="0" err="1">
                <a:solidFill>
                  <a:schemeClr val="bg1"/>
                </a:solidFill>
              </a:rPr>
              <a:t>z</a:t>
            </a:r>
            <a:r>
              <a:rPr lang="en-US" altLang="zh-TW" sz="2200" baseline="-25000" dirty="0" err="1">
                <a:solidFill>
                  <a:schemeClr val="bg1"/>
                </a:solidFill>
              </a:rPr>
              <a:t>1</a:t>
            </a:r>
            <a:r>
              <a:rPr lang="en-US" altLang="zh-TW" sz="2200" dirty="0">
                <a:solidFill>
                  <a:schemeClr val="bg1"/>
                </a:solidFill>
              </a:rPr>
              <a:t>, </a:t>
            </a:r>
            <a:r>
              <a:rPr lang="en-US" altLang="zh-TW" sz="2200" i="1" dirty="0" err="1">
                <a:solidFill>
                  <a:schemeClr val="bg1"/>
                </a:solidFill>
              </a:rPr>
              <a:t>z</a:t>
            </a:r>
            <a:r>
              <a:rPr lang="en-US" altLang="zh-TW" sz="2200" baseline="-25000" dirty="0" err="1">
                <a:solidFill>
                  <a:schemeClr val="bg1"/>
                </a:solidFill>
              </a:rPr>
              <a:t>2</a:t>
            </a:r>
            <a:r>
              <a:rPr lang="en-US" altLang="zh-TW" sz="2200" dirty="0">
                <a:solidFill>
                  <a:schemeClr val="bg1"/>
                </a:solidFill>
              </a:rPr>
              <a:t>, . . ., </a:t>
            </a:r>
            <a:r>
              <a:rPr lang="en-US" altLang="zh-TW" sz="2200" i="1" dirty="0" err="1">
                <a:solidFill>
                  <a:schemeClr val="bg1"/>
                </a:solidFill>
              </a:rPr>
              <a:t>z</a:t>
            </a:r>
            <a:r>
              <a:rPr lang="en-US" altLang="zh-TW" sz="2200" i="1" baseline="-25000" dirty="0" err="1">
                <a:solidFill>
                  <a:schemeClr val="bg1"/>
                </a:solidFill>
              </a:rPr>
              <a:t>k</a:t>
            </a:r>
            <a:r>
              <a:rPr lang="en-US" altLang="zh-TW" sz="2200" dirty="0">
                <a:solidFill>
                  <a:schemeClr val="bg1"/>
                </a:solidFill>
              </a:rPr>
              <a:t>, </a:t>
            </a:r>
            <a:r>
              <a:rPr lang="en-US" altLang="zh-TW" sz="2200" i="1" dirty="0" err="1">
                <a:solidFill>
                  <a:schemeClr val="bg1"/>
                </a:solidFill>
              </a:rPr>
              <a:t>x</a:t>
            </a:r>
            <a:r>
              <a:rPr lang="en-US" altLang="zh-TW" sz="2200" i="1" spc="300" baseline="-25000" dirty="0" err="1">
                <a:solidFill>
                  <a:schemeClr val="bg1"/>
                </a:solidFill>
              </a:rPr>
              <a:t>m</a:t>
            </a:r>
            <a:r>
              <a:rPr lang="en-US" altLang="zh-TW" sz="2200" dirty="0">
                <a:solidFill>
                  <a:schemeClr val="bg1"/>
                </a:solidFill>
                <a:sym typeface="Symbol" panose="05050102010706020507" pitchFamily="18" charset="2"/>
              </a:rPr>
              <a:t></a:t>
            </a:r>
            <a:r>
              <a:rPr lang="en-US" altLang="zh-TW" sz="2200" dirty="0">
                <a:solidFill>
                  <a:schemeClr val="bg1"/>
                </a:solidFill>
              </a:rPr>
              <a:t> is	an LCS of </a:t>
            </a:r>
            <a:r>
              <a:rPr lang="en-US" altLang="zh-TW" sz="2200" i="1" dirty="0">
                <a:solidFill>
                  <a:schemeClr val="bg1"/>
                </a:solidFill>
              </a:rPr>
              <a:t>X</a:t>
            </a:r>
            <a:r>
              <a:rPr lang="en-US" altLang="zh-TW" sz="2200" dirty="0">
                <a:solidFill>
                  <a:schemeClr val="bg1"/>
                </a:solidFill>
              </a:rPr>
              <a:t>	and </a:t>
            </a:r>
            <a:r>
              <a:rPr lang="en-US" altLang="zh-TW" sz="2200" i="1" dirty="0">
                <a:solidFill>
                  <a:schemeClr val="bg1"/>
                </a:solidFill>
              </a:rPr>
              <a:t>Y</a:t>
            </a:r>
            <a:r>
              <a:rPr lang="en-US" altLang="zh-TW" sz="2200" dirty="0">
                <a:solidFill>
                  <a:schemeClr val="bg1"/>
                </a:solidFill>
              </a:rPr>
              <a:t>.</a:t>
            </a:r>
          </a:p>
          <a:p>
            <a:pPr marL="1530000" indent="-1530000">
              <a:tabLst>
                <a:tab pos="4410000" algn="l"/>
                <a:tab pos="5580000" algn="l"/>
              </a:tabLst>
            </a:pPr>
            <a:r>
              <a:rPr lang="en-US" altLang="zh-TW" sz="2200" dirty="0"/>
              <a:t>2. If </a:t>
            </a:r>
            <a:r>
              <a:rPr lang="en-US" altLang="zh-TW" sz="2200" i="1" dirty="0" err="1">
                <a:solidFill>
                  <a:srgbClr val="000000"/>
                </a:solidFill>
              </a:rPr>
              <a:t>x</a:t>
            </a:r>
            <a:r>
              <a:rPr lang="en-US" altLang="zh-TW" sz="2200" i="1" baseline="-25000" dirty="0" err="1">
                <a:solidFill>
                  <a:srgbClr val="000000"/>
                </a:solidFill>
              </a:rPr>
              <a:t>m</a:t>
            </a:r>
            <a:r>
              <a:rPr lang="en-US" altLang="zh-TW" sz="2200" dirty="0"/>
              <a:t> </a:t>
            </a:r>
            <a:r>
              <a:rPr lang="en-US" altLang="zh-TW" sz="2200" dirty="0"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≠</a:t>
            </a:r>
            <a:r>
              <a:rPr lang="en-US" altLang="zh-TW" sz="2200" dirty="0"/>
              <a:t> </a:t>
            </a:r>
            <a:r>
              <a:rPr lang="en-US" altLang="zh-TW" sz="2200" i="1" dirty="0" err="1">
                <a:solidFill>
                  <a:srgbClr val="000000"/>
                </a:solidFill>
              </a:rPr>
              <a:t>y</a:t>
            </a:r>
            <a:r>
              <a:rPr lang="en-US" altLang="zh-TW" sz="2200" i="1" baseline="-25000" dirty="0" err="1">
                <a:solidFill>
                  <a:srgbClr val="000000"/>
                </a:solidFill>
              </a:rPr>
              <a:t>n</a:t>
            </a:r>
            <a:r>
              <a:rPr lang="en-US" altLang="zh-TW" sz="2200" dirty="0"/>
              <a:t>,	</a:t>
            </a:r>
            <a:r>
              <a:rPr lang="en-US" altLang="zh-TW" sz="2200" dirty="0">
                <a:solidFill>
                  <a:schemeClr val="bg1"/>
                </a:solidFill>
              </a:rPr>
              <a:t>let </a:t>
            </a:r>
            <a:r>
              <a:rPr lang="en-US" altLang="zh-TW" sz="2200" i="1" dirty="0" err="1">
                <a:solidFill>
                  <a:schemeClr val="bg1"/>
                </a:solidFill>
              </a:rPr>
              <a:t>Z</a:t>
            </a:r>
            <a:r>
              <a:rPr lang="en-US" altLang="zh-TW" sz="2200" baseline="-25000" dirty="0" err="1">
                <a:solidFill>
                  <a:schemeClr val="bg1"/>
                </a:solidFill>
              </a:rPr>
              <a:t>1</a:t>
            </a:r>
            <a:r>
              <a:rPr lang="en-US" altLang="zh-TW" sz="2200" dirty="0">
                <a:solidFill>
                  <a:schemeClr val="bg1"/>
                </a:solidFill>
              </a:rPr>
              <a:t> be an LCS of </a:t>
            </a:r>
            <a:r>
              <a:rPr lang="en-US" altLang="zh-TW" sz="2200" i="1" dirty="0" err="1">
                <a:solidFill>
                  <a:schemeClr val="bg1"/>
                </a:solidFill>
              </a:rPr>
              <a:t>X</a:t>
            </a:r>
            <a:r>
              <a:rPr lang="en-US" altLang="zh-TW" sz="2200" i="1" spc="150" baseline="-25000" dirty="0" err="1">
                <a:solidFill>
                  <a:schemeClr val="bg1"/>
                </a:solidFill>
              </a:rPr>
              <a:t>m</a:t>
            </a:r>
            <a:r>
              <a:rPr lang="en-US" altLang="zh-TW" sz="2200" baseline="-25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2200" baseline="-25000" dirty="0">
                <a:solidFill>
                  <a:schemeClr val="bg1"/>
                </a:solidFill>
              </a:rPr>
              <a:t>1</a:t>
            </a:r>
            <a:r>
              <a:rPr lang="en-US" altLang="zh-TW" sz="2200" dirty="0">
                <a:solidFill>
                  <a:schemeClr val="bg1"/>
                </a:solidFill>
              </a:rPr>
              <a:t>	and </a:t>
            </a:r>
            <a:r>
              <a:rPr lang="en-US" altLang="zh-TW" sz="2200" i="1" dirty="0">
                <a:solidFill>
                  <a:schemeClr val="bg1"/>
                </a:solidFill>
              </a:rPr>
              <a:t>Y</a:t>
            </a:r>
            <a:r>
              <a:rPr lang="en-US" altLang="zh-TW" sz="2200" dirty="0">
                <a:solidFill>
                  <a:schemeClr val="bg1"/>
                </a:solidFill>
              </a:rPr>
              <a:t>,	and		 let </a:t>
            </a:r>
            <a:r>
              <a:rPr lang="en-US" altLang="zh-TW" sz="2200" i="1" dirty="0" err="1">
                <a:solidFill>
                  <a:schemeClr val="bg1"/>
                </a:solidFill>
              </a:rPr>
              <a:t>Z</a:t>
            </a:r>
            <a:r>
              <a:rPr lang="en-US" altLang="zh-TW" sz="2200" baseline="-25000" dirty="0" err="1">
                <a:solidFill>
                  <a:schemeClr val="bg1"/>
                </a:solidFill>
              </a:rPr>
              <a:t>2</a:t>
            </a:r>
            <a:r>
              <a:rPr lang="en-US" altLang="zh-TW" sz="2200" dirty="0">
                <a:solidFill>
                  <a:schemeClr val="bg1"/>
                </a:solidFill>
              </a:rPr>
              <a:t> be an LCS of </a:t>
            </a:r>
            <a:r>
              <a:rPr lang="en-US" altLang="zh-TW" sz="2200" i="1" dirty="0">
                <a:solidFill>
                  <a:schemeClr val="bg1"/>
                </a:solidFill>
              </a:rPr>
              <a:t>X</a:t>
            </a:r>
            <a:r>
              <a:rPr lang="en-US" altLang="zh-TW" sz="2200" dirty="0">
                <a:solidFill>
                  <a:schemeClr val="bg1"/>
                </a:solidFill>
              </a:rPr>
              <a:t>	and </a:t>
            </a:r>
            <a:r>
              <a:rPr lang="en-US" altLang="zh-TW" sz="2200" i="1" dirty="0" err="1">
                <a:solidFill>
                  <a:schemeClr val="bg1"/>
                </a:solidFill>
              </a:rPr>
              <a:t>Y</a:t>
            </a:r>
            <a:r>
              <a:rPr lang="en-US" altLang="zh-TW" sz="2200" i="1" spc="150" baseline="-25000" dirty="0" err="1">
                <a:solidFill>
                  <a:schemeClr val="bg1"/>
                </a:solidFill>
              </a:rPr>
              <a:t>n</a:t>
            </a:r>
            <a:r>
              <a:rPr lang="en-US" altLang="zh-TW" sz="2200" baseline="-25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2200" baseline="-25000" dirty="0">
                <a:solidFill>
                  <a:schemeClr val="bg1"/>
                </a:solidFill>
              </a:rPr>
              <a:t>1</a:t>
            </a:r>
            <a:r>
              <a:rPr lang="en-US" altLang="zh-TW" sz="2200" dirty="0">
                <a:solidFill>
                  <a:schemeClr val="bg1"/>
                </a:solidFill>
              </a:rPr>
              <a:t>,	then	          the longer one of </a:t>
            </a:r>
            <a:r>
              <a:rPr lang="en-US" altLang="zh-TW" sz="2200" i="1" dirty="0" err="1">
                <a:solidFill>
                  <a:schemeClr val="bg1"/>
                </a:solidFill>
              </a:rPr>
              <a:t>Z</a:t>
            </a:r>
            <a:r>
              <a:rPr lang="en-US" altLang="zh-TW" sz="2200" baseline="-25000" dirty="0" err="1">
                <a:solidFill>
                  <a:schemeClr val="bg1"/>
                </a:solidFill>
              </a:rPr>
              <a:t>1</a:t>
            </a:r>
            <a:r>
              <a:rPr lang="en-US" altLang="zh-TW" sz="2200" dirty="0">
                <a:solidFill>
                  <a:schemeClr val="bg1"/>
                </a:solidFill>
              </a:rPr>
              <a:t> and </a:t>
            </a:r>
            <a:r>
              <a:rPr lang="en-US" altLang="zh-TW" sz="2200" i="1" dirty="0" err="1">
                <a:solidFill>
                  <a:schemeClr val="bg1"/>
                </a:solidFill>
              </a:rPr>
              <a:t>Z</a:t>
            </a:r>
            <a:r>
              <a:rPr lang="en-US" altLang="zh-TW" sz="2200" baseline="-25000" dirty="0" err="1">
                <a:solidFill>
                  <a:schemeClr val="bg1"/>
                </a:solidFill>
              </a:rPr>
              <a:t>2</a:t>
            </a:r>
            <a:r>
              <a:rPr lang="en-US" altLang="zh-TW" sz="2200" dirty="0">
                <a:solidFill>
                  <a:schemeClr val="bg1"/>
                </a:solidFill>
              </a:rPr>
              <a:t> is an LCS of </a:t>
            </a:r>
            <a:r>
              <a:rPr lang="en-US" altLang="zh-TW" sz="2200" i="1" dirty="0">
                <a:solidFill>
                  <a:schemeClr val="bg1"/>
                </a:solidFill>
              </a:rPr>
              <a:t>X</a:t>
            </a:r>
            <a:r>
              <a:rPr lang="en-US" altLang="zh-TW" sz="2200" dirty="0">
                <a:solidFill>
                  <a:schemeClr val="bg1"/>
                </a:solidFill>
              </a:rPr>
              <a:t> and </a:t>
            </a:r>
            <a:r>
              <a:rPr lang="en-US" altLang="zh-TW" sz="2200" i="1" dirty="0">
                <a:solidFill>
                  <a:schemeClr val="bg1"/>
                </a:solidFill>
              </a:rPr>
              <a:t>Y</a:t>
            </a:r>
            <a:r>
              <a:rPr lang="en-US" altLang="zh-TW" sz="2200" dirty="0">
                <a:solidFill>
                  <a:schemeClr val="bg1"/>
                </a:solidFill>
              </a:rPr>
              <a:t>.</a:t>
            </a:r>
          </a:p>
          <a:p>
            <a:pPr marL="0" indent="0">
              <a:spcBef>
                <a:spcPts val="0"/>
              </a:spcBef>
            </a:pPr>
            <a:endParaRPr lang="en-US" altLang="zh-TW" sz="2200" dirty="0"/>
          </a:p>
          <a:p>
            <a:pPr marL="0" indent="0">
              <a:spcBef>
                <a:spcPts val="0"/>
              </a:spcBef>
            </a:pPr>
            <a:endParaRPr lang="en-US" altLang="zh-TW" sz="2200" dirty="0"/>
          </a:p>
          <a:p>
            <a:pPr marL="360363" indent="0">
              <a:spcBef>
                <a:spcPts val="0"/>
              </a:spcBef>
              <a:tabLst>
                <a:tab pos="4303713" algn="l"/>
              </a:tabLst>
            </a:pPr>
            <a:r>
              <a:rPr lang="en-US" altLang="zh-TW" sz="2200" i="1" dirty="0">
                <a:solidFill>
                  <a:srgbClr val="000000"/>
                </a:solidFill>
              </a:rPr>
              <a:t>X</a:t>
            </a:r>
            <a:r>
              <a:rPr lang="en-US" altLang="zh-TW" sz="2200" dirty="0">
                <a:solidFill>
                  <a:srgbClr val="000000"/>
                </a:solidFill>
              </a:rPr>
              <a:t>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200" dirty="0">
                <a:solidFill>
                  <a:srgbClr val="000000"/>
                </a:solidFill>
              </a:rPr>
              <a:t> </a:t>
            </a:r>
            <a:r>
              <a:rPr lang="en-US" altLang="zh-TW" sz="2200" dirty="0">
                <a:solidFill>
                  <a:srgbClr val="000000"/>
                </a:solidFill>
                <a:sym typeface="Symbol" panose="05050102010706020507" pitchFamily="18" charset="2"/>
              </a:rPr>
              <a:t></a:t>
            </a:r>
            <a:r>
              <a:rPr lang="en-US" altLang="zh-TW" sz="2200" i="1" dirty="0">
                <a:solidFill>
                  <a:srgbClr val="000000"/>
                </a:solidFill>
                <a:sym typeface="Symbol" panose="05050102010706020507" pitchFamily="18" charset="2"/>
              </a:rPr>
              <a:t>a</a:t>
            </a:r>
            <a:r>
              <a:rPr lang="en-US" altLang="zh-TW" sz="2200" dirty="0">
                <a:solidFill>
                  <a:srgbClr val="000000"/>
                </a:solidFill>
                <a:sym typeface="Symbol" panose="05050102010706020507" pitchFamily="18" charset="2"/>
              </a:rPr>
              <a:t>, </a:t>
            </a:r>
            <a:r>
              <a:rPr lang="en-US" altLang="zh-TW" sz="2200" i="1" dirty="0">
                <a:solidFill>
                  <a:srgbClr val="FF0000"/>
                </a:solidFill>
              </a:rPr>
              <a:t>b</a:t>
            </a:r>
            <a:r>
              <a:rPr lang="en-US" altLang="zh-TW" sz="2200" dirty="0">
                <a:solidFill>
                  <a:srgbClr val="000000"/>
                </a:solidFill>
              </a:rPr>
              <a:t>, </a:t>
            </a:r>
            <a:r>
              <a:rPr lang="en-US" altLang="zh-TW" sz="2200" i="1" dirty="0">
                <a:solidFill>
                  <a:srgbClr val="FF0000"/>
                </a:solidFill>
              </a:rPr>
              <a:t>c</a:t>
            </a:r>
            <a:r>
              <a:rPr lang="en-US" altLang="zh-TW" sz="2200" dirty="0">
                <a:solidFill>
                  <a:srgbClr val="000000"/>
                </a:solidFill>
              </a:rPr>
              <a:t>, </a:t>
            </a:r>
            <a:r>
              <a:rPr lang="en-US" altLang="zh-TW" sz="2200" i="1" dirty="0">
                <a:solidFill>
                  <a:srgbClr val="FF0000"/>
                </a:solidFill>
              </a:rPr>
              <a:t>b</a:t>
            </a:r>
            <a:r>
              <a:rPr lang="en-US" altLang="zh-TW" sz="2200" dirty="0">
                <a:solidFill>
                  <a:srgbClr val="000000"/>
                </a:solidFill>
              </a:rPr>
              <a:t>,</a:t>
            </a:r>
            <a:r>
              <a:rPr lang="en-US" altLang="zh-TW" sz="2200" dirty="0">
                <a:solidFill>
                  <a:srgbClr val="000000"/>
                </a:solidFill>
                <a:sym typeface="Symbol" panose="05050102010706020507" pitchFamily="18" charset="2"/>
              </a:rPr>
              <a:t> </a:t>
            </a:r>
            <a:r>
              <a:rPr lang="en-US" altLang="zh-TW" sz="2200" i="1" dirty="0">
                <a:solidFill>
                  <a:srgbClr val="000000"/>
                </a:solidFill>
              </a:rPr>
              <a:t>d</a:t>
            </a:r>
            <a:r>
              <a:rPr lang="en-US" altLang="zh-TW" sz="2200" dirty="0">
                <a:solidFill>
                  <a:srgbClr val="000000"/>
                </a:solidFill>
              </a:rPr>
              <a:t>, </a:t>
            </a:r>
            <a:r>
              <a:rPr lang="en-US" altLang="zh-TW" sz="2200" i="1" dirty="0">
                <a:solidFill>
                  <a:srgbClr val="FF0000"/>
                </a:solidFill>
                <a:sym typeface="Symbol" panose="05050102010706020507" pitchFamily="18" charset="2"/>
              </a:rPr>
              <a:t>a</a:t>
            </a:r>
            <a:r>
              <a:rPr lang="en-US" altLang="zh-TW" sz="2200" dirty="0">
                <a:solidFill>
                  <a:srgbClr val="000000"/>
                </a:solidFill>
                <a:sym typeface="Symbol" panose="05050102010706020507" pitchFamily="18" charset="2"/>
              </a:rPr>
              <a:t>, </a:t>
            </a:r>
            <a:r>
              <a:rPr lang="en-US" altLang="zh-TW" sz="2200" i="1" dirty="0">
                <a:solidFill>
                  <a:srgbClr val="000000"/>
                </a:solidFill>
              </a:rPr>
              <a:t>b</a:t>
            </a:r>
            <a:r>
              <a:rPr lang="en-US" altLang="zh-TW" sz="2200" dirty="0">
                <a:solidFill>
                  <a:srgbClr val="000000"/>
                </a:solidFill>
                <a:sym typeface="Symbol" panose="05050102010706020507" pitchFamily="18" charset="2"/>
              </a:rPr>
              <a:t>	</a:t>
            </a:r>
            <a:r>
              <a:rPr lang="en-US" altLang="zh-TW" sz="2200" i="1" dirty="0">
                <a:solidFill>
                  <a:srgbClr val="000000"/>
                </a:solidFill>
              </a:rPr>
              <a:t>X</a:t>
            </a:r>
            <a:r>
              <a:rPr lang="en-US" altLang="zh-TW" sz="2200" dirty="0">
                <a:solidFill>
                  <a:srgbClr val="000000"/>
                </a:solidFill>
              </a:rPr>
              <a:t>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200" dirty="0">
                <a:solidFill>
                  <a:srgbClr val="000000"/>
                </a:solidFill>
              </a:rPr>
              <a:t> </a:t>
            </a:r>
            <a:r>
              <a:rPr lang="en-US" altLang="zh-TW" sz="2200" dirty="0">
                <a:solidFill>
                  <a:srgbClr val="000000"/>
                </a:solidFill>
                <a:sym typeface="Symbol" panose="05050102010706020507" pitchFamily="18" charset="2"/>
              </a:rPr>
              <a:t></a:t>
            </a:r>
            <a:r>
              <a:rPr lang="en-US" altLang="zh-TW" sz="2200" i="1" dirty="0">
                <a:solidFill>
                  <a:srgbClr val="000000"/>
                </a:solidFill>
                <a:sym typeface="Symbol" panose="05050102010706020507" pitchFamily="18" charset="2"/>
              </a:rPr>
              <a:t>a</a:t>
            </a:r>
            <a:r>
              <a:rPr lang="en-US" altLang="zh-TW" sz="2200" dirty="0">
                <a:solidFill>
                  <a:srgbClr val="000000"/>
                </a:solidFill>
                <a:sym typeface="Symbol" panose="05050102010706020507" pitchFamily="18" charset="2"/>
              </a:rPr>
              <a:t>, </a:t>
            </a:r>
            <a:r>
              <a:rPr lang="en-US" altLang="zh-TW" sz="2200" i="1" dirty="0">
                <a:solidFill>
                  <a:srgbClr val="FF0000"/>
                </a:solidFill>
              </a:rPr>
              <a:t>b</a:t>
            </a:r>
            <a:r>
              <a:rPr lang="en-US" altLang="zh-TW" sz="2200" dirty="0">
                <a:solidFill>
                  <a:srgbClr val="000000"/>
                </a:solidFill>
              </a:rPr>
              <a:t>, </a:t>
            </a:r>
            <a:r>
              <a:rPr lang="en-US" altLang="zh-TW" sz="2200" i="1" dirty="0">
                <a:solidFill>
                  <a:srgbClr val="000000"/>
                </a:solidFill>
              </a:rPr>
              <a:t>c</a:t>
            </a:r>
            <a:r>
              <a:rPr lang="en-US" altLang="zh-TW" sz="2200" dirty="0">
                <a:solidFill>
                  <a:srgbClr val="000000"/>
                </a:solidFill>
              </a:rPr>
              <a:t>, </a:t>
            </a:r>
            <a:r>
              <a:rPr lang="en-US" altLang="zh-TW" sz="2200" i="1" dirty="0">
                <a:solidFill>
                  <a:srgbClr val="000000"/>
                </a:solidFill>
              </a:rPr>
              <a:t>b</a:t>
            </a:r>
            <a:r>
              <a:rPr lang="en-US" altLang="zh-TW" sz="2200" dirty="0">
                <a:solidFill>
                  <a:srgbClr val="000000"/>
                </a:solidFill>
              </a:rPr>
              <a:t>,</a:t>
            </a:r>
            <a:r>
              <a:rPr lang="en-US" altLang="zh-TW" sz="2200" dirty="0">
                <a:solidFill>
                  <a:srgbClr val="000000"/>
                </a:solidFill>
                <a:sym typeface="Symbol" panose="05050102010706020507" pitchFamily="18" charset="2"/>
              </a:rPr>
              <a:t> </a:t>
            </a:r>
            <a:r>
              <a:rPr lang="en-US" altLang="zh-TW" sz="2200" i="1" dirty="0">
                <a:solidFill>
                  <a:srgbClr val="FF0000"/>
                </a:solidFill>
              </a:rPr>
              <a:t>d</a:t>
            </a:r>
            <a:r>
              <a:rPr lang="en-US" altLang="zh-TW" sz="2200" dirty="0">
                <a:solidFill>
                  <a:srgbClr val="000000"/>
                </a:solidFill>
              </a:rPr>
              <a:t>, </a:t>
            </a:r>
            <a:r>
              <a:rPr lang="en-US" altLang="zh-TW" sz="2200" i="1" dirty="0">
                <a:solidFill>
                  <a:srgbClr val="FF0000"/>
                </a:solidFill>
                <a:sym typeface="Symbol" panose="05050102010706020507" pitchFamily="18" charset="2"/>
              </a:rPr>
              <a:t>a</a:t>
            </a:r>
            <a:r>
              <a:rPr lang="en-US" altLang="zh-TW" sz="2200" dirty="0">
                <a:solidFill>
                  <a:srgbClr val="000000"/>
                </a:solidFill>
                <a:sym typeface="Symbol" panose="05050102010706020507" pitchFamily="18" charset="2"/>
              </a:rPr>
              <a:t>, </a:t>
            </a:r>
            <a:r>
              <a:rPr lang="en-US" altLang="zh-TW" sz="2200" i="1" dirty="0">
                <a:solidFill>
                  <a:srgbClr val="FF0000"/>
                </a:solidFill>
              </a:rPr>
              <a:t>b</a:t>
            </a:r>
            <a:r>
              <a:rPr lang="en-US" altLang="zh-TW" sz="2200" dirty="0">
                <a:solidFill>
                  <a:srgbClr val="000000"/>
                </a:solidFill>
                <a:sym typeface="Symbol" panose="05050102010706020507" pitchFamily="18" charset="2"/>
              </a:rPr>
              <a:t></a:t>
            </a:r>
            <a:endParaRPr lang="en-US" altLang="zh-TW" sz="2200" dirty="0">
              <a:solidFill>
                <a:srgbClr val="000000"/>
              </a:solidFill>
            </a:endParaRPr>
          </a:p>
          <a:p>
            <a:pPr marL="360363" indent="0">
              <a:tabLst>
                <a:tab pos="4303713" algn="l"/>
              </a:tabLst>
            </a:pPr>
            <a:r>
              <a:rPr lang="en-US" altLang="zh-TW" sz="2200" i="1" dirty="0">
                <a:solidFill>
                  <a:srgbClr val="000000"/>
                </a:solidFill>
              </a:rPr>
              <a:t>Y</a:t>
            </a:r>
            <a:r>
              <a:rPr lang="en-US" altLang="zh-TW" sz="2200" dirty="0">
                <a:solidFill>
                  <a:srgbClr val="000000"/>
                </a:solidFill>
              </a:rPr>
              <a:t>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200" dirty="0">
                <a:solidFill>
                  <a:srgbClr val="000000"/>
                </a:solidFill>
              </a:rPr>
              <a:t> </a:t>
            </a:r>
            <a:r>
              <a:rPr lang="en-US" altLang="zh-TW" sz="2200" dirty="0">
                <a:solidFill>
                  <a:srgbClr val="000000"/>
                </a:solidFill>
                <a:sym typeface="Symbol" panose="05050102010706020507" pitchFamily="18" charset="2"/>
              </a:rPr>
              <a:t></a:t>
            </a:r>
            <a:r>
              <a:rPr lang="en-US" altLang="zh-TW" sz="2200" i="1" dirty="0">
                <a:solidFill>
                  <a:srgbClr val="FF0000"/>
                </a:solidFill>
              </a:rPr>
              <a:t>b</a:t>
            </a:r>
            <a:r>
              <a:rPr lang="en-US" altLang="zh-TW" sz="2200" dirty="0">
                <a:solidFill>
                  <a:srgbClr val="000000"/>
                </a:solidFill>
              </a:rPr>
              <a:t>, </a:t>
            </a:r>
            <a:r>
              <a:rPr lang="en-US" altLang="zh-TW" sz="2200" i="1" dirty="0">
                <a:solidFill>
                  <a:srgbClr val="000000"/>
                </a:solidFill>
              </a:rPr>
              <a:t>d</a:t>
            </a:r>
            <a:r>
              <a:rPr lang="en-US" altLang="zh-TW" sz="2200" dirty="0">
                <a:solidFill>
                  <a:srgbClr val="000000"/>
                </a:solidFill>
              </a:rPr>
              <a:t>, </a:t>
            </a:r>
            <a:r>
              <a:rPr lang="en-US" altLang="zh-TW" sz="2200" i="1" dirty="0">
                <a:solidFill>
                  <a:srgbClr val="FF0000"/>
                </a:solidFill>
              </a:rPr>
              <a:t>c</a:t>
            </a:r>
            <a:r>
              <a:rPr lang="en-US" altLang="zh-TW" sz="2200" dirty="0">
                <a:solidFill>
                  <a:srgbClr val="000000"/>
                </a:solidFill>
              </a:rPr>
              <a:t>, </a:t>
            </a:r>
            <a:r>
              <a:rPr lang="en-US" altLang="zh-TW" sz="2200" i="1" dirty="0">
                <a:solidFill>
                  <a:srgbClr val="000000"/>
                </a:solidFill>
                <a:sym typeface="Symbol" panose="05050102010706020507" pitchFamily="18" charset="2"/>
              </a:rPr>
              <a:t>a</a:t>
            </a:r>
            <a:r>
              <a:rPr lang="en-US" altLang="zh-TW" sz="2200" dirty="0">
                <a:solidFill>
                  <a:srgbClr val="000000"/>
                </a:solidFill>
                <a:sym typeface="Symbol" panose="05050102010706020507" pitchFamily="18" charset="2"/>
              </a:rPr>
              <a:t>, </a:t>
            </a:r>
            <a:r>
              <a:rPr lang="en-US" altLang="zh-TW" sz="2200" i="1" dirty="0">
                <a:solidFill>
                  <a:srgbClr val="FF0000"/>
                </a:solidFill>
              </a:rPr>
              <a:t>b</a:t>
            </a:r>
            <a:r>
              <a:rPr lang="en-US" altLang="zh-TW" sz="2200" dirty="0">
                <a:solidFill>
                  <a:srgbClr val="000000"/>
                </a:solidFill>
              </a:rPr>
              <a:t>,</a:t>
            </a:r>
            <a:r>
              <a:rPr lang="en-US" altLang="zh-TW" sz="2200" dirty="0">
                <a:solidFill>
                  <a:srgbClr val="000000"/>
                </a:solidFill>
                <a:sym typeface="Symbol" panose="05050102010706020507" pitchFamily="18" charset="2"/>
              </a:rPr>
              <a:t> </a:t>
            </a:r>
            <a:r>
              <a:rPr lang="en-US" altLang="zh-TW" sz="2200" i="1" dirty="0">
                <a:solidFill>
                  <a:srgbClr val="FF0000"/>
                </a:solidFill>
                <a:sym typeface="Symbol" panose="05050102010706020507" pitchFamily="18" charset="2"/>
              </a:rPr>
              <a:t>a</a:t>
            </a:r>
            <a:r>
              <a:rPr lang="en-US" altLang="zh-TW" sz="2200" dirty="0">
                <a:solidFill>
                  <a:srgbClr val="000000"/>
                </a:solidFill>
                <a:sym typeface="Symbol" panose="05050102010706020507" pitchFamily="18" charset="2"/>
              </a:rPr>
              <a:t>	</a:t>
            </a:r>
            <a:r>
              <a:rPr lang="en-US" altLang="zh-TW" sz="2200" i="1" dirty="0">
                <a:solidFill>
                  <a:srgbClr val="000000"/>
                </a:solidFill>
              </a:rPr>
              <a:t>Y</a:t>
            </a:r>
            <a:r>
              <a:rPr lang="en-US" altLang="zh-TW" sz="2200" dirty="0">
                <a:solidFill>
                  <a:srgbClr val="000000"/>
                </a:solidFill>
              </a:rPr>
              <a:t>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200" dirty="0">
                <a:solidFill>
                  <a:srgbClr val="000000"/>
                </a:solidFill>
              </a:rPr>
              <a:t> </a:t>
            </a:r>
            <a:r>
              <a:rPr lang="en-US" altLang="zh-TW" sz="2200" dirty="0">
                <a:solidFill>
                  <a:srgbClr val="000000"/>
                </a:solidFill>
                <a:sym typeface="Symbol" panose="05050102010706020507" pitchFamily="18" charset="2"/>
              </a:rPr>
              <a:t></a:t>
            </a:r>
            <a:r>
              <a:rPr lang="en-US" altLang="zh-TW" sz="2200" i="1" dirty="0">
                <a:solidFill>
                  <a:srgbClr val="FF0000"/>
                </a:solidFill>
              </a:rPr>
              <a:t>b</a:t>
            </a:r>
            <a:r>
              <a:rPr lang="en-US" altLang="zh-TW" sz="2200" dirty="0">
                <a:solidFill>
                  <a:srgbClr val="000000"/>
                </a:solidFill>
              </a:rPr>
              <a:t>, </a:t>
            </a:r>
            <a:r>
              <a:rPr lang="en-US" altLang="zh-TW" sz="2200" i="1" dirty="0">
                <a:solidFill>
                  <a:srgbClr val="FF0000"/>
                </a:solidFill>
              </a:rPr>
              <a:t>d</a:t>
            </a:r>
            <a:r>
              <a:rPr lang="en-US" altLang="zh-TW" sz="2200" dirty="0">
                <a:solidFill>
                  <a:srgbClr val="000000"/>
                </a:solidFill>
              </a:rPr>
              <a:t>, </a:t>
            </a:r>
            <a:r>
              <a:rPr lang="en-US" altLang="zh-TW" sz="2200" i="1" dirty="0">
                <a:solidFill>
                  <a:srgbClr val="000000"/>
                </a:solidFill>
              </a:rPr>
              <a:t>c</a:t>
            </a:r>
            <a:r>
              <a:rPr lang="en-US" altLang="zh-TW" sz="2200" dirty="0">
                <a:solidFill>
                  <a:srgbClr val="000000"/>
                </a:solidFill>
              </a:rPr>
              <a:t>, </a:t>
            </a:r>
            <a:r>
              <a:rPr lang="en-US" altLang="zh-TW" sz="2200" i="1" dirty="0">
                <a:solidFill>
                  <a:srgbClr val="FF0000"/>
                </a:solidFill>
                <a:sym typeface="Symbol" panose="05050102010706020507" pitchFamily="18" charset="2"/>
              </a:rPr>
              <a:t>a</a:t>
            </a:r>
            <a:r>
              <a:rPr lang="en-US" altLang="zh-TW" sz="2200" dirty="0">
                <a:solidFill>
                  <a:srgbClr val="000000"/>
                </a:solidFill>
                <a:sym typeface="Symbol" panose="05050102010706020507" pitchFamily="18" charset="2"/>
              </a:rPr>
              <a:t>, </a:t>
            </a:r>
            <a:r>
              <a:rPr lang="en-US" altLang="zh-TW" sz="2200" i="1" dirty="0">
                <a:solidFill>
                  <a:srgbClr val="FF0000"/>
                </a:solidFill>
              </a:rPr>
              <a:t>b</a:t>
            </a:r>
            <a:r>
              <a:rPr lang="en-US" altLang="zh-TW" sz="2200" dirty="0">
                <a:solidFill>
                  <a:srgbClr val="000000"/>
                </a:solidFill>
              </a:rPr>
              <a:t>,</a:t>
            </a:r>
            <a:r>
              <a:rPr lang="en-US" altLang="zh-TW" sz="2200" dirty="0">
                <a:solidFill>
                  <a:srgbClr val="000000"/>
                </a:solidFill>
                <a:sym typeface="Symbol" panose="05050102010706020507" pitchFamily="18" charset="2"/>
              </a:rPr>
              <a:t> </a:t>
            </a:r>
            <a:r>
              <a:rPr lang="en-US" altLang="zh-TW" sz="2200" i="1" dirty="0">
                <a:solidFill>
                  <a:srgbClr val="000000"/>
                </a:solidFill>
                <a:sym typeface="Symbol" panose="05050102010706020507" pitchFamily="18" charset="2"/>
              </a:rPr>
              <a:t>a</a:t>
            </a:r>
            <a:r>
              <a:rPr lang="en-US" altLang="zh-TW" sz="2200" dirty="0">
                <a:solidFill>
                  <a:srgbClr val="000000"/>
                </a:solidFill>
                <a:sym typeface="Symbol" panose="05050102010706020507" pitchFamily="18" charset="2"/>
              </a:rPr>
              <a:t></a:t>
            </a:r>
          </a:p>
        </p:txBody>
      </p:sp>
    </p:spTree>
    <p:extLst>
      <p:ext uri="{BB962C8B-B14F-4D97-AF65-F5344CB8AC3E}">
        <p14:creationId xmlns:p14="http://schemas.microsoft.com/office/powerpoint/2010/main" val="15340922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151063" indent="-1524000" algn="l"/>
            <a:r>
              <a:rPr lang="en-US" altLang="zh-TW" dirty="0"/>
              <a:t>Step 1:	Characterizing a Longest Common Subsequence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2000" y="1808999"/>
            <a:ext cx="7560000" cy="4500001"/>
          </a:xfrm>
        </p:spPr>
        <p:txBody>
          <a:bodyPr rIns="36000"/>
          <a:lstStyle/>
          <a:p>
            <a:pPr marL="0" indent="0"/>
            <a:r>
              <a:rPr lang="en-US" altLang="zh-TW" sz="2200" i="1" dirty="0">
                <a:solidFill>
                  <a:srgbClr val="0000FF"/>
                </a:solidFill>
              </a:rPr>
              <a:t>Theorem (Optimal substructure of an LCS)</a:t>
            </a:r>
          </a:p>
          <a:p>
            <a:pPr marL="0" indent="0"/>
            <a:r>
              <a:rPr lang="en-US" altLang="zh-TW" sz="2200" dirty="0"/>
              <a:t>Let </a:t>
            </a:r>
            <a:r>
              <a:rPr lang="en-US" altLang="zh-TW" sz="2200" i="1" dirty="0">
                <a:solidFill>
                  <a:srgbClr val="000000"/>
                </a:solidFill>
              </a:rPr>
              <a:t>X</a:t>
            </a:r>
            <a:r>
              <a:rPr lang="en-US" altLang="zh-TW" sz="2200" dirty="0">
                <a:solidFill>
                  <a:srgbClr val="000000"/>
                </a:solidFill>
              </a:rPr>
              <a:t>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200" dirty="0">
                <a:solidFill>
                  <a:srgbClr val="000000"/>
                </a:solidFill>
              </a:rPr>
              <a:t> </a:t>
            </a:r>
            <a:r>
              <a:rPr lang="en-US" altLang="zh-TW" sz="2200" spc="300" dirty="0">
                <a:solidFill>
                  <a:srgbClr val="000000"/>
                </a:solidFill>
                <a:sym typeface="Symbol" panose="05050102010706020507" pitchFamily="18" charset="2"/>
              </a:rPr>
              <a:t></a:t>
            </a:r>
            <a:r>
              <a:rPr lang="en-US" altLang="zh-TW" sz="2200" i="1" dirty="0" err="1">
                <a:solidFill>
                  <a:srgbClr val="000000"/>
                </a:solidFill>
              </a:rPr>
              <a:t>x</a:t>
            </a:r>
            <a:r>
              <a:rPr lang="en-US" altLang="zh-TW" sz="2200" baseline="-25000" dirty="0" err="1">
                <a:solidFill>
                  <a:srgbClr val="000000"/>
                </a:solidFill>
              </a:rPr>
              <a:t>1</a:t>
            </a:r>
            <a:r>
              <a:rPr lang="en-US" altLang="zh-TW" sz="2200" dirty="0">
                <a:solidFill>
                  <a:srgbClr val="000000"/>
                </a:solidFill>
              </a:rPr>
              <a:t>, </a:t>
            </a:r>
            <a:r>
              <a:rPr lang="en-US" altLang="zh-TW" sz="2200" i="1" dirty="0" err="1">
                <a:solidFill>
                  <a:srgbClr val="000000"/>
                </a:solidFill>
              </a:rPr>
              <a:t>x</a:t>
            </a:r>
            <a:r>
              <a:rPr lang="en-US" altLang="zh-TW" sz="2200" baseline="-25000" dirty="0" err="1">
                <a:solidFill>
                  <a:srgbClr val="000000"/>
                </a:solidFill>
              </a:rPr>
              <a:t>2</a:t>
            </a:r>
            <a:r>
              <a:rPr lang="en-US" altLang="zh-TW" sz="2200" dirty="0">
                <a:solidFill>
                  <a:srgbClr val="000000"/>
                </a:solidFill>
              </a:rPr>
              <a:t>, . . ., </a:t>
            </a:r>
            <a:r>
              <a:rPr lang="en-US" altLang="zh-TW" sz="2200" i="1" dirty="0" err="1">
                <a:solidFill>
                  <a:srgbClr val="000000"/>
                </a:solidFill>
              </a:rPr>
              <a:t>x</a:t>
            </a:r>
            <a:r>
              <a:rPr lang="en-US" altLang="zh-TW" sz="2200" i="1" spc="300" baseline="-25000" dirty="0" err="1">
                <a:solidFill>
                  <a:srgbClr val="000000"/>
                </a:solidFill>
              </a:rPr>
              <a:t>m</a:t>
            </a:r>
            <a:r>
              <a:rPr lang="en-US" altLang="zh-TW" sz="2200" dirty="0">
                <a:solidFill>
                  <a:srgbClr val="000000"/>
                </a:solidFill>
                <a:sym typeface="Symbol" panose="05050102010706020507" pitchFamily="18" charset="2"/>
              </a:rPr>
              <a:t></a:t>
            </a:r>
            <a:r>
              <a:rPr lang="en-US" altLang="zh-TW" sz="2200" dirty="0">
                <a:solidFill>
                  <a:srgbClr val="000000"/>
                </a:solidFill>
              </a:rPr>
              <a:t> and </a:t>
            </a:r>
            <a:r>
              <a:rPr lang="en-US" altLang="zh-TW" sz="2200" i="1" dirty="0">
                <a:solidFill>
                  <a:srgbClr val="000000"/>
                </a:solidFill>
              </a:rPr>
              <a:t>Y</a:t>
            </a:r>
            <a:r>
              <a:rPr lang="en-US" altLang="zh-TW" sz="2200" dirty="0">
                <a:solidFill>
                  <a:srgbClr val="000000"/>
                </a:solidFill>
              </a:rPr>
              <a:t>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200" dirty="0">
                <a:solidFill>
                  <a:srgbClr val="000000"/>
                </a:solidFill>
              </a:rPr>
              <a:t> </a:t>
            </a:r>
            <a:r>
              <a:rPr lang="en-US" altLang="zh-TW" sz="2200" dirty="0">
                <a:solidFill>
                  <a:srgbClr val="000000"/>
                </a:solidFill>
                <a:sym typeface="Symbol" panose="05050102010706020507" pitchFamily="18" charset="2"/>
              </a:rPr>
              <a:t> </a:t>
            </a:r>
            <a:r>
              <a:rPr lang="en-US" altLang="zh-TW" sz="2200" i="1" dirty="0" err="1">
                <a:solidFill>
                  <a:srgbClr val="000000"/>
                </a:solidFill>
              </a:rPr>
              <a:t>y</a:t>
            </a:r>
            <a:r>
              <a:rPr lang="en-US" altLang="zh-TW" sz="2200" baseline="-25000" dirty="0" err="1">
                <a:solidFill>
                  <a:srgbClr val="000000"/>
                </a:solidFill>
              </a:rPr>
              <a:t>1</a:t>
            </a:r>
            <a:r>
              <a:rPr lang="en-US" altLang="zh-TW" sz="2200" dirty="0">
                <a:solidFill>
                  <a:srgbClr val="000000"/>
                </a:solidFill>
              </a:rPr>
              <a:t>, </a:t>
            </a:r>
            <a:r>
              <a:rPr lang="en-US" altLang="zh-TW" sz="2200" i="1" dirty="0" err="1">
                <a:solidFill>
                  <a:srgbClr val="000000"/>
                </a:solidFill>
              </a:rPr>
              <a:t>y</a:t>
            </a:r>
            <a:r>
              <a:rPr lang="en-US" altLang="zh-TW" sz="2200" baseline="-25000" dirty="0" err="1">
                <a:solidFill>
                  <a:srgbClr val="000000"/>
                </a:solidFill>
              </a:rPr>
              <a:t>2</a:t>
            </a:r>
            <a:r>
              <a:rPr lang="en-US" altLang="zh-TW" sz="2200" dirty="0">
                <a:solidFill>
                  <a:srgbClr val="000000"/>
                </a:solidFill>
              </a:rPr>
              <a:t>, . . ., </a:t>
            </a:r>
            <a:r>
              <a:rPr lang="en-US" altLang="zh-TW" sz="2200" i="1" dirty="0" err="1">
                <a:solidFill>
                  <a:srgbClr val="000000"/>
                </a:solidFill>
              </a:rPr>
              <a:t>y</a:t>
            </a:r>
            <a:r>
              <a:rPr lang="en-US" altLang="zh-TW" sz="2200" i="1" spc="300" baseline="-25000" dirty="0" err="1">
                <a:solidFill>
                  <a:srgbClr val="000000"/>
                </a:solidFill>
              </a:rPr>
              <a:t>n</a:t>
            </a:r>
            <a:r>
              <a:rPr lang="en-US" altLang="zh-TW" sz="2200" dirty="0">
                <a:solidFill>
                  <a:srgbClr val="000000"/>
                </a:solidFill>
                <a:sym typeface="Symbol" panose="05050102010706020507" pitchFamily="18" charset="2"/>
              </a:rPr>
              <a:t></a:t>
            </a:r>
            <a:r>
              <a:rPr lang="en-US" altLang="zh-TW" sz="2200" dirty="0"/>
              <a:t> be sequences.</a:t>
            </a:r>
          </a:p>
          <a:p>
            <a:pPr marL="1530000" indent="-1530000">
              <a:tabLst>
                <a:tab pos="2250000" algn="l"/>
                <a:tab pos="4500000" algn="l"/>
                <a:tab pos="6390000" algn="l"/>
              </a:tabLst>
            </a:pPr>
            <a:r>
              <a:rPr lang="en-US" altLang="zh-TW" sz="2200" dirty="0"/>
              <a:t>1. If </a:t>
            </a:r>
            <a:r>
              <a:rPr lang="en-US" altLang="zh-TW" sz="2200" i="1" dirty="0" err="1">
                <a:solidFill>
                  <a:srgbClr val="000000"/>
                </a:solidFill>
              </a:rPr>
              <a:t>x</a:t>
            </a:r>
            <a:r>
              <a:rPr lang="en-US" altLang="zh-TW" sz="2200" i="1" baseline="-25000" dirty="0" err="1">
                <a:solidFill>
                  <a:srgbClr val="000000"/>
                </a:solidFill>
              </a:rPr>
              <a:t>m</a:t>
            </a:r>
            <a:r>
              <a:rPr lang="en-US" altLang="zh-TW" sz="2200" dirty="0"/>
              <a:t>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200" dirty="0"/>
              <a:t> </a:t>
            </a:r>
            <a:r>
              <a:rPr lang="en-US" altLang="zh-TW" sz="2200" i="1" dirty="0" err="1">
                <a:solidFill>
                  <a:srgbClr val="000000"/>
                </a:solidFill>
              </a:rPr>
              <a:t>y</a:t>
            </a:r>
            <a:r>
              <a:rPr lang="en-US" altLang="zh-TW" sz="2200" i="1" baseline="-25000" dirty="0" err="1">
                <a:solidFill>
                  <a:srgbClr val="000000"/>
                </a:solidFill>
              </a:rPr>
              <a:t>n</a:t>
            </a:r>
            <a:r>
              <a:rPr lang="en-US" altLang="zh-TW" sz="2200" dirty="0"/>
              <a:t>,	let </a:t>
            </a:r>
            <a:r>
              <a:rPr lang="en-US" altLang="zh-TW" sz="2200" i="1" dirty="0">
                <a:solidFill>
                  <a:srgbClr val="000000"/>
                </a:solidFill>
              </a:rPr>
              <a:t>Z</a:t>
            </a:r>
            <a:r>
              <a:rPr lang="en-US" altLang="zh-TW" sz="2200" dirty="0">
                <a:solidFill>
                  <a:srgbClr val="000000"/>
                </a:solidFill>
              </a:rPr>
              <a:t> </a:t>
            </a:r>
            <a:r>
              <a:rPr lang="en-US" altLang="zh-TW" sz="2200" dirty="0">
                <a:solidFill>
                  <a:srgbClr val="000000"/>
                </a:solidFill>
                <a:latin typeface="Symbol" panose="05050102010706020507" pitchFamily="18" charset="2"/>
              </a:rPr>
              <a:t>=</a:t>
            </a:r>
            <a:r>
              <a:rPr lang="en-US" altLang="zh-TW" sz="2200" dirty="0">
                <a:solidFill>
                  <a:srgbClr val="000000"/>
                </a:solidFill>
              </a:rPr>
              <a:t> </a:t>
            </a:r>
            <a:r>
              <a:rPr lang="en-US" altLang="zh-TW" sz="2200" spc="300" dirty="0">
                <a:solidFill>
                  <a:srgbClr val="000000"/>
                </a:solidFill>
                <a:sym typeface="Symbol" panose="05050102010706020507" pitchFamily="18" charset="2"/>
              </a:rPr>
              <a:t></a:t>
            </a:r>
            <a:r>
              <a:rPr lang="en-US" altLang="zh-TW" sz="2200" i="1" dirty="0" err="1">
                <a:solidFill>
                  <a:srgbClr val="000000"/>
                </a:solidFill>
              </a:rPr>
              <a:t>z</a:t>
            </a:r>
            <a:r>
              <a:rPr lang="en-US" altLang="zh-TW" sz="2200" baseline="-25000" dirty="0" err="1">
                <a:solidFill>
                  <a:srgbClr val="000000"/>
                </a:solidFill>
              </a:rPr>
              <a:t>1</a:t>
            </a:r>
            <a:r>
              <a:rPr lang="en-US" altLang="zh-TW" sz="2200" dirty="0">
                <a:solidFill>
                  <a:srgbClr val="000000"/>
                </a:solidFill>
              </a:rPr>
              <a:t>, </a:t>
            </a:r>
            <a:r>
              <a:rPr lang="en-US" altLang="zh-TW" sz="2200" i="1" dirty="0" err="1">
                <a:solidFill>
                  <a:srgbClr val="000000"/>
                </a:solidFill>
              </a:rPr>
              <a:t>z</a:t>
            </a:r>
            <a:r>
              <a:rPr lang="en-US" altLang="zh-TW" sz="2200" baseline="-25000" dirty="0" err="1">
                <a:solidFill>
                  <a:srgbClr val="000000"/>
                </a:solidFill>
              </a:rPr>
              <a:t>2</a:t>
            </a:r>
            <a:r>
              <a:rPr lang="en-US" altLang="zh-TW" sz="2200" dirty="0">
                <a:solidFill>
                  <a:srgbClr val="000000"/>
                </a:solidFill>
              </a:rPr>
              <a:t>, . . ., </a:t>
            </a:r>
            <a:r>
              <a:rPr lang="en-US" altLang="zh-TW" sz="2200" i="1" dirty="0" err="1">
                <a:solidFill>
                  <a:srgbClr val="000000"/>
                </a:solidFill>
              </a:rPr>
              <a:t>z</a:t>
            </a:r>
            <a:r>
              <a:rPr lang="en-US" altLang="zh-TW" sz="2200" i="1" spc="300" baseline="-25000" dirty="0" err="1">
                <a:solidFill>
                  <a:srgbClr val="000000"/>
                </a:solidFill>
              </a:rPr>
              <a:t>k</a:t>
            </a:r>
            <a:r>
              <a:rPr lang="en-US" altLang="zh-TW" sz="2200" dirty="0">
                <a:solidFill>
                  <a:srgbClr val="000000"/>
                </a:solidFill>
                <a:sym typeface="Symbol" panose="05050102010706020507" pitchFamily="18" charset="2"/>
              </a:rPr>
              <a:t> be	</a:t>
            </a:r>
            <a:r>
              <a:rPr lang="en-US" altLang="zh-TW" sz="2200" dirty="0"/>
              <a:t>an LCS of </a:t>
            </a:r>
            <a:r>
              <a:rPr lang="en-US" altLang="zh-TW" sz="2200" i="1" dirty="0" err="1">
                <a:solidFill>
                  <a:srgbClr val="000000"/>
                </a:solidFill>
              </a:rPr>
              <a:t>X</a:t>
            </a:r>
            <a:r>
              <a:rPr lang="en-US" altLang="zh-TW" sz="2200" i="1" spc="150" baseline="-25000" dirty="0" err="1">
                <a:solidFill>
                  <a:srgbClr val="000000"/>
                </a:solidFill>
              </a:rPr>
              <a:t>m</a:t>
            </a:r>
            <a:r>
              <a:rPr lang="en-US" altLang="zh-TW" sz="2200" baseline="-25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2200" baseline="-25000" dirty="0">
                <a:solidFill>
                  <a:srgbClr val="000000"/>
                </a:solidFill>
              </a:rPr>
              <a:t>1</a:t>
            </a:r>
            <a:r>
              <a:rPr lang="en-US" altLang="zh-TW" sz="2200" dirty="0"/>
              <a:t>	and </a:t>
            </a:r>
            <a:r>
              <a:rPr lang="en-US" altLang="zh-TW" sz="2200" i="1" dirty="0" err="1">
                <a:solidFill>
                  <a:srgbClr val="000000"/>
                </a:solidFill>
              </a:rPr>
              <a:t>Y</a:t>
            </a:r>
            <a:r>
              <a:rPr lang="en-US" altLang="zh-TW" sz="2200" i="1" spc="150" baseline="-25000" dirty="0" err="1">
                <a:solidFill>
                  <a:srgbClr val="000000"/>
                </a:solidFill>
              </a:rPr>
              <a:t>n</a:t>
            </a:r>
            <a:r>
              <a:rPr lang="en-US" altLang="zh-TW" sz="2200" baseline="-25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2200" baseline="-25000" dirty="0">
                <a:solidFill>
                  <a:srgbClr val="000000"/>
                </a:solidFill>
              </a:rPr>
              <a:t>1</a:t>
            </a:r>
            <a:r>
              <a:rPr lang="en-US" altLang="zh-TW" sz="2200" dirty="0"/>
              <a:t>, then </a:t>
            </a:r>
            <a:r>
              <a:rPr lang="en-US" altLang="zh-TW" sz="2200" spc="300" dirty="0">
                <a:solidFill>
                  <a:srgbClr val="000000"/>
                </a:solidFill>
                <a:sym typeface="Symbol" panose="05050102010706020507" pitchFamily="18" charset="2"/>
              </a:rPr>
              <a:t></a:t>
            </a:r>
            <a:r>
              <a:rPr lang="en-US" altLang="zh-TW" sz="2200" i="1" dirty="0" err="1">
                <a:solidFill>
                  <a:srgbClr val="000000"/>
                </a:solidFill>
              </a:rPr>
              <a:t>z</a:t>
            </a:r>
            <a:r>
              <a:rPr lang="en-US" altLang="zh-TW" sz="2200" baseline="-25000" dirty="0" err="1">
                <a:solidFill>
                  <a:srgbClr val="000000"/>
                </a:solidFill>
              </a:rPr>
              <a:t>1</a:t>
            </a:r>
            <a:r>
              <a:rPr lang="en-US" altLang="zh-TW" sz="2200" dirty="0">
                <a:solidFill>
                  <a:srgbClr val="000000"/>
                </a:solidFill>
              </a:rPr>
              <a:t>, </a:t>
            </a:r>
            <a:r>
              <a:rPr lang="en-US" altLang="zh-TW" sz="2200" i="1" dirty="0" err="1">
                <a:solidFill>
                  <a:srgbClr val="000000"/>
                </a:solidFill>
              </a:rPr>
              <a:t>z</a:t>
            </a:r>
            <a:r>
              <a:rPr lang="en-US" altLang="zh-TW" sz="2200" baseline="-25000" dirty="0" err="1">
                <a:solidFill>
                  <a:srgbClr val="000000"/>
                </a:solidFill>
              </a:rPr>
              <a:t>2</a:t>
            </a:r>
            <a:r>
              <a:rPr lang="en-US" altLang="zh-TW" sz="2200" dirty="0">
                <a:solidFill>
                  <a:srgbClr val="000000"/>
                </a:solidFill>
              </a:rPr>
              <a:t>, . . ., </a:t>
            </a:r>
            <a:r>
              <a:rPr lang="en-US" altLang="zh-TW" sz="2200" i="1" dirty="0" err="1">
                <a:solidFill>
                  <a:srgbClr val="000000"/>
                </a:solidFill>
              </a:rPr>
              <a:t>z</a:t>
            </a:r>
            <a:r>
              <a:rPr lang="en-US" altLang="zh-TW" sz="2200" i="1" baseline="-25000" dirty="0" err="1">
                <a:solidFill>
                  <a:srgbClr val="000000"/>
                </a:solidFill>
              </a:rPr>
              <a:t>k</a:t>
            </a:r>
            <a:r>
              <a:rPr lang="en-US" altLang="zh-TW" sz="2200" dirty="0">
                <a:solidFill>
                  <a:srgbClr val="000000"/>
                </a:solidFill>
              </a:rPr>
              <a:t>, </a:t>
            </a:r>
            <a:r>
              <a:rPr lang="en-US" altLang="zh-TW" sz="2200" i="1" dirty="0" err="1">
                <a:solidFill>
                  <a:srgbClr val="000000"/>
                </a:solidFill>
              </a:rPr>
              <a:t>x</a:t>
            </a:r>
            <a:r>
              <a:rPr lang="en-US" altLang="zh-TW" sz="2200" i="1" spc="300" baseline="-25000" dirty="0" err="1">
                <a:solidFill>
                  <a:srgbClr val="000000"/>
                </a:solidFill>
              </a:rPr>
              <a:t>m</a:t>
            </a:r>
            <a:r>
              <a:rPr lang="en-US" altLang="zh-TW" sz="2200" dirty="0">
                <a:solidFill>
                  <a:srgbClr val="000000"/>
                </a:solidFill>
                <a:sym typeface="Symbol" panose="05050102010706020507" pitchFamily="18" charset="2"/>
              </a:rPr>
              <a:t></a:t>
            </a:r>
            <a:r>
              <a:rPr lang="en-US" altLang="zh-TW" sz="2200" dirty="0"/>
              <a:t> is	</a:t>
            </a:r>
            <a:r>
              <a:rPr lang="en-US" altLang="zh-TW" sz="2200" dirty="0">
                <a:solidFill>
                  <a:srgbClr val="000000"/>
                </a:solidFill>
              </a:rPr>
              <a:t>an LCS of </a:t>
            </a:r>
            <a:r>
              <a:rPr lang="en-US" altLang="zh-TW" sz="2200" i="1" dirty="0">
                <a:solidFill>
                  <a:srgbClr val="000000"/>
                </a:solidFill>
              </a:rPr>
              <a:t>X</a:t>
            </a:r>
            <a:r>
              <a:rPr lang="en-US" altLang="zh-TW" sz="2200" dirty="0">
                <a:solidFill>
                  <a:srgbClr val="000000"/>
                </a:solidFill>
              </a:rPr>
              <a:t>	and </a:t>
            </a:r>
            <a:r>
              <a:rPr lang="en-US" altLang="zh-TW" sz="2200" i="1" dirty="0">
                <a:solidFill>
                  <a:srgbClr val="000000"/>
                </a:solidFill>
              </a:rPr>
              <a:t>Y</a:t>
            </a:r>
            <a:r>
              <a:rPr lang="en-US" altLang="zh-TW" sz="2200" dirty="0"/>
              <a:t>.</a:t>
            </a:r>
          </a:p>
          <a:p>
            <a:pPr marL="1530000" indent="-1530000">
              <a:tabLst>
                <a:tab pos="4410000" algn="l"/>
                <a:tab pos="5580000" algn="l"/>
              </a:tabLst>
            </a:pPr>
            <a:r>
              <a:rPr lang="en-US" altLang="zh-TW" sz="2200" dirty="0"/>
              <a:t>2. If </a:t>
            </a:r>
            <a:r>
              <a:rPr lang="en-US" altLang="zh-TW" sz="2200" i="1" dirty="0" err="1">
                <a:solidFill>
                  <a:srgbClr val="000000"/>
                </a:solidFill>
              </a:rPr>
              <a:t>x</a:t>
            </a:r>
            <a:r>
              <a:rPr lang="en-US" altLang="zh-TW" sz="2200" i="1" baseline="-25000" dirty="0" err="1">
                <a:solidFill>
                  <a:srgbClr val="000000"/>
                </a:solidFill>
              </a:rPr>
              <a:t>m</a:t>
            </a:r>
            <a:r>
              <a:rPr lang="en-US" altLang="zh-TW" sz="2200" dirty="0"/>
              <a:t> </a:t>
            </a:r>
            <a:r>
              <a:rPr lang="en-US" altLang="zh-TW" sz="2200" dirty="0"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≠</a:t>
            </a:r>
            <a:r>
              <a:rPr lang="en-US" altLang="zh-TW" sz="2200" dirty="0"/>
              <a:t> </a:t>
            </a:r>
            <a:r>
              <a:rPr lang="en-US" altLang="zh-TW" sz="2200" i="1" dirty="0" err="1">
                <a:solidFill>
                  <a:srgbClr val="000000"/>
                </a:solidFill>
              </a:rPr>
              <a:t>y</a:t>
            </a:r>
            <a:r>
              <a:rPr lang="en-US" altLang="zh-TW" sz="2200" i="1" baseline="-25000" dirty="0" err="1">
                <a:solidFill>
                  <a:srgbClr val="000000"/>
                </a:solidFill>
              </a:rPr>
              <a:t>n</a:t>
            </a:r>
            <a:r>
              <a:rPr lang="en-US" altLang="zh-TW" sz="2200" dirty="0"/>
              <a:t>,	</a:t>
            </a:r>
            <a:r>
              <a:rPr lang="en-US" altLang="zh-TW" sz="2200" dirty="0">
                <a:solidFill>
                  <a:srgbClr val="000000"/>
                </a:solidFill>
              </a:rPr>
              <a:t>let </a:t>
            </a:r>
            <a:r>
              <a:rPr lang="en-US" altLang="zh-TW" sz="2200" i="1" dirty="0" err="1">
                <a:solidFill>
                  <a:srgbClr val="000000"/>
                </a:solidFill>
              </a:rPr>
              <a:t>Z</a:t>
            </a:r>
            <a:r>
              <a:rPr lang="en-US" altLang="zh-TW" sz="2200" baseline="-25000" dirty="0" err="1">
                <a:solidFill>
                  <a:srgbClr val="000000"/>
                </a:solidFill>
              </a:rPr>
              <a:t>1</a:t>
            </a:r>
            <a:r>
              <a:rPr lang="en-US" altLang="zh-TW" sz="2200" dirty="0"/>
              <a:t> be an LCS of </a:t>
            </a:r>
            <a:r>
              <a:rPr lang="en-US" altLang="zh-TW" sz="2200" i="1" dirty="0" err="1">
                <a:solidFill>
                  <a:srgbClr val="000000"/>
                </a:solidFill>
              </a:rPr>
              <a:t>X</a:t>
            </a:r>
            <a:r>
              <a:rPr lang="en-US" altLang="zh-TW" sz="2200" i="1" spc="150" baseline="-25000" dirty="0" err="1">
                <a:solidFill>
                  <a:srgbClr val="000000"/>
                </a:solidFill>
              </a:rPr>
              <a:t>m</a:t>
            </a:r>
            <a:r>
              <a:rPr lang="en-US" altLang="zh-TW" sz="2200" baseline="-25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2200" baseline="-25000" dirty="0">
                <a:solidFill>
                  <a:srgbClr val="000000"/>
                </a:solidFill>
              </a:rPr>
              <a:t>1</a:t>
            </a:r>
            <a:r>
              <a:rPr lang="en-US" altLang="zh-TW" sz="2200" dirty="0"/>
              <a:t>	and </a:t>
            </a:r>
            <a:r>
              <a:rPr lang="en-US" altLang="zh-TW" sz="2200" i="1" dirty="0"/>
              <a:t>Y</a:t>
            </a:r>
            <a:r>
              <a:rPr lang="en-US" altLang="zh-TW" sz="2200" dirty="0"/>
              <a:t>,	and		 </a:t>
            </a:r>
            <a:r>
              <a:rPr lang="en-US" altLang="zh-TW" sz="2200" dirty="0">
                <a:solidFill>
                  <a:srgbClr val="000000"/>
                </a:solidFill>
              </a:rPr>
              <a:t>let </a:t>
            </a:r>
            <a:r>
              <a:rPr lang="en-US" altLang="zh-TW" sz="2200" i="1" dirty="0" err="1"/>
              <a:t>Z</a:t>
            </a:r>
            <a:r>
              <a:rPr lang="en-US" altLang="zh-TW" sz="2200" baseline="-25000" dirty="0" err="1">
                <a:solidFill>
                  <a:srgbClr val="000000"/>
                </a:solidFill>
              </a:rPr>
              <a:t>2</a:t>
            </a:r>
            <a:r>
              <a:rPr lang="en-US" altLang="zh-TW" sz="2200" dirty="0"/>
              <a:t> be an LCS of </a:t>
            </a:r>
            <a:r>
              <a:rPr lang="en-US" altLang="zh-TW" sz="2200" i="1" dirty="0"/>
              <a:t>X</a:t>
            </a:r>
            <a:r>
              <a:rPr lang="en-US" altLang="zh-TW" sz="2200" dirty="0"/>
              <a:t>	and </a:t>
            </a:r>
            <a:r>
              <a:rPr lang="en-US" altLang="zh-TW" sz="2200" i="1" dirty="0" err="1">
                <a:solidFill>
                  <a:srgbClr val="000000"/>
                </a:solidFill>
              </a:rPr>
              <a:t>Y</a:t>
            </a:r>
            <a:r>
              <a:rPr lang="en-US" altLang="zh-TW" sz="2200" i="1" spc="150" baseline="-25000" dirty="0" err="1">
                <a:solidFill>
                  <a:srgbClr val="000000"/>
                </a:solidFill>
              </a:rPr>
              <a:t>n</a:t>
            </a:r>
            <a:r>
              <a:rPr lang="en-US" altLang="zh-TW" sz="2200" baseline="-25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2200" baseline="-25000" dirty="0">
                <a:solidFill>
                  <a:srgbClr val="000000"/>
                </a:solidFill>
              </a:rPr>
              <a:t>1</a:t>
            </a:r>
            <a:r>
              <a:rPr lang="en-US" altLang="zh-TW" sz="2200" dirty="0"/>
              <a:t>,	then	          the longer one of </a:t>
            </a:r>
            <a:r>
              <a:rPr lang="en-US" altLang="zh-TW" sz="2200" i="1" dirty="0" err="1">
                <a:solidFill>
                  <a:srgbClr val="000000"/>
                </a:solidFill>
              </a:rPr>
              <a:t>Z</a:t>
            </a:r>
            <a:r>
              <a:rPr lang="en-US" altLang="zh-TW" sz="2200" baseline="-25000" dirty="0" err="1">
                <a:solidFill>
                  <a:srgbClr val="000000"/>
                </a:solidFill>
              </a:rPr>
              <a:t>1</a:t>
            </a:r>
            <a:r>
              <a:rPr lang="en-US" altLang="zh-TW" sz="2200" dirty="0"/>
              <a:t> and </a:t>
            </a:r>
            <a:r>
              <a:rPr lang="en-US" altLang="zh-TW" sz="2200" i="1" dirty="0" err="1">
                <a:solidFill>
                  <a:srgbClr val="000000"/>
                </a:solidFill>
              </a:rPr>
              <a:t>Z</a:t>
            </a:r>
            <a:r>
              <a:rPr lang="en-US" altLang="zh-TW" sz="2200" baseline="-25000" dirty="0" err="1">
                <a:solidFill>
                  <a:srgbClr val="000000"/>
                </a:solidFill>
              </a:rPr>
              <a:t>2</a:t>
            </a:r>
            <a:r>
              <a:rPr lang="en-US" altLang="zh-TW" sz="2200" dirty="0"/>
              <a:t> </a:t>
            </a:r>
            <a:r>
              <a:rPr lang="en-US" altLang="zh-TW" sz="2200" dirty="0">
                <a:solidFill>
                  <a:srgbClr val="000000"/>
                </a:solidFill>
              </a:rPr>
              <a:t>is an LCS of </a:t>
            </a:r>
            <a:r>
              <a:rPr lang="en-US" altLang="zh-TW" sz="2200" i="1" dirty="0">
                <a:solidFill>
                  <a:srgbClr val="000000"/>
                </a:solidFill>
              </a:rPr>
              <a:t>X</a:t>
            </a:r>
            <a:r>
              <a:rPr lang="en-US" altLang="zh-TW" sz="2200" dirty="0">
                <a:solidFill>
                  <a:srgbClr val="000000"/>
                </a:solidFill>
              </a:rPr>
              <a:t> and </a:t>
            </a:r>
            <a:r>
              <a:rPr lang="en-US" altLang="zh-TW" sz="2200" i="1" dirty="0">
                <a:solidFill>
                  <a:srgbClr val="000000"/>
                </a:solidFill>
              </a:rPr>
              <a:t>Y</a:t>
            </a:r>
            <a:r>
              <a:rPr lang="en-US" altLang="zh-TW" sz="2200" dirty="0"/>
              <a:t>.</a:t>
            </a:r>
          </a:p>
          <a:p>
            <a:pPr marL="0" indent="0">
              <a:spcBef>
                <a:spcPts val="0"/>
              </a:spcBef>
            </a:pPr>
            <a:endParaRPr lang="en-US" altLang="zh-TW" sz="2200" dirty="0"/>
          </a:p>
          <a:p>
            <a:pPr marL="0" indent="0">
              <a:spcBef>
                <a:spcPts val="0"/>
              </a:spcBef>
            </a:pPr>
            <a:endParaRPr lang="en-US" altLang="zh-TW" sz="2200" dirty="0"/>
          </a:p>
          <a:p>
            <a:pPr marL="360363" indent="0">
              <a:spcBef>
                <a:spcPts val="0"/>
              </a:spcBef>
              <a:tabLst>
                <a:tab pos="4303713" algn="l"/>
              </a:tabLst>
            </a:pPr>
            <a:r>
              <a:rPr lang="en-US" altLang="zh-TW" sz="2200" i="1" dirty="0">
                <a:solidFill>
                  <a:srgbClr val="000000"/>
                </a:solidFill>
              </a:rPr>
              <a:t>X</a:t>
            </a:r>
            <a:r>
              <a:rPr lang="en-US" altLang="zh-TW" sz="2200" dirty="0">
                <a:solidFill>
                  <a:srgbClr val="000000"/>
                </a:solidFill>
              </a:rPr>
              <a:t>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200" dirty="0">
                <a:solidFill>
                  <a:srgbClr val="000000"/>
                </a:solidFill>
              </a:rPr>
              <a:t> </a:t>
            </a:r>
            <a:r>
              <a:rPr lang="en-US" altLang="zh-TW" sz="2200" dirty="0">
                <a:solidFill>
                  <a:srgbClr val="000000"/>
                </a:solidFill>
                <a:sym typeface="Symbol" panose="05050102010706020507" pitchFamily="18" charset="2"/>
              </a:rPr>
              <a:t></a:t>
            </a:r>
            <a:r>
              <a:rPr lang="en-US" altLang="zh-TW" sz="2200" i="1" dirty="0">
                <a:solidFill>
                  <a:srgbClr val="000000"/>
                </a:solidFill>
                <a:sym typeface="Symbol" panose="05050102010706020507" pitchFamily="18" charset="2"/>
              </a:rPr>
              <a:t>a</a:t>
            </a:r>
            <a:r>
              <a:rPr lang="en-US" altLang="zh-TW" sz="2200" dirty="0">
                <a:solidFill>
                  <a:srgbClr val="000000"/>
                </a:solidFill>
                <a:sym typeface="Symbol" panose="05050102010706020507" pitchFamily="18" charset="2"/>
              </a:rPr>
              <a:t>, </a:t>
            </a:r>
            <a:r>
              <a:rPr lang="en-US" altLang="zh-TW" sz="2200" i="1" dirty="0">
                <a:solidFill>
                  <a:srgbClr val="FF0000"/>
                </a:solidFill>
              </a:rPr>
              <a:t>b</a:t>
            </a:r>
            <a:r>
              <a:rPr lang="en-US" altLang="zh-TW" sz="2200" dirty="0">
                <a:solidFill>
                  <a:srgbClr val="000000"/>
                </a:solidFill>
              </a:rPr>
              <a:t>, </a:t>
            </a:r>
            <a:r>
              <a:rPr lang="en-US" altLang="zh-TW" sz="2200" i="1" dirty="0">
                <a:solidFill>
                  <a:srgbClr val="FF0000"/>
                </a:solidFill>
              </a:rPr>
              <a:t>c</a:t>
            </a:r>
            <a:r>
              <a:rPr lang="en-US" altLang="zh-TW" sz="2200" dirty="0">
                <a:solidFill>
                  <a:srgbClr val="000000"/>
                </a:solidFill>
              </a:rPr>
              <a:t>, </a:t>
            </a:r>
            <a:r>
              <a:rPr lang="en-US" altLang="zh-TW" sz="2200" i="1" dirty="0">
                <a:solidFill>
                  <a:srgbClr val="FF0000"/>
                </a:solidFill>
              </a:rPr>
              <a:t>b</a:t>
            </a:r>
            <a:r>
              <a:rPr lang="en-US" altLang="zh-TW" sz="2200" dirty="0">
                <a:solidFill>
                  <a:srgbClr val="000000"/>
                </a:solidFill>
              </a:rPr>
              <a:t>,</a:t>
            </a:r>
            <a:r>
              <a:rPr lang="en-US" altLang="zh-TW" sz="2200" dirty="0">
                <a:solidFill>
                  <a:srgbClr val="000000"/>
                </a:solidFill>
                <a:sym typeface="Symbol" panose="05050102010706020507" pitchFamily="18" charset="2"/>
              </a:rPr>
              <a:t> </a:t>
            </a:r>
            <a:r>
              <a:rPr lang="en-US" altLang="zh-TW" sz="2200" i="1" dirty="0">
                <a:solidFill>
                  <a:srgbClr val="000000"/>
                </a:solidFill>
              </a:rPr>
              <a:t>d</a:t>
            </a:r>
            <a:r>
              <a:rPr lang="en-US" altLang="zh-TW" sz="2200" dirty="0">
                <a:solidFill>
                  <a:srgbClr val="000000"/>
                </a:solidFill>
              </a:rPr>
              <a:t>, </a:t>
            </a:r>
            <a:r>
              <a:rPr lang="en-US" altLang="zh-TW" sz="2200" i="1" dirty="0">
                <a:solidFill>
                  <a:srgbClr val="FF0000"/>
                </a:solidFill>
                <a:sym typeface="Symbol" panose="05050102010706020507" pitchFamily="18" charset="2"/>
              </a:rPr>
              <a:t>a</a:t>
            </a:r>
            <a:r>
              <a:rPr lang="en-US" altLang="zh-TW" sz="2200" dirty="0">
                <a:solidFill>
                  <a:srgbClr val="000000"/>
                </a:solidFill>
                <a:sym typeface="Symbol" panose="05050102010706020507" pitchFamily="18" charset="2"/>
              </a:rPr>
              <a:t>, </a:t>
            </a:r>
            <a:r>
              <a:rPr lang="en-US" altLang="zh-TW" sz="2200" i="1" dirty="0">
                <a:solidFill>
                  <a:srgbClr val="000000"/>
                </a:solidFill>
              </a:rPr>
              <a:t>b</a:t>
            </a:r>
            <a:r>
              <a:rPr lang="en-US" altLang="zh-TW" sz="2200" dirty="0">
                <a:solidFill>
                  <a:srgbClr val="000000"/>
                </a:solidFill>
                <a:sym typeface="Symbol" panose="05050102010706020507" pitchFamily="18" charset="2"/>
              </a:rPr>
              <a:t>	</a:t>
            </a:r>
            <a:r>
              <a:rPr lang="en-US" altLang="zh-TW" sz="2200" i="1" dirty="0">
                <a:solidFill>
                  <a:srgbClr val="000000"/>
                </a:solidFill>
              </a:rPr>
              <a:t>X</a:t>
            </a:r>
            <a:r>
              <a:rPr lang="en-US" altLang="zh-TW" sz="2200" dirty="0">
                <a:solidFill>
                  <a:srgbClr val="000000"/>
                </a:solidFill>
              </a:rPr>
              <a:t>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200" dirty="0">
                <a:solidFill>
                  <a:srgbClr val="000000"/>
                </a:solidFill>
              </a:rPr>
              <a:t> </a:t>
            </a:r>
            <a:r>
              <a:rPr lang="en-US" altLang="zh-TW" sz="2200" dirty="0">
                <a:solidFill>
                  <a:srgbClr val="000000"/>
                </a:solidFill>
                <a:sym typeface="Symbol" panose="05050102010706020507" pitchFamily="18" charset="2"/>
              </a:rPr>
              <a:t></a:t>
            </a:r>
            <a:r>
              <a:rPr lang="en-US" altLang="zh-TW" sz="2200" i="1" dirty="0">
                <a:solidFill>
                  <a:srgbClr val="000000"/>
                </a:solidFill>
                <a:sym typeface="Symbol" panose="05050102010706020507" pitchFamily="18" charset="2"/>
              </a:rPr>
              <a:t>a</a:t>
            </a:r>
            <a:r>
              <a:rPr lang="en-US" altLang="zh-TW" sz="2200" dirty="0">
                <a:solidFill>
                  <a:srgbClr val="000000"/>
                </a:solidFill>
                <a:sym typeface="Symbol" panose="05050102010706020507" pitchFamily="18" charset="2"/>
              </a:rPr>
              <a:t>, </a:t>
            </a:r>
            <a:r>
              <a:rPr lang="en-US" altLang="zh-TW" sz="2200" i="1" dirty="0">
                <a:solidFill>
                  <a:srgbClr val="FF0000"/>
                </a:solidFill>
              </a:rPr>
              <a:t>b</a:t>
            </a:r>
            <a:r>
              <a:rPr lang="en-US" altLang="zh-TW" sz="2200" dirty="0">
                <a:solidFill>
                  <a:srgbClr val="000000"/>
                </a:solidFill>
              </a:rPr>
              <a:t>, </a:t>
            </a:r>
            <a:r>
              <a:rPr lang="en-US" altLang="zh-TW" sz="2200" i="1" dirty="0">
                <a:solidFill>
                  <a:srgbClr val="000000"/>
                </a:solidFill>
              </a:rPr>
              <a:t>c</a:t>
            </a:r>
            <a:r>
              <a:rPr lang="en-US" altLang="zh-TW" sz="2200" dirty="0">
                <a:solidFill>
                  <a:srgbClr val="000000"/>
                </a:solidFill>
              </a:rPr>
              <a:t>, </a:t>
            </a:r>
            <a:r>
              <a:rPr lang="en-US" altLang="zh-TW" sz="2200" i="1" dirty="0">
                <a:solidFill>
                  <a:srgbClr val="000000"/>
                </a:solidFill>
              </a:rPr>
              <a:t>b</a:t>
            </a:r>
            <a:r>
              <a:rPr lang="en-US" altLang="zh-TW" sz="2200" dirty="0">
                <a:solidFill>
                  <a:srgbClr val="000000"/>
                </a:solidFill>
              </a:rPr>
              <a:t>,</a:t>
            </a:r>
            <a:r>
              <a:rPr lang="en-US" altLang="zh-TW" sz="2200" dirty="0">
                <a:solidFill>
                  <a:srgbClr val="000000"/>
                </a:solidFill>
                <a:sym typeface="Symbol" panose="05050102010706020507" pitchFamily="18" charset="2"/>
              </a:rPr>
              <a:t> </a:t>
            </a:r>
            <a:r>
              <a:rPr lang="en-US" altLang="zh-TW" sz="2200" i="1" dirty="0">
                <a:solidFill>
                  <a:srgbClr val="FF0000"/>
                </a:solidFill>
              </a:rPr>
              <a:t>d</a:t>
            </a:r>
            <a:r>
              <a:rPr lang="en-US" altLang="zh-TW" sz="2200" dirty="0">
                <a:solidFill>
                  <a:srgbClr val="000000"/>
                </a:solidFill>
              </a:rPr>
              <a:t>, </a:t>
            </a:r>
            <a:r>
              <a:rPr lang="en-US" altLang="zh-TW" sz="2200" i="1" dirty="0">
                <a:solidFill>
                  <a:srgbClr val="FF0000"/>
                </a:solidFill>
                <a:sym typeface="Symbol" panose="05050102010706020507" pitchFamily="18" charset="2"/>
              </a:rPr>
              <a:t>a</a:t>
            </a:r>
            <a:r>
              <a:rPr lang="en-US" altLang="zh-TW" sz="2200" dirty="0">
                <a:solidFill>
                  <a:srgbClr val="000000"/>
                </a:solidFill>
                <a:sym typeface="Symbol" panose="05050102010706020507" pitchFamily="18" charset="2"/>
              </a:rPr>
              <a:t>, </a:t>
            </a:r>
            <a:r>
              <a:rPr lang="en-US" altLang="zh-TW" sz="2200" i="1" dirty="0">
                <a:solidFill>
                  <a:srgbClr val="FF0000"/>
                </a:solidFill>
              </a:rPr>
              <a:t>b</a:t>
            </a:r>
            <a:r>
              <a:rPr lang="en-US" altLang="zh-TW" sz="2200" dirty="0">
                <a:solidFill>
                  <a:srgbClr val="000000"/>
                </a:solidFill>
                <a:sym typeface="Symbol" panose="05050102010706020507" pitchFamily="18" charset="2"/>
              </a:rPr>
              <a:t></a:t>
            </a:r>
            <a:endParaRPr lang="en-US" altLang="zh-TW" sz="2200" dirty="0">
              <a:solidFill>
                <a:srgbClr val="000000"/>
              </a:solidFill>
            </a:endParaRPr>
          </a:p>
          <a:p>
            <a:pPr marL="360363" indent="0">
              <a:tabLst>
                <a:tab pos="4303713" algn="l"/>
              </a:tabLst>
            </a:pPr>
            <a:r>
              <a:rPr lang="en-US" altLang="zh-TW" sz="2200" i="1" dirty="0">
                <a:solidFill>
                  <a:srgbClr val="000000"/>
                </a:solidFill>
              </a:rPr>
              <a:t>Y</a:t>
            </a:r>
            <a:r>
              <a:rPr lang="en-US" altLang="zh-TW" sz="2200" dirty="0">
                <a:solidFill>
                  <a:srgbClr val="000000"/>
                </a:solidFill>
              </a:rPr>
              <a:t>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200" dirty="0">
                <a:solidFill>
                  <a:srgbClr val="000000"/>
                </a:solidFill>
              </a:rPr>
              <a:t> </a:t>
            </a:r>
            <a:r>
              <a:rPr lang="en-US" altLang="zh-TW" sz="2200" dirty="0">
                <a:solidFill>
                  <a:srgbClr val="000000"/>
                </a:solidFill>
                <a:sym typeface="Symbol" panose="05050102010706020507" pitchFamily="18" charset="2"/>
              </a:rPr>
              <a:t></a:t>
            </a:r>
            <a:r>
              <a:rPr lang="en-US" altLang="zh-TW" sz="2200" i="1" dirty="0">
                <a:solidFill>
                  <a:srgbClr val="FF0000"/>
                </a:solidFill>
              </a:rPr>
              <a:t>b</a:t>
            </a:r>
            <a:r>
              <a:rPr lang="en-US" altLang="zh-TW" sz="2200" dirty="0">
                <a:solidFill>
                  <a:srgbClr val="000000"/>
                </a:solidFill>
              </a:rPr>
              <a:t>, </a:t>
            </a:r>
            <a:r>
              <a:rPr lang="en-US" altLang="zh-TW" sz="2200" i="1" dirty="0">
                <a:solidFill>
                  <a:srgbClr val="000000"/>
                </a:solidFill>
              </a:rPr>
              <a:t>d</a:t>
            </a:r>
            <a:r>
              <a:rPr lang="en-US" altLang="zh-TW" sz="2200" dirty="0">
                <a:solidFill>
                  <a:srgbClr val="000000"/>
                </a:solidFill>
              </a:rPr>
              <a:t>, </a:t>
            </a:r>
            <a:r>
              <a:rPr lang="en-US" altLang="zh-TW" sz="2200" i="1" dirty="0">
                <a:solidFill>
                  <a:srgbClr val="FF0000"/>
                </a:solidFill>
              </a:rPr>
              <a:t>c</a:t>
            </a:r>
            <a:r>
              <a:rPr lang="en-US" altLang="zh-TW" sz="2200" dirty="0">
                <a:solidFill>
                  <a:srgbClr val="000000"/>
                </a:solidFill>
              </a:rPr>
              <a:t>, </a:t>
            </a:r>
            <a:r>
              <a:rPr lang="en-US" altLang="zh-TW" sz="2200" i="1" dirty="0">
                <a:solidFill>
                  <a:srgbClr val="000000"/>
                </a:solidFill>
                <a:sym typeface="Symbol" panose="05050102010706020507" pitchFamily="18" charset="2"/>
              </a:rPr>
              <a:t>a</a:t>
            </a:r>
            <a:r>
              <a:rPr lang="en-US" altLang="zh-TW" sz="2200" dirty="0">
                <a:solidFill>
                  <a:srgbClr val="000000"/>
                </a:solidFill>
                <a:sym typeface="Symbol" panose="05050102010706020507" pitchFamily="18" charset="2"/>
              </a:rPr>
              <a:t>, </a:t>
            </a:r>
            <a:r>
              <a:rPr lang="en-US" altLang="zh-TW" sz="2200" i="1" dirty="0">
                <a:solidFill>
                  <a:srgbClr val="FF0000"/>
                </a:solidFill>
              </a:rPr>
              <a:t>b</a:t>
            </a:r>
            <a:r>
              <a:rPr lang="en-US" altLang="zh-TW" sz="2200" dirty="0">
                <a:solidFill>
                  <a:srgbClr val="000000"/>
                </a:solidFill>
              </a:rPr>
              <a:t>,</a:t>
            </a:r>
            <a:r>
              <a:rPr lang="en-US" altLang="zh-TW" sz="2200" dirty="0">
                <a:solidFill>
                  <a:srgbClr val="000000"/>
                </a:solidFill>
                <a:sym typeface="Symbol" panose="05050102010706020507" pitchFamily="18" charset="2"/>
              </a:rPr>
              <a:t> </a:t>
            </a:r>
            <a:r>
              <a:rPr lang="en-US" altLang="zh-TW" sz="2200" i="1" dirty="0">
                <a:solidFill>
                  <a:srgbClr val="FF0000"/>
                </a:solidFill>
                <a:sym typeface="Symbol" panose="05050102010706020507" pitchFamily="18" charset="2"/>
              </a:rPr>
              <a:t>a</a:t>
            </a:r>
            <a:r>
              <a:rPr lang="en-US" altLang="zh-TW" sz="2200" dirty="0">
                <a:solidFill>
                  <a:srgbClr val="000000"/>
                </a:solidFill>
                <a:sym typeface="Symbol" panose="05050102010706020507" pitchFamily="18" charset="2"/>
              </a:rPr>
              <a:t>	</a:t>
            </a:r>
            <a:r>
              <a:rPr lang="en-US" altLang="zh-TW" sz="2200" i="1" dirty="0">
                <a:solidFill>
                  <a:srgbClr val="000000"/>
                </a:solidFill>
              </a:rPr>
              <a:t>Y</a:t>
            </a:r>
            <a:r>
              <a:rPr lang="en-US" altLang="zh-TW" sz="2200" dirty="0">
                <a:solidFill>
                  <a:srgbClr val="000000"/>
                </a:solidFill>
              </a:rPr>
              <a:t>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200" dirty="0">
                <a:solidFill>
                  <a:srgbClr val="000000"/>
                </a:solidFill>
              </a:rPr>
              <a:t> </a:t>
            </a:r>
            <a:r>
              <a:rPr lang="en-US" altLang="zh-TW" sz="2200" dirty="0">
                <a:solidFill>
                  <a:srgbClr val="000000"/>
                </a:solidFill>
                <a:sym typeface="Symbol" panose="05050102010706020507" pitchFamily="18" charset="2"/>
              </a:rPr>
              <a:t></a:t>
            </a:r>
            <a:r>
              <a:rPr lang="en-US" altLang="zh-TW" sz="2200" i="1" dirty="0">
                <a:solidFill>
                  <a:srgbClr val="FF0000"/>
                </a:solidFill>
              </a:rPr>
              <a:t>b</a:t>
            </a:r>
            <a:r>
              <a:rPr lang="en-US" altLang="zh-TW" sz="2200" dirty="0">
                <a:solidFill>
                  <a:srgbClr val="000000"/>
                </a:solidFill>
              </a:rPr>
              <a:t>, </a:t>
            </a:r>
            <a:r>
              <a:rPr lang="en-US" altLang="zh-TW" sz="2200" i="1" dirty="0">
                <a:solidFill>
                  <a:srgbClr val="FF0000"/>
                </a:solidFill>
              </a:rPr>
              <a:t>d</a:t>
            </a:r>
            <a:r>
              <a:rPr lang="en-US" altLang="zh-TW" sz="2200" dirty="0">
                <a:solidFill>
                  <a:srgbClr val="000000"/>
                </a:solidFill>
              </a:rPr>
              <a:t>, </a:t>
            </a:r>
            <a:r>
              <a:rPr lang="en-US" altLang="zh-TW" sz="2200" i="1" dirty="0">
                <a:solidFill>
                  <a:srgbClr val="000000"/>
                </a:solidFill>
              </a:rPr>
              <a:t>c</a:t>
            </a:r>
            <a:r>
              <a:rPr lang="en-US" altLang="zh-TW" sz="2200" dirty="0">
                <a:solidFill>
                  <a:srgbClr val="000000"/>
                </a:solidFill>
              </a:rPr>
              <a:t>, </a:t>
            </a:r>
            <a:r>
              <a:rPr lang="en-US" altLang="zh-TW" sz="2200" i="1" dirty="0">
                <a:solidFill>
                  <a:srgbClr val="FF0000"/>
                </a:solidFill>
                <a:sym typeface="Symbol" panose="05050102010706020507" pitchFamily="18" charset="2"/>
              </a:rPr>
              <a:t>a</a:t>
            </a:r>
            <a:r>
              <a:rPr lang="en-US" altLang="zh-TW" sz="2200" dirty="0">
                <a:solidFill>
                  <a:srgbClr val="000000"/>
                </a:solidFill>
                <a:sym typeface="Symbol" panose="05050102010706020507" pitchFamily="18" charset="2"/>
              </a:rPr>
              <a:t>, </a:t>
            </a:r>
            <a:r>
              <a:rPr lang="en-US" altLang="zh-TW" sz="2200" i="1" dirty="0">
                <a:solidFill>
                  <a:srgbClr val="FF0000"/>
                </a:solidFill>
              </a:rPr>
              <a:t>b</a:t>
            </a:r>
            <a:r>
              <a:rPr lang="en-US" altLang="zh-TW" sz="2200" dirty="0">
                <a:solidFill>
                  <a:srgbClr val="000000"/>
                </a:solidFill>
              </a:rPr>
              <a:t>,</a:t>
            </a:r>
            <a:r>
              <a:rPr lang="en-US" altLang="zh-TW" sz="2200" dirty="0">
                <a:solidFill>
                  <a:srgbClr val="000000"/>
                </a:solidFill>
                <a:sym typeface="Symbol" panose="05050102010706020507" pitchFamily="18" charset="2"/>
              </a:rPr>
              <a:t> </a:t>
            </a:r>
            <a:r>
              <a:rPr lang="en-US" altLang="zh-TW" sz="2200" i="1" dirty="0">
                <a:solidFill>
                  <a:srgbClr val="000000"/>
                </a:solidFill>
                <a:sym typeface="Symbol" panose="05050102010706020507" pitchFamily="18" charset="2"/>
              </a:rPr>
              <a:t>a</a:t>
            </a:r>
            <a:r>
              <a:rPr lang="en-US" altLang="zh-TW" sz="2200" dirty="0">
                <a:solidFill>
                  <a:srgbClr val="000000"/>
                </a:solidFill>
                <a:sym typeface="Symbol" panose="05050102010706020507" pitchFamily="18" charset="2"/>
              </a:rPr>
              <a:t></a:t>
            </a:r>
          </a:p>
        </p:txBody>
      </p:sp>
    </p:spTree>
    <p:extLst>
      <p:ext uri="{BB962C8B-B14F-4D97-AF65-F5344CB8AC3E}">
        <p14:creationId xmlns:p14="http://schemas.microsoft.com/office/powerpoint/2010/main" val="19693020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Step 2: A Recursive Solution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252000" y="1268413"/>
                <a:ext cx="8639999" cy="4320587"/>
              </a:xfrm>
            </p:spPr>
            <p:txBody>
              <a:bodyPr/>
              <a:lstStyle/>
              <a:p>
                <a:r>
                  <a:rPr lang="en-US" altLang="zh-TW" sz="2200" dirty="0"/>
                  <a:t>Let us define </a:t>
                </a:r>
                <a:r>
                  <a:rPr lang="en-US" altLang="zh-TW" sz="2200" i="1" dirty="0"/>
                  <a:t>c</a:t>
                </a:r>
                <a:r>
                  <a:rPr lang="en-US" altLang="zh-TW" sz="2200" dirty="0"/>
                  <a:t>[</a:t>
                </a:r>
                <a:r>
                  <a:rPr lang="en-US" altLang="zh-TW" sz="2200" i="1" dirty="0"/>
                  <a:t>i</a:t>
                </a:r>
                <a:r>
                  <a:rPr lang="en-US" altLang="zh-TW" sz="2200" dirty="0"/>
                  <a:t>, </a:t>
                </a:r>
                <a:r>
                  <a:rPr lang="en-US" altLang="zh-TW" sz="2200" i="1" spc="200" dirty="0"/>
                  <a:t>j</a:t>
                </a:r>
                <a:r>
                  <a:rPr lang="en-US" altLang="zh-TW" sz="2200" dirty="0"/>
                  <a:t>] to be the length of an LCS of the sequences </a:t>
                </a:r>
                <a:r>
                  <a:rPr lang="en-US" altLang="zh-TW" sz="2200" i="1" dirty="0"/>
                  <a:t>X</a:t>
                </a:r>
                <a:r>
                  <a:rPr lang="en-US" altLang="zh-TW" sz="2200" i="1" baseline="-25000" dirty="0"/>
                  <a:t>i</a:t>
                </a:r>
                <a:r>
                  <a:rPr lang="en-US" altLang="zh-TW" sz="2200" dirty="0"/>
                  <a:t> and </a:t>
                </a:r>
                <a:r>
                  <a:rPr lang="en-US" altLang="zh-TW" sz="2200" i="1" dirty="0" err="1"/>
                  <a:t>Y</a:t>
                </a:r>
                <a:r>
                  <a:rPr lang="en-US" altLang="zh-TW" sz="2200" i="1" spc="300" baseline="-25000" dirty="0" err="1"/>
                  <a:t>j</a:t>
                </a:r>
                <a:r>
                  <a:rPr lang="en-US" altLang="zh-TW" sz="2200" dirty="0"/>
                  <a:t>. If either </a:t>
                </a:r>
                <a:r>
                  <a:rPr lang="en-US" altLang="zh-TW" sz="2200" i="1" dirty="0"/>
                  <a:t>i</a:t>
                </a:r>
                <a:r>
                  <a:rPr lang="en-US" altLang="zh-TW" sz="2200" dirty="0"/>
                  <a:t> </a:t>
                </a:r>
                <a:r>
                  <a:rPr lang="en-US" altLang="zh-TW" sz="22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sz="2200" dirty="0"/>
                  <a:t> 0 or </a:t>
                </a:r>
                <a:r>
                  <a:rPr lang="en-US" altLang="zh-TW" sz="2200" i="1" dirty="0"/>
                  <a:t>j</a:t>
                </a:r>
                <a:r>
                  <a:rPr lang="en-US" altLang="zh-TW" sz="2200" dirty="0"/>
                  <a:t> </a:t>
                </a:r>
                <a:r>
                  <a:rPr lang="en-US" altLang="zh-TW" sz="22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sz="2200" dirty="0"/>
                  <a:t> 0, one of the sequences has length 0, and so the LCS has length 0. The optimal substructure of the LCS problem gives the recursive formula</a:t>
                </a:r>
              </a:p>
              <a:p>
                <a:endParaRPr lang="en-US" altLang="zh-TW" sz="2200" dirty="0"/>
              </a:p>
              <a:p>
                <a:pPr marL="534988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sz="2200" i="1">
                          <a:solidFill>
                            <a:srgbClr val="000000"/>
                          </a:solidFill>
                        </a:rPr>
                        <m:t>c</m:t>
                      </m:r>
                      <m:r>
                        <m:rPr>
                          <m:nor/>
                        </m:rPr>
                        <a:rPr lang="en-US" altLang="zh-TW" sz="2200">
                          <a:solidFill>
                            <a:srgbClr val="000000"/>
                          </a:solidFill>
                        </a:rPr>
                        <m:t>[</m:t>
                      </m:r>
                      <m:r>
                        <m:rPr>
                          <m:nor/>
                        </m:rPr>
                        <a:rPr lang="en-US" altLang="zh-TW" sz="2200" i="1">
                          <a:solidFill>
                            <a:srgbClr val="000000"/>
                          </a:solidFill>
                        </a:rPr>
                        <m:t>i</m:t>
                      </m:r>
                      <m:r>
                        <m:rPr>
                          <m:nor/>
                        </m:rPr>
                        <a:rPr lang="en-US" altLang="zh-TW" sz="2200">
                          <a:solidFill>
                            <a:srgbClr val="000000"/>
                          </a:solidFill>
                        </a:rPr>
                        <m:t>,</m:t>
                      </m:r>
                      <m:r>
                        <m:rPr>
                          <m:nor/>
                        </m:rPr>
                        <a:rPr lang="en-US" altLang="zh-TW" sz="2200" i="1">
                          <a:solidFill>
                            <a:srgbClr val="00000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2200" i="1" spc="200">
                          <a:solidFill>
                            <a:srgbClr val="000000"/>
                          </a:solidFill>
                        </a:rPr>
                        <m:t>j</m:t>
                      </m:r>
                      <m:r>
                        <m:rPr>
                          <m:nor/>
                        </m:rPr>
                        <a:rPr lang="en-US" altLang="zh-TW" sz="2200">
                          <a:solidFill>
                            <a:srgbClr val="000000"/>
                          </a:solidFill>
                        </a:rPr>
                        <m:t>]</m:t>
                      </m:r>
                      <m:r>
                        <a:rPr lang="en-US" altLang="zh-TW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2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  <m:brk m:alnAt="7"/>
                                  </m:rPr>
                                  <a:rPr lang="en-US" altLang="zh-TW" sz="2200" b="0" i="0" smtClean="0">
                                    <a:solidFill>
                                      <a:srgbClr val="000000"/>
                                    </a:solidFill>
                                  </a:rPr>
                                  <m:t>0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altLang="zh-TW" sz="22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TW" sz="22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                                        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="0" i="1" smtClean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i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="0" smtClean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0">
                                    <a:solidFill>
                                      <a:srgbClr val="000000"/>
                                    </a:solidFill>
                                    <a:latin typeface="Symbol" panose="05050102010706020507" pitchFamily="18" charset="2"/>
                                  </a:rPr>
                                  <m:t>=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="0" i="0" smtClean="0">
                                    <a:solidFill>
                                      <a:srgbClr val="00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="0" i="0" smtClean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0 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="0" i="0" smtClean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or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="0" spc="300" smtClean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="0" i="1" smtClean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="0" i="0" smtClean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0">
                                    <a:solidFill>
                                      <a:srgbClr val="000000"/>
                                    </a:solidFill>
                                    <a:latin typeface="Symbol" panose="05050102010706020507" pitchFamily="18" charset="2"/>
                                  </a:rPr>
                                  <m:t>=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="0" i="0" smtClean="0">
                                    <a:solidFill>
                                      <a:srgbClr val="00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="0" i="0" smtClean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="0" i="0" smtClean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       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200" i="1" smtClean="0">
                                    <a:solidFill>
                                      <a:schemeClr val="bg1"/>
                                    </a:solidFill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smtClean="0">
                                    <a:solidFill>
                                      <a:schemeClr val="bg1"/>
                                    </a:solidFill>
                                  </a:rPr>
                                  <m:t>[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spc="150" smtClean="0">
                                    <a:solidFill>
                                      <a:schemeClr val="bg1"/>
                                    </a:solidFill>
                                  </a:rPr>
                                  <m:t>i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="0" i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="0" smtClean="0">
                                    <a:solidFill>
                                      <a:schemeClr val="bg1"/>
                                    </a:solidFill>
                                  </a:rPr>
                                  <m:t>1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smtClean="0">
                                    <a:solidFill>
                                      <a:schemeClr val="bg1"/>
                                    </a:solidFill>
                                  </a:rPr>
                                  <m:t>,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smtClean="0">
                                    <a:solidFill>
                                      <a:schemeClr val="bg1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spc="200" smtClean="0">
                                    <a:solidFill>
                                      <a:schemeClr val="bg1"/>
                                    </a:solidFill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="0" i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smtClean="0">
                                    <a:solidFill>
                                      <a:schemeClr val="bg1"/>
                                    </a:solidFill>
                                  </a:rPr>
                                  <m:t>1]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="0" i="0" smtClean="0">
                                    <a:solidFill>
                                      <a:schemeClr val="bg1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="0" i="0" spc="200" smtClean="0">
                                    <a:solidFill>
                                      <a:schemeClr val="bg1"/>
                                    </a:solidFill>
                                    <a:latin typeface="Symbol" panose="05050102010706020507" pitchFamily="18" charset="2"/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="0" i="0" smtClean="0">
                                    <a:solidFill>
                                      <a:schemeClr val="bg1"/>
                                    </a:solidFill>
                                  </a:rPr>
                                  <m:t>1               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="0" i="1" smtClean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i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="0" smtClean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="0" i="1" smtClean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="0" i="0" smtClean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0">
                                    <a:solidFill>
                                      <a:srgbClr val="000000"/>
                                    </a:solidFill>
                                    <a:latin typeface="Symbol" panose="05050102010706020507" pitchFamily="18" charset="2"/>
                                    <a:ea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="0" i="0" smtClean="0">
                                    <a:solidFill>
                                      <a:srgbClr val="000000"/>
                                    </a:solidFill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="0" i="0" smtClean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="0" i="0" smtClean="0">
                                    <a:solidFill>
                                      <a:srgbClr val="000000"/>
                                    </a:solidFill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="0" i="0" smtClean="0">
                                    <a:solidFill>
                                      <a:srgbClr val="000000"/>
                                    </a:solidFill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and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="0" i="0" smtClean="0">
                                    <a:solidFill>
                                      <a:srgbClr val="000000"/>
                                    </a:solidFill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="0" i="1" smtClean="0">
                                    <a:solidFill>
                                      <a:srgbClr val="000000"/>
                                    </a:solidFill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x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="0" i="1" baseline="-25000" smtClean="0">
                                    <a:solidFill>
                                      <a:srgbClr val="000000"/>
                                    </a:solidFill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i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="0" i="0" smtClean="0">
                                    <a:solidFill>
                                      <a:srgbClr val="000000"/>
                                    </a:solidFill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="0" i="0" smtClean="0">
                                    <a:solidFill>
                                      <a:srgbClr val="000000"/>
                                    </a:solidFill>
                                    <a:latin typeface="Symbol" panose="05050102010706020507" pitchFamily="18" charset="2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="0" i="0" smtClean="0">
                                    <a:solidFill>
                                      <a:srgbClr val="000000"/>
                                    </a:solidFill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="0" i="1" smtClean="0">
                                    <a:solidFill>
                                      <a:srgbClr val="000000"/>
                                    </a:solidFill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y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="0" i="1" spc="300" baseline="-25000" smtClean="0">
                                    <a:solidFill>
                                      <a:srgbClr val="000000"/>
                                    </a:solidFill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="0" i="0" smtClean="0">
                                    <a:solidFill>
                                      <a:srgbClr val="000000"/>
                                    </a:solidFill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200" b="0" i="0" smtClean="0">
                                    <a:solidFill>
                                      <a:schemeClr val="bg1"/>
                                    </a:solidFill>
                                  </a:rPr>
                                  <m:t>max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="0" i="0" smtClean="0">
                                    <a:solidFill>
                                      <a:schemeClr val="bg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smtClean="0">
                                    <a:solidFill>
                                      <a:schemeClr val="bg1"/>
                                    </a:solidFill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smtClean="0">
                                    <a:solidFill>
                                      <a:schemeClr val="bg1"/>
                                    </a:solidFill>
                                  </a:rPr>
                                  <m:t>[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spc="150" smtClean="0">
                                    <a:solidFill>
                                      <a:schemeClr val="bg1"/>
                                    </a:solidFill>
                                  </a:rPr>
                                  <m:t>i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smtClean="0">
                                    <a:solidFill>
                                      <a:schemeClr val="bg1"/>
                                    </a:solidFill>
                                  </a:rPr>
                                  <m:t>,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smtClean="0">
                                    <a:solidFill>
                                      <a:schemeClr val="bg1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spc="200" smtClean="0">
                                    <a:solidFill>
                                      <a:schemeClr val="bg1"/>
                                    </a:solidFill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="0" i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smtClean="0">
                                    <a:solidFill>
                                      <a:schemeClr val="bg1"/>
                                    </a:solidFill>
                                  </a:rPr>
                                  <m:t>1]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="0" i="0" smtClean="0">
                                    <a:solidFill>
                                      <a:schemeClr val="bg1"/>
                                    </a:solidFill>
                                  </a:rPr>
                                  <m:t>,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="0" i="1" smtClean="0">
                                    <a:solidFill>
                                      <a:schemeClr val="bg1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smtClean="0">
                                    <a:solidFill>
                                      <a:schemeClr val="bg1"/>
                                    </a:solidFill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smtClean="0">
                                    <a:solidFill>
                                      <a:schemeClr val="bg1"/>
                                    </a:solidFill>
                                  </a:rPr>
                                  <m:t>[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spc="150" smtClean="0">
                                    <a:solidFill>
                                      <a:schemeClr val="bg1"/>
                                    </a:solidFill>
                                  </a:rPr>
                                  <m:t>i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="0" i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smtClean="0">
                                    <a:solidFill>
                                      <a:schemeClr val="bg1"/>
                                    </a:solidFill>
                                  </a:rPr>
                                  <m:t>1,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smtClean="0">
                                    <a:solidFill>
                                      <a:schemeClr val="bg1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spc="200" smtClean="0">
                                    <a:solidFill>
                                      <a:schemeClr val="bg1"/>
                                    </a:solidFill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smtClean="0">
                                    <a:solidFill>
                                      <a:schemeClr val="bg1"/>
                                    </a:solidFill>
                                  </a:rPr>
                                  <m:t>]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="0" i="0" smtClean="0">
                                    <a:solidFill>
                                      <a:schemeClr val="bg1"/>
                                    </a:solidFill>
                                  </a:rPr>
                                  <m:t>)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i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="0" smtClean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Symbol" panose="05050102010706020507" pitchFamily="18" charset="2"/>
                                    <a:ea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="0" i="0" smtClean="0">
                                    <a:solidFill>
                                      <a:srgbClr val="000000"/>
                                    </a:solidFill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="0" i="0" smtClean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and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="0" i="0" smtClean="0">
                                    <a:solidFill>
                                      <a:srgbClr val="000000"/>
                                    </a:solidFill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>
                                    <a:solidFill>
                                      <a:srgbClr val="000000"/>
                                    </a:solidFill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x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baseline="-25000">
                                    <a:solidFill>
                                      <a:srgbClr val="000000"/>
                                    </a:solidFill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i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en-US" altLang="zh-TW" sz="22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  <a:sym typeface="Symbol" panose="05050102010706020507" pitchFamily="18" charset="2"/>
                                  </a:rPr>
                                  <m:t>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>
                                    <a:solidFill>
                                      <a:srgbClr val="000000"/>
                                    </a:solidFill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y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spc="300" baseline="-25000">
                                    <a:solidFill>
                                      <a:srgbClr val="000000"/>
                                    </a:solidFill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="0" smtClean="0">
                                    <a:solidFill>
                                      <a:srgbClr val="000000"/>
                                    </a:solidFill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.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TW" sz="2200" dirty="0"/>
              </a:p>
              <a:p>
                <a:endParaRPr lang="en-US" altLang="zh-TW" sz="2200" dirty="0"/>
              </a:p>
              <a:p>
                <a:pPr marL="534988" lvl="0">
                  <a:buClr>
                    <a:srgbClr val="000000"/>
                  </a:buClr>
                  <a:tabLst>
                    <a:tab pos="4037013" algn="l"/>
                  </a:tabLst>
                </a:pPr>
                <a:r>
                  <a:rPr lang="en-US" altLang="zh-TW" sz="2200" i="1" dirty="0">
                    <a:solidFill>
                      <a:srgbClr val="000000"/>
                    </a:solidFill>
                  </a:rPr>
                  <a:t>X</a:t>
                </a:r>
                <a:r>
                  <a:rPr lang="en-US" altLang="zh-TW" sz="2200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sz="22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sz="2200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sz="22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</a:t>
                </a:r>
                <a:r>
                  <a:rPr lang="en-US" altLang="zh-TW" sz="2200" i="1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a</a:t>
                </a:r>
                <a:r>
                  <a:rPr lang="en-US" altLang="zh-TW" sz="22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, </a:t>
                </a:r>
                <a:r>
                  <a:rPr lang="en-US" altLang="zh-TW" sz="2200" i="1" dirty="0">
                    <a:solidFill>
                      <a:srgbClr val="FF0000"/>
                    </a:solidFill>
                  </a:rPr>
                  <a:t>b</a:t>
                </a:r>
                <a:r>
                  <a:rPr lang="en-US" altLang="zh-TW" sz="2200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sz="2200" i="1" dirty="0">
                    <a:solidFill>
                      <a:srgbClr val="FF0000"/>
                    </a:solidFill>
                  </a:rPr>
                  <a:t>c</a:t>
                </a:r>
                <a:r>
                  <a:rPr lang="en-US" altLang="zh-TW" sz="2200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sz="2200" i="1" dirty="0">
                    <a:solidFill>
                      <a:srgbClr val="FF0000"/>
                    </a:solidFill>
                  </a:rPr>
                  <a:t>b</a:t>
                </a:r>
                <a:r>
                  <a:rPr lang="en-US" altLang="zh-TW" sz="2200" dirty="0">
                    <a:solidFill>
                      <a:srgbClr val="000000"/>
                    </a:solidFill>
                  </a:rPr>
                  <a:t>,</a:t>
                </a:r>
                <a:r>
                  <a:rPr lang="en-US" altLang="zh-TW" sz="22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 </a:t>
                </a:r>
                <a:r>
                  <a:rPr lang="en-US" altLang="zh-TW" sz="2200" i="1" dirty="0">
                    <a:solidFill>
                      <a:srgbClr val="000000"/>
                    </a:solidFill>
                  </a:rPr>
                  <a:t>d</a:t>
                </a:r>
                <a:r>
                  <a:rPr lang="en-US" altLang="zh-TW" sz="2200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sz="2200" i="1" dirty="0">
                    <a:solidFill>
                      <a:srgbClr val="FF0000"/>
                    </a:solidFill>
                    <a:sym typeface="Symbol" panose="05050102010706020507" pitchFamily="18" charset="2"/>
                  </a:rPr>
                  <a:t>a</a:t>
                </a:r>
                <a:r>
                  <a:rPr lang="en-US" altLang="zh-TW" sz="22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	</a:t>
                </a:r>
                <a:r>
                  <a:rPr lang="en-US" altLang="zh-TW" sz="2200" i="1" dirty="0">
                    <a:solidFill>
                      <a:srgbClr val="000000"/>
                    </a:solidFill>
                  </a:rPr>
                  <a:t>X</a:t>
                </a:r>
                <a:r>
                  <a:rPr lang="en-US" altLang="zh-TW" sz="2200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sz="22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sz="2200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sz="22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</a:t>
                </a:r>
                <a:r>
                  <a:rPr lang="en-US" altLang="zh-TW" sz="2200" i="1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a</a:t>
                </a:r>
                <a:r>
                  <a:rPr lang="en-US" altLang="zh-TW" sz="22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, </a:t>
                </a:r>
                <a:r>
                  <a:rPr lang="en-US" altLang="zh-TW" sz="2200" i="1" dirty="0">
                    <a:solidFill>
                      <a:srgbClr val="FF0000"/>
                    </a:solidFill>
                  </a:rPr>
                  <a:t>b</a:t>
                </a:r>
                <a:r>
                  <a:rPr lang="en-US" altLang="zh-TW" sz="2200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sz="2200" i="1" dirty="0">
                    <a:solidFill>
                      <a:srgbClr val="000000"/>
                    </a:solidFill>
                  </a:rPr>
                  <a:t>c</a:t>
                </a:r>
                <a:r>
                  <a:rPr lang="en-US" altLang="zh-TW" sz="2200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sz="2200" i="1" dirty="0">
                    <a:solidFill>
                      <a:srgbClr val="000000"/>
                    </a:solidFill>
                  </a:rPr>
                  <a:t>b</a:t>
                </a:r>
                <a:r>
                  <a:rPr lang="en-US" altLang="zh-TW" sz="2200" dirty="0">
                    <a:solidFill>
                      <a:srgbClr val="000000"/>
                    </a:solidFill>
                  </a:rPr>
                  <a:t>,</a:t>
                </a:r>
                <a:r>
                  <a:rPr lang="en-US" altLang="zh-TW" sz="22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 </a:t>
                </a:r>
                <a:r>
                  <a:rPr lang="en-US" altLang="zh-TW" sz="2200" i="1" dirty="0">
                    <a:solidFill>
                      <a:srgbClr val="FF0000"/>
                    </a:solidFill>
                  </a:rPr>
                  <a:t>d</a:t>
                </a:r>
                <a:r>
                  <a:rPr lang="en-US" altLang="zh-TW" sz="2200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sz="2200" i="1" dirty="0">
                    <a:solidFill>
                      <a:srgbClr val="FF0000"/>
                    </a:solidFill>
                    <a:sym typeface="Symbol" panose="05050102010706020507" pitchFamily="18" charset="2"/>
                  </a:rPr>
                  <a:t>a</a:t>
                </a:r>
                <a:r>
                  <a:rPr lang="en-US" altLang="zh-TW" sz="22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, </a:t>
                </a:r>
                <a:r>
                  <a:rPr lang="en-US" altLang="zh-TW" sz="2200" i="1" dirty="0">
                    <a:solidFill>
                      <a:srgbClr val="FF0000"/>
                    </a:solidFill>
                  </a:rPr>
                  <a:t>b</a:t>
                </a:r>
                <a:r>
                  <a:rPr lang="en-US" altLang="zh-TW" sz="22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</a:t>
                </a:r>
                <a:endParaRPr lang="en-US" altLang="zh-TW" sz="2200" dirty="0">
                  <a:solidFill>
                    <a:srgbClr val="000000"/>
                  </a:solidFill>
                </a:endParaRPr>
              </a:p>
              <a:p>
                <a:pPr marL="534988" lvl="0">
                  <a:buClr>
                    <a:srgbClr val="000000"/>
                  </a:buClr>
                  <a:tabLst>
                    <a:tab pos="4037013" algn="l"/>
                  </a:tabLst>
                </a:pPr>
                <a:r>
                  <a:rPr lang="en-US" altLang="zh-TW" sz="2200" i="1" dirty="0">
                    <a:solidFill>
                      <a:srgbClr val="000000"/>
                    </a:solidFill>
                  </a:rPr>
                  <a:t>Y</a:t>
                </a:r>
                <a:r>
                  <a:rPr lang="en-US" altLang="zh-TW" sz="2200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sz="22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sz="2200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sz="22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</a:t>
                </a:r>
                <a:r>
                  <a:rPr lang="en-US" altLang="zh-TW" sz="2200" i="1" dirty="0">
                    <a:solidFill>
                      <a:srgbClr val="FF0000"/>
                    </a:solidFill>
                  </a:rPr>
                  <a:t>b</a:t>
                </a:r>
                <a:r>
                  <a:rPr lang="en-US" altLang="zh-TW" sz="2200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sz="2200" i="1" dirty="0">
                    <a:solidFill>
                      <a:srgbClr val="000000"/>
                    </a:solidFill>
                  </a:rPr>
                  <a:t>d</a:t>
                </a:r>
                <a:r>
                  <a:rPr lang="en-US" altLang="zh-TW" sz="2200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sz="2200" i="1" dirty="0">
                    <a:solidFill>
                      <a:srgbClr val="FF0000"/>
                    </a:solidFill>
                  </a:rPr>
                  <a:t>c</a:t>
                </a:r>
                <a:r>
                  <a:rPr lang="en-US" altLang="zh-TW" sz="2200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sz="2200" i="1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a</a:t>
                </a:r>
                <a:r>
                  <a:rPr lang="en-US" altLang="zh-TW" sz="22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, </a:t>
                </a:r>
                <a:r>
                  <a:rPr lang="en-US" altLang="zh-TW" sz="2200" i="1" dirty="0">
                    <a:solidFill>
                      <a:srgbClr val="FF0000"/>
                    </a:solidFill>
                  </a:rPr>
                  <a:t>b</a:t>
                </a:r>
                <a:r>
                  <a:rPr lang="en-US" altLang="zh-TW" sz="2200" dirty="0">
                    <a:solidFill>
                      <a:srgbClr val="000000"/>
                    </a:solidFill>
                  </a:rPr>
                  <a:t>,</a:t>
                </a:r>
                <a:r>
                  <a:rPr lang="en-US" altLang="zh-TW" sz="22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 </a:t>
                </a:r>
                <a:r>
                  <a:rPr lang="en-US" altLang="zh-TW" sz="2200" i="1" dirty="0">
                    <a:solidFill>
                      <a:srgbClr val="FF0000"/>
                    </a:solidFill>
                    <a:sym typeface="Symbol" panose="05050102010706020507" pitchFamily="18" charset="2"/>
                  </a:rPr>
                  <a:t>a</a:t>
                </a:r>
                <a:r>
                  <a:rPr lang="en-US" altLang="zh-TW" sz="22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	</a:t>
                </a:r>
                <a:r>
                  <a:rPr lang="en-US" altLang="zh-TW" sz="2200" i="1" dirty="0">
                    <a:solidFill>
                      <a:srgbClr val="000000"/>
                    </a:solidFill>
                  </a:rPr>
                  <a:t>Y</a:t>
                </a:r>
                <a:r>
                  <a:rPr lang="en-US" altLang="zh-TW" sz="2200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sz="22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sz="2200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sz="22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</a:t>
                </a:r>
                <a:r>
                  <a:rPr lang="en-US" altLang="zh-TW" sz="2200" i="1" dirty="0">
                    <a:solidFill>
                      <a:srgbClr val="FF0000"/>
                    </a:solidFill>
                  </a:rPr>
                  <a:t>b</a:t>
                </a:r>
                <a:r>
                  <a:rPr lang="en-US" altLang="zh-TW" sz="2200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sz="2200" i="1" dirty="0">
                    <a:solidFill>
                      <a:srgbClr val="FF0000"/>
                    </a:solidFill>
                  </a:rPr>
                  <a:t>d</a:t>
                </a:r>
                <a:r>
                  <a:rPr lang="en-US" altLang="zh-TW" sz="2200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sz="2200" i="1" dirty="0">
                    <a:solidFill>
                      <a:srgbClr val="000000"/>
                    </a:solidFill>
                  </a:rPr>
                  <a:t>c</a:t>
                </a:r>
                <a:r>
                  <a:rPr lang="en-US" altLang="zh-TW" sz="2200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sz="2200" i="1" dirty="0">
                    <a:solidFill>
                      <a:srgbClr val="FF0000"/>
                    </a:solidFill>
                    <a:sym typeface="Symbol" panose="05050102010706020507" pitchFamily="18" charset="2"/>
                  </a:rPr>
                  <a:t>a</a:t>
                </a:r>
                <a:r>
                  <a:rPr lang="en-US" altLang="zh-TW" sz="22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, </a:t>
                </a:r>
                <a:r>
                  <a:rPr lang="en-US" altLang="zh-TW" sz="2200" i="1" dirty="0">
                    <a:solidFill>
                      <a:srgbClr val="FF0000"/>
                    </a:solidFill>
                  </a:rPr>
                  <a:t>b</a:t>
                </a:r>
                <a:r>
                  <a:rPr lang="en-US" altLang="zh-TW" sz="2200" dirty="0">
                    <a:solidFill>
                      <a:srgbClr val="000000"/>
                    </a:solidFill>
                  </a:rPr>
                  <a:t>,</a:t>
                </a:r>
                <a:r>
                  <a:rPr lang="en-US" altLang="zh-TW" sz="22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 </a:t>
                </a:r>
                <a:r>
                  <a:rPr lang="en-US" altLang="zh-TW" sz="2200" i="1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a</a:t>
                </a:r>
                <a:r>
                  <a:rPr lang="en-US" altLang="zh-TW" sz="22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</a:t>
                </a: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2000" y="1268413"/>
                <a:ext cx="8639999" cy="4320587"/>
              </a:xfrm>
              <a:blipFill>
                <a:blip r:embed="rId2"/>
                <a:stretch>
                  <a:fillRect l="-917" t="-9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39593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Step 2: A Recursive Solution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252000" y="1268413"/>
                <a:ext cx="8639999" cy="4140587"/>
              </a:xfrm>
            </p:spPr>
            <p:txBody>
              <a:bodyPr/>
              <a:lstStyle/>
              <a:p>
                <a:r>
                  <a:rPr lang="en-US" altLang="zh-TW" sz="2200" dirty="0"/>
                  <a:t>Let us define </a:t>
                </a:r>
                <a:r>
                  <a:rPr lang="en-US" altLang="zh-TW" sz="2200" i="1" dirty="0"/>
                  <a:t>c</a:t>
                </a:r>
                <a:r>
                  <a:rPr lang="en-US" altLang="zh-TW" sz="2200" dirty="0"/>
                  <a:t>[</a:t>
                </a:r>
                <a:r>
                  <a:rPr lang="en-US" altLang="zh-TW" sz="2200" i="1" dirty="0"/>
                  <a:t>i</a:t>
                </a:r>
                <a:r>
                  <a:rPr lang="en-US" altLang="zh-TW" sz="2200" dirty="0"/>
                  <a:t>, </a:t>
                </a:r>
                <a:r>
                  <a:rPr lang="en-US" altLang="zh-TW" sz="2200" i="1" spc="200" dirty="0"/>
                  <a:t>j</a:t>
                </a:r>
                <a:r>
                  <a:rPr lang="en-US" altLang="zh-TW" sz="2200" dirty="0"/>
                  <a:t>] to be the length of an LCS of the sequences </a:t>
                </a:r>
                <a:r>
                  <a:rPr lang="en-US" altLang="zh-TW" sz="2200" i="1" dirty="0"/>
                  <a:t>X</a:t>
                </a:r>
                <a:r>
                  <a:rPr lang="en-US" altLang="zh-TW" sz="2200" i="1" baseline="-25000" dirty="0"/>
                  <a:t>i</a:t>
                </a:r>
                <a:r>
                  <a:rPr lang="en-US" altLang="zh-TW" sz="2200" dirty="0"/>
                  <a:t> and </a:t>
                </a:r>
                <a:r>
                  <a:rPr lang="en-US" altLang="zh-TW" sz="2200" i="1" dirty="0" err="1"/>
                  <a:t>Y</a:t>
                </a:r>
                <a:r>
                  <a:rPr lang="en-US" altLang="zh-TW" sz="2200" i="1" spc="300" baseline="-25000" dirty="0" err="1"/>
                  <a:t>j</a:t>
                </a:r>
                <a:r>
                  <a:rPr lang="en-US" altLang="zh-TW" sz="2200" dirty="0"/>
                  <a:t>. If either </a:t>
                </a:r>
                <a:r>
                  <a:rPr lang="en-US" altLang="zh-TW" sz="2200" i="1" dirty="0"/>
                  <a:t>i</a:t>
                </a:r>
                <a:r>
                  <a:rPr lang="en-US" altLang="zh-TW" sz="2200" dirty="0"/>
                  <a:t> </a:t>
                </a:r>
                <a:r>
                  <a:rPr lang="en-US" altLang="zh-TW" sz="22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sz="2200" dirty="0"/>
                  <a:t> 0 or </a:t>
                </a:r>
                <a:r>
                  <a:rPr lang="en-US" altLang="zh-TW" sz="2200" i="1" dirty="0"/>
                  <a:t>j</a:t>
                </a:r>
                <a:r>
                  <a:rPr lang="en-US" altLang="zh-TW" sz="2200" dirty="0"/>
                  <a:t> </a:t>
                </a:r>
                <a:r>
                  <a:rPr lang="en-US" altLang="zh-TW" sz="22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sz="2200" dirty="0"/>
                  <a:t> 0, one of the sequences has length 0, and so the LCS has length 0. The optimal substructure of the LCS problem gives the recursive formula</a:t>
                </a:r>
              </a:p>
              <a:p>
                <a:endParaRPr lang="en-US" altLang="zh-TW" sz="2200" dirty="0"/>
              </a:p>
              <a:p>
                <a:pPr marL="534988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sz="2200" i="1">
                          <a:solidFill>
                            <a:srgbClr val="000000"/>
                          </a:solidFill>
                        </a:rPr>
                        <m:t>c</m:t>
                      </m:r>
                      <m:r>
                        <m:rPr>
                          <m:nor/>
                        </m:rPr>
                        <a:rPr lang="en-US" altLang="zh-TW" sz="2200">
                          <a:solidFill>
                            <a:srgbClr val="000000"/>
                          </a:solidFill>
                        </a:rPr>
                        <m:t>[</m:t>
                      </m:r>
                      <m:r>
                        <m:rPr>
                          <m:nor/>
                        </m:rPr>
                        <a:rPr lang="en-US" altLang="zh-TW" sz="2200" i="1">
                          <a:solidFill>
                            <a:srgbClr val="000000"/>
                          </a:solidFill>
                        </a:rPr>
                        <m:t>i</m:t>
                      </m:r>
                      <m:r>
                        <m:rPr>
                          <m:nor/>
                        </m:rPr>
                        <a:rPr lang="en-US" altLang="zh-TW" sz="2200">
                          <a:solidFill>
                            <a:srgbClr val="000000"/>
                          </a:solidFill>
                        </a:rPr>
                        <m:t>,</m:t>
                      </m:r>
                      <m:r>
                        <m:rPr>
                          <m:nor/>
                        </m:rPr>
                        <a:rPr lang="en-US" altLang="zh-TW" sz="2200" i="1">
                          <a:solidFill>
                            <a:srgbClr val="00000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2200" i="1" spc="200">
                          <a:solidFill>
                            <a:srgbClr val="000000"/>
                          </a:solidFill>
                        </a:rPr>
                        <m:t>j</m:t>
                      </m:r>
                      <m:r>
                        <m:rPr>
                          <m:nor/>
                        </m:rPr>
                        <a:rPr lang="en-US" altLang="zh-TW" sz="2200">
                          <a:solidFill>
                            <a:srgbClr val="000000"/>
                          </a:solidFill>
                        </a:rPr>
                        <m:t>]</m:t>
                      </m:r>
                      <m:r>
                        <a:rPr lang="en-US" altLang="zh-TW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2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  <m:brk m:alnAt="7"/>
                                  </m:rPr>
                                  <a:rPr lang="en-US" altLang="zh-TW" sz="2200" b="0" i="0" smtClean="0">
                                    <a:solidFill>
                                      <a:srgbClr val="000000"/>
                                    </a:solidFill>
                                  </a:rPr>
                                  <m:t>0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altLang="zh-TW" sz="22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TW" sz="22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                                        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="0" i="1" smtClean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i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="0" smtClean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0">
                                    <a:solidFill>
                                      <a:srgbClr val="000000"/>
                                    </a:solidFill>
                                    <a:latin typeface="Symbol" panose="05050102010706020507" pitchFamily="18" charset="2"/>
                                  </a:rPr>
                                  <m:t>=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="0" i="0" smtClean="0">
                                    <a:solidFill>
                                      <a:srgbClr val="00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="0" i="0" smtClean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0 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="0" i="0" smtClean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or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="0" spc="300" smtClean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="0" i="1" smtClean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="0" i="0" smtClean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0">
                                    <a:solidFill>
                                      <a:srgbClr val="000000"/>
                                    </a:solidFill>
                                    <a:latin typeface="Symbol" panose="05050102010706020507" pitchFamily="18" charset="2"/>
                                  </a:rPr>
                                  <m:t>=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="0" i="0" smtClean="0">
                                    <a:solidFill>
                                      <a:srgbClr val="00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="0" i="0" smtClean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="0" i="0" smtClean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       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200" i="1">
                                    <a:solidFill>
                                      <a:srgbClr val="000000"/>
                                    </a:solidFill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</a:rPr>
                                  <m:t>[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spc="150">
                                    <a:solidFill>
                                      <a:srgbClr val="000000"/>
                                    </a:solidFill>
                                  </a:rPr>
                                  <m:t>i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="0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="0" smtClean="0">
                                    <a:solidFill>
                                      <a:srgbClr val="000000"/>
                                    </a:solidFill>
                                  </a:rPr>
                                  <m:t>1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</a:rPr>
                                  <m:t>,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>
                                    <a:solidFill>
                                      <a:srgbClr val="00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spc="200">
                                    <a:solidFill>
                                      <a:srgbClr val="000000"/>
                                    </a:solidFill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="0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</a:rPr>
                                  <m:t>1]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="0" i="0" smtClean="0">
                                    <a:solidFill>
                                      <a:srgbClr val="00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="0" i="0" spc="200" smtClean="0">
                                    <a:solidFill>
                                      <a:srgbClr val="000000"/>
                                    </a:solidFill>
                                    <a:latin typeface="Symbol" panose="05050102010706020507" pitchFamily="18" charset="2"/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="0" i="0" smtClean="0">
                                    <a:solidFill>
                                      <a:srgbClr val="000000"/>
                                    </a:solidFill>
                                  </a:rPr>
                                  <m:t>1               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="0" i="1" smtClean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i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="0" smtClean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="0" i="1" smtClean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="0" i="0" smtClean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0">
                                    <a:solidFill>
                                      <a:srgbClr val="000000"/>
                                    </a:solidFill>
                                    <a:latin typeface="Symbol" panose="05050102010706020507" pitchFamily="18" charset="2"/>
                                    <a:ea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="0" i="0" smtClean="0">
                                    <a:solidFill>
                                      <a:srgbClr val="000000"/>
                                    </a:solidFill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="0" i="0" smtClean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="0" i="0" smtClean="0">
                                    <a:solidFill>
                                      <a:srgbClr val="000000"/>
                                    </a:solidFill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="0" i="0" smtClean="0">
                                    <a:solidFill>
                                      <a:srgbClr val="000000"/>
                                    </a:solidFill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and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="0" i="0" smtClean="0">
                                    <a:solidFill>
                                      <a:srgbClr val="000000"/>
                                    </a:solidFill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="0" i="1" smtClean="0">
                                    <a:solidFill>
                                      <a:srgbClr val="000000"/>
                                    </a:solidFill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x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="0" i="1" baseline="-25000" smtClean="0">
                                    <a:solidFill>
                                      <a:srgbClr val="000000"/>
                                    </a:solidFill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i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="0" i="0" smtClean="0">
                                    <a:solidFill>
                                      <a:srgbClr val="000000"/>
                                    </a:solidFill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="0" i="0" smtClean="0">
                                    <a:solidFill>
                                      <a:srgbClr val="000000"/>
                                    </a:solidFill>
                                    <a:latin typeface="Symbol" panose="05050102010706020507" pitchFamily="18" charset="2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="0" i="0" smtClean="0">
                                    <a:solidFill>
                                      <a:srgbClr val="000000"/>
                                    </a:solidFill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="0" i="1" smtClean="0">
                                    <a:solidFill>
                                      <a:srgbClr val="000000"/>
                                    </a:solidFill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y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="0" i="1" spc="300" baseline="-25000" smtClean="0">
                                    <a:solidFill>
                                      <a:srgbClr val="000000"/>
                                    </a:solidFill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="0" i="0" smtClean="0">
                                    <a:solidFill>
                                      <a:srgbClr val="000000"/>
                                    </a:solidFill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200" b="0" i="0" smtClean="0">
                                    <a:solidFill>
                                      <a:srgbClr val="000000"/>
                                    </a:solidFill>
                                  </a:rPr>
                                  <m:t>max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="0" i="0" smtClean="0">
                                    <a:solidFill>
                                      <a:srgbClr val="000000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>
                                    <a:solidFill>
                                      <a:srgbClr val="000000"/>
                                    </a:solidFill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</a:rPr>
                                  <m:t>[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spc="150">
                                    <a:solidFill>
                                      <a:srgbClr val="000000"/>
                                    </a:solidFill>
                                  </a:rPr>
                                  <m:t>i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</a:rPr>
                                  <m:t>,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>
                                    <a:solidFill>
                                      <a:srgbClr val="00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spc="200">
                                    <a:solidFill>
                                      <a:srgbClr val="000000"/>
                                    </a:solidFill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="0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</a:rPr>
                                  <m:t>1]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="0" i="0" smtClean="0">
                                    <a:solidFill>
                                      <a:srgbClr val="000000"/>
                                    </a:solidFill>
                                  </a:rPr>
                                  <m:t>,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="0" i="1" smtClean="0">
                                    <a:solidFill>
                                      <a:srgbClr val="00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>
                                    <a:solidFill>
                                      <a:srgbClr val="000000"/>
                                    </a:solidFill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</a:rPr>
                                  <m:t>[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spc="150">
                                    <a:solidFill>
                                      <a:srgbClr val="000000"/>
                                    </a:solidFill>
                                  </a:rPr>
                                  <m:t>i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="0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</a:rPr>
                                  <m:t>1,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>
                                    <a:solidFill>
                                      <a:srgbClr val="00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spc="200">
                                    <a:solidFill>
                                      <a:srgbClr val="000000"/>
                                    </a:solidFill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</a:rPr>
                                  <m:t>]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="0" i="0" smtClean="0">
                                    <a:solidFill>
                                      <a:srgbClr val="000000"/>
                                    </a:solidFill>
                                  </a:rPr>
                                  <m:t>)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i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="0" smtClean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Symbol" panose="05050102010706020507" pitchFamily="18" charset="2"/>
                                    <a:ea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="0" i="0" smtClean="0">
                                    <a:solidFill>
                                      <a:srgbClr val="000000"/>
                                    </a:solidFill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="0" i="0" smtClean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and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="0" i="0" smtClean="0">
                                    <a:solidFill>
                                      <a:srgbClr val="000000"/>
                                    </a:solidFill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>
                                    <a:solidFill>
                                      <a:srgbClr val="000000"/>
                                    </a:solidFill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x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baseline="-25000">
                                    <a:solidFill>
                                      <a:srgbClr val="000000"/>
                                    </a:solidFill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i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en-US" altLang="zh-TW" sz="22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  <a:sym typeface="Symbol" panose="05050102010706020507" pitchFamily="18" charset="2"/>
                                  </a:rPr>
                                  <m:t>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>
                                    <a:solidFill>
                                      <a:srgbClr val="000000"/>
                                    </a:solidFill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y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spc="300" baseline="-25000">
                                    <a:solidFill>
                                      <a:srgbClr val="000000"/>
                                    </a:solidFill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b="0" smtClean="0">
                                    <a:solidFill>
                                      <a:srgbClr val="000000"/>
                                    </a:solidFill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.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TW" sz="2200" dirty="0"/>
              </a:p>
              <a:p>
                <a:endParaRPr lang="en-US" altLang="zh-TW" sz="2200" dirty="0"/>
              </a:p>
              <a:p>
                <a:pPr marL="534988" lvl="0">
                  <a:buClr>
                    <a:srgbClr val="000000"/>
                  </a:buClr>
                  <a:tabLst>
                    <a:tab pos="4037013" algn="l"/>
                  </a:tabLst>
                </a:pPr>
                <a:r>
                  <a:rPr lang="en-US" altLang="zh-TW" sz="2200" i="1" dirty="0">
                    <a:solidFill>
                      <a:srgbClr val="000000"/>
                    </a:solidFill>
                  </a:rPr>
                  <a:t>X</a:t>
                </a:r>
                <a:r>
                  <a:rPr lang="en-US" altLang="zh-TW" sz="2200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sz="22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sz="2200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sz="22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</a:t>
                </a:r>
                <a:r>
                  <a:rPr lang="en-US" altLang="zh-TW" sz="2200" i="1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a</a:t>
                </a:r>
                <a:r>
                  <a:rPr lang="en-US" altLang="zh-TW" sz="22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, </a:t>
                </a:r>
                <a:r>
                  <a:rPr lang="en-US" altLang="zh-TW" sz="2200" i="1" dirty="0">
                    <a:solidFill>
                      <a:srgbClr val="FF0000"/>
                    </a:solidFill>
                  </a:rPr>
                  <a:t>b</a:t>
                </a:r>
                <a:r>
                  <a:rPr lang="en-US" altLang="zh-TW" sz="2200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sz="2200" i="1" dirty="0">
                    <a:solidFill>
                      <a:srgbClr val="FF0000"/>
                    </a:solidFill>
                  </a:rPr>
                  <a:t>c</a:t>
                </a:r>
                <a:r>
                  <a:rPr lang="en-US" altLang="zh-TW" sz="2200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sz="2200" i="1" dirty="0">
                    <a:solidFill>
                      <a:srgbClr val="FF0000"/>
                    </a:solidFill>
                  </a:rPr>
                  <a:t>b</a:t>
                </a:r>
                <a:r>
                  <a:rPr lang="en-US" altLang="zh-TW" sz="2200" dirty="0">
                    <a:solidFill>
                      <a:srgbClr val="000000"/>
                    </a:solidFill>
                  </a:rPr>
                  <a:t>,</a:t>
                </a:r>
                <a:r>
                  <a:rPr lang="en-US" altLang="zh-TW" sz="22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 </a:t>
                </a:r>
                <a:r>
                  <a:rPr lang="en-US" altLang="zh-TW" sz="2200" i="1" dirty="0">
                    <a:solidFill>
                      <a:srgbClr val="000000"/>
                    </a:solidFill>
                  </a:rPr>
                  <a:t>d</a:t>
                </a:r>
                <a:r>
                  <a:rPr lang="en-US" altLang="zh-TW" sz="2200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sz="2200" i="1" dirty="0">
                    <a:solidFill>
                      <a:srgbClr val="FF0000"/>
                    </a:solidFill>
                    <a:sym typeface="Symbol" panose="05050102010706020507" pitchFamily="18" charset="2"/>
                  </a:rPr>
                  <a:t>a</a:t>
                </a:r>
                <a:r>
                  <a:rPr lang="en-US" altLang="zh-TW" sz="22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	</a:t>
                </a:r>
                <a:r>
                  <a:rPr lang="en-US" altLang="zh-TW" sz="2200" i="1" dirty="0">
                    <a:solidFill>
                      <a:srgbClr val="000000"/>
                    </a:solidFill>
                  </a:rPr>
                  <a:t>X</a:t>
                </a:r>
                <a:r>
                  <a:rPr lang="en-US" altLang="zh-TW" sz="2200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sz="22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sz="2200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sz="22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</a:t>
                </a:r>
                <a:r>
                  <a:rPr lang="en-US" altLang="zh-TW" sz="2200" i="1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a</a:t>
                </a:r>
                <a:r>
                  <a:rPr lang="en-US" altLang="zh-TW" sz="22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, </a:t>
                </a:r>
                <a:r>
                  <a:rPr lang="en-US" altLang="zh-TW" sz="2200" i="1" dirty="0">
                    <a:solidFill>
                      <a:srgbClr val="FF0000"/>
                    </a:solidFill>
                  </a:rPr>
                  <a:t>b</a:t>
                </a:r>
                <a:r>
                  <a:rPr lang="en-US" altLang="zh-TW" sz="2200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sz="2200" i="1" dirty="0">
                    <a:solidFill>
                      <a:srgbClr val="000000"/>
                    </a:solidFill>
                  </a:rPr>
                  <a:t>c</a:t>
                </a:r>
                <a:r>
                  <a:rPr lang="en-US" altLang="zh-TW" sz="2200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sz="2200" i="1" dirty="0">
                    <a:solidFill>
                      <a:srgbClr val="000000"/>
                    </a:solidFill>
                  </a:rPr>
                  <a:t>b</a:t>
                </a:r>
                <a:r>
                  <a:rPr lang="en-US" altLang="zh-TW" sz="2200" dirty="0">
                    <a:solidFill>
                      <a:srgbClr val="000000"/>
                    </a:solidFill>
                  </a:rPr>
                  <a:t>,</a:t>
                </a:r>
                <a:r>
                  <a:rPr lang="en-US" altLang="zh-TW" sz="22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 </a:t>
                </a:r>
                <a:r>
                  <a:rPr lang="en-US" altLang="zh-TW" sz="2200" i="1" dirty="0">
                    <a:solidFill>
                      <a:srgbClr val="FF0000"/>
                    </a:solidFill>
                  </a:rPr>
                  <a:t>d</a:t>
                </a:r>
                <a:r>
                  <a:rPr lang="en-US" altLang="zh-TW" sz="2200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sz="2200" i="1" dirty="0">
                    <a:solidFill>
                      <a:srgbClr val="FF0000"/>
                    </a:solidFill>
                    <a:sym typeface="Symbol" panose="05050102010706020507" pitchFamily="18" charset="2"/>
                  </a:rPr>
                  <a:t>a</a:t>
                </a:r>
                <a:r>
                  <a:rPr lang="en-US" altLang="zh-TW" sz="22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, </a:t>
                </a:r>
                <a:r>
                  <a:rPr lang="en-US" altLang="zh-TW" sz="2200" i="1" dirty="0">
                    <a:solidFill>
                      <a:srgbClr val="FF0000"/>
                    </a:solidFill>
                  </a:rPr>
                  <a:t>b</a:t>
                </a:r>
                <a:r>
                  <a:rPr lang="en-US" altLang="zh-TW" sz="22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</a:t>
                </a:r>
                <a:endParaRPr lang="en-US" altLang="zh-TW" sz="2200" dirty="0">
                  <a:solidFill>
                    <a:srgbClr val="000000"/>
                  </a:solidFill>
                </a:endParaRPr>
              </a:p>
              <a:p>
                <a:pPr marL="534988" lvl="0">
                  <a:buClr>
                    <a:srgbClr val="000000"/>
                  </a:buClr>
                  <a:tabLst>
                    <a:tab pos="4037013" algn="l"/>
                  </a:tabLst>
                </a:pPr>
                <a:r>
                  <a:rPr lang="en-US" altLang="zh-TW" sz="2200" i="1" dirty="0">
                    <a:solidFill>
                      <a:srgbClr val="000000"/>
                    </a:solidFill>
                  </a:rPr>
                  <a:t>Y</a:t>
                </a:r>
                <a:r>
                  <a:rPr lang="en-US" altLang="zh-TW" sz="2200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sz="22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sz="2200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sz="22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</a:t>
                </a:r>
                <a:r>
                  <a:rPr lang="en-US" altLang="zh-TW" sz="2200" i="1" dirty="0">
                    <a:solidFill>
                      <a:srgbClr val="FF0000"/>
                    </a:solidFill>
                  </a:rPr>
                  <a:t>b</a:t>
                </a:r>
                <a:r>
                  <a:rPr lang="en-US" altLang="zh-TW" sz="2200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sz="2200" i="1" dirty="0">
                    <a:solidFill>
                      <a:srgbClr val="000000"/>
                    </a:solidFill>
                  </a:rPr>
                  <a:t>d</a:t>
                </a:r>
                <a:r>
                  <a:rPr lang="en-US" altLang="zh-TW" sz="2200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sz="2200" i="1" dirty="0">
                    <a:solidFill>
                      <a:srgbClr val="FF0000"/>
                    </a:solidFill>
                  </a:rPr>
                  <a:t>c</a:t>
                </a:r>
                <a:r>
                  <a:rPr lang="en-US" altLang="zh-TW" sz="2200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sz="2200" i="1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a</a:t>
                </a:r>
                <a:r>
                  <a:rPr lang="en-US" altLang="zh-TW" sz="22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, </a:t>
                </a:r>
                <a:r>
                  <a:rPr lang="en-US" altLang="zh-TW" sz="2200" i="1" dirty="0">
                    <a:solidFill>
                      <a:srgbClr val="FF0000"/>
                    </a:solidFill>
                  </a:rPr>
                  <a:t>b</a:t>
                </a:r>
                <a:r>
                  <a:rPr lang="en-US" altLang="zh-TW" sz="2200" dirty="0">
                    <a:solidFill>
                      <a:srgbClr val="000000"/>
                    </a:solidFill>
                  </a:rPr>
                  <a:t>,</a:t>
                </a:r>
                <a:r>
                  <a:rPr lang="en-US" altLang="zh-TW" sz="22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 </a:t>
                </a:r>
                <a:r>
                  <a:rPr lang="en-US" altLang="zh-TW" sz="2200" i="1" dirty="0">
                    <a:solidFill>
                      <a:srgbClr val="FF0000"/>
                    </a:solidFill>
                    <a:sym typeface="Symbol" panose="05050102010706020507" pitchFamily="18" charset="2"/>
                  </a:rPr>
                  <a:t>a</a:t>
                </a:r>
                <a:r>
                  <a:rPr lang="en-US" altLang="zh-TW" sz="22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	</a:t>
                </a:r>
                <a:r>
                  <a:rPr lang="en-US" altLang="zh-TW" sz="2200" i="1" dirty="0">
                    <a:solidFill>
                      <a:srgbClr val="000000"/>
                    </a:solidFill>
                  </a:rPr>
                  <a:t>Y</a:t>
                </a:r>
                <a:r>
                  <a:rPr lang="en-US" altLang="zh-TW" sz="2200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sz="22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sz="2200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sz="22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</a:t>
                </a:r>
                <a:r>
                  <a:rPr lang="en-US" altLang="zh-TW" sz="2200" i="1" dirty="0">
                    <a:solidFill>
                      <a:srgbClr val="FF0000"/>
                    </a:solidFill>
                  </a:rPr>
                  <a:t>b</a:t>
                </a:r>
                <a:r>
                  <a:rPr lang="en-US" altLang="zh-TW" sz="2200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sz="2200" i="1" dirty="0">
                    <a:solidFill>
                      <a:srgbClr val="FF0000"/>
                    </a:solidFill>
                  </a:rPr>
                  <a:t>d</a:t>
                </a:r>
                <a:r>
                  <a:rPr lang="en-US" altLang="zh-TW" sz="2200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sz="2200" i="1" dirty="0">
                    <a:solidFill>
                      <a:srgbClr val="000000"/>
                    </a:solidFill>
                  </a:rPr>
                  <a:t>c</a:t>
                </a:r>
                <a:r>
                  <a:rPr lang="en-US" altLang="zh-TW" sz="2200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sz="2200" i="1" dirty="0">
                    <a:solidFill>
                      <a:srgbClr val="FF0000"/>
                    </a:solidFill>
                    <a:sym typeface="Symbol" panose="05050102010706020507" pitchFamily="18" charset="2"/>
                  </a:rPr>
                  <a:t>a</a:t>
                </a:r>
                <a:r>
                  <a:rPr lang="en-US" altLang="zh-TW" sz="22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, </a:t>
                </a:r>
                <a:r>
                  <a:rPr lang="en-US" altLang="zh-TW" sz="2200" i="1" dirty="0">
                    <a:solidFill>
                      <a:srgbClr val="FF0000"/>
                    </a:solidFill>
                  </a:rPr>
                  <a:t>b</a:t>
                </a:r>
                <a:r>
                  <a:rPr lang="en-US" altLang="zh-TW" sz="2200" dirty="0">
                    <a:solidFill>
                      <a:srgbClr val="000000"/>
                    </a:solidFill>
                  </a:rPr>
                  <a:t>,</a:t>
                </a:r>
                <a:r>
                  <a:rPr lang="en-US" altLang="zh-TW" sz="22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 </a:t>
                </a:r>
                <a:r>
                  <a:rPr lang="en-US" altLang="zh-TW" sz="2200" i="1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a</a:t>
                </a:r>
                <a:r>
                  <a:rPr lang="en-US" altLang="zh-TW" sz="22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</a:t>
                </a: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2000" y="1268413"/>
                <a:ext cx="8639999" cy="4140587"/>
              </a:xfrm>
              <a:blipFill>
                <a:blip r:embed="rId2"/>
                <a:stretch>
                  <a:fillRect l="-917" t="-1031" b="-250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79067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A Recursive </a:t>
            </a:r>
            <a:r>
              <a:rPr lang="en-US" altLang="zh-TW" dirty="0" smtClean="0"/>
              <a:t>Algorithm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866183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Step 3: Computing the Length of an LCS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 main()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getline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( cin, s1 ) )</a:t>
            </a:r>
          </a:p>
          <a:p>
            <a:r>
              <a:rPr lang="zh-TW" altLang="en-US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getline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( cin,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s2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 );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2B91AF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 m =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s1.size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();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2B91AF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 n =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s2.size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();</a:t>
            </a:r>
          </a:p>
          <a:p>
            <a:endParaRPr lang="zh-TW" altLang="en-US" dirty="0">
              <a:solidFill>
                <a:srgbClr val="000000"/>
              </a:solidFill>
              <a:highlight>
                <a:srgbClr val="FFFFFF"/>
              </a:highlight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s1.insert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s1.begin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(), </a:t>
            </a:r>
            <a:r>
              <a:rPr lang="en-US" altLang="zh-TW" dirty="0">
                <a:solidFill>
                  <a:srgbClr val="A31515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'\0'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 );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s2.insert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s2.begin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(), </a:t>
            </a:r>
            <a:r>
              <a:rPr lang="en-US" altLang="zh-TW" dirty="0">
                <a:solidFill>
                  <a:srgbClr val="A31515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'\0'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 );</a:t>
            </a:r>
          </a:p>
          <a:p>
            <a:endParaRPr lang="zh-TW" altLang="en-US" dirty="0">
              <a:solidFill>
                <a:srgbClr val="000000"/>
              </a:solidFill>
              <a:highlight>
                <a:srgbClr val="FFFFFF"/>
              </a:highlight>
              <a:ea typeface="細明體" panose="02020509000000000000" pitchFamily="49" charset="-120"/>
            </a:endParaRPr>
          </a:p>
          <a:p>
            <a:r>
              <a:rPr lang="nn-NO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      </a:t>
            </a:r>
            <a:r>
              <a:rPr lang="nn-NO" altLang="zh-TW" dirty="0">
                <a:solidFill>
                  <a:srgbClr val="0000FF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2B91AF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size_t</a:t>
            </a:r>
            <a:r>
              <a:rPr lang="nn-NO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 i = 1; i &lt;= m; i++ )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2B91AF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 j = 1; j &lt;= n;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lcs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[ i ][ j ] = -1;</a:t>
            </a:r>
          </a:p>
          <a:p>
            <a:endParaRPr lang="zh-TW" altLang="en-US" dirty="0">
              <a:solidFill>
                <a:srgbClr val="000000"/>
              </a:solidFill>
              <a:highlight>
                <a:srgbClr val="FFFFFF"/>
              </a:highlight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      cout </a:t>
            </a:r>
            <a:r>
              <a:rPr lang="en-US" altLang="zh-TW" dirty="0">
                <a:solidFill>
                  <a:srgbClr val="00808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findLCS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( m, n ) </a:t>
            </a:r>
            <a:r>
              <a:rPr lang="en-US" altLang="zh-TW" dirty="0">
                <a:solidFill>
                  <a:srgbClr val="00808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 endl;</a:t>
            </a:r>
          </a:p>
          <a:p>
            <a:r>
              <a:rPr lang="zh-TW" altLang="en-US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highlight>
                <a:srgbClr val="FFFFFF"/>
              </a:highlight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 0;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884509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Step 3: Computing the Length of an LCS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內容版面配置區 1"/>
              <p:cNvSpPr>
                <a:spLocks noGrp="1"/>
              </p:cNvSpPr>
              <p:nvPr>
                <p:ph idx="1"/>
              </p:nvPr>
            </p:nvSpPr>
            <p:spPr>
              <a:xfrm>
                <a:off x="431471" y="1268413"/>
                <a:ext cx="8281058" cy="3600587"/>
              </a:xfrm>
            </p:spPr>
            <p:txBody>
              <a:bodyPr/>
              <a:lstStyle/>
              <a:p>
                <a:r>
                  <a:rPr lang="en-US" altLang="zh-TW" dirty="0">
                    <a:solidFill>
                      <a:srgbClr val="0000FF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int</a:t>
                </a:r>
                <a:r>
                  <a:rPr lang="en-US" altLang="zh-TW" dirty="0">
                    <a:solidFill>
                      <a:srgbClr val="000000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 </a:t>
                </a:r>
                <a:r>
                  <a:rPr lang="en-US" altLang="zh-TW" dirty="0" err="1">
                    <a:solidFill>
                      <a:srgbClr val="000000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findLCS</a:t>
                </a:r>
                <a:r>
                  <a:rPr lang="en-US" altLang="zh-TW" dirty="0">
                    <a:solidFill>
                      <a:srgbClr val="000000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( </a:t>
                </a:r>
                <a:r>
                  <a:rPr lang="en-US" altLang="zh-TW" dirty="0">
                    <a:solidFill>
                      <a:srgbClr val="0000FF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int</a:t>
                </a:r>
                <a:r>
                  <a:rPr lang="en-US" altLang="zh-TW" dirty="0">
                    <a:solidFill>
                      <a:srgbClr val="000000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 </a:t>
                </a:r>
                <a:r>
                  <a:rPr lang="en-US" altLang="zh-TW" dirty="0">
                    <a:solidFill>
                      <a:srgbClr val="808080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i</a:t>
                </a:r>
                <a:r>
                  <a:rPr lang="en-US" altLang="zh-TW" dirty="0">
                    <a:solidFill>
                      <a:srgbClr val="000000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, </a:t>
                </a:r>
                <a:r>
                  <a:rPr lang="en-US" altLang="zh-TW" dirty="0">
                    <a:solidFill>
                      <a:srgbClr val="0000FF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int</a:t>
                </a:r>
                <a:r>
                  <a:rPr lang="en-US" altLang="zh-TW" dirty="0">
                    <a:solidFill>
                      <a:srgbClr val="000000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 </a:t>
                </a:r>
                <a:r>
                  <a:rPr lang="en-US" altLang="zh-TW" dirty="0">
                    <a:solidFill>
                      <a:srgbClr val="808080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j</a:t>
                </a:r>
                <a:r>
                  <a:rPr lang="en-US" altLang="zh-TW" dirty="0">
                    <a:solidFill>
                      <a:srgbClr val="000000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 )</a:t>
                </a:r>
              </a:p>
              <a:p>
                <a:r>
                  <a:rPr lang="en-US" altLang="zh-TW" dirty="0">
                    <a:solidFill>
                      <a:srgbClr val="000000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{</a:t>
                </a:r>
              </a:p>
              <a:p>
                <a:pPr>
                  <a:lnSpc>
                    <a:spcPct val="50000"/>
                  </a:lnSpc>
                </a:pPr>
                <a:r>
                  <a:rPr lang="en-US" altLang="zh-TW" dirty="0">
                    <a:solidFill>
                      <a:srgbClr val="000000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   </a:t>
                </a:r>
                <a:r>
                  <a:rPr lang="en-US" altLang="zh-TW" dirty="0">
                    <a:solidFill>
                      <a:srgbClr val="0000FF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if</a:t>
                </a:r>
                <a:r>
                  <a:rPr lang="en-US" altLang="zh-TW" dirty="0">
                    <a:solidFill>
                      <a:srgbClr val="000000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( </a:t>
                </a:r>
                <a:r>
                  <a:rPr lang="en-US" altLang="zh-TW" dirty="0">
                    <a:solidFill>
                      <a:srgbClr val="808080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j</a:t>
                </a:r>
                <a:r>
                  <a:rPr lang="en-US" altLang="zh-TW" dirty="0">
                    <a:solidFill>
                      <a:srgbClr val="000000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 == 0 )</a:t>
                </a:r>
              </a:p>
              <a:p>
                <a:r>
                  <a:rPr lang="en-US" altLang="zh-TW" dirty="0">
                    <a:solidFill>
                      <a:srgbClr val="000000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      </a:t>
                </a:r>
                <a:r>
                  <a:rPr lang="en-US" altLang="zh-TW" dirty="0">
                    <a:solidFill>
                      <a:srgbClr val="0000FF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return</a:t>
                </a:r>
                <a:r>
                  <a:rPr lang="en-US" altLang="zh-TW" dirty="0">
                    <a:solidFill>
                      <a:srgbClr val="000000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 0;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altLang="zh-TW" dirty="0" smtClean="0">
                    <a:solidFill>
                      <a:srgbClr val="000000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   </a:t>
                </a:r>
                <a:r>
                  <a:rPr lang="en-US" altLang="zh-TW" dirty="0">
                    <a:solidFill>
                      <a:srgbClr val="0000FF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if</a:t>
                </a:r>
                <a:r>
                  <a:rPr lang="en-US" altLang="zh-TW" dirty="0">
                    <a:solidFill>
                      <a:srgbClr val="000000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( </a:t>
                </a:r>
                <a:r>
                  <a:rPr lang="en-US" altLang="zh-TW" dirty="0">
                    <a:solidFill>
                      <a:srgbClr val="808080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i</a:t>
                </a:r>
                <a:r>
                  <a:rPr lang="en-US" altLang="zh-TW" dirty="0">
                    <a:solidFill>
                      <a:srgbClr val="000000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 == 0 )</a:t>
                </a:r>
              </a:p>
              <a:p>
                <a:r>
                  <a:rPr lang="en-US" altLang="zh-TW" dirty="0">
                    <a:solidFill>
                      <a:srgbClr val="000000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      </a:t>
                </a:r>
                <a:r>
                  <a:rPr lang="en-US" altLang="zh-TW" dirty="0">
                    <a:solidFill>
                      <a:srgbClr val="0000FF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return</a:t>
                </a:r>
                <a:r>
                  <a:rPr lang="en-US" altLang="zh-TW" dirty="0">
                    <a:solidFill>
                      <a:srgbClr val="000000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 0;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altLang="zh-TW" dirty="0" smtClean="0">
                    <a:solidFill>
                      <a:srgbClr val="000000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   </a:t>
                </a:r>
                <a:r>
                  <a:rPr lang="en-US" altLang="zh-TW" dirty="0">
                    <a:solidFill>
                      <a:srgbClr val="0000FF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if</a:t>
                </a:r>
                <a:r>
                  <a:rPr lang="en-US" altLang="zh-TW" dirty="0">
                    <a:solidFill>
                      <a:srgbClr val="000000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( </a:t>
                </a:r>
                <a:r>
                  <a:rPr lang="en-US" altLang="zh-TW" dirty="0" err="1">
                    <a:solidFill>
                      <a:srgbClr val="000000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lcs</a:t>
                </a:r>
                <a:r>
                  <a:rPr lang="en-US" altLang="zh-TW" dirty="0">
                    <a:solidFill>
                      <a:srgbClr val="000000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[ </a:t>
                </a:r>
                <a:r>
                  <a:rPr lang="en-US" altLang="zh-TW" dirty="0">
                    <a:solidFill>
                      <a:srgbClr val="808080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i</a:t>
                </a:r>
                <a:r>
                  <a:rPr lang="en-US" altLang="zh-TW" dirty="0">
                    <a:solidFill>
                      <a:srgbClr val="000000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 ][ </a:t>
                </a:r>
                <a:r>
                  <a:rPr lang="en-US" altLang="zh-TW" dirty="0">
                    <a:solidFill>
                      <a:srgbClr val="808080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j</a:t>
                </a:r>
                <a:r>
                  <a:rPr lang="en-US" altLang="zh-TW" dirty="0">
                    <a:solidFill>
                      <a:srgbClr val="000000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 ] != -1 )</a:t>
                </a:r>
              </a:p>
              <a:p>
                <a:r>
                  <a:rPr lang="en-US" altLang="zh-TW" dirty="0">
                    <a:solidFill>
                      <a:srgbClr val="000000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      </a:t>
                </a:r>
                <a:r>
                  <a:rPr lang="en-US" altLang="zh-TW" dirty="0">
                    <a:solidFill>
                      <a:srgbClr val="0000FF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return</a:t>
                </a:r>
                <a:r>
                  <a:rPr lang="en-US" altLang="zh-TW" dirty="0">
                    <a:solidFill>
                      <a:srgbClr val="000000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 </a:t>
                </a:r>
                <a:r>
                  <a:rPr lang="en-US" altLang="zh-TW" dirty="0" err="1">
                    <a:solidFill>
                      <a:srgbClr val="000000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lcs</a:t>
                </a:r>
                <a:r>
                  <a:rPr lang="en-US" altLang="zh-TW" dirty="0">
                    <a:solidFill>
                      <a:srgbClr val="000000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[ </a:t>
                </a:r>
                <a:r>
                  <a:rPr lang="en-US" altLang="zh-TW" dirty="0">
                    <a:solidFill>
                      <a:srgbClr val="808080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i</a:t>
                </a:r>
                <a:r>
                  <a:rPr lang="en-US" altLang="zh-TW" dirty="0">
                    <a:solidFill>
                      <a:srgbClr val="000000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 ][ </a:t>
                </a:r>
                <a:r>
                  <a:rPr lang="en-US" altLang="zh-TW" dirty="0">
                    <a:solidFill>
                      <a:srgbClr val="808080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j</a:t>
                </a:r>
                <a:r>
                  <a:rPr lang="en-US" altLang="zh-TW" dirty="0">
                    <a:solidFill>
                      <a:srgbClr val="000000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 ];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altLang="zh-TW" dirty="0" smtClean="0">
                    <a:solidFill>
                      <a:srgbClr val="000000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   </a:t>
                </a:r>
                <a:r>
                  <a:rPr lang="en-US" altLang="zh-TW" dirty="0">
                    <a:solidFill>
                      <a:srgbClr val="0000FF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if</a:t>
                </a:r>
                <a:r>
                  <a:rPr lang="en-US" altLang="zh-TW" dirty="0">
                    <a:solidFill>
                      <a:srgbClr val="000000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( s1</a:t>
                </a:r>
                <a:r>
                  <a:rPr lang="en-US" altLang="zh-TW" dirty="0">
                    <a:solidFill>
                      <a:srgbClr val="008080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[</a:t>
                </a:r>
                <a:r>
                  <a:rPr lang="en-US" altLang="zh-TW" dirty="0">
                    <a:solidFill>
                      <a:srgbClr val="000000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 </a:t>
                </a:r>
                <a:r>
                  <a:rPr lang="en-US" altLang="zh-TW" dirty="0">
                    <a:solidFill>
                      <a:srgbClr val="808080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i</a:t>
                </a:r>
                <a:r>
                  <a:rPr lang="en-US" altLang="zh-TW" dirty="0">
                    <a:solidFill>
                      <a:srgbClr val="000000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 </a:t>
                </a:r>
                <a:r>
                  <a:rPr lang="en-US" altLang="zh-TW" dirty="0">
                    <a:solidFill>
                      <a:srgbClr val="008080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]</a:t>
                </a:r>
                <a:r>
                  <a:rPr lang="en-US" altLang="zh-TW" dirty="0">
                    <a:solidFill>
                      <a:srgbClr val="000000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 == </a:t>
                </a:r>
                <a:r>
                  <a:rPr lang="en-US" altLang="zh-TW" dirty="0" err="1">
                    <a:solidFill>
                      <a:srgbClr val="000000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s2</a:t>
                </a:r>
                <a:r>
                  <a:rPr lang="en-US" altLang="zh-TW" dirty="0">
                    <a:solidFill>
                      <a:srgbClr val="008080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[</a:t>
                </a:r>
                <a:r>
                  <a:rPr lang="en-US" altLang="zh-TW" dirty="0">
                    <a:solidFill>
                      <a:srgbClr val="000000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 </a:t>
                </a:r>
                <a:r>
                  <a:rPr lang="en-US" altLang="zh-TW" dirty="0">
                    <a:solidFill>
                      <a:srgbClr val="808080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j</a:t>
                </a:r>
                <a:r>
                  <a:rPr lang="en-US" altLang="zh-TW" dirty="0">
                    <a:solidFill>
                      <a:srgbClr val="000000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 </a:t>
                </a:r>
                <a:r>
                  <a:rPr lang="en-US" altLang="zh-TW" dirty="0">
                    <a:solidFill>
                      <a:srgbClr val="008080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]</a:t>
                </a:r>
                <a:r>
                  <a:rPr lang="en-US" altLang="zh-TW" dirty="0">
                    <a:solidFill>
                      <a:srgbClr val="000000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 )</a:t>
                </a:r>
              </a:p>
              <a:p>
                <a:r>
                  <a:rPr lang="da-DK" altLang="zh-TW" dirty="0">
                    <a:solidFill>
                      <a:srgbClr val="000000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      </a:t>
                </a:r>
                <a:r>
                  <a:rPr lang="da-DK" altLang="zh-TW" dirty="0">
                    <a:solidFill>
                      <a:srgbClr val="0000FF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return</a:t>
                </a:r>
                <a:r>
                  <a:rPr lang="da-DK" altLang="zh-TW" dirty="0">
                    <a:solidFill>
                      <a:srgbClr val="000000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 lcs[ </a:t>
                </a:r>
                <a:r>
                  <a:rPr lang="da-DK" altLang="zh-TW" dirty="0">
                    <a:solidFill>
                      <a:srgbClr val="808080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i</a:t>
                </a:r>
                <a:r>
                  <a:rPr lang="da-DK" altLang="zh-TW" dirty="0">
                    <a:solidFill>
                      <a:srgbClr val="000000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 ][ </a:t>
                </a:r>
                <a:r>
                  <a:rPr lang="da-DK" altLang="zh-TW" dirty="0">
                    <a:solidFill>
                      <a:srgbClr val="808080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j</a:t>
                </a:r>
                <a:r>
                  <a:rPr lang="da-DK" altLang="zh-TW" dirty="0">
                    <a:solidFill>
                      <a:srgbClr val="000000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 ] = findLCS( </a:t>
                </a:r>
                <a:r>
                  <a:rPr lang="da-DK" altLang="zh-TW" dirty="0">
                    <a:solidFill>
                      <a:srgbClr val="808080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i</a:t>
                </a:r>
                <a:r>
                  <a:rPr lang="da-DK" altLang="zh-TW" dirty="0">
                    <a:solidFill>
                      <a:srgbClr val="000000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 - 1, </a:t>
                </a:r>
                <a:r>
                  <a:rPr lang="da-DK" altLang="zh-TW" dirty="0">
                    <a:solidFill>
                      <a:srgbClr val="808080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j</a:t>
                </a:r>
                <a:r>
                  <a:rPr lang="da-DK" altLang="zh-TW" dirty="0">
                    <a:solidFill>
                      <a:srgbClr val="000000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 - 1 ) + 1;</a:t>
                </a:r>
              </a:p>
              <a:p>
                <a:r>
                  <a:rPr lang="en-US" altLang="zh-TW" dirty="0">
                    <a:solidFill>
                      <a:srgbClr val="000000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   </a:t>
                </a:r>
                <a:r>
                  <a:rPr lang="en-US" altLang="zh-TW" dirty="0">
                    <a:solidFill>
                      <a:srgbClr val="0000FF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else</a:t>
                </a:r>
                <a:endParaRPr lang="en-US" altLang="zh-TW" dirty="0">
                  <a:solidFill>
                    <a:srgbClr val="000000"/>
                  </a:solidFill>
                  <a:highlight>
                    <a:srgbClr val="FFFFFF"/>
                  </a:highlight>
                  <a:ea typeface="細明體" panose="02020509000000000000" pitchFamily="49" charset="-120"/>
                </a:endParaRPr>
              </a:p>
              <a:p>
                <a:r>
                  <a:rPr lang="da-DK" altLang="zh-TW" dirty="0">
                    <a:solidFill>
                      <a:srgbClr val="000000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      </a:t>
                </a:r>
                <a:r>
                  <a:rPr lang="da-DK" altLang="zh-TW" dirty="0">
                    <a:solidFill>
                      <a:srgbClr val="0000FF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return</a:t>
                </a:r>
                <a:r>
                  <a:rPr lang="da-DK" altLang="zh-TW" dirty="0">
                    <a:solidFill>
                      <a:srgbClr val="000000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 lcs[ </a:t>
                </a:r>
                <a:r>
                  <a:rPr lang="da-DK" altLang="zh-TW" dirty="0">
                    <a:solidFill>
                      <a:srgbClr val="808080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i</a:t>
                </a:r>
                <a:r>
                  <a:rPr lang="da-DK" altLang="zh-TW" dirty="0">
                    <a:solidFill>
                      <a:srgbClr val="000000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 ][ </a:t>
                </a:r>
                <a:r>
                  <a:rPr lang="da-DK" altLang="zh-TW" dirty="0">
                    <a:solidFill>
                      <a:srgbClr val="808080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j</a:t>
                </a:r>
                <a:r>
                  <a:rPr lang="da-DK" altLang="zh-TW" dirty="0">
                    <a:solidFill>
                      <a:srgbClr val="000000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 ] = max( findLCS( </a:t>
                </a:r>
                <a:r>
                  <a:rPr lang="da-DK" altLang="zh-TW" dirty="0">
                    <a:solidFill>
                      <a:srgbClr val="808080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i</a:t>
                </a:r>
                <a:r>
                  <a:rPr lang="da-DK" altLang="zh-TW" dirty="0">
                    <a:solidFill>
                      <a:srgbClr val="000000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 - 1, </a:t>
                </a:r>
                <a:r>
                  <a:rPr lang="da-DK" altLang="zh-TW" dirty="0">
                    <a:solidFill>
                      <a:srgbClr val="808080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j</a:t>
                </a:r>
                <a:r>
                  <a:rPr lang="da-DK" altLang="zh-TW" dirty="0">
                    <a:solidFill>
                      <a:srgbClr val="000000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 </a:t>
                </a:r>
                <a:r>
                  <a:rPr lang="da-DK" altLang="zh-TW" dirty="0" smtClean="0">
                    <a:solidFill>
                      <a:srgbClr val="000000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),</a:t>
                </a:r>
              </a:p>
              <a:p>
                <a:r>
                  <a:rPr lang="da-DK" altLang="zh-TW" dirty="0">
                    <a:solidFill>
                      <a:srgbClr val="000000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 </a:t>
                </a:r>
                <a:r>
                  <a:rPr lang="da-DK" altLang="zh-TW" dirty="0" smtClean="0">
                    <a:solidFill>
                      <a:srgbClr val="000000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                                 </a:t>
                </a:r>
                <a:r>
                  <a:rPr lang="da-DK" altLang="zh-TW" dirty="0">
                    <a:solidFill>
                      <a:srgbClr val="000000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findLCS( </a:t>
                </a:r>
                <a:r>
                  <a:rPr lang="da-DK" altLang="zh-TW" dirty="0">
                    <a:solidFill>
                      <a:srgbClr val="808080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i</a:t>
                </a:r>
                <a:r>
                  <a:rPr lang="da-DK" altLang="zh-TW" dirty="0">
                    <a:solidFill>
                      <a:srgbClr val="000000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, </a:t>
                </a:r>
                <a:r>
                  <a:rPr lang="da-DK" altLang="zh-TW" dirty="0">
                    <a:solidFill>
                      <a:srgbClr val="808080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j</a:t>
                </a:r>
                <a:r>
                  <a:rPr lang="da-DK" altLang="zh-TW" dirty="0">
                    <a:solidFill>
                      <a:srgbClr val="000000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 - 1 ) );</a:t>
                </a:r>
              </a:p>
              <a:p>
                <a:pPr>
                  <a:lnSpc>
                    <a:spcPct val="50000"/>
                  </a:lnSpc>
                </a:pPr>
                <a:r>
                  <a:rPr lang="en-US" altLang="zh-TW" dirty="0" smtClean="0">
                    <a:solidFill>
                      <a:srgbClr val="000000"/>
                    </a:solidFill>
                    <a:highlight>
                      <a:srgbClr val="FFFFFF"/>
                    </a:highlight>
                    <a:ea typeface="細明體" panose="02020509000000000000" pitchFamily="49" charset="-120"/>
                  </a:rPr>
                  <a:t>}</a:t>
                </a:r>
                <a:endParaRPr lang="en-US" altLang="zh-TW" dirty="0">
                  <a:solidFill>
                    <a:srgbClr val="000000"/>
                  </a:solidFill>
                  <a:ea typeface="細明體" panose="02020509000000000000" pitchFamily="49" charset="-120"/>
                </a:endParaRPr>
              </a:p>
              <a:p>
                <a:endParaRPr lang="en-US" altLang="zh-TW" dirty="0">
                  <a:solidFill>
                    <a:srgbClr val="000000"/>
                  </a:solidFill>
                  <a:ea typeface="細明體" panose="02020509000000000000" pitchFamily="49" charset="-12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sz="2200" i="1">
                          <a:solidFill>
                            <a:srgbClr val="000000"/>
                          </a:solidFill>
                          <a:latin typeface="Times New Roman"/>
                        </a:rPr>
                        <m:t>c</m:t>
                      </m:r>
                      <m:r>
                        <m:rPr>
                          <m:nor/>
                        </m:rPr>
                        <a:rPr lang="en-US" altLang="zh-TW" sz="2200">
                          <a:solidFill>
                            <a:srgbClr val="000000"/>
                          </a:solidFill>
                          <a:latin typeface="Times New Roman"/>
                        </a:rPr>
                        <m:t>[</m:t>
                      </m:r>
                      <m:r>
                        <m:rPr>
                          <m:nor/>
                        </m:rPr>
                        <a:rPr lang="en-US" altLang="zh-TW" sz="2200" i="1">
                          <a:solidFill>
                            <a:srgbClr val="000000"/>
                          </a:solidFill>
                          <a:latin typeface="Times New Roman"/>
                        </a:rPr>
                        <m:t>i</m:t>
                      </m:r>
                      <m:r>
                        <m:rPr>
                          <m:nor/>
                        </m:rPr>
                        <a:rPr lang="en-US" altLang="zh-TW" sz="2200">
                          <a:solidFill>
                            <a:srgbClr val="000000"/>
                          </a:solidFill>
                          <a:latin typeface="Times New Roman"/>
                        </a:rPr>
                        <m:t>,</m:t>
                      </m:r>
                      <m:r>
                        <m:rPr>
                          <m:nor/>
                        </m:rPr>
                        <a:rPr lang="en-US" altLang="zh-TW" sz="2200" i="1">
                          <a:solidFill>
                            <a:srgbClr val="000000"/>
                          </a:solidFill>
                          <a:latin typeface="Times New Roman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2200" i="1" spc="200">
                          <a:solidFill>
                            <a:srgbClr val="000000"/>
                          </a:solidFill>
                          <a:latin typeface="Times New Roman"/>
                        </a:rPr>
                        <m:t>j</m:t>
                      </m:r>
                      <m:r>
                        <m:rPr>
                          <m:nor/>
                        </m:rPr>
                        <a:rPr lang="en-US" altLang="zh-TW" sz="2200">
                          <a:solidFill>
                            <a:srgbClr val="000000"/>
                          </a:solidFill>
                          <a:latin typeface="Times New Roman"/>
                        </a:rPr>
                        <m:t>]</m:t>
                      </m:r>
                      <m:r>
                        <a:rPr lang="en-US" altLang="zh-TW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  <m:brk m:alnAt="7"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/>
                                  </a:rPr>
                                  <m:t>0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altLang="zh-TW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TW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                                        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i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Symbol" panose="05050102010706020507" pitchFamily="18" charset="2"/>
                                  </a:rPr>
                                  <m:t>=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0 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or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spc="3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Symbol" panose="05050102010706020507" pitchFamily="18" charset="2"/>
                                  </a:rPr>
                                  <m:t>=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0,       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200" i="1">
                                    <a:solidFill>
                                      <a:srgbClr val="000000"/>
                                    </a:solidFill>
                                    <a:latin typeface="Times New Roman"/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/>
                                  </a:rPr>
                                  <m:t>[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spc="150">
                                    <a:solidFill>
                                      <a:srgbClr val="000000"/>
                                    </a:solidFill>
                                    <a:latin typeface="Times New Roman"/>
                                  </a:rPr>
                                  <m:t>i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/>
                                  </a:rPr>
                                  <m:t>1,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>
                                    <a:solidFill>
                                      <a:srgbClr val="000000"/>
                                    </a:solidFill>
                                    <a:latin typeface="Times New Roman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spc="200">
                                    <a:solidFill>
                                      <a:srgbClr val="000000"/>
                                    </a:solidFill>
                                    <a:latin typeface="Times New Roman"/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/>
                                  </a:rPr>
                                  <m:t>1]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spc="200">
                                    <a:solidFill>
                                      <a:srgbClr val="000000"/>
                                    </a:solidFill>
                                    <a:latin typeface="Symbol" panose="05050102010706020507" pitchFamily="18" charset="2"/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/>
                                  </a:rPr>
                                  <m:t>1               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i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Symbol" panose="05050102010706020507" pitchFamily="18" charset="2"/>
                                    <a:ea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and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x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baseline="-2500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i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Symbol" panose="05050102010706020507" pitchFamily="18" charset="2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y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spc="300" baseline="-2500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/>
                                  </a:rPr>
                                  <m:t>max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>
                                    <a:solidFill>
                                      <a:srgbClr val="000000"/>
                                    </a:solidFill>
                                    <a:latin typeface="Times New Roman"/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/>
                                  </a:rPr>
                                  <m:t>[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spc="150">
                                    <a:solidFill>
                                      <a:srgbClr val="000000"/>
                                    </a:solidFill>
                                    <a:latin typeface="Times New Roman"/>
                                  </a:rPr>
                                  <m:t>i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/>
                                  </a:rPr>
                                  <m:t>,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>
                                    <a:solidFill>
                                      <a:srgbClr val="000000"/>
                                    </a:solidFill>
                                    <a:latin typeface="Times New Roman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spc="200">
                                    <a:solidFill>
                                      <a:srgbClr val="000000"/>
                                    </a:solidFill>
                                    <a:latin typeface="Times New Roman"/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/>
                                  </a:rPr>
                                  <m:t>1],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>
                                    <a:solidFill>
                                      <a:srgbClr val="000000"/>
                                    </a:solidFill>
                                    <a:latin typeface="Times New Roman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>
                                    <a:solidFill>
                                      <a:srgbClr val="000000"/>
                                    </a:solidFill>
                                    <a:latin typeface="Times New Roman"/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/>
                                  </a:rPr>
                                  <m:t>[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spc="150">
                                    <a:solidFill>
                                      <a:srgbClr val="000000"/>
                                    </a:solidFill>
                                    <a:latin typeface="Times New Roman"/>
                                  </a:rPr>
                                  <m:t>i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/>
                                  </a:rPr>
                                  <m:t>1,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>
                                    <a:solidFill>
                                      <a:srgbClr val="000000"/>
                                    </a:solidFill>
                                    <a:latin typeface="Times New Roman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spc="200">
                                    <a:solidFill>
                                      <a:srgbClr val="000000"/>
                                    </a:solidFill>
                                    <a:latin typeface="Times New Roman"/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/>
                                  </a:rPr>
                                  <m:t>])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i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Symbol" panose="05050102010706020507" pitchFamily="18" charset="2"/>
                                    <a:ea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and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x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baseline="-2500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i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en-US" altLang="zh-TW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  <a:sym typeface="Symbol" panose="05050102010706020507" pitchFamily="18" charset="2"/>
                                  </a:rPr>
                                  <m:t>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y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spc="300" baseline="-2500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.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" name="內容版面配置區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1471" y="1268413"/>
                <a:ext cx="8281058" cy="3600587"/>
              </a:xfrm>
              <a:blipFill>
                <a:blip r:embed="rId2"/>
                <a:stretch>
                  <a:fillRect l="-442" t="-508" b="-321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49111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An Iterative Algorithm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725287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Step 3: Computing the Length of an LCS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內容版面配置區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>
                    <a:solidFill>
                      <a:srgbClr val="0000FF"/>
                    </a:solidFill>
                    <a:ea typeface="細明體" panose="02020509000000000000" pitchFamily="49" charset="-120"/>
                  </a:rPr>
                  <a:t>void</a:t>
                </a: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</a:t>
                </a:r>
                <a:r>
                  <a:rPr lang="en-US" altLang="zh-TW" dirty="0" err="1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lcsLength</a:t>
                </a: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()</a:t>
                </a:r>
              </a:p>
              <a:p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{</a:t>
                </a:r>
              </a:p>
              <a:p>
                <a:r>
                  <a:rPr lang="nn-NO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  </a:t>
                </a:r>
                <a:r>
                  <a:rPr lang="nn-NO" altLang="zh-TW" dirty="0">
                    <a:solidFill>
                      <a:srgbClr val="0000FF"/>
                    </a:solidFill>
                    <a:ea typeface="細明體" panose="02020509000000000000" pitchFamily="49" charset="-120"/>
                  </a:rPr>
                  <a:t>for</a:t>
                </a:r>
                <a:r>
                  <a:rPr lang="nn-NO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( </a:t>
                </a:r>
                <a:r>
                  <a:rPr lang="nn-NO" altLang="zh-TW" dirty="0">
                    <a:solidFill>
                      <a:srgbClr val="0000FF"/>
                    </a:solidFill>
                    <a:ea typeface="細明體" panose="02020509000000000000" pitchFamily="49" charset="-120"/>
                  </a:rPr>
                  <a:t>int</a:t>
                </a:r>
                <a:r>
                  <a:rPr lang="nn-NO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i = 1; i &lt;= m; i++ )</a:t>
                </a:r>
              </a:p>
              <a:p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     c[ i ][ 0 ] = 0;</a:t>
                </a:r>
              </a:p>
              <a:p>
                <a:endParaRPr lang="zh-TW" altLang="en-US" dirty="0">
                  <a:solidFill>
                    <a:srgbClr val="000000"/>
                  </a:solidFill>
                  <a:ea typeface="細明體" panose="02020509000000000000" pitchFamily="49" charset="-120"/>
                </a:endParaRPr>
              </a:p>
              <a:p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  </a:t>
                </a:r>
                <a:r>
                  <a:rPr lang="en-US" altLang="zh-TW" dirty="0">
                    <a:solidFill>
                      <a:srgbClr val="0000FF"/>
                    </a:solidFill>
                    <a:ea typeface="細明體" panose="02020509000000000000" pitchFamily="49" charset="-120"/>
                  </a:rPr>
                  <a:t>for</a:t>
                </a: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( </a:t>
                </a:r>
                <a:r>
                  <a:rPr lang="en-US" altLang="zh-TW" dirty="0">
                    <a:solidFill>
                      <a:srgbClr val="0000FF"/>
                    </a:solidFill>
                    <a:ea typeface="細明體" panose="02020509000000000000" pitchFamily="49" charset="-120"/>
                  </a:rPr>
                  <a:t>int</a:t>
                </a: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j = 0; j &lt;= n; </a:t>
                </a:r>
                <a:r>
                  <a:rPr lang="en-US" altLang="zh-TW" dirty="0" err="1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j++</a:t>
                </a: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)</a:t>
                </a:r>
              </a:p>
              <a:p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     c[ 0 ][ j ] = 0;</a:t>
                </a:r>
              </a:p>
              <a:p>
                <a:endParaRPr lang="zh-TW" altLang="en-US" dirty="0">
                  <a:solidFill>
                    <a:srgbClr val="000000"/>
                  </a:solidFill>
                  <a:ea typeface="細明體" panose="02020509000000000000" pitchFamily="49" charset="-120"/>
                </a:endParaRPr>
              </a:p>
              <a:p>
                <a:r>
                  <a:rPr lang="nn-NO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  </a:t>
                </a:r>
                <a:r>
                  <a:rPr lang="nn-NO" altLang="zh-TW" dirty="0">
                    <a:solidFill>
                      <a:srgbClr val="0000FF"/>
                    </a:solidFill>
                    <a:ea typeface="細明體" panose="02020509000000000000" pitchFamily="49" charset="-120"/>
                  </a:rPr>
                  <a:t>for</a:t>
                </a:r>
                <a:r>
                  <a:rPr lang="nn-NO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( </a:t>
                </a:r>
                <a:r>
                  <a:rPr lang="nn-NO" altLang="zh-TW" dirty="0">
                    <a:solidFill>
                      <a:srgbClr val="0000FF"/>
                    </a:solidFill>
                    <a:ea typeface="細明體" panose="02020509000000000000" pitchFamily="49" charset="-120"/>
                  </a:rPr>
                  <a:t>int</a:t>
                </a:r>
                <a:r>
                  <a:rPr lang="nn-NO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i = 1; i &lt;= m; i++ )</a:t>
                </a:r>
              </a:p>
              <a:p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     </a:t>
                </a:r>
                <a:r>
                  <a:rPr lang="en-US" altLang="zh-TW" dirty="0">
                    <a:solidFill>
                      <a:srgbClr val="0000FF"/>
                    </a:solidFill>
                    <a:ea typeface="細明體" panose="02020509000000000000" pitchFamily="49" charset="-120"/>
                  </a:rPr>
                  <a:t>for</a:t>
                </a: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( </a:t>
                </a:r>
                <a:r>
                  <a:rPr lang="en-US" altLang="zh-TW" dirty="0">
                    <a:solidFill>
                      <a:srgbClr val="0000FF"/>
                    </a:solidFill>
                    <a:ea typeface="細明體" panose="02020509000000000000" pitchFamily="49" charset="-120"/>
                  </a:rPr>
                  <a:t>int</a:t>
                </a: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j = 1; j &lt;= n; </a:t>
                </a:r>
                <a:r>
                  <a:rPr lang="en-US" altLang="zh-TW" dirty="0" err="1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j++</a:t>
                </a: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)</a:t>
                </a:r>
              </a:p>
              <a:p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        </a:t>
                </a:r>
                <a:r>
                  <a:rPr lang="en-US" altLang="zh-TW" dirty="0">
                    <a:solidFill>
                      <a:srgbClr val="0000FF"/>
                    </a:solidFill>
                    <a:ea typeface="細明體" panose="02020509000000000000" pitchFamily="49" charset="-120"/>
                  </a:rPr>
                  <a:t>if</a:t>
                </a:r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( x[ i ] == y[ j ] )</a:t>
                </a:r>
              </a:p>
              <a:p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           c[ i ][ j ] = c[ i - 1 ][ j - 1 ] + 1;</a:t>
                </a:r>
              </a:p>
              <a:p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        </a:t>
                </a:r>
                <a:r>
                  <a:rPr lang="en-US" altLang="zh-TW" dirty="0">
                    <a:solidFill>
                      <a:srgbClr val="0000FF"/>
                    </a:solidFill>
                    <a:ea typeface="細明體" panose="02020509000000000000" pitchFamily="49" charset="-120"/>
                  </a:rPr>
                  <a:t>else</a:t>
                </a:r>
                <a:endParaRPr lang="en-US" altLang="zh-TW" dirty="0">
                  <a:solidFill>
                    <a:srgbClr val="000000"/>
                  </a:solidFill>
                  <a:ea typeface="細明體" panose="02020509000000000000" pitchFamily="49" charset="-120"/>
                </a:endParaRPr>
              </a:p>
              <a:p>
                <a:r>
                  <a:rPr lang="pl-PL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            c[ i ][ j ] = max( c[ i - 1 ][ j ], c[ i ][ j - 1 ] );</a:t>
                </a:r>
              </a:p>
              <a:p>
                <a:r>
                  <a:rPr lang="en-US" altLang="zh-TW" dirty="0">
                    <a:solidFill>
                      <a:srgbClr val="000000"/>
                    </a:solidFill>
                    <a:ea typeface="細明體" panose="02020509000000000000" pitchFamily="49" charset="-120"/>
                  </a:rPr>
                  <a:t>}</a:t>
                </a:r>
              </a:p>
              <a:p>
                <a:endParaRPr lang="en-US" altLang="zh-TW" dirty="0">
                  <a:solidFill>
                    <a:srgbClr val="000000"/>
                  </a:solidFill>
                  <a:ea typeface="細明體" panose="02020509000000000000" pitchFamily="49" charset="-12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sz="2200" i="1">
                          <a:solidFill>
                            <a:srgbClr val="000000"/>
                          </a:solidFill>
                          <a:latin typeface="Times New Roman"/>
                        </a:rPr>
                        <m:t>c</m:t>
                      </m:r>
                      <m:r>
                        <m:rPr>
                          <m:nor/>
                        </m:rPr>
                        <a:rPr lang="en-US" altLang="zh-TW" sz="2200">
                          <a:solidFill>
                            <a:srgbClr val="000000"/>
                          </a:solidFill>
                          <a:latin typeface="Times New Roman"/>
                        </a:rPr>
                        <m:t>[</m:t>
                      </m:r>
                      <m:r>
                        <m:rPr>
                          <m:nor/>
                        </m:rPr>
                        <a:rPr lang="en-US" altLang="zh-TW" sz="2200" i="1">
                          <a:solidFill>
                            <a:srgbClr val="000000"/>
                          </a:solidFill>
                          <a:latin typeface="Times New Roman"/>
                        </a:rPr>
                        <m:t>i</m:t>
                      </m:r>
                      <m:r>
                        <m:rPr>
                          <m:nor/>
                        </m:rPr>
                        <a:rPr lang="en-US" altLang="zh-TW" sz="2200">
                          <a:solidFill>
                            <a:srgbClr val="000000"/>
                          </a:solidFill>
                          <a:latin typeface="Times New Roman"/>
                        </a:rPr>
                        <m:t>,</m:t>
                      </m:r>
                      <m:r>
                        <m:rPr>
                          <m:nor/>
                        </m:rPr>
                        <a:rPr lang="en-US" altLang="zh-TW" sz="2200" i="1">
                          <a:solidFill>
                            <a:srgbClr val="000000"/>
                          </a:solidFill>
                          <a:latin typeface="Times New Roman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2200" i="1" spc="200">
                          <a:solidFill>
                            <a:srgbClr val="000000"/>
                          </a:solidFill>
                          <a:latin typeface="Times New Roman"/>
                        </a:rPr>
                        <m:t>j</m:t>
                      </m:r>
                      <m:r>
                        <m:rPr>
                          <m:nor/>
                        </m:rPr>
                        <a:rPr lang="en-US" altLang="zh-TW" sz="2200">
                          <a:solidFill>
                            <a:srgbClr val="000000"/>
                          </a:solidFill>
                          <a:latin typeface="Times New Roman"/>
                        </a:rPr>
                        <m:t>]</m:t>
                      </m:r>
                      <m:r>
                        <a:rPr lang="en-US" altLang="zh-TW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  <m:brk m:alnAt="7"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/>
                                  </a:rPr>
                                  <m:t>0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altLang="zh-TW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TW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                                        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i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Symbol" panose="05050102010706020507" pitchFamily="18" charset="2"/>
                                  </a:rPr>
                                  <m:t>=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0 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or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spc="3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Symbol" panose="05050102010706020507" pitchFamily="18" charset="2"/>
                                  </a:rPr>
                                  <m:t>=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0,       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200" i="1">
                                    <a:solidFill>
                                      <a:srgbClr val="000000"/>
                                    </a:solidFill>
                                    <a:latin typeface="Times New Roman"/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/>
                                  </a:rPr>
                                  <m:t>[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spc="150">
                                    <a:solidFill>
                                      <a:srgbClr val="000000"/>
                                    </a:solidFill>
                                    <a:latin typeface="Times New Roman"/>
                                  </a:rPr>
                                  <m:t>i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/>
                                  </a:rPr>
                                  <m:t>1,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>
                                    <a:solidFill>
                                      <a:srgbClr val="000000"/>
                                    </a:solidFill>
                                    <a:latin typeface="Times New Roman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spc="200">
                                    <a:solidFill>
                                      <a:srgbClr val="000000"/>
                                    </a:solidFill>
                                    <a:latin typeface="Times New Roman"/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/>
                                  </a:rPr>
                                  <m:t>1]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spc="200">
                                    <a:solidFill>
                                      <a:srgbClr val="000000"/>
                                    </a:solidFill>
                                    <a:latin typeface="Symbol" panose="05050102010706020507" pitchFamily="18" charset="2"/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/>
                                  </a:rPr>
                                  <m:t>1               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i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Symbol" panose="05050102010706020507" pitchFamily="18" charset="2"/>
                                    <a:ea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and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x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baseline="-2500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i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Symbol" panose="05050102010706020507" pitchFamily="18" charset="2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y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spc="300" baseline="-2500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/>
                                  </a:rPr>
                                  <m:t>max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>
                                    <a:solidFill>
                                      <a:srgbClr val="000000"/>
                                    </a:solidFill>
                                    <a:latin typeface="Times New Roman"/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/>
                                  </a:rPr>
                                  <m:t>[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spc="150">
                                    <a:solidFill>
                                      <a:srgbClr val="000000"/>
                                    </a:solidFill>
                                    <a:latin typeface="Times New Roman"/>
                                  </a:rPr>
                                  <m:t>i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/>
                                  </a:rPr>
                                  <m:t>,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>
                                    <a:solidFill>
                                      <a:srgbClr val="000000"/>
                                    </a:solidFill>
                                    <a:latin typeface="Times New Roman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spc="200">
                                    <a:solidFill>
                                      <a:srgbClr val="000000"/>
                                    </a:solidFill>
                                    <a:latin typeface="Times New Roman"/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/>
                                  </a:rPr>
                                  <m:t>1],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>
                                    <a:solidFill>
                                      <a:srgbClr val="000000"/>
                                    </a:solidFill>
                                    <a:latin typeface="Times New Roman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>
                                    <a:solidFill>
                                      <a:srgbClr val="000000"/>
                                    </a:solidFill>
                                    <a:latin typeface="Times New Roman"/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/>
                                  </a:rPr>
                                  <m:t>[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spc="150">
                                    <a:solidFill>
                                      <a:srgbClr val="000000"/>
                                    </a:solidFill>
                                    <a:latin typeface="Times New Roman"/>
                                  </a:rPr>
                                  <m:t>i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/>
                                  </a:rPr>
                                  <m:t>1,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>
                                    <a:solidFill>
                                      <a:srgbClr val="000000"/>
                                    </a:solidFill>
                                    <a:latin typeface="Times New Roman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spc="200">
                                    <a:solidFill>
                                      <a:srgbClr val="000000"/>
                                    </a:solidFill>
                                    <a:latin typeface="Times New Roman"/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/>
                                  </a:rPr>
                                  <m:t>])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i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標楷體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Symbol" panose="05050102010706020507" pitchFamily="18" charset="2"/>
                                    <a:ea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and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x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baseline="-2500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i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en-US" altLang="zh-TW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  <a:sym typeface="Symbol" panose="05050102010706020507" pitchFamily="18" charset="2"/>
                                  </a:rPr>
                                  <m:t>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y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 i="1" spc="300" baseline="-2500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200">
                                    <a:solidFill>
                                      <a:srgbClr val="000000"/>
                                    </a:solidFill>
                                    <a:latin typeface="Times New Roman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.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" name="內容版面配置區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42" t="-363" r="-7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57932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Step 3: Computing the Length of an LCS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lcsLength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1; i &lt;= m;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c[ i ][ 0 ] = 0;</a:t>
            </a:r>
          </a:p>
          <a:p>
            <a:pPr lvl="0"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0; j &lt;= n;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c[ 0 ][ j ] = 0;</a:t>
            </a:r>
          </a:p>
          <a:p>
            <a:pPr lvl="0"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1; i &lt;= m;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1; j &lt;= n;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x[ i ] == y[ j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c[ i ][ j ] = c[ i - 1 ][ j - 1 ] + 1;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pl-P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c[ i ][ j ] = max( c[ i - 1 ][ j ], c[ i ][ j - 1 ]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5098330"/>
              </p:ext>
            </p:extLst>
          </p:nvPr>
        </p:nvGraphicFramePr>
        <p:xfrm>
          <a:off x="5472000" y="909000"/>
          <a:ext cx="3240000" cy="36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8768611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82042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91997393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3750025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6459442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5500056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4941588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2228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938029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c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j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30783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i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baseline="-25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y</a:t>
                      </a:r>
                      <a:r>
                        <a:rPr lang="en-US" altLang="zh-TW" sz="2000" i="1" baseline="-25000" dirty="0" err="1"/>
                        <a:t>j</a:t>
                      </a:r>
                      <a:endParaRPr lang="zh-TW" altLang="en-US" sz="2000" i="1" baseline="-25000" dirty="0"/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d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685585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US" altLang="zh-TW" sz="2000" b="0" i="1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endParaRPr kumimoji="0" lang="zh-TW" altLang="en-US" sz="20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92094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76258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17043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74738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4055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d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534625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75330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7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841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49266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51448" y="188913"/>
            <a:ext cx="8641103" cy="900112"/>
          </a:xfrm>
        </p:spPr>
        <p:txBody>
          <a:bodyPr/>
          <a:lstStyle/>
          <a:p>
            <a:r>
              <a:rPr lang="en-US" altLang="zh-TW" dirty="0"/>
              <a:t>Step 3: Computing the Length of an LCS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1471" y="1449001"/>
            <a:ext cx="8281058" cy="900000"/>
          </a:xfrm>
        </p:spPr>
        <p:txBody>
          <a:bodyPr rIns="36000"/>
          <a:lstStyle/>
          <a:p>
            <a:pPr>
              <a:spcBef>
                <a:spcPts val="0"/>
              </a:spcBef>
              <a:tabLst>
                <a:tab pos="270000" algn="r"/>
                <a:tab pos="540000" algn="l"/>
                <a:tab pos="990000" algn="l"/>
                <a:tab pos="1440000" algn="l"/>
                <a:tab pos="1890000" algn="l"/>
              </a:tabLst>
            </a:pPr>
            <a:r>
              <a:rPr lang="en-US" altLang="zh-TW" sz="2200" dirty="0"/>
              <a:t>The worst-case time complexity of the function is </a:t>
            </a:r>
            <a:r>
              <a:rPr lang="en-US" altLang="zh-TW" sz="2200" dirty="0">
                <a:latin typeface="Symbol" panose="05050102010706020507" pitchFamily="18" charset="2"/>
              </a:rPr>
              <a:t>Q</a:t>
            </a:r>
            <a:r>
              <a:rPr lang="en-US" altLang="zh-TW" sz="2200" dirty="0"/>
              <a:t>(</a:t>
            </a:r>
            <a:r>
              <a:rPr lang="en-US" altLang="zh-TW" sz="2200" i="1" dirty="0" err="1"/>
              <a:t>mn</a:t>
            </a:r>
            <a:r>
              <a:rPr lang="en-US" altLang="zh-TW" sz="2200" dirty="0"/>
              <a:t>), since each table entry takes </a:t>
            </a:r>
            <a:r>
              <a:rPr lang="en-US" altLang="zh-TW" sz="2200" dirty="0">
                <a:solidFill>
                  <a:srgbClr val="000000"/>
                </a:solidFill>
                <a:latin typeface="Symbol" panose="05050102010706020507" pitchFamily="18" charset="2"/>
              </a:rPr>
              <a:t>Q</a:t>
            </a:r>
            <a:r>
              <a:rPr lang="en-US" altLang="zh-TW" sz="2200" dirty="0">
                <a:solidFill>
                  <a:srgbClr val="000000"/>
                </a:solidFill>
              </a:rPr>
              <a:t>(1)</a:t>
            </a:r>
            <a:r>
              <a:rPr lang="en-US" altLang="zh-TW" sz="2200" dirty="0"/>
              <a:t> time to compute.</a:t>
            </a:r>
            <a:endParaRPr lang="zh-TW" altLang="en-US" sz="2200" dirty="0"/>
          </a:p>
        </p:txBody>
      </p:sp>
    </p:spTree>
    <p:extLst>
      <p:ext uri="{BB962C8B-B14F-4D97-AF65-F5344CB8AC3E}">
        <p14:creationId xmlns:p14="http://schemas.microsoft.com/office/powerpoint/2010/main" val="7712317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Constructing an LCS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printLCS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0 ||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x[ i ] == y[ j ]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chemeClr val="bg1"/>
                </a:solidFill>
                <a:ea typeface="細明體" panose="02020509000000000000" pitchFamily="49" charset="-120"/>
              </a:rPr>
              <a:t>printLCS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( i - 1, j - 1 )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setw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( 3 )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x[ i 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da-DK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da-DK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da-DK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c[ i - 1 ][ j ] &gt;= c[ i ][ j - 1 ]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chemeClr val="bg1"/>
                </a:solidFill>
                <a:ea typeface="細明體" panose="02020509000000000000" pitchFamily="49" charset="-120"/>
              </a:rPr>
              <a:t>printLCS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( i - 1, j )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chemeClr val="bg1"/>
                </a:solidFill>
                <a:ea typeface="細明體" panose="02020509000000000000" pitchFamily="49" charset="-120"/>
              </a:rPr>
              <a:t>printLCS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( i, j - 1 )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518780"/>
              </p:ext>
            </p:extLst>
          </p:nvPr>
        </p:nvGraphicFramePr>
        <p:xfrm>
          <a:off x="5472000" y="909000"/>
          <a:ext cx="3240000" cy="36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8768611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82042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91997393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3750025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6459442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5500056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4941588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2228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938029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c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j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30783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i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baseline="-25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y</a:t>
                      </a:r>
                      <a:r>
                        <a:rPr lang="en-US" altLang="zh-TW" sz="2000" i="1" baseline="-25000" dirty="0" err="1"/>
                        <a:t>j</a:t>
                      </a:r>
                      <a:endParaRPr lang="zh-TW" altLang="en-US" sz="2000" i="1" baseline="-25000" dirty="0"/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d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685585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US" altLang="zh-TW" sz="2000" b="0" i="1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endParaRPr kumimoji="0" lang="zh-TW" altLang="en-US" sz="20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92094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676258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17043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74738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24055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d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534625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75330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7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5841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61714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Constructing an LCS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printLCS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0 ||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x[ i ] == y[ j ]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chemeClr val="bg1"/>
                </a:solidFill>
                <a:ea typeface="細明體" panose="02020509000000000000" pitchFamily="49" charset="-120"/>
              </a:rPr>
              <a:t>printLCS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( i - 1, j - 1 )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setw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( 3 )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x[ i 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da-DK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da-DK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da-DK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c[ i - 1 ][ j ] &gt;= c[ i ][ j - 1 ] 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chemeClr val="bg1"/>
                </a:solidFill>
                <a:ea typeface="細明體" panose="02020509000000000000" pitchFamily="49" charset="-120"/>
              </a:rPr>
              <a:t>printLCS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( i - 1, j )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chemeClr val="bg1"/>
                </a:solidFill>
                <a:ea typeface="細明體" panose="02020509000000000000" pitchFamily="49" charset="-120"/>
              </a:rPr>
              <a:t>printLCS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( i, j - 1 )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5472000" y="909000"/>
          <a:ext cx="3240000" cy="36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8768611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82042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91997393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3750025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6459442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5500056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4941588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2228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938029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c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j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30783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i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baseline="-25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y</a:t>
                      </a:r>
                      <a:r>
                        <a:rPr lang="en-US" altLang="zh-TW" sz="2000" i="1" baseline="-25000" dirty="0" err="1"/>
                        <a:t>j</a:t>
                      </a:r>
                      <a:endParaRPr lang="zh-TW" altLang="en-US" sz="2000" i="1" baseline="-25000" dirty="0"/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d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685585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US" altLang="zh-TW" sz="2000" b="0" i="1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endParaRPr kumimoji="0" lang="zh-TW" altLang="en-US" sz="20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8592094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72676258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22717043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14274738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13624055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d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81534625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75330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7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841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93353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Constructing an LCS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printLCS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0 ||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x[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== y[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printLCS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setw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( 3 )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x[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da-DK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da-DK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c[ </a:t>
            </a:r>
            <a:r>
              <a:rPr lang="da-DK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i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- 1 ][ </a:t>
            </a:r>
            <a:r>
              <a:rPr lang="da-DK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&gt;= c[ </a:t>
            </a:r>
            <a:r>
              <a:rPr lang="da-DK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i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][ </a:t>
            </a:r>
            <a:r>
              <a:rPr lang="da-DK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- 1 ]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printLCS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printLCS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5472000" y="909000"/>
          <a:ext cx="3240000" cy="36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8768611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82042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91997393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3750025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6459442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5500056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4941588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2228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938029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c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j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30783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i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baseline="-25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y</a:t>
                      </a:r>
                      <a:r>
                        <a:rPr lang="en-US" altLang="zh-TW" sz="2000" i="1" baseline="-25000" dirty="0" err="1"/>
                        <a:t>j</a:t>
                      </a:r>
                      <a:endParaRPr lang="zh-TW" altLang="en-US" sz="2000" i="1" baseline="-25000" dirty="0"/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d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685585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US" altLang="zh-TW" sz="2000" b="0" i="1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endParaRPr kumimoji="0" lang="zh-TW" altLang="en-US" sz="20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8592094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72676258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22717043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14274738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13624055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d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81534625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75330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7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0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841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53015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Step 4: Constructing an LCS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printLCS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0 ||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x[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== y[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printLCS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setw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( 3 )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x[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da-DK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da-DK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c[ </a:t>
            </a:r>
            <a:r>
              <a:rPr lang="da-DK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i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- 1 ][ </a:t>
            </a:r>
            <a:r>
              <a:rPr lang="da-DK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&gt;= c[ </a:t>
            </a:r>
            <a:r>
              <a:rPr lang="da-DK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i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][ </a:t>
            </a:r>
            <a:r>
              <a:rPr lang="da-DK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printLCS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printLCS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55969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Use One-dimensional Array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868594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Step 3: Computing the Length of an LCS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431471" y="3069000"/>
            <a:ext cx="8281058" cy="3239725"/>
          </a:xfrm>
        </p:spPr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lcsLength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1; i &lt;= m;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c[ i ][ 0 ] = 0;</a:t>
            </a:r>
          </a:p>
          <a:p>
            <a:pPr lvl="0">
              <a:spcBef>
                <a:spcPts val="600"/>
              </a:spcBef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0; j &lt;= n;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c[ 0 ][ j ] = 0;</a:t>
            </a:r>
          </a:p>
          <a:p>
            <a:pPr lvl="0">
              <a:spcBef>
                <a:spcPts val="600"/>
              </a:spcBef>
              <a:buClr>
                <a:srgbClr val="000000"/>
              </a:buClr>
            </a:pPr>
            <a:r>
              <a:rPr lang="nn-NO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1; i &lt;= m;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1; j &lt;= n;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x[ i ] == y[ j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c[ i ][ j ] = c[ i - 1 ][ j - 1 ] + 1;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pl-P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c[ i ][ j ] = max( c[ i - 1 ][ j ], c[ i ][ j - 1 ] );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6225280"/>
              </p:ext>
            </p:extLst>
          </p:nvPr>
        </p:nvGraphicFramePr>
        <p:xfrm>
          <a:off x="5472000" y="549000"/>
          <a:ext cx="3240000" cy="36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8768611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82042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91997393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3750025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6459442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5500056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4941588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2228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938029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c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j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30783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i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baseline="-25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y</a:t>
                      </a:r>
                      <a:r>
                        <a:rPr lang="en-US" altLang="zh-TW" sz="2000" i="1" baseline="-25000" dirty="0" err="1"/>
                        <a:t>j</a:t>
                      </a:r>
                      <a:endParaRPr lang="zh-TW" altLang="en-US" sz="2000" i="1" baseline="-25000" dirty="0"/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d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685585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US" altLang="zh-TW" sz="2000" b="0" i="1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endParaRPr kumimoji="0" lang="zh-TW" altLang="en-US" sz="20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92094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76258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17043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74738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4055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d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534625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75330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7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84118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230639"/>
              </p:ext>
            </p:extLst>
          </p:nvPr>
        </p:nvGraphicFramePr>
        <p:xfrm>
          <a:off x="5472000" y="4329000"/>
          <a:ext cx="32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93174862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0821124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4124325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111601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94473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101356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4083789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9654904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2719881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i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20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y</a:t>
                      </a:r>
                      <a:r>
                        <a:rPr lang="en-US" altLang="zh-TW" sz="2000" i="1" baseline="-25000" dirty="0" err="1"/>
                        <a:t>j</a:t>
                      </a:r>
                      <a:endParaRPr lang="zh-TW" altLang="en-US" sz="2000" i="1" baseline="-25000" dirty="0"/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d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18256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kumimoji="0" lang="zh-TW" altLang="en-US" sz="20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66875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90863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Step 3: Computing the Length of an LCS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lcsLength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1; i &lt;= m;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c[ i ][ 0 ] = 0;</a:t>
            </a:r>
          </a:p>
          <a:p>
            <a:pPr lvl="0"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0; j &lt;= n;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c[ 0 ][ j ] = 0;</a:t>
            </a:r>
          </a:p>
          <a:p>
            <a:pPr lvl="0"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1; i &lt;= m;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1; j &lt;= n;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x[ i ] == y[ j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c[ i ][ j ] = c[ i - 1 ][ j - 1 ] + 1;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pl-P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c[ i ][ j ] = max( c[ i - 1 ][ j ], c[ i ][ j - 1 ]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1888947"/>
              </p:ext>
            </p:extLst>
          </p:nvPr>
        </p:nvGraphicFramePr>
        <p:xfrm>
          <a:off x="5472000" y="729000"/>
          <a:ext cx="3240000" cy="36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8768611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82042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91997393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3750025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6459442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5500056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4941588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2228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938029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c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j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30783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i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baseline="-25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y</a:t>
                      </a:r>
                      <a:r>
                        <a:rPr lang="en-US" altLang="zh-TW" sz="2000" i="1" baseline="-25000" dirty="0" err="1"/>
                        <a:t>j</a:t>
                      </a:r>
                      <a:endParaRPr lang="zh-TW" altLang="en-US" sz="2000" i="1" baseline="-25000" dirty="0"/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d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685585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US" altLang="zh-TW" sz="2000" b="0" i="1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endParaRPr kumimoji="0" lang="zh-TW" altLang="en-US" sz="20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92094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76258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17043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74738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4055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d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534625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75330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7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841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96940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Step 3: Computing the Length of an LCS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lcsLength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1; i &lt;= m;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c[ i ][ 0 ] = 0;</a:t>
            </a:r>
          </a:p>
          <a:p>
            <a:pPr lvl="0"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0; j &lt;= n;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c[ 0 ][ j ] = 0;</a:t>
            </a:r>
          </a:p>
          <a:p>
            <a:pPr lvl="0"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1; i &lt;= m;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1; j &lt;= n;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x[ i ] == y[ j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c[ i ][ j ] = c[ i - 1 ][ j - 1 ] + 1;</a:t>
            </a:r>
          </a:p>
          <a:p>
            <a:pPr lvl="0">
              <a:buClr>
                <a:srgbClr val="000000"/>
              </a:buClr>
            </a:pP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da-DK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da-DK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c[ i - 1 ][ j ] &gt;= c[ i ][ j - 1 ]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c[ i ][ j ] = c[ i - 1 ][ j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c[ i ][ j ] = c[ i ][ j - 1 ];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5746821"/>
              </p:ext>
            </p:extLst>
          </p:nvPr>
        </p:nvGraphicFramePr>
        <p:xfrm>
          <a:off x="5472000" y="729000"/>
          <a:ext cx="3240000" cy="36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8768611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82042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91997393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3750025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6459442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5500056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4941588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2228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938029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c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j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30783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i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baseline="-25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y</a:t>
                      </a:r>
                      <a:r>
                        <a:rPr lang="en-US" altLang="zh-TW" sz="2000" i="1" baseline="-25000" dirty="0" err="1"/>
                        <a:t>j</a:t>
                      </a:r>
                      <a:endParaRPr lang="zh-TW" altLang="en-US" sz="2000" i="1" baseline="-25000" dirty="0"/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d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685585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US" altLang="zh-TW" sz="2000" b="0" i="1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endParaRPr kumimoji="0" lang="zh-TW" altLang="en-US" sz="20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92094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76258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17043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74738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4055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d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534625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75330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7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841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3840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Step 3: Computing the Length of an LCS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lcsLength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1; i &lt;= m;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c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[ i 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[ 0 ] = 0;</a:t>
            </a:r>
          </a:p>
          <a:p>
            <a:pPr lvl="0"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0; j &lt;= n;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c</a:t>
            </a:r>
            <a:r>
              <a:rPr lang="en-US" altLang="zh-TW" dirty="0">
                <a:solidFill>
                  <a:srgbClr val="FFFFFF"/>
                </a:solidFill>
                <a:ea typeface="細明體" panose="02020509000000000000" pitchFamily="49" charset="-120"/>
              </a:rPr>
              <a:t>[ 0 ]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j ] = 0;</a:t>
            </a:r>
          </a:p>
          <a:p>
            <a:pPr lvl="0"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1; i &lt;= m;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1; j &lt;= n;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x[ i ] == y[ j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c</a:t>
            </a:r>
            <a:r>
              <a:rPr lang="en-US" altLang="zh-TW" dirty="0">
                <a:solidFill>
                  <a:srgbClr val="FFFFFF"/>
                </a:solidFill>
                <a:ea typeface="細明體" panose="02020509000000000000" pitchFamily="49" charset="-120"/>
              </a:rPr>
              <a:t>[ i 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j ] = c</a:t>
            </a:r>
            <a:r>
              <a:rPr lang="en-US" altLang="zh-TW" dirty="0">
                <a:solidFill>
                  <a:srgbClr val="FFFFFF"/>
                </a:solidFill>
                <a:ea typeface="細明體" panose="02020509000000000000" pitchFamily="49" charset="-120"/>
              </a:rPr>
              <a:t>[ i - 1 ]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j - 1 ] + 1;</a:t>
            </a:r>
          </a:p>
          <a:p>
            <a:pPr lvl="0">
              <a:buClr>
                <a:srgbClr val="000000"/>
              </a:buClr>
            </a:pP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da-DK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da-DK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c</a:t>
            </a:r>
            <a:r>
              <a:rPr lang="da-DK" altLang="zh-TW" dirty="0">
                <a:solidFill>
                  <a:srgbClr val="FFFFFF"/>
                </a:solidFill>
                <a:ea typeface="細明體" panose="02020509000000000000" pitchFamily="49" charset="-120"/>
              </a:rPr>
              <a:t>[ i - 1 ]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j ] &gt;= c</a:t>
            </a:r>
            <a:r>
              <a:rPr lang="da-DK" altLang="zh-TW" dirty="0">
                <a:solidFill>
                  <a:srgbClr val="FFFFFF"/>
                </a:solidFill>
                <a:ea typeface="細明體" panose="02020509000000000000" pitchFamily="49" charset="-120"/>
              </a:rPr>
              <a:t>[ i ]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j - 1 ]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c</a:t>
            </a:r>
            <a:r>
              <a:rPr lang="en-US" altLang="zh-TW" dirty="0">
                <a:solidFill>
                  <a:srgbClr val="FFFFFF"/>
                </a:solidFill>
                <a:ea typeface="細明體" panose="02020509000000000000" pitchFamily="49" charset="-120"/>
              </a:rPr>
              <a:t>[ i 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j ] = c</a:t>
            </a:r>
            <a:r>
              <a:rPr lang="en-US" altLang="zh-TW" dirty="0">
                <a:solidFill>
                  <a:srgbClr val="FFFFFF"/>
                </a:solidFill>
                <a:ea typeface="細明體" panose="02020509000000000000" pitchFamily="49" charset="-120"/>
              </a:rPr>
              <a:t>[ i - 1 ]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j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c</a:t>
            </a:r>
            <a:r>
              <a:rPr lang="en-US" altLang="zh-TW" dirty="0">
                <a:solidFill>
                  <a:srgbClr val="FFFFFF"/>
                </a:solidFill>
                <a:ea typeface="細明體" panose="02020509000000000000" pitchFamily="49" charset="-120"/>
              </a:rPr>
              <a:t>[ i 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j ] = c</a:t>
            </a:r>
            <a:r>
              <a:rPr lang="en-US" altLang="zh-TW" dirty="0">
                <a:solidFill>
                  <a:srgbClr val="FFFFFF"/>
                </a:solidFill>
                <a:ea typeface="細明體" panose="02020509000000000000" pitchFamily="49" charset="-120"/>
              </a:rPr>
              <a:t>[ i 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j - 1 ];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5746821"/>
              </p:ext>
            </p:extLst>
          </p:nvPr>
        </p:nvGraphicFramePr>
        <p:xfrm>
          <a:off x="5472000" y="729000"/>
          <a:ext cx="3240000" cy="36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8768611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82042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91997393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3750025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6459442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5500056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4941588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2228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938029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c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j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30783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i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baseline="-25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y</a:t>
                      </a:r>
                      <a:r>
                        <a:rPr lang="en-US" altLang="zh-TW" sz="2000" i="1" baseline="-25000" dirty="0" err="1"/>
                        <a:t>j</a:t>
                      </a:r>
                      <a:endParaRPr lang="zh-TW" altLang="en-US" sz="2000" i="1" baseline="-25000" dirty="0"/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d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685585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US" altLang="zh-TW" sz="2000" b="0" i="1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endParaRPr kumimoji="0" lang="zh-TW" altLang="en-US" sz="20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92094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76258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17043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74738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4055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d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534625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75330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7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841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41644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Step 3: Computing the Length of an LCS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lcsLength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FFFFFF"/>
                </a:solidFill>
                <a:ea typeface="細明體" panose="02020509000000000000" pitchFamily="49" charset="-120"/>
              </a:rPr>
              <a:t>   for( int i = 1; i &lt;= m;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FFFFFF"/>
                </a:solidFill>
                <a:ea typeface="細明體" panose="02020509000000000000" pitchFamily="49" charset="-120"/>
              </a:rPr>
              <a:t>      c[ i ][ 0 ] = 0;</a:t>
            </a:r>
          </a:p>
          <a:p>
            <a:pPr lvl="0"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0; j &lt;= n;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c[ j ] = 0;</a:t>
            </a:r>
          </a:p>
          <a:p>
            <a:pPr lvl="0"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1; i &lt;= m;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1; j &lt;= n;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x[ i ] == y[ j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c[ j ] = c[ j - 1 ] + 1;</a:t>
            </a:r>
          </a:p>
          <a:p>
            <a:pPr lvl="0">
              <a:buClr>
                <a:srgbClr val="000000"/>
              </a:buClr>
            </a:pP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da-DK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da-DK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c[ j ] &gt;= c[ j - 1 ]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c[ j ] = c[ j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c[ j ] = c[ j - 1 ];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5746821"/>
              </p:ext>
            </p:extLst>
          </p:nvPr>
        </p:nvGraphicFramePr>
        <p:xfrm>
          <a:off x="5472000" y="729000"/>
          <a:ext cx="3240000" cy="36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8768611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82042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91997393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3750025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6459442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5500056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4941588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2228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938029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c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j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30783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i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baseline="-25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y</a:t>
                      </a:r>
                      <a:r>
                        <a:rPr lang="en-US" altLang="zh-TW" sz="2000" i="1" baseline="-25000" dirty="0" err="1"/>
                        <a:t>j</a:t>
                      </a:r>
                      <a:endParaRPr lang="zh-TW" altLang="en-US" sz="2000" i="1" baseline="-25000" dirty="0"/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d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685585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US" altLang="zh-TW" sz="2000" b="0" i="1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endParaRPr kumimoji="0" lang="zh-TW" altLang="en-US" sz="20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92094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76258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17043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74738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4055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d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534625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75330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7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841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39549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Step 3: Computing the Length of an LCS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lcsLength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FFFFFF"/>
                </a:solidFill>
                <a:ea typeface="細明體" panose="02020509000000000000" pitchFamily="49" charset="-120"/>
              </a:rPr>
              <a:t>   for( int i = 1; i &lt;= m;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FFFFFF"/>
                </a:solidFill>
                <a:ea typeface="細明體" panose="02020509000000000000" pitchFamily="49" charset="-120"/>
              </a:rPr>
              <a:t>      c[ i ][ 0 ] = 0;</a:t>
            </a:r>
          </a:p>
          <a:p>
            <a:pPr lvl="0"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0; j &lt;= n;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c[ j ] = 0;</a:t>
            </a:r>
          </a:p>
          <a:p>
            <a:pPr lvl="0"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1; i &lt;= m;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1; j &lt;= n;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x[ i ] == y[ j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c[ j ] = c[ j - 1 ] + 1;</a:t>
            </a:r>
          </a:p>
          <a:p>
            <a:pPr lvl="0">
              <a:buClr>
                <a:srgbClr val="000000"/>
              </a:buClr>
            </a:pP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da-DK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da-DK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c[ j ] &gt;= c[ j - 1 ]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c[ j ] = c[ j 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c[ j ] = c[ j - 1 ];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5746821"/>
              </p:ext>
            </p:extLst>
          </p:nvPr>
        </p:nvGraphicFramePr>
        <p:xfrm>
          <a:off x="5472000" y="729000"/>
          <a:ext cx="3240000" cy="36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8768611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82042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91997393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3750025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6459442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5500056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4941588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2228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938029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c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j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30783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i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baseline="-25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y</a:t>
                      </a:r>
                      <a:r>
                        <a:rPr lang="en-US" altLang="zh-TW" sz="2000" i="1" baseline="-25000" dirty="0" err="1"/>
                        <a:t>j</a:t>
                      </a:r>
                      <a:endParaRPr lang="zh-TW" altLang="en-US" sz="2000" i="1" baseline="-25000" dirty="0"/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d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685585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US" altLang="zh-TW" sz="2000" b="0" i="1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endParaRPr kumimoji="0" lang="zh-TW" altLang="en-US" sz="20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92094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76258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17043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74738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4055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d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534625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75330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7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841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72108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Step 3: Computing the Length of an LCS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lcsLength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FFFFFF"/>
                </a:solidFill>
                <a:ea typeface="細明體" panose="02020509000000000000" pitchFamily="49" charset="-120"/>
              </a:rPr>
              <a:t>   for( int i = 1; i &lt;= m;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FFFFFF"/>
                </a:solidFill>
                <a:ea typeface="細明體" panose="02020509000000000000" pitchFamily="49" charset="-120"/>
              </a:rPr>
              <a:t>      c[ i ][ 0 ] = 0;</a:t>
            </a:r>
          </a:p>
          <a:p>
            <a:pPr lvl="0"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0; j &lt;= n;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c[ j ] = 0;</a:t>
            </a:r>
          </a:p>
          <a:p>
            <a:pPr lvl="0"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1; i &lt;= m;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1; j &lt;= n;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x[ i ] == y[ j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c[ j ] = c[ j - 1 ] + 1;</a:t>
            </a:r>
          </a:p>
          <a:p>
            <a:pPr lvl="0">
              <a:buClr>
                <a:srgbClr val="000000"/>
              </a:buClr>
            </a:pP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da-DK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da-DK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c[ j ] &lt; c[ j - 1 ]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c[ j ] = c[ j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else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c[ j ] = c[ j - 1 ];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5746821"/>
              </p:ext>
            </p:extLst>
          </p:nvPr>
        </p:nvGraphicFramePr>
        <p:xfrm>
          <a:off x="5472000" y="729000"/>
          <a:ext cx="3240000" cy="36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8768611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82042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91997393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3750025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6459442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5500056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4941588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2228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938029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c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j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30783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i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baseline="-25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y</a:t>
                      </a:r>
                      <a:r>
                        <a:rPr lang="en-US" altLang="zh-TW" sz="2000" i="1" baseline="-25000" dirty="0" err="1"/>
                        <a:t>j</a:t>
                      </a:r>
                      <a:endParaRPr lang="zh-TW" altLang="en-US" sz="2000" i="1" baseline="-25000" dirty="0"/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d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685585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US" altLang="zh-TW" sz="2000" b="0" i="1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endParaRPr kumimoji="0" lang="zh-TW" altLang="en-US" sz="20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92094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76258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17043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74738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4055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d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534625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75330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7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841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466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Step 3: Computing the Length of an LCS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lcsLength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0; j &lt;= n;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c[ j ] = 0;</a:t>
            </a:r>
          </a:p>
          <a:p>
            <a:pPr lvl="0"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1; i &lt;= m;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1; j &lt;= n;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x[ i ] == y[ j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c[ j ] = c[ j - 1 ] + 1;</a:t>
            </a:r>
          </a:p>
          <a:p>
            <a:pPr lvl="0">
              <a:buClr>
                <a:srgbClr val="000000"/>
              </a:buClr>
            </a:pP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da-DK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da-DK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c[ j ] &lt; c[ j - 1 ]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c[ j ] = c[ j - 1 ];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5746821"/>
              </p:ext>
            </p:extLst>
          </p:nvPr>
        </p:nvGraphicFramePr>
        <p:xfrm>
          <a:off x="5472000" y="729000"/>
          <a:ext cx="3240000" cy="36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8768611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82042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91997393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3750025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6459442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5500056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4941588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2228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938029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c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j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30783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i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baseline="-25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y</a:t>
                      </a:r>
                      <a:r>
                        <a:rPr lang="en-US" altLang="zh-TW" sz="2000" i="1" baseline="-25000" dirty="0" err="1"/>
                        <a:t>j</a:t>
                      </a:r>
                      <a:endParaRPr lang="zh-TW" altLang="en-US" sz="2000" i="1" baseline="-25000" dirty="0"/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d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685585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US" altLang="zh-TW" sz="2000" b="0" i="1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endParaRPr kumimoji="0" lang="zh-TW" altLang="en-US" sz="20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92094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76258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17043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74738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4055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d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534625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75330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7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841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78340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Using An 1-d Array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 rIns="36000"/>
          <a:lstStyle/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lcsLength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0; j &lt;= n;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c[ j ] = 0;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1; i &lt;= m; i++ 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1; j &lt;= n;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x[ i ] == y[ j ] 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c[ j ] = c[ j - 1 ] + 1;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da-DK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da-DK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c[ j ] &lt; c[ j - 1 ] 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c[ j ] = c[ j - 1 ];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1935164"/>
              </p:ext>
            </p:extLst>
          </p:nvPr>
        </p:nvGraphicFramePr>
        <p:xfrm>
          <a:off x="5472000" y="1449000"/>
          <a:ext cx="3240000" cy="36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8768611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82042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91997393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3750025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6459442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5500056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4941588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2228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938029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c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j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30783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i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baseline="-25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y</a:t>
                      </a:r>
                      <a:r>
                        <a:rPr lang="en-US" altLang="zh-TW" sz="2000" i="1" baseline="-25000" dirty="0" err="1"/>
                        <a:t>j</a:t>
                      </a:r>
                      <a:endParaRPr lang="zh-TW" altLang="en-US" sz="2000" i="1" baseline="-25000" dirty="0"/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d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685585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US" altLang="zh-TW" sz="2000" b="0" i="1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endParaRPr kumimoji="0" lang="zh-TW" altLang="en-US" sz="20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92094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76258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17043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74738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4055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d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534625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75330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7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84118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5402615"/>
              </p:ext>
            </p:extLst>
          </p:nvPr>
        </p:nvGraphicFramePr>
        <p:xfrm>
          <a:off x="5112000" y="5409000"/>
          <a:ext cx="360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2144097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3174862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0821124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4124325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111601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94473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101356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4083789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9654904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2719881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c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j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1498366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i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20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y</a:t>
                      </a:r>
                      <a:r>
                        <a:rPr lang="en-US" altLang="zh-TW" sz="2000" i="1" baseline="-25000" dirty="0" err="1"/>
                        <a:t>j</a:t>
                      </a:r>
                      <a:endParaRPr lang="zh-TW" altLang="en-US" sz="2000" i="1" baseline="-25000" dirty="0"/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d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18256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US" altLang="zh-TW" sz="2000" b="0" i="1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endParaRPr kumimoji="0" lang="zh-TW" altLang="en-US" sz="20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kumimoji="0" lang="zh-TW" altLang="en-US" sz="20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6875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05209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Using An 1-d Array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 rIns="36000"/>
          <a:lstStyle/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lcsLength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0; j &lt;= n;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c[ j ] = 0;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1; i &lt;= m; i++ 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1; j &lt;= n;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x[ i ] == y[ j ] 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c[ j ] = c[ j - 1 ] + 1;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da-DK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da-DK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c[ j ] &lt; c[ j - 1 ] 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c[ j ] = c[ j - 1 ];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5655847"/>
              </p:ext>
            </p:extLst>
          </p:nvPr>
        </p:nvGraphicFramePr>
        <p:xfrm>
          <a:off x="5472000" y="1449000"/>
          <a:ext cx="3240000" cy="36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8768611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82042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91997393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3750025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6459442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5500056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4941588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2228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938029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c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j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30783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i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baseline="-25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y</a:t>
                      </a:r>
                      <a:r>
                        <a:rPr lang="en-US" altLang="zh-TW" sz="2000" i="1" baseline="-25000" dirty="0" err="1"/>
                        <a:t>j</a:t>
                      </a:r>
                      <a:endParaRPr lang="zh-TW" altLang="en-US" sz="2000" i="1" baseline="-25000" dirty="0"/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d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685585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US" altLang="zh-TW" sz="2000" b="0" i="1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endParaRPr kumimoji="0" lang="zh-TW" altLang="en-US" sz="20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92094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76258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17043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74738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4055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d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534625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75330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7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84118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2160711"/>
              </p:ext>
            </p:extLst>
          </p:nvPr>
        </p:nvGraphicFramePr>
        <p:xfrm>
          <a:off x="5112000" y="5409000"/>
          <a:ext cx="360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2144097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3174862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0821124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4124325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111601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94473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101356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4083789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9654904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2719881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c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j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1498366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i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20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y</a:t>
                      </a:r>
                      <a:r>
                        <a:rPr lang="en-US" altLang="zh-TW" sz="2000" i="1" baseline="-25000" dirty="0" err="1"/>
                        <a:t>j</a:t>
                      </a:r>
                      <a:endParaRPr lang="zh-TW" altLang="en-US" sz="2000" i="1" baseline="-25000" dirty="0"/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d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18256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US" altLang="zh-TW" sz="2000" b="0" i="1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endParaRPr kumimoji="0" lang="zh-TW" altLang="en-US" sz="20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kumimoji="0" lang="zh-TW" altLang="en-US" sz="20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6875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77544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Using An 1-d Array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 rIns="36000"/>
          <a:lstStyle/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lcsLength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0; j &lt;= n;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c[ j ] = 0;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1; i &lt;= m; i++ 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1; j &lt;= n;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x[ i ] == y[ j ] 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c[ j ] = c[ j - 1 ] + 1;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da-DK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da-DK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c[ j ] &lt; c[ j - 1 ] 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c[ j ] = c[ j - 1 ];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121365"/>
              </p:ext>
            </p:extLst>
          </p:nvPr>
        </p:nvGraphicFramePr>
        <p:xfrm>
          <a:off x="5472000" y="1449000"/>
          <a:ext cx="3240000" cy="36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8768611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82042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91997393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3750025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6459442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5500056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4941588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2228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938029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c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j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30783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i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baseline="-25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y</a:t>
                      </a:r>
                      <a:r>
                        <a:rPr lang="en-US" altLang="zh-TW" sz="2000" i="1" baseline="-25000" dirty="0" err="1"/>
                        <a:t>j</a:t>
                      </a:r>
                      <a:endParaRPr lang="zh-TW" altLang="en-US" sz="2000" i="1" baseline="-25000" dirty="0"/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d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685585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US" altLang="zh-TW" sz="2000" b="0" i="1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endParaRPr kumimoji="0" lang="zh-TW" altLang="en-US" sz="20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92094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76258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17043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74738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4055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d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534625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75330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7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84118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5436177"/>
              </p:ext>
            </p:extLst>
          </p:nvPr>
        </p:nvGraphicFramePr>
        <p:xfrm>
          <a:off x="5112000" y="5409000"/>
          <a:ext cx="360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2144097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3174862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0821124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4124325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111601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94473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101356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4083789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9654904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2719881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c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j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1498366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i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20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y</a:t>
                      </a:r>
                      <a:r>
                        <a:rPr lang="en-US" altLang="zh-TW" sz="2000" i="1" baseline="-25000" dirty="0" err="1"/>
                        <a:t>j</a:t>
                      </a:r>
                      <a:endParaRPr lang="zh-TW" altLang="en-US" sz="2000" i="1" baseline="-25000" dirty="0"/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d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18256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US" altLang="zh-TW" sz="2000" b="0" i="1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endParaRPr kumimoji="0" lang="zh-TW" altLang="en-US" sz="20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kumimoji="0" lang="zh-TW" altLang="en-US" sz="20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6875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73084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Using An 1-d Array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 rIns="36000"/>
          <a:lstStyle/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lcsLength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0; j &lt;= n;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c[ j ] = 0;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1; i &lt;= m; i++ 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1; j &lt;= n;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x[ i ] == y[ j ] 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c[ j ] = c[ j - 1 ] + 1;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da-DK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da-DK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c[ j ] &lt; c[ j - 1 ] 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c[ j ] = c[ j - 1 ];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731357"/>
              </p:ext>
            </p:extLst>
          </p:nvPr>
        </p:nvGraphicFramePr>
        <p:xfrm>
          <a:off x="5472000" y="1449000"/>
          <a:ext cx="3240000" cy="36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8768611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82042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91997393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3750025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6459442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5500056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4941588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2228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938029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c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j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30783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i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baseline="-25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y</a:t>
                      </a:r>
                      <a:r>
                        <a:rPr lang="en-US" altLang="zh-TW" sz="2000" i="1" baseline="-25000" dirty="0" err="1"/>
                        <a:t>j</a:t>
                      </a:r>
                      <a:endParaRPr lang="zh-TW" altLang="en-US" sz="2000" i="1" baseline="-25000" dirty="0"/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d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685585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US" altLang="zh-TW" sz="2000" b="0" i="1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endParaRPr kumimoji="0" lang="zh-TW" altLang="en-US" sz="20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92094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76258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17043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74738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4055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d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534625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75330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7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84118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5892333"/>
              </p:ext>
            </p:extLst>
          </p:nvPr>
        </p:nvGraphicFramePr>
        <p:xfrm>
          <a:off x="5112000" y="5409000"/>
          <a:ext cx="360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2144097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3174862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0821124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4124325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111601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94473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101356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4083789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9654904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2719881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c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j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1498366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i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20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y</a:t>
                      </a:r>
                      <a:r>
                        <a:rPr lang="en-US" altLang="zh-TW" sz="2000" i="1" baseline="-25000" dirty="0" err="1"/>
                        <a:t>j</a:t>
                      </a:r>
                      <a:endParaRPr lang="zh-TW" altLang="en-US" sz="2000" i="1" baseline="-25000" dirty="0"/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d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18256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US" altLang="zh-TW" sz="2000" b="0" i="1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endParaRPr kumimoji="0" lang="zh-TW" altLang="en-US" sz="20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kumimoji="0" lang="zh-TW" altLang="en-US" sz="20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6875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97578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Using An 1-d Array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 rIns="36000"/>
          <a:lstStyle/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lcsLength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0; j &lt;= n;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c[ j ] = 0;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1; i &lt;= m; i++ 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1; j &lt;= n;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x[ i ] == y[ j ] 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c[ j ] = c[ j - 1 ] + 1;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da-DK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da-DK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c[ j ] &lt; c[ j - 1 ] 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c[ j ] = c[ j - 1 ];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4828238"/>
              </p:ext>
            </p:extLst>
          </p:nvPr>
        </p:nvGraphicFramePr>
        <p:xfrm>
          <a:off x="5472000" y="1449000"/>
          <a:ext cx="3240000" cy="36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8768611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82042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91997393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3750025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6459442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5500056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4941588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2228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938029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c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j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30783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i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baseline="-25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y</a:t>
                      </a:r>
                      <a:r>
                        <a:rPr lang="en-US" altLang="zh-TW" sz="2000" i="1" baseline="-25000" dirty="0" err="1"/>
                        <a:t>j</a:t>
                      </a:r>
                      <a:endParaRPr lang="zh-TW" altLang="en-US" sz="2000" i="1" baseline="-25000" dirty="0"/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d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685585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US" altLang="zh-TW" sz="2000" b="0" i="1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endParaRPr kumimoji="0" lang="zh-TW" altLang="en-US" sz="20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92094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76258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17043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74738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4055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d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534625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75330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7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84118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3270372"/>
              </p:ext>
            </p:extLst>
          </p:nvPr>
        </p:nvGraphicFramePr>
        <p:xfrm>
          <a:off x="5112000" y="5409000"/>
          <a:ext cx="360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2144097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3174862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0821124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4124325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111601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94473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101356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4083789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9654904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2719881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c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j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1498366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i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20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y</a:t>
                      </a:r>
                      <a:r>
                        <a:rPr lang="en-US" altLang="zh-TW" sz="2000" i="1" baseline="-25000" dirty="0" err="1"/>
                        <a:t>j</a:t>
                      </a:r>
                      <a:endParaRPr lang="zh-TW" altLang="en-US" sz="2000" i="1" baseline="-25000" dirty="0"/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d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18256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US" altLang="zh-TW" sz="2000" b="0" i="1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endParaRPr kumimoji="0" lang="zh-TW" altLang="en-US" sz="20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kumimoji="0" lang="zh-TW" altLang="en-US" sz="20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6875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8650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Using An 1-d Array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 rIns="36000"/>
          <a:lstStyle/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lcsLength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0; j &lt;= n;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c[ j ] = 0;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1; i &lt;= m; i++ 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1; j &lt;= n;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x[ i ] == y[ j ] 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c[ j ] = c[ j - 1 ] + 1;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da-DK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da-DK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c[ j ] &lt; c[ j - 1 ] 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c[ j ] = c[ j - 1 ];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4569783"/>
              </p:ext>
            </p:extLst>
          </p:nvPr>
        </p:nvGraphicFramePr>
        <p:xfrm>
          <a:off x="5472000" y="1449000"/>
          <a:ext cx="3240000" cy="36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8768611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82042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91997393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3750025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6459442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5500056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4941588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2228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938029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c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j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30783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i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baseline="-25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y</a:t>
                      </a:r>
                      <a:r>
                        <a:rPr lang="en-US" altLang="zh-TW" sz="2000" i="1" baseline="-25000" dirty="0" err="1"/>
                        <a:t>j</a:t>
                      </a:r>
                      <a:endParaRPr lang="zh-TW" altLang="en-US" sz="2000" i="1" baseline="-25000" dirty="0"/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d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685585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US" altLang="zh-TW" sz="2000" b="0" i="1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endParaRPr kumimoji="0" lang="zh-TW" altLang="en-US" sz="20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92094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76258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17043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74738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4055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d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534625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75330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7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84118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3873195"/>
              </p:ext>
            </p:extLst>
          </p:nvPr>
        </p:nvGraphicFramePr>
        <p:xfrm>
          <a:off x="5112000" y="5409000"/>
          <a:ext cx="360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2144097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3174862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0821124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4124325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111601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94473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101356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4083789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9654904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2719881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c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j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1498366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i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20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y</a:t>
                      </a:r>
                      <a:r>
                        <a:rPr lang="en-US" altLang="zh-TW" sz="2000" i="1" baseline="-25000" dirty="0" err="1"/>
                        <a:t>j</a:t>
                      </a:r>
                      <a:endParaRPr lang="zh-TW" altLang="en-US" sz="2000" i="1" baseline="-25000" dirty="0"/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d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18256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US" altLang="zh-TW" sz="2000" b="0" i="1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endParaRPr kumimoji="0" lang="zh-TW" altLang="en-US" sz="20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kumimoji="0" lang="zh-TW" altLang="en-US" sz="20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6875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44925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Using An 1-d Array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 rIns="36000"/>
          <a:lstStyle/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lcsLength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0; j &lt;= n;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c[ j ] = 0;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1; i &lt;= m; i++ 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1; j &lt;= n;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x[ i ] == y[ j ] 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c[ j ] = c[ j - 1 ] + 1;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da-DK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da-DK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c[ j ] &lt; c[ j - 1 ] 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c[ j ] = c[ j - 1 ];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8734317"/>
              </p:ext>
            </p:extLst>
          </p:nvPr>
        </p:nvGraphicFramePr>
        <p:xfrm>
          <a:off x="5472000" y="1449000"/>
          <a:ext cx="3240000" cy="36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8768611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82042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91997393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3750025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6459442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5500056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4941588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2228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938029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c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j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30783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i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baseline="-25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y</a:t>
                      </a:r>
                      <a:r>
                        <a:rPr lang="en-US" altLang="zh-TW" sz="2000" i="1" baseline="-25000" dirty="0" err="1"/>
                        <a:t>j</a:t>
                      </a:r>
                      <a:endParaRPr lang="zh-TW" altLang="en-US" sz="2000" i="1" baseline="-25000" dirty="0"/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d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685585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US" altLang="zh-TW" sz="2000" b="0" i="1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endParaRPr kumimoji="0" lang="zh-TW" altLang="en-US" sz="20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92094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76258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17043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74738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4055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d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534625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75330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7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84118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6701998"/>
              </p:ext>
            </p:extLst>
          </p:nvPr>
        </p:nvGraphicFramePr>
        <p:xfrm>
          <a:off x="5112000" y="5409000"/>
          <a:ext cx="360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2144097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3174862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0821124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4124325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111601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94473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101356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4083789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9654904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2719881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c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j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1498366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i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20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y</a:t>
                      </a:r>
                      <a:r>
                        <a:rPr lang="en-US" altLang="zh-TW" sz="2000" i="1" baseline="-25000" dirty="0" err="1"/>
                        <a:t>j</a:t>
                      </a:r>
                      <a:endParaRPr lang="zh-TW" altLang="en-US" sz="2000" i="1" baseline="-25000" dirty="0"/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d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18256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US" altLang="zh-TW" sz="2000" b="0" i="1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endParaRPr kumimoji="0" lang="zh-TW" altLang="en-US" sz="20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kumimoji="0" lang="zh-TW" altLang="en-US" sz="20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6875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47431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19171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Using An 1-d Array</a:t>
            </a:r>
            <a:endParaRPr lang="zh-TW" altLang="en-US" dirty="0"/>
          </a:p>
        </p:txBody>
      </p:sp>
      <p:sp>
        <p:nvSpPr>
          <p:cNvPr id="7" name="內容版面配置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lcsLength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0; j &lt;= n;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c[ j ] = 0;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1; i &lt;= m; i++ )</a:t>
            </a:r>
          </a:p>
          <a:p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1; j &lt;= n;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x[ i ] == y[ j ] )</a:t>
            </a:r>
          </a:p>
          <a:p>
            <a:r>
              <a:rPr lang="pl-P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c[ j ] = c[ j - 1 ] + 1;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c[ j ] &lt; c[ j - 1 ] )</a:t>
            </a:r>
          </a:p>
          <a:p>
            <a:r>
              <a:rPr lang="pl-P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c[ j ] = c[ j - 1 ];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783791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Using An 1-d Array</a:t>
            </a:r>
            <a:endParaRPr lang="zh-TW" altLang="en-US" dirty="0"/>
          </a:p>
        </p:txBody>
      </p:sp>
      <p:sp>
        <p:nvSpPr>
          <p:cNvPr id="7" name="內容版面配置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lcsLength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0; j &lt;= n;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c[ j ] = 0;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1; i &lt;= m; i++ )</a:t>
            </a:r>
          </a:p>
          <a:p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1; j &lt;= n;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x[ i ] == y[ j ] )</a:t>
            </a:r>
          </a:p>
          <a:p>
            <a:r>
              <a:rPr lang="pl-P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c[ j ] = c[ j - 1 ] + 1;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x[ i ] != y[ j ] &amp;&amp; c[ j ] &lt; c[ j - 1 ] )</a:t>
            </a:r>
          </a:p>
          <a:p>
            <a:r>
              <a:rPr lang="pl-P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c[ j ] = c[ j - 1 ];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3074814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Using An 1-d Array</a:t>
            </a:r>
            <a:endParaRPr lang="zh-TW" altLang="en-US" dirty="0"/>
          </a:p>
        </p:txBody>
      </p:sp>
      <p:sp>
        <p:nvSpPr>
          <p:cNvPr id="7" name="內容版面配置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lcsLength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0; j &lt;= n;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c[ j ] = 0;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1; i &lt;= m; i++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1; j &lt;= n;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x[ i ] == y[ j ] )</a:t>
            </a:r>
          </a:p>
          <a:p>
            <a:r>
              <a:rPr lang="pl-P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c[ j ] = c[ j - 1 ] + 1;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1; j &lt;= n;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x[ i ] != y[ j ] &amp;&amp; c[ j ] &lt; c[ j - 1 ] )</a:t>
            </a:r>
          </a:p>
          <a:p>
            <a:r>
              <a:rPr lang="pl-P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c[ j ] = c[ j - 1 ];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658089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lcsLength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0; j &lt;= n;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c[ j ] = 0;</a:t>
            </a:r>
          </a:p>
          <a:p>
            <a:pPr lvl="0"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1; i &lt;= m; i++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1; j &lt;= n;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x[ i ] == y[ j ] )</a:t>
            </a:r>
          </a:p>
          <a:p>
            <a:pPr lvl="0">
              <a:buClr>
                <a:srgbClr val="000000"/>
              </a:buClr>
            </a:pPr>
            <a:r>
              <a:rPr lang="pl-P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c[ j ] = c[ j - 1 ] + 1;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1; j &lt;= n;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x[ i ] != y[ j ] &amp;&amp; c[ j ] &lt; c[ j - 1 ] )</a:t>
            </a:r>
          </a:p>
          <a:p>
            <a:pPr lvl="0">
              <a:buClr>
                <a:srgbClr val="000000"/>
              </a:buClr>
            </a:pPr>
            <a:r>
              <a:rPr lang="pl-P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c[ j ] = c[ j - 1 ];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3698598"/>
              </p:ext>
            </p:extLst>
          </p:nvPr>
        </p:nvGraphicFramePr>
        <p:xfrm>
          <a:off x="5292000" y="549000"/>
          <a:ext cx="3240000" cy="36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8768611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82042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91997393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3750025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6459442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5500056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4941588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2228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938029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c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j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30783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i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baseline="-25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y</a:t>
                      </a:r>
                      <a:r>
                        <a:rPr lang="en-US" altLang="zh-TW" sz="2000" i="1" baseline="-25000" dirty="0" err="1"/>
                        <a:t>j</a:t>
                      </a:r>
                      <a:endParaRPr lang="zh-TW" altLang="en-US" sz="2000" i="1" baseline="-25000" dirty="0"/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d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685585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US" altLang="zh-TW" sz="2000" b="0" i="1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endParaRPr kumimoji="0" lang="zh-TW" altLang="en-US" sz="20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92094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76258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17043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74738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4055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d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534625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75330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7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84118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9449611"/>
              </p:ext>
            </p:extLst>
          </p:nvPr>
        </p:nvGraphicFramePr>
        <p:xfrm>
          <a:off x="792000" y="1629000"/>
          <a:ext cx="360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2144097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3174862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0821124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4124325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111601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94473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101356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4083789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9654904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2719881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c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j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1498366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i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20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y</a:t>
                      </a:r>
                      <a:r>
                        <a:rPr lang="en-US" altLang="zh-TW" sz="2000" i="1" baseline="-25000" dirty="0" err="1"/>
                        <a:t>j</a:t>
                      </a:r>
                      <a:endParaRPr lang="zh-TW" altLang="en-US" sz="2000" i="1" baseline="-25000" dirty="0"/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d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18256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US" altLang="zh-TW" sz="2000" b="0" i="1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endParaRPr kumimoji="0" lang="zh-TW" altLang="en-US" sz="20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endParaRPr kumimoji="0" lang="zh-TW" altLang="en-US" sz="20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6875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07082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lcsLength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0; j &lt;= n;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c[ j ] = 0;</a:t>
            </a:r>
          </a:p>
          <a:p>
            <a:pPr lvl="0"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1; i &lt;= m; i++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1; j &lt;= n;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x[ i ] == y[ j ] )</a:t>
            </a:r>
          </a:p>
          <a:p>
            <a:pPr lvl="0">
              <a:buClr>
                <a:srgbClr val="000000"/>
              </a:buClr>
            </a:pPr>
            <a:r>
              <a:rPr lang="pl-P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c[ j ] = c[ j - 1 ] + 1;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1; j &lt;= n;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x[ i ] != y[ j ] &amp;&amp; c[ j ] &lt; c[ j - 1 ] )</a:t>
            </a:r>
          </a:p>
          <a:p>
            <a:pPr lvl="0">
              <a:buClr>
                <a:srgbClr val="000000"/>
              </a:buClr>
            </a:pPr>
            <a:r>
              <a:rPr lang="pl-P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c[ j ] = c[ j - 1 ];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2092755"/>
              </p:ext>
            </p:extLst>
          </p:nvPr>
        </p:nvGraphicFramePr>
        <p:xfrm>
          <a:off x="5292000" y="549000"/>
          <a:ext cx="3240000" cy="36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8768611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82042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91997393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3750025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6459442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5500056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4941588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2228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938029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c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j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30783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i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baseline="-25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y</a:t>
                      </a:r>
                      <a:r>
                        <a:rPr lang="en-US" altLang="zh-TW" sz="2000" i="1" baseline="-25000" dirty="0" err="1"/>
                        <a:t>j</a:t>
                      </a:r>
                      <a:endParaRPr lang="zh-TW" altLang="en-US" sz="2000" i="1" baseline="-25000" dirty="0"/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d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685585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US" altLang="zh-TW" sz="2000" b="0" i="1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endParaRPr kumimoji="0" lang="zh-TW" altLang="en-US" sz="20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92094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76258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17043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74738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4055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d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534625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75330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7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84118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2199045"/>
              </p:ext>
            </p:extLst>
          </p:nvPr>
        </p:nvGraphicFramePr>
        <p:xfrm>
          <a:off x="792000" y="1629000"/>
          <a:ext cx="360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2144097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3174862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0821124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4124325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111601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94473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101356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4083789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9654904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2719881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c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j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1498366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i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20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y</a:t>
                      </a:r>
                      <a:r>
                        <a:rPr lang="en-US" altLang="zh-TW" sz="2000" i="1" baseline="-25000" dirty="0" err="1"/>
                        <a:t>j</a:t>
                      </a:r>
                      <a:endParaRPr lang="zh-TW" altLang="en-US" sz="2000" i="1" baseline="-25000" dirty="0"/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d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18256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US" altLang="zh-TW" sz="2000" b="0" i="1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endParaRPr kumimoji="0" lang="zh-TW" altLang="en-US" sz="20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endParaRPr kumimoji="0" lang="zh-TW" altLang="en-US" sz="20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6875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327917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lcsLength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0; j &lt;= n;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c[ j ] = 0;</a:t>
            </a:r>
          </a:p>
          <a:p>
            <a:pPr lvl="0"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1; i &lt;= m; i++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1; j &lt;= n;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x[ i ] == y[ j ] )</a:t>
            </a:r>
          </a:p>
          <a:p>
            <a:pPr lvl="0">
              <a:buClr>
                <a:srgbClr val="000000"/>
              </a:buClr>
            </a:pPr>
            <a:r>
              <a:rPr lang="pl-P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c[ j ] = c[ j - 1 ] + 1;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1; j &lt;= n;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x[ i ] != y[ j ] &amp;&amp; c[ j ] &lt; c[ j - 1 ] )</a:t>
            </a:r>
          </a:p>
          <a:p>
            <a:pPr lvl="0">
              <a:buClr>
                <a:srgbClr val="000000"/>
              </a:buClr>
            </a:pPr>
            <a:r>
              <a:rPr lang="pl-P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c[ j ] = c[ j - 1 ];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3899973"/>
              </p:ext>
            </p:extLst>
          </p:nvPr>
        </p:nvGraphicFramePr>
        <p:xfrm>
          <a:off x="5292000" y="549000"/>
          <a:ext cx="3240000" cy="36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8768611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82042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91997393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3750025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6459442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5500056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4941588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2228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938029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c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j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30783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i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baseline="-25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y</a:t>
                      </a:r>
                      <a:r>
                        <a:rPr lang="en-US" altLang="zh-TW" sz="2000" i="1" baseline="-25000" dirty="0" err="1"/>
                        <a:t>j</a:t>
                      </a:r>
                      <a:endParaRPr lang="zh-TW" altLang="en-US" sz="2000" i="1" baseline="-25000" dirty="0"/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d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685585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US" altLang="zh-TW" sz="2000" b="0" i="1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endParaRPr kumimoji="0" lang="zh-TW" altLang="en-US" sz="20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92094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76258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17043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74738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4055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d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534625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75330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7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84118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4957535"/>
              </p:ext>
            </p:extLst>
          </p:nvPr>
        </p:nvGraphicFramePr>
        <p:xfrm>
          <a:off x="792000" y="1629000"/>
          <a:ext cx="360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2144097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3174862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0821124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4124325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111601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94473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101356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4083789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9654904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2719881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c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j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1498366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i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20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y</a:t>
                      </a:r>
                      <a:r>
                        <a:rPr lang="en-US" altLang="zh-TW" sz="2000" i="1" baseline="-25000" dirty="0" err="1"/>
                        <a:t>j</a:t>
                      </a:r>
                      <a:endParaRPr lang="zh-TW" altLang="en-US" sz="2000" i="1" baseline="-25000" dirty="0"/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d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18256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US" altLang="zh-TW" sz="2000" b="0" i="1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endParaRPr kumimoji="0" lang="zh-TW" altLang="en-US" sz="20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endParaRPr kumimoji="0" lang="zh-TW" altLang="en-US" sz="20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6875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869030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lcsLength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0; j &lt;= n;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c[ j ] = 0;</a:t>
            </a:r>
          </a:p>
          <a:p>
            <a:pPr lvl="0"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1; i &lt;= m; i++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n; j &gt;= 1; j--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x[ i ] == y[ j ] )</a:t>
            </a:r>
          </a:p>
          <a:p>
            <a:pPr lvl="0">
              <a:buClr>
                <a:srgbClr val="000000"/>
              </a:buClr>
            </a:pPr>
            <a:r>
              <a:rPr lang="pl-P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c[ j ] = c[ j - 1 ] + 1;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1; j &lt;= n;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x[ i ] != y[ j ] &amp;&amp; c[ j ] &lt; c[ j - 1 ] )</a:t>
            </a:r>
          </a:p>
          <a:p>
            <a:pPr lvl="0">
              <a:buClr>
                <a:srgbClr val="000000"/>
              </a:buClr>
            </a:pPr>
            <a:r>
              <a:rPr lang="pl-P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c[ j ] = c[ j - 1 ];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7898909"/>
              </p:ext>
            </p:extLst>
          </p:nvPr>
        </p:nvGraphicFramePr>
        <p:xfrm>
          <a:off x="5292000" y="549000"/>
          <a:ext cx="3240000" cy="36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8768611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82042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91997393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3750025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6459442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5500056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4941588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2228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938029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c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j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30783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i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baseline="-25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y</a:t>
                      </a:r>
                      <a:r>
                        <a:rPr lang="en-US" altLang="zh-TW" sz="2000" i="1" baseline="-25000" dirty="0" err="1"/>
                        <a:t>j</a:t>
                      </a:r>
                      <a:endParaRPr lang="zh-TW" altLang="en-US" sz="2000" i="1" baseline="-25000" dirty="0"/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d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685585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US" altLang="zh-TW" sz="2000" b="0" i="1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endParaRPr kumimoji="0" lang="zh-TW" altLang="en-US" sz="20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92094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76258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17043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74738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4055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d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534625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75330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7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84118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8636457"/>
              </p:ext>
            </p:extLst>
          </p:nvPr>
        </p:nvGraphicFramePr>
        <p:xfrm>
          <a:off x="792000" y="1629000"/>
          <a:ext cx="360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2144097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3174862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0821124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4124325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111601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94473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101356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4083789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9654904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2719881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c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j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1498366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i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20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y</a:t>
                      </a:r>
                      <a:r>
                        <a:rPr lang="en-US" altLang="zh-TW" sz="2000" i="1" baseline="-25000" dirty="0" err="1"/>
                        <a:t>j</a:t>
                      </a:r>
                      <a:endParaRPr lang="zh-TW" altLang="en-US" sz="2000" i="1" baseline="-25000" dirty="0"/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d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18256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US" altLang="zh-TW" sz="2000" b="0" i="1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endParaRPr kumimoji="0" lang="zh-TW" altLang="en-US" sz="20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endParaRPr kumimoji="0" lang="zh-TW" altLang="en-US" sz="20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6875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89418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lcsLength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0; j &lt;= n;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c[ j ] = 0;</a:t>
            </a:r>
          </a:p>
          <a:p>
            <a:pPr lvl="0"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1; i &lt;= m; i++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n; j &gt;= 1; j--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x[ i ] == y[ j ] )</a:t>
            </a:r>
          </a:p>
          <a:p>
            <a:pPr lvl="0">
              <a:buClr>
                <a:srgbClr val="000000"/>
              </a:buClr>
            </a:pPr>
            <a:r>
              <a:rPr lang="pl-P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c[ j ] = c[ j - 1 ] + 1;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1; j &lt;= n;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x[ i ] != y[ j ] &amp;&amp; c[ j ] &lt; c[ j - 1 ] )</a:t>
            </a:r>
          </a:p>
          <a:p>
            <a:pPr lvl="0">
              <a:buClr>
                <a:srgbClr val="000000"/>
              </a:buClr>
            </a:pPr>
            <a:r>
              <a:rPr lang="pl-P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c[ j ] = c[ j - 1 ];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0360314"/>
              </p:ext>
            </p:extLst>
          </p:nvPr>
        </p:nvGraphicFramePr>
        <p:xfrm>
          <a:off x="5292000" y="549000"/>
          <a:ext cx="3240000" cy="36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8768611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82042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91997393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3750025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6459442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5500056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4941588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2228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938029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c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j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30783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i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baseline="-25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y</a:t>
                      </a:r>
                      <a:r>
                        <a:rPr lang="en-US" altLang="zh-TW" sz="2000" i="1" baseline="-25000" dirty="0" err="1"/>
                        <a:t>j</a:t>
                      </a:r>
                      <a:endParaRPr lang="zh-TW" altLang="en-US" sz="2000" i="1" baseline="-25000" dirty="0"/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d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685585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US" altLang="zh-TW" sz="2000" b="0" i="1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endParaRPr kumimoji="0" lang="zh-TW" altLang="en-US" sz="20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92094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76258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17043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74738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4055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d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534625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75330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7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84118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9697287"/>
              </p:ext>
            </p:extLst>
          </p:nvPr>
        </p:nvGraphicFramePr>
        <p:xfrm>
          <a:off x="792000" y="1629000"/>
          <a:ext cx="360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2144097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3174862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0821124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4124325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111601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94473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101356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4083789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9654904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2719881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c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j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1498366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i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20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y</a:t>
                      </a:r>
                      <a:r>
                        <a:rPr lang="en-US" altLang="zh-TW" sz="2000" i="1" baseline="-25000" dirty="0" err="1"/>
                        <a:t>j</a:t>
                      </a:r>
                      <a:endParaRPr lang="zh-TW" altLang="en-US" sz="2000" i="1" baseline="-25000" dirty="0"/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d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18256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US" altLang="zh-TW" sz="2000" b="0" i="1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endParaRPr kumimoji="0" lang="zh-TW" altLang="en-US" sz="20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endParaRPr kumimoji="0" lang="zh-TW" altLang="en-US" sz="20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6875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892331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lcsLength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0; j &lt;= n;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c[ j ] = 0;</a:t>
            </a:r>
          </a:p>
          <a:p>
            <a:pPr lvl="0"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1; i &lt;= m; i++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n; j &gt;= 1; j--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x[ i ] == y[ j ] )</a:t>
            </a:r>
          </a:p>
          <a:p>
            <a:pPr lvl="0">
              <a:buClr>
                <a:srgbClr val="000000"/>
              </a:buClr>
            </a:pPr>
            <a:r>
              <a:rPr lang="pl-P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c[ j ] = c[ j - 1 ] + 1;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1; j &lt;= n;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x[ i ] != y[ j ] &amp;&amp; c[ j ] &lt; c[ j - 1 ] )</a:t>
            </a:r>
          </a:p>
          <a:p>
            <a:pPr lvl="0">
              <a:buClr>
                <a:srgbClr val="000000"/>
              </a:buClr>
            </a:pPr>
            <a:r>
              <a:rPr lang="pl-P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c[ j ] = c[ j - 1 ];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3630672"/>
              </p:ext>
            </p:extLst>
          </p:nvPr>
        </p:nvGraphicFramePr>
        <p:xfrm>
          <a:off x="5292000" y="549000"/>
          <a:ext cx="3240000" cy="36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8768611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82042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91997393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3750025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6459442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5500056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4941588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2228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938029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c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j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30783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i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baseline="-25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y</a:t>
                      </a:r>
                      <a:r>
                        <a:rPr lang="en-US" altLang="zh-TW" sz="2000" i="1" baseline="-25000" dirty="0" err="1"/>
                        <a:t>j</a:t>
                      </a:r>
                      <a:endParaRPr lang="zh-TW" altLang="en-US" sz="2000" i="1" baseline="-25000" dirty="0"/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d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685585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US" altLang="zh-TW" sz="2000" b="0" i="1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endParaRPr kumimoji="0" lang="zh-TW" altLang="en-US" sz="20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92094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76258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17043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74738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4055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d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534625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75330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7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84118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4553342"/>
              </p:ext>
            </p:extLst>
          </p:nvPr>
        </p:nvGraphicFramePr>
        <p:xfrm>
          <a:off x="792000" y="1629000"/>
          <a:ext cx="360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2144097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3174862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0821124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4124325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111601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94473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101356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4083789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9654904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2719881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c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j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1498366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i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20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y</a:t>
                      </a:r>
                      <a:r>
                        <a:rPr lang="en-US" altLang="zh-TW" sz="2000" i="1" baseline="-25000" dirty="0" err="1"/>
                        <a:t>j</a:t>
                      </a:r>
                      <a:endParaRPr lang="zh-TW" altLang="en-US" sz="2000" i="1" baseline="-25000" dirty="0"/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d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18256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US" altLang="zh-TW" sz="2000" b="0" i="1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endParaRPr kumimoji="0" lang="zh-TW" altLang="en-US" sz="20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endParaRPr kumimoji="0" lang="zh-TW" altLang="en-US" sz="20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6875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174039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lcsLength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0; j &lt;= n;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c[ j ] = 0;</a:t>
            </a:r>
          </a:p>
          <a:p>
            <a:pPr lvl="0"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1; i &lt;= m; i++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n; j &gt;= 1; j--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x[ i ] == y[ j ] )</a:t>
            </a:r>
          </a:p>
          <a:p>
            <a:pPr lvl="0">
              <a:buClr>
                <a:srgbClr val="000000"/>
              </a:buClr>
            </a:pPr>
            <a:r>
              <a:rPr lang="pl-P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c[ j ] = c[ j - 1 ] + 1;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1; j &lt;= n;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x[ i ] != y[ j ] &amp;&amp; c[ j ] &lt; c[ j - 1 ] )</a:t>
            </a:r>
          </a:p>
          <a:p>
            <a:pPr lvl="0">
              <a:buClr>
                <a:srgbClr val="000000"/>
              </a:buClr>
            </a:pPr>
            <a:r>
              <a:rPr lang="pl-P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c[ j ] = c[ j - 1 ];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5954417"/>
              </p:ext>
            </p:extLst>
          </p:nvPr>
        </p:nvGraphicFramePr>
        <p:xfrm>
          <a:off x="5292000" y="549000"/>
          <a:ext cx="3240000" cy="36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8768611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82042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91997393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3750025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6459442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5500056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4941588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2228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938029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c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j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30783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i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baseline="-25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y</a:t>
                      </a:r>
                      <a:r>
                        <a:rPr lang="en-US" altLang="zh-TW" sz="2000" i="1" baseline="-25000" dirty="0" err="1"/>
                        <a:t>j</a:t>
                      </a:r>
                      <a:endParaRPr lang="zh-TW" altLang="en-US" sz="2000" i="1" baseline="-25000" dirty="0"/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d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685585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US" altLang="zh-TW" sz="2000" b="0" i="1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endParaRPr kumimoji="0" lang="zh-TW" altLang="en-US" sz="20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92094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76258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17043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74738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4055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d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534625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75330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7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84118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4177540"/>
              </p:ext>
            </p:extLst>
          </p:nvPr>
        </p:nvGraphicFramePr>
        <p:xfrm>
          <a:off x="792000" y="1629000"/>
          <a:ext cx="360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2144097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3174862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0821124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4124325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111601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94473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101356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4083789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9654904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2719881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c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j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1498366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i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20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y</a:t>
                      </a:r>
                      <a:r>
                        <a:rPr lang="en-US" altLang="zh-TW" sz="2000" i="1" baseline="-25000" dirty="0" err="1"/>
                        <a:t>j</a:t>
                      </a:r>
                      <a:endParaRPr lang="zh-TW" altLang="en-US" sz="2000" i="1" baseline="-25000" dirty="0"/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d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18256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US" altLang="zh-TW" sz="2000" b="0" i="1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endParaRPr kumimoji="0" lang="zh-TW" altLang="en-US" sz="20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endParaRPr kumimoji="0" lang="zh-TW" altLang="en-US" sz="20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6875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062009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lcsLength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0; j &lt;= n;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c[ j ] = 0;</a:t>
            </a:r>
          </a:p>
          <a:p>
            <a:pPr lvl="0"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1; i &lt;= m; i++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n; j &gt;= 1; j--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x[ i ] == y[ j ] )</a:t>
            </a:r>
          </a:p>
          <a:p>
            <a:pPr lvl="0">
              <a:buClr>
                <a:srgbClr val="000000"/>
              </a:buClr>
            </a:pPr>
            <a:r>
              <a:rPr lang="pl-P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c[ j ] = c[ j - 1 ] + 1;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1; j &lt;= n;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x[ i ] != y[ j ] &amp;&amp; c[ j ] &lt; c[ j - 1 ] )</a:t>
            </a:r>
          </a:p>
          <a:p>
            <a:pPr lvl="0">
              <a:buClr>
                <a:srgbClr val="000000"/>
              </a:buClr>
            </a:pPr>
            <a:r>
              <a:rPr lang="pl-P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c[ j ] = c[ j - 1 ];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7752872"/>
              </p:ext>
            </p:extLst>
          </p:nvPr>
        </p:nvGraphicFramePr>
        <p:xfrm>
          <a:off x="5292000" y="549000"/>
          <a:ext cx="3240000" cy="36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8768611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82042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91997393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3750025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6459442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5500056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4941588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2228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938029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c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j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30783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i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baseline="-25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y</a:t>
                      </a:r>
                      <a:r>
                        <a:rPr lang="en-US" altLang="zh-TW" sz="2000" i="1" baseline="-25000" dirty="0" err="1"/>
                        <a:t>j</a:t>
                      </a:r>
                      <a:endParaRPr lang="zh-TW" altLang="en-US" sz="2000" i="1" baseline="-25000" dirty="0"/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d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685585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US" altLang="zh-TW" sz="2000" b="0" i="1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endParaRPr kumimoji="0" lang="zh-TW" altLang="en-US" sz="20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92094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76258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17043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74738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4055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d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534625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75330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7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84118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5738747"/>
              </p:ext>
            </p:extLst>
          </p:nvPr>
        </p:nvGraphicFramePr>
        <p:xfrm>
          <a:off x="792000" y="1629000"/>
          <a:ext cx="360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2144097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3174862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0821124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4124325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111601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94473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101356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4083789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9654904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2719881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c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j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1498366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i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20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y</a:t>
                      </a:r>
                      <a:r>
                        <a:rPr lang="en-US" altLang="zh-TW" sz="2000" i="1" baseline="-25000" dirty="0" err="1"/>
                        <a:t>j</a:t>
                      </a:r>
                      <a:endParaRPr lang="zh-TW" altLang="en-US" sz="2000" i="1" baseline="-25000" dirty="0"/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d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18256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US" altLang="zh-TW" sz="2000" b="0" i="1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endParaRPr kumimoji="0" lang="zh-TW" altLang="en-US" sz="20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endParaRPr kumimoji="0" lang="zh-TW" altLang="en-US" sz="20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6875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857393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lcsLength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0; j &lt;= n;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c[ j ] = 0;</a:t>
            </a:r>
          </a:p>
          <a:p>
            <a:pPr lvl="0"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1; i &lt;= m; i++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n; j &gt;= 1; j--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x[ i ] == y[ j ] )</a:t>
            </a:r>
          </a:p>
          <a:p>
            <a:pPr lvl="0">
              <a:buClr>
                <a:srgbClr val="000000"/>
              </a:buClr>
            </a:pPr>
            <a:r>
              <a:rPr lang="pl-P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c[ j ] = c[ j - 1 ] + 1;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1; j &lt;= n;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x[ i ] != y[ j ] &amp;&amp; c[ j ] &lt; c[ j - 1 ] )</a:t>
            </a:r>
          </a:p>
          <a:p>
            <a:pPr lvl="0">
              <a:buClr>
                <a:srgbClr val="000000"/>
              </a:buClr>
            </a:pPr>
            <a:r>
              <a:rPr lang="pl-P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c[ j ] = c[ j - 1 ];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3333338"/>
              </p:ext>
            </p:extLst>
          </p:nvPr>
        </p:nvGraphicFramePr>
        <p:xfrm>
          <a:off x="5292000" y="549000"/>
          <a:ext cx="3240000" cy="36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8768611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82042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91997393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3750025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6459442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5500056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4941588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2228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938029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c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j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30783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i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baseline="-25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y</a:t>
                      </a:r>
                      <a:r>
                        <a:rPr lang="en-US" altLang="zh-TW" sz="2000" i="1" baseline="-25000" dirty="0" err="1"/>
                        <a:t>j</a:t>
                      </a:r>
                      <a:endParaRPr lang="zh-TW" altLang="en-US" sz="2000" i="1" baseline="-25000" dirty="0"/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d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685585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US" altLang="zh-TW" sz="2000" b="0" i="1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endParaRPr kumimoji="0" lang="zh-TW" altLang="en-US" sz="20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92094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76258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17043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74738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4055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d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534625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75330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7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84118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8618494"/>
              </p:ext>
            </p:extLst>
          </p:nvPr>
        </p:nvGraphicFramePr>
        <p:xfrm>
          <a:off x="792000" y="1629000"/>
          <a:ext cx="360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2144097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3174862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0821124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4124325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111601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94473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101356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4083789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9654904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2719881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c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j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1498366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i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20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y</a:t>
                      </a:r>
                      <a:r>
                        <a:rPr lang="en-US" altLang="zh-TW" sz="2000" i="1" baseline="-25000" dirty="0" err="1"/>
                        <a:t>j</a:t>
                      </a:r>
                      <a:endParaRPr lang="zh-TW" altLang="en-US" sz="2000" i="1" baseline="-25000" dirty="0"/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d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18256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US" altLang="zh-TW" sz="2000" b="0" i="1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endParaRPr kumimoji="0" lang="zh-TW" altLang="en-US" sz="20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endParaRPr kumimoji="0" lang="zh-TW" altLang="en-US" sz="20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6875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23084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lcsLength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0; j &lt;= n;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c[ j ] = 0;</a:t>
            </a:r>
          </a:p>
          <a:p>
            <a:pPr lvl="0"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1; i &lt;= m; i++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n; j &gt;= 1; j--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x[ i ] == y[ j ] )</a:t>
            </a:r>
          </a:p>
          <a:p>
            <a:pPr lvl="0">
              <a:buClr>
                <a:srgbClr val="000000"/>
              </a:buClr>
            </a:pPr>
            <a:r>
              <a:rPr lang="pl-P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c[ j ] = c[ j - 1 ] + 1;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1; j &lt;= n;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x[ i ] != y[ j ] &amp;&amp; c[ j ] &lt; c[ j - 1 ] )</a:t>
            </a:r>
          </a:p>
          <a:p>
            <a:pPr lvl="0">
              <a:buClr>
                <a:srgbClr val="000000"/>
              </a:buClr>
            </a:pPr>
            <a:r>
              <a:rPr lang="pl-P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c[ j ] = c[ j - 1 ];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8822755"/>
              </p:ext>
            </p:extLst>
          </p:nvPr>
        </p:nvGraphicFramePr>
        <p:xfrm>
          <a:off x="5292000" y="549000"/>
          <a:ext cx="3240000" cy="36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8768611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82042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91997393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83750025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6459442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5500056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4941588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2228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938029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c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j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30783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i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baseline="-25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y</a:t>
                      </a:r>
                      <a:r>
                        <a:rPr lang="en-US" altLang="zh-TW" sz="2000" i="1" baseline="-25000" dirty="0" err="1"/>
                        <a:t>j</a:t>
                      </a:r>
                      <a:endParaRPr lang="zh-TW" altLang="en-US" sz="2000" i="1" baseline="-25000" dirty="0"/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d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685585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US" altLang="zh-TW" sz="2000" b="0" i="1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endParaRPr kumimoji="0" lang="zh-TW" altLang="en-US" sz="20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920949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76258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170437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74738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40558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d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534625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75330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7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84118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7112175"/>
              </p:ext>
            </p:extLst>
          </p:nvPr>
        </p:nvGraphicFramePr>
        <p:xfrm>
          <a:off x="792000" y="1629000"/>
          <a:ext cx="360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2144097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3174862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0821124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4124325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111601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94473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101356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4083789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9654904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2719881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c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j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1498366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/>
                        <a:t>i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20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err="1"/>
                        <a:t>y</a:t>
                      </a:r>
                      <a:r>
                        <a:rPr lang="en-US" altLang="zh-TW" sz="2000" i="1" baseline="-25000" dirty="0" err="1"/>
                        <a:t>j</a:t>
                      </a:r>
                      <a:endParaRPr lang="zh-TW" altLang="en-US" sz="2000" i="1" baseline="-25000" dirty="0"/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d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18256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US" altLang="zh-TW" sz="2000" b="0" i="1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endParaRPr kumimoji="0" lang="zh-TW" altLang="en-US" sz="20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endParaRPr kumimoji="0" lang="zh-TW" altLang="en-US" sz="20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</a:pPr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6875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8473848"/>
      </p:ext>
    </p:extLst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新細明體" pitchFamily="18" charset="-12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TM04033929[[fn=石板]]</Template>
  <TotalTime>19946</TotalTime>
  <Words>9597</Words>
  <Application>Microsoft Office PowerPoint</Application>
  <PresentationFormat>如螢幕大小 (4:3)</PresentationFormat>
  <Paragraphs>3670</Paragraphs>
  <Slides>50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50</vt:i4>
      </vt:variant>
    </vt:vector>
  </HeadingPairs>
  <TitlesOfParts>
    <vt:vector size="59" baseType="lpstr">
      <vt:lpstr>細明體</vt:lpstr>
      <vt:lpstr>新細明體</vt:lpstr>
      <vt:lpstr>標楷體</vt:lpstr>
      <vt:lpstr>Cambria Math</vt:lpstr>
      <vt:lpstr>Lucida Console</vt:lpstr>
      <vt:lpstr>Symbol</vt:lpstr>
      <vt:lpstr>Times New Roman</vt:lpstr>
      <vt:lpstr>Wingdings</vt:lpstr>
      <vt:lpstr>Blends</vt:lpstr>
      <vt:lpstr>Dynamic Programming</vt:lpstr>
      <vt:lpstr>Longest Common Subsequence</vt:lpstr>
      <vt:lpstr>Longest Common Subsequence</vt:lpstr>
      <vt:lpstr>Longest Common Subsequence</vt:lpstr>
      <vt:lpstr>Step 1: Characterizing a Longest Common Subsequence</vt:lpstr>
      <vt:lpstr>Step 1: Characterizing a Longest Common Subsequence</vt:lpstr>
      <vt:lpstr>Step 1: Characterizing a Longest Common Subsequence</vt:lpstr>
      <vt:lpstr>Step 2: A Recursive Solution</vt:lpstr>
      <vt:lpstr>Step 2: A Recursive Solution</vt:lpstr>
      <vt:lpstr>A Recursive Algorithm</vt:lpstr>
      <vt:lpstr>Step 3: Computing the Length of an LCS</vt:lpstr>
      <vt:lpstr>Step 3: Computing the Length of an LCS</vt:lpstr>
      <vt:lpstr>An Iterative Algorithm</vt:lpstr>
      <vt:lpstr>Step 3: Computing the Length of an LCS</vt:lpstr>
      <vt:lpstr>Step 3: Computing the Length of an LCS</vt:lpstr>
      <vt:lpstr>Step 3: Computing the Length of an LCS</vt:lpstr>
      <vt:lpstr>Constructing an LCS</vt:lpstr>
      <vt:lpstr>Constructing an LCS</vt:lpstr>
      <vt:lpstr>Constructing an LCS</vt:lpstr>
      <vt:lpstr>Step 4: Constructing an LCS</vt:lpstr>
      <vt:lpstr>Use One-dimensional Array</vt:lpstr>
      <vt:lpstr>Step 3: Computing the Length of an LCS</vt:lpstr>
      <vt:lpstr>Step 3: Computing the Length of an LCS</vt:lpstr>
      <vt:lpstr>Step 3: Computing the Length of an LCS</vt:lpstr>
      <vt:lpstr>Step 3: Computing the Length of an LCS</vt:lpstr>
      <vt:lpstr>Step 3: Computing the Length of an LCS</vt:lpstr>
      <vt:lpstr>Step 3: Computing the Length of an LCS</vt:lpstr>
      <vt:lpstr>Step 3: Computing the Length of an LCS</vt:lpstr>
      <vt:lpstr>Step 3: Computing the Length of an LCS</vt:lpstr>
      <vt:lpstr>Using An 1-d Array</vt:lpstr>
      <vt:lpstr>Using An 1-d Array</vt:lpstr>
      <vt:lpstr>Using An 1-d Array</vt:lpstr>
      <vt:lpstr>Using An 1-d Array</vt:lpstr>
      <vt:lpstr>Using An 1-d Array</vt:lpstr>
      <vt:lpstr>Using An 1-d Array</vt:lpstr>
      <vt:lpstr>Using An 1-d Array</vt:lpstr>
      <vt:lpstr>PowerPoint 簡報</vt:lpstr>
      <vt:lpstr>Using An 1-d Array</vt:lpstr>
      <vt:lpstr>Using An 1-d Array</vt:lpstr>
      <vt:lpstr>Using An 1-d Array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NCTU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Li Tseng-Kuei</dc:creator>
  <cp:lastModifiedBy>james</cp:lastModifiedBy>
  <cp:revision>1024</cp:revision>
  <dcterms:created xsi:type="dcterms:W3CDTF">2001-09-06T13:56:50Z</dcterms:created>
  <dcterms:modified xsi:type="dcterms:W3CDTF">2025-09-17T14:43:53Z</dcterms:modified>
</cp:coreProperties>
</file>