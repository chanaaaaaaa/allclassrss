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5"/>
  </p:notesMasterIdLst>
  <p:sldIdLst>
    <p:sldId id="1805" r:id="rId2"/>
    <p:sldId id="1806" r:id="rId3"/>
    <p:sldId id="1807" r:id="rId4"/>
    <p:sldId id="1808" r:id="rId5"/>
    <p:sldId id="1810" r:id="rId6"/>
    <p:sldId id="1812" r:id="rId7"/>
    <p:sldId id="1861" r:id="rId8"/>
    <p:sldId id="1862" r:id="rId9"/>
    <p:sldId id="1826" r:id="rId10"/>
    <p:sldId id="1828" r:id="rId11"/>
    <p:sldId id="1829" r:id="rId12"/>
    <p:sldId id="1830" r:id="rId13"/>
    <p:sldId id="1831" r:id="rId14"/>
    <p:sldId id="1832" r:id="rId15"/>
    <p:sldId id="1833" r:id="rId16"/>
    <p:sldId id="1834" r:id="rId17"/>
    <p:sldId id="1835" r:id="rId18"/>
    <p:sldId id="1836" r:id="rId19"/>
    <p:sldId id="1837" r:id="rId20"/>
    <p:sldId id="1838" r:id="rId21"/>
    <p:sldId id="1839" r:id="rId22"/>
    <p:sldId id="1860" r:id="rId23"/>
    <p:sldId id="1811" r:id="rId24"/>
    <p:sldId id="1172" r:id="rId25"/>
    <p:sldId id="1607" r:id="rId26"/>
    <p:sldId id="1859" r:id="rId27"/>
    <p:sldId id="1800" r:id="rId28"/>
    <p:sldId id="1801" r:id="rId29"/>
    <p:sldId id="1802" r:id="rId30"/>
    <p:sldId id="1863" r:id="rId31"/>
    <p:sldId id="1855" r:id="rId32"/>
    <p:sldId id="1542" r:id="rId33"/>
    <p:sldId id="1596" r:id="rId34"/>
    <p:sldId id="1544" r:id="rId35"/>
    <p:sldId id="1545" r:id="rId36"/>
    <p:sldId id="1546" r:id="rId37"/>
    <p:sldId id="1547" r:id="rId38"/>
    <p:sldId id="1548" r:id="rId39"/>
    <p:sldId id="1549" r:id="rId40"/>
    <p:sldId id="1550" r:id="rId41"/>
    <p:sldId id="1856" r:id="rId42"/>
    <p:sldId id="1857" r:id="rId43"/>
    <p:sldId id="1858" r:id="rId44"/>
  </p:sldIdLst>
  <p:sldSz cx="9144000" cy="6858000" type="screen4x3"/>
  <p:notesSz cx="6735763" cy="98679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48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50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FF99FF"/>
    <a:srgbClr val="006600"/>
    <a:srgbClr val="0033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73" autoAdjust="0"/>
    <p:restoredTop sz="94660"/>
  </p:normalViewPr>
  <p:slideViewPr>
    <p:cSldViewPr showGuides="1">
      <p:cViewPr varScale="1">
        <p:scale>
          <a:sx n="92" d="100"/>
          <a:sy n="92" d="100"/>
        </p:scale>
        <p:origin x="67" y="163"/>
      </p:cViewPr>
      <p:guideLst>
        <p:guide orient="horz" pos="1253"/>
        <p:guide pos="50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72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65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7888"/>
            <a:ext cx="5389563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757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57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260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F435D5-E76E-4E01-A2C6-4639814C865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37781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1460" y="1989000"/>
            <a:ext cx="8641080" cy="144000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922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972000" y="3609000"/>
            <a:ext cx="7200000" cy="1080000"/>
          </a:xfrm>
        </p:spPr>
        <p:txBody>
          <a:bodyPr/>
          <a:lstStyle>
            <a:lvl1pPr marL="0" indent="0" algn="ctr">
              <a:defRPr sz="4000"/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72000" y="2708910"/>
            <a:ext cx="7200000" cy="144018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82825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909000"/>
            <a:ext cx="3060000" cy="1800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3429000"/>
            <a:ext cx="8280000" cy="28800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6108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189000"/>
            <a:ext cx="8280000" cy="900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269000"/>
            <a:ext cx="8280000" cy="50400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5248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8641"/>
            <a:ext cx="8280000" cy="5760084"/>
          </a:xfrm>
        </p:spPr>
        <p:txBody>
          <a:bodyPr lIns="18000" rIns="18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7942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8641"/>
            <a:ext cx="8280000" cy="5760084"/>
          </a:xfrm>
        </p:spPr>
        <p:txBody>
          <a:bodyPr lIns="90000" rIns="90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9138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549000"/>
            <a:ext cx="7920000" cy="2160000"/>
          </a:xfrm>
        </p:spPr>
        <p:txBody>
          <a:bodyPr lIns="18000" rIns="18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9540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8280000" cy="2160000"/>
          </a:xfrm>
        </p:spPr>
        <p:txBody>
          <a:bodyPr lIns="90000" rIns="72000"/>
          <a:lstStyle>
            <a:lvl1pPr marL="0" indent="0">
              <a:spcBef>
                <a:spcPts val="0"/>
              </a:spcBef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863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548999"/>
            <a:ext cx="7920000" cy="2700001"/>
          </a:xfrm>
        </p:spPr>
        <p:txBody>
          <a:bodyPr lIns="90000" tIns="0" rIns="90000" bIns="0"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2843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2000" y="369000"/>
            <a:ext cx="8640000" cy="6120000"/>
          </a:xfrm>
        </p:spPr>
        <p:txBody>
          <a:bodyPr lIns="90000" rIns="90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48121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792000" y="548641"/>
            <a:ext cx="7560000" cy="3780359"/>
          </a:xfrm>
        </p:spPr>
        <p:txBody>
          <a:bodyPr lIns="18000" rIns="18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05174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8641"/>
            <a:ext cx="8280000" cy="5760084"/>
          </a:xfrm>
        </p:spPr>
        <p:txBody>
          <a:bodyPr lIns="90000" rIns="90000"/>
          <a:lstStyle>
            <a:lvl1pPr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95180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548641"/>
            <a:ext cx="7920000" cy="5760084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40746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369000"/>
            <a:ext cx="7920000" cy="6120000"/>
          </a:xfrm>
        </p:spPr>
        <p:txBody>
          <a:bodyPr lIns="36000" tIns="0" rIns="36000"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95363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012000" y="2709000"/>
            <a:ext cx="2520000" cy="1440000"/>
          </a:xfrm>
        </p:spPr>
        <p:txBody>
          <a:bodyPr anchor="ctr" anchorCtr="0"/>
          <a:lstStyle>
            <a:lvl1pPr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42137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2709000"/>
            <a:ext cx="3060000" cy="1440000"/>
          </a:xfrm>
        </p:spPr>
        <p:txBody>
          <a:bodyPr tIns="18000" bIns="36000" anchor="t" anchorCtr="0"/>
          <a:lstStyle>
            <a:lvl1pPr marL="719138" indent="-719138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97841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652000" y="2709000"/>
            <a:ext cx="2880000" cy="1440000"/>
          </a:xfrm>
        </p:spPr>
        <p:txBody>
          <a:bodyPr rIns="0" anchor="t" anchorCtr="0"/>
          <a:lstStyle>
            <a:lvl1pPr marL="719138" indent="-719138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240683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652000" y="2709000"/>
            <a:ext cx="3240000" cy="1440000"/>
          </a:xfrm>
        </p:spPr>
        <p:txBody>
          <a:bodyPr wrap="square" rIns="0" anchor="t" anchorCtr="0"/>
          <a:lstStyle>
            <a:lvl1pPr marL="719138" indent="-719138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817106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292000" y="2889000"/>
            <a:ext cx="3240000" cy="1080000"/>
          </a:xfrm>
        </p:spPr>
        <p:txBody>
          <a:bodyPr anchor="t" anchorCtr="0"/>
          <a:lstStyle>
            <a:lvl1pPr marL="719138" indent="-719138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249265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112000" y="2889000"/>
            <a:ext cx="3600000" cy="1080000"/>
          </a:xfrm>
        </p:spPr>
        <p:txBody>
          <a:bodyPr anchor="t" anchorCtr="0"/>
          <a:lstStyle>
            <a:lvl1pPr marL="719138" indent="-719138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761123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292000" y="2889000"/>
            <a:ext cx="3600000" cy="1080000"/>
          </a:xfrm>
        </p:spPr>
        <p:txBody>
          <a:bodyPr wrap="square" tIns="0" bIns="0" anchor="ctr" anchorCtr="0"/>
          <a:lstStyle>
            <a:lvl1pPr marL="719138" indent="-719138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24802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932000" y="2889000"/>
            <a:ext cx="3960000" cy="1080000"/>
          </a:xfrm>
        </p:spPr>
        <p:txBody>
          <a:bodyPr wrap="square" tIns="0" bIns="0" anchor="ctr" anchorCtr="0"/>
          <a:lstStyle>
            <a:lvl1pPr marL="719138" indent="-719138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162311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1460" y="1268729"/>
            <a:ext cx="4140540" cy="5039995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2000" y="1268729"/>
            <a:ext cx="4140540" cy="5039995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549001"/>
            <a:ext cx="3960000" cy="5759724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2000" y="549001"/>
            <a:ext cx="3960000" cy="5759724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10618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792000" y="549001"/>
            <a:ext cx="7560000" cy="90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2000" y="5769000"/>
            <a:ext cx="7920000" cy="539724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204819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612000" y="729001"/>
            <a:ext cx="7920000" cy="90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2000" y="2709000"/>
            <a:ext cx="7920000" cy="1260000"/>
          </a:xfrm>
        </p:spPr>
        <p:txBody>
          <a:bodyPr/>
          <a:lstStyle>
            <a:lvl1pPr>
              <a:defRPr sz="22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87904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52000" y="189000"/>
            <a:ext cx="864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53251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2000" y="1269000"/>
            <a:ext cx="8640000" cy="5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74" r:id="rId3"/>
    <p:sldLayoutId id="2147483708" r:id="rId4"/>
    <p:sldLayoutId id="2147483704" r:id="rId5"/>
    <p:sldLayoutId id="2147483686" r:id="rId6"/>
    <p:sldLayoutId id="2147483703" r:id="rId7"/>
    <p:sldLayoutId id="2147483698" r:id="rId8"/>
    <p:sldLayoutId id="2147483702" r:id="rId9"/>
    <p:sldLayoutId id="2147483696" r:id="rId10"/>
    <p:sldLayoutId id="2147483695" r:id="rId11"/>
    <p:sldLayoutId id="2147483694" r:id="rId12"/>
    <p:sldLayoutId id="2147483692" r:id="rId13"/>
    <p:sldLayoutId id="2147483690" r:id="rId14"/>
    <p:sldLayoutId id="2147483689" r:id="rId15"/>
    <p:sldLayoutId id="2147483688" r:id="rId16"/>
    <p:sldLayoutId id="2147483697" r:id="rId17"/>
    <p:sldLayoutId id="2147483700" r:id="rId18"/>
    <p:sldLayoutId id="2147483706" r:id="rId19"/>
    <p:sldLayoutId id="2147483699" r:id="rId20"/>
    <p:sldLayoutId id="2147483701" r:id="rId21"/>
    <p:sldLayoutId id="2147483705" r:id="rId22"/>
    <p:sldLayoutId id="2147483707" r:id="rId23"/>
    <p:sldLayoutId id="2147483676" r:id="rId24"/>
    <p:sldLayoutId id="2147483693" r:id="rId25"/>
    <p:sldLayoutId id="2147483691" r:id="rId26"/>
    <p:sldLayoutId id="2147483687" r:id="rId27"/>
    <p:sldLayoutId id="2147483678" r:id="rId28"/>
    <p:sldLayoutId id="2147483679" r:id="rId2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Flow </a:t>
            </a:r>
            <a:r>
              <a:rPr lang="en-US" altLang="zh-TW" dirty="0" smtClean="0"/>
              <a:t>Networks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ct val="4000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A </a:t>
            </a:r>
            <a:r>
              <a:rPr lang="en-US" altLang="zh-TW" i="1" spc="300" dirty="0">
                <a:solidFill>
                  <a:srgbClr val="0000FF"/>
                </a:solidFill>
              </a:rPr>
              <a:t>f</a:t>
            </a:r>
            <a:r>
              <a:rPr lang="en-US" altLang="zh-TW" i="1" dirty="0">
                <a:solidFill>
                  <a:srgbClr val="0000FF"/>
                </a:solidFill>
              </a:rPr>
              <a:t>low network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 is a </a:t>
            </a:r>
            <a:r>
              <a:rPr lang="en-US" altLang="zh-TW" dirty="0">
                <a:solidFill>
                  <a:srgbClr val="FF0000"/>
                </a:solidFill>
              </a:rPr>
              <a:t>directed</a:t>
            </a:r>
            <a:r>
              <a:rPr lang="en-US" altLang="zh-TW" dirty="0">
                <a:solidFill>
                  <a:srgbClr val="000000"/>
                </a:solidFill>
              </a:rPr>
              <a:t> graph in which each edge        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has a 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positive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FF"/>
                </a:solidFill>
              </a:rPr>
              <a:t>capacity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0.</a:t>
            </a:r>
          </a:p>
          <a:p>
            <a:pPr marL="0" lvl="0" indent="0" eaLnBrk="1" hangingPunct="1">
              <a:spcBef>
                <a:spcPct val="4000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If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∉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, we define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0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0" lvl="0" indent="0" eaLnBrk="1" hangingPunct="1">
              <a:spcBef>
                <a:spcPct val="4000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Each flow network contains two distinguished nodes: a </a:t>
            </a:r>
            <a:r>
              <a:rPr lang="en-US" altLang="zh-TW" i="1" dirty="0">
                <a:solidFill>
                  <a:srgbClr val="0000FF"/>
                </a:solidFill>
              </a:rPr>
              <a:t>source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and a </a:t>
            </a:r>
            <a:r>
              <a:rPr lang="en-US" altLang="zh-TW" i="1" dirty="0">
                <a:solidFill>
                  <a:srgbClr val="0000FF"/>
                </a:solidFill>
              </a:rPr>
              <a:t>sink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</a:p>
          <a:p>
            <a:pPr marL="0" lvl="0" indent="0" eaLnBrk="1" hangingPunct="1">
              <a:spcBef>
                <a:spcPct val="40000"/>
              </a:spcBef>
              <a:buClr>
                <a:srgbClr val="3333CC"/>
              </a:buClr>
              <a:defRPr/>
            </a:pPr>
            <a:r>
              <a:rPr lang="en-US" altLang="zh-TW" dirty="0" smtClean="0">
                <a:solidFill>
                  <a:srgbClr val="000000"/>
                </a:solidFill>
              </a:rPr>
              <a:t>For </a:t>
            </a:r>
            <a:r>
              <a:rPr lang="en-US" altLang="zh-TW" dirty="0">
                <a:solidFill>
                  <a:srgbClr val="000000"/>
                </a:solidFill>
              </a:rPr>
              <a:t>convenience, we assume that </a:t>
            </a:r>
            <a:r>
              <a:rPr lang="en-US" altLang="zh-TW" dirty="0">
                <a:solidFill>
                  <a:srgbClr val="FF0000"/>
                </a:solidFill>
              </a:rPr>
              <a:t>each node lies on some path from the source to the sink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96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Flow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2000" y="1269000"/>
                <a:ext cx="8280000" cy="3780000"/>
              </a:xfrm>
            </p:spPr>
            <p:txBody>
              <a:bodyPr/>
              <a:lstStyle/>
              <a:p>
                <a:pPr marL="0" lvl="0" indent="0" eaLnBrk="1" hangingPunct="1">
                  <a:spcBef>
                    <a:spcPts val="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is a real-valued function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f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: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itchFamily="18" charset="0"/>
                    <a:sym typeface="Symbol" pitchFamily="18" charset="2"/>
                  </a:rPr>
                  <a:t>⟶</a:t>
                </a:r>
                <a:r>
                  <a:rPr lang="en-US" altLang="zh-TW" dirty="0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b="1" i="1" dirty="0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R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that satisfies the following three properties:</a:t>
                </a:r>
                <a:endParaRPr lang="en-US" altLang="zh-TW" b="1" i="1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spcBef>
                    <a:spcPts val="240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FF"/>
                    </a:solidFill>
                  </a:rPr>
                  <a:t>Capacity constraint: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For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≤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).</a:t>
                </a:r>
              </a:p>
              <a:p>
                <a:pPr marL="0" lvl="0" indent="0" eaLnBrk="1" hangingPunct="1">
                  <a:spcBef>
                    <a:spcPts val="2400"/>
                  </a:spcBef>
                  <a:spcAft>
                    <a:spcPts val="1200"/>
                  </a:spcAft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FF"/>
                    </a:solidFill>
                  </a:rPr>
                  <a:t>Skew symmetry: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For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1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spcBef>
                    <a:spcPts val="2400"/>
                  </a:spcBef>
                  <a:buClr>
                    <a:srgbClr val="3333CC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Flow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conservation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: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For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all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  <a:sym typeface="Symbol" pitchFamily="18" charset="2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{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},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solidFill>
                                <a:srgbClr val="00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</a:rPr>
                        <m:t>0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FF"/>
                  </a:solidFill>
                </a:endParaRPr>
              </a:p>
              <a:p>
                <a:pPr marL="0" lvl="0" indent="0" eaLnBrk="1" hangingPunct="1">
                  <a:spcBef>
                    <a:spcPts val="0"/>
                  </a:spcBef>
                  <a:buClr>
                    <a:srgbClr val="3333CC"/>
                  </a:buClr>
                </a:pP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spcBef>
                    <a:spcPts val="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When 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∉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there can be no flow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sz="1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0.</a:t>
                </a:r>
                <a:endParaRPr lang="zh-TW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000" y="1269000"/>
                <a:ext cx="8280000" cy="3780000"/>
              </a:xfrm>
              <a:blipFill>
                <a:blip r:embed="rId2"/>
                <a:stretch>
                  <a:fillRect l="-957" t="-1290" b="-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60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smtClean="0"/>
              <a:t>Maximum-flow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 eaLnBrk="1" hangingPunct="1">
                  <a:spcAft>
                    <a:spcPts val="1200"/>
                  </a:spcAft>
                  <a:buClr>
                    <a:srgbClr val="3333CC"/>
                  </a:buClr>
                </a:pPr>
                <a:r>
                  <a:rPr lang="en-US" altLang="zh-TW" dirty="0" smtClean="0">
                    <a:solidFill>
                      <a:srgbClr val="000000"/>
                    </a:solidFill>
                  </a:rPr>
                  <a:t>The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quantity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), which can be positive, zero, or negative, is called the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from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value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b="1" spc="600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i="1" spc="6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b="1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of a flow 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 is defined as</a:t>
                </a:r>
                <a:endParaRPr lang="zh-TW" altLang="en-US" dirty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3333C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i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TW">
                              <a:solidFill>
                                <a:srgbClr val="000000"/>
                              </a:solidFill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spcBef>
                    <a:spcPts val="120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that is, the total flow out of the source.</a:t>
                </a:r>
              </a:p>
              <a:p>
                <a:pPr marL="0" lvl="0" indent="0" eaLnBrk="1" hangingPunct="1">
                  <a:spcBef>
                    <a:spcPct val="50000"/>
                  </a:spcBef>
                  <a:buClr>
                    <a:srgbClr val="3333CC"/>
                  </a:buClr>
                </a:pPr>
                <a:r>
                  <a:rPr lang="en-US" altLang="zh-TW" dirty="0" smtClean="0">
                    <a:solidFill>
                      <a:srgbClr val="000000"/>
                    </a:solidFill>
                  </a:rPr>
                  <a:t>In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maximum-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 problem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the input is a flow network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source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and sink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t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the goal is to find a flow of maximum value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.</a:t>
                </a:r>
                <a:endParaRPr lang="zh-TW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846" r="-2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59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Residual Networks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ct val="500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</a:rPr>
              <a:t>For a flow network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E</a:t>
            </a:r>
            <a:r>
              <a:rPr lang="en-US" altLang="zh-TW" sz="1200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) with source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sink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, and a flow </a:t>
            </a:r>
            <a:r>
              <a:rPr lang="en-US" altLang="zh-TW" sz="1200" dirty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dirty="0">
                <a:solidFill>
                  <a:srgbClr val="000000"/>
                </a:solidFill>
              </a:rPr>
              <a:t>consider a pair of nodes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. We define the </a:t>
            </a:r>
            <a:r>
              <a:rPr lang="en-US" altLang="zh-TW" i="1" dirty="0">
                <a:solidFill>
                  <a:srgbClr val="0000FF"/>
                </a:solidFill>
              </a:rPr>
              <a:t>residual capacity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   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r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by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 marL="2152650" lvl="0" indent="0" eaLnBrk="1" hangingPunct="1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).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</a:rPr>
              <a:t>The </a:t>
            </a:r>
            <a:r>
              <a:rPr lang="en-US" altLang="zh-TW" i="1" dirty="0">
                <a:solidFill>
                  <a:srgbClr val="0000FF"/>
                </a:solidFill>
              </a:rPr>
              <a:t>residual network</a:t>
            </a:r>
            <a:r>
              <a:rPr lang="en-US" altLang="zh-TW" dirty="0">
                <a:solidFill>
                  <a:srgbClr val="000000"/>
                </a:solidFill>
              </a:rPr>
              <a:t>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induced by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200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is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), where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</a:pP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{(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300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: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</a:rPr>
              <a:t>}.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</a:rPr>
              <a:t>The </a:t>
            </a:r>
            <a:r>
              <a:rPr lang="en-US" altLang="zh-TW" i="1" dirty="0">
                <a:solidFill>
                  <a:srgbClr val="0000FF"/>
                </a:solidFill>
              </a:rPr>
              <a:t>residual network</a:t>
            </a:r>
            <a:r>
              <a:rPr lang="en-US" altLang="zh-TW" dirty="0">
                <a:solidFill>
                  <a:srgbClr val="000000"/>
                </a:solidFill>
              </a:rPr>
              <a:t>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induced by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200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is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), where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</a:pP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{(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300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: 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E</a:t>
            </a:r>
            <a:r>
              <a:rPr lang="en-US" altLang="zh-TW" dirty="0">
                <a:solidFill>
                  <a:srgbClr val="FF0000"/>
                </a:solidFill>
              </a:rPr>
              <a:t> or (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}, in which each edge        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is assigned the </a:t>
            </a:r>
            <a:r>
              <a:rPr lang="en-US" altLang="zh-TW" dirty="0">
                <a:solidFill>
                  <a:srgbClr val="000000"/>
                </a:solidFill>
              </a:rPr>
              <a:t>residual capacity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.</a:t>
            </a:r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17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{(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300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:</a:t>
            </a:r>
          </a:p>
          <a:p>
            <a:r>
              <a:rPr lang="en-US" altLang="zh-TW" i="1" spc="100" dirty="0">
                <a:solidFill>
                  <a:schemeClr val="bg1"/>
                </a:solidFill>
              </a:rPr>
              <a:t>E</a:t>
            </a:r>
            <a:r>
              <a:rPr lang="en-US" altLang="zh-TW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chemeClr val="bg1"/>
                </a:solidFill>
              </a:rPr>
              <a:t> {</a:t>
            </a:r>
            <a:r>
              <a:rPr lang="en-US" altLang="zh-TW" dirty="0" smtClean="0"/>
              <a:t>(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i="1" dirty="0"/>
              <a:t>E</a:t>
            </a:r>
            <a:r>
              <a:rPr lang="en-US" altLang="zh-TW" dirty="0"/>
              <a:t> or (</a:t>
            </a:r>
            <a:r>
              <a:rPr lang="en-US" altLang="zh-TW" i="1" dirty="0"/>
              <a:t>v</a:t>
            </a:r>
            <a:r>
              <a:rPr lang="en-US" altLang="zh-TW" dirty="0"/>
              <a:t>, </a:t>
            </a:r>
            <a:r>
              <a:rPr lang="en-US" altLang="zh-TW" i="1" dirty="0"/>
              <a:t>u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i="1" dirty="0"/>
              <a:t>E</a:t>
            </a:r>
            <a:r>
              <a:rPr lang="en-US" altLang="zh-TW" dirty="0" smtClean="0">
                <a:solidFill>
                  <a:srgbClr val="000000"/>
                </a:solidFill>
              </a:rPr>
              <a:t>}</a:t>
            </a:r>
            <a:endParaRPr lang="zh-TW" altLang="en-US" dirty="0"/>
          </a:p>
        </p:txBody>
      </p:sp>
      <p:sp>
        <p:nvSpPr>
          <p:cNvPr id="9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0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96510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535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We assume that the nodes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 are numbered 1, 2, ...,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, and let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r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</a:rPr>
              <a:t>be </a:t>
            </a:r>
            <a:r>
              <a:rPr lang="en-US" altLang="zh-TW" i="1" spc="150" dirty="0" err="1">
                <a:solidFill>
                  <a:srgbClr val="000000"/>
                </a:solidFill>
              </a:rPr>
              <a:t>n</a:t>
            </a:r>
            <a:r>
              <a:rPr lang="en-US" altLang="zh-TW" sz="1800" spc="1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en-US" altLang="zh-TW" spc="100" dirty="0">
                <a:solidFill>
                  <a:srgbClr val="000000"/>
                </a:solidFill>
              </a:rPr>
              <a:t>-</a:t>
            </a:r>
            <a:r>
              <a:rPr lang="en-US" altLang="zh-TW" dirty="0">
                <a:solidFill>
                  <a:srgbClr val="000000"/>
                </a:solidFill>
              </a:rPr>
              <a:t>d arrays.</a:t>
            </a:r>
          </a:p>
          <a:p>
            <a:pPr marL="541338" lvl="0" indent="-541338" eaLnBrk="1" hangingPunct="1">
              <a:spcBef>
                <a:spcPts val="1200"/>
              </a:spcBef>
              <a:buClr>
                <a:srgbClr val="3333CC"/>
              </a:buClr>
              <a:defRPr/>
            </a:pPr>
            <a:r>
              <a:rPr lang="en-US" altLang="zh-TW" dirty="0" err="1" smtClean="0">
                <a:solidFill>
                  <a:srgbClr val="000000"/>
                </a:solidFill>
              </a:rPr>
              <a:t>FordFulkerson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5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 smtClean="0">
                <a:solidFill>
                  <a:srgbClr val="000000"/>
                </a:solidFill>
              </a:rPr>
              <a:t>	3			</a:t>
            </a: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</a:rPr>
              <a:t>][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0,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r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</a:rPr>
              <a:t>][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smtClean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   </a:t>
            </a:r>
            <a:r>
              <a:rPr lang="en-US" altLang="zh-TW" i="1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FF0000"/>
                </a:solidFill>
              </a:rPr>
              <a:t>r</a:t>
            </a:r>
            <a:r>
              <a:rPr lang="en-US" altLang="zh-TW" i="1" spc="100" dirty="0" err="1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f</a:t>
            </a:r>
            <a:r>
              <a:rPr lang="en-US" altLang="zh-TW" dirty="0">
                <a:solidFill>
                  <a:srgbClr val="FF0000"/>
                </a:solidFill>
              </a:rPr>
              <a:t> 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 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			</a:t>
            </a: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return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maxflow</a:t>
            </a:r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055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8641"/>
            <a:ext cx="8280000" cy="1800359"/>
          </a:xfrm>
        </p:spPr>
        <p:txBody>
          <a:bodyPr/>
          <a:lstStyle/>
          <a:p>
            <a:pPr marL="0" indent="0"/>
            <a:r>
              <a:rPr lang="en-US" altLang="zh-TW" dirty="0"/>
              <a:t>Suppose that Lucky Puck ship </a:t>
            </a:r>
            <a:r>
              <a:rPr lang="en-US" altLang="zh-TW" dirty="0" smtClean="0"/>
              <a:t>4 </a:t>
            </a:r>
            <a:r>
              <a:rPr lang="en-US" altLang="zh-TW" dirty="0"/>
              <a:t>crates per day from 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1</a:t>
            </a:r>
            <a:r>
              <a:rPr lang="en-US" altLang="zh-TW" dirty="0" smtClean="0"/>
              <a:t> to 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and 3 crates per day from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 smtClean="0"/>
              <a:t>. It </a:t>
            </a:r>
            <a:r>
              <a:rPr lang="en-US" altLang="zh-TW" dirty="0"/>
              <a:t>may seem natural to represent these shipments directly by flows, but we cannot</a:t>
            </a:r>
            <a:r>
              <a:rPr lang="en-US" altLang="zh-TW" dirty="0" smtClean="0"/>
              <a:t>. The </a:t>
            </a:r>
            <a:r>
              <a:rPr lang="en-US" altLang="zh-TW" dirty="0"/>
              <a:t>skew-symmetry constraint requires that </a:t>
            </a:r>
            <a:r>
              <a:rPr lang="en-US" altLang="zh-TW" i="1" spc="3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/>
              <a:t>(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dirty="0" smtClean="0"/>
              <a:t>−</a:t>
            </a:r>
            <a:r>
              <a:rPr lang="en-US" altLang="zh-TW" i="1" spc="3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/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1</a:t>
            </a:r>
            <a:r>
              <a:rPr lang="en-US" altLang="zh-TW" dirty="0" smtClean="0"/>
              <a:t>), </a:t>
            </a:r>
            <a:r>
              <a:rPr lang="en-US" altLang="zh-TW" dirty="0"/>
              <a:t>but this </a:t>
            </a:r>
            <a:r>
              <a:rPr lang="en-US" altLang="zh-TW" dirty="0" smtClean="0"/>
              <a:t>is clearly </a:t>
            </a:r>
            <a:r>
              <a:rPr lang="en-US" altLang="zh-TW" dirty="0"/>
              <a:t>not the case if we consider </a:t>
            </a:r>
            <a:r>
              <a:rPr lang="en-US" altLang="zh-TW" i="1" spc="300" dirty="0" smtClean="0"/>
              <a:t>f</a:t>
            </a:r>
            <a:r>
              <a:rPr lang="en-US" altLang="zh-TW" dirty="0" smtClean="0"/>
              <a:t>(</a:t>
            </a:r>
            <a:r>
              <a:rPr lang="en-US" altLang="zh-TW" i="1" dirty="0" err="1" smtClean="0"/>
              <a:t>v</a:t>
            </a:r>
            <a:r>
              <a:rPr lang="en-US" altLang="zh-TW" baseline="-25000" dirty="0" err="1" smtClean="0"/>
              <a:t>1</a:t>
            </a:r>
            <a:r>
              <a:rPr lang="en-US" altLang="zh-TW" dirty="0" smtClean="0"/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dirty="0" smtClean="0"/>
              <a:t>4 </a:t>
            </a:r>
            <a:r>
              <a:rPr lang="en-US" altLang="zh-TW" dirty="0"/>
              <a:t>and </a:t>
            </a:r>
            <a:r>
              <a:rPr lang="en-US" altLang="zh-TW" i="1" spc="3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/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, </a:t>
            </a:r>
            <a:r>
              <a:rPr lang="en-US" altLang="zh-TW" i="1" dirty="0" err="1"/>
              <a:t>v</a:t>
            </a:r>
            <a:r>
              <a:rPr lang="en-US" altLang="zh-TW" baseline="-25000" dirty="0" err="1"/>
              <a:t>1</a:t>
            </a:r>
            <a:r>
              <a:rPr lang="en-US" altLang="zh-TW" dirty="0" smtClean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3.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0" y="3249000"/>
            <a:ext cx="4140000" cy="2622979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000" y="3248997"/>
            <a:ext cx="4140000" cy="262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28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2000" y="548641"/>
            <a:ext cx="8280000" cy="2160359"/>
          </a:xfrm>
        </p:spPr>
        <p:txBody>
          <a:bodyPr/>
          <a:lstStyle/>
          <a:p>
            <a:pPr marL="0" indent="0"/>
            <a:r>
              <a:rPr lang="en-US" altLang="zh-TW" dirty="0"/>
              <a:t>Lucky Puck may realize that it is pointless to ship </a:t>
            </a:r>
            <a:r>
              <a:rPr lang="en-US" altLang="zh-TW" dirty="0" smtClean="0"/>
              <a:t>4 </a:t>
            </a:r>
            <a:r>
              <a:rPr lang="en-US" altLang="zh-TW" dirty="0"/>
              <a:t>crates per day from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 smtClean="0"/>
              <a:t> to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and 3 crates from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 smtClean="0"/>
              <a:t>, </a:t>
            </a:r>
            <a:r>
              <a:rPr lang="en-US" altLang="zh-TW" dirty="0"/>
              <a:t>when they could achieve </a:t>
            </a:r>
            <a:r>
              <a:rPr lang="en-US" altLang="zh-TW" dirty="0" smtClean="0"/>
              <a:t>the same </a:t>
            </a:r>
            <a:r>
              <a:rPr lang="en-US" altLang="zh-TW" dirty="0"/>
              <a:t>net effect by shipping </a:t>
            </a:r>
            <a:r>
              <a:rPr lang="en-US" altLang="zh-TW" dirty="0" smtClean="0"/>
              <a:t>1 </a:t>
            </a:r>
            <a:r>
              <a:rPr lang="en-US" altLang="zh-TW" dirty="0"/>
              <a:t>crates from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and 0 crates </a:t>
            </a:r>
            <a:r>
              <a:rPr lang="en-US" altLang="zh-TW" dirty="0" smtClean="0"/>
              <a:t>from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/>
              <a:t>. </a:t>
            </a:r>
            <a:r>
              <a:rPr lang="en-US" altLang="zh-TW" dirty="0"/>
              <a:t>We </a:t>
            </a:r>
            <a:r>
              <a:rPr lang="en-US" altLang="zh-TW" dirty="0" smtClean="0"/>
              <a:t>represent this </a:t>
            </a:r>
            <a:r>
              <a:rPr lang="en-US" altLang="zh-TW" dirty="0"/>
              <a:t>latter scenario with a flow: we have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1 and  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/>
              <a:t>−1. In </a:t>
            </a:r>
            <a:r>
              <a:rPr lang="en-US" altLang="zh-TW" dirty="0"/>
              <a:t>effect, 3 of the </a:t>
            </a:r>
            <a:r>
              <a:rPr lang="en-US" altLang="zh-TW" dirty="0" smtClean="0"/>
              <a:t>4 </a:t>
            </a:r>
            <a:r>
              <a:rPr lang="en-US" altLang="zh-TW" dirty="0"/>
              <a:t>crates per day from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are canceled by 3 crates per </a:t>
            </a:r>
            <a:r>
              <a:rPr lang="en-US" altLang="zh-TW" dirty="0" smtClean="0"/>
              <a:t>day from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0" y="3249000"/>
            <a:ext cx="4140000" cy="2622979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000" y="3248997"/>
            <a:ext cx="4140000" cy="262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89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96510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89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96510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96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3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96510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96510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9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93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96510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96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06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96511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0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96510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00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96510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15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96510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9000"/>
            <a:ext cx="4680000" cy="29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080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96510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25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96510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08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96510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65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3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9000"/>
            <a:ext cx="4680000" cy="296510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85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We assume that the nodes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 are numbered 1, 2, ...,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, and let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r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</a:rPr>
              <a:t>be </a:t>
            </a:r>
            <a:r>
              <a:rPr lang="en-US" altLang="zh-TW" i="1" spc="150" dirty="0" err="1">
                <a:solidFill>
                  <a:srgbClr val="000000"/>
                </a:solidFill>
              </a:rPr>
              <a:t>n</a:t>
            </a:r>
            <a:r>
              <a:rPr lang="en-US" altLang="zh-TW" sz="1800" spc="1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en-US" altLang="zh-TW" spc="100" dirty="0">
                <a:solidFill>
                  <a:srgbClr val="000000"/>
                </a:solidFill>
              </a:rPr>
              <a:t>-</a:t>
            </a:r>
            <a:r>
              <a:rPr lang="en-US" altLang="zh-TW" dirty="0">
                <a:solidFill>
                  <a:srgbClr val="000000"/>
                </a:solidFill>
              </a:rPr>
              <a:t>d arrays.</a:t>
            </a:r>
          </a:p>
          <a:p>
            <a:pPr marL="541338" lvl="0" indent="-541338" eaLnBrk="1" hangingPunct="1">
              <a:spcBef>
                <a:spcPts val="1200"/>
              </a:spcBef>
              <a:buClr>
                <a:srgbClr val="3333CC"/>
              </a:buClr>
              <a:defRPr/>
            </a:pPr>
            <a:r>
              <a:rPr lang="en-US" altLang="zh-TW" dirty="0" err="1" smtClean="0">
                <a:solidFill>
                  <a:srgbClr val="000000"/>
                </a:solidFill>
              </a:rPr>
              <a:t>FordFulkerson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5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err="1">
                <a:solidFill>
                  <a:srgbClr val="000000"/>
                </a:solidFill>
                <a:sym typeface="Symbol" pitchFamily="18" charset="2"/>
              </a:rPr>
              <a:t>.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 smtClean="0">
                <a:solidFill>
                  <a:srgbClr val="000000"/>
                </a:solidFill>
              </a:rPr>
              <a:t>	3			</a:t>
            </a: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</a:rPr>
              <a:t>][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0,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r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</a:rPr>
              <a:t>][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smtClean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   </a:t>
            </a:r>
            <a:r>
              <a:rPr lang="en-US" altLang="zh-TW" i="1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FF0000"/>
                </a:solidFill>
              </a:rPr>
              <a:t>r</a:t>
            </a:r>
            <a:r>
              <a:rPr lang="en-US" altLang="zh-TW" i="1" spc="100" dirty="0" err="1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f</a:t>
            </a:r>
            <a:r>
              <a:rPr lang="en-US" altLang="zh-TW" dirty="0">
                <a:solidFill>
                  <a:srgbClr val="FF0000"/>
                </a:solidFill>
              </a:rPr>
              <a:t> 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 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			</a:t>
            </a:r>
            <a:r>
              <a:rPr lang="en-US" altLang="zh-TW" i="1" spc="500" dirty="0" smtClean="0">
                <a:solidFill>
                  <a:srgbClr val="000000"/>
                </a:solidFill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pc="1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5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  <a:tab pos="1709738" algn="l"/>
                <a:tab pos="22494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12	</a:t>
            </a:r>
            <a:r>
              <a:rPr lang="en-US" altLang="zh-TW" b="1" dirty="0">
                <a:solidFill>
                  <a:srgbClr val="000000"/>
                </a:solidFill>
              </a:rPr>
              <a:t>return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maxflow</a:t>
            </a:r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979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We assume that the nodes of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 are numbered 1, 2, ...,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, and let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r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</a:rPr>
              <a:t>be an </a:t>
            </a:r>
            <a:r>
              <a:rPr lang="en-US" altLang="zh-TW" i="1" spc="150" dirty="0" err="1">
                <a:solidFill>
                  <a:srgbClr val="000000"/>
                </a:solidFill>
              </a:rPr>
              <a:t>n</a:t>
            </a:r>
            <a:r>
              <a:rPr lang="en-US" altLang="zh-TW" sz="1800" spc="1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en-US" altLang="zh-TW" spc="100" dirty="0">
                <a:solidFill>
                  <a:srgbClr val="000000"/>
                </a:solidFill>
              </a:rPr>
              <a:t>-</a:t>
            </a:r>
            <a:r>
              <a:rPr lang="en-US" altLang="zh-TW" dirty="0">
                <a:solidFill>
                  <a:srgbClr val="000000"/>
                </a:solidFill>
              </a:rPr>
              <a:t>d array.</a:t>
            </a:r>
          </a:p>
          <a:p>
            <a:pPr marL="0" lvl="0" indent="0" eaLnBrk="1" hangingPunct="1">
              <a:spcBef>
                <a:spcPts val="1200"/>
              </a:spcBef>
              <a:buClr>
                <a:srgbClr val="3333CC"/>
              </a:buClr>
              <a:defRPr/>
            </a:pPr>
            <a:r>
              <a:rPr lang="en-US" altLang="zh-TW" dirty="0" err="1" smtClean="0">
                <a:solidFill>
                  <a:srgbClr val="000000"/>
                </a:solidFill>
              </a:rPr>
              <a:t>FordFulkerson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R.V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R.V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                       </a:t>
            </a:r>
            <a:r>
              <a:rPr lang="en-US" altLang="zh-TW" i="1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FF0000"/>
                </a:solidFill>
              </a:rPr>
              <a:t>r</a:t>
            </a:r>
            <a:r>
              <a:rPr lang="en-US" altLang="zh-TW" i="1" spc="100" dirty="0" err="1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f</a:t>
            </a:r>
            <a:r>
              <a:rPr lang="en-US" altLang="zh-TW" dirty="0">
                <a:solidFill>
                  <a:srgbClr val="FF0000"/>
                </a:solidFill>
              </a:rPr>
              <a:t> 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return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maxflow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426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Undirected Flow Networks</a:t>
            </a:r>
            <a:endParaRPr lang="zh-TW" altLang="en-US" dirty="0"/>
          </a:p>
        </p:txBody>
      </p:sp>
      <p:sp>
        <p:nvSpPr>
          <p:cNvPr id="57347" name="Rectangle 6"/>
          <p:cNvSpPr>
            <a:spLocks noGrp="1" noChangeArrowheads="1"/>
          </p:cNvSpPr>
          <p:nvPr>
            <p:ph idx="1"/>
          </p:nvPr>
        </p:nvSpPr>
        <p:spPr>
          <a:xfrm>
            <a:off x="432001" y="1268729"/>
            <a:ext cx="8280000" cy="2520271"/>
          </a:xfrm>
        </p:spPr>
        <p:txBody>
          <a:bodyPr lIns="90000" rIns="90000"/>
          <a:lstStyle/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 smtClean="0"/>
              <a:t>An </a:t>
            </a:r>
            <a:r>
              <a:rPr lang="en-US" altLang="zh-TW" i="1" dirty="0">
                <a:solidFill>
                  <a:srgbClr val="0000FF"/>
                </a:solidFill>
              </a:rPr>
              <a:t>undirected</a:t>
            </a:r>
            <a:r>
              <a:rPr lang="en-US" altLang="zh-TW" sz="2200" dirty="0" smtClean="0"/>
              <a:t> </a:t>
            </a:r>
            <a:r>
              <a:rPr lang="en-US" altLang="zh-TW" sz="2200" i="1" spc="300" dirty="0" smtClean="0">
                <a:solidFill>
                  <a:srgbClr val="0000FF"/>
                </a:solidFill>
              </a:rPr>
              <a:t>f</a:t>
            </a:r>
            <a:r>
              <a:rPr lang="en-US" altLang="zh-TW" i="1" dirty="0" smtClean="0">
                <a:solidFill>
                  <a:srgbClr val="0000FF"/>
                </a:solidFill>
              </a:rPr>
              <a:t>low </a:t>
            </a:r>
            <a:r>
              <a:rPr lang="en-US" altLang="zh-TW" sz="2200" i="1" dirty="0">
                <a:solidFill>
                  <a:srgbClr val="0000FF"/>
                </a:solidFill>
              </a:rPr>
              <a:t>network</a:t>
            </a:r>
            <a:r>
              <a:rPr lang="en-US" altLang="zh-TW" sz="2200" dirty="0"/>
              <a:t> </a:t>
            </a:r>
            <a:r>
              <a:rPr lang="en-US" altLang="zh-TW" sz="2200" i="1" dirty="0"/>
              <a:t>G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(</a:t>
            </a:r>
            <a:r>
              <a:rPr lang="en-US" altLang="zh-TW" sz="2200" i="1" dirty="0"/>
              <a:t>V</a:t>
            </a:r>
            <a:r>
              <a:rPr lang="en-US" altLang="zh-TW" sz="2200" dirty="0"/>
              <a:t>, </a:t>
            </a:r>
            <a:r>
              <a:rPr lang="en-US" altLang="zh-TW" sz="2200" i="1" spc="300" dirty="0"/>
              <a:t>E</a:t>
            </a:r>
            <a:r>
              <a:rPr lang="en-US" altLang="zh-TW" sz="2200" dirty="0"/>
              <a:t>) is </a:t>
            </a:r>
            <a:r>
              <a:rPr lang="en-US" altLang="zh-TW" dirty="0" smtClean="0"/>
              <a:t>an </a:t>
            </a:r>
            <a:r>
              <a:rPr lang="en-US" altLang="zh-TW" sz="2200" dirty="0" smtClean="0">
                <a:solidFill>
                  <a:srgbClr val="FF0000"/>
                </a:solidFill>
              </a:rPr>
              <a:t>un</a:t>
            </a:r>
            <a:r>
              <a:rPr lang="en-US" altLang="zh-TW" sz="2200" dirty="0" smtClean="0">
                <a:solidFill>
                  <a:schemeClr val="hlink"/>
                </a:solidFill>
              </a:rPr>
              <a:t>directed</a:t>
            </a:r>
            <a:r>
              <a:rPr lang="en-US" altLang="zh-TW" sz="2200" dirty="0" smtClean="0"/>
              <a:t> </a:t>
            </a:r>
            <a:r>
              <a:rPr lang="en-US" altLang="zh-TW" dirty="0"/>
              <a:t>simple graph </a:t>
            </a:r>
            <a:r>
              <a:rPr lang="en-US" altLang="zh-TW" sz="2200" dirty="0"/>
              <a:t>in which each edge </a:t>
            </a:r>
            <a:r>
              <a:rPr lang="en-US" altLang="zh-TW" sz="2200" dirty="0" smtClean="0"/>
              <a:t>{</a:t>
            </a:r>
            <a:r>
              <a:rPr lang="en-US" altLang="zh-TW" sz="2200" i="1" dirty="0" smtClean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 smtClean="0"/>
              <a:t>v</a:t>
            </a:r>
            <a:r>
              <a:rPr lang="en-US" altLang="zh-TW" sz="2200" dirty="0" smtClean="0"/>
              <a:t>}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/>
              <a:t>E</a:t>
            </a:r>
            <a:r>
              <a:rPr lang="en-US" altLang="zh-TW" sz="2200" dirty="0">
                <a:sym typeface="Symbol" pitchFamily="18" charset="2"/>
              </a:rPr>
              <a:t> has a 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positive</a:t>
            </a:r>
            <a:r>
              <a:rPr lang="en-US" altLang="zh-TW" sz="2200" dirty="0" smtClean="0"/>
              <a:t> </a:t>
            </a:r>
            <a:r>
              <a:rPr lang="en-US" altLang="zh-TW" sz="2200" i="1" dirty="0">
                <a:solidFill>
                  <a:srgbClr val="0000FF"/>
                </a:solidFill>
              </a:rPr>
              <a:t>capacity </a:t>
            </a:r>
            <a:r>
              <a:rPr lang="en-US" altLang="zh-TW" sz="2200" i="1" dirty="0"/>
              <a:t>c</a:t>
            </a:r>
            <a:r>
              <a:rPr lang="en-US" altLang="zh-TW" sz="2200" dirty="0" smtClean="0"/>
              <a:t>(</a:t>
            </a:r>
            <a:r>
              <a:rPr lang="en-US" altLang="zh-TW" dirty="0">
                <a:solidFill>
                  <a:srgbClr val="000000"/>
                </a:solidFill>
              </a:rPr>
              <a:t>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r>
              <a:rPr lang="en-US" altLang="zh-TW" sz="2200" dirty="0" smtClean="0"/>
              <a:t>)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&gt;</a:t>
            </a:r>
            <a:r>
              <a:rPr lang="en-US" altLang="zh-TW" sz="2200" dirty="0" smtClean="0">
                <a:sym typeface="Symbol" pitchFamily="18" charset="2"/>
              </a:rPr>
              <a:t> </a:t>
            </a:r>
            <a:r>
              <a:rPr lang="en-US" altLang="zh-TW" sz="2200" dirty="0">
                <a:sym typeface="Symbol" pitchFamily="18" charset="2"/>
              </a:rPr>
              <a:t>0.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 smtClean="0"/>
              <a:t>If {</a:t>
            </a:r>
            <a:r>
              <a:rPr lang="en-US" altLang="zh-TW" sz="2200" i="1" dirty="0" smtClean="0"/>
              <a:t>u</a:t>
            </a:r>
            <a:r>
              <a:rPr lang="en-US" altLang="zh-TW" sz="2200" dirty="0"/>
              <a:t>, </a:t>
            </a:r>
            <a:r>
              <a:rPr lang="en-US" altLang="zh-TW" sz="2200" i="1" dirty="0" smtClean="0"/>
              <a:t>v</a:t>
            </a:r>
            <a:r>
              <a:rPr lang="en-US" altLang="zh-TW" sz="2200" dirty="0" smtClean="0"/>
              <a:t>}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∉</a:t>
            </a:r>
            <a:r>
              <a:rPr lang="en-US" altLang="zh-TW" sz="2200" dirty="0">
                <a:sym typeface="Symbol" pitchFamily="18" charset="2"/>
              </a:rPr>
              <a:t> </a:t>
            </a:r>
            <a:r>
              <a:rPr lang="en-US" altLang="zh-TW" sz="2200" i="1" dirty="0"/>
              <a:t>E</a:t>
            </a:r>
            <a:r>
              <a:rPr lang="en-US" altLang="zh-TW" sz="2200" dirty="0">
                <a:sym typeface="Symbol" pitchFamily="18" charset="2"/>
              </a:rPr>
              <a:t>, then we define </a:t>
            </a:r>
            <a:r>
              <a:rPr lang="en-US" altLang="zh-TW" sz="2200" i="1" dirty="0"/>
              <a:t>c</a:t>
            </a:r>
            <a:r>
              <a:rPr lang="en-US" altLang="zh-TW" sz="2200" dirty="0" smtClean="0"/>
              <a:t>(</a:t>
            </a:r>
            <a:r>
              <a:rPr lang="en-US" altLang="zh-TW" dirty="0">
                <a:solidFill>
                  <a:srgbClr val="000000"/>
                </a:solidFill>
              </a:rPr>
              <a:t>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r>
              <a:rPr lang="en-US" altLang="zh-TW" sz="2200" dirty="0" smtClean="0"/>
              <a:t>)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itchFamily="18" charset="2"/>
              </a:rPr>
              <a:t>0, and we disallow self-loops</a:t>
            </a:r>
            <a:r>
              <a:rPr lang="en-US" altLang="zh-TW" sz="2200" dirty="0"/>
              <a:t>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We distinguish two vertices in a flow network: a </a:t>
            </a:r>
            <a:r>
              <a:rPr lang="en-US" altLang="zh-TW" sz="2200" i="1" dirty="0">
                <a:solidFill>
                  <a:srgbClr val="0000FF"/>
                </a:solidFill>
              </a:rPr>
              <a:t>source</a:t>
            </a:r>
            <a:r>
              <a:rPr lang="en-US" altLang="zh-TW" sz="2200" dirty="0"/>
              <a:t> </a:t>
            </a:r>
            <a:r>
              <a:rPr lang="en-US" altLang="zh-TW" sz="2200" i="1" dirty="0"/>
              <a:t>s</a:t>
            </a:r>
            <a:r>
              <a:rPr lang="en-US" altLang="zh-TW" sz="2200" dirty="0"/>
              <a:t> and a </a:t>
            </a:r>
            <a:r>
              <a:rPr lang="en-US" altLang="zh-TW" sz="2200" i="1" dirty="0">
                <a:solidFill>
                  <a:srgbClr val="0000FF"/>
                </a:solidFill>
              </a:rPr>
              <a:t>sink</a:t>
            </a:r>
            <a:r>
              <a:rPr lang="en-US" altLang="zh-TW" sz="2200" dirty="0"/>
              <a:t> </a:t>
            </a:r>
            <a:r>
              <a:rPr lang="en-US" altLang="zh-TW" sz="2200" i="1" dirty="0"/>
              <a:t>t</a:t>
            </a:r>
            <a:r>
              <a:rPr lang="en-US" altLang="zh-TW" sz="2200" dirty="0"/>
              <a:t>.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en-US" altLang="zh-TW" sz="2200" dirty="0"/>
              <a:t>For convenience, we assume that </a:t>
            </a:r>
            <a:r>
              <a:rPr lang="en-US" altLang="zh-TW" sz="2200" dirty="0">
                <a:solidFill>
                  <a:schemeClr val="hlink"/>
                </a:solidFill>
              </a:rPr>
              <a:t>each </a:t>
            </a:r>
            <a:r>
              <a:rPr lang="en-US" altLang="zh-TW" sz="2200" dirty="0" smtClean="0">
                <a:solidFill>
                  <a:schemeClr val="hlink"/>
                </a:solidFill>
              </a:rPr>
              <a:t>node </a:t>
            </a:r>
            <a:r>
              <a:rPr lang="en-US" altLang="zh-TW" sz="2200" dirty="0">
                <a:solidFill>
                  <a:schemeClr val="hlink"/>
                </a:solidFill>
              </a:rPr>
              <a:t>lies on some path from the source to the sink</a:t>
            </a:r>
            <a:r>
              <a:rPr lang="en-US" altLang="zh-TW" sz="2200" dirty="0" smtClean="0"/>
              <a:t>.</a:t>
            </a:r>
            <a:endParaRPr lang="en-US" altLang="zh-TW" sz="2200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132000" y="41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72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16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11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132000" y="54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36000" bIns="0" anchor="ctr" anchorCtr="0"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912000" y="41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20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5112000" y="61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36000" anchor="ctr" anchorCtr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912000" y="54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5292000" y="48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421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6372000" y="486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rIns="0" bIns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3" name="橢圓 12"/>
          <p:cNvSpPr/>
          <p:nvPr/>
        </p:nvSpPr>
        <p:spPr>
          <a:xfrm>
            <a:off x="4032000" y="378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1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4032000" y="594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2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6192000" y="378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3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v</a:t>
            </a:r>
            <a:r>
              <a:rPr kumimoji="1" lang="en-US" altLang="zh-TW" sz="2200" b="0" i="0" u="none" strike="noStrike" kern="1200" cap="none" spc="0" normalizeH="0" baseline="-18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4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952000" y="4869000"/>
            <a:ext cx="360000" cy="360000"/>
          </a:xfrm>
          <a:prstGeom prst="ellipse">
            <a:avLst/>
          </a:prstGeom>
          <a:solidFill>
            <a:srgbClr val="FFFF0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b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s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8" name="直線單箭頭接點 17"/>
          <p:cNvCxnSpPr>
            <a:stCxn id="17" idx="7"/>
            <a:endCxn id="13" idx="3"/>
          </p:cNvCxnSpPr>
          <p:nvPr/>
        </p:nvCxnSpPr>
        <p:spPr>
          <a:xfrm flipV="1">
            <a:off x="3259279" y="4096279"/>
            <a:ext cx="825442" cy="82544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6"/>
            <a:endCxn id="15" idx="2"/>
          </p:cNvCxnSpPr>
          <p:nvPr/>
        </p:nvCxnSpPr>
        <p:spPr>
          <a:xfrm>
            <a:off x="4392000" y="3969000"/>
            <a:ext cx="1800000" cy="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5" idx="3"/>
            <a:endCxn id="14" idx="7"/>
          </p:cNvCxnSpPr>
          <p:nvPr/>
        </p:nvCxnSpPr>
        <p:spPr>
          <a:xfrm flipH="1">
            <a:off x="4339279" y="4096279"/>
            <a:ext cx="1905442" cy="190544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4" idx="6"/>
            <a:endCxn id="16" idx="2"/>
          </p:cNvCxnSpPr>
          <p:nvPr/>
        </p:nvCxnSpPr>
        <p:spPr>
          <a:xfrm>
            <a:off x="4392000" y="6129000"/>
            <a:ext cx="1800000" cy="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4" idx="0"/>
            <a:endCxn id="13" idx="4"/>
          </p:cNvCxnSpPr>
          <p:nvPr/>
        </p:nvCxnSpPr>
        <p:spPr>
          <a:xfrm flipV="1">
            <a:off x="4212000" y="4149000"/>
            <a:ext cx="0" cy="180000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5" idx="5"/>
            <a:endCxn id="26" idx="1"/>
          </p:cNvCxnSpPr>
          <p:nvPr/>
        </p:nvCxnSpPr>
        <p:spPr>
          <a:xfrm>
            <a:off x="6499279" y="4096279"/>
            <a:ext cx="825442" cy="82544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6" idx="0"/>
            <a:endCxn id="15" idx="4"/>
          </p:cNvCxnSpPr>
          <p:nvPr/>
        </p:nvCxnSpPr>
        <p:spPr>
          <a:xfrm flipV="1">
            <a:off x="6372000" y="4149000"/>
            <a:ext cx="0" cy="180000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7" idx="5"/>
            <a:endCxn id="14" idx="1"/>
          </p:cNvCxnSpPr>
          <p:nvPr/>
        </p:nvCxnSpPr>
        <p:spPr>
          <a:xfrm>
            <a:off x="3259279" y="5176279"/>
            <a:ext cx="825442" cy="82544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7272000" y="4869000"/>
            <a:ext cx="360000" cy="360000"/>
          </a:xfrm>
          <a:prstGeom prst="ellipse">
            <a:avLst/>
          </a:prstGeom>
          <a:solidFill>
            <a:srgbClr val="92D050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72000" rtlCol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t</a:t>
            </a:r>
            <a:endParaRPr kumimoji="1" lang="zh-TW" altLang="en-US" sz="2200" b="0" i="0" u="none" strike="noStrike" kern="1200" cap="none" spc="0" normalizeH="0" baseline="-18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7" name="直線單箭頭接點 26"/>
          <p:cNvCxnSpPr>
            <a:stCxn id="16" idx="7"/>
            <a:endCxn id="26" idx="3"/>
          </p:cNvCxnSpPr>
          <p:nvPr/>
        </p:nvCxnSpPr>
        <p:spPr>
          <a:xfrm flipV="1">
            <a:off x="6499279" y="5176279"/>
            <a:ext cx="825442" cy="82544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789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549000"/>
            <a:ext cx="8640000" cy="2160000"/>
          </a:xfrm>
        </p:spPr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pt-BR" altLang="zh-TW" dirty="0">
                <a:solidFill>
                  <a:srgbClr val="0000FF"/>
                </a:solidFill>
              </a:rPr>
              <a:t>Jonatan </a:t>
            </a:r>
            <a:r>
              <a:rPr lang="pt-BR" altLang="zh-TW" dirty="0" smtClean="0">
                <a:solidFill>
                  <a:srgbClr val="0000FF"/>
                </a:solidFill>
              </a:rPr>
              <a:t>Schroeder, Andr</a:t>
            </a:r>
            <a:r>
              <a:rPr lang="en-US" altLang="zh-TW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pt-BR" altLang="zh-TW" dirty="0" smtClean="0">
                <a:solidFill>
                  <a:srgbClr val="0000FF"/>
                </a:solidFill>
              </a:rPr>
              <a:t> </a:t>
            </a:r>
            <a:r>
              <a:rPr lang="pt-BR" altLang="zh-TW" dirty="0">
                <a:solidFill>
                  <a:srgbClr val="0000FF"/>
                </a:solidFill>
              </a:rPr>
              <a:t>Pires </a:t>
            </a:r>
            <a:r>
              <a:rPr lang="pt-BR" altLang="zh-TW" dirty="0" smtClean="0">
                <a:solidFill>
                  <a:srgbClr val="0000FF"/>
                </a:solidFill>
              </a:rPr>
              <a:t>Guedes and Elias </a:t>
            </a:r>
            <a:r>
              <a:rPr lang="pt-BR" altLang="zh-TW" dirty="0">
                <a:solidFill>
                  <a:srgbClr val="0000FF"/>
                </a:solidFill>
              </a:rPr>
              <a:t>P. Duarte </a:t>
            </a:r>
            <a:r>
              <a:rPr lang="pt-BR" altLang="zh-TW" dirty="0" smtClean="0">
                <a:solidFill>
                  <a:srgbClr val="0000FF"/>
                </a:solidFill>
              </a:rPr>
              <a:t>Jr.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dirty="0" smtClean="0">
                <a:solidFill>
                  <a:srgbClr val="0000FF"/>
                </a:solidFill>
              </a:rPr>
              <a:t>Computing </a:t>
            </a:r>
            <a:r>
              <a:rPr lang="en-US" altLang="zh-TW" dirty="0">
                <a:solidFill>
                  <a:srgbClr val="0000FF"/>
                </a:solidFill>
              </a:rPr>
              <a:t>the Minimum Cut and Maximum Flow of Undirected Graphs</a:t>
            </a:r>
            <a:r>
              <a:rPr lang="en-US" altLang="zh-TW" dirty="0" smtClean="0">
                <a:solidFill>
                  <a:srgbClr val="0000FF"/>
                </a:solidFill>
              </a:rPr>
              <a:t>.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pt-BR" altLang="zh-TW" dirty="0" smtClean="0">
                <a:solidFill>
                  <a:srgbClr val="0000FF"/>
                </a:solidFill>
              </a:rPr>
              <a:t>Universidade </a:t>
            </a:r>
            <a:r>
              <a:rPr lang="pt-BR" altLang="zh-TW" dirty="0">
                <a:solidFill>
                  <a:srgbClr val="0000FF"/>
                </a:solidFill>
              </a:rPr>
              <a:t>Federal do </a:t>
            </a:r>
            <a:r>
              <a:rPr lang="pt-BR" altLang="zh-TW" dirty="0" smtClean="0">
                <a:solidFill>
                  <a:srgbClr val="0000FF"/>
                </a:solidFill>
              </a:rPr>
              <a:t>Paraná, Departamento </a:t>
            </a:r>
            <a:r>
              <a:rPr lang="pt-BR" altLang="zh-TW" dirty="0">
                <a:solidFill>
                  <a:srgbClr val="0000FF"/>
                </a:solidFill>
              </a:rPr>
              <a:t>de Informática, </a:t>
            </a:r>
            <a:r>
              <a:rPr lang="pt-BR" altLang="zh-TW" dirty="0" smtClean="0">
                <a:solidFill>
                  <a:srgbClr val="0000FF"/>
                </a:solidFill>
              </a:rPr>
              <a:t>Relat</a:t>
            </a:r>
            <a:r>
              <a:rPr lang="pt-BR" altLang="zh-TW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pt-BR" altLang="zh-TW" dirty="0" smtClean="0">
                <a:solidFill>
                  <a:srgbClr val="0000FF"/>
                </a:solidFill>
              </a:rPr>
              <a:t>rio T</a:t>
            </a:r>
            <a:r>
              <a:rPr lang="en-US" altLang="zh-TW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pt-BR" altLang="zh-TW" dirty="0" smtClean="0">
                <a:solidFill>
                  <a:srgbClr val="0000FF"/>
                </a:solidFill>
              </a:rPr>
              <a:t>cnico RT-DINF 003/2004,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dirty="0">
                <a:solidFill>
                  <a:srgbClr val="0000FF"/>
                </a:solidFill>
              </a:rPr>
              <a:t>Curitiba PR </a:t>
            </a:r>
            <a:r>
              <a:rPr lang="en-US" altLang="zh-TW" dirty="0" smtClean="0">
                <a:solidFill>
                  <a:srgbClr val="0000FF"/>
                </a:solidFill>
              </a:rPr>
              <a:t>Brazil,</a:t>
            </a:r>
            <a:endParaRPr lang="en-US" altLang="zh-TW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lang="en-US" altLang="zh-TW" dirty="0" smtClean="0">
                <a:solidFill>
                  <a:srgbClr val="0000FF"/>
                </a:solidFill>
              </a:rPr>
              <a:t>2004.</a:t>
            </a:r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43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Flow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 eaLnBrk="1" hangingPunct="1">
                  <a:spcBef>
                    <a:spcPts val="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is a real-valued function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f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: </a:t>
                </a:r>
                <a:r>
                  <a:rPr lang="en-US" altLang="zh-TW" i="1" spc="300" dirty="0" err="1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pc="50" dirty="0" err="1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×</a:t>
                </a:r>
                <a:r>
                  <a:rPr lang="en-US" altLang="zh-TW" i="1" dirty="0" err="1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itchFamily="18" charset="0"/>
                    <a:sym typeface="Symbol" pitchFamily="18" charset="2"/>
                  </a:rPr>
                  <a:t>⟶</a:t>
                </a:r>
                <a:r>
                  <a:rPr lang="en-US" altLang="zh-TW" dirty="0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lang="en-US" altLang="zh-TW" b="1" i="1" dirty="0">
                    <a:solidFill>
                      <a:srgbClr val="000000"/>
                    </a:solidFill>
                    <a:cs typeface="Times New Roman" pitchFamily="18" charset="0"/>
                    <a:sym typeface="Symbol" pitchFamily="18" charset="2"/>
                  </a:rPr>
                  <a:t>R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that satisfies the following three properties:</a:t>
                </a:r>
                <a:endParaRPr lang="en-US" altLang="zh-TW" b="1" i="1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spcBef>
                    <a:spcPts val="240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FF"/>
                    </a:solidFill>
                  </a:rPr>
                  <a:t>Capacity constraint: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For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≤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c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).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spcBef>
                    <a:spcPts val="2400"/>
                  </a:spcBef>
                  <a:spcAft>
                    <a:spcPts val="1200"/>
                  </a:spcAft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FF"/>
                    </a:solidFill>
                  </a:rPr>
                  <a:t>Skew symmetry: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For all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spc="1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spc="300" dirty="0">
                    <a:solidFill>
                      <a:srgbClr val="000000"/>
                    </a:solidFill>
                  </a:rPr>
                  <a:t>.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spcBef>
                    <a:spcPts val="2400"/>
                  </a:spcBef>
                  <a:buClr>
                    <a:srgbClr val="3333CC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Flow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conservation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FF"/>
                          </a:solidFill>
                        </a:rPr>
                        <m:t>: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For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all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u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  <a:sym typeface="Symbol" pitchFamily="18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  <a:sym typeface="Symbol" pitchFamily="18" charset="2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 {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TW" i="1" dirty="0">
                          <a:solidFill>
                            <a:srgbClr val="000000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TW" dirty="0">
                          <a:solidFill>
                            <a:srgbClr val="000000"/>
                          </a:solidFill>
                        </a:rPr>
                        <m:t>},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sz="1200" dirty="0">
                              <a:solidFill>
                                <a:srgbClr val="00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>
                          <a:solidFill>
                            <a:srgbClr val="000000"/>
                          </a:solidFill>
                        </a:rPr>
                        <m:t>0</m:t>
                      </m:r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dirty="0">
                  <a:solidFill>
                    <a:srgbClr val="0000FF"/>
                  </a:solidFill>
                </a:endParaRPr>
              </a:p>
              <a:p>
                <a:pPr marL="0" lvl="0" indent="0" eaLnBrk="1" hangingPunct="1">
                  <a:spcBef>
                    <a:spcPts val="0"/>
                  </a:spcBef>
                  <a:buClr>
                    <a:srgbClr val="3333CC"/>
                  </a:buClr>
                </a:pP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spcBef>
                    <a:spcPts val="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When {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∉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there can be no flow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0.</a:t>
                </a:r>
                <a:endParaRPr lang="zh-TW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9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118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</a:t>
            </a:r>
            <a:r>
              <a:rPr lang="en-US" altLang="zh-TW" dirty="0" smtClean="0"/>
              <a:t>Example </a:t>
            </a:r>
            <a:r>
              <a:rPr lang="en-US" altLang="zh-TW" dirty="0"/>
              <a:t>of </a:t>
            </a:r>
            <a:r>
              <a:rPr lang="en-US" altLang="zh-TW" dirty="0" smtClean="0"/>
              <a:t>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</a:pP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12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12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</a:pP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s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spc="1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>
                <a:solidFill>
                  <a:srgbClr val="000000"/>
                </a:solidFill>
              </a:rPr>
              <a:t>12</a:t>
            </a:r>
            <a:r>
              <a:rPr lang="en-US" altLang="zh-TW" dirty="0">
                <a:solidFill>
                  <a:srgbClr val="000000"/>
                </a:solidFill>
              </a:rPr>
              <a:t>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0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12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</a:pP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s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2000" spc="1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>
                <a:solidFill>
                  <a:srgbClr val="000000"/>
                </a:solidFill>
              </a:rPr>
              <a:t>12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0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11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</a:pP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2000" spc="1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>
                <a:solidFill>
                  <a:srgbClr val="000000"/>
                </a:solidFill>
              </a:rPr>
              <a:t>12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2000" spc="1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>
                <a:solidFill>
                  <a:srgbClr val="000000"/>
                </a:solidFill>
              </a:rPr>
              <a:t>1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spc="1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>
                <a:solidFill>
                  <a:srgbClr val="000000"/>
                </a:solidFill>
              </a:rPr>
              <a:t>7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20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</a:pP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spc="1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>
                <a:solidFill>
                  <a:srgbClr val="000000"/>
                </a:solidFill>
              </a:rPr>
              <a:t>11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7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4</a:t>
            </a:r>
          </a:p>
          <a:p>
            <a:pPr marL="0" lvl="0" indent="0" eaLnBrk="1" hangingPunct="1">
              <a:spcBef>
                <a:spcPts val="600"/>
              </a:spcBef>
              <a:buClr>
                <a:srgbClr val="3333CC"/>
              </a:buClr>
              <a:tabLst>
                <a:tab pos="2160000" algn="l"/>
                <a:tab pos="4320000" algn="l"/>
                <a:tab pos="6480000" algn="l"/>
              </a:tabLst>
            </a:pP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3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spc="1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>
                <a:solidFill>
                  <a:srgbClr val="000000"/>
                </a:solidFill>
              </a:rPr>
              <a:t>20	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v</a:t>
            </a:r>
            <a:r>
              <a:rPr lang="en-US" altLang="zh-TW" baseline="-25000" dirty="0" err="1">
                <a:solidFill>
                  <a:srgbClr val="000000"/>
                </a:solidFill>
              </a:rPr>
              <a:t>4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spc="1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>
                <a:solidFill>
                  <a:srgbClr val="000000"/>
                </a:solidFill>
              </a:rPr>
              <a:t>4</a:t>
            </a:r>
            <a:endParaRPr lang="en-US" altLang="zh-TW" dirty="0">
              <a:solidFill>
                <a:srgbClr val="000000"/>
              </a:solidFill>
            </a:endParaRPr>
          </a:p>
          <a:p>
            <a:pPr lvl="0" eaLnBrk="1" hangingPunct="1">
              <a:spcBef>
                <a:spcPts val="600"/>
              </a:spcBef>
              <a:buClr>
                <a:srgbClr val="3333CC"/>
              </a:buClr>
              <a:tabLst>
                <a:tab pos="1970088" algn="l"/>
                <a:tab pos="4305300" algn="l"/>
                <a:tab pos="6276975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For other pairs of nodes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),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              </a:t>
            </a:r>
            <a:r>
              <a:rPr lang="en-US" altLang="zh-TW" i="1" dirty="0">
                <a:solidFill>
                  <a:srgbClr val="FF0000"/>
                </a:solidFill>
              </a:rPr>
              <a:t>f </a:t>
            </a:r>
            <a:r>
              <a:rPr lang="en-US" altLang="zh-TW" dirty="0">
                <a:solidFill>
                  <a:srgbClr val="FF0000"/>
                </a:solidFill>
              </a:rPr>
              <a:t>: </a:t>
            </a:r>
            <a:r>
              <a:rPr lang="en-US" altLang="zh-TW" i="1" dirty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zh-TW" spc="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itchFamily="18" charset="0"/>
                <a:sym typeface="Symbol" pitchFamily="18" charset="2"/>
              </a:rPr>
              <a:t>×</a:t>
            </a:r>
            <a:r>
              <a:rPr lang="en-US" altLang="zh-TW" i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 </a:t>
            </a:r>
            <a:r>
              <a:rPr lang="en-US" altLang="zh-TW" b="1" i="1" dirty="0" smtClean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R</a:t>
            </a:r>
            <a:endParaRPr lang="en-US" altLang="zh-TW" b="1" i="1" dirty="0">
              <a:solidFill>
                <a:srgbClr val="FF0000"/>
              </a:solidFill>
              <a:cs typeface="Times New Roman" pitchFamily="18" charset="0"/>
              <a:sym typeface="Symbol" pitchFamily="18" charset="2"/>
            </a:endParaRPr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000" y="369000"/>
            <a:ext cx="4680000" cy="288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47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maximum-flow </a:t>
            </a:r>
            <a:r>
              <a:rPr lang="en-US" altLang="zh-TW" dirty="0" smtClean="0"/>
              <a:t>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9000"/>
                <a:ext cx="8640000" cy="3060000"/>
              </a:xfrm>
            </p:spPr>
            <p:txBody>
              <a:bodyPr/>
              <a:lstStyle/>
              <a:p>
                <a:pPr marL="0" lvl="0" indent="0" eaLnBrk="1" hangingPunct="1">
                  <a:spcAft>
                    <a:spcPts val="1200"/>
                  </a:spcAft>
                  <a:buClr>
                    <a:srgbClr val="3333CC"/>
                  </a:buClr>
                </a:pPr>
                <a:r>
                  <a:rPr lang="en-US" altLang="zh-TW" dirty="0" smtClean="0">
                    <a:solidFill>
                      <a:srgbClr val="000000"/>
                    </a:solidFill>
                  </a:rPr>
                  <a:t>We call the nonnegative quantity 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the 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from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to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 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value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b="1" spc="600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i="1" spc="600" dirty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b="1" dirty="0">
                    <a:solidFill>
                      <a:srgbClr val="000000"/>
                    </a:solidFill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of a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flow</a:t>
                </a:r>
                <a:r>
                  <a:rPr lang="en-US" altLang="zh-TW" spc="200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f</a:t>
                </a:r>
                <a:r>
                  <a:rPr lang="en-US" altLang="zh-TW" spc="300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is defined as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,</a:t>
                </a:r>
                <a:endParaRPr lang="zh-TW" altLang="en-US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|=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altLang="zh-TW" sz="1600" i="1" spc="150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sz="1600" spc="1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altLang="zh-TW" sz="1600" i="1" dirty="0">
                              <a:solidFill>
                                <a:srgbClr val="000000"/>
                              </a:solidFill>
                              <a:sym typeface="Symbol" pitchFamily="18" charset="2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TW" i="1" spc="300" dirty="0">
                              <a:solidFill>
                                <a:srgbClr val="000000"/>
                              </a:solidFill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b="0" i="1" dirty="0" smtClean="0">
                              <a:solidFill>
                                <a:srgbClr val="000000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altLang="zh-TW" i="1" dirty="0">
                              <a:solidFill>
                                <a:srgbClr val="000000"/>
                              </a:solidFill>
                            </a:rPr>
                            <m:t>v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solidFill>
                                <a:srgbClr val="000000"/>
                              </a:solidFill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TW" dirty="0"/>
              </a:p>
              <a:p>
                <a:pPr marL="0" lvl="0" indent="0" eaLnBrk="1" hangingPunct="1">
                  <a:spcBef>
                    <a:spcPts val="1200"/>
                  </a:spcBef>
                  <a:buClr>
                    <a:srgbClr val="3333CC"/>
                  </a:buClr>
                </a:pPr>
                <a:r>
                  <a:rPr lang="en-US" altLang="zh-TW" dirty="0" smtClean="0">
                    <a:solidFill>
                      <a:srgbClr val="000000"/>
                    </a:solidFill>
                  </a:rPr>
                  <a:t>that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is, the total flow out of the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source.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0" lvl="0" indent="0" eaLnBrk="1" hangingPunct="1">
                  <a:spcBef>
                    <a:spcPct val="50000"/>
                  </a:spcBef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In the 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maximum-</a:t>
                </a:r>
                <a:r>
                  <a:rPr lang="en-US" altLang="zh-TW" i="1" spc="300" dirty="0">
                    <a:solidFill>
                      <a:srgbClr val="0000FF"/>
                    </a:solidFill>
                  </a:rPr>
                  <a:t>f</a:t>
                </a:r>
                <a:r>
                  <a:rPr lang="en-US" altLang="zh-TW" i="1" dirty="0">
                    <a:solidFill>
                      <a:srgbClr val="0000FF"/>
                    </a:solidFill>
                  </a:rPr>
                  <a:t>low problem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we are given a flow network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with source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and sink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t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and we wish to find a flow of maximum value.</a:t>
                </a:r>
                <a:endParaRPr lang="zh-TW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9000"/>
                <a:ext cx="8640000" cy="3060000"/>
              </a:xfrm>
              <a:blipFill>
                <a:blip r:embed="rId2"/>
                <a:stretch>
                  <a:fillRect l="-917" t="-1394" r="-776" b="-39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1668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Residual </a:t>
            </a:r>
            <a:r>
              <a:rPr lang="en-US" altLang="zh-TW" dirty="0" smtClean="0"/>
              <a:t>Networks</a:t>
            </a:r>
            <a:endParaRPr lang="zh-TW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252000" y="1269000"/>
            <a:ext cx="8640000" cy="3240000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</a:pPr>
            <a:r>
              <a:rPr lang="en-US" altLang="zh-TW" dirty="0" smtClean="0"/>
              <a:t>Suppose that we have an </a:t>
            </a:r>
            <a:r>
              <a:rPr lang="en-US" altLang="zh-TW" dirty="0"/>
              <a:t>undirected </a:t>
            </a:r>
            <a:r>
              <a:rPr lang="en-US" altLang="zh-TW" dirty="0" smtClean="0"/>
              <a:t>flow </a:t>
            </a:r>
            <a:r>
              <a:rPr lang="en-US" altLang="zh-TW" dirty="0"/>
              <a:t>network </a:t>
            </a:r>
            <a:r>
              <a:rPr lang="en-US" altLang="zh-TW" i="1" dirty="0"/>
              <a:t>G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(</a:t>
            </a:r>
            <a:r>
              <a:rPr lang="en-US" altLang="zh-TW" i="1" dirty="0"/>
              <a:t>V</a:t>
            </a:r>
            <a:r>
              <a:rPr lang="en-US" altLang="zh-TW" dirty="0"/>
              <a:t>, </a:t>
            </a:r>
            <a:r>
              <a:rPr lang="en-US" altLang="zh-TW" i="1" spc="300" dirty="0" smtClean="0"/>
              <a:t>E</a:t>
            </a:r>
            <a:r>
              <a:rPr lang="en-US" altLang="zh-TW" dirty="0" smtClean="0"/>
              <a:t>) </a:t>
            </a:r>
            <a:r>
              <a:rPr lang="en-US" altLang="zh-TW" dirty="0"/>
              <a:t>with source </a:t>
            </a:r>
            <a:r>
              <a:rPr lang="en-US" altLang="zh-TW" i="1" dirty="0"/>
              <a:t>s</a:t>
            </a:r>
            <a:r>
              <a:rPr lang="en-US" altLang="zh-TW" dirty="0"/>
              <a:t> and sink </a:t>
            </a:r>
            <a:r>
              <a:rPr lang="en-US" altLang="zh-TW" i="1" dirty="0"/>
              <a:t>t</a:t>
            </a:r>
            <a:r>
              <a:rPr lang="en-US" altLang="zh-TW" dirty="0"/>
              <a:t>. Let </a:t>
            </a:r>
            <a:r>
              <a:rPr lang="en-US" altLang="zh-TW" sz="1200" dirty="0"/>
              <a:t> </a:t>
            </a:r>
            <a:r>
              <a:rPr lang="en-US" altLang="zh-TW" i="1" dirty="0"/>
              <a:t>f  </a:t>
            </a:r>
            <a:r>
              <a:rPr lang="en-US" altLang="zh-TW" dirty="0"/>
              <a:t>be a flow in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, </a:t>
            </a:r>
            <a:r>
              <a:rPr lang="en-US" altLang="zh-TW" dirty="0"/>
              <a:t>and consider a pair of vertices </a:t>
            </a:r>
            <a:r>
              <a:rPr lang="en-US" altLang="zh-TW" i="1" dirty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V</a:t>
            </a:r>
            <a:r>
              <a:rPr lang="en-US" altLang="zh-TW" dirty="0"/>
              <a:t>. We define the </a:t>
            </a:r>
            <a:r>
              <a:rPr lang="en-US" altLang="zh-TW" i="1" dirty="0">
                <a:solidFill>
                  <a:srgbClr val="0000FF"/>
                </a:solidFill>
              </a:rPr>
              <a:t>residual capacity</a:t>
            </a:r>
            <a:r>
              <a:rPr lang="en-US" altLang="zh-TW" dirty="0"/>
              <a:t>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r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u</a:t>
            </a:r>
            <a:r>
              <a:rPr lang="en-US" altLang="zh-TW" dirty="0"/>
              <a:t>, </a:t>
            </a:r>
            <a:r>
              <a:rPr lang="en-US" altLang="zh-TW" i="1" dirty="0"/>
              <a:t>v</a:t>
            </a:r>
            <a:r>
              <a:rPr lang="en-US" altLang="zh-TW" dirty="0"/>
              <a:t>) </a:t>
            </a:r>
            <a:r>
              <a:rPr lang="en-US" altLang="zh-TW" dirty="0" smtClean="0"/>
              <a:t>by</a:t>
            </a:r>
          </a:p>
          <a:p>
            <a:pPr marL="0" indent="0" eaLnBrk="1" hangingPunct="1">
              <a:spcBef>
                <a:spcPts val="0"/>
              </a:spcBef>
            </a:pPr>
            <a:endParaRPr lang="en-US" altLang="zh-TW" dirty="0"/>
          </a:p>
          <a:p>
            <a:pPr marL="540000" indent="0" eaLnBrk="1" hangingPunct="1">
              <a:spcBef>
                <a:spcPts val="0"/>
              </a:spcBef>
            </a:pP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})</a:t>
            </a:r>
            <a:r>
              <a:rPr lang="zh-TW" altLang="en-US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i="1" spc="300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).</a:t>
            </a:r>
            <a:endParaRPr lang="en-US" altLang="zh-TW" dirty="0" smtClean="0"/>
          </a:p>
          <a:p>
            <a:pPr marL="0" indent="0" eaLnBrk="1" hangingPunct="1">
              <a:spcBef>
                <a:spcPts val="0"/>
              </a:spcBef>
            </a:pPr>
            <a:endParaRPr lang="en-US" altLang="zh-TW" dirty="0" smtClean="0"/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810000" algn="l"/>
              </a:tabLst>
            </a:pPr>
            <a:r>
              <a:rPr lang="en-US" altLang="zh-TW" dirty="0" smtClean="0"/>
              <a:t>The </a:t>
            </a:r>
            <a:r>
              <a:rPr lang="en-US" altLang="zh-TW" i="1" dirty="0">
                <a:solidFill>
                  <a:srgbClr val="0000FF"/>
                </a:solidFill>
              </a:rPr>
              <a:t>residual network</a:t>
            </a:r>
            <a:r>
              <a:rPr lang="en-US" altLang="zh-TW" dirty="0"/>
              <a:t> of </a:t>
            </a:r>
            <a:r>
              <a:rPr lang="en-US" altLang="zh-TW" i="1" dirty="0"/>
              <a:t>G</a:t>
            </a:r>
            <a:r>
              <a:rPr lang="en-US" altLang="zh-TW" dirty="0"/>
              <a:t> induced by </a:t>
            </a:r>
            <a:r>
              <a:rPr lang="en-US" altLang="zh-TW" i="1" dirty="0"/>
              <a:t>f</a:t>
            </a:r>
            <a:r>
              <a:rPr lang="en-US" altLang="zh-TW" dirty="0"/>
              <a:t> </a:t>
            </a:r>
            <a:r>
              <a:rPr lang="en-US" altLang="zh-TW" sz="1200" dirty="0"/>
              <a:t> </a:t>
            </a:r>
            <a:r>
              <a:rPr lang="en-US" altLang="zh-TW" dirty="0" smtClean="0"/>
              <a:t>is directed </a:t>
            </a:r>
            <a:r>
              <a:rPr lang="en-US" altLang="zh-TW" dirty="0"/>
              <a:t>graph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, </a:t>
            </a:r>
            <a:r>
              <a:rPr lang="en-US" altLang="zh-TW" dirty="0">
                <a:solidFill>
                  <a:srgbClr val="000000"/>
                </a:solidFill>
              </a:rPr>
              <a:t>where	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{(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300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: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})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0}, or equivalently,</a:t>
            </a:r>
          </a:p>
          <a:p>
            <a:pPr marL="810000" lvl="0" indent="0" eaLnBrk="1" hangingPunct="1">
              <a:spcBef>
                <a:spcPts val="0"/>
              </a:spcBef>
              <a:buClr>
                <a:srgbClr val="3333CC"/>
              </a:buClr>
            </a:pP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{(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300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: </a:t>
            </a:r>
            <a:r>
              <a:rPr lang="en-US" altLang="zh-TW" dirty="0">
                <a:solidFill>
                  <a:srgbClr val="000000"/>
                </a:solidFill>
              </a:rPr>
              <a:t>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E</a:t>
            </a:r>
            <a:r>
              <a:rPr lang="en-US" altLang="zh-TW" dirty="0" smtClean="0">
                <a:solidFill>
                  <a:srgbClr val="000000"/>
                </a:solidFill>
              </a:rPr>
              <a:t>}</a:t>
            </a:r>
            <a:r>
              <a:rPr lang="en-US" altLang="zh-TW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534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dirty="0">
                <a:solidFill>
                  <a:srgbClr val="000000"/>
                </a:solidFill>
              </a:rPr>
              <a:t>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{(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spc="300" dirty="0" err="1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pc="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: </a:t>
            </a:r>
            <a:r>
              <a:rPr lang="en-US" altLang="zh-TW" dirty="0" smtClean="0">
                <a:solidFill>
                  <a:srgbClr val="000000"/>
                </a:solidFill>
              </a:rPr>
              <a:t>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i="1" dirty="0" smtClean="0"/>
              <a:t>E</a:t>
            </a:r>
            <a:r>
              <a:rPr lang="en-US" altLang="zh-TW" dirty="0" smtClean="0">
                <a:solidFill>
                  <a:srgbClr val="000000"/>
                </a:solidFill>
              </a:rPr>
              <a:t>}</a:t>
            </a:r>
            <a:endParaRPr lang="zh-TW" altLang="en-US" dirty="0"/>
          </a:p>
        </p:txBody>
      </p:sp>
      <p:sp>
        <p:nvSpPr>
          <p:cNvPr id="9" name="內容版面配置區 1"/>
          <p:cNvSpPr txBox="1">
            <a:spLocks/>
          </p:cNvSpPr>
          <p:nvPr/>
        </p:nvSpPr>
        <p:spPr bwMode="auto">
          <a:xfrm>
            <a:off x="6732000" y="4869000"/>
            <a:ext cx="72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R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0" name="內容版面配置區 1"/>
          <p:cNvSpPr txBox="1">
            <a:spLocks/>
          </p:cNvSpPr>
          <p:nvPr/>
        </p:nvSpPr>
        <p:spPr bwMode="auto">
          <a:xfrm>
            <a:off x="6732000" y="1269000"/>
            <a:ext cx="72009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41338" marR="0" lvl="0" indent="-541338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3333CC"/>
              </a:buClr>
              <a:buSzTx/>
              <a:buFont typeface="Wingdings" pitchFamily="2" charset="2"/>
              <a:buNone/>
              <a:tabLst>
                <a:tab pos="985838" algn="l"/>
                <a:tab pos="1339850" algn="l"/>
                <a:tab pos="1438275" algn="l"/>
                <a:tab pos="1793875" algn="l"/>
                <a:tab pos="2335213" algn="l"/>
                <a:tab pos="2778125" algn="l"/>
              </a:tabLst>
              <a:defRPr/>
            </a:pPr>
            <a:r>
              <a:rPr kumimoji="1" lang="en-US" altLang="zh-TW" sz="4400" b="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G</a:t>
            </a:r>
            <a:endParaRPr kumimoji="1" lang="en-US" altLang="zh-TW" sz="4400" b="0" i="1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9000"/>
            <a:ext cx="4680000" cy="2885806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609000"/>
            <a:ext cx="4680000" cy="29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44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We assume that the nodes of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 are numbered 1, 2, ...,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, and let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r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</a:rPr>
              <a:t>be an </a:t>
            </a:r>
            <a:r>
              <a:rPr lang="en-US" altLang="zh-TW" i="1" spc="150" dirty="0" err="1">
                <a:solidFill>
                  <a:srgbClr val="000000"/>
                </a:solidFill>
              </a:rPr>
              <a:t>n</a:t>
            </a:r>
            <a:r>
              <a:rPr lang="en-US" altLang="zh-TW" sz="1800" spc="1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en-US" altLang="zh-TW" spc="100" dirty="0">
                <a:solidFill>
                  <a:srgbClr val="000000"/>
                </a:solidFill>
              </a:rPr>
              <a:t>-</a:t>
            </a:r>
            <a:r>
              <a:rPr lang="en-US" altLang="zh-TW" dirty="0">
                <a:solidFill>
                  <a:srgbClr val="000000"/>
                </a:solidFill>
              </a:rPr>
              <a:t>d array.</a:t>
            </a:r>
          </a:p>
          <a:p>
            <a:pPr marL="0" lvl="0" indent="0" eaLnBrk="1" hangingPunct="1">
              <a:spcBef>
                <a:spcPts val="1200"/>
              </a:spcBef>
              <a:buClr>
                <a:srgbClr val="3333CC"/>
              </a:buClr>
              <a:defRPr/>
            </a:pPr>
            <a:r>
              <a:rPr lang="en-US" altLang="zh-TW" dirty="0" err="1" smtClean="0">
                <a:solidFill>
                  <a:srgbClr val="000000"/>
                </a:solidFill>
              </a:rPr>
              <a:t>FordFulkerson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R.V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R.V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dirty="0">
                <a:solidFill>
                  <a:srgbClr val="000000"/>
                </a:solidFill>
              </a:rPr>
              <a:t>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r>
              <a:rPr lang="en-US" altLang="zh-TW" dirty="0" smtClean="0">
                <a:solidFill>
                  <a:srgbClr val="000000"/>
                </a:solidFill>
              </a:rPr>
              <a:t>)                </a:t>
            </a:r>
            <a:r>
              <a:rPr lang="en-US" altLang="zh-TW" i="1" dirty="0" err="1" smtClean="0">
                <a:solidFill>
                  <a:srgbClr val="FF0000"/>
                </a:solidFill>
              </a:rPr>
              <a:t>r</a:t>
            </a:r>
            <a:r>
              <a:rPr lang="en-US" altLang="zh-TW" i="1" spc="100" dirty="0" err="1" smtClean="0">
                <a:solidFill>
                  <a:srgbClr val="FF0000"/>
                </a:solidFill>
              </a:rPr>
              <a:t>c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zh-TW" i="1" dirty="0" smtClean="0">
                <a:solidFill>
                  <a:srgbClr val="FF0000"/>
                </a:solidFill>
              </a:rPr>
              <a:t>u</a:t>
            </a:r>
            <a:r>
              <a:rPr lang="en-US" altLang="zh-TW" dirty="0" smtClean="0">
                <a:solidFill>
                  <a:srgbClr val="FF0000"/>
                </a:solidFill>
              </a:rPr>
              <a:t>, </a:t>
            </a:r>
            <a:r>
              <a:rPr lang="en-US" altLang="zh-TW" i="1" dirty="0" smtClean="0">
                <a:solidFill>
                  <a:srgbClr val="FF0000"/>
                </a:solidFill>
              </a:rPr>
              <a:t>v</a:t>
            </a:r>
            <a:r>
              <a:rPr lang="en-US" altLang="zh-TW" dirty="0" smtClean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c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zh-TW" dirty="0">
                <a:solidFill>
                  <a:srgbClr val="FF0000"/>
                </a:solidFill>
              </a:rPr>
              <a:t>{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  <a:r>
              <a:rPr lang="en-US" altLang="zh-TW" dirty="0" smtClean="0">
                <a:solidFill>
                  <a:srgbClr val="FF0000"/>
                </a:solidFill>
              </a:rPr>
              <a:t>) </a:t>
            </a:r>
            <a:r>
              <a:rPr lang="en-US" altLang="zh-TW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i="1" dirty="0">
                <a:solidFill>
                  <a:srgbClr val="FF0000"/>
                </a:solidFill>
              </a:rPr>
              <a:t>f</a:t>
            </a:r>
            <a:r>
              <a:rPr lang="en-US" altLang="zh-TW" dirty="0">
                <a:solidFill>
                  <a:srgbClr val="FF0000"/>
                </a:solidFill>
              </a:rPr>
              <a:t> (</a:t>
            </a:r>
            <a:r>
              <a:rPr lang="en-US" altLang="zh-TW" i="1" dirty="0">
                <a:solidFill>
                  <a:srgbClr val="FF0000"/>
                </a:solidFill>
              </a:rPr>
              <a:t>u</a:t>
            </a:r>
            <a:r>
              <a:rPr lang="en-US" altLang="zh-TW" dirty="0">
                <a:solidFill>
                  <a:srgbClr val="FF0000"/>
                </a:solidFill>
              </a:rPr>
              <a:t>, </a:t>
            </a:r>
            <a:r>
              <a:rPr lang="en-US" altLang="zh-TW" i="1" dirty="0">
                <a:solidFill>
                  <a:srgbClr val="FF0000"/>
                </a:solidFill>
              </a:rPr>
              <a:t>v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return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maxflow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168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12000" y="504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lvl="0">
              <a:defRPr/>
            </a:pP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maxflow</a:t>
            </a:r>
            <a:endParaRPr kumimoji="1" lang="en-US" altLang="zh-TW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2000" y="4689000"/>
            <a:ext cx="9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0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856827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12000" y="504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lvl="0">
              <a:defRPr/>
            </a:pP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maxflow</a:t>
            </a:r>
            <a:endParaRPr kumimoji="1" lang="en-US" altLang="zh-TW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2000" y="4689000"/>
            <a:ext cx="9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0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070685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2000" y="504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lvl="0">
              <a:defRPr/>
            </a:pP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maxflow</a:t>
            </a:r>
            <a:endParaRPr kumimoji="1" lang="en-US" altLang="zh-TW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2000" y="4689000"/>
            <a:ext cx="9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4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284211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6"/>
          </a:xfrm>
          <a:prstGeom prst="rect">
            <a:avLst/>
          </a:prstGeom>
        </p:spPr>
      </p:pic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2000" y="504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lvl="0">
              <a:defRPr/>
            </a:pP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maxflow</a:t>
            </a:r>
            <a:endParaRPr kumimoji="1" lang="en-US" altLang="zh-TW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2000" y="4689000"/>
            <a:ext cx="9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4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296832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12000" y="504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lvl="0">
              <a:defRPr/>
            </a:pP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maxflow</a:t>
            </a:r>
            <a:endParaRPr kumimoji="1" lang="en-US" altLang="zh-TW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2000" y="4689000"/>
            <a:ext cx="9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12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84234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2000" y="504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lvl="0">
              <a:defRPr/>
            </a:pP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maxflow</a:t>
            </a:r>
            <a:endParaRPr kumimoji="1" lang="en-US" altLang="zh-TW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2000" y="4689000"/>
            <a:ext cx="9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12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73307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2000" y="504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lvl="0">
              <a:defRPr/>
            </a:pP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maxflow</a:t>
            </a:r>
            <a:endParaRPr kumimoji="1" lang="en-US" altLang="zh-TW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2000" y="4689000"/>
            <a:ext cx="9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19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6428347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2000" y="504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lvl="0">
              <a:defRPr/>
            </a:pP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maxflow</a:t>
            </a:r>
            <a:endParaRPr kumimoji="1" lang="en-US" altLang="zh-TW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2000" y="4689000"/>
            <a:ext cx="9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19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853172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3429000"/>
            <a:ext cx="4680000" cy="2965105"/>
          </a:xfrm>
          <a:prstGeom prst="rect">
            <a:avLst/>
          </a:prstGeom>
        </p:spPr>
      </p:pic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2000" y="5049000"/>
            <a:ext cx="12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Autofit/>
          </a:bodyPr>
          <a:lstStyle/>
          <a:p>
            <a:pPr lvl="0">
              <a:defRPr/>
            </a:pPr>
            <a:r>
              <a:rPr lang="en-US" altLang="zh-TW" sz="2200" i="1" kern="0" dirty="0" err="1">
                <a:solidFill>
                  <a:srgbClr val="000000"/>
                </a:solidFill>
                <a:latin typeface="Times New Roman"/>
                <a:ea typeface="新細明體"/>
              </a:rPr>
              <a:t>maxflow</a:t>
            </a:r>
            <a:endParaRPr kumimoji="1" lang="en-US" altLang="zh-TW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2000" y="4689000"/>
            <a:ext cx="90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200" dirty="0" smtClean="0"/>
              <a:t>24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2023310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We assume that the nodes of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E</a:t>
            </a:r>
            <a:r>
              <a:rPr lang="en-US" altLang="zh-TW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′</a:t>
            </a:r>
            <a:r>
              <a:rPr lang="en-US" altLang="zh-TW" dirty="0">
                <a:solidFill>
                  <a:srgbClr val="000000"/>
                </a:solidFill>
              </a:rPr>
              <a:t>) are numbered 1, 2, ...,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, and let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r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</a:rPr>
              <a:t>be an </a:t>
            </a:r>
            <a:r>
              <a:rPr lang="en-US" altLang="zh-TW" i="1" spc="150" dirty="0" err="1">
                <a:solidFill>
                  <a:srgbClr val="000000"/>
                </a:solidFill>
              </a:rPr>
              <a:t>n</a:t>
            </a:r>
            <a:r>
              <a:rPr lang="en-US" altLang="zh-TW" sz="1800" spc="15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altLang="zh-TW" i="1" dirty="0" err="1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2</a:t>
            </a:r>
            <a:r>
              <a:rPr lang="en-US" altLang="zh-TW" spc="100" dirty="0">
                <a:solidFill>
                  <a:srgbClr val="000000"/>
                </a:solidFill>
              </a:rPr>
              <a:t>-</a:t>
            </a:r>
            <a:r>
              <a:rPr lang="en-US" altLang="zh-TW" dirty="0">
                <a:solidFill>
                  <a:srgbClr val="000000"/>
                </a:solidFill>
              </a:rPr>
              <a:t>d array.</a:t>
            </a:r>
          </a:p>
          <a:p>
            <a:pPr marL="0" lvl="0" indent="0" eaLnBrk="1" hangingPunct="1">
              <a:spcBef>
                <a:spcPts val="1200"/>
              </a:spcBef>
              <a:buClr>
                <a:srgbClr val="3333CC"/>
              </a:buClr>
              <a:defRPr/>
            </a:pPr>
            <a:r>
              <a:rPr lang="en-US" altLang="zh-TW" dirty="0" err="1" smtClean="0">
                <a:solidFill>
                  <a:srgbClr val="000000"/>
                </a:solidFill>
              </a:rPr>
              <a:t>FordFulkerson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R.V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2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node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R.V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3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c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dirty="0">
                <a:solidFill>
                  <a:srgbClr val="000000"/>
                </a:solidFill>
              </a:rPr>
              <a:t>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989013" algn="l"/>
                <a:tab pos="1439863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4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  <a:endParaRPr lang="en-US" altLang="zh-TW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89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5	</a:t>
            </a:r>
            <a:r>
              <a:rPr lang="en-US" altLang="zh-TW" b="1" dirty="0">
                <a:solidFill>
                  <a:srgbClr val="000000"/>
                </a:solidFill>
              </a:rPr>
              <a:t>while</a:t>
            </a:r>
            <a:r>
              <a:rPr lang="en-US" altLang="zh-TW" dirty="0">
                <a:solidFill>
                  <a:srgbClr val="000000"/>
                </a:solidFill>
              </a:rPr>
              <a:t>	there	exists a path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from </a:t>
            </a:r>
            <a:r>
              <a:rPr lang="en-US" altLang="zh-TW" i="1" dirty="0">
                <a:solidFill>
                  <a:srgbClr val="000000"/>
                </a:solidFill>
              </a:rPr>
              <a:t>s</a:t>
            </a:r>
            <a:r>
              <a:rPr lang="en-US" altLang="zh-TW" dirty="0">
                <a:solidFill>
                  <a:srgbClr val="000000"/>
                </a:solidFill>
              </a:rPr>
              <a:t> to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 in the residual network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endParaRPr lang="en-US" altLang="zh-TW" i="1" baseline="-25000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69875" algn="r"/>
                <a:tab pos="539750" algn="l"/>
                <a:tab pos="1258888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		such that for 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6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min{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is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}</a:t>
            </a:r>
            <a:endParaRPr lang="en-US" altLang="zh-TW" b="1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	7		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8		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	each edge (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 in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endParaRPr lang="en-US" altLang="zh-TW" b="1" dirty="0">
              <a:solidFill>
                <a:srgbClr val="000000"/>
              </a:solidFill>
            </a:endParaRP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9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 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10			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][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r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spc="400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0"/>
              </a:spcBef>
              <a:buClr>
                <a:srgbClr val="3333CC"/>
              </a:buClr>
              <a:tabLst>
                <a:tab pos="270000" algn="r"/>
                <a:tab pos="540000" algn="l"/>
                <a:tab pos="1260000" algn="l"/>
                <a:tab pos="1710000" algn="l"/>
              </a:tabLst>
              <a:defRPr/>
            </a:pPr>
            <a:r>
              <a:rPr lang="en-US" altLang="zh-TW" dirty="0">
                <a:solidFill>
                  <a:srgbClr val="000000"/>
                </a:solidFill>
              </a:rPr>
              <a:t>	11	</a:t>
            </a:r>
            <a:r>
              <a:rPr lang="en-US" altLang="zh-TW" b="1" dirty="0">
                <a:solidFill>
                  <a:srgbClr val="000000"/>
                </a:solidFill>
              </a:rPr>
              <a:t>return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maxflow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160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memset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parent, -1,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sizeof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 ) 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parent[ s ] = s;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 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== t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][ v ] &gt; 0 &amp;&amp; parent[ v ] == -1 )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v ] = u;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789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edmondsKarp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bfs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t ] == -1 )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min(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maxFlow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= t; v != s; v = parent[ v 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parent[ v ] ][ v ] -=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v ][ parent[ v ] ] +=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minResCap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37840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55717</TotalTime>
  <Words>4546</Words>
  <Application>Microsoft Office PowerPoint</Application>
  <PresentationFormat>如螢幕大小 (4:3)</PresentationFormat>
  <Paragraphs>373</Paragraphs>
  <Slides>43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51" baseType="lpstr">
      <vt:lpstr>細明體</vt:lpstr>
      <vt:lpstr>新細明體</vt:lpstr>
      <vt:lpstr>Cambria Math</vt:lpstr>
      <vt:lpstr>Lucida Console</vt:lpstr>
      <vt:lpstr>Symbol</vt:lpstr>
      <vt:lpstr>Times New Roman</vt:lpstr>
      <vt:lpstr>Wingdings</vt:lpstr>
      <vt:lpstr>Blends</vt:lpstr>
      <vt:lpstr>Flow Networks</vt:lpstr>
      <vt:lpstr>Flow</vt:lpstr>
      <vt:lpstr>The Maximum-flow Problem</vt:lpstr>
      <vt:lpstr>Residual Networks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Undirected Flow Networks</vt:lpstr>
      <vt:lpstr>PowerPoint 簡報</vt:lpstr>
      <vt:lpstr>Flow</vt:lpstr>
      <vt:lpstr>An Example of Flow</vt:lpstr>
      <vt:lpstr>The maximum-flow problem</vt:lpstr>
      <vt:lpstr>Residual Networks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james</cp:lastModifiedBy>
  <cp:revision>1634</cp:revision>
  <dcterms:created xsi:type="dcterms:W3CDTF">1601-01-01T00:00:00Z</dcterms:created>
  <dcterms:modified xsi:type="dcterms:W3CDTF">2025-12-24T12:08:47Z</dcterms:modified>
</cp:coreProperties>
</file>