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9" r:id="rId3"/>
    <p:sldId id="514" r:id="rId4"/>
    <p:sldId id="548" r:id="rId5"/>
    <p:sldId id="549" r:id="rId6"/>
    <p:sldId id="546" r:id="rId7"/>
    <p:sldId id="554" r:id="rId8"/>
    <p:sldId id="551" r:id="rId9"/>
    <p:sldId id="552" r:id="rId10"/>
    <p:sldId id="543" r:id="rId11"/>
    <p:sldId id="556" r:id="rId12"/>
    <p:sldId id="542" r:id="rId13"/>
    <p:sldId id="511" r:id="rId14"/>
    <p:sldId id="512" r:id="rId15"/>
    <p:sldId id="513" r:id="rId16"/>
    <p:sldId id="509" r:id="rId17"/>
    <p:sldId id="555" r:id="rId18"/>
    <p:sldId id="510" r:id="rId19"/>
    <p:sldId id="550" r:id="rId20"/>
    <p:sldId id="508" r:id="rId21"/>
    <p:sldId id="558" r:id="rId22"/>
  </p:sldIdLst>
  <p:sldSz cx="9144000" cy="6858000" type="screen4x3"/>
  <p:notesSz cx="6734175" cy="98663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7F7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47" autoAdjust="0"/>
    <p:restoredTop sz="94590" autoAdjust="0"/>
  </p:normalViewPr>
  <p:slideViewPr>
    <p:cSldViewPr showGuides="1">
      <p:cViewPr varScale="1">
        <p:scale>
          <a:sx n="95" d="100"/>
          <a:sy n="95" d="100"/>
        </p:scale>
        <p:origin x="130" y="77"/>
      </p:cViewPr>
      <p:guideLst>
        <p:guide orient="horz" pos="397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E1142711-BC43-47F7-82A4-FD033B4833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3666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41363"/>
            <a:ext cx="4932363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797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BE065BA5-F94E-42AC-AC84-999F9EE4852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48883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1448" y="2708908"/>
            <a:ext cx="8641104" cy="1440184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149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51678" y="4509138"/>
            <a:ext cx="5040644" cy="1980253"/>
          </a:xfrm>
        </p:spPr>
        <p:txBody>
          <a:bodyPr/>
          <a:lstStyle>
            <a:lvl1pPr marL="0" indent="0"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5013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48" y="5409253"/>
            <a:ext cx="8641103" cy="1080138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6171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91517" y="4329115"/>
            <a:ext cx="7560966" cy="2160276"/>
          </a:xfrm>
        </p:spPr>
        <p:txBody>
          <a:bodyPr wrap="none"/>
          <a:lstStyle>
            <a:lvl1pPr marL="0" indent="0">
              <a:spcBef>
                <a:spcPts val="0"/>
              </a:spcBef>
              <a:buFontTx/>
              <a:buNone/>
              <a:defRPr sz="22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341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48" y="368609"/>
            <a:ext cx="8641103" cy="6300805"/>
          </a:xfrm>
        </p:spPr>
        <p:txBody>
          <a:bodyPr wrap="none"/>
          <a:lstStyle>
            <a:lvl1pPr marL="0" indent="0">
              <a:spcBef>
                <a:spcPts val="0"/>
              </a:spcBef>
              <a:buFontTx/>
              <a:buNone/>
              <a:defRPr sz="22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667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48" y="548632"/>
            <a:ext cx="8641104" cy="5400690"/>
          </a:xfrm>
        </p:spPr>
        <p:txBody>
          <a:bodyPr wrap="none"/>
          <a:lstStyle>
            <a:lvl1pPr marL="0" indent="0">
              <a:spcBef>
                <a:spcPts val="0"/>
              </a:spcBef>
              <a:buFontTx/>
              <a:buNone/>
              <a:defRPr sz="22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839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368609"/>
            <a:ext cx="5220667" cy="36004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1691632" y="3609024"/>
            <a:ext cx="7020897" cy="2880368"/>
          </a:xfrm>
        </p:spPr>
        <p:txBody>
          <a:bodyPr rIns="36000"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543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48" y="2348862"/>
            <a:ext cx="8281058" cy="2520321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/>
            </a:lvl1pPr>
          </a:lstStyle>
          <a:p>
            <a:pPr lvl="0"/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83434" y="5229231"/>
            <a:ext cx="9001149" cy="12601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3662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92092" y="4509138"/>
            <a:ext cx="3240414" cy="1080138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431471" y="5049207"/>
            <a:ext cx="8281058" cy="144018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646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2"/>
            <a:ext cx="8281057" cy="5760736"/>
          </a:xfrm>
        </p:spPr>
        <p:txBody>
          <a:bodyPr wrap="none"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158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3"/>
          <p:cNvSpPr>
            <a:spLocks noGrp="1" noChangeArrowheads="1"/>
          </p:cNvSpPr>
          <p:nvPr>
            <p:ph type="title"/>
          </p:nvPr>
        </p:nvSpPr>
        <p:spPr bwMode="auto">
          <a:xfrm>
            <a:off x="431471" y="188913"/>
            <a:ext cx="8281057" cy="89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6387" name="Rectangle 10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471" y="1268723"/>
            <a:ext cx="8281057" cy="5220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9" r:id="rId3"/>
    <p:sldLayoutId id="2147483662" r:id="rId4"/>
    <p:sldLayoutId id="2147483663" r:id="rId5"/>
    <p:sldLayoutId id="2147483665" r:id="rId6"/>
    <p:sldLayoutId id="2147483666" r:id="rId7"/>
    <p:sldLayoutId id="2147483667" r:id="rId8"/>
    <p:sldLayoutId id="2147483660" r:id="rId9"/>
    <p:sldLayoutId id="2147483661" r:id="rId10"/>
    <p:sldLayoutId id="2147483664" r:id="rId11"/>
    <p:sldLayoutId id="2147483658" r:id="rId12"/>
    <p:sldLayoutId id="2147483655" r:id="rId13"/>
    <p:sldLayoutId id="214748365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marL="838200" indent="-838200" eaLnBrk="1" hangingPunct="1"/>
            <a:r>
              <a:rPr lang="en-US" altLang="zh-TW" sz="5400" dirty="0"/>
              <a:t>Max </a:t>
            </a:r>
            <a:r>
              <a:rPr lang="en-US" altLang="zh-TW" sz="5400" dirty="0" err="1"/>
              <a:t>2D</a:t>
            </a:r>
            <a:r>
              <a:rPr lang="en-US" altLang="zh-TW" sz="5400" dirty="0"/>
              <a:t> Range Sum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Max </a:t>
            </a:r>
            <a:r>
              <a:rPr lang="en-US" altLang="zh-TW" dirty="0" err="1"/>
              <a:t>2D</a:t>
            </a:r>
            <a:r>
              <a:rPr lang="en-US" altLang="zh-TW" dirty="0"/>
              <a:t> Range Sum </a:t>
            </a:r>
            <a:r>
              <a:rPr lang="en-US" altLang="zh-TW" dirty="0" smtClean="0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3"/>
                <a:ext cx="8281057" cy="5040645"/>
              </a:xfrm>
            </p:spPr>
            <p:txBody>
              <a:bodyPr/>
              <a:lstStyle/>
              <a:p>
                <a:r>
                  <a:rPr lang="en-US" altLang="zh-TW" dirty="0" smtClean="0"/>
                  <a:t>Given a </a:t>
                </a:r>
                <a:r>
                  <a:rPr lang="en-US" altLang="zh-TW" dirty="0"/>
                  <a:t>matrix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of </a:t>
                </a:r>
                <a:r>
                  <a:rPr lang="en-US" altLang="zh-TW" dirty="0" smtClean="0"/>
                  <a:t>real numbers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a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maximum submatrix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of 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 is </a:t>
                </a:r>
                <a:r>
                  <a:rPr lang="en-US" altLang="zh-TW" dirty="0" smtClean="0"/>
                  <a:t>a </a:t>
                </a:r>
                <a:r>
                  <a:rPr lang="en-US" altLang="zh-TW" dirty="0"/>
                  <a:t>nonempty, </a:t>
                </a:r>
                <a:r>
                  <a:rPr lang="en-US" altLang="zh-TW" dirty="0" smtClean="0"/>
                  <a:t>contiguous </a:t>
                </a:r>
                <a:r>
                  <a:rPr lang="en-US" altLang="zh-TW" dirty="0"/>
                  <a:t>submatrix of 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 whose values have the largest sum. For example, in </a:t>
                </a:r>
                <a:r>
                  <a:rPr lang="en-US" altLang="zh-TW" dirty="0" smtClean="0"/>
                  <a:t>the following matrix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[2 </a:t>
                </a:r>
                <a:r>
                  <a:rPr lang="en-US" altLang="zh-TW" dirty="0"/>
                  <a:t>. . </a:t>
                </a:r>
                <a:r>
                  <a:rPr lang="en-US" altLang="zh-TW" dirty="0" smtClean="0"/>
                  <a:t>4]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2 . . 4]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with the sum </a:t>
                </a:r>
                <a:r>
                  <a:rPr lang="en-US" altLang="zh-TW" dirty="0" smtClean="0"/>
                  <a:t>29, is a maximum subarray </a:t>
                </a:r>
                <a:r>
                  <a:rPr lang="en-US" altLang="zh-TW" dirty="0"/>
                  <a:t>of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.</a:t>
                </a: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:endParaRPr lang="en-US" altLang="zh-TW" dirty="0" smtClean="0"/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:endParaRPr lang="en-US" altLang="zh-TW" dirty="0" smtClean="0"/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:endParaRPr lang="en-US" altLang="zh-TW" dirty="0" smtClean="0"/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:endParaRPr lang="en-US" altLang="zh-TW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m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200" dirty="0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n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spc="200" dirty="0">
                                          <a:solidFill>
                                            <a:srgbClr val="000000"/>
                                          </a:solidFill>
                                          <a:ea typeface="細明體" panose="02020509000000000000" pitchFamily="49" charset="-120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spc="200" dirty="0">
                                          <a:solidFill>
                                            <a:srgbClr val="000000"/>
                                          </a:solidFill>
                                          <a:ea typeface="細明體" panose="02020509000000000000" pitchFamily="49" charset="-120"/>
                                        </a:rPr>
                                        <m:t>b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dirty="0">
                                          <a:solidFill>
                                            <a:srgbClr val="000000"/>
                                          </a:solidFill>
                                          <a:ea typeface="細明體" panose="02020509000000000000" pitchFamily="49" charset="-120"/>
                                        </a:rPr>
                                        <m:t>m</m:t>
                                      </m:r>
                                    </m:lim>
                                  </m:limLow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ea typeface="細明體" panose="02020509000000000000" pitchFamily="49" charset="-120"/>
                                            </a:rPr>
                                            <m:t>l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600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ea typeface="細明體" panose="02020509000000000000" pitchFamily="49" charset="-120"/>
                                            </a:rPr>
                                            <m:t>r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dirty="0">
                                              <a:solidFill>
                                                <a:srgbClr val="000000"/>
                                              </a:solidFill>
                                              <a:ea typeface="細明體" panose="02020509000000000000" pitchFamily="49" charset="-120"/>
                                            </a:rPr>
                                            <m:t>n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TW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細明體" panose="02020509000000000000" pitchFamily="49" charset="-12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ea typeface="細明體" panose="02020509000000000000" pitchFamily="49" charset="-120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dirty="0">
                                              <a:solidFill>
                                                <a:srgbClr val="000000"/>
                                              </a:solidFill>
                                              <a:ea typeface="細明體" panose="02020509000000000000" pitchFamily="49" charset="-120"/>
                                            </a:rPr>
                                            <m:t>t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dirty="0">
                                              <a:solidFill>
                                                <a:srgbClr val="000000"/>
                                              </a:solidFill>
                                              <a:ea typeface="細明體" panose="02020509000000000000" pitchFamily="49" charset="-120"/>
                                            </a:rPr>
                                            <m:t>b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altLang="zh-TW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細明體" panose="02020509000000000000" pitchFamily="49" charset="-12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1800" i="1" spc="200" dirty="0">
                                                  <a:solidFill>
                                                    <a:srgbClr val="000000"/>
                                                  </a:solidFill>
                                                  <a:ea typeface="細明體" panose="02020509000000000000" pitchFamily="49" charset="-120"/>
                                                </a:rPr>
                                                <m:t>j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1800" spc="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1800" i="1" dirty="0">
                                                  <a:solidFill>
                                                    <a:srgbClr val="000000"/>
                                                  </a:solidFill>
                                                  <a:ea typeface="細明體" panose="02020509000000000000" pitchFamily="49" charset="-120"/>
                                                </a:rPr>
                                                <m:t>l</m:t>
                                              </m:r>
                                            </m:sub>
                                            <m:sup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1800" i="1" dirty="0">
                                                  <a:solidFill>
                                                    <a:srgbClr val="000000"/>
                                                  </a:solidFill>
                                                  <a:ea typeface="細明體" panose="02020509000000000000" pitchFamily="49" charset="-120"/>
                                                </a:rPr>
                                                <m:t>r</m:t>
                                              </m:r>
                                            </m:sup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i="1">
                                                  <a:solidFill>
                                                    <a:srgbClr val="000000"/>
                                                  </a:solidFill>
                                                  <a:ea typeface="細明體" panose="02020509000000000000" pitchFamily="49" charset="-120"/>
                                                </a:rPr>
                                                <m:t>A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細明體" panose="02020509000000000000" pitchFamily="49" charset="-12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a typeface="細明體" panose="02020509000000000000" pitchFamily="49" charset="-120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>
                                                  <a:solidFill>
                                                    <a:srgbClr val="000000"/>
                                                  </a:solidFill>
                                                  <a:ea typeface="細明體" panose="02020509000000000000" pitchFamily="49" charset="-120"/>
                                                </a:rPr>
                                                <m:t>[ 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i="1">
                                                  <a:solidFill>
                                                    <a:srgbClr val="000000"/>
                                                  </a:solidFill>
                                                  <a:ea typeface="細明體" panose="02020509000000000000" pitchFamily="49" charset="-120"/>
                                                </a:rPr>
                                                <m:t>j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>
                                                  <a:solidFill>
                                                    <a:srgbClr val="000000"/>
                                                  </a:solidFill>
                                                  <a:ea typeface="細明體" panose="02020509000000000000" pitchFamily="49" charset="-120"/>
                                                </a:rPr>
                                                <m:t>]</m:t>
                                              </m:r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3"/>
                <a:ext cx="8281057" cy="5040645"/>
              </a:xfrm>
              <a:blipFill>
                <a:blip r:embed="rId2"/>
                <a:stretch>
                  <a:fillRect l="-957" t="-846" r="-221" b="-10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189675"/>
              </p:ext>
            </p:extLst>
          </p:nvPr>
        </p:nvGraphicFramePr>
        <p:xfrm>
          <a:off x="2231701" y="2888931"/>
          <a:ext cx="342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395811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28206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t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b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Complete Search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7"/>
              <p:cNvSpPr>
                <a:spLocks noGrp="1"/>
              </p:cNvSpPr>
              <p:nvPr>
                <p:ph idx="1"/>
              </p:nvPr>
            </p:nvSpPr>
            <p:spPr>
              <a:xfrm>
                <a:off x="251447" y="1448747"/>
                <a:ext cx="6480829" cy="4860621"/>
              </a:xfrm>
            </p:spPr>
            <p:txBody>
              <a:bodyPr/>
              <a:lstStyle/>
              <a:p>
                <a:pPr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smtClean="0">
                          <a:solidFill>
                            <a:srgbClr val="000000"/>
                          </a:solidFill>
                          <a:latin typeface="Times New Roman"/>
                        </a:rPr>
                        <m:t>globalMax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TW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m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 spc="2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n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b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i="1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m</m:t>
                                      </m:r>
                                    </m:lim>
                                  </m:limLow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22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l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600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r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n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細明體" panose="02020509000000000000" pitchFamily="49" charset="-12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t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b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細明體" panose="02020509000000000000" pitchFamily="49" charset="-12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i="1" spc="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j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pc="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i="1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l</m:t>
                                              </m:r>
                                            </m:sub>
                                            <m:sup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i="1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r</m:t>
                                              </m:r>
                                            </m:sup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A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細明體" panose="02020509000000000000" pitchFamily="49" charset="-12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  <a:ea typeface="細明體" panose="02020509000000000000" pitchFamily="49" charset="-120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[ 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j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]</m:t>
                                              </m:r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TW" sz="1600" dirty="0" smtClean="0">
                  <a:solidFill>
                    <a:srgbClr val="0000FF"/>
                  </a:solidFill>
                  <a:ea typeface="細明體" panose="02020509000000000000" pitchFamily="49" charset="-120"/>
                </a:endParaRPr>
              </a:p>
              <a:p>
                <a:pPr>
                  <a:spcBef>
                    <a:spcPts val="300"/>
                  </a:spcBef>
                </a:pPr>
                <a:endParaRPr lang="en-US" altLang="zh-TW" sz="1600" dirty="0" smtClean="0">
                  <a:latin typeface="+mn-lt"/>
                  <a:ea typeface="細明體" panose="02020509000000000000" pitchFamily="49" charset="-120"/>
                </a:endParaRPr>
              </a:p>
              <a:p>
                <a:pPr>
                  <a:spcBef>
                    <a:spcPts val="300"/>
                  </a:spcBef>
                </a:pPr>
                <a:endParaRPr lang="en-US" altLang="zh-TW" sz="1600" dirty="0" smtClean="0">
                  <a:ea typeface="細明體" panose="02020509000000000000" pitchFamily="49" charset="-120"/>
                </a:endParaRPr>
              </a:p>
              <a:p>
                <a:pPr>
                  <a:spcBef>
                    <a:spcPts val="300"/>
                  </a:spcBef>
                </a:pPr>
                <a:endParaRPr lang="en-US" altLang="zh-TW" sz="1600" dirty="0" smtClean="0">
                  <a:ea typeface="細明體" panose="02020509000000000000" pitchFamily="49" charset="-120"/>
                </a:endParaRPr>
              </a:p>
              <a:p>
                <a:r>
                  <a:rPr lang="en-US" altLang="zh-TW" sz="1600" dirty="0" smtClean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= </a:t>
                </a:r>
                <a:r>
                  <a:rPr lang="en-US" altLang="zh-TW" sz="1600" dirty="0" err="1">
                    <a:solidFill>
                      <a:srgbClr val="6F008A"/>
                    </a:solidFill>
                    <a:ea typeface="細明體" panose="02020509000000000000" pitchFamily="49" charset="-120"/>
                  </a:rPr>
                  <a:t>INT_MIN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;</a:t>
                </a:r>
              </a:p>
              <a:p>
                <a:r>
                  <a:rPr lang="en-US" altLang="zh-TW" sz="1600" dirty="0" smtClean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t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= 1;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t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&lt;= m;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t++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)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= 1;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&lt;= n;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l++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)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b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=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t; b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&lt;= m;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b++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)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r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=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l; r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&lt;= n;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r++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)</a:t>
                </a:r>
              </a:p>
              <a:p>
                <a:r>
                  <a:rPr lang="zh-TW" altLang="en-US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{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  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= 0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;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  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i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=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t; i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&lt;=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b; i++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)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     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j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=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l; j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&lt;=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r; </a:t>
                </a:r>
                <a:r>
                  <a:rPr lang="en-US" altLang="zh-TW" sz="1600" dirty="0" err="1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j++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)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         sum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+= A[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i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j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];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   </a:t>
                </a:r>
                <a:r>
                  <a:rPr lang="en-US" altLang="zh-TW" sz="1600" dirty="0" err="1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= max( </a:t>
                </a:r>
                <a:r>
                  <a:rPr lang="en-US" altLang="zh-TW" sz="1600" dirty="0" err="1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, sum );</a:t>
                </a:r>
                <a:endParaRPr lang="en-US" altLang="zh-TW" sz="1600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r>
                  <a:rPr lang="zh-TW" altLang="en-US" sz="16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</a:t>
                </a:r>
                <a:r>
                  <a:rPr lang="en-US" altLang="zh-TW" sz="1600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}</a:t>
                </a:r>
                <a:endParaRPr lang="zh-TW" altLang="en-US" sz="1600" dirty="0"/>
              </a:p>
            </p:txBody>
          </p:sp>
        </mc:Choice>
        <mc:Fallback xmlns="">
          <p:sp>
            <p:nvSpPr>
              <p:cNvPr id="8" name="內容版面配置區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447" y="1448747"/>
                <a:ext cx="6480829" cy="4860621"/>
              </a:xfrm>
              <a:blipFill>
                <a:blip r:embed="rId2"/>
                <a:stretch>
                  <a:fillRect l="-470" b="-22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655382"/>
              </p:ext>
            </p:extLst>
          </p:nvPr>
        </p:nvGraphicFramePr>
        <p:xfrm>
          <a:off x="5292092" y="2528885"/>
          <a:ext cx="342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395811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28206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t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b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83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Complete Search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7"/>
              <p:cNvSpPr>
                <a:spLocks noGrp="1"/>
              </p:cNvSpPr>
              <p:nvPr>
                <p:ph idx="1"/>
              </p:nvPr>
            </p:nvSpPr>
            <p:spPr>
              <a:xfrm>
                <a:off x="431470" y="1448747"/>
                <a:ext cx="8281059" cy="4860621"/>
              </a:xfrm>
            </p:spPr>
            <p:txBody>
              <a:bodyPr/>
              <a:lstStyle/>
              <a:p>
                <a:pPr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  <a:latin typeface="Times New Roman"/>
                        </a:rPr>
                        <m:t>globalMax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TW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m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 spc="2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n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b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i="1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m</m:t>
                                      </m:r>
                                    </m:lim>
                                  </m:limLow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22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l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600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r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n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細明體" panose="02020509000000000000" pitchFamily="49" charset="-12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t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b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細明體" panose="02020509000000000000" pitchFamily="49" charset="-12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i="1" spc="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j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pc="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i="1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l</m:t>
                                              </m:r>
                                            </m:sub>
                                            <m:sup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i="1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r</m:t>
                                              </m:r>
                                            </m:sup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A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細明體" panose="02020509000000000000" pitchFamily="49" charset="-12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  <a:ea typeface="細明體" panose="02020509000000000000" pitchFamily="49" charset="-120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[ 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j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]</m:t>
                                              </m:r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TW" sz="1600" dirty="0" smtClean="0">
                  <a:solidFill>
                    <a:srgbClr val="0000FF"/>
                  </a:solidFill>
                  <a:ea typeface="細明體" panose="02020509000000000000" pitchFamily="49" charset="-120"/>
                </a:endParaRPr>
              </a:p>
              <a:p>
                <a:pPr>
                  <a:spcBef>
                    <a:spcPts val="300"/>
                  </a:spcBef>
                </a:pPr>
                <a:endParaRPr lang="en-US" altLang="zh-TW" sz="1600" dirty="0" smtClean="0">
                  <a:solidFill>
                    <a:srgbClr val="0000FF"/>
                  </a:solidFill>
                  <a:ea typeface="細明體" panose="02020509000000000000" pitchFamily="49" charset="-120"/>
                </a:endParaRPr>
              </a:p>
              <a:p>
                <a:pPr>
                  <a:spcBef>
                    <a:spcPts val="300"/>
                  </a:spcBef>
                </a:pPr>
                <a:endParaRPr lang="en-US" altLang="zh-TW" sz="1600" dirty="0" smtClean="0">
                  <a:solidFill>
                    <a:srgbClr val="0000FF"/>
                  </a:solidFill>
                  <a:ea typeface="細明體" panose="02020509000000000000" pitchFamily="49" charset="-120"/>
                </a:endParaRPr>
              </a:p>
              <a:p>
                <a:pPr>
                  <a:spcBef>
                    <a:spcPts val="300"/>
                  </a:spcBef>
                </a:pPr>
                <a:endParaRPr lang="en-US" altLang="zh-TW" sz="1600" dirty="0" smtClean="0">
                  <a:solidFill>
                    <a:srgbClr val="0000FF"/>
                  </a:solidFill>
                  <a:ea typeface="細明體" panose="02020509000000000000" pitchFamily="49" charset="-120"/>
                </a:endParaRPr>
              </a:p>
              <a:p>
                <a:pPr>
                  <a:spcBef>
                    <a:spcPts val="300"/>
                  </a:spcBef>
                </a:pPr>
                <a:endParaRPr lang="en-US" altLang="zh-TW" sz="1600" dirty="0">
                  <a:solidFill>
                    <a:srgbClr val="0000FF"/>
                  </a:solidFill>
                  <a:ea typeface="細明體" panose="02020509000000000000" pitchFamily="49" charset="-120"/>
                </a:endParaRPr>
              </a:p>
              <a:p>
                <a:pPr>
                  <a:spcBef>
                    <a:spcPts val="300"/>
                  </a:spcBef>
                </a:pPr>
                <a:endParaRPr lang="en-US" altLang="zh-TW" sz="1600" dirty="0" smtClean="0">
                  <a:solidFill>
                    <a:srgbClr val="0000FF"/>
                  </a:solidFill>
                  <a:ea typeface="細明體" panose="02020509000000000000" pitchFamily="49" charset="-120"/>
                </a:endParaRPr>
              </a:p>
              <a:p>
                <a:pPr marL="266700"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pc="2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b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TW" sz="2200" i="1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細明體" panose="02020509000000000000" pitchFamily="49" charset="-120"/>
                </a:endParaRPr>
              </a:p>
              <a:p>
                <a:pPr>
                  <a:spcBef>
                    <a:spcPts val="300"/>
                  </a:spcBef>
                </a:pPr>
                <a:endParaRPr lang="en-US" altLang="zh-TW" sz="16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細明體" panose="02020509000000000000" pitchFamily="49" charset="-120"/>
                </a:endParaRPr>
              </a:p>
              <a:p>
                <a:pPr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b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b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TW" sz="1600" dirty="0" smtClean="0">
                  <a:solidFill>
                    <a:srgbClr val="0000FF"/>
                  </a:solidFill>
                  <a:ea typeface="細明體" panose="02020509000000000000" pitchFamily="49" charset="-120"/>
                </a:endParaRPr>
              </a:p>
            </p:txBody>
          </p:sp>
        </mc:Choice>
        <mc:Fallback xmlns="">
          <p:sp>
            <p:nvSpPr>
              <p:cNvPr id="8" name="內容版面配置區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0" y="1448747"/>
                <a:ext cx="8281059" cy="486062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826493"/>
              </p:ext>
            </p:extLst>
          </p:nvPr>
        </p:nvGraphicFramePr>
        <p:xfrm>
          <a:off x="4031931" y="2528885"/>
          <a:ext cx="342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106283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6373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t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b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5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/>
              <p:cNvSpPr>
                <a:spLocks noGrp="1"/>
              </p:cNvSpPr>
              <p:nvPr>
                <p:ph idx="1"/>
              </p:nvPr>
            </p:nvSpPr>
            <p:spPr/>
            <p:txBody>
              <a:bodyPr lIns="36000" rIns="36000"/>
              <a:lstStyle/>
              <a:p>
                <a:pPr lvl="0">
                  <a:spcBef>
                    <a:spcPts val="300"/>
                  </a:spcBef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2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spc="2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b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2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2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b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2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2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600" i="1" spc="2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altLang="zh-TW" sz="14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2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2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b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2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600" i="1" spc="2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2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600" i="1" spc="2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altLang="zh-TW" sz="14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2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600" i="1" spc="2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內容版面配置區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958907"/>
              </p:ext>
            </p:extLst>
          </p:nvPr>
        </p:nvGraphicFramePr>
        <p:xfrm>
          <a:off x="791517" y="368609"/>
          <a:ext cx="342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106283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6373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t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b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490449"/>
              </p:ext>
            </p:extLst>
          </p:nvPr>
        </p:nvGraphicFramePr>
        <p:xfrm>
          <a:off x="4752023" y="368609"/>
          <a:ext cx="378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4106283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6373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15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t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b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329978"/>
              </p:ext>
            </p:extLst>
          </p:nvPr>
        </p:nvGraphicFramePr>
        <p:xfrm>
          <a:off x="791517" y="2888931"/>
          <a:ext cx="342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106283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15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6373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t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b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260036"/>
              </p:ext>
            </p:extLst>
          </p:nvPr>
        </p:nvGraphicFramePr>
        <p:xfrm>
          <a:off x="4752023" y="2888931"/>
          <a:ext cx="378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4106283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15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6373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15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t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>
                          <a:solidFill>
                            <a:srgbClr val="0000FF"/>
                          </a:solidFill>
                        </a:rPr>
                        <a:t>b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93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 lIns="90000" rIns="90000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b="0" i="1" smtClean="0">
                          <a:solidFill>
                            <a:srgbClr val="000000"/>
                          </a:solidFill>
                          <a:latin typeface="+mn-lt"/>
                          <a:ea typeface="細明體" panose="02020509000000000000" pitchFamily="49" charset="-120"/>
                        </a:rPr>
                        <m:t>sum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200" b="0" i="1" smtClean="0">
                              <a:solidFill>
                                <a:srgbClr val="000000"/>
                              </a:solidFill>
                              <a:latin typeface="+mn-lt"/>
                              <a:ea typeface="細明體" panose="02020509000000000000" pitchFamily="49" charset="-120"/>
                            </a:rPr>
                            <m:t>u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200" b="0" i="1" smtClean="0">
                              <a:solidFill>
                                <a:srgbClr val="000000"/>
                              </a:solidFill>
                              <a:latin typeface="+mn-lt"/>
                              <a:ea typeface="細明體" panose="02020509000000000000" pitchFamily="49" charset="-120"/>
                            </a:rPr>
                            <m:t>v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rgbClr val="000000"/>
                          </a:solidFill>
                          <a:latin typeface="+mn-lt"/>
                          <a:ea typeface="細明體" panose="02020509000000000000" pitchFamily="49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u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v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rgbClr val="000000"/>
                          </a:solidFill>
                          <a:latin typeface="+mn-lt"/>
                          <a:ea typeface="細明體" panose="02020509000000000000" pitchFamily="49" charset="-120"/>
                        </a:rPr>
                        <m:t>.</m:t>
                      </m:r>
                    </m:oMath>
                  </m:oMathPara>
                </a14:m>
                <a:endParaRPr lang="en-US" altLang="zh-TW" sz="2200" dirty="0" smtClean="0">
                  <a:solidFill>
                    <a:srgbClr val="000000"/>
                  </a:solidFill>
                  <a:latin typeface="+mn-lt"/>
                  <a:ea typeface="細明體" panose="02020509000000000000" pitchFamily="49" charset="-120"/>
                </a:endParaRPr>
              </a:p>
              <a:p>
                <a:pPr>
                  <a:tabLst>
                    <a:tab pos="1258888" algn="l"/>
                    <a:tab pos="2424113" algn="l"/>
                  </a:tabLst>
                </a:pPr>
                <a:endParaRPr lang="en-US" altLang="zh-TW" sz="1200" dirty="0" smtClean="0">
                  <a:solidFill>
                    <a:srgbClr val="000000"/>
                  </a:solidFill>
                  <a:latin typeface="+mn-lt"/>
                  <a:ea typeface="細明體" panose="02020509000000000000" pitchFamily="49" charset="-120"/>
                </a:endParaRPr>
              </a:p>
              <a:p>
                <a:pPr marL="266700" lvl="0">
                  <a:spcBef>
                    <a:spcPts val="300"/>
                  </a:spcBef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spc="2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b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TW" sz="2200" i="1" dirty="0">
                  <a:solidFill>
                    <a:srgbClr val="000000"/>
                  </a:solidFill>
                  <a:latin typeface="Cambria Math" panose="02040503050406030204" pitchFamily="18" charset="0"/>
                  <a:ea typeface="細明體" panose="02020509000000000000" pitchFamily="49" charset="-120"/>
                </a:endParaRPr>
              </a:p>
              <a:p>
                <a:pPr lvl="0">
                  <a:spcBef>
                    <a:spcPts val="300"/>
                  </a:spcBef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  <a:latin typeface="Cambria Math" panose="02040503050406030204" pitchFamily="18" charset="0"/>
                  <a:ea typeface="細明體" panose="02020509000000000000" pitchFamily="49" charset="-120"/>
                </a:endParaRPr>
              </a:p>
              <a:p>
                <a:pPr lvl="0">
                  <a:spcBef>
                    <a:spcPts val="300"/>
                  </a:spcBef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b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b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spc="2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  <a:ea typeface="細明體" panose="02020509000000000000" pitchFamily="49" charset="-12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TW" dirty="0">
                  <a:solidFill>
                    <a:srgbClr val="0000FF"/>
                  </a:solidFill>
                  <a:ea typeface="細明體" panose="02020509000000000000" pitchFamily="49" charset="-120"/>
                </a:endParaRPr>
              </a:p>
              <a:p>
                <a:pPr lvl="0">
                  <a:spcBef>
                    <a:spcPts val="1200"/>
                  </a:spcBef>
                  <a:spcAft>
                    <a:spcPts val="1200"/>
                  </a:spcAft>
                  <a:buClr>
                    <a:srgbClr val="000000"/>
                  </a:buClr>
                </a:pP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 </a:t>
                </a:r>
                <a:r>
                  <a:rPr lang="en-US" altLang="zh-TW" sz="2200" i="1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sum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[</a:t>
                </a:r>
                <a:r>
                  <a:rPr lang="en-US" altLang="zh-TW" sz="2200" i="1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b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][</a:t>
                </a:r>
                <a:r>
                  <a:rPr lang="en-US" altLang="zh-TW" sz="2200" i="1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r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] 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 </a:t>
                </a:r>
                <a:r>
                  <a:rPr lang="en-US" altLang="zh-TW" sz="2200" i="1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sum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[</a:t>
                </a:r>
                <a:r>
                  <a:rPr lang="en-US" altLang="zh-TW" sz="2200" i="1" spc="3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t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1][</a:t>
                </a:r>
                <a:r>
                  <a:rPr lang="en-US" altLang="zh-TW" sz="2200" i="1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r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] 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 </a:t>
                </a:r>
                <a:r>
                  <a:rPr lang="en-US" altLang="zh-TW" sz="2200" i="1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sum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[</a:t>
                </a:r>
                <a:r>
                  <a:rPr lang="en-US" altLang="zh-TW" sz="2200" i="1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b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][</a:t>
                </a:r>
                <a:r>
                  <a:rPr lang="en-US" altLang="zh-TW" sz="2200" i="1" spc="3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l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1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] 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 </a:t>
                </a:r>
                <a:r>
                  <a:rPr lang="en-US" altLang="zh-TW" sz="2200" i="1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sum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[</a:t>
                </a:r>
                <a:r>
                  <a:rPr lang="en-US" altLang="zh-TW" sz="2200" i="1" spc="300" dirty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t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1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][</a:t>
                </a:r>
                <a:r>
                  <a:rPr lang="en-US" altLang="zh-TW" sz="2200" i="1" spc="3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l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1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/>
                    <a:ea typeface="細明體" panose="02020509000000000000" pitchFamily="49" charset="-120"/>
                  </a:rPr>
                  <a:t>]</a:t>
                </a: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  <a:latin typeface="Times New Roman"/>
                        </a:rPr>
                        <m:t>globalMax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m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2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n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b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m</m:t>
                                      </m:r>
                                    </m:lim>
                                  </m:limLow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22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l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r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n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細明體" panose="02020509000000000000" pitchFamily="49" charset="-12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t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b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細明體" panose="02020509000000000000" pitchFamily="49" charset="-12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1800" i="1" spc="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j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1800" spc="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1800" i="1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l</m:t>
                                              </m:r>
                                            </m:sub>
                                            <m:sup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1800" i="1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r</m:t>
                                              </m:r>
                                            </m:sup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A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細明體" panose="02020509000000000000" pitchFamily="49" charset="-12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  <a:ea typeface="細明體" panose="02020509000000000000" pitchFamily="49" charset="-120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[ 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j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  <a:ea typeface="細明體" panose="02020509000000000000" pitchFamily="49" charset="-120"/>
                                                </a:rPr>
                                                <m:t>]</m:t>
                                              </m:r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TW" sz="2200" i="1" dirty="0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sz="1200" dirty="0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258888"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m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2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n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b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m</m:t>
                                      </m:r>
                                    </m:lim>
                                  </m:limLow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22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l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r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n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  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b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r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 spc="3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t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dirty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[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 spc="3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l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1]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 spc="3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t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dirty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r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[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b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][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 spc="3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l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1]</m:t>
                                              </m:r>
                                            </m:e>
                                          </m:eqAr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  <a:latin typeface="Times New Roman"/>
                        </a:rPr>
                        <m:t>.</m:t>
                      </m:r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/>
                  <a:ea typeface="細明體" panose="02020509000000000000" pitchFamily="49" charset="-12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0" y="548632"/>
                <a:ext cx="8461081" cy="5940759"/>
              </a:xfrm>
              <a:blipFill>
                <a:blip r:embed="rId2"/>
                <a:stretch>
                  <a:fillRect l="-937" r="-72" b="-16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49085"/>
              </p:ext>
            </p:extLst>
          </p:nvPr>
        </p:nvGraphicFramePr>
        <p:xfrm>
          <a:off x="4752023" y="368609"/>
          <a:ext cx="342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106283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l</a:t>
                      </a:r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r</a:t>
                      </a:r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6373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t</a:t>
                      </a:r>
                      <a:endParaRPr lang="zh-TW" altLang="en-US" sz="2000" i="1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b</a:t>
                      </a:r>
                      <a:endParaRPr lang="zh-TW" altLang="en-US" sz="2000" i="1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46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 lIns="90000" rIns="90000"/>
              <a:lstStyle/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  <a:latin typeface="Times New Roman"/>
                        </a:rPr>
                        <m:t>globalMax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m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2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n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b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m</m:t>
                                      </m:r>
                                    </m:lim>
                                  </m:limLow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22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l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r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n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  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b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r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 spc="3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t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dirty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[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 spc="3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l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1]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 spc="3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t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dirty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r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[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b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][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 spc="3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l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1]</m:t>
                                              </m:r>
                                            </m:e>
                                          </m:eqAr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TW" dirty="0" smtClean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 smtClean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pt-BR" altLang="zh-TW" dirty="0" smtClean="0">
                    <a:solidFill>
                      <a:schemeClr val="bg1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pt-BR" altLang="zh-TW" dirty="0">
                    <a:solidFill>
                      <a:schemeClr val="bg1"/>
                    </a:solidFill>
                    <a:ea typeface="細明體" panose="02020509000000000000" pitchFamily="49" charset="-120"/>
                  </a:rPr>
                  <a:t>[ m + 1 ][ n + 1 ] = {};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chemeClr val="bg1"/>
                    </a:solidFill>
                    <a:ea typeface="細明體" panose="02020509000000000000" pitchFamily="49" charset="-120"/>
                  </a:rPr>
                  <a:t>for( int i = 1; i &lt;= m; i++ )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it-IT" altLang="zh-TW" dirty="0">
                    <a:solidFill>
                      <a:schemeClr val="bg1"/>
                    </a:solidFill>
                    <a:ea typeface="細明體" panose="02020509000000000000" pitchFamily="49" charset="-120"/>
                  </a:rPr>
                  <a:t>   for( int j = 1; j &lt;= n; j++ )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chemeClr val="bg1"/>
                    </a:solidFill>
                    <a:ea typeface="細明體" panose="02020509000000000000" pitchFamily="49" charset="-120"/>
                  </a:rPr>
                  <a:t>      sum[ i ][ j ] = A[ i ][ j ] - sum[ i - 1 ][ j - 1 ]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 smtClean="0">
                    <a:solidFill>
                      <a:schemeClr val="bg1"/>
                    </a:solidFill>
                    <a:ea typeface="細明體" panose="02020509000000000000" pitchFamily="49" charset="-120"/>
                  </a:rPr>
                  <a:t>                   </a:t>
                </a:r>
                <a:r>
                  <a:rPr lang="en-US" altLang="zh-TW" dirty="0">
                    <a:solidFill>
                      <a:schemeClr val="bg1"/>
                    </a:solidFill>
                    <a:ea typeface="細明體" panose="02020509000000000000" pitchFamily="49" charset="-120"/>
                  </a:rPr>
                  <a:t>+ sum[ i - 1 ][ j ] + sum[ i ][ j - 1 ];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sz="1600" dirty="0" err="1" smtClean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 err="1" smtClean="0">
                    <a:solidFill>
                      <a:srgbClr val="000000"/>
                    </a:solidFill>
                    <a:latin typeface="+mn-ea"/>
                  </a:rPr>
                  <a:t>globalMax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</a:t>
                </a:r>
                <a:r>
                  <a:rPr lang="en-US" altLang="zh-TW" sz="1600" dirty="0">
                    <a:solidFill>
                      <a:srgbClr val="6F008A"/>
                    </a:solidFill>
                    <a:latin typeface="+mn-ea"/>
                  </a:rPr>
                  <a:t>INT_MIN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;</a:t>
                </a:r>
              </a:p>
              <a:p>
                <a:r>
                  <a:rPr lang="en-US" altLang="zh-TW" sz="1600" dirty="0" smtClean="0">
                    <a:solidFill>
                      <a:srgbClr val="0000FF"/>
                    </a:solidFill>
                    <a:latin typeface="+mn-ea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1;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&lt;= m;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t++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)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l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1;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l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&lt;= n;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l++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)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b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t; b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&lt;= m;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b++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)</a:t>
                </a:r>
              </a:p>
              <a:p>
                <a:r>
                  <a:rPr lang="it-IT" altLang="zh-TW" sz="1600" dirty="0" smtClean="0">
                    <a:solidFill>
                      <a:srgbClr val="000000"/>
                    </a:solidFill>
                    <a:latin typeface="+mn-ea"/>
                  </a:rPr>
                  <a:t>         </a:t>
                </a:r>
                <a:r>
                  <a:rPr lang="it-IT" altLang="zh-TW" sz="1600" dirty="0">
                    <a:solidFill>
                      <a:srgbClr val="0000FF"/>
                    </a:solidFill>
                    <a:latin typeface="+mn-ea"/>
                  </a:rPr>
                  <a:t>for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( </a:t>
                </a:r>
                <a:r>
                  <a:rPr lang="it-IT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it-IT" altLang="zh-TW" sz="1600" dirty="0" smtClean="0">
                    <a:solidFill>
                      <a:srgbClr val="000000"/>
                    </a:solidFill>
                    <a:latin typeface="+mn-ea"/>
                  </a:rPr>
                  <a:t>r 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= </a:t>
                </a:r>
                <a:r>
                  <a:rPr lang="it-IT" altLang="zh-TW" sz="1600" dirty="0" smtClean="0">
                    <a:solidFill>
                      <a:srgbClr val="000000"/>
                    </a:solidFill>
                    <a:latin typeface="+mn-ea"/>
                  </a:rPr>
                  <a:t>l; r 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&lt;= n; </a:t>
                </a:r>
                <a:r>
                  <a:rPr lang="it-IT" altLang="zh-TW" sz="1600" dirty="0" smtClean="0">
                    <a:solidFill>
                      <a:srgbClr val="000000"/>
                    </a:solidFill>
                    <a:latin typeface="+mn-ea"/>
                  </a:rPr>
                  <a:t>r++ 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)</a:t>
                </a:r>
              </a:p>
              <a:p>
                <a:r>
                  <a:rPr lang="zh-TW" altLang="en-US" sz="1600" dirty="0" smtClean="0">
                    <a:solidFill>
                      <a:srgbClr val="000000"/>
                    </a:solidFill>
                    <a:latin typeface="+mn-ea"/>
                  </a:rPr>
                  <a:t>      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{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     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temp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sum[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b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][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r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] + sum[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- 1 ][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l - 1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]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                 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- sum[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- 1 ][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r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] - sum[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b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][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l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- 1 ];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           </a:t>
                </a:r>
                <a:r>
                  <a:rPr lang="en-US" altLang="zh-TW" sz="1600" dirty="0" err="1" smtClean="0">
                    <a:solidFill>
                      <a:srgbClr val="000000"/>
                    </a:solidFill>
                    <a:latin typeface="+mn-ea"/>
                  </a:rPr>
                  <a:t>globalMax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max( </a:t>
                </a:r>
                <a:r>
                  <a:rPr lang="en-US" altLang="zh-TW" sz="1600" dirty="0" err="1" smtClean="0">
                    <a:solidFill>
                      <a:srgbClr val="000000"/>
                    </a:solidFill>
                    <a:latin typeface="+mn-ea"/>
                  </a:rPr>
                  <a:t>globalMax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, temp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);</a:t>
                </a:r>
              </a:p>
              <a:p>
                <a:r>
                  <a:rPr lang="zh-TW" altLang="en-US" sz="1600" dirty="0" smtClean="0">
                    <a:solidFill>
                      <a:srgbClr val="000000"/>
                    </a:solidFill>
                    <a:latin typeface="+mn-ea"/>
                  </a:rPr>
                  <a:t>      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}</a:t>
                </a:r>
                <a:endParaRPr lang="zh-TW" altLang="en-US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7" r="-1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157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 lIns="72000" rIns="72000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b="0" i="1" smtClean="0">
                          <a:solidFill>
                            <a:srgbClr val="000000"/>
                          </a:solidFill>
                          <a:latin typeface="+mn-lt"/>
                          <a:ea typeface="細明體" panose="02020509000000000000" pitchFamily="49" charset="-120"/>
                        </a:rPr>
                        <m:t>sum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200" b="0" i="1" smtClean="0">
                              <a:solidFill>
                                <a:srgbClr val="000000"/>
                              </a:solidFill>
                              <a:latin typeface="+mn-lt"/>
                              <a:ea typeface="細明體" panose="02020509000000000000" pitchFamily="49" charset="-120"/>
                            </a:rPr>
                            <m:t>u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200" b="0" i="1" smtClean="0">
                              <a:solidFill>
                                <a:srgbClr val="000000"/>
                              </a:solidFill>
                              <a:latin typeface="+mn-lt"/>
                              <a:ea typeface="細明體" panose="02020509000000000000" pitchFamily="49" charset="-120"/>
                            </a:rPr>
                            <m:t>v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rgbClr val="000000"/>
                          </a:solidFill>
                          <a:latin typeface="+mn-lt"/>
                          <a:ea typeface="細明體" panose="02020509000000000000" pitchFamily="49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5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u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15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v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b="0" i="1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b="0" i="1" smtClean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="0" i="1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TW" sz="2200" dirty="0" smtClean="0">
                  <a:solidFill>
                    <a:srgbClr val="000000"/>
                  </a:solidFill>
                  <a:latin typeface="+mn-lt"/>
                  <a:ea typeface="細明體" panose="02020509000000000000" pitchFamily="49" charset="-120"/>
                </a:endParaRPr>
              </a:p>
              <a:p>
                <a:endParaRPr lang="en-US" altLang="zh-TW" sz="800" dirty="0" smtClean="0">
                  <a:solidFill>
                    <a:srgbClr val="000000"/>
                  </a:solidFill>
                  <a:latin typeface="+mn-lt"/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/>
                          <a:ea typeface="細明體" panose="02020509000000000000" pitchFamily="49" charset="-12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/>
                          <a:ea typeface="細明體" panose="02020509000000000000" pitchFamily="49" charset="-120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/>
                          <a:ea typeface="細明體" panose="02020509000000000000" pitchFamily="49" charset="-120"/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/>
                          <a:ea typeface="細明體" panose="02020509000000000000" pitchFamily="49" charset="-120"/>
                        </a:rPr>
                        <m:t>][</m:t>
                      </m:r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/>
                          <a:ea typeface="細明體" panose="02020509000000000000" pitchFamily="49" charset="-120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/>
                          <a:ea typeface="細明體" panose="02020509000000000000" pitchFamily="49" charset="-120"/>
                        </a:rPr>
                        <m:t>]</m:t>
                      </m:r>
                      <m:r>
                        <a:rPr lang="en-US" altLang="zh-TW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5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spc="15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15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v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5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u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15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spc="15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a:rPr lang="en-US" altLang="zh-TW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細明體" panose="02020509000000000000" pitchFamily="49" charset="-12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5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spc="15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15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spc="15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TW" dirty="0">
                  <a:solidFill>
                    <a:srgbClr val="0000FF"/>
                  </a:solidFill>
                  <a:ea typeface="細明體" panose="02020509000000000000" pitchFamily="49" charset="-12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541" y="4329115"/>
                <a:ext cx="7200920" cy="21602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136732"/>
              </p:ext>
            </p:extLst>
          </p:nvPr>
        </p:nvGraphicFramePr>
        <p:xfrm>
          <a:off x="971540" y="368609"/>
          <a:ext cx="306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0260"/>
              </p:ext>
            </p:extLst>
          </p:nvPr>
        </p:nvGraphicFramePr>
        <p:xfrm>
          <a:off x="5112069" y="368609"/>
          <a:ext cx="306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405605"/>
              </p:ext>
            </p:extLst>
          </p:nvPr>
        </p:nvGraphicFramePr>
        <p:xfrm>
          <a:off x="971540" y="2348862"/>
          <a:ext cx="306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107101"/>
              </p:ext>
            </p:extLst>
          </p:nvPr>
        </p:nvGraphicFramePr>
        <p:xfrm>
          <a:off x="5112069" y="2348862"/>
          <a:ext cx="306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52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  <a:tabLst>
                <a:tab pos="1166813" algn="l"/>
                <a:tab pos="2424113" algn="l"/>
              </a:tabLst>
            </a:pP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sum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[0][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v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]	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0 for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v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0, 1, . . ,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.</a:t>
            </a:r>
          </a:p>
          <a:p>
            <a:pPr lvl="0">
              <a:buClr>
                <a:srgbClr val="000000"/>
              </a:buClr>
              <a:tabLst>
                <a:tab pos="1166813" algn="l"/>
                <a:tab pos="2424113" algn="l"/>
              </a:tabLst>
            </a:pP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sum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[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u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][0]	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0 for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u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0, 1, . . ,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m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.</a:t>
            </a:r>
          </a:p>
          <a:p>
            <a:pPr lvl="0">
              <a:buClr>
                <a:srgbClr val="000000"/>
              </a:buClr>
              <a:tabLst>
                <a:tab pos="1166813" algn="l"/>
                <a:tab pos="2424113" algn="l"/>
              </a:tabLst>
            </a:pP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sum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[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u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][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v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]	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[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u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][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v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sum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[</a:t>
            </a:r>
            <a:r>
              <a:rPr lang="en-US" altLang="zh-TW" sz="2200" i="1" spc="3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u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1][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v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sum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[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u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][</a:t>
            </a:r>
            <a:r>
              <a:rPr lang="en-US" altLang="zh-TW" sz="2200" i="1" spc="3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v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1]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sum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[</a:t>
            </a:r>
            <a:r>
              <a:rPr lang="en-US" altLang="zh-TW" sz="2200" i="1" spc="3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u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1][</a:t>
            </a:r>
            <a:r>
              <a:rPr lang="en-US" altLang="zh-TW" sz="2200" i="1" spc="3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v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1]</a:t>
            </a:r>
          </a:p>
          <a:p>
            <a:pPr marL="1435100" lvl="0">
              <a:buClr>
                <a:srgbClr val="000000"/>
              </a:buClr>
            </a:pP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for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u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1, 2, . . ,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m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v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 1, 2, . . ,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細明體" panose="02020509000000000000" pitchFamily="49" charset="-120"/>
              </a:rPr>
              <a:t>.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583788"/>
              </p:ext>
            </p:extLst>
          </p:nvPr>
        </p:nvGraphicFramePr>
        <p:xfrm>
          <a:off x="971540" y="368609"/>
          <a:ext cx="306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659768"/>
              </p:ext>
            </p:extLst>
          </p:nvPr>
        </p:nvGraphicFramePr>
        <p:xfrm>
          <a:off x="5112069" y="368609"/>
          <a:ext cx="306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215044"/>
              </p:ext>
            </p:extLst>
          </p:nvPr>
        </p:nvGraphicFramePr>
        <p:xfrm>
          <a:off x="971540" y="2348862"/>
          <a:ext cx="306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975440"/>
              </p:ext>
            </p:extLst>
          </p:nvPr>
        </p:nvGraphicFramePr>
        <p:xfrm>
          <a:off x="5112069" y="2348862"/>
          <a:ext cx="306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smtClean="0">
                          <a:solidFill>
                            <a:srgbClr val="000000"/>
                          </a:solidFill>
                          <a:ea typeface="細明體" panose="02020509000000000000" pitchFamily="49" charset="-120"/>
                        </a:rPr>
                        <m:t>sum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u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v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ea typeface="細明體" panose="02020509000000000000" pitchFamily="49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50" dirty="0">
                              <a:solidFill>
                                <a:srgbClr val="000000"/>
                              </a:solidFill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</a:rPr>
                            <m:t>u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150" dirty="0">
                                  <a:solidFill>
                                    <a:srgbClr val="000000"/>
                                  </a:solidFill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v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ea typeface="細明體" panose="02020509000000000000" pitchFamily="49" charset="-12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  <a:tabLst>
                    <a:tab pos="1258888" algn="l"/>
                    <a:tab pos="2424113" algn="l"/>
                  </a:tabLst>
                </a:pPr>
                <a:endParaRPr lang="en-US" altLang="zh-TW" sz="1200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13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2348862"/>
                <a:ext cx="8281058" cy="2520321"/>
              </a:xfrm>
            </p:spPr>
            <p:txBody>
              <a:bodyPr/>
              <a:lstStyle/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  <a:ea typeface="細明體" panose="02020509000000000000" pitchFamily="49" charset="-120"/>
                        </a:rPr>
                        <m:t>sum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u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v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ea typeface="細明體" panose="02020509000000000000" pitchFamily="49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2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u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v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ea typeface="細明體" panose="02020509000000000000" pitchFamily="49" charset="-12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  <a:tabLst>
                    <a:tab pos="1258888" algn="l"/>
                    <a:tab pos="2424113" algn="l"/>
                  </a:tabLst>
                </a:pPr>
                <a:endParaRPr lang="en-US" altLang="zh-TW" sz="1200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  <a:tabLst>
                    <a:tab pos="1166813" algn="l"/>
                    <a:tab pos="2424113" algn="l"/>
                  </a:tabLst>
                </a:pPr>
                <a:r>
                  <a:rPr lang="en-US" altLang="zh-TW" i="1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[0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	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0 for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0, 1, . . , </a:t>
                </a:r>
                <a:r>
                  <a:rPr lang="en-US" altLang="zh-TW" i="1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.</a:t>
                </a:r>
              </a:p>
              <a:p>
                <a:pPr lvl="0">
                  <a:buClr>
                    <a:srgbClr val="000000"/>
                  </a:buClr>
                  <a:tabLst>
                    <a:tab pos="1166813" algn="l"/>
                    <a:tab pos="2424113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0]	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0 for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0, 1, . . , </a:t>
                </a:r>
                <a:r>
                  <a:rPr lang="en-US" altLang="zh-TW" i="1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.</a:t>
                </a:r>
              </a:p>
              <a:p>
                <a:pPr lvl="0">
                  <a:buClr>
                    <a:srgbClr val="000000"/>
                  </a:buClr>
                  <a:tabLst>
                    <a:tab pos="1166813" algn="l"/>
                    <a:tab pos="2424113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	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A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sz="20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1][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sz="20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 </a:t>
                </a:r>
                <a:r>
                  <a:rPr lang="en-US" altLang="zh-TW" sz="20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sz="20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1][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sz="20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</a:t>
                </a:r>
              </a:p>
              <a:p>
                <a:pPr marL="1435100"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for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1, 2, . . , </a:t>
                </a:r>
                <a:r>
                  <a:rPr lang="en-US" altLang="zh-TW" i="1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,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1, 2, . . , </a:t>
                </a:r>
                <a:r>
                  <a:rPr lang="en-US" altLang="zh-TW" i="1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n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.</a:t>
                </a: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2348862"/>
                <a:ext cx="8281058" cy="2520321"/>
              </a:xfrm>
              <a:blipFill>
                <a:blip r:embed="rId2"/>
                <a:stretch>
                  <a:fillRect l="-957" b="-74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611494" y="5049207"/>
            <a:ext cx="7560966" cy="1440184"/>
          </a:xfrm>
        </p:spPr>
        <p:txBody>
          <a:bodyPr/>
          <a:lstStyle/>
          <a:p>
            <a:pPr lvl="0">
              <a:buClr>
                <a:srgbClr val="000000"/>
              </a:buClr>
            </a:pP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sum[ m + 1 ][ n + 1 ] = {};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m;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i++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it-IT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it-IT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it-IT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 </a:t>
            </a:r>
            <a:r>
              <a:rPr lang="it-IT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n; </a:t>
            </a:r>
            <a:r>
              <a:rPr lang="it-IT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j++ 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sum[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A[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- sum[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- 1 ][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- 1 ]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sum[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- 1 ][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sum[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- 1 ];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622901"/>
              </p:ext>
            </p:extLst>
          </p:nvPr>
        </p:nvGraphicFramePr>
        <p:xfrm>
          <a:off x="4572000" y="548632"/>
          <a:ext cx="378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9487647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2938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626617"/>
              </p:ext>
            </p:extLst>
          </p:nvPr>
        </p:nvGraphicFramePr>
        <p:xfrm>
          <a:off x="791517" y="368609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431471" y="1088701"/>
            <a:ext cx="36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sz="2200" i="1" dirty="0" smtClean="0">
                <a:latin typeface="+mn-lt"/>
              </a:rPr>
              <a:t>A</a:t>
            </a:r>
            <a:endParaRPr lang="zh-TW" altLang="en-US" sz="2200" i="1" dirty="0">
              <a:latin typeface="+mn-lt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372230" y="2708908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sz="2200" i="1" dirty="0" smtClean="0">
                <a:latin typeface="+mn-lt"/>
              </a:rPr>
              <a:t>A</a:t>
            </a:r>
            <a:endParaRPr lang="zh-TW" altLang="en-US" sz="22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7845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2348862"/>
                <a:ext cx="8281058" cy="2520321"/>
              </a:xfrm>
            </p:spPr>
            <p:txBody>
              <a:bodyPr/>
              <a:lstStyle/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  <a:ea typeface="細明體" panose="02020509000000000000" pitchFamily="49" charset="-120"/>
                        </a:rPr>
                        <m:t>sum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u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v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ea typeface="細明體" panose="02020509000000000000" pitchFamily="49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細明體" panose="02020509000000000000" pitchFamily="49" charset="-12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2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  <a:ea typeface="細明體" panose="02020509000000000000" pitchFamily="49" charset="-120"/>
                            </a:rPr>
                            <m:t>u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細明體" panose="02020509000000000000" pitchFamily="49" charset="-12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v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細明體" panose="02020509000000000000" pitchFamily="49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ea typeface="細明體" panose="02020509000000000000" pitchFamily="49" charset="-120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[ 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細明體" panose="02020509000000000000" pitchFamily="49" charset="-12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ea typeface="細明體" panose="02020509000000000000" pitchFamily="49" charset="-12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  <a:tabLst>
                    <a:tab pos="1258888" algn="l"/>
                    <a:tab pos="2424113" algn="l"/>
                  </a:tabLst>
                </a:pPr>
                <a:endParaRPr lang="en-US" altLang="zh-TW" sz="1200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  <a:tabLst>
                    <a:tab pos="1166813" algn="l"/>
                    <a:tab pos="2424113" algn="l"/>
                  </a:tabLst>
                </a:pPr>
                <a:r>
                  <a:rPr lang="en-US" altLang="zh-TW" i="1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[0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	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0 for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0, 1, . . , </a:t>
                </a:r>
                <a:r>
                  <a:rPr lang="en-US" altLang="zh-TW" i="1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.</a:t>
                </a:r>
              </a:p>
              <a:p>
                <a:pPr lvl="0">
                  <a:buClr>
                    <a:srgbClr val="000000"/>
                  </a:buClr>
                  <a:tabLst>
                    <a:tab pos="1166813" algn="l"/>
                    <a:tab pos="2424113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0]	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0 for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0, 1, . . , </a:t>
                </a:r>
                <a:r>
                  <a:rPr lang="en-US" altLang="zh-TW" i="1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.</a:t>
                </a:r>
              </a:p>
              <a:p>
                <a:pPr lvl="0">
                  <a:buClr>
                    <a:srgbClr val="000000"/>
                  </a:buClr>
                  <a:tabLst>
                    <a:tab pos="1166813" algn="l"/>
                    <a:tab pos="2424113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	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A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sz="20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1][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][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sz="20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 </a:t>
                </a:r>
                <a:r>
                  <a:rPr lang="en-US" altLang="zh-TW" sz="20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sum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sz="20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1][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sz="20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</a:t>
                </a:r>
              </a:p>
              <a:p>
                <a:pPr marL="1435100"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for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u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1, 2, . . , </a:t>
                </a:r>
                <a:r>
                  <a:rPr lang="en-US" altLang="zh-TW" i="1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, </a:t>
                </a:r>
                <a:r>
                  <a:rPr lang="en-US" altLang="zh-TW" i="1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1, 2, . . , </a:t>
                </a:r>
                <a:r>
                  <a:rPr lang="en-US" altLang="zh-TW" i="1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n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.</a:t>
                </a: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2348862"/>
                <a:ext cx="8281058" cy="2520321"/>
              </a:xfrm>
              <a:blipFill>
                <a:blip r:embed="rId2"/>
                <a:stretch>
                  <a:fillRect l="-957" b="-74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611494" y="5049207"/>
            <a:ext cx="7560966" cy="1440184"/>
          </a:xfrm>
        </p:spPr>
        <p:txBody>
          <a:bodyPr/>
          <a:lstStyle/>
          <a:p>
            <a:pPr lvl="0">
              <a:buClr>
                <a:srgbClr val="000000"/>
              </a:buClr>
            </a:pP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sum[ m + 1 ][ n + 1 ] = {};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m;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i++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it-IT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it-IT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it-IT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 </a:t>
            </a:r>
            <a:r>
              <a:rPr lang="it-IT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n; </a:t>
            </a:r>
            <a:r>
              <a:rPr lang="it-IT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j++ 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sum[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A[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- sum[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- 1 ][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- 1 ]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sum[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- 1 ][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sum[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- 1 ];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622901"/>
              </p:ext>
            </p:extLst>
          </p:nvPr>
        </p:nvGraphicFramePr>
        <p:xfrm>
          <a:off x="4572000" y="548632"/>
          <a:ext cx="378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9487647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2938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626617"/>
              </p:ext>
            </p:extLst>
          </p:nvPr>
        </p:nvGraphicFramePr>
        <p:xfrm>
          <a:off x="791517" y="368609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431471" y="1088701"/>
            <a:ext cx="36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sz="2200" i="1" dirty="0" smtClean="0">
                <a:latin typeface="+mn-lt"/>
              </a:rPr>
              <a:t>A</a:t>
            </a:r>
            <a:endParaRPr lang="zh-TW" altLang="en-US" sz="2200" i="1" dirty="0">
              <a:latin typeface="+mn-lt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372230" y="2708908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sz="2200" i="1" dirty="0" smtClean="0">
                <a:latin typeface="+mn-lt"/>
              </a:rPr>
              <a:t>sum</a:t>
            </a:r>
            <a:endParaRPr lang="zh-TW" altLang="en-US" sz="22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045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 lIns="90000" rIns="90000"/>
              <a:lstStyle/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  <a:latin typeface="Times New Roman"/>
                        </a:rPr>
                        <m:t>globalMax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2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spc="2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細明體" panose="02020509000000000000" pitchFamily="49" charset="-120"/>
                                </a:rPr>
                                <m:t>m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2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2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細明體" panose="02020509000000000000" pitchFamily="49" charset="-120"/>
                                    </a:rPr>
                                    <m:t>n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altLang="zh-TW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spc="2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b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spc="2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800" i="1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  <a:ea typeface="細明體" panose="02020509000000000000" pitchFamily="49" charset="-120"/>
                                        </a:rPr>
                                        <m:t>m</m:t>
                                      </m:r>
                                    </m:lim>
                                  </m:limLow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22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l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r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spc="200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8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Times New Roman"/>
                                              <a:ea typeface="細明體" panose="02020509000000000000" pitchFamily="49" charset="-120"/>
                                            </a:rPr>
                                            <m:t>n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zh-TW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  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b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r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 spc="3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t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dirty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[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 spc="3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l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1]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 spc="3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t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dirty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altLang="zh-TW" sz="22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Times New Roman"/>
                                                    </a:rPr>
                                                    <m:t>r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sum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[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b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][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i="1" spc="3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l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TW" sz="22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Times New Roman"/>
                                                </a:rPr>
                                                <m:t>1]</m:t>
                                              </m:r>
                                            </m:e>
                                          </m:eqAr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TW" dirty="0" smtClean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 smtClean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sz="1600" dirty="0">
                  <a:solidFill>
                    <a:srgbClr val="000000"/>
                  </a:solidFill>
                  <a:latin typeface="+mn-ea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pt-BR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pt-BR" altLang="zh-TW" sz="1600" dirty="0">
                    <a:solidFill>
                      <a:srgbClr val="000000"/>
                    </a:solidFill>
                    <a:latin typeface="+mn-ea"/>
                  </a:rPr>
                  <a:t> sum[ m + 1 ][ n + 1 ] = {};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i = 1; i &lt;= m; i++ )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   </a:t>
                </a:r>
                <a:r>
                  <a:rPr lang="it-IT" altLang="zh-TW" sz="1600" dirty="0">
                    <a:solidFill>
                      <a:srgbClr val="0000FF"/>
                    </a:solidFill>
                    <a:latin typeface="+mn-ea"/>
                  </a:rPr>
                  <a:t>for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( </a:t>
                </a:r>
                <a:r>
                  <a:rPr lang="it-IT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 j = 1; j &lt;= n; j++ )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     sum[ i ][ j ] = A[ i ][ j ] - sum[ i - 1 ][ j - 1 ]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                   + sum[ i - 1 ][ j ] + sum[ i ][ j - 1 ];</a:t>
                </a:r>
              </a:p>
              <a:p>
                <a:pPr lvl="0">
                  <a:buClr>
                    <a:srgbClr val="000000"/>
                  </a:buClr>
                </a:pPr>
                <a:endParaRPr lang="zh-TW" altLang="en-US" sz="1600" dirty="0">
                  <a:solidFill>
                    <a:srgbClr val="000000"/>
                  </a:solidFill>
                  <a:latin typeface="+mn-ea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sz="1600" dirty="0" smtClean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 err="1" smtClean="0">
                    <a:solidFill>
                      <a:srgbClr val="000000"/>
                    </a:solidFill>
                    <a:latin typeface="+mn-ea"/>
                  </a:rPr>
                  <a:t>globalMax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</a:t>
                </a:r>
                <a:r>
                  <a:rPr lang="en-US" altLang="zh-TW" sz="1600" dirty="0" err="1">
                    <a:solidFill>
                      <a:srgbClr val="6F008A"/>
                    </a:solidFill>
                    <a:latin typeface="+mn-ea"/>
                  </a:rPr>
                  <a:t>INT_MIN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;</a:t>
                </a:r>
              </a:p>
              <a:p>
                <a:r>
                  <a:rPr lang="en-US" altLang="zh-TW" sz="1600" dirty="0" smtClean="0">
                    <a:solidFill>
                      <a:srgbClr val="0000FF"/>
                    </a:solidFill>
                    <a:latin typeface="+mn-ea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1;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&lt;= m;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t++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)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l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1;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l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&lt;= n;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l++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)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b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t; b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&lt;= m;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b++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)</a:t>
                </a:r>
              </a:p>
              <a:p>
                <a:r>
                  <a:rPr lang="it-IT" altLang="zh-TW" sz="1600" dirty="0" smtClean="0">
                    <a:solidFill>
                      <a:srgbClr val="000000"/>
                    </a:solidFill>
                    <a:latin typeface="+mn-ea"/>
                  </a:rPr>
                  <a:t>         </a:t>
                </a:r>
                <a:r>
                  <a:rPr lang="it-IT" altLang="zh-TW" sz="1600" dirty="0">
                    <a:solidFill>
                      <a:srgbClr val="0000FF"/>
                    </a:solidFill>
                    <a:latin typeface="+mn-ea"/>
                  </a:rPr>
                  <a:t>for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( </a:t>
                </a:r>
                <a:r>
                  <a:rPr lang="it-IT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it-IT" altLang="zh-TW" sz="1600" dirty="0" smtClean="0">
                    <a:solidFill>
                      <a:srgbClr val="000000"/>
                    </a:solidFill>
                    <a:latin typeface="+mn-ea"/>
                  </a:rPr>
                  <a:t>r 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= </a:t>
                </a:r>
                <a:r>
                  <a:rPr lang="it-IT" altLang="zh-TW" sz="1600" dirty="0" smtClean="0">
                    <a:solidFill>
                      <a:srgbClr val="000000"/>
                    </a:solidFill>
                    <a:latin typeface="+mn-ea"/>
                  </a:rPr>
                  <a:t>l; r 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&lt;= n; </a:t>
                </a:r>
                <a:r>
                  <a:rPr lang="it-IT" altLang="zh-TW" sz="1600" dirty="0" smtClean="0">
                    <a:solidFill>
                      <a:srgbClr val="000000"/>
                    </a:solidFill>
                    <a:latin typeface="+mn-ea"/>
                  </a:rPr>
                  <a:t>r++ </a:t>
                </a:r>
                <a:r>
                  <a:rPr lang="it-IT" altLang="zh-TW" sz="1600" dirty="0">
                    <a:solidFill>
                      <a:srgbClr val="000000"/>
                    </a:solidFill>
                    <a:latin typeface="+mn-ea"/>
                  </a:rPr>
                  <a:t>)</a:t>
                </a:r>
              </a:p>
              <a:p>
                <a:r>
                  <a:rPr lang="zh-TW" altLang="en-US" sz="1600" dirty="0" smtClean="0">
                    <a:solidFill>
                      <a:srgbClr val="000000"/>
                    </a:solidFill>
                    <a:latin typeface="+mn-ea"/>
                  </a:rPr>
                  <a:t>      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{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     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+mn-ea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 temp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sum[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b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][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r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] + sum[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- 1 ][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l - 1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]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                 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- sum[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t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- 1 ][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r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] - sum[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b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][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l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- 1 ];</a:t>
                </a:r>
              </a:p>
              <a:p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           </a:t>
                </a:r>
                <a:r>
                  <a:rPr lang="en-US" altLang="zh-TW" sz="1600" dirty="0" err="1" smtClean="0">
                    <a:solidFill>
                      <a:srgbClr val="000000"/>
                    </a:solidFill>
                    <a:latin typeface="+mn-ea"/>
                  </a:rPr>
                  <a:t>globalMax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= max( </a:t>
                </a:r>
                <a:r>
                  <a:rPr lang="en-US" altLang="zh-TW" sz="1600" dirty="0" err="1" smtClean="0">
                    <a:solidFill>
                      <a:srgbClr val="000000"/>
                    </a:solidFill>
                    <a:latin typeface="+mn-ea"/>
                  </a:rPr>
                  <a:t>globalMax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+mn-ea"/>
                  </a:rPr>
                  <a:t>, temp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);</a:t>
                </a:r>
              </a:p>
              <a:p>
                <a:r>
                  <a:rPr lang="zh-TW" altLang="en-US" sz="1600" dirty="0" smtClean="0">
                    <a:solidFill>
                      <a:srgbClr val="000000"/>
                    </a:solidFill>
                    <a:latin typeface="+mn-ea"/>
                  </a:rPr>
                  <a:t>      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+mn-ea"/>
                  </a:rPr>
                  <a:t>}</a:t>
                </a:r>
                <a:endParaRPr lang="zh-TW" altLang="en-US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53" r="-1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082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388235"/>
              </p:ext>
            </p:extLst>
          </p:nvPr>
        </p:nvGraphicFramePr>
        <p:xfrm>
          <a:off x="971540" y="368609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421016"/>
              </p:ext>
            </p:extLst>
          </p:nvPr>
        </p:nvGraphicFramePr>
        <p:xfrm>
          <a:off x="971540" y="2528885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452347"/>
              </p:ext>
            </p:extLst>
          </p:nvPr>
        </p:nvGraphicFramePr>
        <p:xfrm>
          <a:off x="971540" y="4689161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924254"/>
              </p:ext>
            </p:extLst>
          </p:nvPr>
        </p:nvGraphicFramePr>
        <p:xfrm>
          <a:off x="4572000" y="368609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616016"/>
              </p:ext>
            </p:extLst>
          </p:nvPr>
        </p:nvGraphicFramePr>
        <p:xfrm>
          <a:off x="4572000" y="2528885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468796"/>
              </p:ext>
            </p:extLst>
          </p:nvPr>
        </p:nvGraphicFramePr>
        <p:xfrm>
          <a:off x="4572000" y="4689161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646245"/>
              </p:ext>
            </p:extLst>
          </p:nvPr>
        </p:nvGraphicFramePr>
        <p:xfrm>
          <a:off x="8172460" y="368609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/>
                        <a:t>sum</a:t>
                      </a:r>
                      <a:endParaRPr lang="zh-TW" altLang="en-US" i="1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1849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855278"/>
              </p:ext>
            </p:extLst>
          </p:nvPr>
        </p:nvGraphicFramePr>
        <p:xfrm>
          <a:off x="8172460" y="2528885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37827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705530"/>
              </p:ext>
            </p:extLst>
          </p:nvPr>
        </p:nvGraphicFramePr>
        <p:xfrm>
          <a:off x="8172460" y="4689161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8087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100241"/>
              </p:ext>
            </p:extLst>
          </p:nvPr>
        </p:nvGraphicFramePr>
        <p:xfrm>
          <a:off x="431471" y="2528885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0640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818233"/>
              </p:ext>
            </p:extLst>
          </p:nvPr>
        </p:nvGraphicFramePr>
        <p:xfrm>
          <a:off x="431471" y="4689161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6886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484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355814"/>
              </p:ext>
            </p:extLst>
          </p:nvPr>
        </p:nvGraphicFramePr>
        <p:xfrm>
          <a:off x="971540" y="368609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428896"/>
              </p:ext>
            </p:extLst>
          </p:nvPr>
        </p:nvGraphicFramePr>
        <p:xfrm>
          <a:off x="971540" y="2528885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073859"/>
              </p:ext>
            </p:extLst>
          </p:nvPr>
        </p:nvGraphicFramePr>
        <p:xfrm>
          <a:off x="971540" y="4689161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01091"/>
              </p:ext>
            </p:extLst>
          </p:nvPr>
        </p:nvGraphicFramePr>
        <p:xfrm>
          <a:off x="4572000" y="368609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589886"/>
              </p:ext>
            </p:extLst>
          </p:nvPr>
        </p:nvGraphicFramePr>
        <p:xfrm>
          <a:off x="431471" y="2528885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1074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977719"/>
              </p:ext>
            </p:extLst>
          </p:nvPr>
        </p:nvGraphicFramePr>
        <p:xfrm>
          <a:off x="431471" y="4689161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524333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37867"/>
              </p:ext>
            </p:extLst>
          </p:nvPr>
        </p:nvGraphicFramePr>
        <p:xfrm>
          <a:off x="431471" y="368609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6066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852220"/>
              </p:ext>
            </p:extLst>
          </p:nvPr>
        </p:nvGraphicFramePr>
        <p:xfrm>
          <a:off x="8172460" y="368609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91561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946582"/>
              </p:ext>
            </p:extLst>
          </p:nvPr>
        </p:nvGraphicFramePr>
        <p:xfrm>
          <a:off x="4572000" y="4689161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690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05895"/>
              </p:ext>
            </p:extLst>
          </p:nvPr>
        </p:nvGraphicFramePr>
        <p:xfrm>
          <a:off x="971540" y="368609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138395"/>
              </p:ext>
            </p:extLst>
          </p:nvPr>
        </p:nvGraphicFramePr>
        <p:xfrm>
          <a:off x="971540" y="2528885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934000"/>
              </p:ext>
            </p:extLst>
          </p:nvPr>
        </p:nvGraphicFramePr>
        <p:xfrm>
          <a:off x="971540" y="4689161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654990"/>
              </p:ext>
            </p:extLst>
          </p:nvPr>
        </p:nvGraphicFramePr>
        <p:xfrm>
          <a:off x="4572000" y="368609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214734"/>
              </p:ext>
            </p:extLst>
          </p:nvPr>
        </p:nvGraphicFramePr>
        <p:xfrm>
          <a:off x="4572000" y="2528885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384925"/>
              </p:ext>
            </p:extLst>
          </p:nvPr>
        </p:nvGraphicFramePr>
        <p:xfrm>
          <a:off x="4572000" y="4689161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797996"/>
              </p:ext>
            </p:extLst>
          </p:nvPr>
        </p:nvGraphicFramePr>
        <p:xfrm>
          <a:off x="8172460" y="368609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769239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9503"/>
              </p:ext>
            </p:extLst>
          </p:nvPr>
        </p:nvGraphicFramePr>
        <p:xfrm>
          <a:off x="8172460" y="2528885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3787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7706"/>
              </p:ext>
            </p:extLst>
          </p:nvPr>
        </p:nvGraphicFramePr>
        <p:xfrm>
          <a:off x="8172460" y="4689161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55002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656731"/>
              </p:ext>
            </p:extLst>
          </p:nvPr>
        </p:nvGraphicFramePr>
        <p:xfrm>
          <a:off x="431471" y="2528885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10815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627761"/>
              </p:ext>
            </p:extLst>
          </p:nvPr>
        </p:nvGraphicFramePr>
        <p:xfrm>
          <a:off x="431471" y="4689161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281554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867324"/>
              </p:ext>
            </p:extLst>
          </p:nvPr>
        </p:nvGraphicFramePr>
        <p:xfrm>
          <a:off x="431471" y="368609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32186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128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2"/>
            <a:ext cx="5580713" cy="3780483"/>
          </a:xfrm>
        </p:spPr>
        <p:txBody>
          <a:bodyPr/>
          <a:lstStyle/>
          <a:p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max2DRangeSum(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ea typeface="細明體" panose="02020509000000000000" pitchFamily="49" charset="-120"/>
              </a:rPr>
              <a:t>A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[][ n + 1 ]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n; ++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memset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l; r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n; ++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m;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++i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max1DRangeSum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772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971540" y="368609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482396"/>
              </p:ext>
            </p:extLst>
          </p:nvPr>
        </p:nvGraphicFramePr>
        <p:xfrm>
          <a:off x="971540" y="2348862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208289"/>
              </p:ext>
            </p:extLst>
          </p:nvPr>
        </p:nvGraphicFramePr>
        <p:xfrm>
          <a:off x="4572000" y="368609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862961"/>
              </p:ext>
            </p:extLst>
          </p:nvPr>
        </p:nvGraphicFramePr>
        <p:xfrm>
          <a:off x="4572000" y="2348862"/>
          <a:ext cx="32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921908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2923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382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90000" marR="9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0455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993333"/>
              </p:ext>
            </p:extLst>
          </p:nvPr>
        </p:nvGraphicFramePr>
        <p:xfrm>
          <a:off x="431471" y="2348862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1074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767655"/>
              </p:ext>
            </p:extLst>
          </p:nvPr>
        </p:nvGraphicFramePr>
        <p:xfrm>
          <a:off x="8172460" y="368609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524333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/>
          </p:nvPr>
        </p:nvGraphicFramePr>
        <p:xfrm>
          <a:off x="431471" y="368609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6066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892366"/>
              </p:ext>
            </p:extLst>
          </p:nvPr>
        </p:nvGraphicFramePr>
        <p:xfrm>
          <a:off x="8172460" y="2348862"/>
          <a:ext cx="54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76648258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91561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 smtClean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82960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03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232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88963"/>
                  </a:ext>
                </a:extLst>
              </a:tr>
            </a:tbl>
          </a:graphicData>
        </a:graphic>
      </p:graphicFrame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 = l; r &lt;= n; ++r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++i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+= A[ i ][ r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max1DRangeSum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108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548632"/>
            <a:ext cx="7560967" cy="3060391"/>
          </a:xfrm>
        </p:spPr>
        <p:txBody>
          <a:bodyPr rIns="72000"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max1DRangeSum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column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ea typeface="細明體" panose="02020509000000000000" pitchFamily="49" charset="-120"/>
              </a:rPr>
              <a:t>column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ea typeface="細明體" panose="02020509000000000000" pitchFamily="49" charset="-120"/>
              </a:rPr>
              <a:t>column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m;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localMax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max( </a:t>
            </a:r>
            <a:r>
              <a:rPr lang="pt-BR" altLang="zh-TW" dirty="0">
                <a:ea typeface="細明體" panose="02020509000000000000" pitchFamily="49" charset="-120"/>
              </a:rPr>
              <a:t>column[ i ], </a:t>
            </a:r>
            <a:r>
              <a:rPr lang="pt-BR" altLang="zh-TW" dirty="0" smtClean="0">
                <a:ea typeface="細明體" panose="02020509000000000000" pitchFamily="49" charset="-120"/>
              </a:rPr>
              <a:t>localMax </a:t>
            </a:r>
            <a:r>
              <a:rPr lang="pt-BR" altLang="zh-TW" dirty="0">
                <a:ea typeface="細明體" panose="02020509000000000000" pitchFamily="49" charset="-120"/>
              </a:rPr>
              <a:t>+ column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3144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pt-BR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max2DRangeSum( </a:t>
            </a:r>
            <a:r>
              <a:rPr lang="pt-BR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sz="1500" dirty="0">
                <a:ea typeface="細明體" panose="02020509000000000000" pitchFamily="49" charset="-120"/>
              </a:rPr>
              <a:t>A</a:t>
            </a:r>
            <a:r>
              <a:rPr lang="pt-BR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[][ n + 1 ] )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= 1;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&lt;= n; ++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memset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sz="1500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);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l; r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&lt;= n; ++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zh-TW" altLang="en-US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nn-NO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nn-NO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= 1; </a:t>
            </a:r>
            <a:r>
              <a:rPr lang="nn-NO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nn-NO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&lt;= m; </a:t>
            </a:r>
            <a:r>
              <a:rPr lang="nn-NO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++i </a:t>
            </a:r>
            <a:r>
              <a:rPr lang="nn-NO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i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sz="1500" dirty="0">
                <a:ea typeface="細明體" panose="02020509000000000000" pitchFamily="49" charset="-120"/>
              </a:rPr>
              <a:t>A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][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max1DRangeSum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sz="15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500" dirty="0"/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>
          <a:ln w="9525">
            <a:solidFill>
              <a:schemeClr val="tx1"/>
            </a:solidFill>
          </a:ln>
        </p:spPr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max1DRangeSum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column[] )</a:t>
            </a:r>
          </a:p>
          <a:p>
            <a:pPr lvl="0">
              <a:buClr>
                <a:srgbClr val="000000"/>
              </a:buClr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column[ 1 ];</a:t>
            </a:r>
          </a:p>
          <a:p>
            <a:pPr lvl="0">
              <a:buClr>
                <a:srgbClr val="000000"/>
              </a:buClr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column[ 1 ];</a:t>
            </a:r>
          </a:p>
          <a:p>
            <a:pPr lvl="0">
              <a:buClr>
                <a:srgbClr val="000000"/>
              </a:buClr>
            </a:pPr>
            <a:r>
              <a:rPr lang="nn-NO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t-BR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localMax = max( column[ i ], localMax + column[ i ] );</a:t>
            </a:r>
          </a:p>
          <a:p>
            <a:pPr lvl="0">
              <a:buClr>
                <a:srgbClr val="000000"/>
              </a:buClr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5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482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max2DRangeSum(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ea typeface="細明體" panose="02020509000000000000" pitchFamily="49" charset="-120"/>
              </a:rPr>
              <a:t>A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[][ n + 1 ]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left, right, top, bottom;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n; ++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memset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l; r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n; ++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m;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++i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begin,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end;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max1DRangeSum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rowSum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begin, end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left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right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r;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top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begin;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bottom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end;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82221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err="1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max1DRangeSum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pt-BR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A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 err="1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&amp;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begin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&amp;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begin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1;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end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1;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A[ 1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2;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&lt;=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pt-BR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2043318111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訂 2">
      <a:majorFont>
        <a:latin typeface="Times New Roman"/>
        <a:ea typeface="Times New Roman"/>
        <a:cs typeface=""/>
      </a:majorFont>
      <a:minorFont>
        <a:latin typeface="Times New Roman"/>
        <a:ea typeface="Lucida Consol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9056</TotalTime>
  <Words>4621</Words>
  <Application>Microsoft Office PowerPoint</Application>
  <PresentationFormat>如螢幕大小 (4:3)</PresentationFormat>
  <Paragraphs>1572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細明體</vt:lpstr>
      <vt:lpstr>新細明體</vt:lpstr>
      <vt:lpstr>Cambria Math</vt:lpstr>
      <vt:lpstr>Lucida Console</vt:lpstr>
      <vt:lpstr>Tahoma</vt:lpstr>
      <vt:lpstr>Times New Roman</vt:lpstr>
      <vt:lpstr>Blends</vt:lpstr>
      <vt:lpstr>Max 2D Range Sum Problem</vt:lpstr>
      <vt:lpstr>Max 2D Range Sum Problem</vt:lpstr>
      <vt:lpstr>A Complete Search algorithm</vt:lpstr>
      <vt:lpstr>A Complete Search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534</cp:revision>
  <dcterms:created xsi:type="dcterms:W3CDTF">2001-09-06T13:56:50Z</dcterms:created>
  <dcterms:modified xsi:type="dcterms:W3CDTF">2025-10-04T00:55:37Z</dcterms:modified>
</cp:coreProperties>
</file>