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43"/>
  </p:notesMasterIdLst>
  <p:handoutMasterIdLst>
    <p:handoutMasterId r:id="rId44"/>
  </p:handoutMasterIdLst>
  <p:sldIdLst>
    <p:sldId id="256" r:id="rId2"/>
    <p:sldId id="518" r:id="rId3"/>
    <p:sldId id="517" r:id="rId4"/>
    <p:sldId id="756" r:id="rId5"/>
    <p:sldId id="757" r:id="rId6"/>
    <p:sldId id="528" r:id="rId7"/>
    <p:sldId id="715" r:id="rId8"/>
    <p:sldId id="716" r:id="rId9"/>
    <p:sldId id="717" r:id="rId10"/>
    <p:sldId id="718" r:id="rId11"/>
    <p:sldId id="758" r:id="rId12"/>
    <p:sldId id="677" r:id="rId13"/>
    <p:sldId id="684" r:id="rId14"/>
    <p:sldId id="682" r:id="rId15"/>
    <p:sldId id="678" r:id="rId16"/>
    <p:sldId id="683" r:id="rId17"/>
    <p:sldId id="555" r:id="rId18"/>
    <p:sldId id="553" r:id="rId19"/>
    <p:sldId id="680" r:id="rId20"/>
    <p:sldId id="685" r:id="rId21"/>
    <p:sldId id="686" r:id="rId22"/>
    <p:sldId id="687" r:id="rId23"/>
    <p:sldId id="688" r:id="rId24"/>
    <p:sldId id="689" r:id="rId25"/>
    <p:sldId id="690" r:id="rId26"/>
    <p:sldId id="691" r:id="rId27"/>
    <p:sldId id="692" r:id="rId28"/>
    <p:sldId id="693" r:id="rId29"/>
    <p:sldId id="694" r:id="rId30"/>
    <p:sldId id="695" r:id="rId31"/>
    <p:sldId id="696" r:id="rId32"/>
    <p:sldId id="697" r:id="rId33"/>
    <p:sldId id="698" r:id="rId34"/>
    <p:sldId id="699" r:id="rId35"/>
    <p:sldId id="700" r:id="rId36"/>
    <p:sldId id="701" r:id="rId37"/>
    <p:sldId id="702" r:id="rId38"/>
    <p:sldId id="703" r:id="rId39"/>
    <p:sldId id="704" r:id="rId40"/>
    <p:sldId id="705" r:id="rId41"/>
    <p:sldId id="579" r:id="rId42"/>
  </p:sldIdLst>
  <p:sldSz cx="9144000" cy="6858000" type="screen4x3"/>
  <p:notesSz cx="6734175" cy="9866313"/>
  <p:defaultTextStyle>
    <a:defPPr>
      <a:defRPr lang="zh-TW"/>
    </a:defPPr>
    <a:lvl1pPr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1pPr>
    <a:lvl2pPr marL="4572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2pPr>
    <a:lvl3pPr marL="9144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3pPr>
    <a:lvl4pPr marL="13716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4pPr>
    <a:lvl5pPr marL="18288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5pPr>
    <a:lvl6pPr marL="2286000" algn="l" defTabSz="914400" rtl="0" eaLnBrk="1" latinLnBrk="0" hangingPunct="1">
      <a:defRPr kumimoji="1" sz="2400" kern="1200">
        <a:solidFill>
          <a:schemeClr val="tx1"/>
        </a:solidFill>
        <a:latin typeface="Tahoma" pitchFamily="34" charset="0"/>
        <a:ea typeface="新細明體" pitchFamily="18" charset="-120"/>
        <a:cs typeface="+mn-cs"/>
      </a:defRPr>
    </a:lvl6pPr>
    <a:lvl7pPr marL="2743200" algn="l" defTabSz="914400" rtl="0" eaLnBrk="1" latinLnBrk="0" hangingPunct="1">
      <a:defRPr kumimoji="1" sz="2400" kern="1200">
        <a:solidFill>
          <a:schemeClr val="tx1"/>
        </a:solidFill>
        <a:latin typeface="Tahoma" pitchFamily="34" charset="0"/>
        <a:ea typeface="新細明體" pitchFamily="18" charset="-120"/>
        <a:cs typeface="+mn-cs"/>
      </a:defRPr>
    </a:lvl7pPr>
    <a:lvl8pPr marL="3200400" algn="l" defTabSz="914400" rtl="0" eaLnBrk="1" latinLnBrk="0" hangingPunct="1">
      <a:defRPr kumimoji="1" sz="2400" kern="1200">
        <a:solidFill>
          <a:schemeClr val="tx1"/>
        </a:solidFill>
        <a:latin typeface="Tahoma" pitchFamily="34" charset="0"/>
        <a:ea typeface="新細明體" pitchFamily="18" charset="-120"/>
        <a:cs typeface="+mn-cs"/>
      </a:defRPr>
    </a:lvl8pPr>
    <a:lvl9pPr marL="3657600" algn="l" defTabSz="914400" rtl="0" eaLnBrk="1" latinLnBrk="0" hangingPunct="1">
      <a:defRPr kumimoji="1" sz="2400" kern="1200">
        <a:solidFill>
          <a:schemeClr val="tx1"/>
        </a:solidFill>
        <a:latin typeface="Tahoma" pitchFamily="34" charset="0"/>
        <a:ea typeface="新細明體" pitchFamily="18" charset="-120"/>
        <a:cs typeface="+mn-cs"/>
      </a:defRPr>
    </a:lvl9pPr>
  </p:defaultTextStyle>
  <p:extLst>
    <p:ext uri="{EFAFB233-063F-42B5-8137-9DF3F51BA10A}">
      <p15:sldGuideLst xmlns:p15="http://schemas.microsoft.com/office/powerpoint/2012/main">
        <p15:guide id="1" orient="horz" pos="397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2D050"/>
    <a:srgbClr val="0000CC"/>
    <a:srgbClr val="000000"/>
    <a:srgbClr val="7F7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0" autoAdjust="0"/>
    <p:restoredTop sz="94590" autoAdjust="0"/>
  </p:normalViewPr>
  <p:slideViewPr>
    <p:cSldViewPr showGuides="1">
      <p:cViewPr varScale="1">
        <p:scale>
          <a:sx n="96" d="100"/>
          <a:sy n="96" d="100"/>
        </p:scale>
        <p:origin x="115" y="72"/>
      </p:cViewPr>
      <p:guideLst>
        <p:guide orient="horz" pos="3974"/>
        <p:guide pos="2880"/>
      </p:guideLst>
    </p:cSldViewPr>
  </p:slideViewPr>
  <p:outlineViewPr>
    <p:cViewPr>
      <p:scale>
        <a:sx n="33" d="100"/>
        <a:sy n="33" d="100"/>
      </p:scale>
      <p:origin x="0" y="0"/>
    </p:cViewPr>
  </p:outlineViewPr>
  <p:notesTextViewPr>
    <p:cViewPr>
      <p:scale>
        <a:sx n="100" d="100"/>
        <a:sy n="100" d="100"/>
      </p:scale>
      <p:origin x="0" y="0"/>
    </p:cViewPr>
  </p:notesTextViewPr>
  <p:gridSpacing cx="180000" cy="180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4850" tIns="47425" rIns="94850" bIns="47425" numCol="1" anchor="t" anchorCtr="0" compatLnSpc="1">
            <a:prstTxWarp prst="textNoShape">
              <a:avLst/>
            </a:prstTxWarp>
          </a:bodyPr>
          <a:lstStyle>
            <a:lvl1pPr defTabSz="949325">
              <a:defRPr sz="1200" smtClean="0">
                <a:latin typeface="Times New Roman" pitchFamily="18" charset="0"/>
              </a:defRPr>
            </a:lvl1pPr>
          </a:lstStyle>
          <a:p>
            <a:pPr>
              <a:defRPr/>
            </a:pPr>
            <a:endParaRPr lang="en-US" altLang="zh-TW"/>
          </a:p>
        </p:txBody>
      </p:sp>
      <p:sp>
        <p:nvSpPr>
          <p:cNvPr id="24579" name="Rectangle 3"/>
          <p:cNvSpPr>
            <a:spLocks noGrp="1" noChangeArrowheads="1"/>
          </p:cNvSpPr>
          <p:nvPr>
            <p:ph type="dt" sz="quarter" idx="1"/>
          </p:nvPr>
        </p:nvSpPr>
        <p:spPr bwMode="auto">
          <a:xfrm>
            <a:off x="3813175" y="0"/>
            <a:ext cx="2919413" cy="493713"/>
          </a:xfrm>
          <a:prstGeom prst="rect">
            <a:avLst/>
          </a:prstGeom>
          <a:noFill/>
          <a:ln w="9525">
            <a:noFill/>
            <a:miter lim="800000"/>
            <a:headEnd/>
            <a:tailEnd/>
          </a:ln>
          <a:effectLst/>
        </p:spPr>
        <p:txBody>
          <a:bodyPr vert="horz" wrap="square" lIns="94850" tIns="47425" rIns="94850" bIns="47425" numCol="1" anchor="t" anchorCtr="0" compatLnSpc="1">
            <a:prstTxWarp prst="textNoShape">
              <a:avLst/>
            </a:prstTxWarp>
          </a:bodyPr>
          <a:lstStyle>
            <a:lvl1pPr algn="r" defTabSz="949325">
              <a:defRPr sz="1200" smtClean="0">
                <a:latin typeface="Times New Roman" pitchFamily="18" charset="0"/>
              </a:defRPr>
            </a:lvl1pPr>
          </a:lstStyle>
          <a:p>
            <a:pPr>
              <a:defRPr/>
            </a:pPr>
            <a:endParaRPr lang="en-US" altLang="zh-TW"/>
          </a:p>
        </p:txBody>
      </p:sp>
      <p:sp>
        <p:nvSpPr>
          <p:cNvPr id="24580" name="Rectangle 4"/>
          <p:cNvSpPr>
            <a:spLocks noGrp="1" noChangeArrowheads="1"/>
          </p:cNvSpPr>
          <p:nvPr>
            <p:ph type="ftr" sz="quarter" idx="2"/>
          </p:nvPr>
        </p:nvSpPr>
        <p:spPr bwMode="auto">
          <a:xfrm>
            <a:off x="0" y="9372600"/>
            <a:ext cx="2919413" cy="492125"/>
          </a:xfrm>
          <a:prstGeom prst="rect">
            <a:avLst/>
          </a:prstGeom>
          <a:noFill/>
          <a:ln w="9525">
            <a:noFill/>
            <a:miter lim="800000"/>
            <a:headEnd/>
            <a:tailEnd/>
          </a:ln>
          <a:effectLst/>
        </p:spPr>
        <p:txBody>
          <a:bodyPr vert="horz" wrap="square" lIns="94850" tIns="47425" rIns="94850" bIns="47425" numCol="1" anchor="b" anchorCtr="0" compatLnSpc="1">
            <a:prstTxWarp prst="textNoShape">
              <a:avLst/>
            </a:prstTxWarp>
          </a:bodyPr>
          <a:lstStyle>
            <a:lvl1pPr defTabSz="949325">
              <a:defRPr sz="1200" smtClean="0">
                <a:latin typeface="Times New Roman" pitchFamily="18" charset="0"/>
              </a:defRPr>
            </a:lvl1pPr>
          </a:lstStyle>
          <a:p>
            <a:pPr>
              <a:defRPr/>
            </a:pPr>
            <a:endParaRPr lang="en-US" altLang="zh-TW"/>
          </a:p>
        </p:txBody>
      </p:sp>
      <p:sp>
        <p:nvSpPr>
          <p:cNvPr id="24581" name="Rectangle 5"/>
          <p:cNvSpPr>
            <a:spLocks noGrp="1" noChangeArrowheads="1"/>
          </p:cNvSpPr>
          <p:nvPr>
            <p:ph type="sldNum" sz="quarter" idx="3"/>
          </p:nvPr>
        </p:nvSpPr>
        <p:spPr bwMode="auto">
          <a:xfrm>
            <a:off x="3813175" y="9372600"/>
            <a:ext cx="2919413" cy="492125"/>
          </a:xfrm>
          <a:prstGeom prst="rect">
            <a:avLst/>
          </a:prstGeom>
          <a:noFill/>
          <a:ln w="9525">
            <a:noFill/>
            <a:miter lim="800000"/>
            <a:headEnd/>
            <a:tailEnd/>
          </a:ln>
          <a:effectLst/>
        </p:spPr>
        <p:txBody>
          <a:bodyPr vert="horz" wrap="square" lIns="94850" tIns="47425" rIns="94850" bIns="47425" numCol="1" anchor="b" anchorCtr="0" compatLnSpc="1">
            <a:prstTxWarp prst="textNoShape">
              <a:avLst/>
            </a:prstTxWarp>
          </a:bodyPr>
          <a:lstStyle>
            <a:lvl1pPr algn="r" defTabSz="949325">
              <a:defRPr sz="1200" smtClean="0">
                <a:latin typeface="Times New Roman" pitchFamily="18" charset="0"/>
              </a:defRPr>
            </a:lvl1pPr>
          </a:lstStyle>
          <a:p>
            <a:pPr>
              <a:defRPr/>
            </a:pPr>
            <a:fld id="{E1142711-BC43-47F7-82A4-FD033B48339A}" type="slidenum">
              <a:rPr lang="en-US" altLang="zh-TW"/>
              <a:pPr>
                <a:defRPr/>
              </a:pPr>
              <a:t>‹#›</a:t>
            </a:fld>
            <a:endParaRPr lang="en-US" altLang="zh-TW"/>
          </a:p>
        </p:txBody>
      </p:sp>
    </p:spTree>
    <p:extLst>
      <p:ext uri="{BB962C8B-B14F-4D97-AF65-F5344CB8AC3E}">
        <p14:creationId xmlns:p14="http://schemas.microsoft.com/office/powerpoint/2010/main" val="4223666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4850" tIns="47425" rIns="94850" bIns="47425" numCol="1" anchor="t" anchorCtr="0" compatLnSpc="1">
            <a:prstTxWarp prst="textNoShape">
              <a:avLst/>
            </a:prstTxWarp>
          </a:bodyPr>
          <a:lstStyle>
            <a:lvl1pPr defTabSz="949325">
              <a:defRPr sz="1200" smtClean="0">
                <a:latin typeface="Times New Roman" pitchFamily="18" charset="0"/>
              </a:defRPr>
            </a:lvl1pPr>
          </a:lstStyle>
          <a:p>
            <a:pPr>
              <a:defRPr/>
            </a:pPr>
            <a:endParaRPr lang="en-US" altLang="zh-TW"/>
          </a:p>
        </p:txBody>
      </p:sp>
      <p:sp>
        <p:nvSpPr>
          <p:cNvPr id="22531" name="Rectangle 3"/>
          <p:cNvSpPr>
            <a:spLocks noGrp="1" noChangeArrowheads="1"/>
          </p:cNvSpPr>
          <p:nvPr>
            <p:ph type="dt" idx="1"/>
          </p:nvPr>
        </p:nvSpPr>
        <p:spPr bwMode="auto">
          <a:xfrm>
            <a:off x="3813175" y="0"/>
            <a:ext cx="2919413" cy="493713"/>
          </a:xfrm>
          <a:prstGeom prst="rect">
            <a:avLst/>
          </a:prstGeom>
          <a:noFill/>
          <a:ln w="9525">
            <a:noFill/>
            <a:miter lim="800000"/>
            <a:headEnd/>
            <a:tailEnd/>
          </a:ln>
          <a:effectLst/>
        </p:spPr>
        <p:txBody>
          <a:bodyPr vert="horz" wrap="square" lIns="94850" tIns="47425" rIns="94850" bIns="47425" numCol="1" anchor="t" anchorCtr="0" compatLnSpc="1">
            <a:prstTxWarp prst="textNoShape">
              <a:avLst/>
            </a:prstTxWarp>
          </a:bodyPr>
          <a:lstStyle>
            <a:lvl1pPr algn="r" defTabSz="949325">
              <a:defRPr sz="1200" smtClean="0">
                <a:latin typeface="Times New Roman" pitchFamily="18" charset="0"/>
              </a:defRPr>
            </a:lvl1pPr>
          </a:lstStyle>
          <a:p>
            <a:pPr>
              <a:defRPr/>
            </a:pPr>
            <a:endParaRPr lang="en-US" altLang="zh-TW"/>
          </a:p>
        </p:txBody>
      </p:sp>
      <p:sp>
        <p:nvSpPr>
          <p:cNvPr id="55300" name="Rectangle 4"/>
          <p:cNvSpPr>
            <a:spLocks noGrp="1" noRot="1" noChangeAspect="1" noChangeArrowheads="1" noTextEdit="1"/>
          </p:cNvSpPr>
          <p:nvPr>
            <p:ph type="sldImg" idx="2"/>
          </p:nvPr>
        </p:nvSpPr>
        <p:spPr bwMode="auto">
          <a:xfrm>
            <a:off x="901700" y="741363"/>
            <a:ext cx="4932363" cy="3698875"/>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73100" y="4686300"/>
            <a:ext cx="5387975" cy="4438650"/>
          </a:xfrm>
          <a:prstGeom prst="rect">
            <a:avLst/>
          </a:prstGeom>
          <a:noFill/>
          <a:ln w="9525">
            <a:noFill/>
            <a:miter lim="800000"/>
            <a:headEnd/>
            <a:tailEnd/>
          </a:ln>
          <a:effectLst/>
        </p:spPr>
        <p:txBody>
          <a:bodyPr vert="horz" wrap="square" lIns="94850" tIns="47425" rIns="94850" bIns="47425"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22534" name="Rectangle 6"/>
          <p:cNvSpPr>
            <a:spLocks noGrp="1" noChangeArrowheads="1"/>
          </p:cNvSpPr>
          <p:nvPr>
            <p:ph type="ftr" sz="quarter" idx="4"/>
          </p:nvPr>
        </p:nvSpPr>
        <p:spPr bwMode="auto">
          <a:xfrm>
            <a:off x="0" y="9372600"/>
            <a:ext cx="2919413" cy="492125"/>
          </a:xfrm>
          <a:prstGeom prst="rect">
            <a:avLst/>
          </a:prstGeom>
          <a:noFill/>
          <a:ln w="9525">
            <a:noFill/>
            <a:miter lim="800000"/>
            <a:headEnd/>
            <a:tailEnd/>
          </a:ln>
          <a:effectLst/>
        </p:spPr>
        <p:txBody>
          <a:bodyPr vert="horz" wrap="square" lIns="94850" tIns="47425" rIns="94850" bIns="47425" numCol="1" anchor="b" anchorCtr="0" compatLnSpc="1">
            <a:prstTxWarp prst="textNoShape">
              <a:avLst/>
            </a:prstTxWarp>
          </a:bodyPr>
          <a:lstStyle>
            <a:lvl1pPr defTabSz="949325">
              <a:defRPr sz="1200" smtClean="0">
                <a:latin typeface="Times New Roman" pitchFamily="18" charset="0"/>
              </a:defRPr>
            </a:lvl1pPr>
          </a:lstStyle>
          <a:p>
            <a:pPr>
              <a:defRPr/>
            </a:pPr>
            <a:endParaRPr lang="en-US" altLang="zh-TW"/>
          </a:p>
        </p:txBody>
      </p:sp>
      <p:sp>
        <p:nvSpPr>
          <p:cNvPr id="22535" name="Rectangle 7"/>
          <p:cNvSpPr>
            <a:spLocks noGrp="1" noChangeArrowheads="1"/>
          </p:cNvSpPr>
          <p:nvPr>
            <p:ph type="sldNum" sz="quarter" idx="5"/>
          </p:nvPr>
        </p:nvSpPr>
        <p:spPr bwMode="auto">
          <a:xfrm>
            <a:off x="3813175" y="9372600"/>
            <a:ext cx="2919413" cy="492125"/>
          </a:xfrm>
          <a:prstGeom prst="rect">
            <a:avLst/>
          </a:prstGeom>
          <a:noFill/>
          <a:ln w="9525">
            <a:noFill/>
            <a:miter lim="800000"/>
            <a:headEnd/>
            <a:tailEnd/>
          </a:ln>
          <a:effectLst/>
        </p:spPr>
        <p:txBody>
          <a:bodyPr vert="horz" wrap="square" lIns="94850" tIns="47425" rIns="94850" bIns="47425" numCol="1" anchor="b" anchorCtr="0" compatLnSpc="1">
            <a:prstTxWarp prst="textNoShape">
              <a:avLst/>
            </a:prstTxWarp>
          </a:bodyPr>
          <a:lstStyle>
            <a:lvl1pPr algn="r" defTabSz="949325">
              <a:defRPr sz="1200" smtClean="0">
                <a:latin typeface="Times New Roman" pitchFamily="18" charset="0"/>
              </a:defRPr>
            </a:lvl1pPr>
          </a:lstStyle>
          <a:p>
            <a:pPr>
              <a:defRPr/>
            </a:pPr>
            <a:fld id="{BE065BA5-F94E-42AC-AC84-999F9EE48524}" type="slidenum">
              <a:rPr lang="en-US" altLang="zh-TW"/>
              <a:pPr>
                <a:defRPr/>
              </a:pPr>
              <a:t>‹#›</a:t>
            </a:fld>
            <a:endParaRPr lang="en-US" altLang="zh-TW"/>
          </a:p>
        </p:txBody>
      </p:sp>
    </p:spTree>
    <p:extLst>
      <p:ext uri="{BB962C8B-B14F-4D97-AF65-F5344CB8AC3E}">
        <p14:creationId xmlns:p14="http://schemas.microsoft.com/office/powerpoint/2010/main" val="1544888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8204" name="Rectangle 12"/>
          <p:cNvSpPr>
            <a:spLocks noGrp="1" noChangeArrowheads="1"/>
          </p:cNvSpPr>
          <p:nvPr>
            <p:ph type="ctrTitle"/>
          </p:nvPr>
        </p:nvSpPr>
        <p:spPr>
          <a:xfrm>
            <a:off x="252000" y="2709000"/>
            <a:ext cx="8640000" cy="1440000"/>
          </a:xfrm>
        </p:spPr>
        <p:txBody>
          <a:bodyPr anchor="ctr" anchorCtr="0"/>
          <a:lstStyle>
            <a:lvl1pPr>
              <a:defRPr sz="5400"/>
            </a:lvl1pPr>
          </a:lstStyle>
          <a:p>
            <a:r>
              <a:rPr lang="zh-TW" altLang="en-US" dirty="0"/>
              <a:t>按一下以編輯母片標題樣式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標題投影片">
    <p:spTree>
      <p:nvGrpSpPr>
        <p:cNvPr id="1" name=""/>
        <p:cNvGrpSpPr/>
        <p:nvPr/>
      </p:nvGrpSpPr>
      <p:grpSpPr>
        <a:xfrm>
          <a:off x="0" y="0"/>
          <a:ext cx="0" cy="0"/>
          <a:chOff x="0" y="0"/>
          <a:chExt cx="0" cy="0"/>
        </a:xfrm>
      </p:grpSpPr>
      <p:sp>
        <p:nvSpPr>
          <p:cNvPr id="8204" name="Rectangle 12"/>
          <p:cNvSpPr>
            <a:spLocks noGrp="1" noChangeArrowheads="1"/>
          </p:cNvSpPr>
          <p:nvPr>
            <p:ph type="ctrTitle"/>
          </p:nvPr>
        </p:nvSpPr>
        <p:spPr>
          <a:xfrm>
            <a:off x="252000" y="2709000"/>
            <a:ext cx="8640000" cy="1440000"/>
          </a:xfrm>
        </p:spPr>
        <p:txBody>
          <a:bodyPr anchor="ctr" anchorCtr="0"/>
          <a:lstStyle>
            <a:lvl1pPr>
              <a:defRPr sz="4800"/>
            </a:lvl1pPr>
          </a:lstStyle>
          <a:p>
            <a:r>
              <a:rPr lang="zh-TW" altLang="en-US" dirty="0"/>
              <a:t>按一下以編輯母片標題樣式</a:t>
            </a:r>
          </a:p>
        </p:txBody>
      </p:sp>
    </p:spTree>
    <p:extLst>
      <p:ext uri="{BB962C8B-B14F-4D97-AF65-F5344CB8AC3E}">
        <p14:creationId xmlns:p14="http://schemas.microsoft.com/office/powerpoint/2010/main" val="2436107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hasCustomPrompt="1"/>
          </p:nvPr>
        </p:nvSpPr>
        <p:spPr/>
        <p:txBody>
          <a:bodyPr/>
          <a:lstStyle>
            <a:lvl1pPr marL="0" indent="0">
              <a:buFontTx/>
              <a:buNone/>
              <a:defRPr sz="2200"/>
            </a:lvl1pPr>
          </a:lstStyle>
          <a:p>
            <a:pPr lvl="0"/>
            <a:r>
              <a:rPr lang="zh-TW" altLang="en-US" dirty="0"/>
              <a:t>按一下以編輯母片文字樣式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hasCustomPrompt="1"/>
          </p:nvPr>
        </p:nvSpPr>
        <p:spPr>
          <a:xfrm>
            <a:off x="252000" y="1268723"/>
            <a:ext cx="8639999" cy="2340277"/>
          </a:xfrm>
        </p:spPr>
        <p:txBody>
          <a:bodyPr/>
          <a:lstStyle>
            <a:lvl1pPr marL="0" indent="0">
              <a:buFontTx/>
              <a:buNone/>
              <a:defRPr sz="2200"/>
            </a:lvl1pPr>
          </a:lstStyle>
          <a:p>
            <a:pPr lvl="0"/>
            <a:r>
              <a:rPr lang="zh-TW" altLang="en-US" dirty="0"/>
              <a:t>按一下以編輯母片文字樣式</a:t>
            </a:r>
          </a:p>
        </p:txBody>
      </p:sp>
      <p:sp>
        <p:nvSpPr>
          <p:cNvPr id="4" name="內容版面配置區 2"/>
          <p:cNvSpPr>
            <a:spLocks noGrp="1"/>
          </p:cNvSpPr>
          <p:nvPr>
            <p:ph idx="10" hasCustomPrompt="1"/>
          </p:nvPr>
        </p:nvSpPr>
        <p:spPr>
          <a:xfrm>
            <a:off x="252000" y="3789000"/>
            <a:ext cx="4499999" cy="2520001"/>
          </a:xfrm>
        </p:spPr>
        <p:txBody>
          <a:bodyPr/>
          <a:lstStyle>
            <a:lvl1pPr marL="0" indent="0">
              <a:buFontTx/>
              <a:buNone/>
              <a:defRPr sz="2200"/>
            </a:lvl1pPr>
          </a:lstStyle>
          <a:p>
            <a:pPr lvl="0"/>
            <a:r>
              <a:rPr lang="zh-TW" altLang="en-US" dirty="0"/>
              <a:t>按一下以編輯母片文字樣式</a:t>
            </a:r>
          </a:p>
        </p:txBody>
      </p:sp>
    </p:spTree>
    <p:extLst>
      <p:ext uri="{BB962C8B-B14F-4D97-AF65-F5344CB8AC3E}">
        <p14:creationId xmlns:p14="http://schemas.microsoft.com/office/powerpoint/2010/main" val="302881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hasCustomPrompt="1"/>
          </p:nvPr>
        </p:nvSpPr>
        <p:spPr/>
        <p:txBody>
          <a:bodyPr/>
          <a:lstStyle>
            <a:lvl1pPr marL="269875" indent="-269875">
              <a:buFont typeface="Arial" panose="020B0604020202020204" pitchFamily="34" charset="0"/>
              <a:buChar char="•"/>
              <a:defRPr sz="2200"/>
            </a:lvl1pPr>
          </a:lstStyle>
          <a:p>
            <a:pPr lvl="0"/>
            <a:r>
              <a:rPr lang="zh-TW" altLang="en-US" dirty="0"/>
              <a:t>按一下以編輯母片文字樣式</a:t>
            </a:r>
          </a:p>
        </p:txBody>
      </p:sp>
    </p:spTree>
    <p:extLst>
      <p:ext uri="{BB962C8B-B14F-4D97-AF65-F5344CB8AC3E}">
        <p14:creationId xmlns:p14="http://schemas.microsoft.com/office/powerpoint/2010/main" val="2165641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標題及物件">
    <p:spTree>
      <p:nvGrpSpPr>
        <p:cNvPr id="1" name=""/>
        <p:cNvGrpSpPr/>
        <p:nvPr/>
      </p:nvGrpSpPr>
      <p:grpSpPr>
        <a:xfrm>
          <a:off x="0" y="0"/>
          <a:ext cx="0" cy="0"/>
          <a:chOff x="0" y="0"/>
          <a:chExt cx="0" cy="0"/>
        </a:xfrm>
      </p:grpSpPr>
      <p:sp>
        <p:nvSpPr>
          <p:cNvPr id="3" name="內容版面配置區 2"/>
          <p:cNvSpPr>
            <a:spLocks noGrp="1"/>
          </p:cNvSpPr>
          <p:nvPr>
            <p:ph idx="1" hasCustomPrompt="1"/>
          </p:nvPr>
        </p:nvSpPr>
        <p:spPr>
          <a:xfrm>
            <a:off x="431471" y="548632"/>
            <a:ext cx="8281057" cy="5760736"/>
          </a:xfrm>
        </p:spPr>
        <p:txBody>
          <a:bodyPr/>
          <a:lstStyle>
            <a:lvl1pPr marL="269875" indent="-269875">
              <a:buFont typeface="Arial" panose="020B0604020202020204" pitchFamily="34" charset="0"/>
              <a:buChar char="•"/>
              <a:defRPr sz="2200"/>
            </a:lvl1pPr>
          </a:lstStyle>
          <a:p>
            <a:pPr lvl="0"/>
            <a:r>
              <a:rPr lang="zh-TW" altLang="en-US" dirty="0"/>
              <a:t>按一下以編輯母片文字樣式</a:t>
            </a:r>
          </a:p>
        </p:txBody>
      </p:sp>
    </p:spTree>
    <p:extLst>
      <p:ext uri="{BB962C8B-B14F-4D97-AF65-F5344CB8AC3E}">
        <p14:creationId xmlns:p14="http://schemas.microsoft.com/office/powerpoint/2010/main" val="2961826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31471" y="548632"/>
            <a:ext cx="8281057" cy="5760093"/>
          </a:xfrm>
        </p:spPr>
        <p:txBody>
          <a:bodyPr/>
          <a:lstStyle>
            <a:lvl1pPr marL="0" indent="0">
              <a:buNone/>
              <a:defRPr sz="2200">
                <a:latin typeface="+mn-lt"/>
              </a:defRPr>
            </a:lvl1pPr>
          </a:lstStyle>
          <a:p>
            <a:pPr lvl="0"/>
            <a:endParaRPr lang="zh-TW" altLang="en-US" dirty="0"/>
          </a:p>
        </p:txBody>
      </p:sp>
    </p:spTree>
    <p:extLst>
      <p:ext uri="{BB962C8B-B14F-4D97-AF65-F5344CB8AC3E}">
        <p14:creationId xmlns:p14="http://schemas.microsoft.com/office/powerpoint/2010/main" val="3621589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12000" y="5589000"/>
            <a:ext cx="7920000" cy="539725"/>
          </a:xfrm>
        </p:spPr>
        <p:txBody>
          <a:bodyPr/>
          <a:lstStyle>
            <a:lvl1pPr marL="0" indent="0">
              <a:buNone/>
              <a:defRPr sz="2200">
                <a:latin typeface="+mj-lt"/>
              </a:defRPr>
            </a:lvl1pPr>
          </a:lstStyle>
          <a:p>
            <a:pPr lvl="0"/>
            <a:endParaRPr lang="zh-TW" altLang="en-US" dirty="0"/>
          </a:p>
        </p:txBody>
      </p:sp>
    </p:spTree>
    <p:extLst>
      <p:ext uri="{BB962C8B-B14F-4D97-AF65-F5344CB8AC3E}">
        <p14:creationId xmlns:p14="http://schemas.microsoft.com/office/powerpoint/2010/main" val="290157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4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1872000" y="3249000"/>
            <a:ext cx="5400000" cy="3059725"/>
          </a:xfrm>
        </p:spPr>
        <p:txBody>
          <a:bodyPr/>
          <a:lstStyle>
            <a:lvl1pPr marL="0" indent="0">
              <a:buNone/>
              <a:defRPr sz="2200">
                <a:latin typeface="+mj-lt"/>
              </a:defRPr>
            </a:lvl1pPr>
          </a:lstStyle>
          <a:p>
            <a:pPr lvl="0"/>
            <a:endParaRPr lang="zh-TW" altLang="en-US" dirty="0"/>
          </a:p>
        </p:txBody>
      </p:sp>
    </p:spTree>
    <p:extLst>
      <p:ext uri="{BB962C8B-B14F-4D97-AF65-F5344CB8AC3E}">
        <p14:creationId xmlns:p14="http://schemas.microsoft.com/office/powerpoint/2010/main" val="1211695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792000" y="3429000"/>
            <a:ext cx="7560000" cy="540000"/>
          </a:xfrm>
        </p:spPr>
        <p:txBody>
          <a:bodyPr/>
          <a:lstStyle>
            <a:lvl1pPr marL="0" indent="0">
              <a:buNone/>
              <a:defRPr sz="2200">
                <a:latin typeface="+mn-lt"/>
              </a:defRPr>
            </a:lvl1pPr>
          </a:lstStyle>
          <a:p>
            <a:pPr lvl="0"/>
            <a:endParaRPr lang="zh-TW" altLang="en-US" dirty="0"/>
          </a:p>
        </p:txBody>
      </p:sp>
    </p:spTree>
    <p:extLst>
      <p:ext uri="{BB962C8B-B14F-4D97-AF65-F5344CB8AC3E}">
        <p14:creationId xmlns:p14="http://schemas.microsoft.com/office/powerpoint/2010/main" val="1048929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31471" y="548632"/>
            <a:ext cx="8281057" cy="5760093"/>
          </a:xfrm>
        </p:spPr>
        <p:txBody>
          <a:bodyPr/>
          <a:lstStyle>
            <a:lvl1pPr marL="0" indent="0">
              <a:spcBef>
                <a:spcPts val="0"/>
              </a:spcBef>
              <a:buNone/>
              <a:defRPr sz="1600">
                <a:latin typeface="Lucida Console" panose="020B0609040504020204" pitchFamily="49" charset="0"/>
              </a:defRPr>
            </a:lvl1pPr>
          </a:lstStyle>
          <a:p>
            <a:pPr lvl="0"/>
            <a:endParaRPr lang="zh-TW" altLang="en-US" dirty="0"/>
          </a:p>
        </p:txBody>
      </p:sp>
    </p:spTree>
    <p:extLst>
      <p:ext uri="{BB962C8B-B14F-4D97-AF65-F5344CB8AC3E}">
        <p14:creationId xmlns:p14="http://schemas.microsoft.com/office/powerpoint/2010/main" val="3874656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52000" y="369000"/>
            <a:ext cx="5220000" cy="3060367"/>
          </a:xfrm>
        </p:spPr>
        <p:txBody>
          <a:bodyPr/>
          <a:lstStyle>
            <a:lvl1pPr marL="0" indent="0">
              <a:spcBef>
                <a:spcPts val="0"/>
              </a:spcBef>
              <a:buNone/>
              <a:defRPr sz="2200">
                <a:latin typeface="+mj-lt"/>
              </a:defRPr>
            </a:lvl1pPr>
          </a:lstStyle>
          <a:p>
            <a:pPr lvl="0"/>
            <a:endParaRPr lang="zh-TW" altLang="en-US" dirty="0"/>
          </a:p>
        </p:txBody>
      </p:sp>
      <p:sp>
        <p:nvSpPr>
          <p:cNvPr id="4" name="內容版面配置區 2"/>
          <p:cNvSpPr>
            <a:spLocks noGrp="1"/>
          </p:cNvSpPr>
          <p:nvPr>
            <p:ph idx="10"/>
          </p:nvPr>
        </p:nvSpPr>
        <p:spPr>
          <a:xfrm>
            <a:off x="252000" y="3609000"/>
            <a:ext cx="8640000" cy="2880000"/>
          </a:xfrm>
        </p:spPr>
        <p:txBody>
          <a:bodyPr/>
          <a:lstStyle>
            <a:lvl1pPr marL="0" indent="0">
              <a:spcBef>
                <a:spcPts val="0"/>
              </a:spcBef>
              <a:buNone/>
              <a:defRPr sz="2200">
                <a:latin typeface="+mj-lt"/>
              </a:defRPr>
            </a:lvl1pPr>
          </a:lstStyle>
          <a:p>
            <a:pPr lvl="0"/>
            <a:endParaRPr lang="zh-TW" altLang="en-US" dirty="0"/>
          </a:p>
        </p:txBody>
      </p:sp>
    </p:spTree>
    <p:extLst>
      <p:ext uri="{BB962C8B-B14F-4D97-AF65-F5344CB8AC3E}">
        <p14:creationId xmlns:p14="http://schemas.microsoft.com/office/powerpoint/2010/main" val="185735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52000" y="369001"/>
            <a:ext cx="5940000" cy="1979999"/>
          </a:xfrm>
        </p:spPr>
        <p:txBody>
          <a:bodyPr/>
          <a:lstStyle>
            <a:lvl1pPr marL="0" indent="0">
              <a:spcBef>
                <a:spcPts val="0"/>
              </a:spcBef>
              <a:buNone/>
              <a:defRPr sz="2000">
                <a:latin typeface="+mj-lt"/>
              </a:defRPr>
            </a:lvl1pPr>
          </a:lstStyle>
          <a:p>
            <a:pPr lvl="0"/>
            <a:endParaRPr lang="zh-TW" altLang="en-US" dirty="0"/>
          </a:p>
        </p:txBody>
      </p:sp>
      <p:sp>
        <p:nvSpPr>
          <p:cNvPr id="4" name="內容版面配置區 2"/>
          <p:cNvSpPr>
            <a:spLocks noGrp="1"/>
          </p:cNvSpPr>
          <p:nvPr>
            <p:ph idx="10"/>
          </p:nvPr>
        </p:nvSpPr>
        <p:spPr>
          <a:xfrm>
            <a:off x="252000" y="3609000"/>
            <a:ext cx="8640000" cy="2880000"/>
          </a:xfrm>
        </p:spPr>
        <p:txBody>
          <a:bodyPr rIns="0"/>
          <a:lstStyle>
            <a:lvl1pPr marL="0" indent="0">
              <a:spcBef>
                <a:spcPts val="0"/>
              </a:spcBef>
              <a:buNone/>
              <a:defRPr sz="2000">
                <a:latin typeface="+mj-lt"/>
              </a:defRPr>
            </a:lvl1pPr>
          </a:lstStyle>
          <a:p>
            <a:pPr lvl="0"/>
            <a:endParaRPr lang="zh-TW" altLang="en-US" dirty="0"/>
          </a:p>
        </p:txBody>
      </p:sp>
    </p:spTree>
    <p:extLst>
      <p:ext uri="{BB962C8B-B14F-4D97-AF65-F5344CB8AC3E}">
        <p14:creationId xmlns:p14="http://schemas.microsoft.com/office/powerpoint/2010/main" val="3040293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32000" y="369001"/>
            <a:ext cx="7560000" cy="1799999"/>
          </a:xfrm>
        </p:spPr>
        <p:txBody>
          <a:bodyPr/>
          <a:lstStyle>
            <a:lvl1pPr marL="0" indent="0">
              <a:spcBef>
                <a:spcPts val="0"/>
              </a:spcBef>
              <a:buNone/>
              <a:defRPr sz="1600">
                <a:latin typeface="+mn-ea"/>
                <a:ea typeface="+mn-ea"/>
              </a:defRPr>
            </a:lvl1pPr>
          </a:lstStyle>
          <a:p>
            <a:pPr lvl="0"/>
            <a:endParaRPr lang="zh-TW" altLang="en-US" dirty="0"/>
          </a:p>
        </p:txBody>
      </p:sp>
    </p:spTree>
    <p:extLst>
      <p:ext uri="{BB962C8B-B14F-4D97-AF65-F5344CB8AC3E}">
        <p14:creationId xmlns:p14="http://schemas.microsoft.com/office/powerpoint/2010/main" val="3189422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31471" y="368609"/>
            <a:ext cx="8281057" cy="1800230"/>
          </a:xfrm>
        </p:spPr>
        <p:txBody>
          <a:bodyPr/>
          <a:lstStyle>
            <a:lvl1pPr marL="0" indent="0">
              <a:buNone/>
              <a:defRPr sz="2200">
                <a:latin typeface="+mj-lt"/>
              </a:defRPr>
            </a:lvl1pPr>
          </a:lstStyle>
          <a:p>
            <a:pPr lvl="0"/>
            <a:endParaRPr lang="zh-TW" altLang="en-US" dirty="0"/>
          </a:p>
        </p:txBody>
      </p:sp>
    </p:spTree>
    <p:extLst>
      <p:ext uri="{BB962C8B-B14F-4D97-AF65-F5344CB8AC3E}">
        <p14:creationId xmlns:p14="http://schemas.microsoft.com/office/powerpoint/2010/main" val="72519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12000" y="368609"/>
            <a:ext cx="7200000" cy="1620391"/>
          </a:xfrm>
        </p:spPr>
        <p:txBody>
          <a:bodyPr wrap="none"/>
          <a:lstStyle>
            <a:lvl1pPr marL="0" indent="0">
              <a:buNone/>
              <a:defRPr sz="1600">
                <a:latin typeface="Lucida Console" panose="020B0609040504020204" pitchFamily="49" charset="0"/>
              </a:defRPr>
            </a:lvl1pPr>
          </a:lstStyle>
          <a:p>
            <a:pPr lvl="0"/>
            <a:endParaRPr lang="zh-TW" altLang="en-US" dirty="0"/>
          </a:p>
        </p:txBody>
      </p:sp>
    </p:spTree>
    <p:extLst>
      <p:ext uri="{BB962C8B-B14F-4D97-AF65-F5344CB8AC3E}">
        <p14:creationId xmlns:p14="http://schemas.microsoft.com/office/powerpoint/2010/main" val="26964312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132000" y="549000"/>
            <a:ext cx="3060000" cy="540000"/>
          </a:xfrm>
        </p:spPr>
        <p:txBody>
          <a:bodyPr/>
          <a:lstStyle>
            <a:lvl1pPr marL="0" indent="0">
              <a:buNone/>
              <a:defRPr sz="2200">
                <a:latin typeface="+mj-lt"/>
              </a:defRPr>
            </a:lvl1pPr>
          </a:lstStyle>
          <a:p>
            <a:pPr lvl="0"/>
            <a:endParaRPr lang="zh-TW" altLang="en-US" dirty="0"/>
          </a:p>
        </p:txBody>
      </p:sp>
    </p:spTree>
    <p:extLst>
      <p:ext uri="{BB962C8B-B14F-4D97-AF65-F5344CB8AC3E}">
        <p14:creationId xmlns:p14="http://schemas.microsoft.com/office/powerpoint/2010/main" val="1713043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1033"/>
          <p:cNvSpPr>
            <a:spLocks noGrp="1" noChangeArrowheads="1"/>
          </p:cNvSpPr>
          <p:nvPr>
            <p:ph type="title"/>
          </p:nvPr>
        </p:nvSpPr>
        <p:spPr bwMode="auto">
          <a:xfrm>
            <a:off x="431471" y="188913"/>
            <a:ext cx="8281057" cy="89978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16387" name="Rectangle 1034"/>
          <p:cNvSpPr>
            <a:spLocks noGrp="1" noChangeArrowheads="1"/>
          </p:cNvSpPr>
          <p:nvPr>
            <p:ph type="body" idx="1"/>
          </p:nvPr>
        </p:nvSpPr>
        <p:spPr bwMode="auto">
          <a:xfrm>
            <a:off x="431471" y="1268723"/>
            <a:ext cx="8281057" cy="52206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p:txBody>
      </p:sp>
    </p:spTree>
  </p:cSld>
  <p:clrMap bg1="lt1" tx1="dk1" bg2="lt2" tx2="dk2" accent1="accent1" accent2="accent2" accent3="accent3" accent4="accent4" accent5="accent5" accent6="accent6" hlink="hlink" folHlink="folHlink"/>
  <p:sldLayoutIdLst>
    <p:sldLayoutId id="2147483652" r:id="rId1"/>
    <p:sldLayoutId id="2147483670" r:id="rId2"/>
    <p:sldLayoutId id="2147483653" r:id="rId3"/>
    <p:sldLayoutId id="2147483668" r:id="rId4"/>
    <p:sldLayoutId id="2147483662" r:id="rId5"/>
    <p:sldLayoutId id="2147483664" r:id="rId6"/>
    <p:sldLayoutId id="2147483658" r:id="rId7"/>
    <p:sldLayoutId id="2147483673" r:id="rId8"/>
    <p:sldLayoutId id="2147483675" r:id="rId9"/>
    <p:sldLayoutId id="2147483674" r:id="rId10"/>
    <p:sldLayoutId id="2147483671" r:id="rId11"/>
    <p:sldLayoutId id="2147483666" r:id="rId12"/>
    <p:sldLayoutId id="2147483669" r:id="rId13"/>
    <p:sldLayoutId id="2147483667" r:id="rId14"/>
    <p:sldLayoutId id="2147483663" r:id="rId15"/>
    <p:sldLayoutId id="2147483672" r:id="rId16"/>
    <p:sldLayoutId id="2147483665" r:id="rId17"/>
    <p:sldLayoutId id="2147483655" r:id="rId18"/>
    <p:sldLayoutId id="2147483656" r:id="rId19"/>
  </p:sldLayoutIdLst>
  <p:txStyles>
    <p:titleStyle>
      <a:lvl1pPr algn="ctr" rtl="0" eaLnBrk="0" fontAlgn="base" hangingPunct="0">
        <a:spcBef>
          <a:spcPct val="0"/>
        </a:spcBef>
        <a:spcAft>
          <a:spcPct val="0"/>
        </a:spcAft>
        <a:defRPr kumimoji="1" sz="4000">
          <a:solidFill>
            <a:srgbClr val="0000FF"/>
          </a:solidFill>
          <a:latin typeface="+mj-lt"/>
          <a:ea typeface="+mj-ea"/>
          <a:cs typeface="+mj-cs"/>
        </a:defRPr>
      </a:lvl1pPr>
      <a:lvl2pPr algn="ctr" rtl="0" eaLnBrk="0" fontAlgn="base" hangingPunct="0">
        <a:spcBef>
          <a:spcPct val="0"/>
        </a:spcBef>
        <a:spcAft>
          <a:spcPct val="0"/>
        </a:spcAft>
        <a:defRPr kumimoji="1" sz="4000">
          <a:solidFill>
            <a:srgbClr val="0000FF"/>
          </a:solidFill>
          <a:latin typeface="Times New Roman" pitchFamily="18" charset="0"/>
          <a:ea typeface="新細明體" pitchFamily="18" charset="-120"/>
        </a:defRPr>
      </a:lvl2pPr>
      <a:lvl3pPr algn="ctr" rtl="0" eaLnBrk="0" fontAlgn="base" hangingPunct="0">
        <a:spcBef>
          <a:spcPct val="0"/>
        </a:spcBef>
        <a:spcAft>
          <a:spcPct val="0"/>
        </a:spcAft>
        <a:defRPr kumimoji="1" sz="4000">
          <a:solidFill>
            <a:srgbClr val="0000FF"/>
          </a:solidFill>
          <a:latin typeface="Times New Roman" pitchFamily="18" charset="0"/>
          <a:ea typeface="新細明體" pitchFamily="18" charset="-120"/>
        </a:defRPr>
      </a:lvl3pPr>
      <a:lvl4pPr algn="ctr" rtl="0" eaLnBrk="0" fontAlgn="base" hangingPunct="0">
        <a:spcBef>
          <a:spcPct val="0"/>
        </a:spcBef>
        <a:spcAft>
          <a:spcPct val="0"/>
        </a:spcAft>
        <a:defRPr kumimoji="1" sz="4000">
          <a:solidFill>
            <a:srgbClr val="0000FF"/>
          </a:solidFill>
          <a:latin typeface="Times New Roman" pitchFamily="18" charset="0"/>
          <a:ea typeface="新細明體" pitchFamily="18" charset="-120"/>
        </a:defRPr>
      </a:lvl4pPr>
      <a:lvl5pPr algn="ctr" rtl="0" eaLnBrk="0" fontAlgn="base" hangingPunct="0">
        <a:spcBef>
          <a:spcPct val="0"/>
        </a:spcBef>
        <a:spcAft>
          <a:spcPct val="0"/>
        </a:spcAft>
        <a:defRPr kumimoji="1" sz="4000">
          <a:solidFill>
            <a:srgbClr val="0000FF"/>
          </a:solidFill>
          <a:latin typeface="Times New Roman" pitchFamily="18" charset="0"/>
          <a:ea typeface="新細明體" pitchFamily="18" charset="-120"/>
        </a:defRPr>
      </a:lvl5pPr>
      <a:lvl6pPr marL="457200" algn="ctr" rtl="0" fontAlgn="base">
        <a:spcBef>
          <a:spcPct val="0"/>
        </a:spcBef>
        <a:spcAft>
          <a:spcPct val="0"/>
        </a:spcAft>
        <a:defRPr kumimoji="1" sz="4000">
          <a:solidFill>
            <a:srgbClr val="0000FF"/>
          </a:solidFill>
          <a:latin typeface="Times New Roman" pitchFamily="18" charset="0"/>
          <a:ea typeface="新細明體" pitchFamily="18" charset="-120"/>
        </a:defRPr>
      </a:lvl6pPr>
      <a:lvl7pPr marL="914400" algn="ctr" rtl="0" fontAlgn="base">
        <a:spcBef>
          <a:spcPct val="0"/>
        </a:spcBef>
        <a:spcAft>
          <a:spcPct val="0"/>
        </a:spcAft>
        <a:defRPr kumimoji="1" sz="4000">
          <a:solidFill>
            <a:srgbClr val="0000FF"/>
          </a:solidFill>
          <a:latin typeface="Times New Roman" pitchFamily="18" charset="0"/>
          <a:ea typeface="新細明體" pitchFamily="18" charset="-120"/>
        </a:defRPr>
      </a:lvl7pPr>
      <a:lvl8pPr marL="1371600" algn="ctr" rtl="0" fontAlgn="base">
        <a:spcBef>
          <a:spcPct val="0"/>
        </a:spcBef>
        <a:spcAft>
          <a:spcPct val="0"/>
        </a:spcAft>
        <a:defRPr kumimoji="1" sz="4000">
          <a:solidFill>
            <a:srgbClr val="0000FF"/>
          </a:solidFill>
          <a:latin typeface="Times New Roman" pitchFamily="18" charset="0"/>
          <a:ea typeface="新細明體" pitchFamily="18" charset="-120"/>
        </a:defRPr>
      </a:lvl8pPr>
      <a:lvl9pPr marL="1828800" algn="ctr" rtl="0" fontAlgn="base">
        <a:spcBef>
          <a:spcPct val="0"/>
        </a:spcBef>
        <a:spcAft>
          <a:spcPct val="0"/>
        </a:spcAft>
        <a:defRPr kumimoji="1" sz="4000">
          <a:solidFill>
            <a:srgbClr val="0000FF"/>
          </a:solidFill>
          <a:latin typeface="Times New Roman" pitchFamily="18" charset="0"/>
          <a:ea typeface="新細明體" pitchFamily="18" charset="-120"/>
        </a:defRPr>
      </a:lvl9pPr>
    </p:titleStyle>
    <p:bodyStyle>
      <a:lvl1pPr marL="271463" indent="-271463" algn="l" rtl="0" eaLnBrk="0" fontAlgn="base" hangingPunct="0">
        <a:spcBef>
          <a:spcPct val="20000"/>
        </a:spcBef>
        <a:spcAft>
          <a:spcPct val="0"/>
        </a:spcAft>
        <a:buClr>
          <a:schemeClr val="tx1"/>
        </a:buClr>
        <a:buChar char="•"/>
        <a:defRPr kumimoji="1" sz="2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kumimoji="1" sz="24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4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4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4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4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4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p:txBody>
          <a:bodyPr/>
          <a:lstStyle/>
          <a:p>
            <a:pPr marL="838200" indent="-838200" eaLnBrk="1" hangingPunct="1"/>
            <a:r>
              <a:rPr lang="en-US" altLang="zh-TW" dirty="0"/>
              <a:t>Finding the Convex Hull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sz="4400" dirty="0"/>
              <a:t>Convex Hull</a:t>
            </a:r>
            <a:endParaRPr lang="zh-TW" altLang="en-US" sz="4400" dirty="0"/>
          </a:p>
        </p:txBody>
      </p:sp>
      <p:sp>
        <p:nvSpPr>
          <p:cNvPr id="6" name="內容版面配置區 5"/>
          <p:cNvSpPr>
            <a:spLocks noGrp="1"/>
          </p:cNvSpPr>
          <p:nvPr>
            <p:ph idx="1"/>
          </p:nvPr>
        </p:nvSpPr>
        <p:spPr>
          <a:xfrm>
            <a:off x="431471" y="1268724"/>
            <a:ext cx="8281057" cy="4140276"/>
          </a:xfrm>
        </p:spPr>
        <p:txBody>
          <a:bodyPr/>
          <a:lstStyle/>
          <a:p>
            <a:pPr>
              <a:spcBef>
                <a:spcPts val="1200"/>
              </a:spcBef>
            </a:pPr>
            <a:r>
              <a:rPr lang="en-US" altLang="zh-TW" dirty="0"/>
              <a:t>The </a:t>
            </a:r>
            <a:r>
              <a:rPr lang="en-US" altLang="zh-TW" b="1" i="1" dirty="0">
                <a:solidFill>
                  <a:srgbClr val="0000FF"/>
                </a:solidFill>
              </a:rPr>
              <a:t>convex hull</a:t>
            </a:r>
            <a:r>
              <a:rPr lang="en-US" altLang="zh-TW" b="1" i="1" dirty="0"/>
              <a:t> </a:t>
            </a:r>
            <a:r>
              <a:rPr lang="en-US" altLang="zh-TW" dirty="0"/>
              <a:t>of a set </a:t>
            </a:r>
            <a:r>
              <a:rPr lang="en-US" altLang="zh-TW" i="1" dirty="0"/>
              <a:t>Q</a:t>
            </a:r>
            <a:r>
              <a:rPr lang="en-US" altLang="zh-TW" dirty="0"/>
              <a:t> of points, denoted by CH(</a:t>
            </a:r>
            <a:r>
              <a:rPr lang="en-US" altLang="zh-TW" i="1" dirty="0"/>
              <a:t>Q</a:t>
            </a:r>
            <a:r>
              <a:rPr lang="en-US" altLang="zh-TW" dirty="0"/>
              <a:t>), is the smallest convex polygon </a:t>
            </a:r>
            <a:r>
              <a:rPr lang="en-US" altLang="zh-TW" i="1" dirty="0"/>
              <a:t>P</a:t>
            </a:r>
            <a:r>
              <a:rPr lang="en-US" altLang="zh-TW" dirty="0"/>
              <a:t> for which each point in </a:t>
            </a:r>
            <a:r>
              <a:rPr lang="en-US" altLang="zh-TW" i="1" dirty="0"/>
              <a:t>Q</a:t>
            </a:r>
            <a:r>
              <a:rPr lang="en-US" altLang="zh-TW" dirty="0"/>
              <a:t> is either on the boundary of </a:t>
            </a:r>
            <a:r>
              <a:rPr lang="en-US" altLang="zh-TW" i="1" dirty="0"/>
              <a:t>P</a:t>
            </a:r>
            <a:r>
              <a:rPr lang="en-US" altLang="zh-TW" dirty="0"/>
              <a:t> or in its interior.</a:t>
            </a:r>
          </a:p>
          <a:p>
            <a:pPr>
              <a:spcBef>
                <a:spcPts val="1200"/>
              </a:spcBef>
            </a:pPr>
            <a:r>
              <a:rPr lang="en-US" altLang="zh-TW" dirty="0"/>
              <a:t>We implicitly assume that all points in the set </a:t>
            </a:r>
            <a:r>
              <a:rPr lang="en-US" altLang="zh-TW" i="1" dirty="0"/>
              <a:t>Q</a:t>
            </a:r>
            <a:r>
              <a:rPr lang="en-US" altLang="zh-TW" dirty="0"/>
              <a:t> are unique and that </a:t>
            </a:r>
            <a:r>
              <a:rPr lang="en-US" altLang="zh-TW" i="1" dirty="0"/>
              <a:t>Q</a:t>
            </a:r>
            <a:r>
              <a:rPr lang="en-US" altLang="zh-TW" dirty="0"/>
              <a:t> contains at least two points.</a:t>
            </a:r>
          </a:p>
          <a:p>
            <a:pPr>
              <a:spcBef>
                <a:spcPts val="1200"/>
              </a:spcBef>
            </a:pPr>
            <a:r>
              <a:rPr lang="en-US" altLang="zh-TW" dirty="0"/>
              <a:t>Intuitively, we can think of each point in </a:t>
            </a:r>
            <a:r>
              <a:rPr lang="en-US" altLang="zh-TW" i="1" dirty="0"/>
              <a:t>Q</a:t>
            </a:r>
            <a:r>
              <a:rPr lang="en-US" altLang="zh-TW" dirty="0"/>
              <a:t> as being a nail sticking out from a board.</a:t>
            </a:r>
          </a:p>
          <a:p>
            <a:pPr>
              <a:spcBef>
                <a:spcPts val="1200"/>
              </a:spcBef>
            </a:pPr>
            <a:r>
              <a:rPr lang="en-US" altLang="zh-TW" dirty="0"/>
              <a:t>The convex hull is then the shape formed by a tight rubber band that surrounds all the nails.</a:t>
            </a:r>
          </a:p>
          <a:p>
            <a:pPr>
              <a:spcBef>
                <a:spcPts val="1200"/>
              </a:spcBef>
            </a:pPr>
            <a:r>
              <a:rPr lang="en-US" altLang="zh-TW" dirty="0"/>
              <a:t>The following figure shows a set of points and its convex hull.</a:t>
            </a:r>
            <a:endParaRPr lang="zh-TW" altLang="en-US" dirty="0"/>
          </a:p>
        </p:txBody>
      </p:sp>
    </p:spTree>
    <p:extLst>
      <p:ext uri="{BB962C8B-B14F-4D97-AF65-F5344CB8AC3E}">
        <p14:creationId xmlns:p14="http://schemas.microsoft.com/office/powerpoint/2010/main" val="295159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p:cNvCxnSpPr>
            <a:stCxn id="28" idx="0"/>
            <a:endCxn id="24" idx="3"/>
          </p:cNvCxnSpPr>
          <p:nvPr/>
        </p:nvCxnSpPr>
        <p:spPr bwMode="auto">
          <a:xfrm flipH="1" flipV="1">
            <a:off x="1871793" y="3429368"/>
            <a:ext cx="1080184" cy="1260161"/>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5" name="直線接點 4"/>
          <p:cNvCxnSpPr>
            <a:stCxn id="23" idx="3"/>
            <a:endCxn id="24" idx="3"/>
          </p:cNvCxnSpPr>
          <p:nvPr/>
        </p:nvCxnSpPr>
        <p:spPr bwMode="auto">
          <a:xfrm flipH="1">
            <a:off x="1871793" y="909046"/>
            <a:ext cx="1620207" cy="252032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6" name="直線接點 5"/>
          <p:cNvCxnSpPr>
            <a:stCxn id="30" idx="1"/>
            <a:endCxn id="23" idx="3"/>
          </p:cNvCxnSpPr>
          <p:nvPr/>
        </p:nvCxnSpPr>
        <p:spPr bwMode="auto">
          <a:xfrm flipH="1" flipV="1">
            <a:off x="3492000" y="909046"/>
            <a:ext cx="3780575" cy="216027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7" name="直線接點 6"/>
          <p:cNvCxnSpPr>
            <a:stCxn id="30" idx="1"/>
            <a:endCxn id="31" idx="1"/>
          </p:cNvCxnSpPr>
          <p:nvPr/>
        </p:nvCxnSpPr>
        <p:spPr bwMode="auto">
          <a:xfrm flipH="1">
            <a:off x="6552483" y="3069322"/>
            <a:ext cx="720092" cy="1260161"/>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8" name="直線接點 7"/>
          <p:cNvCxnSpPr>
            <a:stCxn id="31" idx="1"/>
            <a:endCxn id="28" idx="0"/>
          </p:cNvCxnSpPr>
          <p:nvPr/>
        </p:nvCxnSpPr>
        <p:spPr bwMode="auto">
          <a:xfrm flipH="1">
            <a:off x="2951977" y="4329483"/>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9" name="直線接點 8"/>
          <p:cNvCxnSpPr/>
          <p:nvPr/>
        </p:nvCxnSpPr>
        <p:spPr bwMode="auto">
          <a:xfrm flipH="1">
            <a:off x="2772000" y="270927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0" name="直線接點 9"/>
          <p:cNvCxnSpPr/>
          <p:nvPr/>
        </p:nvCxnSpPr>
        <p:spPr bwMode="auto">
          <a:xfrm flipH="1">
            <a:off x="3492092" y="90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1" name="直線接點 10"/>
          <p:cNvCxnSpPr/>
          <p:nvPr/>
        </p:nvCxnSpPr>
        <p:spPr bwMode="auto">
          <a:xfrm flipH="1">
            <a:off x="3492092" y="234923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2" name="直線接點 11"/>
          <p:cNvCxnSpPr/>
          <p:nvPr/>
        </p:nvCxnSpPr>
        <p:spPr bwMode="auto">
          <a:xfrm flipH="1">
            <a:off x="3852138" y="2889299"/>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3" name="直線接點 12"/>
          <p:cNvCxnSpPr/>
          <p:nvPr/>
        </p:nvCxnSpPr>
        <p:spPr bwMode="auto">
          <a:xfrm flipH="1">
            <a:off x="4212184" y="2529253"/>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4" name="直線接點 13"/>
          <p:cNvCxnSpPr/>
          <p:nvPr/>
        </p:nvCxnSpPr>
        <p:spPr bwMode="auto">
          <a:xfrm flipH="1">
            <a:off x="4752253" y="234923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5" name="直線接點 14"/>
          <p:cNvCxnSpPr/>
          <p:nvPr/>
        </p:nvCxnSpPr>
        <p:spPr bwMode="auto">
          <a:xfrm flipH="1">
            <a:off x="5832391" y="2529253"/>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6" name="直線接點 15"/>
          <p:cNvCxnSpPr/>
          <p:nvPr/>
        </p:nvCxnSpPr>
        <p:spPr bwMode="auto">
          <a:xfrm flipH="1">
            <a:off x="6192437" y="306932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7272575" y="306932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6372460" y="378941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6552483" y="4329483"/>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2952023" y="4689529"/>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1871885" y="342936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2" name="矩形 21"/>
          <p:cNvSpPr/>
          <p:nvPr/>
        </p:nvSpPr>
        <p:spPr bwMode="auto">
          <a:xfrm>
            <a:off x="2411954" y="2709276"/>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3" name="矩形 22"/>
          <p:cNvSpPr/>
          <p:nvPr/>
        </p:nvSpPr>
        <p:spPr bwMode="auto">
          <a:xfrm>
            <a:off x="2772000" y="54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4" name="矩形 23"/>
          <p:cNvSpPr/>
          <p:nvPr/>
        </p:nvSpPr>
        <p:spPr bwMode="auto">
          <a:xfrm>
            <a:off x="1151793" y="3069322"/>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5" name="矩形 24"/>
          <p:cNvSpPr/>
          <p:nvPr/>
        </p:nvSpPr>
        <p:spPr bwMode="auto">
          <a:xfrm>
            <a:off x="3852138" y="2529253"/>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6" name="矩形 25"/>
          <p:cNvSpPr/>
          <p:nvPr/>
        </p:nvSpPr>
        <p:spPr bwMode="auto">
          <a:xfrm>
            <a:off x="4392207" y="180916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7" name="矩形 26"/>
          <p:cNvSpPr/>
          <p:nvPr/>
        </p:nvSpPr>
        <p:spPr bwMode="auto">
          <a:xfrm>
            <a:off x="3492092" y="288929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8" name="矩形 27"/>
          <p:cNvSpPr/>
          <p:nvPr/>
        </p:nvSpPr>
        <p:spPr bwMode="auto">
          <a:xfrm>
            <a:off x="2591977" y="468952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9" name="矩形 28"/>
          <p:cNvSpPr/>
          <p:nvPr/>
        </p:nvSpPr>
        <p:spPr bwMode="auto">
          <a:xfrm>
            <a:off x="5472345" y="2529253"/>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7272575" y="2709276"/>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6552483" y="3969437"/>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5832390" y="3429368"/>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5832391" y="306932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2772000" y="1989184"/>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2" name="內容版面配置區 1">
            <a:extLst>
              <a:ext uri="{FF2B5EF4-FFF2-40B4-BE49-F238E27FC236}">
                <a16:creationId xmlns:a16="http://schemas.microsoft.com/office/drawing/2014/main" id="{32D352D1-7B3A-4119-B964-00462E76D3CB}"/>
              </a:ext>
            </a:extLst>
          </p:cNvPr>
          <p:cNvSpPr>
            <a:spLocks noGrp="1"/>
          </p:cNvSpPr>
          <p:nvPr>
            <p:ph idx="1"/>
          </p:nvPr>
        </p:nvSpPr>
        <p:spPr/>
        <p:txBody>
          <a:bodyPr/>
          <a:lstStyle/>
          <a:p>
            <a:r>
              <a:rPr lang="en-US" altLang="zh-TW" dirty="0"/>
              <a:t>The convex hull of </a:t>
            </a:r>
            <a:r>
              <a:rPr lang="en-US" altLang="zh-TW" spc="300" dirty="0"/>
              <a:t>{</a:t>
            </a:r>
            <a:r>
              <a:rPr lang="en-US" altLang="zh-TW" i="1" dirty="0"/>
              <a:t>p</a:t>
            </a:r>
            <a:r>
              <a:rPr lang="en-US" altLang="zh-TW" baseline="-25000" dirty="0"/>
              <a:t>0</a:t>
            </a:r>
            <a:r>
              <a:rPr lang="en-US" altLang="zh-TW" dirty="0"/>
              <a:t>, </a:t>
            </a:r>
            <a:r>
              <a:rPr lang="en-US" altLang="zh-TW" i="1" dirty="0"/>
              <a:t>p</a:t>
            </a:r>
            <a:r>
              <a:rPr lang="en-US" altLang="zh-TW" baseline="-25000" dirty="0"/>
              <a:t>1</a:t>
            </a:r>
            <a:r>
              <a:rPr lang="en-US" altLang="zh-TW" dirty="0"/>
              <a:t>, . . ., </a:t>
            </a:r>
            <a:r>
              <a:rPr lang="en-US" altLang="zh-TW" i="1" dirty="0"/>
              <a:t>p</a:t>
            </a:r>
            <a:r>
              <a:rPr lang="en-US" altLang="zh-TW" baseline="-25000" dirty="0"/>
              <a:t>12</a:t>
            </a:r>
            <a:r>
              <a:rPr lang="en-US" altLang="zh-TW" dirty="0"/>
              <a:t>} above is </a:t>
            </a:r>
            <a:r>
              <a:rPr kumimoji="1" lang="en-US" altLang="zh-TW" sz="2200" b="0" i="0" u="none" strike="noStrike" kern="0" cap="none" spc="300" normalizeH="0" baseline="0" noProof="0" dirty="0">
                <a:ln>
                  <a:noFill/>
                </a:ln>
                <a:solidFill>
                  <a:srgbClr val="000000"/>
                </a:solidFill>
                <a:effectLst/>
                <a:uLnTx/>
                <a:uFillTx/>
                <a:latin typeface="Times New Roman"/>
                <a:cs typeface="+mn-cs"/>
              </a:rPr>
              <a:t>{</a:t>
            </a:r>
            <a:r>
              <a:rPr kumimoji="1" lang="en-US" altLang="zh-TW" sz="2200" b="0" i="1" u="none" strike="noStrike" kern="0" cap="none" spc="0" normalizeH="0" baseline="0" noProof="0" dirty="0">
                <a:ln>
                  <a:noFill/>
                </a:ln>
                <a:solidFill>
                  <a:srgbClr val="000000"/>
                </a:solidFill>
                <a:effectLst/>
                <a:uLnTx/>
                <a:uFillTx/>
                <a:latin typeface="Times New Roman"/>
                <a:cs typeface="+mn-cs"/>
              </a:rPr>
              <a:t>p</a:t>
            </a:r>
            <a:r>
              <a:rPr kumimoji="1" lang="en-US" altLang="zh-TW" sz="2200" b="0" i="0" u="none" strike="noStrike" kern="0" cap="none" spc="0" normalizeH="0" baseline="-25000" noProof="0" dirty="0">
                <a:ln>
                  <a:noFill/>
                </a:ln>
                <a:solidFill>
                  <a:srgbClr val="000000"/>
                </a:solidFill>
                <a:effectLst/>
                <a:uLnTx/>
                <a:uFillTx/>
                <a:latin typeface="Times New Roman"/>
                <a:cs typeface="+mn-cs"/>
              </a:rPr>
              <a:t>0</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a:ln>
                  <a:noFill/>
                </a:ln>
                <a:solidFill>
                  <a:srgbClr val="000000"/>
                </a:solidFill>
                <a:effectLst/>
                <a:uLnTx/>
                <a:uFillTx/>
                <a:latin typeface="Times New Roman"/>
                <a:cs typeface="+mn-cs"/>
              </a:rPr>
              <a:t>p</a:t>
            </a:r>
            <a:r>
              <a:rPr kumimoji="1" lang="en-US" altLang="zh-TW" sz="2200" b="0" i="0" u="none" strike="noStrike" kern="0" cap="none" spc="0" normalizeH="0" baseline="-25000" noProof="0" dirty="0">
                <a:ln>
                  <a:noFill/>
                </a:ln>
                <a:solidFill>
                  <a:srgbClr val="000000"/>
                </a:solidFill>
                <a:effectLst/>
                <a:uLnTx/>
                <a:uFillTx/>
                <a:latin typeface="Times New Roman"/>
                <a:cs typeface="+mn-cs"/>
              </a:rPr>
              <a:t>1</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a:ln>
                  <a:noFill/>
                </a:ln>
                <a:solidFill>
                  <a:srgbClr val="000000"/>
                </a:solidFill>
                <a:effectLst/>
                <a:uLnTx/>
                <a:uFillTx/>
                <a:latin typeface="Times New Roman"/>
                <a:cs typeface="+mn-cs"/>
              </a:rPr>
              <a:t>p</a:t>
            </a:r>
            <a:r>
              <a:rPr kumimoji="1" lang="en-US" altLang="zh-TW" sz="2200" b="0" i="0" u="none" strike="noStrike" kern="0" cap="none" spc="0" normalizeH="0" baseline="-25000" noProof="0" dirty="0">
                <a:ln>
                  <a:noFill/>
                </a:ln>
                <a:solidFill>
                  <a:srgbClr val="000000"/>
                </a:solidFill>
                <a:effectLst/>
                <a:uLnTx/>
                <a:uFillTx/>
                <a:latin typeface="Times New Roman"/>
                <a:cs typeface="+mn-cs"/>
              </a:rPr>
              <a:t>3</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a:ln>
                  <a:noFill/>
                </a:ln>
                <a:solidFill>
                  <a:srgbClr val="000000"/>
                </a:solidFill>
                <a:effectLst/>
                <a:uLnTx/>
                <a:uFillTx/>
                <a:latin typeface="Times New Roman"/>
                <a:cs typeface="+mn-cs"/>
              </a:rPr>
              <a:t>p</a:t>
            </a:r>
            <a:r>
              <a:rPr kumimoji="1" lang="en-US" altLang="zh-TW" sz="2200" b="0" i="0" u="none" strike="noStrike" kern="0" cap="none" spc="0" normalizeH="0" baseline="-25000" noProof="0" dirty="0">
                <a:ln>
                  <a:noFill/>
                </a:ln>
                <a:solidFill>
                  <a:srgbClr val="000000"/>
                </a:solidFill>
                <a:effectLst/>
                <a:uLnTx/>
                <a:uFillTx/>
                <a:latin typeface="Times New Roman"/>
                <a:cs typeface="+mn-cs"/>
              </a:rPr>
              <a:t>10</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a:ln>
                  <a:noFill/>
                </a:ln>
                <a:solidFill>
                  <a:srgbClr val="000000"/>
                </a:solidFill>
                <a:effectLst/>
                <a:uLnTx/>
                <a:uFillTx/>
                <a:latin typeface="Times New Roman"/>
                <a:cs typeface="+mn-cs"/>
              </a:rPr>
              <a:t>p</a:t>
            </a:r>
            <a:r>
              <a:rPr kumimoji="1" lang="en-US" altLang="zh-TW" sz="2200" b="0" i="0" u="none" strike="noStrike" kern="0" cap="none" spc="0" normalizeH="0" baseline="-25000" noProof="0" dirty="0">
                <a:ln>
                  <a:noFill/>
                </a:ln>
                <a:solidFill>
                  <a:srgbClr val="000000"/>
                </a:solidFill>
                <a:effectLst/>
                <a:uLnTx/>
                <a:uFillTx/>
                <a:latin typeface="Times New Roman"/>
                <a:cs typeface="+mn-cs"/>
              </a:rPr>
              <a:t>12</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a:ln>
                  <a:noFill/>
                </a:ln>
                <a:solidFill>
                  <a:srgbClr val="000000"/>
                </a:solidFill>
                <a:effectLst/>
                <a:uLnTx/>
                <a:uFillTx/>
                <a:latin typeface="Times New Roman"/>
                <a:cs typeface="+mn-cs"/>
              </a:rPr>
              <a:t>p</a:t>
            </a:r>
            <a:r>
              <a:rPr kumimoji="1" lang="en-US" altLang="zh-TW" sz="2200" b="0" i="0" u="none" strike="noStrike" kern="0" cap="none" spc="0" normalizeH="0" baseline="-25000" noProof="0" dirty="0">
                <a:ln>
                  <a:noFill/>
                </a:ln>
                <a:solidFill>
                  <a:srgbClr val="000000"/>
                </a:solidFill>
                <a:effectLst/>
                <a:uLnTx/>
                <a:uFillTx/>
                <a:latin typeface="Times New Roman"/>
                <a:cs typeface="+mn-cs"/>
              </a:rPr>
              <a:t>0</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endParaRPr lang="zh-TW" altLang="en-US" dirty="0"/>
          </a:p>
        </p:txBody>
      </p:sp>
    </p:spTree>
    <p:extLst>
      <p:ext uri="{BB962C8B-B14F-4D97-AF65-F5344CB8AC3E}">
        <p14:creationId xmlns:p14="http://schemas.microsoft.com/office/powerpoint/2010/main" val="115481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40901641-2232-4B5B-901D-CB0B1ABB171D}"/>
              </a:ext>
            </a:extLst>
          </p:cNvPr>
          <p:cNvSpPr>
            <a:spLocks noGrp="1"/>
          </p:cNvSpPr>
          <p:nvPr>
            <p:ph type="ctrTitle"/>
          </p:nvPr>
        </p:nvSpPr>
        <p:spPr/>
        <p:txBody>
          <a:bodyPr/>
          <a:lstStyle/>
          <a:p>
            <a:r>
              <a:rPr lang="en-US" altLang="zh-TW" dirty="0"/>
              <a:t>Graham’s Scan</a:t>
            </a:r>
            <a:endParaRPr lang="zh-TW" altLang="en-US" dirty="0"/>
          </a:p>
        </p:txBody>
      </p:sp>
    </p:spTree>
    <p:extLst>
      <p:ext uri="{BB962C8B-B14F-4D97-AF65-F5344CB8AC3E}">
        <p14:creationId xmlns:p14="http://schemas.microsoft.com/office/powerpoint/2010/main" val="3248433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lvl="0">
              <a:buClr>
                <a:srgbClr val="000000"/>
              </a:buClr>
            </a:pPr>
            <a:r>
              <a:rPr lang="en-US" altLang="zh-TW" sz="2200" dirty="0">
                <a:solidFill>
                  <a:srgbClr val="000000"/>
                </a:solidFill>
                <a:latin typeface="Times New Roman"/>
                <a:ea typeface="新細明體"/>
              </a:rPr>
              <a:t>G</a:t>
            </a:r>
            <a:r>
              <a:rPr lang="en-US" altLang="zh-TW" sz="1800" dirty="0">
                <a:solidFill>
                  <a:srgbClr val="000000"/>
                </a:solidFill>
                <a:latin typeface="Times New Roman"/>
                <a:ea typeface="新細明體"/>
              </a:rPr>
              <a:t>RAHAM</a:t>
            </a:r>
            <a:r>
              <a:rPr lang="en-US" altLang="zh-TW" sz="2200" dirty="0">
                <a:solidFill>
                  <a:srgbClr val="000000"/>
                </a:solidFill>
                <a:latin typeface="Times New Roman"/>
                <a:ea typeface="新細明體"/>
              </a:rPr>
              <a:t>-S</a:t>
            </a:r>
            <a:r>
              <a:rPr lang="en-US" altLang="zh-TW" sz="1800" dirty="0">
                <a:solidFill>
                  <a:srgbClr val="000000"/>
                </a:solidFill>
                <a:latin typeface="Times New Roman"/>
                <a:ea typeface="新細明體"/>
              </a:rPr>
              <a:t>CAN</a:t>
            </a:r>
            <a:r>
              <a:rPr lang="en-US" altLang="zh-TW" sz="2200" dirty="0">
                <a:solidFill>
                  <a:srgbClr val="000000"/>
                </a:solidFill>
                <a:latin typeface="Times New Roman"/>
                <a:ea typeface="新細明體"/>
              </a:rPr>
              <a:t>(</a:t>
            </a:r>
            <a:r>
              <a:rPr lang="en-US" altLang="zh-TW" sz="2200" i="1" dirty="0">
                <a:solidFill>
                  <a:srgbClr val="000000"/>
                </a:solidFill>
                <a:latin typeface="Times New Roman"/>
                <a:ea typeface="新細明體"/>
              </a:rPr>
              <a:t>Q</a:t>
            </a:r>
            <a:r>
              <a:rPr lang="en-US" altLang="zh-TW" sz="2200" dirty="0">
                <a:solidFill>
                  <a:srgbClr val="000000"/>
                </a:solidFill>
                <a:latin typeface="Times New Roman"/>
                <a:ea typeface="新細明體"/>
              </a:rPr>
              <a:t>)</a:t>
            </a:r>
          </a:p>
          <a:p>
            <a:pPr lvl="0">
              <a:buClr>
                <a:srgbClr val="000000"/>
              </a:buClr>
              <a:tabLst>
                <a:tab pos="270000" algn="r"/>
                <a:tab pos="630000" algn="l"/>
                <a:tab pos="990000" algn="l"/>
                <a:tab pos="1800000" algn="l"/>
              </a:tabLst>
            </a:pPr>
            <a:r>
              <a:rPr lang="en-US" altLang="zh-TW" sz="2200" dirty="0">
                <a:solidFill>
                  <a:srgbClr val="000000"/>
                </a:solidFill>
                <a:latin typeface="Times New Roman"/>
                <a:ea typeface="新細明體"/>
              </a:rPr>
              <a:t>	1	let	</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0</a:t>
            </a:r>
            <a:r>
              <a:rPr lang="en-US" altLang="zh-TW" sz="2200" dirty="0">
                <a:solidFill>
                  <a:srgbClr val="000000"/>
                </a:solidFill>
                <a:latin typeface="Times New Roman"/>
                <a:ea typeface="新細明體"/>
              </a:rPr>
              <a:t> be the point in </a:t>
            </a:r>
            <a:r>
              <a:rPr lang="en-US" altLang="zh-TW" sz="2200" i="1" dirty="0">
                <a:solidFill>
                  <a:srgbClr val="000000"/>
                </a:solidFill>
                <a:latin typeface="Times New Roman"/>
                <a:ea typeface="新細明體"/>
              </a:rPr>
              <a:t>Q</a:t>
            </a:r>
            <a:r>
              <a:rPr lang="en-US" altLang="zh-TW" sz="2200" dirty="0">
                <a:solidFill>
                  <a:srgbClr val="000000"/>
                </a:solidFill>
                <a:latin typeface="Times New Roman"/>
                <a:ea typeface="新細明體"/>
              </a:rPr>
              <a:t> with the minimum </a:t>
            </a:r>
            <a:r>
              <a:rPr lang="en-US" altLang="zh-TW" sz="2200" i="1" dirty="0">
                <a:solidFill>
                  <a:srgbClr val="000000"/>
                </a:solidFill>
                <a:latin typeface="Times New Roman"/>
                <a:ea typeface="新細明體"/>
              </a:rPr>
              <a:t>y</a:t>
            </a:r>
            <a:r>
              <a:rPr lang="en-US" altLang="zh-TW" sz="2200" dirty="0">
                <a:solidFill>
                  <a:srgbClr val="000000"/>
                </a:solidFill>
                <a:latin typeface="Times New Roman"/>
                <a:ea typeface="新細明體"/>
              </a:rPr>
              <a:t>-coordinate,</a:t>
            </a:r>
          </a:p>
          <a:p>
            <a:pPr lvl="0">
              <a:buClr>
                <a:srgbClr val="000000"/>
              </a:buClr>
              <a:tabLst>
                <a:tab pos="270000" algn="r"/>
                <a:tab pos="630000" algn="l"/>
                <a:tab pos="990000" algn="l"/>
                <a:tab pos="1800000" algn="l"/>
              </a:tabLst>
            </a:pPr>
            <a:r>
              <a:rPr lang="en-US" altLang="zh-TW" sz="2200" dirty="0">
                <a:solidFill>
                  <a:srgbClr val="000000"/>
                </a:solidFill>
                <a:latin typeface="Times New Roman"/>
                <a:ea typeface="新細明體"/>
              </a:rPr>
              <a:t>			or the leftmost such point in case of a tie</a:t>
            </a:r>
          </a:p>
          <a:p>
            <a:pPr lvl="0">
              <a:buClr>
                <a:srgbClr val="000000"/>
              </a:buClr>
              <a:tabLst>
                <a:tab pos="270000" algn="r"/>
                <a:tab pos="630000" algn="l"/>
                <a:tab pos="990000" algn="l"/>
                <a:tab pos="1800000" algn="l"/>
              </a:tabLst>
            </a:pPr>
            <a:r>
              <a:rPr lang="en-US" altLang="zh-TW" sz="2200" dirty="0">
                <a:solidFill>
                  <a:srgbClr val="000000"/>
                </a:solidFill>
                <a:latin typeface="Times New Roman"/>
                <a:ea typeface="新細明體"/>
              </a:rPr>
              <a:t>	2	let	</a:t>
            </a:r>
            <a:r>
              <a:rPr lang="zh-TW" altLang="en-US" sz="2200" spc="300" dirty="0">
                <a:solidFill>
                  <a:srgbClr val="000000"/>
                </a:solidFill>
                <a:latin typeface="Times New Roman"/>
                <a:ea typeface="新細明體"/>
                <a:sym typeface="Symbol" panose="05050102010706020507" pitchFamily="18" charset="2"/>
              </a:rPr>
              <a:t></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1</a:t>
            </a:r>
            <a:r>
              <a:rPr lang="en-US" altLang="zh-TW" sz="2200" dirty="0">
                <a:solidFill>
                  <a:srgbClr val="000000"/>
                </a:solidFill>
                <a:latin typeface="Times New Roman"/>
                <a:ea typeface="新細明體"/>
              </a:rPr>
              <a:t>, </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2</a:t>
            </a:r>
            <a:r>
              <a:rPr lang="en-US" altLang="zh-TW" sz="2200" dirty="0">
                <a:solidFill>
                  <a:srgbClr val="000000"/>
                </a:solidFill>
                <a:latin typeface="Times New Roman"/>
                <a:ea typeface="新細明體"/>
              </a:rPr>
              <a:t>, . . . , </a:t>
            </a:r>
            <a:r>
              <a:rPr lang="en-US" altLang="zh-TW" sz="2200" i="1" dirty="0">
                <a:solidFill>
                  <a:srgbClr val="000000"/>
                </a:solidFill>
                <a:latin typeface="Times New Roman"/>
                <a:ea typeface="新細明體"/>
              </a:rPr>
              <a:t>p</a:t>
            </a:r>
            <a:r>
              <a:rPr lang="en-US" altLang="zh-TW" sz="2200" i="1" baseline="-25000" dirty="0">
                <a:solidFill>
                  <a:srgbClr val="000000"/>
                </a:solidFill>
                <a:latin typeface="Times New Roman"/>
                <a:ea typeface="新細明體"/>
              </a:rPr>
              <a:t>m</a:t>
            </a:r>
            <a:r>
              <a:rPr lang="zh-TW" altLang="en-US" sz="2200" dirty="0">
                <a:solidFill>
                  <a:srgbClr val="000000"/>
                </a:solidFill>
                <a:latin typeface="Times New Roman"/>
                <a:ea typeface="新細明體"/>
                <a:sym typeface="Symbol" panose="05050102010706020507" pitchFamily="18" charset="2"/>
              </a:rPr>
              <a:t></a:t>
            </a:r>
            <a:r>
              <a:rPr lang="zh-TW" altLang="en-US" sz="2200" dirty="0">
                <a:solidFill>
                  <a:srgbClr val="000000"/>
                </a:solidFill>
                <a:latin typeface="Times New Roman"/>
                <a:ea typeface="新細明體"/>
              </a:rPr>
              <a:t> </a:t>
            </a:r>
            <a:r>
              <a:rPr lang="en-US" altLang="zh-TW" sz="2200" dirty="0">
                <a:solidFill>
                  <a:srgbClr val="000000"/>
                </a:solidFill>
                <a:latin typeface="Times New Roman"/>
                <a:ea typeface="新細明體"/>
              </a:rPr>
              <a:t>be the remaining points in </a:t>
            </a:r>
            <a:r>
              <a:rPr lang="en-US" altLang="zh-TW" sz="2200" i="1" dirty="0">
                <a:solidFill>
                  <a:srgbClr val="000000"/>
                </a:solidFill>
                <a:latin typeface="Times New Roman"/>
                <a:ea typeface="新細明體"/>
              </a:rPr>
              <a:t>Q</a:t>
            </a:r>
            <a:r>
              <a:rPr lang="en-US" altLang="zh-TW" sz="2200" dirty="0">
                <a:solidFill>
                  <a:srgbClr val="000000"/>
                </a:solidFill>
                <a:latin typeface="Times New Roman"/>
                <a:ea typeface="新細明體"/>
              </a:rPr>
              <a:t>,</a:t>
            </a:r>
          </a:p>
          <a:p>
            <a:pPr lvl="0">
              <a:buClr>
                <a:srgbClr val="000000"/>
              </a:buClr>
              <a:tabLst>
                <a:tab pos="270000" algn="r"/>
                <a:tab pos="630000" algn="l"/>
                <a:tab pos="990000" algn="l"/>
                <a:tab pos="1800000" algn="l"/>
              </a:tabLst>
            </a:pPr>
            <a:r>
              <a:rPr lang="en-US" altLang="zh-TW" sz="2200" dirty="0">
                <a:solidFill>
                  <a:srgbClr val="000000"/>
                </a:solidFill>
                <a:latin typeface="Times New Roman"/>
                <a:ea typeface="新細明體"/>
              </a:rPr>
              <a:t>			sorted by polar angle in counterclockwise order around </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0</a:t>
            </a:r>
            <a:endParaRPr lang="en-US" altLang="zh-TW" sz="2200" baseline="-25000" dirty="0">
              <a:solidFill>
                <a:srgbClr val="000000"/>
              </a:solidFill>
              <a:latin typeface="Times New Roman"/>
              <a:ea typeface="新細明體"/>
            </a:endParaRPr>
          </a:p>
          <a:p>
            <a:pPr lvl="0">
              <a:buClr>
                <a:srgbClr val="000000"/>
              </a:buClr>
              <a:tabLst>
                <a:tab pos="270000" algn="r"/>
                <a:tab pos="630000" algn="l"/>
                <a:tab pos="990000" algn="l"/>
                <a:tab pos="1800000" algn="l"/>
              </a:tabLst>
            </a:pPr>
            <a:r>
              <a:rPr lang="en-US" altLang="zh-TW" sz="2200" dirty="0">
                <a:solidFill>
                  <a:srgbClr val="000000"/>
                </a:solidFill>
                <a:latin typeface="Times New Roman"/>
                <a:ea typeface="新細明體"/>
              </a:rPr>
              <a:t>			(if more than one point has the same angle, remove all but</a:t>
            </a:r>
          </a:p>
          <a:p>
            <a:pPr lvl="0">
              <a:buClr>
                <a:srgbClr val="000000"/>
              </a:buClr>
              <a:tabLst>
                <a:tab pos="270000" algn="r"/>
                <a:tab pos="630000" algn="l"/>
                <a:tab pos="990000" algn="l"/>
                <a:tab pos="1800000" algn="l"/>
              </a:tabLst>
            </a:pPr>
            <a:r>
              <a:rPr lang="en-US" altLang="zh-TW" sz="2200" dirty="0">
                <a:solidFill>
                  <a:srgbClr val="000000"/>
                </a:solidFill>
                <a:latin typeface="Times New Roman"/>
                <a:ea typeface="新細明體"/>
              </a:rPr>
              <a:t>			the one that is farthest from </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0</a:t>
            </a:r>
            <a:r>
              <a:rPr lang="en-US" altLang="zh-TW" sz="2200" dirty="0">
                <a:solidFill>
                  <a:srgbClr val="000000"/>
                </a:solidFill>
                <a:latin typeface="Times New Roman"/>
                <a:ea typeface="新細明體"/>
              </a:rPr>
              <a:t>)</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3	let </a:t>
            </a:r>
            <a:r>
              <a:rPr lang="en-US" altLang="zh-TW" sz="2200" i="1" dirty="0">
                <a:solidFill>
                  <a:srgbClr val="000000"/>
                </a:solidFill>
                <a:latin typeface="Times New Roman"/>
                <a:ea typeface="新細明體"/>
              </a:rPr>
              <a:t>S</a:t>
            </a:r>
            <a:r>
              <a:rPr lang="en-US" altLang="zh-TW" sz="2200" dirty="0">
                <a:solidFill>
                  <a:srgbClr val="000000"/>
                </a:solidFill>
                <a:latin typeface="Times New Roman"/>
                <a:ea typeface="新細明體"/>
              </a:rPr>
              <a:t> be an empty stack</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4	P</a:t>
            </a:r>
            <a:r>
              <a:rPr lang="en-US" altLang="zh-TW" sz="1800" dirty="0">
                <a:solidFill>
                  <a:srgbClr val="000000"/>
                </a:solidFill>
                <a:latin typeface="Times New Roman"/>
                <a:ea typeface="新細明體"/>
              </a:rPr>
              <a:t>USH</a:t>
            </a:r>
            <a:r>
              <a:rPr lang="en-US" altLang="zh-TW" sz="2200" spc="300" dirty="0">
                <a:solidFill>
                  <a:srgbClr val="000000"/>
                </a:solidFill>
                <a:latin typeface="Times New Roman"/>
                <a:ea typeface="新細明體"/>
              </a:rPr>
              <a:t>(</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0</a:t>
            </a:r>
            <a:r>
              <a:rPr lang="en-US" altLang="zh-TW" sz="2200" dirty="0">
                <a:solidFill>
                  <a:srgbClr val="000000"/>
                </a:solidFill>
                <a:latin typeface="Times New Roman"/>
                <a:ea typeface="新細明體"/>
              </a:rPr>
              <a:t>, </a:t>
            </a:r>
            <a:r>
              <a:rPr lang="en-US" altLang="zh-TW" sz="2200" i="1" spc="300" dirty="0">
                <a:solidFill>
                  <a:srgbClr val="000000"/>
                </a:solidFill>
                <a:latin typeface="Times New Roman"/>
                <a:ea typeface="新細明體"/>
              </a:rPr>
              <a:t>S</a:t>
            </a:r>
            <a:r>
              <a:rPr lang="en-US" altLang="zh-TW" sz="2200" dirty="0">
                <a:solidFill>
                  <a:srgbClr val="000000"/>
                </a:solidFill>
                <a:latin typeface="Times New Roman"/>
                <a:ea typeface="新細明體"/>
              </a:rPr>
              <a:t>)</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5	P</a:t>
            </a:r>
            <a:r>
              <a:rPr lang="en-US" altLang="zh-TW" sz="1800" dirty="0">
                <a:solidFill>
                  <a:srgbClr val="000000"/>
                </a:solidFill>
                <a:latin typeface="Times New Roman"/>
                <a:ea typeface="新細明體"/>
              </a:rPr>
              <a:t>USH</a:t>
            </a:r>
            <a:r>
              <a:rPr lang="en-US" altLang="zh-TW" sz="2200" spc="300" dirty="0">
                <a:solidFill>
                  <a:srgbClr val="000000"/>
                </a:solidFill>
                <a:latin typeface="Times New Roman"/>
                <a:ea typeface="新細明體"/>
              </a:rPr>
              <a:t>(</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1</a:t>
            </a:r>
            <a:r>
              <a:rPr lang="en-US" altLang="zh-TW" sz="2200" dirty="0">
                <a:solidFill>
                  <a:srgbClr val="000000"/>
                </a:solidFill>
                <a:latin typeface="Times New Roman"/>
                <a:ea typeface="新細明體"/>
              </a:rPr>
              <a:t>, </a:t>
            </a:r>
            <a:r>
              <a:rPr lang="en-US" altLang="zh-TW" sz="2200" i="1" spc="300" dirty="0">
                <a:solidFill>
                  <a:srgbClr val="000000"/>
                </a:solidFill>
                <a:latin typeface="Times New Roman"/>
                <a:ea typeface="新細明體"/>
              </a:rPr>
              <a:t>S</a:t>
            </a:r>
            <a:r>
              <a:rPr lang="en-US" altLang="zh-TW" sz="2200" dirty="0">
                <a:solidFill>
                  <a:srgbClr val="000000"/>
                </a:solidFill>
                <a:latin typeface="Times New Roman"/>
                <a:ea typeface="新細明體"/>
              </a:rPr>
              <a:t>)</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6	P</a:t>
            </a:r>
            <a:r>
              <a:rPr lang="en-US" altLang="zh-TW" sz="1800" dirty="0">
                <a:solidFill>
                  <a:srgbClr val="000000"/>
                </a:solidFill>
                <a:latin typeface="Times New Roman"/>
                <a:ea typeface="新細明體"/>
              </a:rPr>
              <a:t>USH</a:t>
            </a:r>
            <a:r>
              <a:rPr lang="en-US" altLang="zh-TW" sz="2200" spc="300" dirty="0">
                <a:solidFill>
                  <a:srgbClr val="000000"/>
                </a:solidFill>
                <a:latin typeface="Times New Roman"/>
                <a:ea typeface="新細明體"/>
              </a:rPr>
              <a:t>(</a:t>
            </a:r>
            <a:r>
              <a:rPr lang="en-US" altLang="zh-TW" sz="2200" i="1" dirty="0" err="1">
                <a:solidFill>
                  <a:srgbClr val="000000"/>
                </a:solidFill>
                <a:latin typeface="Times New Roman"/>
                <a:ea typeface="新細明體"/>
              </a:rPr>
              <a:t>p</a:t>
            </a:r>
            <a:r>
              <a:rPr lang="en-US" altLang="zh-TW" sz="2200" baseline="-25000" dirty="0" err="1">
                <a:solidFill>
                  <a:srgbClr val="000000"/>
                </a:solidFill>
                <a:latin typeface="Times New Roman"/>
                <a:ea typeface="新細明體"/>
              </a:rPr>
              <a:t>2</a:t>
            </a:r>
            <a:r>
              <a:rPr lang="en-US" altLang="zh-TW" sz="2200" dirty="0">
                <a:solidFill>
                  <a:srgbClr val="000000"/>
                </a:solidFill>
                <a:latin typeface="Times New Roman"/>
                <a:ea typeface="新細明體"/>
              </a:rPr>
              <a:t>, </a:t>
            </a:r>
            <a:r>
              <a:rPr lang="en-US" altLang="zh-TW" sz="2200" i="1" spc="300" dirty="0">
                <a:solidFill>
                  <a:srgbClr val="000000"/>
                </a:solidFill>
                <a:latin typeface="Times New Roman"/>
                <a:ea typeface="新細明體"/>
              </a:rPr>
              <a:t>S</a:t>
            </a:r>
            <a:r>
              <a:rPr lang="en-US" altLang="zh-TW" sz="2200" dirty="0">
                <a:solidFill>
                  <a:srgbClr val="000000"/>
                </a:solidFill>
                <a:latin typeface="Times New Roman"/>
                <a:ea typeface="新細明體"/>
              </a:rPr>
              <a:t>)</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7	</a:t>
            </a:r>
            <a:r>
              <a:rPr lang="en-US" altLang="zh-TW" sz="2200" b="1" dirty="0">
                <a:solidFill>
                  <a:srgbClr val="000000"/>
                </a:solidFill>
                <a:latin typeface="Times New Roman"/>
                <a:ea typeface="新細明體"/>
              </a:rPr>
              <a:t>for	</a:t>
            </a:r>
            <a:r>
              <a:rPr lang="en-US" altLang="zh-TW" sz="2200" i="1" dirty="0">
                <a:solidFill>
                  <a:srgbClr val="000000"/>
                </a:solidFill>
                <a:latin typeface="Times New Roman"/>
                <a:ea typeface="新細明體"/>
              </a:rPr>
              <a:t>i</a:t>
            </a:r>
            <a:r>
              <a:rPr lang="en-US" altLang="zh-TW" sz="2200" dirty="0">
                <a:solidFill>
                  <a:srgbClr val="000000"/>
                </a:solidFill>
                <a:latin typeface="Times New Roman"/>
                <a:ea typeface="新細明體"/>
              </a:rPr>
              <a:t> </a:t>
            </a:r>
            <a:r>
              <a:rPr lang="en-US" altLang="zh-TW" sz="2200" dirty="0">
                <a:solidFill>
                  <a:srgbClr val="000000"/>
                </a:solidFill>
                <a:latin typeface="Cambria Math" panose="02040503050406030204" pitchFamily="18" charset="0"/>
                <a:ea typeface="Cambria Math" panose="02040503050406030204" pitchFamily="18" charset="0"/>
              </a:rPr>
              <a:t>=</a:t>
            </a:r>
            <a:r>
              <a:rPr lang="en-US" altLang="zh-TW" sz="2200" dirty="0">
                <a:solidFill>
                  <a:srgbClr val="000000"/>
                </a:solidFill>
                <a:latin typeface="Times New Roman"/>
                <a:ea typeface="新細明體"/>
              </a:rPr>
              <a:t> 3 </a:t>
            </a:r>
            <a:r>
              <a:rPr lang="en-US" altLang="zh-TW" sz="2200" b="1" dirty="0">
                <a:solidFill>
                  <a:srgbClr val="000000"/>
                </a:solidFill>
                <a:latin typeface="Times New Roman"/>
                <a:ea typeface="新細明體"/>
              </a:rPr>
              <a:t>to </a:t>
            </a:r>
            <a:r>
              <a:rPr lang="en-US" altLang="zh-TW" sz="2200" i="1" dirty="0">
                <a:solidFill>
                  <a:srgbClr val="000000"/>
                </a:solidFill>
                <a:latin typeface="Times New Roman"/>
                <a:ea typeface="新細明體"/>
              </a:rPr>
              <a:t>m</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8		</a:t>
            </a:r>
            <a:r>
              <a:rPr lang="en-US" altLang="zh-TW" sz="2200" b="1" dirty="0">
                <a:solidFill>
                  <a:srgbClr val="000000"/>
                </a:solidFill>
                <a:latin typeface="Times New Roman"/>
                <a:ea typeface="新細明體"/>
              </a:rPr>
              <a:t>while	</a:t>
            </a:r>
            <a:r>
              <a:rPr lang="en-US" altLang="zh-TW" sz="2200" dirty="0">
                <a:solidFill>
                  <a:srgbClr val="000000"/>
                </a:solidFill>
                <a:latin typeface="Times New Roman"/>
                <a:ea typeface="新細明體"/>
              </a:rPr>
              <a:t>the angle formed by points N</a:t>
            </a:r>
            <a:r>
              <a:rPr lang="en-US" altLang="zh-TW" sz="1800" dirty="0">
                <a:solidFill>
                  <a:srgbClr val="000000"/>
                </a:solidFill>
                <a:latin typeface="Times New Roman"/>
                <a:ea typeface="新細明體"/>
              </a:rPr>
              <a:t>EXT</a:t>
            </a:r>
            <a:r>
              <a:rPr lang="en-US" altLang="zh-TW" sz="2200" dirty="0">
                <a:solidFill>
                  <a:srgbClr val="000000"/>
                </a:solidFill>
                <a:latin typeface="Times New Roman"/>
                <a:ea typeface="新細明體"/>
              </a:rPr>
              <a:t>-T</a:t>
            </a:r>
            <a:r>
              <a:rPr lang="en-US" altLang="zh-TW" sz="1800" dirty="0">
                <a:solidFill>
                  <a:srgbClr val="000000"/>
                </a:solidFill>
                <a:latin typeface="Times New Roman"/>
                <a:ea typeface="新細明體"/>
              </a:rPr>
              <a:t>O</a:t>
            </a:r>
            <a:r>
              <a:rPr lang="en-US" altLang="zh-TW" sz="2200" dirty="0">
                <a:solidFill>
                  <a:srgbClr val="000000"/>
                </a:solidFill>
                <a:latin typeface="Times New Roman"/>
                <a:ea typeface="新細明體"/>
              </a:rPr>
              <a:t>-T</a:t>
            </a:r>
            <a:r>
              <a:rPr lang="en-US" altLang="zh-TW" sz="1800" dirty="0">
                <a:solidFill>
                  <a:srgbClr val="000000"/>
                </a:solidFill>
                <a:latin typeface="Times New Roman"/>
                <a:ea typeface="新細明體"/>
              </a:rPr>
              <a:t>OP</a:t>
            </a:r>
            <a:r>
              <a:rPr lang="en-US" altLang="zh-TW" sz="2200" dirty="0">
                <a:solidFill>
                  <a:srgbClr val="000000"/>
                </a:solidFill>
                <a:latin typeface="Times New Roman"/>
                <a:ea typeface="新細明體"/>
              </a:rPr>
              <a:t>(</a:t>
            </a:r>
            <a:r>
              <a:rPr lang="en-US" altLang="zh-TW" sz="2200" i="1" spc="300" dirty="0">
                <a:solidFill>
                  <a:srgbClr val="000000"/>
                </a:solidFill>
                <a:latin typeface="Times New Roman"/>
                <a:ea typeface="新細明體"/>
              </a:rPr>
              <a:t>S</a:t>
            </a:r>
            <a:r>
              <a:rPr lang="en-US" altLang="zh-TW" sz="2200" dirty="0">
                <a:solidFill>
                  <a:srgbClr val="000000"/>
                </a:solidFill>
                <a:latin typeface="Times New Roman"/>
                <a:ea typeface="新細明體"/>
              </a:rPr>
              <a:t>), T</a:t>
            </a:r>
            <a:r>
              <a:rPr lang="en-US" altLang="zh-TW" sz="1800" dirty="0">
                <a:solidFill>
                  <a:srgbClr val="000000"/>
                </a:solidFill>
                <a:latin typeface="Times New Roman"/>
                <a:ea typeface="新細明體"/>
              </a:rPr>
              <a:t>OP</a:t>
            </a:r>
            <a:r>
              <a:rPr lang="en-US" altLang="zh-TW" sz="2200" dirty="0">
                <a:solidFill>
                  <a:srgbClr val="000000"/>
                </a:solidFill>
                <a:latin typeface="Times New Roman"/>
                <a:ea typeface="新細明體"/>
              </a:rPr>
              <a:t>(</a:t>
            </a:r>
            <a:r>
              <a:rPr lang="en-US" altLang="zh-TW" sz="2200" i="1" spc="300" dirty="0">
                <a:solidFill>
                  <a:srgbClr val="000000"/>
                </a:solidFill>
                <a:latin typeface="Times New Roman"/>
                <a:ea typeface="新細明體"/>
              </a:rPr>
              <a:t>S</a:t>
            </a:r>
            <a:r>
              <a:rPr lang="en-US" altLang="zh-TW" sz="2200" dirty="0">
                <a:solidFill>
                  <a:srgbClr val="000000"/>
                </a:solidFill>
                <a:latin typeface="Times New Roman"/>
                <a:ea typeface="新細明體"/>
              </a:rPr>
              <a:t>),</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and </a:t>
            </a:r>
            <a:r>
              <a:rPr lang="en-US" altLang="zh-TW" sz="2200" i="1" dirty="0">
                <a:solidFill>
                  <a:srgbClr val="000000"/>
                </a:solidFill>
                <a:latin typeface="Times New Roman"/>
                <a:ea typeface="新細明體"/>
              </a:rPr>
              <a:t>p</a:t>
            </a:r>
            <a:r>
              <a:rPr lang="en-US" altLang="zh-TW" sz="2200" i="1" baseline="-25000" dirty="0">
                <a:solidFill>
                  <a:srgbClr val="000000"/>
                </a:solidFill>
                <a:latin typeface="Times New Roman"/>
                <a:ea typeface="新細明體"/>
              </a:rPr>
              <a:t>i</a:t>
            </a:r>
            <a:r>
              <a:rPr lang="en-US" altLang="zh-TW" sz="2200" dirty="0">
                <a:solidFill>
                  <a:srgbClr val="000000"/>
                </a:solidFill>
                <a:latin typeface="Times New Roman"/>
                <a:ea typeface="新細明體"/>
              </a:rPr>
              <a:t> makes a </a:t>
            </a:r>
            <a:r>
              <a:rPr lang="en-US" altLang="zh-TW" sz="2200" dirty="0" err="1">
                <a:solidFill>
                  <a:srgbClr val="000000"/>
                </a:solidFill>
                <a:latin typeface="Times New Roman"/>
                <a:ea typeface="新細明體"/>
              </a:rPr>
              <a:t>nonleft</a:t>
            </a:r>
            <a:r>
              <a:rPr lang="en-US" altLang="zh-TW" sz="2200" dirty="0">
                <a:solidFill>
                  <a:srgbClr val="000000"/>
                </a:solidFill>
                <a:latin typeface="Times New Roman"/>
                <a:ea typeface="新細明體"/>
              </a:rPr>
              <a:t> turn</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9			P</a:t>
            </a:r>
            <a:r>
              <a:rPr lang="en-US" altLang="zh-TW" sz="1800" dirty="0">
                <a:solidFill>
                  <a:srgbClr val="000000"/>
                </a:solidFill>
                <a:latin typeface="Times New Roman"/>
                <a:ea typeface="新細明體"/>
              </a:rPr>
              <a:t>OP</a:t>
            </a:r>
            <a:r>
              <a:rPr lang="en-US" altLang="zh-TW" sz="2200" dirty="0">
                <a:solidFill>
                  <a:srgbClr val="000000"/>
                </a:solidFill>
                <a:latin typeface="Times New Roman"/>
                <a:ea typeface="新細明體"/>
              </a:rPr>
              <a:t>(</a:t>
            </a:r>
            <a:r>
              <a:rPr lang="en-US" altLang="zh-TW" sz="2200" i="1" spc="300" dirty="0">
                <a:solidFill>
                  <a:srgbClr val="000000"/>
                </a:solidFill>
                <a:latin typeface="Times New Roman"/>
                <a:ea typeface="新細明體"/>
              </a:rPr>
              <a:t>S</a:t>
            </a:r>
            <a:r>
              <a:rPr lang="en-US" altLang="zh-TW" sz="2200" dirty="0">
                <a:solidFill>
                  <a:srgbClr val="000000"/>
                </a:solidFill>
                <a:latin typeface="Times New Roman"/>
                <a:ea typeface="新細明體"/>
              </a:rPr>
              <a:t>)</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10		P</a:t>
            </a:r>
            <a:r>
              <a:rPr lang="en-US" altLang="zh-TW" sz="1800" dirty="0">
                <a:solidFill>
                  <a:srgbClr val="000000"/>
                </a:solidFill>
                <a:latin typeface="Times New Roman"/>
                <a:ea typeface="新細明體"/>
              </a:rPr>
              <a:t>USH</a:t>
            </a:r>
            <a:r>
              <a:rPr lang="en-US" altLang="zh-TW" sz="2200" spc="300" dirty="0">
                <a:solidFill>
                  <a:srgbClr val="000000"/>
                </a:solidFill>
                <a:latin typeface="Times New Roman"/>
                <a:ea typeface="新細明體"/>
              </a:rPr>
              <a:t>(</a:t>
            </a:r>
            <a:r>
              <a:rPr lang="en-US" altLang="zh-TW" sz="2200" i="1" dirty="0">
                <a:solidFill>
                  <a:srgbClr val="000000"/>
                </a:solidFill>
                <a:latin typeface="Times New Roman"/>
                <a:ea typeface="新細明體"/>
              </a:rPr>
              <a:t>p</a:t>
            </a:r>
            <a:r>
              <a:rPr lang="en-US" altLang="zh-TW" sz="2200" i="1" spc="150" baseline="-25000" dirty="0">
                <a:solidFill>
                  <a:srgbClr val="000000"/>
                </a:solidFill>
                <a:latin typeface="Times New Roman"/>
                <a:ea typeface="新細明體"/>
              </a:rPr>
              <a:t>i</a:t>
            </a:r>
            <a:r>
              <a:rPr lang="en-US" altLang="zh-TW" sz="2200" dirty="0">
                <a:solidFill>
                  <a:srgbClr val="000000"/>
                </a:solidFill>
                <a:latin typeface="Times New Roman"/>
                <a:ea typeface="新細明體"/>
              </a:rPr>
              <a:t>, </a:t>
            </a:r>
            <a:r>
              <a:rPr lang="en-US" altLang="zh-TW" sz="2200" i="1" spc="300" dirty="0">
                <a:solidFill>
                  <a:srgbClr val="000000"/>
                </a:solidFill>
                <a:latin typeface="Times New Roman"/>
                <a:ea typeface="新細明體"/>
              </a:rPr>
              <a:t>S</a:t>
            </a:r>
            <a:r>
              <a:rPr lang="en-US" altLang="zh-TW" sz="2200" dirty="0">
                <a:solidFill>
                  <a:srgbClr val="000000"/>
                </a:solidFill>
                <a:latin typeface="Times New Roman"/>
                <a:ea typeface="新細明體"/>
              </a:rPr>
              <a:t>)</a:t>
            </a:r>
          </a:p>
          <a:p>
            <a:pPr lvl="0">
              <a:buClr>
                <a:srgbClr val="000000"/>
              </a:buClr>
              <a:tabLst>
                <a:tab pos="270000" algn="r"/>
                <a:tab pos="630000" algn="l"/>
                <a:tab pos="1080000" algn="l"/>
                <a:tab pos="1800000" algn="l"/>
              </a:tabLst>
            </a:pPr>
            <a:r>
              <a:rPr lang="en-US" altLang="zh-TW" sz="2200" dirty="0">
                <a:solidFill>
                  <a:srgbClr val="000000"/>
                </a:solidFill>
                <a:latin typeface="Times New Roman"/>
                <a:ea typeface="新細明體"/>
              </a:rPr>
              <a:t>	11	</a:t>
            </a:r>
            <a:r>
              <a:rPr lang="en-US" altLang="zh-TW" sz="2200" b="1" dirty="0">
                <a:solidFill>
                  <a:srgbClr val="000000"/>
                </a:solidFill>
                <a:latin typeface="Times New Roman"/>
                <a:ea typeface="新細明體"/>
              </a:rPr>
              <a:t>return </a:t>
            </a:r>
            <a:r>
              <a:rPr lang="en-US" altLang="zh-TW" sz="2200" i="1" dirty="0">
                <a:solidFill>
                  <a:srgbClr val="000000"/>
                </a:solidFill>
                <a:latin typeface="Times New Roman"/>
                <a:ea typeface="新細明體"/>
              </a:rPr>
              <a:t>S</a:t>
            </a:r>
            <a:endParaRPr lang="zh-TW" altLang="en-US" sz="2200" i="1" dirty="0">
              <a:solidFill>
                <a:srgbClr val="000000"/>
              </a:solidFill>
              <a:latin typeface="Times New Roman"/>
              <a:ea typeface="新細明體"/>
            </a:endParaRPr>
          </a:p>
        </p:txBody>
      </p:sp>
    </p:spTree>
    <p:extLst>
      <p:ext uri="{BB962C8B-B14F-4D97-AF65-F5344CB8AC3E}">
        <p14:creationId xmlns:p14="http://schemas.microsoft.com/office/powerpoint/2010/main" val="3290678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Polar angle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31471" y="1268724"/>
                <a:ext cx="8281057" cy="2520276"/>
              </a:xfrm>
            </p:spPr>
            <p:txBody>
              <a:bodyPr/>
              <a:lstStyle/>
              <a:p>
                <a:r>
                  <a:rPr lang="en-US" altLang="zh-TW" dirty="0"/>
                  <a:t>The angle of a vector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spc="300">
                            <a:solidFill>
                              <a:srgbClr val="000000"/>
                            </a:solidFill>
                            <a:latin typeface="Times New Roman" panose="02020603050405020304" pitchFamily="18" charset="0"/>
                            <a:cs typeface="Times New Roman" panose="02020603050405020304" pitchFamily="18" charset="0"/>
                          </a:rPr>
                          <m:t>v</m:t>
                        </m:r>
                      </m:e>
                    </m:acc>
                  </m:oMath>
                </a14:m>
                <a:r>
                  <a:rPr lang="en-US" altLang="zh-TW" dirty="0"/>
                  <a:t> is the angle between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spc="300">
                            <a:solidFill>
                              <a:srgbClr val="000000"/>
                            </a:solidFill>
                            <a:latin typeface="Times New Roman" panose="02020603050405020304" pitchFamily="18" charset="0"/>
                            <a:cs typeface="Times New Roman" panose="02020603050405020304" pitchFamily="18" charset="0"/>
                          </a:rPr>
                          <m:t>v</m:t>
                        </m:r>
                      </m:e>
                    </m:acc>
                  </m:oMath>
                </a14:m>
                <a:r>
                  <a:rPr lang="en-US" altLang="zh-TW" dirty="0"/>
                  <a:t> and the vector (0, 1).</a:t>
                </a:r>
              </a:p>
              <a:p>
                <a:r>
                  <a:rPr lang="en-US" altLang="zh-TW" dirty="0"/>
                  <a:t>The </a:t>
                </a:r>
                <a:r>
                  <a:rPr lang="en-US" altLang="zh-TW" b="1" i="1" dirty="0">
                    <a:solidFill>
                      <a:srgbClr val="0000FF"/>
                    </a:solidFill>
                  </a:rPr>
                  <a:t>polar angle</a:t>
                </a:r>
                <a:r>
                  <a:rPr lang="en-US" altLang="zh-TW" b="1" i="1" dirty="0"/>
                  <a:t> </a:t>
                </a:r>
                <a:r>
                  <a:rPr lang="en-US" altLang="zh-TW" dirty="0"/>
                  <a:t>of a point </a:t>
                </a:r>
                <a:r>
                  <a:rPr lang="en-US" altLang="zh-TW" i="1" dirty="0" err="1"/>
                  <a:t>p</a:t>
                </a:r>
                <a:r>
                  <a:rPr lang="en-US" altLang="zh-TW" baseline="-25000" dirty="0" err="1"/>
                  <a:t>1</a:t>
                </a:r>
                <a:r>
                  <a:rPr lang="en-US" altLang="zh-TW" dirty="0"/>
                  <a:t> with respect to an origin point </a:t>
                </a:r>
                <a:r>
                  <a:rPr lang="en-US" altLang="zh-TW" i="1" dirty="0" err="1"/>
                  <a:t>p</a:t>
                </a:r>
                <a:r>
                  <a:rPr lang="en-US" altLang="zh-TW" baseline="-25000" dirty="0" err="1"/>
                  <a:t>0</a:t>
                </a:r>
                <a:r>
                  <a:rPr lang="en-US" altLang="zh-TW" dirty="0"/>
                  <a:t> is the angle of the vector </a:t>
                </a:r>
                <a:r>
                  <a:rPr lang="en-US" altLang="zh-TW" i="1" dirty="0" err="1"/>
                  <a:t>p</a:t>
                </a:r>
                <a:r>
                  <a:rPr lang="en-US" altLang="zh-TW" baseline="-25000" dirty="0" err="1"/>
                  <a:t>1</a:t>
                </a:r>
                <a:r>
                  <a:rPr lang="en-US" altLang="zh-TW" dirty="0"/>
                  <a:t> </a:t>
                </a:r>
                <a:r>
                  <a:rPr lang="en-US" altLang="zh-TW" sz="2000" dirty="0">
                    <a:latin typeface="Cambria Math" panose="02040503050406030204" pitchFamily="18" charset="0"/>
                    <a:ea typeface="Cambria Math" panose="02040503050406030204" pitchFamily="18" charset="0"/>
                  </a:rPr>
                  <a:t>−</a:t>
                </a:r>
                <a:r>
                  <a:rPr lang="en-US" altLang="zh-TW" dirty="0"/>
                  <a:t> </a:t>
                </a:r>
                <a:r>
                  <a:rPr lang="en-US" altLang="zh-TW" i="1" dirty="0" err="1"/>
                  <a:t>p</a:t>
                </a:r>
                <a:r>
                  <a:rPr lang="en-US" altLang="zh-TW" baseline="-25000" dirty="0" err="1"/>
                  <a:t>0</a:t>
                </a:r>
                <a:r>
                  <a:rPr lang="en-US" altLang="zh-TW" dirty="0"/>
                  <a:t> in the usual polar coordinate system. For example, the polar angle of (3, 5) with respect to (2, 4) is the angle of the vector (1, 1), which is 45 degrees or </a:t>
                </a:r>
                <a:r>
                  <a:rPr lang="zh-TW" altLang="en-US" dirty="0">
                    <a:latin typeface="Cambria Math" panose="02040503050406030204" pitchFamily="18" charset="0"/>
                    <a:sym typeface="Symbol" panose="05050102010706020507" pitchFamily="18" charset="2"/>
                  </a:rPr>
                  <a:t>𝜋</a:t>
                </a:r>
                <a:r>
                  <a:rPr lang="en-US" altLang="zh-TW" sz="1800" dirty="0">
                    <a:latin typeface="Georgia" panose="02040502050405020303" pitchFamily="18" charset="0"/>
                    <a:ea typeface="Cambria Math" panose="02040503050406030204" pitchFamily="18" charset="0"/>
                  </a:rPr>
                  <a:t>/</a:t>
                </a:r>
                <a:r>
                  <a:rPr lang="en-US" altLang="zh-TW" dirty="0"/>
                  <a:t>4 radians. The polar angle of (3, 3) with respect to (2, 4) is the angle of the vector (1,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t>1), which is 315 degrees or 7</a:t>
                </a:r>
                <a:r>
                  <a:rPr lang="zh-TW" altLang="en-US" dirty="0">
                    <a:solidFill>
                      <a:srgbClr val="000000"/>
                    </a:solidFill>
                    <a:latin typeface="Cambria Math" panose="02040503050406030204" pitchFamily="18" charset="0"/>
                    <a:sym typeface="Symbol" panose="05050102010706020507" pitchFamily="18" charset="2"/>
                  </a:rPr>
                  <a:t>𝜋</a:t>
                </a:r>
                <a:r>
                  <a:rPr lang="en-US" altLang="zh-TW" sz="1800" dirty="0">
                    <a:solidFill>
                      <a:srgbClr val="000000"/>
                    </a:solidFill>
                    <a:latin typeface="Georgia" panose="02040502050405020303" pitchFamily="18" charset="0"/>
                    <a:ea typeface="Cambria Math" panose="02040503050406030204" pitchFamily="18" charset="0"/>
                  </a:rPr>
                  <a:t>/</a:t>
                </a:r>
                <a:r>
                  <a:rPr lang="en-US" altLang="zh-TW" dirty="0"/>
                  <a:t>4 radians.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31471" y="1268724"/>
                <a:ext cx="8281057" cy="2520276"/>
              </a:xfrm>
              <a:blipFill>
                <a:blip r:embed="rId2"/>
                <a:stretch>
                  <a:fillRect l="-957" t="-1691" r="-589" b="-4348"/>
                </a:stretch>
              </a:blipFill>
            </p:spPr>
            <p:txBody>
              <a:bodyPr/>
              <a:lstStyle/>
              <a:p>
                <a:r>
                  <a:rPr lang="zh-TW" altLang="en-US">
                    <a:noFill/>
                  </a:rPr>
                  <a:t> </a:t>
                </a:r>
              </a:p>
            </p:txBody>
          </p:sp>
        </mc:Fallback>
      </mc:AlternateContent>
      <p:cxnSp>
        <p:nvCxnSpPr>
          <p:cNvPr id="5" name="直線接點 4"/>
          <p:cNvCxnSpPr>
            <a:cxnSpLocks/>
          </p:cNvCxnSpPr>
          <p:nvPr/>
        </p:nvCxnSpPr>
        <p:spPr bwMode="auto">
          <a:xfrm>
            <a:off x="1691633" y="3969000"/>
            <a:ext cx="0" cy="2520391"/>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 name="直線接點 5"/>
          <p:cNvCxnSpPr/>
          <p:nvPr/>
        </p:nvCxnSpPr>
        <p:spPr bwMode="auto">
          <a:xfrm flipH="1">
            <a:off x="1331586" y="6129345"/>
            <a:ext cx="2520322" cy="0"/>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線接點 7"/>
          <p:cNvCxnSpPr/>
          <p:nvPr/>
        </p:nvCxnSpPr>
        <p:spPr bwMode="auto">
          <a:xfrm flipV="1">
            <a:off x="2411724" y="4329115"/>
            <a:ext cx="360093" cy="360046"/>
          </a:xfrm>
          <a:prstGeom prst="line">
            <a:avLst/>
          </a:prstGeom>
          <a:ln w="19050">
            <a:solidFill>
              <a:schemeClr val="tx1"/>
            </a:solidFill>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6" name="直線接點 15"/>
          <p:cNvCxnSpPr>
            <a:cxnSpLocks/>
          </p:cNvCxnSpPr>
          <p:nvPr/>
        </p:nvCxnSpPr>
        <p:spPr bwMode="auto">
          <a:xfrm>
            <a:off x="5652000" y="3789000"/>
            <a:ext cx="0" cy="2700368"/>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直線接點 16"/>
          <p:cNvCxnSpPr/>
          <p:nvPr/>
        </p:nvCxnSpPr>
        <p:spPr bwMode="auto">
          <a:xfrm flipH="1">
            <a:off x="5291954" y="5589253"/>
            <a:ext cx="2520323" cy="0"/>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直線接點 17"/>
          <p:cNvCxnSpPr/>
          <p:nvPr/>
        </p:nvCxnSpPr>
        <p:spPr bwMode="auto">
          <a:xfrm>
            <a:off x="6372092" y="4149069"/>
            <a:ext cx="360046" cy="360046"/>
          </a:xfrm>
          <a:prstGeom prst="line">
            <a:avLst/>
          </a:prstGeom>
          <a:ln w="19050">
            <a:solidFill>
              <a:schemeClr val="tx1"/>
            </a:solidFill>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6" name="矩形 25"/>
          <p:cNvSpPr/>
          <p:nvPr/>
        </p:nvSpPr>
        <p:spPr bwMode="auto">
          <a:xfrm>
            <a:off x="2771770" y="3969069"/>
            <a:ext cx="72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dirty="0">
                <a:ln>
                  <a:noFill/>
                </a:ln>
                <a:solidFill>
                  <a:schemeClr val="tx1"/>
                </a:solidFill>
                <a:effectLst/>
                <a:ea typeface="新細明體" pitchFamily="18" charset="-120"/>
              </a:rPr>
              <a:t>(3, 5)</a:t>
            </a:r>
            <a:endParaRPr kumimoji="1" lang="zh-TW" altLang="en-US" sz="2000" b="0" i="0" u="none" strike="noStrike" cap="none" normalizeH="0" baseline="0" dirty="0">
              <a:ln>
                <a:noFill/>
              </a:ln>
              <a:solidFill>
                <a:schemeClr val="tx1"/>
              </a:solidFill>
              <a:effectLst/>
              <a:ea typeface="新細明體" pitchFamily="18" charset="-120"/>
            </a:endParaRPr>
          </a:p>
        </p:txBody>
      </p:sp>
      <p:sp>
        <p:nvSpPr>
          <p:cNvPr id="27" name="矩形 26"/>
          <p:cNvSpPr/>
          <p:nvPr/>
        </p:nvSpPr>
        <p:spPr bwMode="auto">
          <a:xfrm>
            <a:off x="2051678" y="5409253"/>
            <a:ext cx="72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dirty="0">
                <a:ln>
                  <a:noFill/>
                </a:ln>
                <a:solidFill>
                  <a:schemeClr val="tx1"/>
                </a:solidFill>
                <a:effectLst/>
                <a:ea typeface="新細明體" pitchFamily="18" charset="-120"/>
              </a:rPr>
              <a:t>(1, 1)</a:t>
            </a:r>
            <a:endParaRPr kumimoji="1" lang="zh-TW" altLang="en-US" sz="2000" b="0" i="0" u="none" strike="noStrike" cap="none" normalizeH="0" baseline="0" dirty="0">
              <a:ln>
                <a:noFill/>
              </a:ln>
              <a:solidFill>
                <a:schemeClr val="tx1"/>
              </a:solidFill>
              <a:effectLst/>
              <a:ea typeface="新細明體" pitchFamily="18" charset="-120"/>
            </a:endParaRPr>
          </a:p>
        </p:txBody>
      </p:sp>
      <p:sp>
        <p:nvSpPr>
          <p:cNvPr id="28" name="矩形 27"/>
          <p:cNvSpPr/>
          <p:nvPr/>
        </p:nvSpPr>
        <p:spPr bwMode="auto">
          <a:xfrm>
            <a:off x="6732138" y="4509115"/>
            <a:ext cx="72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dirty="0">
                <a:ln>
                  <a:noFill/>
                </a:ln>
                <a:solidFill>
                  <a:schemeClr val="tx1"/>
                </a:solidFill>
                <a:effectLst/>
                <a:ea typeface="新細明體" pitchFamily="18" charset="-120"/>
              </a:rPr>
              <a:t>(3, 3)</a:t>
            </a:r>
            <a:endParaRPr kumimoji="1" lang="zh-TW" altLang="en-US" sz="2000" b="0" i="0" u="none" strike="noStrike" cap="none" normalizeH="0" baseline="0" dirty="0">
              <a:ln>
                <a:noFill/>
              </a:ln>
              <a:solidFill>
                <a:schemeClr val="tx1"/>
              </a:solidFill>
              <a:effectLst/>
              <a:ea typeface="新細明體" pitchFamily="18" charset="-120"/>
            </a:endParaRPr>
          </a:p>
        </p:txBody>
      </p:sp>
      <p:sp>
        <p:nvSpPr>
          <p:cNvPr id="29" name="矩形 28"/>
          <p:cNvSpPr/>
          <p:nvPr/>
        </p:nvSpPr>
        <p:spPr bwMode="auto">
          <a:xfrm>
            <a:off x="2051678" y="4689161"/>
            <a:ext cx="72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dirty="0">
                <a:ln>
                  <a:noFill/>
                </a:ln>
                <a:solidFill>
                  <a:schemeClr val="tx1"/>
                </a:solidFill>
                <a:effectLst/>
                <a:ea typeface="新細明體" pitchFamily="18" charset="-120"/>
              </a:rPr>
              <a:t>(2, 4)</a:t>
            </a:r>
            <a:endParaRPr kumimoji="1" lang="zh-TW" altLang="en-US" sz="2000" b="0" i="0" u="none" strike="noStrike" cap="none" normalizeH="0" baseline="0" dirty="0">
              <a:ln>
                <a:noFill/>
              </a:ln>
              <a:solidFill>
                <a:schemeClr val="tx1"/>
              </a:solidFill>
              <a:effectLst/>
              <a:ea typeface="新細明體" pitchFamily="18" charset="-120"/>
            </a:endParaRPr>
          </a:p>
        </p:txBody>
      </p:sp>
      <p:sp>
        <p:nvSpPr>
          <p:cNvPr id="30" name="矩形 29"/>
          <p:cNvSpPr/>
          <p:nvPr/>
        </p:nvSpPr>
        <p:spPr bwMode="auto">
          <a:xfrm>
            <a:off x="6372091" y="3789023"/>
            <a:ext cx="72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TW" sz="2000" b="0" i="0" u="none" strike="noStrike" cap="none" normalizeH="0" baseline="0" dirty="0">
                <a:ln>
                  <a:noFill/>
                </a:ln>
                <a:solidFill>
                  <a:schemeClr val="tx1"/>
                </a:solidFill>
                <a:effectLst/>
                <a:ea typeface="新細明體" pitchFamily="18" charset="-120"/>
              </a:rPr>
              <a:t>(2, 4)</a:t>
            </a:r>
            <a:endParaRPr kumimoji="1" lang="zh-TW" altLang="en-US" sz="2000" b="0" i="0" u="none" strike="noStrike" cap="none" normalizeH="0" baseline="0" dirty="0">
              <a:ln>
                <a:noFill/>
              </a:ln>
              <a:solidFill>
                <a:schemeClr val="tx1"/>
              </a:solidFill>
              <a:effectLst/>
              <a:ea typeface="新細明體" pitchFamily="18" charset="-120"/>
            </a:endParaRPr>
          </a:p>
        </p:txBody>
      </p:sp>
      <p:sp>
        <p:nvSpPr>
          <p:cNvPr id="31" name="矩形 30"/>
          <p:cNvSpPr/>
          <p:nvPr/>
        </p:nvSpPr>
        <p:spPr bwMode="auto">
          <a:xfrm>
            <a:off x="6012046" y="5949299"/>
            <a:ext cx="72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0" numCol="1" rtlCol="0" anchor="ctr" anchorCtr="1" compatLnSpc="1">
            <a:prstTxWarp prst="textNoShape">
              <a:avLst/>
            </a:prstTxWarp>
          </a:bodyPr>
          <a:lstStyle/>
          <a:p>
            <a:r>
              <a:rPr kumimoji="1" lang="en-US" altLang="zh-TW" sz="2000" b="0" i="0" u="none" strike="noStrike" cap="none" normalizeH="0" baseline="0" dirty="0">
                <a:ln>
                  <a:noFill/>
                </a:ln>
                <a:solidFill>
                  <a:schemeClr val="tx1"/>
                </a:solidFill>
                <a:effectLst/>
                <a:ea typeface="新細明體" pitchFamily="18" charset="-120"/>
              </a:rPr>
              <a:t>(1, </a:t>
            </a:r>
            <a:r>
              <a:rPr lang="en-US" altLang="zh-TW" sz="2000" kern="0" dirty="0">
                <a:solidFill>
                  <a:srgbClr val="000000"/>
                </a:solidFill>
                <a:latin typeface="Cambria Math" panose="02040503050406030204" pitchFamily="18" charset="0"/>
                <a:ea typeface="Cambria Math" panose="02040503050406030204" pitchFamily="18" charset="0"/>
              </a:rPr>
              <a:t>−</a:t>
            </a:r>
            <a:r>
              <a:rPr kumimoji="1" lang="en-US" altLang="zh-TW" sz="2000" b="0" i="0" u="none" strike="noStrike" cap="none" normalizeH="0" baseline="0" dirty="0">
                <a:ln>
                  <a:noFill/>
                </a:ln>
                <a:solidFill>
                  <a:schemeClr val="tx1"/>
                </a:solidFill>
                <a:effectLst/>
                <a:ea typeface="新細明體" pitchFamily="18" charset="-120"/>
              </a:rPr>
              <a:t>1)</a:t>
            </a:r>
            <a:endParaRPr kumimoji="1" lang="zh-TW" altLang="en-US" sz="2000" b="0" i="0" u="none" strike="noStrike" cap="none" normalizeH="0" baseline="0" dirty="0">
              <a:ln>
                <a:noFill/>
              </a:ln>
              <a:solidFill>
                <a:schemeClr val="tx1"/>
              </a:solidFill>
              <a:effectLst/>
              <a:ea typeface="新細明體" pitchFamily="18" charset="-120"/>
            </a:endParaRPr>
          </a:p>
        </p:txBody>
      </p:sp>
      <p:cxnSp>
        <p:nvCxnSpPr>
          <p:cNvPr id="38" name="直線接點 37"/>
          <p:cNvCxnSpPr/>
          <p:nvPr/>
        </p:nvCxnSpPr>
        <p:spPr bwMode="auto">
          <a:xfrm flipV="1">
            <a:off x="2231701" y="4149092"/>
            <a:ext cx="360046" cy="360046"/>
          </a:xfrm>
          <a:prstGeom prst="line">
            <a:avLst/>
          </a:prstGeom>
          <a:ln w="19050">
            <a:solidFill>
              <a:srgbClr val="FF0000"/>
            </a:solidFill>
            <a:headEnd type="none" w="med" len="med"/>
            <a:tailEnd type="arrow" w="lg" len="lg"/>
          </a:ln>
        </p:spPr>
        <p:style>
          <a:lnRef idx="1">
            <a:schemeClr val="dk1"/>
          </a:lnRef>
          <a:fillRef idx="0">
            <a:schemeClr val="dk1"/>
          </a:fillRef>
          <a:effectRef idx="0">
            <a:schemeClr val="dk1"/>
          </a:effectRef>
          <a:fontRef idx="minor">
            <a:schemeClr val="tx1"/>
          </a:fontRef>
        </p:style>
      </p:cxnSp>
      <p:cxnSp>
        <p:nvCxnSpPr>
          <p:cNvPr id="40" name="直線接點 39"/>
          <p:cNvCxnSpPr/>
          <p:nvPr/>
        </p:nvCxnSpPr>
        <p:spPr bwMode="auto">
          <a:xfrm>
            <a:off x="6192069" y="4329092"/>
            <a:ext cx="360046" cy="360046"/>
          </a:xfrm>
          <a:prstGeom prst="line">
            <a:avLst/>
          </a:prstGeom>
          <a:ln w="19050">
            <a:solidFill>
              <a:srgbClr val="FF0000"/>
            </a:solidFill>
            <a:headEnd type="none" w="med" len="med"/>
            <a:tailEnd type="arrow" w="lg" len="lg"/>
          </a:ln>
        </p:spPr>
        <p:style>
          <a:lnRef idx="1">
            <a:schemeClr val="dk1"/>
          </a:lnRef>
          <a:fillRef idx="0">
            <a:schemeClr val="dk1"/>
          </a:fillRef>
          <a:effectRef idx="0">
            <a:schemeClr val="dk1"/>
          </a:effectRef>
          <a:fontRef idx="minor">
            <a:schemeClr val="tx1"/>
          </a:fontRef>
        </p:style>
      </p:cxnSp>
      <p:cxnSp>
        <p:nvCxnSpPr>
          <p:cNvPr id="20" name="直線接點 19"/>
          <p:cNvCxnSpPr/>
          <p:nvPr/>
        </p:nvCxnSpPr>
        <p:spPr bwMode="auto">
          <a:xfrm flipV="1">
            <a:off x="1692000" y="5769000"/>
            <a:ext cx="360046" cy="360046"/>
          </a:xfrm>
          <a:prstGeom prst="line">
            <a:avLst/>
          </a:prstGeom>
          <a:ln w="19050">
            <a:solidFill>
              <a:srgbClr val="FF0000"/>
            </a:solidFill>
            <a:headEnd type="none" w="med" len="med"/>
            <a:tailEnd type="arrow" w="lg" len="lg"/>
          </a:ln>
        </p:spPr>
        <p:style>
          <a:lnRef idx="1">
            <a:schemeClr val="dk1"/>
          </a:lnRef>
          <a:fillRef idx="0">
            <a:schemeClr val="dk1"/>
          </a:fillRef>
          <a:effectRef idx="0">
            <a:schemeClr val="dk1"/>
          </a:effectRef>
          <a:fontRef idx="minor">
            <a:schemeClr val="tx1"/>
          </a:fontRef>
        </p:style>
      </p:cxnSp>
      <p:cxnSp>
        <p:nvCxnSpPr>
          <p:cNvPr id="21" name="直線接點 20"/>
          <p:cNvCxnSpPr/>
          <p:nvPr/>
        </p:nvCxnSpPr>
        <p:spPr bwMode="auto">
          <a:xfrm>
            <a:off x="5651861" y="5589000"/>
            <a:ext cx="360046" cy="360046"/>
          </a:xfrm>
          <a:prstGeom prst="line">
            <a:avLst/>
          </a:prstGeom>
          <a:ln w="19050">
            <a:solidFill>
              <a:srgbClr val="FF0000"/>
            </a:solidFill>
            <a:headEnd type="none" w="med" len="med"/>
            <a:tailEnd type="arrow"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6896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Cross Products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31471" y="1268723"/>
                <a:ext cx="8281057" cy="5040645"/>
              </a:xfrm>
            </p:spPr>
            <p:txBody>
              <a:bodyPr rIns="72000"/>
              <a:lstStyle/>
              <a:p>
                <a:r>
                  <a:rPr lang="en-US" altLang="zh-TW" dirty="0"/>
                  <a:t>Consider points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a:t>
                </a:r>
                <a:r>
                  <a:rPr lang="en-US" altLang="zh-TW" dirty="0"/>
                  <a:t> </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1</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1</a:t>
                </a:r>
                <a:r>
                  <a:rPr lang="en-US" altLang="zh-TW" dirty="0">
                    <a:solidFill>
                      <a:srgbClr val="000000"/>
                    </a:solidFill>
                  </a:rPr>
                  <a:t>)</a:t>
                </a:r>
                <a:r>
                  <a:rPr lang="en-US" altLang="zh-TW" dirty="0"/>
                  <a:t> and </a:t>
                </a:r>
                <a:r>
                  <a:rPr lang="en-US" altLang="zh-TW" i="1" dirty="0" err="1"/>
                  <a:t>p</a:t>
                </a:r>
                <a:r>
                  <a:rPr lang="en-US" altLang="zh-TW" baseline="-25000" dirty="0" err="1"/>
                  <a:t>2</a:t>
                </a:r>
                <a:r>
                  <a:rPr lang="en-US" altLang="zh-TW" dirty="0"/>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t> (</a:t>
                </a:r>
                <a:r>
                  <a:rPr lang="en-US" altLang="zh-TW" i="1" dirty="0" err="1"/>
                  <a:t>x</a:t>
                </a:r>
                <a:r>
                  <a:rPr lang="en-US" altLang="zh-TW" baseline="-25000" dirty="0" err="1"/>
                  <a:t>2</a:t>
                </a:r>
                <a:r>
                  <a:rPr lang="en-US" altLang="zh-TW" dirty="0"/>
                  <a:t>, </a:t>
                </a:r>
                <a:r>
                  <a:rPr lang="en-US" altLang="zh-TW" i="1" dirty="0" err="1"/>
                  <a:t>y</a:t>
                </a:r>
                <a:r>
                  <a:rPr lang="en-US" altLang="zh-TW" baseline="-25000" dirty="0" err="1"/>
                  <a:t>2</a:t>
                </a:r>
                <a:r>
                  <a:rPr lang="en-US" altLang="zh-TW" dirty="0"/>
                  <a:t>). The </a:t>
                </a:r>
                <a:r>
                  <a:rPr lang="en-US" altLang="zh-TW" b="1" i="1" dirty="0">
                    <a:solidFill>
                      <a:srgbClr val="0000FF"/>
                    </a:solidFill>
                  </a:rPr>
                  <a:t>cross product</a:t>
                </a:r>
                <a:r>
                  <a:rPr lang="en-US" altLang="zh-TW" dirty="0"/>
                  <a:t> </a:t>
                </a:r>
                <a:r>
                  <a:rPr lang="en-US" altLang="zh-TW" spc="300" dirty="0"/>
                  <a:t>(</a:t>
                </a:r>
                <a:r>
                  <a:rPr lang="en-US" altLang="zh-TW" i="1" dirty="0" err="1">
                    <a:solidFill>
                      <a:srgbClr val="000000"/>
                    </a:solidFill>
                  </a:rPr>
                  <a:t>p</a:t>
                </a:r>
                <a:r>
                  <a:rPr lang="en-US" altLang="zh-TW" baseline="-25000" dirty="0" err="1">
                    <a:solidFill>
                      <a:srgbClr val="000000"/>
                    </a:solidFill>
                  </a:rPr>
                  <a:t>1</a:t>
                </a:r>
                <a:r>
                  <a:rPr lang="en-US" altLang="zh-TW" dirty="0"/>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t> </a:t>
                </a:r>
                <a:r>
                  <a:rPr lang="en-US" altLang="zh-TW" i="1" dirty="0" err="1">
                    <a:solidFill>
                      <a:srgbClr val="000000"/>
                    </a:solidFill>
                  </a:rPr>
                  <a:t>p</a:t>
                </a:r>
                <a:r>
                  <a:rPr lang="en-US" altLang="zh-TW" baseline="-25000" dirty="0" err="1">
                    <a:solidFill>
                      <a:srgbClr val="000000"/>
                    </a:solidFill>
                  </a:rPr>
                  <a:t>0</a:t>
                </a:r>
                <a:r>
                  <a:rPr lang="en-US" altLang="zh-TW" dirty="0"/>
                  <a:t>) </a:t>
                </a:r>
                <a:r>
                  <a:rPr lang="en-US" altLang="zh-TW" sz="2000" dirty="0">
                    <a:latin typeface="Cambria Math" panose="02040503050406030204" pitchFamily="18" charset="0"/>
                    <a:ea typeface="Cambria Math" panose="02040503050406030204" pitchFamily="18" charset="0"/>
                  </a:rPr>
                  <a:t>×</a:t>
                </a:r>
                <a:r>
                  <a:rPr lang="en-US" altLang="zh-TW" dirty="0">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dirty="0"/>
                  <a:t>is defined as the determinant of a matrix:</a:t>
                </a:r>
              </a:p>
              <a:p>
                <a:pPr marL="360000">
                  <a:spcBef>
                    <a:spcPts val="1800"/>
                  </a:spcBef>
                  <a:tabLst>
                    <a:tab pos="2776538" algn="l"/>
                  </a:tabLst>
                </a:pP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t> </a:t>
                </a:r>
                <a:r>
                  <a:rPr lang="en-US" altLang="zh-TW" dirty="0" err="1"/>
                  <a:t>de</a:t>
                </a:r>
                <a:r>
                  <a:rPr lang="en-US" altLang="zh-TW" spc="300" dirty="0" err="1"/>
                  <a:t>t</a:t>
                </a:r>
                <a14:m>
                  <m:oMath xmlns:m="http://schemas.openxmlformats.org/officeDocument/2006/math">
                    <m:d>
                      <m:dPr>
                        <m:ctrlPr>
                          <a:rPr lang="en-US" altLang="zh-TW" i="1" smtClean="0">
                            <a:latin typeface="Cambria Math" panose="02040503050406030204" pitchFamily="18" charset="0"/>
                          </a:rPr>
                        </m:ctrlPr>
                      </m:dPr>
                      <m:e>
                        <m:m>
                          <m:mPr>
                            <m:mcs>
                              <m:mc>
                                <m:mcPr>
                                  <m:count m:val="2"/>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 </m:t>
                              </m:r>
                              <m:r>
                                <m:rPr>
                                  <m:nor/>
                                  <m:brk m:alnAt="7"/>
                                </m:rPr>
                                <a:rPr lang="en-US" altLang="zh-TW" b="0" i="1" smtClean="0"/>
                                <m:t>x</m:t>
                              </m:r>
                              <m:r>
                                <m:rPr>
                                  <m:nor/>
                                  <m:brk m:alnAt="7"/>
                                </m:rPr>
                                <a:rPr lang="en-US" altLang="zh-TW" b="0" i="0" baseline="-25000" smtClean="0"/>
                                <m:t>1</m:t>
                              </m:r>
                              <m:r>
                                <m:rPr>
                                  <m:brk m:alnAt="7"/>
                                </m:rPr>
                                <a:rPr lang="en-US" altLang="zh-TW" b="0" i="1" smtClean="0">
                                  <a:latin typeface="Cambria Math" panose="02040503050406030204" pitchFamily="18" charset="0"/>
                                  <a:ea typeface="Cambria Math" panose="02040503050406030204" pitchFamily="18" charset="0"/>
                                </a:rPr>
                                <m:t>−</m:t>
                              </m:r>
                              <m:r>
                                <m:rPr>
                                  <m:nor/>
                                  <m:brk m:alnAt="7"/>
                                </m:rPr>
                                <a:rPr lang="en-US" altLang="zh-TW" b="0" i="1" smtClean="0"/>
                                <m:t>x</m:t>
                              </m:r>
                              <m:r>
                                <m:rPr>
                                  <m:nor/>
                                  <m:brk m:alnAt="7"/>
                                </m:rPr>
                                <a:rPr lang="en-US" altLang="zh-TW" b="0" i="0" baseline="-25000" smtClean="0"/>
                                <m:t>0</m:t>
                              </m:r>
                            </m:e>
                            <m:e>
                              <m:r>
                                <m:rPr>
                                  <m:nor/>
                                </m:rPr>
                                <a:rPr lang="en-US" altLang="zh-TW" b="0" i="1" smtClean="0"/>
                                <m:t>x</m:t>
                              </m:r>
                              <m:r>
                                <m:rPr>
                                  <m:nor/>
                                  <m:brk m:alnAt="7"/>
                                </m:rPr>
                                <a:rPr lang="en-US" altLang="zh-TW" b="0" i="0" baseline="-25000" smtClean="0">
                                  <a:solidFill>
                                    <a:srgbClr val="000000"/>
                                  </a:solidFill>
                                </a:rPr>
                                <m:t>2</m:t>
                              </m:r>
                              <m:r>
                                <m:rPr>
                                  <m:brk m:alnAt="7"/>
                                </m:rPr>
                                <a:rPr lang="en-US" altLang="zh-TW" i="1">
                                  <a:solidFill>
                                    <a:srgbClr val="000000"/>
                                  </a:solidFill>
                                  <a:latin typeface="Cambria Math" panose="02040503050406030204" pitchFamily="18" charset="0"/>
                                  <a:ea typeface="Cambria Math" panose="02040503050406030204" pitchFamily="18" charset="0"/>
                                </a:rPr>
                                <m:t>−</m:t>
                              </m:r>
                              <m:r>
                                <m:rPr>
                                  <m:nor/>
                                  <m:brk m:alnAt="7"/>
                                </m:rPr>
                                <a:rPr lang="en-US" altLang="zh-TW" i="1">
                                  <a:solidFill>
                                    <a:srgbClr val="000000"/>
                                  </a:solidFill>
                                </a:rPr>
                                <m:t>x</m:t>
                              </m:r>
                              <m:r>
                                <m:rPr>
                                  <m:nor/>
                                  <m:brk m:alnAt="7"/>
                                </m:rPr>
                                <a:rPr lang="en-US" altLang="zh-TW" baseline="-25000">
                                  <a:solidFill>
                                    <a:srgbClr val="000000"/>
                                  </a:solidFill>
                                </a:rPr>
                                <m:t>0</m:t>
                              </m:r>
                            </m:e>
                          </m:mr>
                          <m:mr>
                            <m:e>
                              <m:r>
                                <m:rPr>
                                  <m:nor/>
                                  <m:brk m:alnAt="7"/>
                                </m:rPr>
                                <a:rPr lang="en-US" altLang="zh-TW" b="0" i="1" smtClean="0">
                                  <a:solidFill>
                                    <a:srgbClr val="000000"/>
                                  </a:solidFill>
                                </a:rPr>
                                <m:t>y</m:t>
                              </m:r>
                              <m:r>
                                <m:rPr>
                                  <m:nor/>
                                  <m:brk m:alnAt="7"/>
                                </m:rPr>
                                <a:rPr lang="en-US" altLang="zh-TW" baseline="-25000">
                                  <a:solidFill>
                                    <a:srgbClr val="000000"/>
                                  </a:solidFill>
                                </a:rPr>
                                <m:t>1</m:t>
                              </m:r>
                              <m:r>
                                <m:rPr>
                                  <m:brk m:alnAt="7"/>
                                </m:rPr>
                                <a:rPr lang="en-US" altLang="zh-TW" i="1">
                                  <a:solidFill>
                                    <a:srgbClr val="000000"/>
                                  </a:solidFill>
                                  <a:latin typeface="Cambria Math" panose="02040503050406030204" pitchFamily="18" charset="0"/>
                                  <a:ea typeface="Cambria Math" panose="02040503050406030204" pitchFamily="18" charset="0"/>
                                </a:rPr>
                                <m:t>−</m:t>
                              </m:r>
                              <m:r>
                                <m:rPr>
                                  <m:nor/>
                                  <m:brk m:alnAt="7"/>
                                </m:rPr>
                                <a:rPr lang="en-US" altLang="zh-TW" b="0" i="1" smtClean="0">
                                  <a:solidFill>
                                    <a:srgbClr val="000000"/>
                                  </a:solidFill>
                                </a:rPr>
                                <m:t>y</m:t>
                              </m:r>
                              <m:r>
                                <m:rPr>
                                  <m:nor/>
                                  <m:brk m:alnAt="7"/>
                                </m:rPr>
                                <a:rPr lang="en-US" altLang="zh-TW" baseline="-25000">
                                  <a:solidFill>
                                    <a:srgbClr val="000000"/>
                                  </a:solidFill>
                                </a:rPr>
                                <m:t>0</m:t>
                              </m:r>
                            </m:e>
                            <m:e>
                              <m:r>
                                <m:rPr>
                                  <m:nor/>
                                  <m:brk m:alnAt="7"/>
                                </m:rPr>
                                <a:rPr lang="en-US" altLang="zh-TW" b="0" i="1" smtClean="0">
                                  <a:solidFill>
                                    <a:srgbClr val="000000"/>
                                  </a:solidFill>
                                </a:rPr>
                                <m:t>y</m:t>
                              </m:r>
                              <m:r>
                                <m:rPr>
                                  <m:nor/>
                                  <m:brk m:alnAt="7"/>
                                </m:rPr>
                                <a:rPr lang="en-US" altLang="zh-TW" b="0" i="0" baseline="-25000" smtClean="0">
                                  <a:solidFill>
                                    <a:srgbClr val="000000"/>
                                  </a:solidFill>
                                </a:rPr>
                                <m:t>2</m:t>
                              </m:r>
                              <m:r>
                                <m:rPr>
                                  <m:brk m:alnAt="7"/>
                                </m:rPr>
                                <a:rPr lang="en-US" altLang="zh-TW" i="1">
                                  <a:solidFill>
                                    <a:srgbClr val="000000"/>
                                  </a:solidFill>
                                  <a:latin typeface="Cambria Math" panose="02040503050406030204" pitchFamily="18" charset="0"/>
                                  <a:ea typeface="Cambria Math" panose="02040503050406030204" pitchFamily="18" charset="0"/>
                                </a:rPr>
                                <m:t>−</m:t>
                              </m:r>
                              <m:r>
                                <m:rPr>
                                  <m:nor/>
                                  <m:brk m:alnAt="7"/>
                                </m:rPr>
                                <a:rPr lang="en-US" altLang="zh-TW" b="0" i="1" smtClean="0">
                                  <a:solidFill>
                                    <a:srgbClr val="000000"/>
                                  </a:solidFill>
                                </a:rPr>
                                <m:t>y</m:t>
                              </m:r>
                              <m:r>
                                <m:rPr>
                                  <m:nor/>
                                  <m:brk m:alnAt="7"/>
                                </m:rPr>
                                <a:rPr lang="en-US" altLang="zh-TW" baseline="-25000">
                                  <a:solidFill>
                                    <a:srgbClr val="000000"/>
                                  </a:solidFill>
                                </a:rPr>
                                <m:t>0</m:t>
                              </m:r>
                            </m:e>
                          </m:mr>
                        </m:m>
                      </m:e>
                    </m:d>
                  </m:oMath>
                </a14:m>
                <a:endParaRPr lang="en-US" altLang="zh-TW" dirty="0"/>
              </a:p>
              <a:p>
                <a:pPr marL="2776538"/>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t> </a:t>
                </a:r>
                <a:r>
                  <a:rPr lang="en-US" altLang="zh-TW" dirty="0">
                    <a:solidFill>
                      <a:srgbClr val="000000"/>
                    </a:solidFill>
                  </a:rPr>
                  <a:t>(</a:t>
                </a:r>
                <a:r>
                  <a:rPr lang="en-US" altLang="zh-TW" i="1" dirty="0" err="1">
                    <a:solidFill>
                      <a:srgbClr val="000000"/>
                    </a:solidFill>
                  </a:rPr>
                  <a:t>x</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a:t>
                </a:r>
                <a:r>
                  <a:rPr lang="en-US" altLang="zh-TW" dirty="0"/>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t> </a:t>
                </a:r>
                <a:r>
                  <a:rPr lang="en-US" altLang="zh-TW" dirty="0">
                    <a:solidFill>
                      <a:srgbClr val="000000"/>
                    </a:solidFill>
                  </a:rPr>
                  <a:t>(</a:t>
                </a:r>
                <a:r>
                  <a:rPr lang="en-US" altLang="zh-TW" i="1" dirty="0" err="1">
                    <a:solidFill>
                      <a:srgbClr val="000000"/>
                    </a:solidFill>
                  </a:rPr>
                  <a:t>x</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a:t>
                </a:r>
                <a:endParaRPr lang="en-US" altLang="zh-TW" dirty="0"/>
              </a:p>
              <a:p>
                <a:pPr marL="2776538"/>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a:t>
                </a:r>
                <a:r>
                  <a:rPr lang="en-US" altLang="zh-TW" dirty="0"/>
                  <a:t>.</a:t>
                </a:r>
              </a:p>
              <a:p>
                <a:pPr>
                  <a:spcBef>
                    <a:spcPts val="1800"/>
                  </a:spcBef>
                </a:pPr>
                <a:r>
                  <a:rPr lang="en-US" altLang="zh-TW" dirty="0"/>
                  <a:t>If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a:t>
                </a:r>
                <a:r>
                  <a:rPr lang="en-US" altLang="zh-TW" dirty="0"/>
                  <a:t> is positive, it goes counterclockwise	    from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t> to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r>
                  <a:rPr lang="en-US" altLang="zh-TW" dirty="0"/>
                  <a:t>.</a:t>
                </a:r>
              </a:p>
              <a:p>
                <a:pPr>
                  <a:spcBef>
                    <a:spcPts val="1200"/>
                  </a:spcBef>
                </a:pPr>
                <a:r>
                  <a:rPr lang="en-US" altLang="zh-TW" dirty="0"/>
                  <a:t>If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a:t>
                </a:r>
                <a:r>
                  <a:rPr lang="en-US" altLang="zh-TW" dirty="0"/>
                  <a:t> is negative, it goes clockwise from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t> to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r>
                  <a:rPr lang="en-US" altLang="zh-TW" dirty="0">
                    <a:solidFill>
                      <a:srgbClr val="000000"/>
                    </a:solidFill>
                  </a:rPr>
                  <a:t>.</a:t>
                </a:r>
              </a:p>
              <a:p>
                <a:pPr>
                  <a:spcBef>
                    <a:spcPts val="0"/>
                  </a:spcBef>
                </a:pPr>
                <a:endParaRPr lang="en-US" altLang="zh-TW" dirty="0"/>
              </a:p>
              <a:p>
                <a:pPr>
                  <a:spcBef>
                    <a:spcPts val="0"/>
                  </a:spcBef>
                </a:pPr>
                <a:r>
                  <a:rPr lang="en-US" altLang="zh-TW" dirty="0"/>
                  <a:t>If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a:t>
                </a:r>
                <a:r>
                  <a:rPr lang="en-US" altLang="zh-TW" dirty="0"/>
                  <a:t> is 0, the </a:t>
                </a:r>
                <a:r>
                  <a:rPr lang="en-US" altLang="zh-TW" dirty="0">
                    <a:solidFill>
                      <a:srgbClr val="000000"/>
                    </a:solidFill>
                  </a:rPr>
                  <a:t>points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and </a:t>
                </a:r>
                <a:r>
                  <a:rPr lang="en-US" altLang="zh-TW" i="1" dirty="0" err="1">
                    <a:solidFill>
                      <a:srgbClr val="000000"/>
                    </a:solidFill>
                  </a:rPr>
                  <a:t>p</a:t>
                </a:r>
                <a:r>
                  <a:rPr lang="en-US" altLang="zh-TW" baseline="-25000" dirty="0" err="1">
                    <a:solidFill>
                      <a:srgbClr val="000000"/>
                    </a:solidFill>
                  </a:rPr>
                  <a:t>2</a:t>
                </a:r>
                <a:r>
                  <a:rPr lang="en-US" altLang="zh-TW" dirty="0"/>
                  <a:t> are </a:t>
                </a:r>
                <a:r>
                  <a:rPr lang="en-US" altLang="zh-TW" b="1" i="1" dirty="0" err="1">
                    <a:solidFill>
                      <a:srgbClr val="0000FF"/>
                    </a:solidFill>
                  </a:rPr>
                  <a:t>colinear</a:t>
                </a:r>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31471" y="1268723"/>
                <a:ext cx="8281057" cy="5040645"/>
              </a:xfrm>
              <a:blipFill>
                <a:blip r:embed="rId2"/>
                <a:stretch>
                  <a:fillRect l="-957" t="-967" r="-44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48058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31471" y="548632"/>
                <a:ext cx="7560529" cy="5400367"/>
              </a:xfrm>
            </p:spPr>
            <p:txBody>
              <a:bodyPr/>
              <a:lstStyle/>
              <a:p>
                <a:r>
                  <a:rPr lang="en-US" altLang="zh-TW" dirty="0"/>
                  <a:t>Let </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dirty="0"/>
                  <a:t> be</a:t>
                </a:r>
                <a:r>
                  <a:rPr lang="en-US" altLang="zh-TW" dirty="0">
                    <a:solidFill>
                      <a:srgbClr val="000000"/>
                    </a:solidFill>
                  </a:rPr>
                  <a:t> the angle between the vector (</a:t>
                </a:r>
                <a:r>
                  <a:rPr lang="en-US" altLang="zh-TW" i="1" dirty="0">
                    <a:solidFill>
                      <a:srgbClr val="000000"/>
                    </a:solidFill>
                  </a:rPr>
                  <a:t>x</a:t>
                </a:r>
                <a:r>
                  <a:rPr lang="en-US" altLang="zh-TW" dirty="0">
                    <a:solidFill>
                      <a:srgbClr val="000000"/>
                    </a:solidFill>
                  </a:rPr>
                  <a:t>, </a:t>
                </a:r>
                <a:r>
                  <a:rPr lang="en-US" altLang="zh-TW" i="1" dirty="0">
                    <a:solidFill>
                      <a:srgbClr val="000000"/>
                    </a:solidFill>
                  </a:rPr>
                  <a:t>y</a:t>
                </a:r>
                <a:r>
                  <a:rPr lang="en-US" altLang="zh-TW" dirty="0">
                    <a:solidFill>
                      <a:srgbClr val="000000"/>
                    </a:solidFill>
                  </a:rPr>
                  <a:t>)</a:t>
                </a:r>
                <a:r>
                  <a:rPr lang="zh-TW" altLang="en-US" dirty="0">
                    <a:solidFill>
                      <a:srgbClr val="000000"/>
                    </a:solidFill>
                  </a:rPr>
                  <a:t> </a:t>
                </a:r>
                <a:r>
                  <a:rPr lang="en-US" altLang="zh-TW" dirty="0">
                    <a:solidFill>
                      <a:srgbClr val="000000"/>
                    </a:solidFill>
                  </a:rPr>
                  <a:t>and unit vector (1, 0).</a:t>
                </a:r>
              </a:p>
              <a:p>
                <a:r>
                  <a:rPr lang="en-US" altLang="zh-TW" dirty="0">
                    <a:solidFill>
                      <a:srgbClr val="000000"/>
                    </a:solidFill>
                  </a:rPr>
                  <a:t>sin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i="1" dirty="0">
                            <a:solidFill>
                              <a:srgbClr val="000000"/>
                            </a:solidFill>
                          </a:rPr>
                          <m:t>y</m:t>
                        </m:r>
                      </m:num>
                      <m:den>
                        <m:r>
                          <m:rPr>
                            <m:nor/>
                          </m:rPr>
                          <a:rPr lang="en-US" altLang="zh-TW" b="0" i="0" dirty="0" smtClean="0">
                            <a:solidFill>
                              <a:srgbClr val="000000"/>
                            </a:solidFill>
                            <a:latin typeface="Cambria Math" panose="02040503050406030204" pitchFamily="18" charset="0"/>
                          </a:rPr>
                          <m:t> </m:t>
                        </m:r>
                        <m:r>
                          <m:rPr>
                            <m:nor/>
                          </m:rPr>
                          <a:rPr lang="en-US" altLang="zh-TW"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m:t>
                        </m:r>
                        <m:r>
                          <m:rPr>
                            <m:nor/>
                          </m:rPr>
                          <a:rPr lang="en-US" altLang="zh-TW" i="1" dirty="0">
                            <a:solidFill>
                              <a:srgbClr val="000000"/>
                            </a:solidFill>
                          </a:rPr>
                          <m:t>x</m:t>
                        </m:r>
                        <m:r>
                          <m:rPr>
                            <m:nor/>
                          </m:rPr>
                          <a:rPr lang="en-US" altLang="zh-TW" dirty="0">
                            <a:solidFill>
                              <a:srgbClr val="000000"/>
                            </a:solidFill>
                          </a:rPr>
                          <m:t>, </m:t>
                        </m:r>
                        <m:r>
                          <m:rPr>
                            <m:nor/>
                          </m:rPr>
                          <a:rPr lang="en-US" altLang="zh-TW" i="1" dirty="0">
                            <a:solidFill>
                              <a:srgbClr val="000000"/>
                            </a:solidFill>
                          </a:rPr>
                          <m:t>y</m:t>
                        </m:r>
                        <m:r>
                          <m:rPr>
                            <m:nor/>
                          </m:rPr>
                          <a:rPr lang="en-US" altLang="zh-TW" dirty="0">
                            <a:solidFill>
                              <a:srgbClr val="000000"/>
                            </a:solidFill>
                          </a:rPr>
                          <m:t>)</m:t>
                        </m:r>
                        <m:r>
                          <m:rPr>
                            <m:nor/>
                          </m:rPr>
                          <a:rPr lang="en-US" altLang="zh-TW" dirty="0">
                            <a:solidFill>
                              <a:srgbClr val="000000"/>
                            </a:solidFill>
                            <a:latin typeface="Cambria Math" panose="02040503050406030204" pitchFamily="18" charset="0"/>
                            <a:ea typeface="Cambria Math" panose="02040503050406030204" pitchFamily="18" charset="0"/>
                          </a:rPr>
                          <m:t>‖</m:t>
                        </m:r>
                        <m:r>
                          <m:rPr>
                            <m:nor/>
                          </m:rPr>
                          <a:rPr lang="en-US" altLang="zh-TW" b="0" i="0" dirty="0" smtClean="0">
                            <a:solidFill>
                              <a:srgbClr val="000000"/>
                            </a:solidFill>
                            <a:latin typeface="Cambria Math" panose="02040503050406030204" pitchFamily="18" charset="0"/>
                            <a:ea typeface="Cambria Math" panose="02040503050406030204" pitchFamily="18" charset="0"/>
                          </a:rPr>
                          <m:t> </m:t>
                        </m:r>
                      </m:den>
                    </m:f>
                  </m:oMath>
                </a14:m>
                <a:endParaRPr lang="en-US" altLang="zh-TW" dirty="0"/>
              </a:p>
              <a:p>
                <a:r>
                  <a:rPr lang="en-US" altLang="zh-TW" dirty="0">
                    <a:solidFill>
                      <a:srgbClr val="000000"/>
                    </a:solidFill>
                  </a:rPr>
                  <a:t>cos</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b="0" i="1" dirty="0" smtClean="0">
                            <a:solidFill>
                              <a:srgbClr val="000000"/>
                            </a:solidFill>
                          </a:rPr>
                          <m:t>x</m:t>
                        </m:r>
                      </m:num>
                      <m:den>
                        <m:r>
                          <m:rPr>
                            <m:nor/>
                          </m:rPr>
                          <a:rPr lang="en-US" altLang="zh-TW" b="0" i="0" dirty="0" smtClean="0">
                            <a:solidFill>
                              <a:srgbClr val="000000"/>
                            </a:solidFill>
                            <a:latin typeface="Cambria Math" panose="02040503050406030204" pitchFamily="18" charset="0"/>
                          </a:rPr>
                          <m:t> </m:t>
                        </m:r>
                        <m:r>
                          <m:rPr>
                            <m:nor/>
                          </m:rPr>
                          <a:rPr lang="en-US" altLang="zh-TW"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m:t>
                        </m:r>
                        <m:r>
                          <m:rPr>
                            <m:nor/>
                          </m:rPr>
                          <a:rPr lang="en-US" altLang="zh-TW" i="1" dirty="0">
                            <a:solidFill>
                              <a:srgbClr val="000000"/>
                            </a:solidFill>
                          </a:rPr>
                          <m:t>x</m:t>
                        </m:r>
                        <m:r>
                          <m:rPr>
                            <m:nor/>
                          </m:rPr>
                          <a:rPr lang="en-US" altLang="zh-TW" dirty="0">
                            <a:solidFill>
                              <a:srgbClr val="000000"/>
                            </a:solidFill>
                          </a:rPr>
                          <m:t>, </m:t>
                        </m:r>
                        <m:r>
                          <m:rPr>
                            <m:nor/>
                          </m:rPr>
                          <a:rPr lang="en-US" altLang="zh-TW" i="1" dirty="0">
                            <a:solidFill>
                              <a:srgbClr val="000000"/>
                            </a:solidFill>
                          </a:rPr>
                          <m:t>y</m:t>
                        </m:r>
                        <m:r>
                          <m:rPr>
                            <m:nor/>
                          </m:rPr>
                          <a:rPr lang="en-US" altLang="zh-TW" dirty="0">
                            <a:solidFill>
                              <a:srgbClr val="000000"/>
                            </a:solidFill>
                          </a:rPr>
                          <m:t>)</m:t>
                        </m:r>
                        <m:r>
                          <m:rPr>
                            <m:nor/>
                          </m:rPr>
                          <a:rPr lang="en-US" altLang="zh-TW" dirty="0">
                            <a:solidFill>
                              <a:srgbClr val="000000"/>
                            </a:solidFill>
                            <a:latin typeface="Cambria Math" panose="02040503050406030204" pitchFamily="18" charset="0"/>
                            <a:ea typeface="Cambria Math" panose="02040503050406030204" pitchFamily="18" charset="0"/>
                          </a:rPr>
                          <m:t>‖</m:t>
                        </m:r>
                        <m:r>
                          <m:rPr>
                            <m:nor/>
                          </m:rPr>
                          <a:rPr lang="en-US" altLang="zh-TW" b="0" i="0" dirty="0" smtClean="0">
                            <a:solidFill>
                              <a:srgbClr val="000000"/>
                            </a:solidFill>
                            <a:latin typeface="Cambria Math" panose="02040503050406030204" pitchFamily="18" charset="0"/>
                            <a:ea typeface="Cambria Math" panose="02040503050406030204" pitchFamily="18" charset="0"/>
                          </a:rPr>
                          <m:t> </m:t>
                        </m:r>
                      </m:den>
                    </m:f>
                  </m:oMath>
                </a14:m>
                <a:endParaRPr lang="en-US" altLang="zh-TW" dirty="0"/>
              </a:p>
              <a:p>
                <a:r>
                  <a:rPr lang="en-US" altLang="zh-TW" dirty="0">
                    <a:solidFill>
                      <a:srgbClr val="000000"/>
                    </a:solidFill>
                  </a:rPr>
                  <a:t>tan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a:rPr lang="en-US" altLang="zh-TW" b="0" i="1" smtClean="0">
                            <a:solidFill>
                              <a:srgbClr val="000000"/>
                            </a:solidFill>
                            <a:latin typeface="Cambria Math" panose="02040503050406030204" pitchFamily="18" charset="0"/>
                          </a:rPr>
                          <m:t> </m:t>
                        </m:r>
                        <m:r>
                          <m:rPr>
                            <m:nor/>
                          </m:rPr>
                          <a:rPr lang="en-US" altLang="zh-TW" dirty="0">
                            <a:solidFill>
                              <a:srgbClr val="000000"/>
                            </a:solidFill>
                          </a:rPr>
                          <m:t>sin</m:t>
                        </m:r>
                        <m:r>
                          <m:rPr>
                            <m:nor/>
                          </m:rPr>
                          <a:rPr lang="en-US" altLang="zh-TW" dirty="0">
                            <a:solidFill>
                              <a:srgbClr val="000000"/>
                            </a:solidFill>
                          </a:rPr>
                          <m:t> </m:t>
                        </m:r>
                        <m:r>
                          <m:rPr>
                            <m:nor/>
                          </m:rPr>
                          <a:rPr lang="el-GR" altLang="zh-TW" sz="2000" i="1" kern="1200" dirty="0">
                            <a:solidFill>
                              <a:srgbClr val="000000"/>
                            </a:solidFill>
                            <a:latin typeface="Cambria Math" panose="02040503050406030204" pitchFamily="18" charset="0"/>
                            <a:ea typeface="Cambria Math" panose="02040503050406030204" pitchFamily="18" charset="0"/>
                          </a:rPr>
                          <m:t>θ</m:t>
                        </m:r>
                        <m:r>
                          <a:rPr lang="en-US" altLang="zh-TW" sz="2000" b="0" i="1" kern="1200" dirty="0" smtClean="0">
                            <a:solidFill>
                              <a:srgbClr val="000000"/>
                            </a:solidFill>
                            <a:latin typeface="Cambria Math" panose="02040503050406030204" pitchFamily="18" charset="0"/>
                            <a:ea typeface="Cambria Math" panose="02040503050406030204" pitchFamily="18" charset="0"/>
                          </a:rPr>
                          <m:t> </m:t>
                        </m:r>
                      </m:num>
                      <m:den>
                        <m:r>
                          <a:rPr lang="en-US" altLang="zh-TW" sz="2000" b="0" i="1" kern="1200" dirty="0" smtClean="0">
                            <a:solidFill>
                              <a:srgbClr val="000000"/>
                            </a:solidFill>
                            <a:latin typeface="Cambria Math" panose="02040503050406030204" pitchFamily="18" charset="0"/>
                            <a:ea typeface="Cambria Math" panose="02040503050406030204" pitchFamily="18" charset="0"/>
                          </a:rPr>
                          <m:t> </m:t>
                        </m:r>
                        <m:r>
                          <m:rPr>
                            <m:nor/>
                          </m:rPr>
                          <a:rPr lang="en-US" altLang="zh-TW" sz="2000" b="0" i="0" kern="1200" dirty="0" smtClean="0">
                            <a:solidFill>
                              <a:srgbClr val="000000"/>
                            </a:solidFill>
                            <a:latin typeface="Cambria Math" panose="02040503050406030204" pitchFamily="18" charset="0"/>
                            <a:ea typeface="Cambria Math" panose="02040503050406030204" pitchFamily="18" charset="0"/>
                          </a:rPr>
                          <m:t> </m:t>
                        </m:r>
                        <m:r>
                          <m:rPr>
                            <m:nor/>
                          </m:rPr>
                          <a:rPr lang="en-US" altLang="zh-TW" dirty="0">
                            <a:solidFill>
                              <a:srgbClr val="000000"/>
                            </a:solidFill>
                          </a:rPr>
                          <m:t>cos</m:t>
                        </m:r>
                        <m:r>
                          <m:rPr>
                            <m:nor/>
                          </m:rPr>
                          <a:rPr lang="en-US" altLang="zh-TW" dirty="0">
                            <a:solidFill>
                              <a:srgbClr val="000000"/>
                            </a:solidFill>
                          </a:rPr>
                          <m:t> </m:t>
                        </m:r>
                        <m:r>
                          <m:rPr>
                            <m:nor/>
                          </m:rPr>
                          <a:rPr lang="el-GR" altLang="zh-TW" sz="2000" i="1" kern="1200" dirty="0">
                            <a:solidFill>
                              <a:srgbClr val="000000"/>
                            </a:solidFill>
                            <a:latin typeface="Cambria Math" panose="02040503050406030204" pitchFamily="18" charset="0"/>
                            <a:ea typeface="Cambria Math" panose="02040503050406030204" pitchFamily="18" charset="0"/>
                          </a:rPr>
                          <m:t>θ</m:t>
                        </m:r>
                        <m:r>
                          <m:rPr>
                            <m:nor/>
                          </m:rPr>
                          <a:rPr lang="en-US" altLang="zh-TW" sz="2000" b="0" i="1" kern="1200" dirty="0" smtClean="0">
                            <a:solidFill>
                              <a:srgbClr val="000000"/>
                            </a:solidFill>
                            <a:latin typeface="Cambria Math" panose="02040503050406030204" pitchFamily="18" charset="0"/>
                            <a:ea typeface="Cambria Math" panose="02040503050406030204" pitchFamily="18" charset="0"/>
                          </a:rPr>
                          <m:t>  </m:t>
                        </m:r>
                      </m:den>
                    </m:f>
                  </m:oMath>
                </a14:m>
                <a:r>
                  <a:rPr lang="en-US" altLang="zh-TW" dirty="0">
                    <a:solidFill>
                      <a:srgbClr val="000000"/>
                    </a:solidFill>
                  </a:rPr>
                  <a:t>  </a:t>
                </a:r>
                <a:r>
                  <a:rPr lang="en-US" altLang="zh-TW" dirty="0">
                    <a:latin typeface="Cambria Math" panose="02040503050406030204" pitchFamily="18" charset="0"/>
                    <a:ea typeface="Cambria Math" panose="02040503050406030204" pitchFamily="18" charset="0"/>
                  </a:rPr>
                  <a:t>=</a:t>
                </a:r>
                <a:r>
                  <a:rPr lang="en-US" altLang="zh-TW" dirty="0"/>
                  <a:t> </a:t>
                </a:r>
                <a14:m>
                  <m:oMath xmlns:m="http://schemas.openxmlformats.org/officeDocument/2006/math">
                    <m:f>
                      <m:fPr>
                        <m:ctrlPr>
                          <a:rPr lang="en-US" altLang="zh-TW" i="1" smtClean="0">
                            <a:latin typeface="Cambria Math" panose="02040503050406030204" pitchFamily="18" charset="0"/>
                          </a:rPr>
                        </m:ctrlPr>
                      </m:fPr>
                      <m:num>
                        <m:r>
                          <m:rPr>
                            <m:nor/>
                          </m:rPr>
                          <a:rPr lang="en-US" altLang="zh-TW" b="0" i="1" smtClean="0">
                            <a:latin typeface="Cambria Math" panose="02040503050406030204" pitchFamily="18" charset="0"/>
                          </a:rPr>
                          <m:t>  </m:t>
                        </m:r>
                        <m:r>
                          <m:rPr>
                            <m:nor/>
                          </m:rPr>
                          <a:rPr lang="en-US" altLang="zh-TW" i="1" dirty="0">
                            <a:solidFill>
                              <a:srgbClr val="000000"/>
                            </a:solidFill>
                          </a:rPr>
                          <m:t>y</m:t>
                        </m:r>
                        <m:r>
                          <m:rPr>
                            <m:nor/>
                          </m:rPr>
                          <a:rPr lang="en-US" altLang="zh-TW" b="0" i="1" dirty="0" smtClean="0">
                            <a:solidFill>
                              <a:srgbClr val="000000"/>
                            </a:solidFill>
                          </a:rPr>
                          <m:t> </m:t>
                        </m:r>
                      </m:num>
                      <m:den>
                        <m:r>
                          <m:rPr>
                            <m:nor/>
                          </m:rPr>
                          <a:rPr lang="en-US" altLang="zh-TW" i="1" dirty="0">
                            <a:solidFill>
                              <a:srgbClr val="000000"/>
                            </a:solidFill>
                          </a:rPr>
                          <m:t>x</m:t>
                        </m:r>
                      </m:den>
                    </m:f>
                  </m:oMath>
                </a14:m>
                <a:endParaRPr lang="en-US" altLang="zh-TW" dirty="0"/>
              </a:p>
              <a:p>
                <a:pPr>
                  <a:spcBef>
                    <a:spcPts val="0"/>
                  </a:spcBef>
                </a:pPr>
                <a:endParaRPr lang="en-US" altLang="zh-TW" dirty="0"/>
              </a:p>
              <a:p>
                <a:pPr>
                  <a:spcBef>
                    <a:spcPts val="0"/>
                  </a:spcBef>
                </a:pPr>
                <a:endParaRPr lang="en-US" altLang="zh-TW" dirty="0"/>
              </a:p>
              <a:p>
                <a:pPr lvl="0">
                  <a:spcBef>
                    <a:spcPts val="0"/>
                  </a:spcBef>
                  <a:buClr>
                    <a:srgbClr val="000000"/>
                  </a:buClr>
                </a:pPr>
                <a:r>
                  <a:rPr lang="en-US" altLang="zh-TW" dirty="0">
                    <a:solidFill>
                      <a:srgbClr val="000000"/>
                    </a:solidFill>
                  </a:rPr>
                  <a:t>Let </a:t>
                </a:r>
                <a:r>
                  <a:rPr lang="en-US" altLang="zh-TW" i="1" dirty="0">
                    <a:solidFill>
                      <a:srgbClr val="000000"/>
                    </a:solidFill>
                  </a:rPr>
                  <a:t>p</a:t>
                </a:r>
                <a:r>
                  <a:rPr lang="en-US" altLang="zh-TW" baseline="-25000" dirty="0">
                    <a:solidFill>
                      <a:srgbClr val="000000"/>
                    </a:solidFill>
                  </a:rPr>
                  <a:t>0</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a:solidFill>
                      <a:srgbClr val="000000"/>
                    </a:solidFill>
                  </a:rPr>
                  <a:t>x</a:t>
                </a:r>
                <a:r>
                  <a:rPr lang="en-US" altLang="zh-TW" baseline="-25000" dirty="0">
                    <a:solidFill>
                      <a:srgbClr val="000000"/>
                    </a:solidFill>
                  </a:rPr>
                  <a:t>0</a:t>
                </a:r>
                <a:r>
                  <a:rPr lang="en-US" altLang="zh-TW" dirty="0">
                    <a:solidFill>
                      <a:srgbClr val="000000"/>
                    </a:solidFill>
                  </a:rPr>
                  <a:t>, </a:t>
                </a:r>
                <a:r>
                  <a:rPr lang="en-US" altLang="zh-TW" i="1" dirty="0">
                    <a:solidFill>
                      <a:srgbClr val="000000"/>
                    </a:solidFill>
                  </a:rPr>
                  <a:t>y</a:t>
                </a:r>
                <a:r>
                  <a:rPr lang="en-US" altLang="zh-TW" baseline="-25000" dirty="0">
                    <a:solidFill>
                      <a:srgbClr val="000000"/>
                    </a:solidFill>
                  </a:rPr>
                  <a:t>0</a:t>
                </a:r>
                <a:r>
                  <a:rPr lang="en-US" altLang="zh-TW" dirty="0">
                    <a:solidFill>
                      <a:srgbClr val="000000"/>
                    </a:solidFill>
                  </a:rPr>
                  <a:t>), </a:t>
                </a:r>
                <a:r>
                  <a:rPr lang="en-US" altLang="zh-TW" i="1" dirty="0">
                    <a:solidFill>
                      <a:srgbClr val="000000"/>
                    </a:solidFill>
                  </a:rPr>
                  <a:t>p</a:t>
                </a:r>
                <a:r>
                  <a:rPr lang="en-US" altLang="zh-TW" baseline="-25000" dirty="0">
                    <a:solidFill>
                      <a:srgbClr val="000000"/>
                    </a:solidFill>
                  </a:rPr>
                  <a:t>1</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a:solidFill>
                      <a:srgbClr val="000000"/>
                    </a:solidFill>
                  </a:rPr>
                  <a:t>x</a:t>
                </a:r>
                <a:r>
                  <a:rPr lang="en-US" altLang="zh-TW" baseline="-25000" dirty="0">
                    <a:solidFill>
                      <a:srgbClr val="000000"/>
                    </a:solidFill>
                  </a:rPr>
                  <a:t>1</a:t>
                </a:r>
                <a:r>
                  <a:rPr lang="en-US" altLang="zh-TW" dirty="0">
                    <a:solidFill>
                      <a:srgbClr val="000000"/>
                    </a:solidFill>
                  </a:rPr>
                  <a:t>, </a:t>
                </a:r>
                <a:r>
                  <a:rPr lang="en-US" altLang="zh-TW" i="1" dirty="0">
                    <a:solidFill>
                      <a:srgbClr val="000000"/>
                    </a:solidFill>
                  </a:rPr>
                  <a:t>y</a:t>
                </a:r>
                <a:r>
                  <a:rPr lang="en-US" altLang="zh-TW" baseline="-25000" dirty="0">
                    <a:solidFill>
                      <a:srgbClr val="000000"/>
                    </a:solidFill>
                  </a:rPr>
                  <a:t>1</a:t>
                </a:r>
                <a:r>
                  <a:rPr lang="en-US" altLang="zh-TW" dirty="0">
                    <a:solidFill>
                      <a:srgbClr val="000000"/>
                    </a:solidFill>
                  </a:rPr>
                  <a:t>) and </a:t>
                </a:r>
                <a:r>
                  <a:rPr lang="en-US" altLang="zh-TW" i="1" dirty="0">
                    <a:solidFill>
                      <a:srgbClr val="000000"/>
                    </a:solidFill>
                  </a:rPr>
                  <a:t>p</a:t>
                </a:r>
                <a:r>
                  <a:rPr lang="en-US" altLang="zh-TW" baseline="-25000" dirty="0">
                    <a:solidFill>
                      <a:srgbClr val="000000"/>
                    </a:solidFill>
                  </a:rPr>
                  <a:t>2</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a:solidFill>
                      <a:srgbClr val="000000"/>
                    </a:solidFill>
                  </a:rPr>
                  <a:t>x</a:t>
                </a:r>
                <a:r>
                  <a:rPr lang="en-US" altLang="zh-TW" baseline="-25000" dirty="0">
                    <a:solidFill>
                      <a:srgbClr val="000000"/>
                    </a:solidFill>
                  </a:rPr>
                  <a:t>2</a:t>
                </a:r>
                <a:r>
                  <a:rPr lang="en-US" altLang="zh-TW" dirty="0">
                    <a:solidFill>
                      <a:srgbClr val="000000"/>
                    </a:solidFill>
                  </a:rPr>
                  <a:t>, </a:t>
                </a:r>
                <a:r>
                  <a:rPr lang="en-US" altLang="zh-TW" i="1" dirty="0">
                    <a:solidFill>
                      <a:srgbClr val="000000"/>
                    </a:solidFill>
                  </a:rPr>
                  <a:t>y</a:t>
                </a:r>
                <a:r>
                  <a:rPr lang="en-US" altLang="zh-TW" baseline="-25000" dirty="0">
                    <a:solidFill>
                      <a:srgbClr val="000000"/>
                    </a:solidFill>
                  </a:rPr>
                  <a:t>2</a:t>
                </a:r>
                <a:r>
                  <a:rPr lang="en-US" altLang="zh-TW" dirty="0">
                    <a:solidFill>
                      <a:srgbClr val="000000"/>
                    </a:solidFill>
                  </a:rPr>
                  <a:t>).</a:t>
                </a:r>
              </a:p>
              <a:p>
                <a:endParaRPr lang="en-US" altLang="zh-TW" dirty="0"/>
              </a:p>
              <a:p>
                <a:pPr lvl="0">
                  <a:buClr>
                    <a:srgbClr val="000000"/>
                  </a:buClr>
                </a:pPr>
                <a:r>
                  <a:rPr lang="en-US" altLang="zh-TW" dirty="0">
                    <a:solidFill>
                      <a:srgbClr val="000000"/>
                    </a:solidFill>
                  </a:rPr>
                  <a:t>tan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1</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i="1">
                            <a:solidFill>
                              <a:srgbClr val="000000"/>
                            </a:solidFill>
                            <a:latin typeface="Cambria Math" panose="02040503050406030204" pitchFamily="18" charset="0"/>
                          </a:rPr>
                          <m:t> </m:t>
                        </m:r>
                        <m:r>
                          <m:rPr>
                            <m:nor/>
                          </m:rPr>
                          <a:rPr lang="en-US" altLang="zh-TW" i="1" dirty="0">
                            <a:solidFill>
                              <a:srgbClr val="000000"/>
                            </a:solidFill>
                          </a:rPr>
                          <m:t>y</m:t>
                        </m:r>
                        <m:r>
                          <m:rPr>
                            <m:nor/>
                          </m:rPr>
                          <a:rPr lang="en-US" altLang="zh-TW" baseline="-25000" dirty="0">
                            <a:solidFill>
                              <a:srgbClr val="000000"/>
                            </a:solidFill>
                          </a:rPr>
                          <m:t>1</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y</m:t>
                        </m:r>
                        <m:r>
                          <m:rPr>
                            <m:nor/>
                          </m:rPr>
                          <a:rPr lang="en-US" altLang="zh-TW" baseline="-25000" dirty="0">
                            <a:solidFill>
                              <a:srgbClr val="000000"/>
                            </a:solidFill>
                          </a:rPr>
                          <m:t>0</m:t>
                        </m:r>
                        <m:r>
                          <m:rPr>
                            <m:nor/>
                          </m:rPr>
                          <a:rPr lang="en-US" altLang="zh-TW" dirty="0">
                            <a:solidFill>
                              <a:srgbClr val="000000"/>
                            </a:solidFill>
                          </a:rPr>
                          <m:t> </m:t>
                        </m:r>
                      </m:num>
                      <m:den>
                        <m:r>
                          <m:rPr>
                            <m:nor/>
                          </m:rPr>
                          <a:rPr lang="en-US" altLang="zh-TW" i="1" dirty="0">
                            <a:solidFill>
                              <a:srgbClr val="000000"/>
                            </a:solidFill>
                          </a:rPr>
                          <m:t>x</m:t>
                        </m:r>
                        <m:r>
                          <m:rPr>
                            <m:nor/>
                          </m:rPr>
                          <a:rPr lang="en-US" altLang="zh-TW" baseline="-25000" dirty="0">
                            <a:solidFill>
                              <a:srgbClr val="000000"/>
                            </a:solidFill>
                          </a:rPr>
                          <m:t>1</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x</m:t>
                        </m:r>
                        <m:r>
                          <m:rPr>
                            <m:nor/>
                          </m:rPr>
                          <a:rPr lang="en-US" altLang="zh-TW" baseline="-25000" dirty="0">
                            <a:solidFill>
                              <a:srgbClr val="000000"/>
                            </a:solidFill>
                          </a:rPr>
                          <m:t>0</m:t>
                        </m:r>
                      </m:den>
                    </m:f>
                  </m:oMath>
                </a14:m>
                <a:endParaRPr lang="en-US" altLang="zh-TW" dirty="0">
                  <a:solidFill>
                    <a:srgbClr val="000000"/>
                  </a:solidFill>
                </a:endParaRPr>
              </a:p>
              <a:p>
                <a:pPr lvl="0">
                  <a:buClr>
                    <a:srgbClr val="000000"/>
                  </a:buClr>
                </a:pPr>
                <a:endParaRPr lang="en-US" altLang="zh-TW" dirty="0">
                  <a:solidFill>
                    <a:srgbClr val="000000"/>
                  </a:solidFill>
                </a:endParaRPr>
              </a:p>
              <a:p>
                <a:r>
                  <a:rPr lang="en-US" altLang="zh-TW" dirty="0">
                    <a:solidFill>
                      <a:srgbClr val="000000"/>
                    </a:solidFill>
                  </a:rPr>
                  <a:t>tan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2</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i="1">
                            <a:solidFill>
                              <a:srgbClr val="000000"/>
                            </a:solidFill>
                            <a:latin typeface="Cambria Math" panose="02040503050406030204" pitchFamily="18" charset="0"/>
                          </a:rPr>
                          <m:t> </m:t>
                        </m:r>
                        <m:r>
                          <m:rPr>
                            <m:nor/>
                          </m:rPr>
                          <a:rPr lang="en-US" altLang="zh-TW" i="1" dirty="0">
                            <a:solidFill>
                              <a:srgbClr val="000000"/>
                            </a:solidFill>
                          </a:rPr>
                          <m:t>y</m:t>
                        </m:r>
                        <m:r>
                          <m:rPr>
                            <m:nor/>
                          </m:rPr>
                          <a:rPr lang="en-US" altLang="zh-TW" baseline="-25000" dirty="0">
                            <a:solidFill>
                              <a:srgbClr val="000000"/>
                            </a:solidFill>
                          </a:rPr>
                          <m:t>2</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y</m:t>
                        </m:r>
                        <m:r>
                          <m:rPr>
                            <m:nor/>
                          </m:rPr>
                          <a:rPr lang="en-US" altLang="zh-TW" baseline="-25000" dirty="0">
                            <a:solidFill>
                              <a:srgbClr val="000000"/>
                            </a:solidFill>
                          </a:rPr>
                          <m:t>0</m:t>
                        </m:r>
                        <m:r>
                          <m:rPr>
                            <m:nor/>
                          </m:rPr>
                          <a:rPr lang="en-US" altLang="zh-TW" dirty="0">
                            <a:solidFill>
                              <a:srgbClr val="000000"/>
                            </a:solidFill>
                          </a:rPr>
                          <m:t> </m:t>
                        </m:r>
                      </m:num>
                      <m:den>
                        <m:r>
                          <m:rPr>
                            <m:nor/>
                          </m:rPr>
                          <a:rPr lang="en-US" altLang="zh-TW" i="1" dirty="0">
                            <a:solidFill>
                              <a:srgbClr val="000000"/>
                            </a:solidFill>
                          </a:rPr>
                          <m:t>x</m:t>
                        </m:r>
                        <m:r>
                          <m:rPr>
                            <m:nor/>
                          </m:rPr>
                          <a:rPr lang="en-US" altLang="zh-TW" baseline="-25000" dirty="0">
                            <a:solidFill>
                              <a:srgbClr val="000000"/>
                            </a:solidFill>
                          </a:rPr>
                          <m:t>2</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x</m:t>
                        </m:r>
                        <m:r>
                          <m:rPr>
                            <m:nor/>
                          </m:rPr>
                          <a:rPr lang="en-US" altLang="zh-TW" baseline="-25000" dirty="0">
                            <a:solidFill>
                              <a:srgbClr val="000000"/>
                            </a:solidFill>
                          </a:rPr>
                          <m:t>0</m:t>
                        </m:r>
                      </m:den>
                    </m:f>
                  </m:oMath>
                </a14:m>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31471" y="548632"/>
                <a:ext cx="7560529" cy="5400367"/>
              </a:xfrm>
              <a:blipFill>
                <a:blip r:embed="rId2"/>
                <a:stretch>
                  <a:fillRect l="-1048" t="-790" r="-323"/>
                </a:stretch>
              </a:blipFill>
            </p:spPr>
            <p:txBody>
              <a:bodyPr/>
              <a:lstStyle/>
              <a:p>
                <a:r>
                  <a:rPr lang="zh-TW" altLang="en-US">
                    <a:noFill/>
                  </a:rPr>
                  <a:t> </a:t>
                </a:r>
              </a:p>
            </p:txBody>
          </p:sp>
        </mc:Fallback>
      </mc:AlternateContent>
      <p:cxnSp>
        <p:nvCxnSpPr>
          <p:cNvPr id="4" name="直線單箭頭接點 3"/>
          <p:cNvCxnSpPr/>
          <p:nvPr/>
        </p:nvCxnSpPr>
        <p:spPr bwMode="auto">
          <a:xfrm flipV="1">
            <a:off x="5292000" y="1629000"/>
            <a:ext cx="144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5" name="直線單箭頭接點 4"/>
          <p:cNvCxnSpPr/>
          <p:nvPr/>
        </p:nvCxnSpPr>
        <p:spPr bwMode="auto">
          <a:xfrm flipV="1">
            <a:off x="6732000" y="1629000"/>
            <a:ext cx="27" cy="1440000"/>
          </a:xfrm>
          <a:prstGeom prst="straightConnector1">
            <a:avLst/>
          </a:prstGeom>
          <a:solidFill>
            <a:schemeClr val="accent1"/>
          </a:solidFill>
          <a:ln w="19050" cap="flat" cmpd="sng" algn="ctr">
            <a:solidFill>
              <a:schemeClr val="tx1"/>
            </a:solidFill>
            <a:prstDash val="solid"/>
            <a:miter lim="800000"/>
            <a:headEnd type="none" w="med" len="med"/>
            <a:tailEnd type="none" w="lg" len="lg"/>
          </a:ln>
          <a:effectLst/>
        </p:spPr>
      </p:cxnSp>
      <p:sp>
        <p:nvSpPr>
          <p:cNvPr id="6" name="矩形 5"/>
          <p:cNvSpPr/>
          <p:nvPr/>
        </p:nvSpPr>
        <p:spPr bwMode="auto">
          <a:xfrm>
            <a:off x="6732000" y="14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08000" tIns="0" rIns="108000" bIns="72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0" cap="none" spc="0" normalizeH="0" baseline="0" noProof="0" dirty="0">
                <a:ln>
                  <a:noFill/>
                </a:ln>
                <a:solidFill>
                  <a:srgbClr val="000000"/>
                </a:solidFill>
                <a:effectLst/>
                <a:uLnTx/>
                <a:uFillTx/>
                <a:latin typeface="Times New Roman"/>
                <a:cs typeface="+mn-cs"/>
              </a:rPr>
              <a:t>(</a:t>
            </a:r>
            <a:r>
              <a:rPr kumimoji="1" lang="en-US" altLang="zh-TW" sz="2200" b="0" i="1" u="none" strike="noStrike" kern="0" cap="none" spc="0" normalizeH="0" baseline="0" noProof="0" dirty="0">
                <a:ln>
                  <a:noFill/>
                </a:ln>
                <a:solidFill>
                  <a:srgbClr val="000000"/>
                </a:solidFill>
                <a:effectLst/>
                <a:uLnTx/>
                <a:uFillTx/>
                <a:latin typeface="Times New Roman"/>
                <a:cs typeface="+mn-cs"/>
              </a:rPr>
              <a:t>x</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a:ln>
                  <a:noFill/>
                </a:ln>
                <a:solidFill>
                  <a:srgbClr val="000000"/>
                </a:solidFill>
                <a:effectLst/>
                <a:uLnTx/>
                <a:uFillTx/>
                <a:latin typeface="Times New Roman"/>
                <a:cs typeface="+mn-cs"/>
              </a:rPr>
              <a:t>y</a:t>
            </a:r>
            <a:r>
              <a:rPr kumimoji="1" lang="en-US" altLang="zh-TW" sz="2200" b="0" i="0" u="none" strike="noStrike" kern="0" cap="none" spc="0" normalizeH="0" baseline="0" noProof="0" dirty="0">
                <a:ln>
                  <a:noFill/>
                </a:ln>
                <a:solidFill>
                  <a:srgbClr val="000000"/>
                </a:solidFill>
                <a:effectLst/>
                <a:uLnTx/>
                <a:uFillTx/>
                <a:latin typeface="Times New Roman"/>
                <a:cs typeface="+mn-cs"/>
              </a:rPr>
              <a:t>)</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7" name="直線單箭頭接點 6"/>
          <p:cNvCxnSpPr/>
          <p:nvPr/>
        </p:nvCxnSpPr>
        <p:spPr bwMode="auto">
          <a:xfrm>
            <a:off x="4572000" y="3069000"/>
            <a:ext cx="288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8" name="矩形 7"/>
          <p:cNvSpPr/>
          <p:nvPr/>
        </p:nvSpPr>
        <p:spPr bwMode="auto">
          <a:xfrm>
            <a:off x="4932000" y="306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1200" cap="none" spc="0" normalizeH="0" baseline="0" noProof="0" dirty="0">
                <a:ln>
                  <a:noFill/>
                </a:ln>
                <a:solidFill>
                  <a:srgbClr val="000000"/>
                </a:solidFill>
                <a:effectLst/>
                <a:uLnTx/>
                <a:uFillTx/>
                <a:latin typeface="Times New Roman"/>
                <a:ea typeface="新細明體" pitchFamily="18" charset="-120"/>
                <a:cs typeface="+mn-cs"/>
              </a:rPr>
              <a:t>(0, 0)</a:t>
            </a:r>
            <a:endParaRPr kumimoji="1" lang="zh-TW" altLang="en-US" sz="2200" b="0" i="0" u="none" strike="noStrike" kern="1200" cap="none" spc="0" normalizeH="0" baseline="0" noProof="0" dirty="0">
              <a:ln>
                <a:noFill/>
              </a:ln>
              <a:solidFill>
                <a:srgbClr val="000000"/>
              </a:solidFill>
              <a:effectLst/>
              <a:uLnTx/>
              <a:uFillTx/>
              <a:latin typeface="Times New Roman"/>
              <a:ea typeface="新細明體" pitchFamily="18" charset="-120"/>
              <a:cs typeface="+mn-cs"/>
            </a:endParaRPr>
          </a:p>
        </p:txBody>
      </p:sp>
      <p:cxnSp>
        <p:nvCxnSpPr>
          <p:cNvPr id="9" name="弧形接點 8"/>
          <p:cNvCxnSpPr/>
          <p:nvPr/>
        </p:nvCxnSpPr>
        <p:spPr bwMode="auto">
          <a:xfrm rot="16200000" flipV="1">
            <a:off x="5742000" y="2619000"/>
            <a:ext cx="540000" cy="360000"/>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sp>
        <p:nvSpPr>
          <p:cNvPr id="10" name="矩形 9"/>
          <p:cNvSpPr/>
          <p:nvPr/>
        </p:nvSpPr>
        <p:spPr bwMode="auto">
          <a:xfrm>
            <a:off x="6012000" y="2529000"/>
            <a:ext cx="54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l-GR" altLang="zh-TW"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endParaRPr kumimoji="1" lang="zh-TW" altLang="en-US"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13" name="直線單箭頭接點 12"/>
          <p:cNvCxnSpPr/>
          <p:nvPr/>
        </p:nvCxnSpPr>
        <p:spPr bwMode="auto">
          <a:xfrm flipV="1">
            <a:off x="5292000" y="1269000"/>
            <a:ext cx="27" cy="180000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14" name="矩形 13"/>
          <p:cNvSpPr/>
          <p:nvPr/>
        </p:nvSpPr>
        <p:spPr bwMode="auto">
          <a:xfrm>
            <a:off x="6552000" y="3069000"/>
            <a:ext cx="36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3600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0" cap="none" spc="0" normalizeH="0" baseline="0" noProof="0" dirty="0">
                <a:ln>
                  <a:noFill/>
                </a:ln>
                <a:solidFill>
                  <a:srgbClr val="000000"/>
                </a:solidFill>
                <a:effectLst/>
                <a:uLnTx/>
                <a:uFillTx/>
                <a:latin typeface="Times New Roman"/>
                <a:cs typeface="+mn-cs"/>
              </a:rPr>
              <a:t>x</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sp>
        <p:nvSpPr>
          <p:cNvPr id="15" name="矩形 14"/>
          <p:cNvSpPr/>
          <p:nvPr/>
        </p:nvSpPr>
        <p:spPr bwMode="auto">
          <a:xfrm>
            <a:off x="4752000" y="1449000"/>
            <a:ext cx="36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10800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0" cap="none" spc="0" normalizeH="0" baseline="0" noProof="0" dirty="0">
                <a:ln>
                  <a:noFill/>
                </a:ln>
                <a:solidFill>
                  <a:srgbClr val="000000"/>
                </a:solidFill>
                <a:effectLst/>
                <a:uLnTx/>
                <a:uFillTx/>
                <a:latin typeface="Times New Roman"/>
                <a:cs typeface="+mn-cs"/>
              </a:rPr>
              <a:t>y</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16" name="直線單箭頭接點 15"/>
          <p:cNvCxnSpPr/>
          <p:nvPr/>
        </p:nvCxnSpPr>
        <p:spPr bwMode="auto">
          <a:xfrm flipV="1">
            <a:off x="3312000" y="4509000"/>
            <a:ext cx="144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17" name="直線單箭頭接點 16"/>
          <p:cNvCxnSpPr/>
          <p:nvPr/>
        </p:nvCxnSpPr>
        <p:spPr bwMode="auto">
          <a:xfrm flipV="1">
            <a:off x="4752000" y="4509000"/>
            <a:ext cx="27" cy="1440000"/>
          </a:xfrm>
          <a:prstGeom prst="straightConnector1">
            <a:avLst/>
          </a:prstGeom>
          <a:solidFill>
            <a:schemeClr val="accent1"/>
          </a:solidFill>
          <a:ln w="19050" cap="flat" cmpd="sng" algn="ctr">
            <a:solidFill>
              <a:schemeClr val="tx1"/>
            </a:solidFill>
            <a:prstDash val="solid"/>
            <a:miter lim="800000"/>
            <a:headEnd type="none" w="med" len="med"/>
            <a:tailEnd type="none" w="lg" len="lg"/>
          </a:ln>
          <a:effectLst/>
        </p:spPr>
      </p:cxnSp>
      <p:sp>
        <p:nvSpPr>
          <p:cNvPr id="18" name="矩形 17"/>
          <p:cNvSpPr/>
          <p:nvPr/>
        </p:nvSpPr>
        <p:spPr bwMode="auto">
          <a:xfrm>
            <a:off x="4752000" y="4329000"/>
            <a:ext cx="90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08000" tIns="0" rIns="108000" bIns="72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0" cap="none" spc="0" normalizeH="0" baseline="0" noProof="0" dirty="0">
                <a:ln>
                  <a:noFill/>
                </a:ln>
                <a:solidFill>
                  <a:srgbClr val="000000"/>
                </a:solidFill>
                <a:effectLst/>
                <a:uLnTx/>
                <a:uFillTx/>
                <a:latin typeface="Times New Roman"/>
                <a:cs typeface="+mn-cs"/>
              </a:rPr>
              <a:t>(</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x</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1</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y</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1</a:t>
            </a:r>
            <a:r>
              <a:rPr kumimoji="1" lang="en-US" altLang="zh-TW" sz="2200" b="0" i="0" u="none" strike="noStrike" kern="0" cap="none" spc="0" normalizeH="0" baseline="0" noProof="0" dirty="0">
                <a:ln>
                  <a:noFill/>
                </a:ln>
                <a:solidFill>
                  <a:srgbClr val="000000"/>
                </a:solidFill>
                <a:effectLst/>
                <a:uLnTx/>
                <a:uFillTx/>
                <a:latin typeface="Times New Roman"/>
                <a:cs typeface="+mn-cs"/>
              </a:rPr>
              <a:t>)</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19" name="直線單箭頭接點 18"/>
          <p:cNvCxnSpPr/>
          <p:nvPr/>
        </p:nvCxnSpPr>
        <p:spPr bwMode="auto">
          <a:xfrm>
            <a:off x="2592000" y="5949000"/>
            <a:ext cx="288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20" name="矩形 19"/>
          <p:cNvSpPr/>
          <p:nvPr/>
        </p:nvSpPr>
        <p:spPr bwMode="auto">
          <a:xfrm>
            <a:off x="2952000" y="59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1200" cap="none" spc="0" normalizeH="0" baseline="0" noProof="0" dirty="0">
                <a:ln>
                  <a:noFill/>
                </a:ln>
                <a:solidFill>
                  <a:srgbClr val="000000"/>
                </a:solidFill>
                <a:effectLst/>
                <a:uLnTx/>
                <a:uFillTx/>
                <a:latin typeface="Times New Roman"/>
                <a:ea typeface="新細明體" pitchFamily="18" charset="-120"/>
                <a:cs typeface="+mn-cs"/>
              </a:rPr>
              <a:t>(</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x</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0</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y</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0</a:t>
            </a:r>
            <a:r>
              <a:rPr kumimoji="1" lang="en-US" altLang="zh-TW" sz="2200" b="0" i="0" u="none" strike="noStrike" kern="1200" cap="none" spc="0" normalizeH="0" baseline="0" noProof="0" dirty="0">
                <a:ln>
                  <a:noFill/>
                </a:ln>
                <a:solidFill>
                  <a:srgbClr val="000000"/>
                </a:solidFill>
                <a:effectLst/>
                <a:uLnTx/>
                <a:uFillTx/>
                <a:latin typeface="Times New Roman"/>
                <a:ea typeface="新細明體" pitchFamily="18" charset="-120"/>
                <a:cs typeface="+mn-cs"/>
              </a:rPr>
              <a:t>)</a:t>
            </a:r>
            <a:endParaRPr kumimoji="1" lang="zh-TW" altLang="en-US" sz="2200" b="0" i="0" u="none" strike="noStrike" kern="1200" cap="none" spc="0" normalizeH="0" baseline="0" noProof="0" dirty="0">
              <a:ln>
                <a:noFill/>
              </a:ln>
              <a:solidFill>
                <a:srgbClr val="000000"/>
              </a:solidFill>
              <a:effectLst/>
              <a:uLnTx/>
              <a:uFillTx/>
              <a:latin typeface="Times New Roman"/>
              <a:ea typeface="新細明體" pitchFamily="18" charset="-120"/>
              <a:cs typeface="+mn-cs"/>
            </a:endParaRPr>
          </a:p>
        </p:txBody>
      </p:sp>
      <p:cxnSp>
        <p:nvCxnSpPr>
          <p:cNvPr id="21" name="弧形接點 20"/>
          <p:cNvCxnSpPr/>
          <p:nvPr/>
        </p:nvCxnSpPr>
        <p:spPr bwMode="auto">
          <a:xfrm rot="16200000" flipV="1">
            <a:off x="3762000" y="5499000"/>
            <a:ext cx="540000" cy="360000"/>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sp>
        <p:nvSpPr>
          <p:cNvPr id="22" name="矩形 21"/>
          <p:cNvSpPr/>
          <p:nvPr/>
        </p:nvSpPr>
        <p:spPr bwMode="auto">
          <a:xfrm>
            <a:off x="4032000" y="5409000"/>
            <a:ext cx="54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l-GR" altLang="zh-TW"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1" lang="en-US" altLang="zh-TW"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rPr>
              <a:t>1</a:t>
            </a:r>
            <a:endParaRPr kumimoji="1" lang="zh-TW" altLang="en-US"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23" name="直線單箭頭接點 22"/>
          <p:cNvCxnSpPr/>
          <p:nvPr/>
        </p:nvCxnSpPr>
        <p:spPr bwMode="auto">
          <a:xfrm flipV="1">
            <a:off x="3312000" y="4149000"/>
            <a:ext cx="27" cy="180000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26" name="矩形 25"/>
          <p:cNvSpPr/>
          <p:nvPr/>
        </p:nvSpPr>
        <p:spPr bwMode="auto">
          <a:xfrm>
            <a:off x="4572000" y="5949000"/>
            <a:ext cx="36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3600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0" cap="none" spc="0" normalizeH="0" baseline="0" noProof="0" dirty="0">
                <a:ln>
                  <a:noFill/>
                </a:ln>
                <a:solidFill>
                  <a:srgbClr val="000000"/>
                </a:solidFill>
                <a:effectLst/>
                <a:uLnTx/>
                <a:uFillTx/>
                <a:latin typeface="Times New Roman"/>
                <a:cs typeface="+mn-cs"/>
              </a:rPr>
              <a:t>x</a:t>
            </a:r>
            <a:r>
              <a:rPr kumimoji="1" lang="en-US" altLang="zh-TW" sz="2200" b="0" i="0" u="none" strike="noStrike" kern="0" cap="none" spc="0" normalizeH="0" baseline="-25000" noProof="0" dirty="0">
                <a:ln>
                  <a:noFill/>
                </a:ln>
                <a:solidFill>
                  <a:srgbClr val="000000"/>
                </a:solidFill>
                <a:effectLst/>
                <a:uLnTx/>
                <a:uFillTx/>
                <a:latin typeface="Times New Roman"/>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sp>
        <p:nvSpPr>
          <p:cNvPr id="27" name="矩形 26"/>
          <p:cNvSpPr/>
          <p:nvPr/>
        </p:nvSpPr>
        <p:spPr bwMode="auto">
          <a:xfrm>
            <a:off x="2772000" y="4329000"/>
            <a:ext cx="36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10800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0" cap="none" spc="0" normalizeH="0" baseline="0" noProof="0" dirty="0">
                <a:ln>
                  <a:noFill/>
                </a:ln>
                <a:solidFill>
                  <a:srgbClr val="000000"/>
                </a:solidFill>
                <a:effectLst/>
                <a:uLnTx/>
                <a:uFillTx/>
                <a:latin typeface="Times New Roman"/>
                <a:cs typeface="+mn-cs"/>
              </a:rPr>
              <a:t>y</a:t>
            </a:r>
            <a:r>
              <a:rPr kumimoji="1" lang="en-US" altLang="zh-TW" sz="2200" b="0" i="0" u="none" strike="noStrike" kern="0" cap="none" spc="0" normalizeH="0" baseline="-25000" noProof="0" dirty="0">
                <a:ln>
                  <a:noFill/>
                </a:ln>
                <a:solidFill>
                  <a:srgbClr val="000000"/>
                </a:solidFill>
                <a:effectLst/>
                <a:uLnTx/>
                <a:uFillTx/>
                <a:latin typeface="Times New Roman"/>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28" name="直線單箭頭接點 27"/>
          <p:cNvCxnSpPr/>
          <p:nvPr/>
        </p:nvCxnSpPr>
        <p:spPr bwMode="auto">
          <a:xfrm>
            <a:off x="5112000" y="1629000"/>
            <a:ext cx="360000" cy="0"/>
          </a:xfrm>
          <a:prstGeom prst="straightConnector1">
            <a:avLst/>
          </a:prstGeom>
          <a:solidFill>
            <a:schemeClr val="accent1"/>
          </a:solidFill>
          <a:ln w="19050" cap="flat" cmpd="sng" algn="ctr">
            <a:solidFill>
              <a:schemeClr val="tx1"/>
            </a:solidFill>
            <a:prstDash val="solid"/>
            <a:miter lim="800000"/>
            <a:headEnd type="none" w="med" len="med"/>
            <a:tailEnd type="none" w="lg" len="lg"/>
          </a:ln>
          <a:effectLst/>
        </p:spPr>
      </p:cxnSp>
      <p:cxnSp>
        <p:nvCxnSpPr>
          <p:cNvPr id="29" name="直線單箭頭接點 28"/>
          <p:cNvCxnSpPr/>
          <p:nvPr/>
        </p:nvCxnSpPr>
        <p:spPr bwMode="auto">
          <a:xfrm>
            <a:off x="3132000" y="4509000"/>
            <a:ext cx="360000" cy="0"/>
          </a:xfrm>
          <a:prstGeom prst="straightConnector1">
            <a:avLst/>
          </a:prstGeom>
          <a:solidFill>
            <a:schemeClr val="accent1"/>
          </a:solidFill>
          <a:ln w="19050" cap="flat" cmpd="sng" algn="ctr">
            <a:solidFill>
              <a:schemeClr val="tx1"/>
            </a:solidFill>
            <a:prstDash val="solid"/>
            <a:miter lim="800000"/>
            <a:headEnd type="none" w="med" len="med"/>
            <a:tailEnd type="none" w="lg" len="lg"/>
          </a:ln>
          <a:effectLst/>
        </p:spPr>
      </p:cxnSp>
      <p:cxnSp>
        <p:nvCxnSpPr>
          <p:cNvPr id="25" name="直線單箭頭接點 24"/>
          <p:cNvCxnSpPr/>
          <p:nvPr/>
        </p:nvCxnSpPr>
        <p:spPr bwMode="auto">
          <a:xfrm flipV="1">
            <a:off x="6552000" y="4509000"/>
            <a:ext cx="144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30" name="直線單箭頭接點 29"/>
          <p:cNvCxnSpPr/>
          <p:nvPr/>
        </p:nvCxnSpPr>
        <p:spPr bwMode="auto">
          <a:xfrm flipV="1">
            <a:off x="7992000" y="4509000"/>
            <a:ext cx="27" cy="1440000"/>
          </a:xfrm>
          <a:prstGeom prst="straightConnector1">
            <a:avLst/>
          </a:prstGeom>
          <a:solidFill>
            <a:schemeClr val="accent1"/>
          </a:solidFill>
          <a:ln w="19050" cap="flat" cmpd="sng" algn="ctr">
            <a:solidFill>
              <a:schemeClr val="tx1"/>
            </a:solidFill>
            <a:prstDash val="solid"/>
            <a:miter lim="800000"/>
            <a:headEnd type="none" w="med" len="med"/>
            <a:tailEnd type="none" w="lg" len="lg"/>
          </a:ln>
          <a:effectLst/>
        </p:spPr>
      </p:cxnSp>
      <p:sp>
        <p:nvSpPr>
          <p:cNvPr id="31" name="矩形 30"/>
          <p:cNvSpPr/>
          <p:nvPr/>
        </p:nvSpPr>
        <p:spPr bwMode="auto">
          <a:xfrm>
            <a:off x="7992000" y="4329000"/>
            <a:ext cx="90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08000" tIns="0" rIns="108000" bIns="72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0" cap="none" spc="0" normalizeH="0" baseline="0" noProof="0" dirty="0">
                <a:ln>
                  <a:noFill/>
                </a:ln>
                <a:solidFill>
                  <a:srgbClr val="000000"/>
                </a:solidFill>
                <a:effectLst/>
                <a:uLnTx/>
                <a:uFillTx/>
                <a:latin typeface="Times New Roman"/>
                <a:cs typeface="+mn-cs"/>
              </a:rPr>
              <a:t>(</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x</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2</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y</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2</a:t>
            </a:r>
            <a:r>
              <a:rPr kumimoji="1" lang="en-US" altLang="zh-TW" sz="2200" b="0" i="0" u="none" strike="noStrike" kern="0" cap="none" spc="0" normalizeH="0" baseline="0" noProof="0" dirty="0">
                <a:ln>
                  <a:noFill/>
                </a:ln>
                <a:solidFill>
                  <a:srgbClr val="000000"/>
                </a:solidFill>
                <a:effectLst/>
                <a:uLnTx/>
                <a:uFillTx/>
                <a:latin typeface="Times New Roman"/>
                <a:cs typeface="+mn-cs"/>
              </a:rPr>
              <a:t>)</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2" name="直線單箭頭接點 31"/>
          <p:cNvCxnSpPr/>
          <p:nvPr/>
        </p:nvCxnSpPr>
        <p:spPr bwMode="auto">
          <a:xfrm>
            <a:off x="5832000" y="5949000"/>
            <a:ext cx="288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33" name="矩形 32"/>
          <p:cNvSpPr/>
          <p:nvPr/>
        </p:nvSpPr>
        <p:spPr bwMode="auto">
          <a:xfrm>
            <a:off x="6192000" y="59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1200" cap="none" spc="0" normalizeH="0" baseline="0" noProof="0" dirty="0">
                <a:ln>
                  <a:noFill/>
                </a:ln>
                <a:solidFill>
                  <a:srgbClr val="000000"/>
                </a:solidFill>
                <a:effectLst/>
                <a:uLnTx/>
                <a:uFillTx/>
                <a:latin typeface="Times New Roman"/>
                <a:ea typeface="新細明體" pitchFamily="18" charset="-120"/>
                <a:cs typeface="+mn-cs"/>
              </a:rPr>
              <a:t>(</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x</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0</a:t>
            </a:r>
            <a:r>
              <a:rPr kumimoji="1" lang="en-US" altLang="zh-TW" sz="2200" b="0" i="0" u="none" strike="noStrike" kern="0" cap="none" spc="0" normalizeH="0" baseline="0" noProof="0" dirty="0">
                <a:ln>
                  <a:noFill/>
                </a:ln>
                <a:solidFill>
                  <a:srgbClr val="000000"/>
                </a:solidFill>
                <a:effectLst/>
                <a:uLnTx/>
                <a:uFillTx/>
                <a:latin typeface="Times New Roman"/>
                <a:cs typeface="+mn-cs"/>
              </a:rPr>
              <a:t>, </a:t>
            </a:r>
            <a:r>
              <a:rPr kumimoji="1" lang="en-US" altLang="zh-TW" sz="2200" b="0" i="1" u="none" strike="noStrike" kern="0" cap="none" spc="0" normalizeH="0" baseline="0" noProof="0" dirty="0" err="1">
                <a:ln>
                  <a:noFill/>
                </a:ln>
                <a:solidFill>
                  <a:srgbClr val="000000"/>
                </a:solidFill>
                <a:effectLst/>
                <a:uLnTx/>
                <a:uFillTx/>
                <a:latin typeface="Times New Roman"/>
                <a:cs typeface="+mn-cs"/>
              </a:rPr>
              <a:t>y</a:t>
            </a:r>
            <a:r>
              <a:rPr kumimoji="1" lang="en-US" altLang="zh-TW" sz="2200" b="0" i="0" u="none" strike="noStrike" kern="0" cap="none" spc="0" normalizeH="0" baseline="-25000" noProof="0" dirty="0" err="1">
                <a:ln>
                  <a:noFill/>
                </a:ln>
                <a:solidFill>
                  <a:srgbClr val="000000"/>
                </a:solidFill>
                <a:effectLst/>
                <a:uLnTx/>
                <a:uFillTx/>
                <a:latin typeface="Times New Roman"/>
                <a:cs typeface="+mn-cs"/>
              </a:rPr>
              <a:t>0</a:t>
            </a:r>
            <a:r>
              <a:rPr kumimoji="1" lang="en-US" altLang="zh-TW" sz="2200" b="0" i="0" u="none" strike="noStrike" kern="1200" cap="none" spc="0" normalizeH="0" baseline="0" noProof="0" dirty="0">
                <a:ln>
                  <a:noFill/>
                </a:ln>
                <a:solidFill>
                  <a:srgbClr val="000000"/>
                </a:solidFill>
                <a:effectLst/>
                <a:uLnTx/>
                <a:uFillTx/>
                <a:latin typeface="Times New Roman"/>
                <a:ea typeface="新細明體" pitchFamily="18" charset="-120"/>
                <a:cs typeface="+mn-cs"/>
              </a:rPr>
              <a:t>)</a:t>
            </a:r>
            <a:endParaRPr kumimoji="1" lang="zh-TW" altLang="en-US" sz="2200" b="0" i="0" u="none" strike="noStrike" kern="1200" cap="none" spc="0" normalizeH="0" baseline="0" noProof="0" dirty="0">
              <a:ln>
                <a:noFill/>
              </a:ln>
              <a:solidFill>
                <a:srgbClr val="000000"/>
              </a:solidFill>
              <a:effectLst/>
              <a:uLnTx/>
              <a:uFillTx/>
              <a:latin typeface="Times New Roman"/>
              <a:ea typeface="新細明體" pitchFamily="18" charset="-120"/>
              <a:cs typeface="+mn-cs"/>
            </a:endParaRPr>
          </a:p>
        </p:txBody>
      </p:sp>
      <p:cxnSp>
        <p:nvCxnSpPr>
          <p:cNvPr id="34" name="弧形接點 33"/>
          <p:cNvCxnSpPr/>
          <p:nvPr/>
        </p:nvCxnSpPr>
        <p:spPr bwMode="auto">
          <a:xfrm rot="16200000" flipV="1">
            <a:off x="7002000" y="5499000"/>
            <a:ext cx="540000" cy="360000"/>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sp>
        <p:nvSpPr>
          <p:cNvPr id="35" name="矩形 34"/>
          <p:cNvSpPr/>
          <p:nvPr/>
        </p:nvSpPr>
        <p:spPr bwMode="auto">
          <a:xfrm>
            <a:off x="7272000" y="5409000"/>
            <a:ext cx="54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l-GR" altLang="zh-TW"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1" lang="en-US" altLang="zh-TW"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rPr>
              <a:t>2</a:t>
            </a:r>
            <a:endParaRPr kumimoji="1" lang="zh-TW" altLang="en-US"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6" name="直線單箭頭接點 35"/>
          <p:cNvCxnSpPr/>
          <p:nvPr/>
        </p:nvCxnSpPr>
        <p:spPr bwMode="auto">
          <a:xfrm flipV="1">
            <a:off x="6552000" y="4149000"/>
            <a:ext cx="27" cy="180000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37" name="矩形 36"/>
          <p:cNvSpPr/>
          <p:nvPr/>
        </p:nvSpPr>
        <p:spPr bwMode="auto">
          <a:xfrm>
            <a:off x="7812000" y="5949000"/>
            <a:ext cx="36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3600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0" cap="none" spc="0" normalizeH="0" baseline="0" noProof="0" dirty="0">
                <a:ln>
                  <a:noFill/>
                </a:ln>
                <a:solidFill>
                  <a:srgbClr val="000000"/>
                </a:solidFill>
                <a:effectLst/>
                <a:uLnTx/>
                <a:uFillTx/>
                <a:latin typeface="Times New Roman"/>
                <a:cs typeface="+mn-cs"/>
              </a:rPr>
              <a:t>x</a:t>
            </a:r>
            <a:r>
              <a:rPr kumimoji="1" lang="en-US" altLang="zh-TW" sz="2200" b="0" i="0" u="none" strike="noStrike" kern="0" cap="none" spc="0" normalizeH="0" baseline="-25000" noProof="0" dirty="0">
                <a:ln>
                  <a:noFill/>
                </a:ln>
                <a:solidFill>
                  <a:srgbClr val="000000"/>
                </a:solidFill>
                <a:effectLst/>
                <a:uLnTx/>
                <a:uFillTx/>
                <a:latin typeface="Times New Roman"/>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sp>
        <p:nvSpPr>
          <p:cNvPr id="38" name="矩形 37"/>
          <p:cNvSpPr/>
          <p:nvPr/>
        </p:nvSpPr>
        <p:spPr bwMode="auto">
          <a:xfrm>
            <a:off x="6012000" y="4329000"/>
            <a:ext cx="36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0" rIns="0" bIns="10800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0" cap="none" spc="0" normalizeH="0" baseline="0" noProof="0" dirty="0">
                <a:ln>
                  <a:noFill/>
                </a:ln>
                <a:solidFill>
                  <a:srgbClr val="000000"/>
                </a:solidFill>
                <a:effectLst/>
                <a:uLnTx/>
                <a:uFillTx/>
                <a:latin typeface="Times New Roman"/>
                <a:cs typeface="+mn-cs"/>
              </a:rPr>
              <a:t>y</a:t>
            </a:r>
            <a:r>
              <a:rPr kumimoji="1" lang="en-US" altLang="zh-TW" sz="2200" b="0" i="0" u="none" strike="noStrike" kern="0" cap="none" spc="0" normalizeH="0" baseline="-25000" noProof="0" dirty="0">
                <a:ln>
                  <a:noFill/>
                </a:ln>
                <a:solidFill>
                  <a:srgbClr val="000000"/>
                </a:solidFill>
                <a:effectLst/>
                <a:uLnTx/>
                <a:uFillTx/>
                <a:latin typeface="Times New Roman"/>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9" name="直線單箭頭接點 38"/>
          <p:cNvCxnSpPr/>
          <p:nvPr/>
        </p:nvCxnSpPr>
        <p:spPr bwMode="auto">
          <a:xfrm>
            <a:off x="6372000" y="4509000"/>
            <a:ext cx="360000" cy="0"/>
          </a:xfrm>
          <a:prstGeom prst="straightConnector1">
            <a:avLst/>
          </a:prstGeom>
          <a:solidFill>
            <a:schemeClr val="accent1"/>
          </a:solidFill>
          <a:ln w="19050" cap="flat" cmpd="sng" algn="ctr">
            <a:solidFill>
              <a:schemeClr val="tx1"/>
            </a:solidFill>
            <a:prstDash val="solid"/>
            <a:miter lim="800000"/>
            <a:headEnd type="none" w="med" len="med"/>
            <a:tailEnd type="none" w="lg" len="lg"/>
          </a:ln>
          <a:effectLst/>
        </p:spPr>
      </p:cxnSp>
    </p:spTree>
    <p:extLst>
      <p:ext uri="{BB962C8B-B14F-4D97-AF65-F5344CB8AC3E}">
        <p14:creationId xmlns:p14="http://schemas.microsoft.com/office/powerpoint/2010/main" val="2175803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bwMode="auto">
          <a:xfrm>
            <a:off x="2412000" y="72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08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mc:AlternateContent xmlns:mc="http://schemas.openxmlformats.org/markup-compatibility/2006" xmlns:a14="http://schemas.microsoft.com/office/drawing/2010/main">
        <mc:Choice Requires="a14">
          <p:sp>
            <p:nvSpPr>
              <p:cNvPr id="5" name="內容版面配置區 4"/>
              <p:cNvSpPr>
                <a:spLocks noGrp="1"/>
              </p:cNvSpPr>
              <p:nvPr>
                <p:ph idx="1"/>
              </p:nvPr>
            </p:nvSpPr>
            <p:spPr/>
            <p:txBody>
              <a:bodyPr/>
              <a:lstStyle/>
              <a:p>
                <a:pPr lvl="0" eaLnBrk="1" hangingPunct="1">
                  <a:spcBef>
                    <a:spcPct val="0"/>
                  </a:spcBef>
                  <a:spcAft>
                    <a:spcPts val="600"/>
                  </a:spcAft>
                  <a:buClrTx/>
                  <a:defRPr/>
                </a:pPr>
                <a:r>
                  <a:rPr lang="en-US" altLang="zh-TW" dirty="0">
                    <a:solidFill>
                      <a:schemeClr val="bg1"/>
                    </a:solidFill>
                    <a:latin typeface="Cambria Math" panose="02040503050406030204" pitchFamily="18" charset="0"/>
                    <a:ea typeface="Cambria Math" panose="02040503050406030204" pitchFamily="18" charset="0"/>
                  </a:rPr>
                  <a:t>⇒</a:t>
                </a:r>
                <a:r>
                  <a:rPr lang="en-US" altLang="zh-TW" dirty="0">
                    <a:solidFill>
                      <a:schemeClr val="bg1"/>
                    </a:solidFill>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&gt;</a:t>
                </a:r>
                <a:r>
                  <a:rPr lang="en-US" altLang="zh-TW" dirty="0">
                    <a:solidFill>
                      <a:srgbClr val="000000"/>
                    </a:solidFill>
                  </a:rPr>
                  <a:t> 0</a:t>
                </a:r>
              </a:p>
              <a:p>
                <a:pPr lvl="0" eaLnBrk="1" hangingPunct="1">
                  <a:spcBef>
                    <a:spcPct val="0"/>
                  </a:spcBef>
                  <a:spcAft>
                    <a:spcPts val="600"/>
                  </a:spcAft>
                  <a:buClrTx/>
                  <a:defRP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ea typeface="Cambria Math" panose="02040503050406030204" pitchFamily="18" charset="0"/>
                  </a:rPr>
                  <a:t> </a:t>
                </a:r>
                <a:r>
                  <a:rPr lang="en-US" altLang="zh-TW" dirty="0">
                    <a:solidFill>
                      <a:srgbClr val="000000"/>
                    </a:solidFill>
                  </a:rPr>
                  <a:t>(</a:t>
                </a:r>
                <a:r>
                  <a:rPr lang="en-US" altLang="zh-TW" i="1" dirty="0" err="1">
                    <a:solidFill>
                      <a:srgbClr val="000000"/>
                    </a:solidFill>
                  </a:rPr>
                  <a:t>x</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&gt;</a:t>
                </a:r>
                <a:r>
                  <a:rPr lang="en-US" altLang="zh-TW" dirty="0">
                    <a:solidFill>
                      <a:srgbClr val="000000"/>
                    </a:solidFill>
                  </a:rPr>
                  <a:t> 0</a:t>
                </a:r>
              </a:p>
              <a:p>
                <a:pPr lvl="0" eaLnBrk="1" hangingPunct="1">
                  <a:spcBef>
                    <a:spcPct val="0"/>
                  </a:spcBef>
                  <a:spcAft>
                    <a:spcPts val="600"/>
                  </a:spcAft>
                  <a:buClrTx/>
                  <a:defRP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&gt;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a:t>
                </a:r>
              </a:p>
              <a:p>
                <a:pPr lvl="0" eaLnBrk="1" hangingPunct="1">
                  <a:spcBef>
                    <a:spcPct val="0"/>
                  </a:spcBef>
                  <a:buClrTx/>
                  <a:defRP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b="0" i="1" smtClean="0">
                            <a:solidFill>
                              <a:srgbClr val="000000"/>
                            </a:solidFill>
                            <a:latin typeface="Cambria Math" panose="02040503050406030204" pitchFamily="18" charset="0"/>
                          </a:rPr>
                          <m:t> </m:t>
                        </m:r>
                        <m:r>
                          <m:rPr>
                            <m:nor/>
                          </m:rPr>
                          <a:rPr lang="en-US" altLang="zh-TW" i="1" dirty="0">
                            <a:solidFill>
                              <a:srgbClr val="000000"/>
                            </a:solidFill>
                          </a:rPr>
                          <m:t>y</m:t>
                        </m:r>
                        <m:r>
                          <m:rPr>
                            <m:nor/>
                          </m:rPr>
                          <a:rPr lang="en-US" altLang="zh-TW" baseline="-25000" dirty="0">
                            <a:solidFill>
                              <a:srgbClr val="000000"/>
                            </a:solidFill>
                          </a:rPr>
                          <m:t>2</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y</m:t>
                        </m:r>
                        <m:r>
                          <m:rPr>
                            <m:nor/>
                          </m:rPr>
                          <a:rPr lang="en-US" altLang="zh-TW" baseline="-25000" dirty="0">
                            <a:solidFill>
                              <a:srgbClr val="000000"/>
                            </a:solidFill>
                          </a:rPr>
                          <m:t>0</m:t>
                        </m:r>
                        <m:r>
                          <m:rPr>
                            <m:nor/>
                          </m:rPr>
                          <a:rPr lang="en-US" altLang="zh-TW" b="0" i="0" dirty="0" smtClean="0">
                            <a:solidFill>
                              <a:srgbClr val="000000"/>
                            </a:solidFill>
                          </a:rPr>
                          <m:t> </m:t>
                        </m:r>
                      </m:num>
                      <m:den>
                        <m:r>
                          <m:rPr>
                            <m:nor/>
                          </m:rPr>
                          <a:rPr lang="en-US" altLang="zh-TW" i="1" dirty="0">
                            <a:solidFill>
                              <a:srgbClr val="000000"/>
                            </a:solidFill>
                          </a:rPr>
                          <m:t>x</m:t>
                        </m:r>
                        <m:r>
                          <m:rPr>
                            <m:nor/>
                          </m:rPr>
                          <a:rPr lang="en-US" altLang="zh-TW" baseline="-25000" dirty="0">
                            <a:solidFill>
                              <a:srgbClr val="000000"/>
                            </a:solidFill>
                          </a:rPr>
                          <m:t>2</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x</m:t>
                        </m:r>
                        <m:r>
                          <m:rPr>
                            <m:nor/>
                          </m:rPr>
                          <a:rPr lang="en-US" altLang="zh-TW" baseline="-25000" dirty="0">
                            <a:solidFill>
                              <a:srgbClr val="000000"/>
                            </a:solidFill>
                          </a:rPr>
                          <m:t>0</m:t>
                        </m:r>
                      </m:den>
                    </m:f>
                  </m:oMath>
                </a14:m>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&gt;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b="0" i="1" smtClean="0">
                            <a:solidFill>
                              <a:srgbClr val="000000"/>
                            </a:solidFill>
                            <a:latin typeface="Cambria Math" panose="02040503050406030204" pitchFamily="18" charset="0"/>
                          </a:rPr>
                          <m:t> </m:t>
                        </m:r>
                        <m:r>
                          <m:rPr>
                            <m:nor/>
                          </m:rPr>
                          <a:rPr lang="en-US" altLang="zh-TW" i="1" dirty="0">
                            <a:solidFill>
                              <a:srgbClr val="000000"/>
                            </a:solidFill>
                          </a:rPr>
                          <m:t>y</m:t>
                        </m:r>
                        <m:r>
                          <m:rPr>
                            <m:nor/>
                          </m:rPr>
                          <a:rPr lang="en-US" altLang="zh-TW" baseline="-25000" dirty="0">
                            <a:solidFill>
                              <a:srgbClr val="000000"/>
                            </a:solidFill>
                          </a:rPr>
                          <m:t>1</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y</m:t>
                        </m:r>
                        <m:r>
                          <m:rPr>
                            <m:nor/>
                          </m:rPr>
                          <a:rPr lang="en-US" altLang="zh-TW" baseline="-25000" dirty="0">
                            <a:solidFill>
                              <a:srgbClr val="000000"/>
                            </a:solidFill>
                          </a:rPr>
                          <m:t>0</m:t>
                        </m:r>
                        <m:r>
                          <m:rPr>
                            <m:nor/>
                          </m:rPr>
                          <a:rPr lang="en-US" altLang="zh-TW" b="0" i="0" dirty="0" smtClean="0">
                            <a:solidFill>
                              <a:srgbClr val="000000"/>
                            </a:solidFill>
                          </a:rPr>
                          <m:t> </m:t>
                        </m:r>
                      </m:num>
                      <m:den>
                        <m:r>
                          <m:rPr>
                            <m:nor/>
                          </m:rPr>
                          <a:rPr lang="en-US" altLang="zh-TW" i="1" dirty="0">
                            <a:solidFill>
                              <a:srgbClr val="000000"/>
                            </a:solidFill>
                          </a:rPr>
                          <m:t>x</m:t>
                        </m:r>
                        <m:r>
                          <m:rPr>
                            <m:nor/>
                          </m:rPr>
                          <a:rPr lang="en-US" altLang="zh-TW" baseline="-25000" dirty="0">
                            <a:solidFill>
                              <a:srgbClr val="000000"/>
                            </a:solidFill>
                          </a:rPr>
                          <m:t>1</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x</m:t>
                        </m:r>
                        <m:r>
                          <m:rPr>
                            <m:nor/>
                          </m:rPr>
                          <a:rPr lang="en-US" altLang="zh-TW" baseline="-25000" dirty="0">
                            <a:solidFill>
                              <a:srgbClr val="000000"/>
                            </a:solidFill>
                          </a:rPr>
                          <m:t>0</m:t>
                        </m:r>
                      </m:den>
                    </m:f>
                  </m:oMath>
                </a14:m>
                <a:endParaRPr lang="en-US" altLang="zh-TW" dirty="0">
                  <a:solidFill>
                    <a:srgbClr val="000000"/>
                  </a:solidFill>
                </a:endParaRPr>
              </a:p>
              <a:p>
                <a:pPr lvl="0">
                  <a:spcBef>
                    <a:spcPts val="60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tan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&gt;</a:t>
                </a:r>
                <a:r>
                  <a:rPr lang="en-US" altLang="zh-TW" dirty="0">
                    <a:solidFill>
                      <a:srgbClr val="000000"/>
                    </a:solidFill>
                  </a:rPr>
                  <a:t> tan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1</a:t>
                </a:r>
                <a:endParaRPr lang="en-US" altLang="zh-TW" dirty="0">
                  <a:solidFill>
                    <a:srgbClr val="000000"/>
                  </a:solidFill>
                </a:endParaRPr>
              </a:p>
              <a:p>
                <a:pPr lvl="0">
                  <a:spcBef>
                    <a:spcPts val="30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&gt;</a:t>
                </a:r>
                <a:r>
                  <a:rPr lang="en-US" altLang="zh-TW" dirty="0">
                    <a:solidFill>
                      <a:srgbClr val="000000"/>
                    </a:solidFill>
                  </a:rPr>
                  <a:t> </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1</a:t>
                </a:r>
                <a:endParaRPr lang="en-US" altLang="zh-TW" dirty="0">
                  <a:solidFill>
                    <a:srgbClr val="000000"/>
                  </a:solidFill>
                </a:endParaRPr>
              </a:p>
              <a:p>
                <a:pPr marL="444500" lvl="0" indent="-444500">
                  <a:spcBef>
                    <a:spcPts val="30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it goes counterclockwise from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solidFill>
                      <a:srgbClr val="000000"/>
                    </a:solidFill>
                  </a:rPr>
                  <a:t> to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endParaRPr lang="zh-TW" altLang="en-US" dirty="0"/>
              </a:p>
            </p:txBody>
          </p:sp>
        </mc:Choice>
        <mc:Fallback xmlns="">
          <p:sp>
            <p:nvSpPr>
              <p:cNvPr id="5" name="內容版面配置區 4"/>
              <p:cNvSpPr>
                <a:spLocks noGrp="1" noRot="1" noChangeAspect="1" noMove="1" noResize="1" noEditPoints="1" noAdjustHandles="1" noChangeArrowheads="1" noChangeShapeType="1" noTextEdit="1"/>
              </p:cNvSpPr>
              <p:nvPr>
                <p:ph idx="1"/>
              </p:nvPr>
            </p:nvSpPr>
            <p:spPr>
              <a:blipFill>
                <a:blip r:embed="rId2"/>
                <a:stretch>
                  <a:fillRect l="-1467" t="-1594" b="-797"/>
                </a:stretch>
              </a:blipFill>
            </p:spPr>
            <p:txBody>
              <a:bodyPr/>
              <a:lstStyle/>
              <a:p>
                <a:r>
                  <a:rPr lang="zh-TW" altLang="en-US">
                    <a:noFill/>
                  </a:rPr>
                  <a:t> </a:t>
                </a:r>
              </a:p>
            </p:txBody>
          </p:sp>
        </mc:Fallback>
      </mc:AlternateContent>
      <p:cxnSp>
        <p:nvCxnSpPr>
          <p:cNvPr id="7" name="直線單箭頭接點 6"/>
          <p:cNvCxnSpPr/>
          <p:nvPr/>
        </p:nvCxnSpPr>
        <p:spPr bwMode="auto">
          <a:xfrm flipV="1">
            <a:off x="2592000" y="1269000"/>
            <a:ext cx="1440000" cy="108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11" name="直線單箭頭接點 10"/>
          <p:cNvCxnSpPr/>
          <p:nvPr/>
        </p:nvCxnSpPr>
        <p:spPr bwMode="auto">
          <a:xfrm flipV="1">
            <a:off x="2592000" y="909000"/>
            <a:ext cx="36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sp>
        <p:nvSpPr>
          <p:cNvPr id="31" name="矩形 30"/>
          <p:cNvSpPr/>
          <p:nvPr/>
        </p:nvSpPr>
        <p:spPr bwMode="auto">
          <a:xfrm>
            <a:off x="4032000" y="108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44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51" name="直線單箭頭接點 50"/>
          <p:cNvCxnSpPr/>
          <p:nvPr/>
        </p:nvCxnSpPr>
        <p:spPr bwMode="auto">
          <a:xfrm>
            <a:off x="2052000" y="2349000"/>
            <a:ext cx="216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52" name="矩形 51"/>
          <p:cNvSpPr/>
          <p:nvPr/>
        </p:nvSpPr>
        <p:spPr bwMode="auto">
          <a:xfrm>
            <a:off x="2232000" y="23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0</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29" name="弧形接點 28"/>
          <p:cNvCxnSpPr/>
          <p:nvPr/>
        </p:nvCxnSpPr>
        <p:spPr bwMode="auto">
          <a:xfrm rot="16200000" flipV="1">
            <a:off x="2772000" y="1629000"/>
            <a:ext cx="720000" cy="720000"/>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sp>
        <p:nvSpPr>
          <p:cNvPr id="33" name="矩形 32"/>
          <p:cNvSpPr/>
          <p:nvPr/>
        </p:nvSpPr>
        <p:spPr bwMode="auto">
          <a:xfrm>
            <a:off x="3312000" y="1809000"/>
            <a:ext cx="54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l-GR" altLang="zh-TW"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1" lang="en-US" altLang="zh-TW"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rPr>
              <a:t>2</a:t>
            </a:r>
            <a:endParaRPr kumimoji="1" lang="zh-TW" altLang="en-US"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sp>
        <p:nvSpPr>
          <p:cNvPr id="36" name="矩形 35"/>
          <p:cNvSpPr/>
          <p:nvPr/>
        </p:nvSpPr>
        <p:spPr bwMode="auto">
          <a:xfrm>
            <a:off x="5292000" y="72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08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7" name="直線單箭頭接點 36"/>
          <p:cNvCxnSpPr/>
          <p:nvPr/>
        </p:nvCxnSpPr>
        <p:spPr bwMode="auto">
          <a:xfrm flipV="1">
            <a:off x="5472000" y="1269000"/>
            <a:ext cx="1440000" cy="108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39" name="直線單箭頭接點 38"/>
          <p:cNvCxnSpPr/>
          <p:nvPr/>
        </p:nvCxnSpPr>
        <p:spPr bwMode="auto">
          <a:xfrm flipV="1">
            <a:off x="5472000" y="909000"/>
            <a:ext cx="36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sp>
        <p:nvSpPr>
          <p:cNvPr id="40" name="矩形 39"/>
          <p:cNvSpPr/>
          <p:nvPr/>
        </p:nvSpPr>
        <p:spPr bwMode="auto">
          <a:xfrm>
            <a:off x="6912000" y="108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44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41" name="直線單箭頭接點 40"/>
          <p:cNvCxnSpPr/>
          <p:nvPr/>
        </p:nvCxnSpPr>
        <p:spPr bwMode="auto">
          <a:xfrm>
            <a:off x="4932000" y="2349000"/>
            <a:ext cx="216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42" name="矩形 41"/>
          <p:cNvSpPr/>
          <p:nvPr/>
        </p:nvSpPr>
        <p:spPr bwMode="auto">
          <a:xfrm>
            <a:off x="5112000" y="23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0</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46" name="弧形接點 45"/>
          <p:cNvCxnSpPr/>
          <p:nvPr/>
        </p:nvCxnSpPr>
        <p:spPr bwMode="auto">
          <a:xfrm rot="16200000" flipV="1">
            <a:off x="6102000" y="1899000"/>
            <a:ext cx="540000" cy="360000"/>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sp>
        <p:nvSpPr>
          <p:cNvPr id="47" name="矩形 46"/>
          <p:cNvSpPr/>
          <p:nvPr/>
        </p:nvSpPr>
        <p:spPr bwMode="auto">
          <a:xfrm>
            <a:off x="6372000" y="1809000"/>
            <a:ext cx="54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l-GR" altLang="zh-TW"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1" lang="en-US" altLang="zh-TW"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rPr>
              <a:t>1</a:t>
            </a:r>
            <a:endParaRPr kumimoji="1" lang="zh-TW" altLang="en-US"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48" name="直線接點 47"/>
          <p:cNvCxnSpPr/>
          <p:nvPr/>
        </p:nvCxnSpPr>
        <p:spPr bwMode="auto">
          <a:xfrm flipH="1">
            <a:off x="2952000" y="90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cxnSp>
        <p:nvCxnSpPr>
          <p:cNvPr id="49" name="直線接點 48"/>
          <p:cNvCxnSpPr/>
          <p:nvPr/>
        </p:nvCxnSpPr>
        <p:spPr bwMode="auto">
          <a:xfrm flipH="1">
            <a:off x="5832000" y="90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cxnSp>
        <p:nvCxnSpPr>
          <p:cNvPr id="54" name="直線接點 53"/>
          <p:cNvCxnSpPr/>
          <p:nvPr/>
        </p:nvCxnSpPr>
        <p:spPr bwMode="auto">
          <a:xfrm flipH="1">
            <a:off x="4032000" y="126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cxnSp>
        <p:nvCxnSpPr>
          <p:cNvPr id="55" name="直線接點 54"/>
          <p:cNvCxnSpPr/>
          <p:nvPr/>
        </p:nvCxnSpPr>
        <p:spPr bwMode="auto">
          <a:xfrm flipH="1">
            <a:off x="6912000" y="126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spTree>
    <p:extLst>
      <p:ext uri="{BB962C8B-B14F-4D97-AF65-F5344CB8AC3E}">
        <p14:creationId xmlns:p14="http://schemas.microsoft.com/office/powerpoint/2010/main" val="2221253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內容版面配置區 4"/>
              <p:cNvSpPr>
                <a:spLocks noGrp="1"/>
              </p:cNvSpPr>
              <p:nvPr>
                <p:ph idx="1"/>
              </p:nvPr>
            </p:nvSpPr>
            <p:spPr/>
            <p:txBody>
              <a:bodyPr/>
              <a:lstStyle/>
              <a:p>
                <a:pPr lvl="0" eaLnBrk="1" hangingPunct="1">
                  <a:spcBef>
                    <a:spcPct val="0"/>
                  </a:spcBef>
                  <a:spcAft>
                    <a:spcPts val="600"/>
                  </a:spcAft>
                  <a:buClrTx/>
                  <a:defRPr/>
                </a:pPr>
                <a:r>
                  <a:rPr lang="en-US" altLang="zh-TW" dirty="0">
                    <a:solidFill>
                      <a:schemeClr val="bg1"/>
                    </a:solidFill>
                    <a:latin typeface="Cambria Math" panose="02040503050406030204" pitchFamily="18" charset="0"/>
                    <a:ea typeface="Cambria Math" panose="02040503050406030204" pitchFamily="18" charset="0"/>
                  </a:rPr>
                  <a:t>⇒</a:t>
                </a:r>
                <a:r>
                  <a:rPr lang="en-US" altLang="zh-TW" dirty="0">
                    <a:solidFill>
                      <a:schemeClr val="bg1"/>
                    </a:solidFill>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&lt;</a:t>
                </a:r>
                <a:r>
                  <a:rPr lang="en-US" altLang="zh-TW" dirty="0">
                    <a:solidFill>
                      <a:srgbClr val="000000"/>
                    </a:solidFill>
                  </a:rPr>
                  <a:t> 0</a:t>
                </a:r>
              </a:p>
              <a:p>
                <a:pPr lvl="0" eaLnBrk="1" hangingPunct="1">
                  <a:spcBef>
                    <a:spcPct val="0"/>
                  </a:spcBef>
                  <a:spcAft>
                    <a:spcPts val="600"/>
                  </a:spcAft>
                  <a:buClrTx/>
                  <a:defRP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ea typeface="Cambria Math" panose="02040503050406030204" pitchFamily="18" charset="0"/>
                  </a:rPr>
                  <a:t> </a:t>
                </a:r>
                <a:r>
                  <a:rPr lang="en-US" altLang="zh-TW" dirty="0">
                    <a:solidFill>
                      <a:srgbClr val="000000"/>
                    </a:solidFill>
                  </a:rPr>
                  <a:t>(</a:t>
                </a:r>
                <a:r>
                  <a:rPr lang="en-US" altLang="zh-TW" i="1" dirty="0" err="1">
                    <a:solidFill>
                      <a:srgbClr val="000000"/>
                    </a:solidFill>
                  </a:rPr>
                  <a:t>x</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&lt;</a:t>
                </a:r>
                <a:r>
                  <a:rPr lang="en-US" altLang="zh-TW" dirty="0">
                    <a:solidFill>
                      <a:srgbClr val="000000"/>
                    </a:solidFill>
                  </a:rPr>
                  <a:t> 0</a:t>
                </a:r>
              </a:p>
              <a:p>
                <a:pPr lvl="0" eaLnBrk="1" hangingPunct="1">
                  <a:spcBef>
                    <a:spcPct val="0"/>
                  </a:spcBef>
                  <a:spcAft>
                    <a:spcPts val="600"/>
                  </a:spcAft>
                  <a:buClrTx/>
                  <a:defRP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&lt;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x</a:t>
                </a:r>
                <a:r>
                  <a:rPr lang="en-US" altLang="zh-TW" baseline="-25000" dirty="0" err="1">
                    <a:solidFill>
                      <a:srgbClr val="000000"/>
                    </a:solidFill>
                  </a:rPr>
                  <a:t>0</a:t>
                </a:r>
                <a:r>
                  <a:rPr lang="en-US" altLang="zh-TW" dirty="0">
                    <a:solidFill>
                      <a:srgbClr val="000000"/>
                    </a:solidFill>
                  </a:rPr>
                  <a:t>)</a:t>
                </a:r>
                <a:r>
                  <a:rPr lang="en-US" altLang="zh-TW" spc="300" dirty="0">
                    <a:solidFill>
                      <a:srgbClr val="000000"/>
                    </a:solidFill>
                  </a:rPr>
                  <a:t>(</a:t>
                </a:r>
                <a:r>
                  <a:rPr lang="en-US" altLang="zh-TW" i="1" dirty="0" err="1">
                    <a:solidFill>
                      <a:srgbClr val="000000"/>
                    </a:solidFill>
                  </a:rPr>
                  <a:t>y</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y</a:t>
                </a:r>
                <a:r>
                  <a:rPr lang="en-US" altLang="zh-TW" baseline="-25000" dirty="0" err="1">
                    <a:solidFill>
                      <a:srgbClr val="000000"/>
                    </a:solidFill>
                  </a:rPr>
                  <a:t>0</a:t>
                </a:r>
                <a:r>
                  <a:rPr lang="en-US" altLang="zh-TW" dirty="0">
                    <a:solidFill>
                      <a:srgbClr val="000000"/>
                    </a:solidFill>
                  </a:rPr>
                  <a:t>)</a:t>
                </a:r>
              </a:p>
              <a:p>
                <a:pPr lvl="0" eaLnBrk="1" hangingPunct="1">
                  <a:spcBef>
                    <a:spcPct val="0"/>
                  </a:spcBef>
                  <a:buClrTx/>
                  <a:defRP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b="0" i="1" smtClean="0">
                            <a:solidFill>
                              <a:srgbClr val="000000"/>
                            </a:solidFill>
                            <a:latin typeface="Cambria Math" panose="02040503050406030204" pitchFamily="18" charset="0"/>
                          </a:rPr>
                          <m:t> </m:t>
                        </m:r>
                        <m:r>
                          <m:rPr>
                            <m:nor/>
                          </m:rPr>
                          <a:rPr lang="en-US" altLang="zh-TW" i="1" dirty="0">
                            <a:solidFill>
                              <a:srgbClr val="000000"/>
                            </a:solidFill>
                          </a:rPr>
                          <m:t>y</m:t>
                        </m:r>
                        <m:r>
                          <m:rPr>
                            <m:nor/>
                          </m:rPr>
                          <a:rPr lang="en-US" altLang="zh-TW" baseline="-25000" dirty="0">
                            <a:solidFill>
                              <a:srgbClr val="000000"/>
                            </a:solidFill>
                          </a:rPr>
                          <m:t>2</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y</m:t>
                        </m:r>
                        <m:r>
                          <m:rPr>
                            <m:nor/>
                          </m:rPr>
                          <a:rPr lang="en-US" altLang="zh-TW" baseline="-25000" dirty="0">
                            <a:solidFill>
                              <a:srgbClr val="000000"/>
                            </a:solidFill>
                          </a:rPr>
                          <m:t>0</m:t>
                        </m:r>
                        <m:r>
                          <m:rPr>
                            <m:nor/>
                          </m:rPr>
                          <a:rPr lang="en-US" altLang="zh-TW" b="0" i="0" dirty="0" smtClean="0">
                            <a:solidFill>
                              <a:srgbClr val="000000"/>
                            </a:solidFill>
                          </a:rPr>
                          <m:t> </m:t>
                        </m:r>
                      </m:num>
                      <m:den>
                        <m:r>
                          <m:rPr>
                            <m:nor/>
                          </m:rPr>
                          <a:rPr lang="en-US" altLang="zh-TW" i="1" dirty="0">
                            <a:solidFill>
                              <a:srgbClr val="000000"/>
                            </a:solidFill>
                          </a:rPr>
                          <m:t>x</m:t>
                        </m:r>
                        <m:r>
                          <m:rPr>
                            <m:nor/>
                          </m:rPr>
                          <a:rPr lang="en-US" altLang="zh-TW" baseline="-25000" dirty="0">
                            <a:solidFill>
                              <a:srgbClr val="000000"/>
                            </a:solidFill>
                          </a:rPr>
                          <m:t>2</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x</m:t>
                        </m:r>
                        <m:r>
                          <m:rPr>
                            <m:nor/>
                          </m:rPr>
                          <a:rPr lang="en-US" altLang="zh-TW" baseline="-25000" dirty="0">
                            <a:solidFill>
                              <a:srgbClr val="000000"/>
                            </a:solidFill>
                          </a:rPr>
                          <m:t>0</m:t>
                        </m:r>
                      </m:den>
                    </m:f>
                  </m:oMath>
                </a14:m>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&lt;</a:t>
                </a:r>
                <a:r>
                  <a:rPr lang="en-US" altLang="zh-TW" dirty="0">
                    <a:solidFill>
                      <a:srgbClr val="000000"/>
                    </a:solidFill>
                  </a:rPr>
                  <a:t> </a:t>
                </a:r>
                <a14:m>
                  <m:oMath xmlns:m="http://schemas.openxmlformats.org/officeDocument/2006/math">
                    <m:f>
                      <m:fPr>
                        <m:ctrlPr>
                          <a:rPr lang="en-US" altLang="zh-TW" i="1">
                            <a:solidFill>
                              <a:srgbClr val="000000"/>
                            </a:solidFill>
                            <a:latin typeface="Cambria Math" panose="02040503050406030204" pitchFamily="18" charset="0"/>
                          </a:rPr>
                        </m:ctrlPr>
                      </m:fPr>
                      <m:num>
                        <m:r>
                          <m:rPr>
                            <m:nor/>
                          </m:rPr>
                          <a:rPr lang="en-US" altLang="zh-TW" b="0" i="1" smtClean="0">
                            <a:solidFill>
                              <a:srgbClr val="000000"/>
                            </a:solidFill>
                            <a:latin typeface="Cambria Math" panose="02040503050406030204" pitchFamily="18" charset="0"/>
                          </a:rPr>
                          <m:t> </m:t>
                        </m:r>
                        <m:r>
                          <m:rPr>
                            <m:nor/>
                          </m:rPr>
                          <a:rPr lang="en-US" altLang="zh-TW" i="1" dirty="0">
                            <a:solidFill>
                              <a:srgbClr val="000000"/>
                            </a:solidFill>
                          </a:rPr>
                          <m:t>y</m:t>
                        </m:r>
                        <m:r>
                          <m:rPr>
                            <m:nor/>
                          </m:rPr>
                          <a:rPr lang="en-US" altLang="zh-TW" baseline="-25000" dirty="0">
                            <a:solidFill>
                              <a:srgbClr val="000000"/>
                            </a:solidFill>
                          </a:rPr>
                          <m:t>1</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y</m:t>
                        </m:r>
                        <m:r>
                          <m:rPr>
                            <m:nor/>
                          </m:rPr>
                          <a:rPr lang="en-US" altLang="zh-TW" baseline="-25000" dirty="0">
                            <a:solidFill>
                              <a:srgbClr val="000000"/>
                            </a:solidFill>
                          </a:rPr>
                          <m:t>0</m:t>
                        </m:r>
                        <m:r>
                          <m:rPr>
                            <m:nor/>
                          </m:rPr>
                          <a:rPr lang="en-US" altLang="zh-TW" b="0" i="0" dirty="0" smtClean="0">
                            <a:solidFill>
                              <a:srgbClr val="000000"/>
                            </a:solidFill>
                          </a:rPr>
                          <m:t> </m:t>
                        </m:r>
                      </m:num>
                      <m:den>
                        <m:r>
                          <m:rPr>
                            <m:nor/>
                          </m:rPr>
                          <a:rPr lang="en-US" altLang="zh-TW" i="1" dirty="0">
                            <a:solidFill>
                              <a:srgbClr val="000000"/>
                            </a:solidFill>
                          </a:rPr>
                          <m:t>x</m:t>
                        </m:r>
                        <m:r>
                          <m:rPr>
                            <m:nor/>
                          </m:rPr>
                          <a:rPr lang="en-US" altLang="zh-TW" baseline="-25000" dirty="0">
                            <a:solidFill>
                              <a:srgbClr val="000000"/>
                            </a:solidFill>
                          </a:rPr>
                          <m:t>1</m:t>
                        </m:r>
                        <m:r>
                          <m:rPr>
                            <m:nor/>
                          </m:rPr>
                          <a:rPr lang="en-US" altLang="zh-TW" dirty="0">
                            <a:solidFill>
                              <a:srgbClr val="000000"/>
                            </a:solidFill>
                          </a:rPr>
                          <m:t> </m:t>
                        </m:r>
                        <m:r>
                          <m:rPr>
                            <m:nor/>
                          </m:rPr>
                          <a:rPr lang="en-US" altLang="zh-TW" sz="2000" dirty="0">
                            <a:solidFill>
                              <a:srgbClr val="000000"/>
                            </a:solidFill>
                            <a:latin typeface="Cambria Math" panose="02040503050406030204" pitchFamily="18" charset="0"/>
                            <a:ea typeface="Cambria Math" panose="02040503050406030204" pitchFamily="18" charset="0"/>
                          </a:rPr>
                          <m:t>−</m:t>
                        </m:r>
                        <m:r>
                          <m:rPr>
                            <m:nor/>
                          </m:rPr>
                          <a:rPr lang="en-US" altLang="zh-TW" dirty="0">
                            <a:solidFill>
                              <a:srgbClr val="000000"/>
                            </a:solidFill>
                          </a:rPr>
                          <m:t> </m:t>
                        </m:r>
                        <m:r>
                          <m:rPr>
                            <m:nor/>
                          </m:rPr>
                          <a:rPr lang="en-US" altLang="zh-TW" i="1" dirty="0">
                            <a:solidFill>
                              <a:srgbClr val="000000"/>
                            </a:solidFill>
                          </a:rPr>
                          <m:t>x</m:t>
                        </m:r>
                        <m:r>
                          <m:rPr>
                            <m:nor/>
                          </m:rPr>
                          <a:rPr lang="en-US" altLang="zh-TW" baseline="-25000" dirty="0">
                            <a:solidFill>
                              <a:srgbClr val="000000"/>
                            </a:solidFill>
                          </a:rPr>
                          <m:t>0</m:t>
                        </m:r>
                      </m:den>
                    </m:f>
                  </m:oMath>
                </a14:m>
                <a:endParaRPr lang="en-US" altLang="zh-TW" dirty="0">
                  <a:solidFill>
                    <a:srgbClr val="000000"/>
                  </a:solidFill>
                </a:endParaRPr>
              </a:p>
              <a:p>
                <a:pPr lvl="0">
                  <a:spcBef>
                    <a:spcPts val="60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tan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&lt;</a:t>
                </a:r>
                <a:r>
                  <a:rPr lang="en-US" altLang="zh-TW" dirty="0">
                    <a:solidFill>
                      <a:srgbClr val="000000"/>
                    </a:solidFill>
                  </a:rPr>
                  <a:t> tan</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1</a:t>
                </a:r>
                <a:endParaRPr lang="en-US" altLang="zh-TW" dirty="0">
                  <a:solidFill>
                    <a:srgbClr val="000000"/>
                  </a:solidFill>
                </a:endParaRPr>
              </a:p>
              <a:p>
                <a:pPr lvl="0">
                  <a:spcBef>
                    <a:spcPts val="30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&lt;</a:t>
                </a:r>
                <a:r>
                  <a:rPr lang="en-US" altLang="zh-TW" dirty="0">
                    <a:solidFill>
                      <a:srgbClr val="000000"/>
                    </a:solidFill>
                  </a:rPr>
                  <a:t> </a:t>
                </a:r>
                <a:r>
                  <a:rPr lang="el-GR" altLang="zh-TW" sz="2000" i="1" kern="1200" dirty="0">
                    <a:solidFill>
                      <a:srgbClr val="000000"/>
                    </a:solidFill>
                    <a:latin typeface="Cambria Math" panose="02040503050406030204" pitchFamily="18" charset="0"/>
                    <a:ea typeface="Cambria Math" panose="02040503050406030204" pitchFamily="18" charset="0"/>
                  </a:rPr>
                  <a:t>θ</a:t>
                </a:r>
                <a:r>
                  <a:rPr lang="en-US" altLang="zh-TW" sz="2000" kern="1200" baseline="-25000" dirty="0">
                    <a:solidFill>
                      <a:srgbClr val="000000"/>
                    </a:solidFill>
                    <a:ea typeface="新細明體" pitchFamily="18" charset="-120"/>
                  </a:rPr>
                  <a:t>1</a:t>
                </a:r>
                <a:endParaRPr lang="en-US" altLang="zh-TW" dirty="0">
                  <a:solidFill>
                    <a:srgbClr val="000000"/>
                  </a:solidFill>
                </a:endParaRPr>
              </a:p>
              <a:p>
                <a:pPr marL="444500" lvl="0" indent="-444500">
                  <a:spcBef>
                    <a:spcPts val="30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it goes clockwise from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solidFill>
                      <a:srgbClr val="000000"/>
                    </a:solidFill>
                  </a:rPr>
                  <a:t> to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endParaRPr lang="en-US" altLang="zh-TW" dirty="0"/>
              </a:p>
            </p:txBody>
          </p:sp>
        </mc:Choice>
        <mc:Fallback xmlns="">
          <p:sp>
            <p:nvSpPr>
              <p:cNvPr id="5" name="內容版面配置區 4"/>
              <p:cNvSpPr>
                <a:spLocks noGrp="1" noRot="1" noChangeAspect="1" noMove="1" noResize="1" noEditPoints="1" noAdjustHandles="1" noChangeArrowheads="1" noChangeShapeType="1" noTextEdit="1"/>
              </p:cNvSpPr>
              <p:nvPr>
                <p:ph idx="1"/>
              </p:nvPr>
            </p:nvSpPr>
            <p:spPr>
              <a:blipFill>
                <a:blip r:embed="rId2"/>
                <a:stretch>
                  <a:fillRect l="-1467" t="-1594" b="-797"/>
                </a:stretch>
              </a:blipFill>
            </p:spPr>
            <p:txBody>
              <a:bodyPr/>
              <a:lstStyle/>
              <a:p>
                <a:r>
                  <a:rPr lang="zh-TW" altLang="en-US">
                    <a:noFill/>
                  </a:rPr>
                  <a:t> </a:t>
                </a:r>
              </a:p>
            </p:txBody>
          </p:sp>
        </mc:Fallback>
      </mc:AlternateContent>
      <p:sp>
        <p:nvSpPr>
          <p:cNvPr id="23" name="矩形 22"/>
          <p:cNvSpPr/>
          <p:nvPr/>
        </p:nvSpPr>
        <p:spPr bwMode="auto">
          <a:xfrm>
            <a:off x="2412000" y="72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08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24" name="直線單箭頭接點 23"/>
          <p:cNvCxnSpPr/>
          <p:nvPr/>
        </p:nvCxnSpPr>
        <p:spPr bwMode="auto">
          <a:xfrm flipV="1">
            <a:off x="2592000" y="1269000"/>
            <a:ext cx="1440000" cy="108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25" name="直線單箭頭接點 24"/>
          <p:cNvCxnSpPr/>
          <p:nvPr/>
        </p:nvCxnSpPr>
        <p:spPr bwMode="auto">
          <a:xfrm flipV="1">
            <a:off x="2592000" y="909000"/>
            <a:ext cx="36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sp>
        <p:nvSpPr>
          <p:cNvPr id="26" name="矩形 25"/>
          <p:cNvSpPr/>
          <p:nvPr/>
        </p:nvSpPr>
        <p:spPr bwMode="auto">
          <a:xfrm>
            <a:off x="4032000" y="108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44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27" name="直線單箭頭接點 26"/>
          <p:cNvCxnSpPr/>
          <p:nvPr/>
        </p:nvCxnSpPr>
        <p:spPr bwMode="auto">
          <a:xfrm>
            <a:off x="2052000" y="2349000"/>
            <a:ext cx="216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28" name="矩形 27"/>
          <p:cNvSpPr/>
          <p:nvPr/>
        </p:nvSpPr>
        <p:spPr bwMode="auto">
          <a:xfrm>
            <a:off x="2232000" y="23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0</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0" name="弧形接點 29"/>
          <p:cNvCxnSpPr/>
          <p:nvPr/>
        </p:nvCxnSpPr>
        <p:spPr bwMode="auto">
          <a:xfrm rot="16200000" flipV="1">
            <a:off x="2772000" y="1629000"/>
            <a:ext cx="720000" cy="720000"/>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sp>
        <p:nvSpPr>
          <p:cNvPr id="34" name="矩形 33"/>
          <p:cNvSpPr/>
          <p:nvPr/>
        </p:nvSpPr>
        <p:spPr bwMode="auto">
          <a:xfrm>
            <a:off x="3312000" y="1809000"/>
            <a:ext cx="54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l-GR" altLang="zh-TW"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1" lang="en-US" altLang="zh-TW"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rPr>
              <a:t>2</a:t>
            </a:r>
            <a:endParaRPr kumimoji="1" lang="zh-TW" altLang="en-US"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sp>
        <p:nvSpPr>
          <p:cNvPr id="35" name="矩形 34"/>
          <p:cNvSpPr/>
          <p:nvPr/>
        </p:nvSpPr>
        <p:spPr bwMode="auto">
          <a:xfrm>
            <a:off x="5292000" y="72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08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8" name="直線單箭頭接點 37"/>
          <p:cNvCxnSpPr/>
          <p:nvPr/>
        </p:nvCxnSpPr>
        <p:spPr bwMode="auto">
          <a:xfrm flipV="1">
            <a:off x="5472000" y="1269000"/>
            <a:ext cx="1440000" cy="108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43" name="直線單箭頭接點 42"/>
          <p:cNvCxnSpPr/>
          <p:nvPr/>
        </p:nvCxnSpPr>
        <p:spPr bwMode="auto">
          <a:xfrm flipV="1">
            <a:off x="5472000" y="909000"/>
            <a:ext cx="36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sp>
        <p:nvSpPr>
          <p:cNvPr id="44" name="矩形 43"/>
          <p:cNvSpPr/>
          <p:nvPr/>
        </p:nvSpPr>
        <p:spPr bwMode="auto">
          <a:xfrm>
            <a:off x="6912000" y="108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44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45" name="直線單箭頭接點 44"/>
          <p:cNvCxnSpPr/>
          <p:nvPr/>
        </p:nvCxnSpPr>
        <p:spPr bwMode="auto">
          <a:xfrm>
            <a:off x="4932000" y="2349000"/>
            <a:ext cx="216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50" name="矩形 49"/>
          <p:cNvSpPr/>
          <p:nvPr/>
        </p:nvSpPr>
        <p:spPr bwMode="auto">
          <a:xfrm>
            <a:off x="5112000" y="23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0</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53" name="弧形接點 52"/>
          <p:cNvCxnSpPr/>
          <p:nvPr/>
        </p:nvCxnSpPr>
        <p:spPr bwMode="auto">
          <a:xfrm rot="16200000" flipV="1">
            <a:off x="6102000" y="1899000"/>
            <a:ext cx="540000" cy="360000"/>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sp>
        <p:nvSpPr>
          <p:cNvPr id="56" name="矩形 55"/>
          <p:cNvSpPr/>
          <p:nvPr/>
        </p:nvSpPr>
        <p:spPr bwMode="auto">
          <a:xfrm>
            <a:off x="6372000" y="1809000"/>
            <a:ext cx="540000"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l-GR" altLang="zh-TW" sz="20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θ</a:t>
            </a:r>
            <a:r>
              <a:rPr kumimoji="1" lang="en-US" altLang="zh-TW"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rPr>
              <a:t>1</a:t>
            </a:r>
            <a:endParaRPr kumimoji="1" lang="zh-TW" altLang="en-US" sz="20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57" name="直線接點 56"/>
          <p:cNvCxnSpPr/>
          <p:nvPr/>
        </p:nvCxnSpPr>
        <p:spPr bwMode="auto">
          <a:xfrm flipH="1">
            <a:off x="2952000" y="90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cxnSp>
        <p:nvCxnSpPr>
          <p:cNvPr id="58" name="直線接點 57"/>
          <p:cNvCxnSpPr/>
          <p:nvPr/>
        </p:nvCxnSpPr>
        <p:spPr bwMode="auto">
          <a:xfrm flipH="1">
            <a:off x="5832000" y="90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cxnSp>
        <p:nvCxnSpPr>
          <p:cNvPr id="59" name="直線接點 58"/>
          <p:cNvCxnSpPr/>
          <p:nvPr/>
        </p:nvCxnSpPr>
        <p:spPr bwMode="auto">
          <a:xfrm flipH="1">
            <a:off x="4032000" y="126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cxnSp>
        <p:nvCxnSpPr>
          <p:cNvPr id="60" name="直線接點 59"/>
          <p:cNvCxnSpPr/>
          <p:nvPr/>
        </p:nvCxnSpPr>
        <p:spPr bwMode="auto">
          <a:xfrm flipH="1">
            <a:off x="6912000" y="1269000"/>
            <a:ext cx="0" cy="0"/>
          </a:xfrm>
          <a:prstGeom prst="line">
            <a:avLst/>
          </a:prstGeom>
          <a:solidFill>
            <a:schemeClr val="accent1"/>
          </a:solidFill>
          <a:ln w="9525" cap="flat" cmpd="sng" algn="ctr">
            <a:solidFill>
              <a:schemeClr val="tx1"/>
            </a:solidFill>
            <a:prstDash val="solid"/>
            <a:miter lim="800000"/>
            <a:headEnd type="oval" w="med" len="med"/>
            <a:tailEnd type="oval" w="med" len="med"/>
          </a:ln>
          <a:effectLst/>
        </p:spPr>
      </p:cxnSp>
    </p:spTree>
    <p:extLst>
      <p:ext uri="{BB962C8B-B14F-4D97-AF65-F5344CB8AC3E}">
        <p14:creationId xmlns:p14="http://schemas.microsoft.com/office/powerpoint/2010/main" val="1885977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bwMode="auto">
          <a:xfrm>
            <a:off x="2412000" y="72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08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24" name="直線單箭頭接點 23"/>
          <p:cNvCxnSpPr/>
          <p:nvPr/>
        </p:nvCxnSpPr>
        <p:spPr bwMode="auto">
          <a:xfrm flipV="1">
            <a:off x="2592000" y="1269000"/>
            <a:ext cx="1260000" cy="108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25" name="直線單箭頭接點 24"/>
          <p:cNvCxnSpPr/>
          <p:nvPr/>
        </p:nvCxnSpPr>
        <p:spPr bwMode="auto">
          <a:xfrm flipV="1">
            <a:off x="2592000" y="909000"/>
            <a:ext cx="36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sp>
        <p:nvSpPr>
          <p:cNvPr id="26" name="矩形 25"/>
          <p:cNvSpPr/>
          <p:nvPr/>
        </p:nvSpPr>
        <p:spPr bwMode="auto">
          <a:xfrm>
            <a:off x="3852000" y="108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44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27" name="直線單箭頭接點 26"/>
          <p:cNvCxnSpPr/>
          <p:nvPr/>
        </p:nvCxnSpPr>
        <p:spPr bwMode="auto">
          <a:xfrm>
            <a:off x="2052000" y="2349000"/>
            <a:ext cx="216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28" name="矩形 27"/>
          <p:cNvSpPr/>
          <p:nvPr/>
        </p:nvSpPr>
        <p:spPr bwMode="auto">
          <a:xfrm>
            <a:off x="2232000" y="23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0</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0" name="弧形接點 29"/>
          <p:cNvCxnSpPr/>
          <p:nvPr/>
        </p:nvCxnSpPr>
        <p:spPr bwMode="auto">
          <a:xfrm rot="16200000" flipV="1">
            <a:off x="2862001" y="1539000"/>
            <a:ext cx="232721" cy="412721"/>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mc:AlternateContent xmlns:mc="http://schemas.openxmlformats.org/markup-compatibility/2006" xmlns:a14="http://schemas.microsoft.com/office/drawing/2010/main">
        <mc:Choice Requires="a14">
          <p:sp>
            <p:nvSpPr>
              <p:cNvPr id="2" name="內容版面配置區 1"/>
              <p:cNvSpPr>
                <a:spLocks noGrp="1"/>
              </p:cNvSpPr>
              <p:nvPr>
                <p:ph idx="1"/>
              </p:nvPr>
            </p:nvSpPr>
            <p:spPr/>
            <p:txBody>
              <a:bodyPr/>
              <a:lstStyle/>
              <a:p>
                <a:pPr marL="444500" lvl="0" indent="-444500">
                  <a:spcBef>
                    <a:spcPts val="0"/>
                  </a:spcBef>
                  <a:buClr>
                    <a:srgbClr val="000000"/>
                  </a:buClr>
                </a:pPr>
                <a:r>
                  <a:rPr lang="en-US" altLang="zh-TW" dirty="0">
                    <a:solidFill>
                      <a:srgbClr val="FFFFFF"/>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is positive</a:t>
                </a:r>
              </a:p>
              <a:p>
                <a:pPr marL="444500" lvl="0" indent="-444500">
                  <a:spcBef>
                    <a:spcPts val="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the angle of</a:t>
                </a:r>
                <a:r>
                  <a:rPr lang="en-US" altLang="zh-TW" spc="300" dirty="0">
                    <a:solidFill>
                      <a:srgbClr val="000000"/>
                    </a:solidFill>
                  </a:rPr>
                  <a:t>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&lt;</a:t>
                </a:r>
                <a:r>
                  <a:rPr lang="en-US" altLang="zh-TW" dirty="0">
                    <a:solidFill>
                      <a:srgbClr val="000000"/>
                    </a:solidFill>
                  </a:rPr>
                  <a:t> the angle of</a:t>
                </a:r>
                <a:r>
                  <a:rPr lang="en-US" altLang="zh-TW" spc="300" dirty="0">
                    <a:solidFill>
                      <a:srgbClr val="000000"/>
                    </a:solidFill>
                  </a:rPr>
                  <a:t>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endParaRPr lang="en-US" altLang="zh-TW" dirty="0">
                  <a:solidFill>
                    <a:srgbClr val="000000"/>
                  </a:solidFill>
                </a:endParaRPr>
              </a:p>
              <a:p>
                <a:pPr marL="444500" lvl="0" indent="-444500">
                  <a:spcBef>
                    <a:spcPts val="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it goes counterclockwise from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solidFill>
                      <a:srgbClr val="000000"/>
                    </a:solidFill>
                  </a:rPr>
                  <a:t> to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endParaRPr lang="en-US" altLang="zh-TW" dirty="0">
                  <a:solidFill>
                    <a:srgbClr val="000000"/>
                  </a:solidFill>
                </a:endParaRPr>
              </a:p>
              <a:p>
                <a:pPr marL="444500" lvl="0" indent="-444500">
                  <a:spcBef>
                    <a:spcPts val="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we make a left turn at </a:t>
                </a:r>
                <a:r>
                  <a:rPr lang="en-US" altLang="zh-TW" i="1" dirty="0" err="1">
                    <a:solidFill>
                      <a:srgbClr val="000000"/>
                    </a:solidFill>
                  </a:rPr>
                  <a:t>p</a:t>
                </a:r>
                <a:r>
                  <a:rPr lang="en-US" altLang="zh-TW" baseline="-25000" dirty="0" err="1">
                    <a:solidFill>
                      <a:srgbClr val="000000"/>
                    </a:solidFill>
                  </a:rPr>
                  <a:t>1</a:t>
                </a:r>
                <a:endParaRPr lang="en-US" altLang="zh-TW" baseline="-25000" dirty="0">
                  <a:solidFill>
                    <a:srgbClr val="000000"/>
                  </a:solidFill>
                </a:endParaRPr>
              </a:p>
              <a:p>
                <a:pPr marL="444500" lvl="0" indent="-444500">
                  <a:spcBef>
                    <a:spcPts val="0"/>
                  </a:spcBef>
                  <a:buClr>
                    <a:srgbClr val="000000"/>
                  </a:buClr>
                </a:pPr>
                <a:endParaRPr lang="en-US" altLang="zh-TW" dirty="0">
                  <a:solidFill>
                    <a:srgbClr val="000000"/>
                  </a:solidFill>
                </a:endParaRPr>
              </a:p>
              <a:p>
                <a:pPr marL="444500" lvl="0" indent="-444500">
                  <a:spcBef>
                    <a:spcPts val="0"/>
                  </a:spcBef>
                  <a:buClr>
                    <a:srgbClr val="000000"/>
                  </a:buClr>
                </a:pPr>
                <a:r>
                  <a:rPr lang="en-US" altLang="zh-TW" dirty="0">
                    <a:solidFill>
                      <a:srgbClr val="FFFFFF"/>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latin typeface="Cambria Math" panose="02040503050406030204" pitchFamily="18" charset="0"/>
                    <a:ea typeface="Cambria Math" panose="02040503050406030204" pitchFamily="18" charset="0"/>
                  </a:rPr>
                  <a:t> </a:t>
                </a:r>
                <a:r>
                  <a:rPr lang="en-US" altLang="zh-TW" spc="300" dirty="0">
                    <a:solidFill>
                      <a:srgbClr val="000000"/>
                    </a:solidFill>
                  </a:rPr>
                  <a:t>(</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0</a:t>
                </a:r>
                <a:r>
                  <a:rPr lang="en-US" altLang="zh-TW" dirty="0">
                    <a:solidFill>
                      <a:srgbClr val="000000"/>
                    </a:solidFill>
                  </a:rPr>
                  <a:t>) is negative</a:t>
                </a:r>
              </a:p>
              <a:p>
                <a:pPr marL="444500" lvl="0" indent="-444500">
                  <a:spcBef>
                    <a:spcPts val="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the angle of</a:t>
                </a:r>
                <a:r>
                  <a:rPr lang="en-US" altLang="zh-TW" spc="300" dirty="0">
                    <a:solidFill>
                      <a:srgbClr val="000000"/>
                    </a:solidFill>
                  </a:rPr>
                  <a:t>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solidFill>
                      <a:srgbClr val="000000"/>
                    </a:solidFill>
                  </a:rPr>
                  <a:t> </a:t>
                </a:r>
                <a:r>
                  <a:rPr lang="en-US" altLang="zh-TW" sz="2000" dirty="0">
                    <a:solidFill>
                      <a:srgbClr val="000000"/>
                    </a:solidFill>
                    <a:latin typeface="Cambria Math" panose="02040503050406030204" pitchFamily="18" charset="0"/>
                    <a:ea typeface="Cambria Math" panose="02040503050406030204" pitchFamily="18" charset="0"/>
                  </a:rPr>
                  <a:t>&gt;</a:t>
                </a:r>
                <a:r>
                  <a:rPr lang="en-US" altLang="zh-TW" dirty="0">
                    <a:solidFill>
                      <a:srgbClr val="000000"/>
                    </a:solidFill>
                  </a:rPr>
                  <a:t> the angle of</a:t>
                </a:r>
                <a:r>
                  <a:rPr lang="en-US" altLang="zh-TW" spc="300" dirty="0">
                    <a:solidFill>
                      <a:srgbClr val="000000"/>
                    </a:solidFill>
                  </a:rPr>
                  <a:t>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endParaRPr lang="en-US" altLang="zh-TW" dirty="0">
                  <a:solidFill>
                    <a:srgbClr val="000000"/>
                  </a:solidFill>
                </a:endParaRPr>
              </a:p>
              <a:p>
                <a:pPr marL="444500" lvl="0" indent="-444500">
                  <a:spcBef>
                    <a:spcPts val="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it goes clockwise from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1</m:t>
                        </m:r>
                      </m:e>
                    </m:acc>
                  </m:oMath>
                </a14:m>
                <a:r>
                  <a:rPr lang="en-US" altLang="zh-TW" dirty="0">
                    <a:solidFill>
                      <a:srgbClr val="000000"/>
                    </a:solidFill>
                  </a:rPr>
                  <a:t> to </a:t>
                </a:r>
                <a14:m>
                  <m:oMath xmlns:m="http://schemas.openxmlformats.org/officeDocument/2006/math">
                    <m:acc>
                      <m:accPr>
                        <m:chr m:val="⃗"/>
                        <m:ctrlPr>
                          <a:rPr lang="en-US" altLang="zh-TW" i="1">
                            <a:solidFill>
                              <a:srgbClr val="000000"/>
                            </a:solidFill>
                            <a:latin typeface="Cambria Math" panose="02040503050406030204" pitchFamily="18" charset="0"/>
                          </a:rPr>
                        </m:ctrlPr>
                      </m:accPr>
                      <m:e>
                        <m:r>
                          <m:rPr>
                            <m:nor/>
                          </m:rPr>
                          <a:rPr lang="en-US" altLang="zh-TW" i="1">
                            <a:solidFill>
                              <a:srgbClr val="000000"/>
                            </a:solidFill>
                          </a:rPr>
                          <m:t>p</m:t>
                        </m:r>
                        <m:r>
                          <m:rPr>
                            <m:nor/>
                          </m:rPr>
                          <a:rPr lang="en-US" altLang="zh-TW" spc="300" baseline="-25000">
                            <a:solidFill>
                              <a:srgbClr val="000000"/>
                            </a:solidFill>
                          </a:rPr>
                          <m:t>0</m:t>
                        </m:r>
                        <m:r>
                          <m:rPr>
                            <m:nor/>
                          </m:rPr>
                          <a:rPr lang="en-US" altLang="zh-TW" i="1">
                            <a:solidFill>
                              <a:srgbClr val="000000"/>
                            </a:solidFill>
                          </a:rPr>
                          <m:t>p</m:t>
                        </m:r>
                        <m:r>
                          <m:rPr>
                            <m:nor/>
                          </m:rPr>
                          <a:rPr lang="en-US" altLang="zh-TW" baseline="-25000">
                            <a:solidFill>
                              <a:srgbClr val="000000"/>
                            </a:solidFill>
                          </a:rPr>
                          <m:t>2</m:t>
                        </m:r>
                      </m:e>
                    </m:acc>
                  </m:oMath>
                </a14:m>
                <a:endParaRPr lang="en-US" altLang="zh-TW" dirty="0">
                  <a:solidFill>
                    <a:srgbClr val="000000"/>
                  </a:solidFill>
                </a:endParaRPr>
              </a:p>
              <a:p>
                <a:pPr marL="444500" lvl="0" indent="-444500">
                  <a:spcBef>
                    <a:spcPts val="0"/>
                  </a:spcBef>
                  <a:buClr>
                    <a:srgbClr val="000000"/>
                  </a:buClr>
                </a:pP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we make a right turn at </a:t>
                </a:r>
                <a:r>
                  <a:rPr lang="en-US" altLang="zh-TW" i="1" dirty="0" err="1" smtClean="0">
                    <a:solidFill>
                      <a:srgbClr val="000000"/>
                    </a:solidFill>
                  </a:rPr>
                  <a:t>p</a:t>
                </a:r>
                <a:r>
                  <a:rPr lang="en-US" altLang="zh-TW" baseline="-25000" dirty="0" err="1" smtClean="0">
                    <a:solidFill>
                      <a:srgbClr val="000000"/>
                    </a:solidFill>
                  </a:rPr>
                  <a:t>1</a:t>
                </a:r>
                <a:endParaRPr lang="zh-TW" altLang="en-US" dirty="0">
                  <a:solidFill>
                    <a:srgbClr val="000000"/>
                  </a:solidFill>
                </a:endParaRPr>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blipFill>
                <a:blip r:embed="rId2"/>
                <a:stretch>
                  <a:fillRect l="-1467" t="-1594" b="-5578"/>
                </a:stretch>
              </a:blipFill>
            </p:spPr>
            <p:txBody>
              <a:bodyPr/>
              <a:lstStyle/>
              <a:p>
                <a:r>
                  <a:rPr lang="zh-TW" altLang="en-US">
                    <a:noFill/>
                  </a:rPr>
                  <a:t> </a:t>
                </a:r>
              </a:p>
            </p:txBody>
          </p:sp>
        </mc:Fallback>
      </mc:AlternateContent>
      <p:sp>
        <p:nvSpPr>
          <p:cNvPr id="37" name="矩形 36"/>
          <p:cNvSpPr/>
          <p:nvPr/>
        </p:nvSpPr>
        <p:spPr bwMode="auto">
          <a:xfrm>
            <a:off x="5292000" y="72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08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smtClean="0">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smtClean="0">
                <a:ln>
                  <a:noFill/>
                </a:ln>
                <a:solidFill>
                  <a:srgbClr val="000000"/>
                </a:solidFill>
                <a:effectLst/>
                <a:uLnTx/>
                <a:uFillTx/>
                <a:latin typeface="Times New Roman"/>
                <a:ea typeface="新細明體" pitchFamily="18" charset="-120"/>
                <a:cs typeface="+mn-cs"/>
              </a:rPr>
              <a:t>1</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39" name="直線單箭頭接點 38"/>
          <p:cNvCxnSpPr/>
          <p:nvPr/>
        </p:nvCxnSpPr>
        <p:spPr bwMode="auto">
          <a:xfrm flipV="1">
            <a:off x="5472000" y="1269000"/>
            <a:ext cx="1260000" cy="108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cxnSp>
        <p:nvCxnSpPr>
          <p:cNvPr id="40" name="直線單箭頭接點 39"/>
          <p:cNvCxnSpPr/>
          <p:nvPr/>
        </p:nvCxnSpPr>
        <p:spPr bwMode="auto">
          <a:xfrm flipV="1">
            <a:off x="5472000" y="909000"/>
            <a:ext cx="360000" cy="1440000"/>
          </a:xfrm>
          <a:prstGeom prst="straightConnector1">
            <a:avLst/>
          </a:prstGeom>
          <a:solidFill>
            <a:schemeClr val="accent1"/>
          </a:solidFill>
          <a:ln w="19050" cap="flat" cmpd="sng" algn="ctr">
            <a:solidFill>
              <a:schemeClr val="tx1"/>
            </a:solidFill>
            <a:prstDash val="solid"/>
            <a:miter lim="800000"/>
            <a:headEnd type="oval" w="med" len="med"/>
            <a:tailEnd type="arrow" w="lg" len="lg"/>
          </a:ln>
          <a:effectLst/>
        </p:spPr>
      </p:cxnSp>
      <p:sp>
        <p:nvSpPr>
          <p:cNvPr id="41" name="矩形 40"/>
          <p:cNvSpPr/>
          <p:nvPr/>
        </p:nvSpPr>
        <p:spPr bwMode="auto">
          <a:xfrm>
            <a:off x="6732000" y="1089000"/>
            <a:ext cx="540069"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14400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smtClean="0">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smtClean="0">
                <a:ln>
                  <a:noFill/>
                </a:ln>
                <a:solidFill>
                  <a:srgbClr val="000000"/>
                </a:solidFill>
                <a:effectLst/>
                <a:uLnTx/>
                <a:uFillTx/>
                <a:latin typeface="Times New Roman"/>
                <a:ea typeface="新細明體" pitchFamily="18" charset="-120"/>
                <a:cs typeface="+mn-cs"/>
              </a:rPr>
              <a:t>2</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42" name="直線單箭頭接點 41"/>
          <p:cNvCxnSpPr/>
          <p:nvPr/>
        </p:nvCxnSpPr>
        <p:spPr bwMode="auto">
          <a:xfrm>
            <a:off x="4932000" y="2349000"/>
            <a:ext cx="2160000" cy="0"/>
          </a:xfrm>
          <a:prstGeom prst="straightConnector1">
            <a:avLst/>
          </a:prstGeom>
          <a:solidFill>
            <a:schemeClr val="accent1"/>
          </a:solidFill>
          <a:ln w="19050" cap="flat" cmpd="sng" algn="ctr">
            <a:solidFill>
              <a:schemeClr val="tx1"/>
            </a:solidFill>
            <a:prstDash val="solid"/>
            <a:miter lim="800000"/>
            <a:headEnd type="none" w="med" len="med"/>
            <a:tailEnd type="arrow" w="lg" len="lg"/>
          </a:ln>
          <a:effectLst/>
        </p:spPr>
      </p:cxnSp>
      <p:sp>
        <p:nvSpPr>
          <p:cNvPr id="46" name="矩形 45"/>
          <p:cNvSpPr/>
          <p:nvPr/>
        </p:nvSpPr>
        <p:spPr bwMode="auto">
          <a:xfrm>
            <a:off x="5112000" y="2349000"/>
            <a:ext cx="72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2200" b="0" i="1" u="none" strike="noStrike" kern="1200" cap="none" spc="0" normalizeH="0" baseline="0" noProof="0" dirty="0" err="1">
                <a:ln>
                  <a:noFill/>
                </a:ln>
                <a:solidFill>
                  <a:srgbClr val="000000"/>
                </a:solidFill>
                <a:effectLst/>
                <a:uLnTx/>
                <a:uFillTx/>
                <a:latin typeface="Times New Roman"/>
                <a:ea typeface="新細明體" pitchFamily="18" charset="-120"/>
                <a:cs typeface="+mn-cs"/>
              </a:rPr>
              <a:t>p</a:t>
            </a:r>
            <a:r>
              <a:rPr kumimoji="1" lang="en-US" altLang="zh-TW" sz="2200" b="0" i="0" u="none" strike="noStrike" kern="1200" cap="none" spc="0" normalizeH="0" baseline="-25000" noProof="0" dirty="0" err="1">
                <a:ln>
                  <a:noFill/>
                </a:ln>
                <a:solidFill>
                  <a:srgbClr val="000000"/>
                </a:solidFill>
                <a:effectLst/>
                <a:uLnTx/>
                <a:uFillTx/>
                <a:latin typeface="Times New Roman"/>
                <a:ea typeface="新細明體" pitchFamily="18" charset="-120"/>
                <a:cs typeface="+mn-cs"/>
              </a:rPr>
              <a:t>0</a:t>
            </a:r>
            <a:endParaRPr kumimoji="1" lang="zh-TW" altLang="en-US" sz="2200" b="0" i="0" u="none" strike="noStrike" kern="1200" cap="none" spc="0" normalizeH="0" baseline="-25000" noProof="0" dirty="0">
              <a:ln>
                <a:noFill/>
              </a:ln>
              <a:solidFill>
                <a:srgbClr val="000000"/>
              </a:solidFill>
              <a:effectLst/>
              <a:uLnTx/>
              <a:uFillTx/>
              <a:latin typeface="Times New Roman"/>
              <a:ea typeface="新細明體" pitchFamily="18" charset="-120"/>
              <a:cs typeface="+mn-cs"/>
            </a:endParaRPr>
          </a:p>
        </p:txBody>
      </p:sp>
      <p:cxnSp>
        <p:nvCxnSpPr>
          <p:cNvPr id="47" name="弧形接點 46"/>
          <p:cNvCxnSpPr/>
          <p:nvPr/>
        </p:nvCxnSpPr>
        <p:spPr bwMode="auto">
          <a:xfrm>
            <a:off x="5652000" y="1629000"/>
            <a:ext cx="412721" cy="232721"/>
          </a:xfrm>
          <a:prstGeom prst="curvedConnector2">
            <a:avLst/>
          </a:prstGeom>
          <a:solidFill>
            <a:schemeClr val="accent1"/>
          </a:solidFill>
          <a:ln w="19050" cap="flat" cmpd="sng" algn="ctr">
            <a:solidFill>
              <a:schemeClr val="tx1"/>
            </a:solidFill>
            <a:prstDash val="solid"/>
            <a:miter lim="800000"/>
            <a:headEnd type="none" w="med" len="med"/>
            <a:tailEnd type="stealth" w="lg" len="lg"/>
          </a:ln>
          <a:effectLst/>
        </p:spPr>
      </p:cxnSp>
      <p:cxnSp>
        <p:nvCxnSpPr>
          <p:cNvPr id="55" name="直線接點 54"/>
          <p:cNvCxnSpPr/>
          <p:nvPr/>
        </p:nvCxnSpPr>
        <p:spPr bwMode="auto">
          <a:xfrm>
            <a:off x="2952000" y="909000"/>
            <a:ext cx="899931" cy="360000"/>
          </a:xfrm>
          <a:prstGeom prst="line">
            <a:avLst/>
          </a:prstGeom>
          <a:ln w="19050">
            <a:solidFill>
              <a:schemeClr val="tx1"/>
            </a:solidFill>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61" name="直線接點 60"/>
          <p:cNvCxnSpPr>
            <a:stCxn id="37" idx="3"/>
            <a:endCxn id="41" idx="1"/>
          </p:cNvCxnSpPr>
          <p:nvPr/>
        </p:nvCxnSpPr>
        <p:spPr bwMode="auto">
          <a:xfrm>
            <a:off x="5832069" y="909000"/>
            <a:ext cx="899931" cy="360000"/>
          </a:xfrm>
          <a:prstGeom prst="line">
            <a:avLst/>
          </a:prstGeom>
          <a:ln w="19050">
            <a:solidFill>
              <a:schemeClr val="tx1"/>
            </a:solidFill>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2" name="矩形 61"/>
          <p:cNvSpPr/>
          <p:nvPr/>
        </p:nvSpPr>
        <p:spPr bwMode="auto">
          <a:xfrm>
            <a:off x="611517" y="1448885"/>
            <a:ext cx="2160276"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0" cap="none" spc="0" normalizeH="0" baseline="0" noProof="0" dirty="0">
                <a:ln>
                  <a:noFill/>
                </a:ln>
                <a:solidFill>
                  <a:srgbClr val="000000"/>
                </a:solidFill>
                <a:effectLst/>
                <a:uLnTx/>
                <a:uFillTx/>
                <a:latin typeface="Times New Roman"/>
                <a:ea typeface="新細明體"/>
                <a:cs typeface="+mn-cs"/>
              </a:rPr>
              <a:t>counterclockwise</a:t>
            </a:r>
            <a:endParaRPr kumimoji="1" lang="zh-TW" altLang="en-US" sz="2000" b="0" i="0" u="none" strike="noStrike" kern="1200" cap="none" spc="0" normalizeH="0" baseline="0" noProof="0" dirty="0">
              <a:ln>
                <a:noFill/>
              </a:ln>
              <a:solidFill>
                <a:srgbClr val="000000"/>
              </a:solidFill>
              <a:effectLst/>
              <a:uLnTx/>
              <a:uFillTx/>
              <a:latin typeface="Times New Roman"/>
              <a:ea typeface="新細明體" pitchFamily="18" charset="-120"/>
              <a:cs typeface="+mn-cs"/>
            </a:endParaRPr>
          </a:p>
        </p:txBody>
      </p:sp>
      <p:sp>
        <p:nvSpPr>
          <p:cNvPr id="63" name="矩形 62"/>
          <p:cNvSpPr/>
          <p:nvPr/>
        </p:nvSpPr>
        <p:spPr bwMode="auto">
          <a:xfrm>
            <a:off x="6552000" y="1629000"/>
            <a:ext cx="1287784" cy="360046"/>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200" b="0" i="0" u="none" strike="noStrike" kern="0" cap="none" spc="0" normalizeH="0" baseline="0" noProof="0" dirty="0">
                <a:ln>
                  <a:noFill/>
                </a:ln>
                <a:solidFill>
                  <a:srgbClr val="000000"/>
                </a:solidFill>
                <a:effectLst/>
                <a:uLnTx/>
                <a:uFillTx/>
                <a:latin typeface="Times New Roman"/>
                <a:ea typeface="新細明體"/>
                <a:cs typeface="+mn-cs"/>
              </a:rPr>
              <a:t>clockwise</a:t>
            </a:r>
            <a:endParaRPr kumimoji="1" lang="zh-TW" altLang="en-US" sz="2000" b="0" i="0" u="none" strike="noStrike" kern="1200" cap="none" spc="0" normalizeH="0" baseline="0" noProof="0" dirty="0">
              <a:ln>
                <a:noFill/>
              </a:ln>
              <a:solidFill>
                <a:srgbClr val="000000"/>
              </a:solidFill>
              <a:effectLst/>
              <a:uLnTx/>
              <a:uFillTx/>
              <a:latin typeface="Times New Roman"/>
              <a:ea typeface="新細明體" pitchFamily="18" charset="-120"/>
              <a:cs typeface="+mn-cs"/>
            </a:endParaRPr>
          </a:p>
        </p:txBody>
      </p:sp>
    </p:spTree>
    <p:extLst>
      <p:ext uri="{BB962C8B-B14F-4D97-AF65-F5344CB8AC3E}">
        <p14:creationId xmlns:p14="http://schemas.microsoft.com/office/powerpoint/2010/main" val="2394994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r>
              <a:rPr lang="en-US" altLang="zh-TW" dirty="0">
                <a:solidFill>
                  <a:srgbClr val="0000FF"/>
                </a:solidFill>
                <a:ea typeface="細明體" panose="02020509000000000000" pitchFamily="49" charset="-120"/>
              </a:rPr>
              <a:t>struct</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endParaRPr lang="en-US" altLang="zh-TW" dirty="0">
              <a:solidFill>
                <a:srgbClr val="000000"/>
              </a:solidFill>
              <a:ea typeface="細明體" panose="02020509000000000000" pitchFamily="49" charset="-120"/>
            </a:endParaRPr>
          </a:p>
          <a:p>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int</a:t>
            </a:r>
            <a:r>
              <a:rPr lang="en-US" altLang="zh-TW" dirty="0">
                <a:solidFill>
                  <a:srgbClr val="000000"/>
                </a:solidFill>
                <a:ea typeface="細明體" panose="02020509000000000000" pitchFamily="49" charset="-120"/>
              </a:rPr>
              <a:t> x, y;</a:t>
            </a:r>
          </a:p>
          <a:p>
            <a:r>
              <a:rPr lang="en-US" altLang="zh-TW" dirty="0">
                <a:solidFill>
                  <a:srgbClr val="000000"/>
                </a:solidFill>
                <a:ea typeface="細明體" panose="02020509000000000000" pitchFamily="49" charset="-120"/>
              </a:rPr>
              <a:t>};</a:t>
            </a:r>
          </a:p>
          <a:p>
            <a:endParaRPr lang="zh-TW" altLang="en-US" dirty="0">
              <a:solidFill>
                <a:srgbClr val="000000"/>
              </a:solidFill>
              <a:ea typeface="細明體" panose="02020509000000000000" pitchFamily="49" charset="-120"/>
            </a:endParaRPr>
          </a:p>
          <a:p>
            <a:r>
              <a:rPr lang="en-US" altLang="zh-TW" dirty="0">
                <a:solidFill>
                  <a:srgbClr val="2B91AF"/>
                </a:solidFill>
                <a:ea typeface="細明體" panose="02020509000000000000" pitchFamily="49" charset="-120"/>
              </a:rPr>
              <a:t>vector</a:t>
            </a:r>
            <a:r>
              <a:rPr lang="en-US" altLang="zh-TW" dirty="0">
                <a:solidFill>
                  <a:srgbClr val="000000"/>
                </a:solidFill>
                <a:ea typeface="細明體" panose="02020509000000000000" pitchFamily="49" charset="-120"/>
              </a:rPr>
              <a:t>&lt;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&gt; p;</a:t>
            </a:r>
          </a:p>
          <a:p>
            <a:endParaRPr lang="en-US" altLang="zh-TW" dirty="0">
              <a:solidFill>
                <a:srgbClr val="000000"/>
              </a:solidFill>
              <a:ea typeface="細明體" panose="02020509000000000000" pitchFamily="49" charset="-120"/>
            </a:endParaRPr>
          </a:p>
          <a:p>
            <a:r>
              <a:rPr lang="en-US" altLang="zh-TW" dirty="0">
                <a:solidFill>
                  <a:srgbClr val="2B91AF"/>
                </a:solidFill>
                <a:ea typeface="細明體" panose="02020509000000000000" pitchFamily="49" charset="-120"/>
              </a:rPr>
              <a:t>vector</a:t>
            </a:r>
            <a:r>
              <a:rPr lang="en-US" altLang="zh-TW" dirty="0">
                <a:solidFill>
                  <a:srgbClr val="000000"/>
                </a:solidFill>
                <a:ea typeface="細明體" panose="02020509000000000000" pitchFamily="49" charset="-120"/>
              </a:rPr>
              <a:t>&lt;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&gt; </a:t>
            </a:r>
            <a:r>
              <a:rPr lang="en-US" altLang="zh-TW" dirty="0" err="1">
                <a:solidFill>
                  <a:srgbClr val="000000"/>
                </a:solidFill>
                <a:ea typeface="細明體" panose="02020509000000000000" pitchFamily="49" charset="-120"/>
              </a:rPr>
              <a:t>convexHull</a:t>
            </a:r>
            <a:r>
              <a:rPr lang="en-US" altLang="zh-TW" dirty="0">
                <a:solidFill>
                  <a:srgbClr val="000000"/>
                </a:solidFill>
                <a:ea typeface="細明體" panose="02020509000000000000" pitchFamily="49" charset="-120"/>
              </a:rPr>
              <a:t>;</a:t>
            </a:r>
          </a:p>
        </p:txBody>
      </p:sp>
    </p:spTree>
    <p:extLst>
      <p:ext uri="{BB962C8B-B14F-4D97-AF65-F5344CB8AC3E}">
        <p14:creationId xmlns:p14="http://schemas.microsoft.com/office/powerpoint/2010/main" val="2990525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solidFill>
                  <a:srgbClr val="0000FF"/>
                </a:solidFill>
                <a:latin typeface="+mn-ea"/>
              </a:rPr>
              <a:t>void</a:t>
            </a:r>
            <a:r>
              <a:rPr lang="en-US" altLang="zh-TW" dirty="0">
                <a:solidFill>
                  <a:srgbClr val="000000"/>
                </a:solidFill>
                <a:latin typeface="+mn-ea"/>
              </a:rPr>
              <a:t> </a:t>
            </a:r>
            <a:r>
              <a:rPr lang="en-US" altLang="zh-TW" dirty="0" err="1">
                <a:solidFill>
                  <a:srgbClr val="000000"/>
                </a:solidFill>
                <a:latin typeface="+mn-ea"/>
              </a:rPr>
              <a:t>GrahamScan</a:t>
            </a:r>
            <a:r>
              <a:rPr lang="en-US" altLang="zh-TW" dirty="0">
                <a:solidFill>
                  <a:srgbClr val="000000"/>
                </a:solidFill>
                <a:latin typeface="+mn-ea"/>
              </a:rPr>
              <a:t>()</a:t>
            </a:r>
          </a:p>
          <a:p>
            <a:r>
              <a:rPr lang="en-US" altLang="zh-TW" dirty="0">
                <a:solidFill>
                  <a:srgbClr val="000000"/>
                </a:solidFill>
                <a:latin typeface="+mn-ea"/>
              </a:rPr>
              <a:t>{</a:t>
            </a:r>
          </a:p>
          <a:p>
            <a:r>
              <a:rPr lang="en-US" altLang="zh-TW" dirty="0">
                <a:solidFill>
                  <a:srgbClr val="000000"/>
                </a:solidFill>
                <a:latin typeface="+mn-ea"/>
              </a:rPr>
              <a:t>   swap( p</a:t>
            </a:r>
            <a:r>
              <a:rPr lang="en-US" altLang="zh-TW" dirty="0">
                <a:solidFill>
                  <a:srgbClr val="008080"/>
                </a:solidFill>
                <a:latin typeface="+mn-ea"/>
              </a:rPr>
              <a:t>[</a:t>
            </a:r>
            <a:r>
              <a:rPr lang="en-US" altLang="zh-TW" dirty="0">
                <a:solidFill>
                  <a:srgbClr val="000000"/>
                </a:solidFill>
                <a:latin typeface="+mn-ea"/>
              </a:rPr>
              <a:t> 0 </a:t>
            </a:r>
            <a:r>
              <a:rPr lang="en-US" altLang="zh-TW" dirty="0">
                <a:solidFill>
                  <a:srgbClr val="008080"/>
                </a:solidFill>
                <a:latin typeface="+mn-ea"/>
              </a:rPr>
              <a:t>]</a:t>
            </a:r>
            <a:r>
              <a:rPr lang="en-US" altLang="zh-TW" dirty="0">
                <a:solidFill>
                  <a:srgbClr val="000000"/>
                </a:solidFill>
                <a:latin typeface="+mn-ea"/>
              </a:rPr>
              <a:t>, </a:t>
            </a:r>
            <a:r>
              <a:rPr lang="en-US" altLang="zh-TW" dirty="0">
                <a:solidFill>
                  <a:srgbClr val="008080"/>
                </a:solidFill>
                <a:latin typeface="+mn-ea"/>
              </a:rPr>
              <a:t>*</a:t>
            </a:r>
            <a:r>
              <a:rPr lang="en-US" altLang="zh-TW" dirty="0" err="1">
                <a:solidFill>
                  <a:srgbClr val="000000"/>
                </a:solidFill>
                <a:latin typeface="+mn-ea"/>
              </a:rPr>
              <a:t>min_element</a:t>
            </a:r>
            <a:r>
              <a:rPr lang="en-US" altLang="zh-TW" dirty="0">
                <a:solidFill>
                  <a:srgbClr val="000000"/>
                </a:solidFill>
                <a:latin typeface="+mn-ea"/>
              </a:rPr>
              <a:t>( </a:t>
            </a:r>
            <a:r>
              <a:rPr lang="en-US" altLang="zh-TW" dirty="0" err="1">
                <a:solidFill>
                  <a:srgbClr val="000000"/>
                </a:solidFill>
                <a:latin typeface="+mn-ea"/>
              </a:rPr>
              <a:t>p.begin</a:t>
            </a:r>
            <a:r>
              <a:rPr lang="en-US" altLang="zh-TW" dirty="0">
                <a:solidFill>
                  <a:srgbClr val="000000"/>
                </a:solidFill>
                <a:latin typeface="+mn-ea"/>
              </a:rPr>
              <a:t>(), </a:t>
            </a:r>
            <a:r>
              <a:rPr lang="en-US" altLang="zh-TW" dirty="0" err="1">
                <a:solidFill>
                  <a:srgbClr val="000000"/>
                </a:solidFill>
                <a:latin typeface="+mn-ea"/>
              </a:rPr>
              <a:t>p.end</a:t>
            </a:r>
            <a:r>
              <a:rPr lang="en-US" altLang="zh-TW" dirty="0">
                <a:solidFill>
                  <a:srgbClr val="000000"/>
                </a:solidFill>
                <a:latin typeface="+mn-ea"/>
              </a:rPr>
              <a:t>(), lower ) );</a:t>
            </a:r>
            <a:endParaRPr lang="zh-TW" altLang="en-US" dirty="0">
              <a:solidFill>
                <a:srgbClr val="000000"/>
              </a:solidFill>
              <a:latin typeface="+mn-ea"/>
            </a:endParaRPr>
          </a:p>
          <a:p>
            <a:r>
              <a:rPr lang="en-US" altLang="zh-TW" dirty="0">
                <a:solidFill>
                  <a:srgbClr val="000000"/>
                </a:solidFill>
                <a:latin typeface="+mn-ea"/>
              </a:rPr>
              <a:t>   sort( </a:t>
            </a:r>
            <a:r>
              <a:rPr lang="en-US" altLang="zh-TW" dirty="0" err="1">
                <a:solidFill>
                  <a:srgbClr val="000000"/>
                </a:solidFill>
                <a:latin typeface="+mn-ea"/>
              </a:rPr>
              <a:t>p.begin</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1, </a:t>
            </a:r>
            <a:r>
              <a:rPr lang="en-US" altLang="zh-TW" dirty="0" err="1">
                <a:solidFill>
                  <a:srgbClr val="000000"/>
                </a:solidFill>
                <a:latin typeface="+mn-ea"/>
              </a:rPr>
              <a:t>p.end</a:t>
            </a:r>
            <a:r>
              <a:rPr lang="en-US" altLang="zh-TW" dirty="0">
                <a:solidFill>
                  <a:srgbClr val="000000"/>
                </a:solidFill>
                <a:latin typeface="+mn-ea"/>
              </a:rPr>
              <a:t>(), </a:t>
            </a:r>
            <a:r>
              <a:rPr lang="en-US" altLang="zh-TW" dirty="0" err="1">
                <a:solidFill>
                  <a:srgbClr val="000000"/>
                </a:solidFill>
                <a:latin typeface="+mn-ea"/>
              </a:rPr>
              <a:t>angleLess</a:t>
            </a:r>
            <a:r>
              <a:rPr lang="en-US" altLang="zh-TW" dirty="0">
                <a:solidFill>
                  <a:srgbClr val="000000"/>
                </a:solidFill>
                <a:latin typeface="+mn-ea"/>
              </a:rPr>
              <a:t> );</a:t>
            </a:r>
            <a:endParaRPr lang="zh-TW" altLang="en-US" dirty="0">
              <a:solidFill>
                <a:srgbClr val="000000"/>
              </a:solidFill>
              <a:latin typeface="+mn-ea"/>
            </a:endParaRPr>
          </a:p>
          <a:p>
            <a:r>
              <a:rPr lang="en-US" altLang="zh-TW" dirty="0">
                <a:solidFill>
                  <a:srgbClr val="000000"/>
                </a:solidFill>
                <a:latin typeface="+mn-ea"/>
              </a:rPr>
              <a:t>   </a:t>
            </a:r>
            <a:r>
              <a:rPr lang="en-US" altLang="zh-TW" dirty="0" err="1">
                <a:solidFill>
                  <a:srgbClr val="000000"/>
                </a:solidFill>
                <a:latin typeface="+mn-ea"/>
              </a:rPr>
              <a:t>eraseCollinear</a:t>
            </a:r>
            <a:r>
              <a:rPr lang="en-US" altLang="zh-TW" dirty="0">
                <a:solidFill>
                  <a:srgbClr val="000000"/>
                </a:solidFill>
                <a:latin typeface="+mn-ea"/>
              </a:rPr>
              <a:t>();</a:t>
            </a:r>
          </a:p>
          <a:p>
            <a:endParaRPr lang="zh-TW" altLang="en-US" dirty="0">
              <a:solidFill>
                <a:srgbClr val="000000"/>
              </a:solidFill>
              <a:latin typeface="+mn-ea"/>
            </a:endParaRP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0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1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   </a:t>
            </a:r>
            <a:r>
              <a:rPr lang="en-US" altLang="zh-TW" dirty="0">
                <a:solidFill>
                  <a:srgbClr val="0000FF"/>
                </a:solidFill>
                <a:latin typeface="+mn-ea"/>
              </a:rPr>
              <a:t>if</a:t>
            </a:r>
            <a:r>
              <a:rPr lang="en-US" altLang="zh-TW" dirty="0">
                <a:solidFill>
                  <a:srgbClr val="000000"/>
                </a:solidFill>
                <a:latin typeface="+mn-ea"/>
              </a:rPr>
              <a:t>( </a:t>
            </a:r>
            <a:r>
              <a:rPr lang="en-US" altLang="zh-TW" dirty="0" err="1">
                <a:solidFill>
                  <a:srgbClr val="000000"/>
                </a:solidFill>
                <a:latin typeface="+mn-ea"/>
              </a:rPr>
              <a:t>p.size</a:t>
            </a:r>
            <a:r>
              <a:rPr lang="en-US" altLang="zh-TW" dirty="0">
                <a:solidFill>
                  <a:srgbClr val="000000"/>
                </a:solidFill>
                <a:latin typeface="+mn-ea"/>
              </a:rPr>
              <a:t>() &gt; 2 )</a:t>
            </a:r>
          </a:p>
          <a:p>
            <a:r>
              <a:rPr lang="zh-TW" altLang="en-US" dirty="0">
                <a:solidFill>
                  <a:srgbClr val="000000"/>
                </a:solidFill>
                <a:latin typeface="+mn-ea"/>
              </a:rPr>
              <a:t>   </a:t>
            </a:r>
            <a:r>
              <a:rPr lang="en-US" altLang="zh-TW" dirty="0">
                <a:solidFill>
                  <a:srgbClr val="000000"/>
                </a:solidFill>
                <a:latin typeface="+mn-ea"/>
              </a:rPr>
              <a:t>{</a:t>
            </a: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2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      </a:t>
            </a:r>
            <a:r>
              <a:rPr lang="en-US" altLang="zh-TW" dirty="0">
                <a:solidFill>
                  <a:srgbClr val="0000FF"/>
                </a:solidFill>
                <a:latin typeface="+mn-ea"/>
              </a:rPr>
              <a:t>for</a:t>
            </a:r>
            <a:r>
              <a:rPr lang="en-US" altLang="zh-TW" dirty="0">
                <a:solidFill>
                  <a:srgbClr val="000000"/>
                </a:solidFill>
                <a:latin typeface="+mn-ea"/>
              </a:rPr>
              <a:t>( </a:t>
            </a:r>
            <a:r>
              <a:rPr lang="en-US" altLang="zh-TW" dirty="0" err="1">
                <a:solidFill>
                  <a:srgbClr val="2B91AF"/>
                </a:solidFill>
                <a:latin typeface="+mn-ea"/>
              </a:rPr>
              <a:t>size_t</a:t>
            </a:r>
            <a:r>
              <a:rPr lang="en-US" altLang="zh-TW" dirty="0">
                <a:solidFill>
                  <a:srgbClr val="000000"/>
                </a:solidFill>
                <a:latin typeface="+mn-ea"/>
              </a:rPr>
              <a:t> i = 3; i &lt; </a:t>
            </a:r>
            <a:r>
              <a:rPr lang="en-US" altLang="zh-TW" dirty="0" err="1">
                <a:solidFill>
                  <a:srgbClr val="000000"/>
                </a:solidFill>
                <a:latin typeface="+mn-ea"/>
              </a:rPr>
              <a:t>p.size</a:t>
            </a:r>
            <a:r>
              <a:rPr lang="en-US" altLang="zh-TW" dirty="0">
                <a:solidFill>
                  <a:srgbClr val="000000"/>
                </a:solidFill>
                <a:latin typeface="+mn-ea"/>
              </a:rPr>
              <a:t>(); ++i )</a:t>
            </a:r>
          </a:p>
          <a:p>
            <a:r>
              <a:rPr lang="zh-TW" altLang="en-US" dirty="0">
                <a:solidFill>
                  <a:srgbClr val="000000"/>
                </a:solidFill>
                <a:latin typeface="+mn-ea"/>
              </a:rPr>
              <a:t>      </a:t>
            </a:r>
            <a:r>
              <a:rPr lang="en-US" altLang="zh-TW" dirty="0">
                <a:solidFill>
                  <a:srgbClr val="000000"/>
                </a:solidFill>
                <a:latin typeface="+mn-ea"/>
              </a:rPr>
              <a:t>{</a:t>
            </a:r>
          </a:p>
          <a:p>
            <a:r>
              <a:rPr lang="en-US" altLang="zh-TW" dirty="0">
                <a:solidFill>
                  <a:srgbClr val="000000"/>
                </a:solidFill>
                <a:latin typeface="+mn-ea"/>
              </a:rPr>
              <a:t>         </a:t>
            </a:r>
            <a:r>
              <a:rPr lang="en-US" altLang="zh-TW" dirty="0">
                <a:solidFill>
                  <a:srgbClr val="0000FF"/>
                </a:solidFill>
                <a:latin typeface="+mn-ea"/>
              </a:rPr>
              <a:t>while</a:t>
            </a:r>
            <a:r>
              <a:rPr lang="en-US" altLang="zh-TW" dirty="0">
                <a:solidFill>
                  <a:srgbClr val="000000"/>
                </a:solidFill>
                <a:latin typeface="+mn-ea"/>
              </a:rPr>
              <a:t>( !</a:t>
            </a:r>
            <a:r>
              <a:rPr lang="en-US" altLang="zh-TW" dirty="0" err="1">
                <a:solidFill>
                  <a:srgbClr val="000000"/>
                </a:solidFill>
                <a:latin typeface="+mn-ea"/>
              </a:rPr>
              <a:t>leftTurn</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a:t>
            </a:r>
            <a:r>
              <a:rPr lang="en-US" altLang="zh-TW" dirty="0" err="1">
                <a:solidFill>
                  <a:srgbClr val="000000"/>
                </a:solidFill>
                <a:latin typeface="+mn-ea"/>
              </a:rPr>
              <a:t>convexHull.end</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2 ),</a:t>
            </a:r>
          </a:p>
          <a:p>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a:t>
            </a:r>
            <a:r>
              <a:rPr lang="en-US" altLang="zh-TW" dirty="0" err="1">
                <a:solidFill>
                  <a:srgbClr val="000000"/>
                </a:solidFill>
                <a:latin typeface="+mn-ea"/>
              </a:rPr>
              <a:t>convexHull.end</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1 ), p</a:t>
            </a:r>
            <a:r>
              <a:rPr lang="en-US" altLang="zh-TW" dirty="0">
                <a:solidFill>
                  <a:srgbClr val="008080"/>
                </a:solidFill>
                <a:latin typeface="+mn-ea"/>
              </a:rPr>
              <a:t>[</a:t>
            </a:r>
            <a:r>
              <a:rPr lang="en-US" altLang="zh-TW" dirty="0">
                <a:solidFill>
                  <a:srgbClr val="000000"/>
                </a:solidFill>
                <a:latin typeface="+mn-ea"/>
              </a:rPr>
              <a:t> i </a:t>
            </a:r>
            <a:r>
              <a:rPr lang="en-US" altLang="zh-TW" dirty="0">
                <a:solidFill>
                  <a:srgbClr val="008080"/>
                </a:solidFill>
                <a:latin typeface="+mn-ea"/>
              </a:rPr>
              <a:t>]</a:t>
            </a:r>
            <a:r>
              <a:rPr lang="en-US" altLang="zh-TW" dirty="0">
                <a:solidFill>
                  <a:srgbClr val="000000"/>
                </a:solidFill>
                <a:latin typeface="+mn-ea"/>
              </a:rPr>
              <a:t> ) )</a:t>
            </a:r>
          </a:p>
          <a:p>
            <a:r>
              <a:rPr lang="en-US" altLang="zh-TW" dirty="0">
                <a:solidFill>
                  <a:srgbClr val="000000"/>
                </a:solidFill>
                <a:latin typeface="+mn-ea"/>
              </a:rPr>
              <a:t>            </a:t>
            </a:r>
            <a:r>
              <a:rPr lang="en-US" altLang="zh-TW" dirty="0" err="1">
                <a:solidFill>
                  <a:srgbClr val="000000"/>
                </a:solidFill>
                <a:latin typeface="+mn-ea"/>
              </a:rPr>
              <a:t>convexHull.pop_back</a:t>
            </a:r>
            <a:r>
              <a:rPr lang="en-US" altLang="zh-TW" dirty="0">
                <a:solidFill>
                  <a:srgbClr val="000000"/>
                </a:solidFill>
                <a:latin typeface="+mn-ea"/>
              </a:rPr>
              <a:t>();</a:t>
            </a:r>
          </a:p>
          <a:p>
            <a:endParaRPr lang="zh-TW" altLang="en-US" dirty="0">
              <a:solidFill>
                <a:srgbClr val="000000"/>
              </a:solidFill>
              <a:latin typeface="+mn-ea"/>
            </a:endParaRP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i </a:t>
            </a:r>
            <a:r>
              <a:rPr lang="en-US" altLang="zh-TW" dirty="0">
                <a:solidFill>
                  <a:srgbClr val="008080"/>
                </a:solidFill>
                <a:latin typeface="+mn-ea"/>
              </a:rPr>
              <a:t>]</a:t>
            </a:r>
            <a:r>
              <a:rPr lang="en-US" altLang="zh-TW" dirty="0">
                <a:solidFill>
                  <a:srgbClr val="000000"/>
                </a:solidFill>
                <a:latin typeface="+mn-ea"/>
              </a:rPr>
              <a:t> );</a:t>
            </a:r>
          </a:p>
          <a:p>
            <a:r>
              <a:rPr lang="zh-TW" altLang="en-US" dirty="0">
                <a:solidFill>
                  <a:srgbClr val="000000"/>
                </a:solidFill>
                <a:latin typeface="+mn-ea"/>
              </a:rPr>
              <a:t>      </a:t>
            </a:r>
            <a:r>
              <a:rPr lang="en-US" altLang="zh-TW" dirty="0">
                <a:solidFill>
                  <a:srgbClr val="000000"/>
                </a:solidFill>
                <a:latin typeface="+mn-ea"/>
              </a:rPr>
              <a:t>}</a:t>
            </a:r>
          </a:p>
          <a:p>
            <a:r>
              <a:rPr lang="zh-TW" altLang="en-US" dirty="0">
                <a:solidFill>
                  <a:srgbClr val="000000"/>
                </a:solidFill>
                <a:latin typeface="+mn-ea"/>
              </a:rPr>
              <a:t>   </a:t>
            </a:r>
            <a:r>
              <a:rPr lang="en-US" altLang="zh-TW" dirty="0">
                <a:solidFill>
                  <a:srgbClr val="000000"/>
                </a:solidFill>
                <a:latin typeface="+mn-ea"/>
              </a:rPr>
              <a:t>}</a:t>
            </a: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0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a:t>
            </a:r>
            <a:endParaRPr lang="zh-TW" altLang="en-US" dirty="0">
              <a:latin typeface="+mn-ea"/>
            </a:endParaRPr>
          </a:p>
        </p:txBody>
      </p:sp>
    </p:spTree>
    <p:extLst>
      <p:ext uri="{BB962C8B-B14F-4D97-AF65-F5344CB8AC3E}">
        <p14:creationId xmlns:p14="http://schemas.microsoft.com/office/powerpoint/2010/main" val="3942204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31471" y="548633"/>
            <a:ext cx="8281057" cy="4500368"/>
          </a:xfrm>
        </p:spPr>
        <p:txBody>
          <a:bodyPr/>
          <a:lstStyle/>
          <a:p>
            <a:r>
              <a:rPr lang="en-US" altLang="zh-TW" dirty="0">
                <a:solidFill>
                  <a:srgbClr val="0000FF"/>
                </a:solidFill>
                <a:ea typeface="細明體" panose="02020509000000000000" pitchFamily="49" charset="-120"/>
              </a:rPr>
              <a:t>void</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GrahamScan</a:t>
            </a:r>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swap(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0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err="1">
                <a:solidFill>
                  <a:srgbClr val="000000"/>
                </a:solidFill>
                <a:ea typeface="細明體" panose="02020509000000000000" pitchFamily="49" charset="-120"/>
              </a:rPr>
              <a:t>min_element</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p.begin</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p.end</a:t>
            </a:r>
            <a:r>
              <a:rPr lang="en-US" altLang="zh-TW" dirty="0">
                <a:solidFill>
                  <a:srgbClr val="000000"/>
                </a:solidFill>
                <a:ea typeface="細明體" panose="02020509000000000000" pitchFamily="49" charset="-120"/>
              </a:rPr>
              <a:t>(), lower ) );</a:t>
            </a:r>
            <a:endParaRPr lang="zh-TW" altLang="en-US" dirty="0">
              <a:solidFill>
                <a:srgbClr val="000000"/>
              </a:solidFill>
              <a:ea typeface="細明體" panose="02020509000000000000" pitchFamily="49" charset="-120"/>
            </a:endParaRPr>
          </a:p>
          <a:p>
            <a:r>
              <a:rPr lang="en-US" altLang="zh-TW" dirty="0">
                <a:solidFill>
                  <a:srgbClr val="000000"/>
                </a:solidFill>
                <a:ea typeface="細明體" panose="02020509000000000000" pitchFamily="49" charset="-120"/>
              </a:rPr>
              <a:t>   sort( </a:t>
            </a:r>
            <a:r>
              <a:rPr lang="en-US" altLang="zh-TW" dirty="0" err="1">
                <a:solidFill>
                  <a:srgbClr val="000000"/>
                </a:solidFill>
                <a:ea typeface="細明體" panose="02020509000000000000" pitchFamily="49" charset="-120"/>
              </a:rPr>
              <a:t>p.begin</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1, </a:t>
            </a:r>
            <a:r>
              <a:rPr lang="en-US" altLang="zh-TW" dirty="0" err="1">
                <a:solidFill>
                  <a:srgbClr val="000000"/>
                </a:solidFill>
                <a:ea typeface="細明體" panose="02020509000000000000" pitchFamily="49" charset="-120"/>
              </a:rPr>
              <a:t>p.end</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angleLess</a:t>
            </a:r>
            <a:r>
              <a:rPr lang="en-US" altLang="zh-TW" dirty="0">
                <a:solidFill>
                  <a:srgbClr val="000000"/>
                </a:solidFill>
                <a:ea typeface="細明體" panose="02020509000000000000" pitchFamily="49" charset="-120"/>
              </a:rPr>
              <a:t> );</a:t>
            </a:r>
            <a:endParaRPr lang="zh-TW" altLang="en-US" dirty="0">
              <a:solidFill>
                <a:srgbClr val="000000"/>
              </a:solidFill>
              <a:ea typeface="細明體" panose="02020509000000000000" pitchFamily="49" charset="-120"/>
            </a:endParaRPr>
          </a:p>
          <a:p>
            <a:endParaRPr lang="zh-TW" altLang="en-US" dirty="0">
              <a:solidFill>
                <a:srgbClr val="000000"/>
              </a:solidFill>
              <a:ea typeface="細明體" panose="02020509000000000000" pitchFamily="49" charset="-120"/>
            </a:endParaRPr>
          </a:p>
          <a:p>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convexHull.push_back</a:t>
            </a:r>
            <a:r>
              <a:rPr lang="en-US" altLang="zh-TW" dirty="0">
                <a:solidFill>
                  <a:srgbClr val="000000"/>
                </a:solidFill>
                <a:ea typeface="細明體" panose="02020509000000000000" pitchFamily="49" charset="-120"/>
              </a:rPr>
              <a:t>(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0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convexHull.push_back</a:t>
            </a:r>
            <a:r>
              <a:rPr lang="en-US" altLang="zh-TW" dirty="0">
                <a:solidFill>
                  <a:srgbClr val="000000"/>
                </a:solidFill>
                <a:ea typeface="細明體" panose="02020509000000000000" pitchFamily="49" charset="-120"/>
              </a:rPr>
              <a:t>(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1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for</a:t>
            </a:r>
            <a:r>
              <a:rPr lang="en-US" altLang="zh-TW" dirty="0">
                <a:solidFill>
                  <a:srgbClr val="000000"/>
                </a:solidFill>
                <a:ea typeface="細明體" panose="02020509000000000000" pitchFamily="49" charset="-120"/>
              </a:rPr>
              <a:t>( </a:t>
            </a:r>
            <a:r>
              <a:rPr lang="en-US" altLang="zh-TW" dirty="0" err="1">
                <a:solidFill>
                  <a:srgbClr val="2B91AF"/>
                </a:solidFill>
                <a:ea typeface="細明體" panose="02020509000000000000" pitchFamily="49" charset="-120"/>
              </a:rPr>
              <a:t>size_t</a:t>
            </a:r>
            <a:r>
              <a:rPr lang="en-US" altLang="zh-TW" dirty="0">
                <a:solidFill>
                  <a:srgbClr val="000000"/>
                </a:solidFill>
                <a:ea typeface="細明體" panose="02020509000000000000" pitchFamily="49" charset="-120"/>
              </a:rPr>
              <a:t> i = 2; i &lt; </a:t>
            </a:r>
            <a:r>
              <a:rPr lang="en-US" altLang="zh-TW" dirty="0" err="1">
                <a:solidFill>
                  <a:srgbClr val="000000"/>
                </a:solidFill>
                <a:ea typeface="細明體" panose="02020509000000000000" pitchFamily="49" charset="-120"/>
              </a:rPr>
              <a:t>p.size</a:t>
            </a:r>
            <a:r>
              <a:rPr lang="en-US" altLang="zh-TW" dirty="0">
                <a:solidFill>
                  <a:srgbClr val="000000"/>
                </a:solidFill>
                <a:ea typeface="細明體" panose="02020509000000000000" pitchFamily="49" charset="-120"/>
              </a:rPr>
              <a:t>(); ++i )</a:t>
            </a:r>
          </a:p>
          <a:p>
            <a:r>
              <a:rPr lang="zh-TW" altLang="en-US" dirty="0">
                <a:solidFill>
                  <a:srgbClr val="000000"/>
                </a:solidFill>
                <a:ea typeface="細明體" panose="02020509000000000000" pitchFamily="49" charset="-120"/>
              </a:rPr>
              <a:t>   </a:t>
            </a:r>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while</a:t>
            </a:r>
            <a:r>
              <a:rPr lang="en-US" altLang="zh-TW" dirty="0">
                <a:solidFill>
                  <a:srgbClr val="000000"/>
                </a:solidFill>
                <a:ea typeface="細明體" panose="02020509000000000000" pitchFamily="49" charset="-120"/>
              </a:rPr>
              <a:t>( </a:t>
            </a:r>
            <a:r>
              <a:rPr lang="en-US" altLang="zh-TW" dirty="0" err="1">
                <a:solidFill>
                  <a:srgbClr val="000000"/>
                </a:solidFill>
                <a:latin typeface="+mn-ea"/>
              </a:rPr>
              <a:t>convexHull.size</a:t>
            </a:r>
            <a:r>
              <a:rPr lang="en-US" altLang="zh-TW" dirty="0">
                <a:solidFill>
                  <a:srgbClr val="000000"/>
                </a:solidFill>
                <a:latin typeface="+mn-ea"/>
              </a:rPr>
              <a:t>() &gt; 1 &amp;&amp;</a:t>
            </a:r>
          </a:p>
          <a:p>
            <a:r>
              <a:rPr lang="en-US" altLang="zh-TW" dirty="0">
                <a:solidFill>
                  <a:srgbClr val="000000"/>
                </a:solidFill>
                <a:latin typeface="+mn-ea"/>
              </a:rPr>
              <a:t>             </a:t>
            </a:r>
            <a:r>
              <a:rPr lang="en-US" altLang="zh-TW" dirty="0">
                <a:solidFill>
                  <a:srgbClr val="000000"/>
                </a:solidFill>
                <a:ea typeface="細明體" panose="02020509000000000000" pitchFamily="49" charset="-120"/>
              </a:rPr>
              <a:t>!</a:t>
            </a:r>
            <a:r>
              <a:rPr lang="en-US" altLang="zh-TW" dirty="0" err="1">
                <a:solidFill>
                  <a:srgbClr val="000000"/>
                </a:solidFill>
                <a:ea typeface="細明體" panose="02020509000000000000" pitchFamily="49" charset="-120"/>
              </a:rPr>
              <a:t>leftTurn</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convexHull.end</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2 ),</a:t>
            </a:r>
          </a:p>
          <a:p>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convexHull.end</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1 ),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i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 )</a:t>
            </a:r>
          </a:p>
          <a:p>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convexHull.pop_back</a:t>
            </a:r>
            <a:r>
              <a:rPr lang="en-US" altLang="zh-TW" dirty="0">
                <a:solidFill>
                  <a:srgbClr val="000000"/>
                </a:solidFill>
                <a:ea typeface="細明體" panose="02020509000000000000" pitchFamily="49" charset="-120"/>
              </a:rPr>
              <a:t>();</a:t>
            </a:r>
          </a:p>
          <a:p>
            <a:endParaRPr lang="zh-TW" altLang="en-US" dirty="0">
              <a:solidFill>
                <a:srgbClr val="000000"/>
              </a:solidFill>
              <a:ea typeface="細明體" panose="02020509000000000000" pitchFamily="49" charset="-120"/>
            </a:endParaRPr>
          </a:p>
          <a:p>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convexHull.push_back</a:t>
            </a:r>
            <a:r>
              <a:rPr lang="en-US" altLang="zh-TW" dirty="0">
                <a:solidFill>
                  <a:srgbClr val="000000"/>
                </a:solidFill>
                <a:ea typeface="細明體" panose="02020509000000000000" pitchFamily="49" charset="-120"/>
              </a:rPr>
              <a:t>(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i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p>
          <a:p>
            <a:r>
              <a:rPr lang="zh-TW" altLang="en-US" dirty="0">
                <a:solidFill>
                  <a:srgbClr val="000000"/>
                </a:solidFill>
                <a:ea typeface="細明體" panose="02020509000000000000" pitchFamily="49" charset="-120"/>
              </a:rPr>
              <a:t>   </a:t>
            </a:r>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convexHull.push_back</a:t>
            </a:r>
            <a:r>
              <a:rPr lang="en-US" altLang="zh-TW" dirty="0">
                <a:solidFill>
                  <a:srgbClr val="000000"/>
                </a:solidFill>
                <a:ea typeface="細明體" panose="02020509000000000000" pitchFamily="49" charset="-120"/>
              </a:rPr>
              <a:t>(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0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endParaRPr lang="zh-TW" altLang="en-US" dirty="0"/>
          </a:p>
        </p:txBody>
      </p:sp>
    </p:spTree>
    <p:extLst>
      <p:ext uri="{BB962C8B-B14F-4D97-AF65-F5344CB8AC3E}">
        <p14:creationId xmlns:p14="http://schemas.microsoft.com/office/powerpoint/2010/main" val="1386010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solidFill>
                  <a:srgbClr val="0000FF"/>
                </a:solidFill>
                <a:ea typeface="細明體" panose="02020509000000000000" pitchFamily="49" charset="-120"/>
              </a:rPr>
              <a:t>bool</a:t>
            </a:r>
            <a:r>
              <a:rPr lang="en-US" altLang="zh-TW" dirty="0">
                <a:solidFill>
                  <a:srgbClr val="000000"/>
                </a:solidFill>
                <a:ea typeface="細明體" panose="02020509000000000000" pitchFamily="49" charset="-120"/>
              </a:rPr>
              <a:t> lower(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p>
          <a:p>
            <a:r>
              <a:rPr lang="es-ES" altLang="zh-TW" dirty="0">
                <a:solidFill>
                  <a:srgbClr val="000000"/>
                </a:solidFill>
                <a:ea typeface="細明體" panose="02020509000000000000" pitchFamily="49" charset="-120"/>
              </a:rPr>
              <a:t>   </a:t>
            </a:r>
            <a:r>
              <a:rPr lang="es-ES" altLang="zh-TW" dirty="0">
                <a:solidFill>
                  <a:srgbClr val="0000FF"/>
                </a:solidFill>
                <a:ea typeface="細明體" panose="02020509000000000000" pitchFamily="49" charset="-120"/>
              </a:rPr>
              <a:t>return</a:t>
            </a:r>
            <a:r>
              <a:rPr lang="es-ES" altLang="zh-TW" dirty="0">
                <a:solidFill>
                  <a:srgbClr val="000000"/>
                </a:solidFill>
                <a:ea typeface="細明體" panose="02020509000000000000" pitchFamily="49" charset="-120"/>
              </a:rPr>
              <a:t>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.y &lt;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.y ) ||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.y ==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.y &amp;&amp;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.x &lt;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.x );</a:t>
            </a:r>
          </a:p>
          <a:p>
            <a:r>
              <a:rPr lang="en-US" altLang="zh-TW" dirty="0">
                <a:solidFill>
                  <a:srgbClr val="000000"/>
                </a:solidFill>
                <a:ea typeface="細明體" panose="02020509000000000000" pitchFamily="49" charset="-120"/>
              </a:rPr>
              <a:t>}</a:t>
            </a:r>
          </a:p>
          <a:p>
            <a:endParaRPr lang="en-US" altLang="zh-TW" dirty="0" smtClean="0">
              <a:solidFill>
                <a:srgbClr val="0000FF"/>
              </a:solidFill>
              <a:ea typeface="細明體" panose="02020509000000000000" pitchFamily="49" charset="-120"/>
            </a:endParaRPr>
          </a:p>
          <a:p>
            <a:r>
              <a:rPr lang="en-US" altLang="zh-TW" dirty="0" smtClean="0">
                <a:solidFill>
                  <a:srgbClr val="0000FF"/>
                </a:solidFill>
                <a:ea typeface="細明體" panose="02020509000000000000" pitchFamily="49" charset="-120"/>
              </a:rPr>
              <a:t>int</a:t>
            </a:r>
            <a:r>
              <a:rPr lang="en-US" altLang="zh-TW" dirty="0" smtClean="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crossProduct</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p0</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p>
          <a:p>
            <a:r>
              <a:rPr lang="es-ES" altLang="zh-TW" dirty="0">
                <a:solidFill>
                  <a:srgbClr val="000000"/>
                </a:solidFill>
                <a:ea typeface="細明體" panose="02020509000000000000" pitchFamily="49" charset="-120"/>
              </a:rPr>
              <a:t>   </a:t>
            </a:r>
            <a:r>
              <a:rPr lang="es-ES" altLang="zh-TW" dirty="0">
                <a:solidFill>
                  <a:srgbClr val="0000FF"/>
                </a:solidFill>
                <a:ea typeface="細明體" panose="02020509000000000000" pitchFamily="49" charset="-120"/>
              </a:rPr>
              <a:t>return</a:t>
            </a:r>
            <a:r>
              <a:rPr lang="es-ES" altLang="zh-TW" dirty="0">
                <a:solidFill>
                  <a:srgbClr val="000000"/>
                </a:solidFill>
                <a:ea typeface="細明體" panose="02020509000000000000" pitchFamily="49" charset="-120"/>
              </a:rPr>
              <a:t>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.x - </a:t>
            </a:r>
            <a:r>
              <a:rPr lang="es-ES" altLang="zh-TW" dirty="0">
                <a:solidFill>
                  <a:srgbClr val="808080"/>
                </a:solidFill>
                <a:ea typeface="細明體" panose="02020509000000000000" pitchFamily="49" charset="-120"/>
              </a:rPr>
              <a:t>p0</a:t>
            </a:r>
            <a:r>
              <a:rPr lang="es-ES" altLang="zh-TW" dirty="0">
                <a:solidFill>
                  <a:srgbClr val="000000"/>
                </a:solidFill>
                <a:ea typeface="細明體" panose="02020509000000000000" pitchFamily="49" charset="-120"/>
              </a:rPr>
              <a:t>.x ) * (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.y - </a:t>
            </a:r>
            <a:r>
              <a:rPr lang="es-ES" altLang="zh-TW" dirty="0">
                <a:solidFill>
                  <a:srgbClr val="808080"/>
                </a:solidFill>
                <a:ea typeface="細明體" panose="02020509000000000000" pitchFamily="49" charset="-120"/>
              </a:rPr>
              <a:t>p0</a:t>
            </a:r>
            <a:r>
              <a:rPr lang="es-ES" altLang="zh-TW" dirty="0">
                <a:solidFill>
                  <a:srgbClr val="000000"/>
                </a:solidFill>
                <a:ea typeface="細明體" panose="02020509000000000000" pitchFamily="49" charset="-120"/>
              </a:rPr>
              <a:t>.y ) -</a:t>
            </a:r>
          </a:p>
          <a:p>
            <a:r>
              <a:rPr lang="es-ES" altLang="zh-TW" dirty="0">
                <a:solidFill>
                  <a:srgbClr val="000000"/>
                </a:solidFill>
                <a:ea typeface="細明體" panose="02020509000000000000" pitchFamily="49" charset="-120"/>
              </a:rPr>
              <a:t>          (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.x - </a:t>
            </a:r>
            <a:r>
              <a:rPr lang="es-ES" altLang="zh-TW" dirty="0">
                <a:solidFill>
                  <a:srgbClr val="808080"/>
                </a:solidFill>
                <a:ea typeface="細明體" panose="02020509000000000000" pitchFamily="49" charset="-120"/>
              </a:rPr>
              <a:t>p0</a:t>
            </a:r>
            <a:r>
              <a:rPr lang="es-ES" altLang="zh-TW" dirty="0">
                <a:solidFill>
                  <a:srgbClr val="000000"/>
                </a:solidFill>
                <a:ea typeface="細明體" panose="02020509000000000000" pitchFamily="49" charset="-120"/>
              </a:rPr>
              <a:t>.x ) *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.y - </a:t>
            </a:r>
            <a:r>
              <a:rPr lang="es-ES" altLang="zh-TW" dirty="0">
                <a:solidFill>
                  <a:srgbClr val="808080"/>
                </a:solidFill>
                <a:ea typeface="細明體" panose="02020509000000000000" pitchFamily="49" charset="-120"/>
              </a:rPr>
              <a:t>p0</a:t>
            </a:r>
            <a:r>
              <a:rPr lang="es-ES" altLang="zh-TW" dirty="0">
                <a:solidFill>
                  <a:srgbClr val="000000"/>
                </a:solidFill>
                <a:ea typeface="細明體" panose="02020509000000000000" pitchFamily="49" charset="-120"/>
              </a:rPr>
              <a:t>.y );</a:t>
            </a:r>
          </a:p>
          <a:p>
            <a:r>
              <a:rPr lang="en-US" altLang="zh-TW" dirty="0">
                <a:solidFill>
                  <a:srgbClr val="000000"/>
                </a:solidFill>
                <a:ea typeface="細明體" panose="02020509000000000000" pitchFamily="49" charset="-120"/>
              </a:rPr>
              <a:t>}</a:t>
            </a:r>
          </a:p>
          <a:p>
            <a:endParaRPr lang="zh-TW" altLang="en-US" dirty="0">
              <a:solidFill>
                <a:srgbClr val="000000"/>
              </a:solidFill>
              <a:ea typeface="細明體" panose="02020509000000000000" pitchFamily="49" charset="-120"/>
            </a:endParaRPr>
          </a:p>
          <a:p>
            <a:r>
              <a:rPr lang="en-US" altLang="zh-TW" dirty="0">
                <a:solidFill>
                  <a:srgbClr val="0000FF"/>
                </a:solidFill>
                <a:ea typeface="細明體" panose="02020509000000000000" pitchFamily="49" charset="-120"/>
              </a:rPr>
              <a:t>bool</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leftTurn</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p0</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return</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crossProduct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p0</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 &gt; 0;</a:t>
            </a:r>
          </a:p>
          <a:p>
            <a:r>
              <a:rPr lang="en-US" altLang="zh-TW" dirty="0">
                <a:solidFill>
                  <a:srgbClr val="000000"/>
                </a:solidFill>
                <a:ea typeface="細明體" panose="02020509000000000000" pitchFamily="49" charset="-120"/>
              </a:rPr>
              <a:t>}</a:t>
            </a:r>
          </a:p>
          <a:p>
            <a:endParaRPr lang="en-US" altLang="zh-TW" dirty="0">
              <a:solidFill>
                <a:srgbClr val="000000"/>
              </a:solidFill>
              <a:ea typeface="細明體" panose="02020509000000000000" pitchFamily="49" charset="-120"/>
            </a:endParaRPr>
          </a:p>
          <a:p>
            <a:r>
              <a:rPr lang="fr-FR" altLang="zh-TW" dirty="0">
                <a:solidFill>
                  <a:srgbClr val="0000FF"/>
                </a:solidFill>
                <a:ea typeface="細明體" panose="02020509000000000000" pitchFamily="49" charset="-120"/>
              </a:rPr>
              <a:t>int</a:t>
            </a:r>
            <a:r>
              <a:rPr lang="fr-FR" altLang="zh-TW" dirty="0">
                <a:solidFill>
                  <a:srgbClr val="000000"/>
                </a:solidFill>
                <a:ea typeface="細明體" panose="02020509000000000000" pitchFamily="49" charset="-120"/>
              </a:rPr>
              <a:t> distanceSquare( </a:t>
            </a:r>
            <a:r>
              <a:rPr lang="fr-FR" altLang="zh-TW" dirty="0">
                <a:solidFill>
                  <a:srgbClr val="2B91AF"/>
                </a:solidFill>
                <a:ea typeface="細明體" panose="02020509000000000000" pitchFamily="49" charset="-120"/>
              </a:rPr>
              <a:t>Point</a:t>
            </a:r>
            <a:r>
              <a:rPr lang="fr-FR" altLang="zh-TW" dirty="0">
                <a:solidFill>
                  <a:srgbClr val="000000"/>
                </a:solidFill>
                <a:ea typeface="細明體" panose="02020509000000000000" pitchFamily="49" charset="-120"/>
              </a:rPr>
              <a:t> </a:t>
            </a:r>
            <a:r>
              <a:rPr lang="fr-FR" altLang="zh-TW" dirty="0">
                <a:solidFill>
                  <a:srgbClr val="808080"/>
                </a:solidFill>
                <a:ea typeface="細明體" panose="02020509000000000000" pitchFamily="49" charset="-120"/>
              </a:rPr>
              <a:t>p1</a:t>
            </a:r>
            <a:r>
              <a:rPr lang="fr-FR" altLang="zh-TW" dirty="0">
                <a:solidFill>
                  <a:srgbClr val="000000"/>
                </a:solidFill>
                <a:ea typeface="細明體" panose="02020509000000000000" pitchFamily="49" charset="-120"/>
              </a:rPr>
              <a:t>, </a:t>
            </a:r>
            <a:r>
              <a:rPr lang="fr-FR" altLang="zh-TW" dirty="0">
                <a:solidFill>
                  <a:srgbClr val="2B91AF"/>
                </a:solidFill>
                <a:ea typeface="細明體" panose="02020509000000000000" pitchFamily="49" charset="-120"/>
              </a:rPr>
              <a:t>Point</a:t>
            </a:r>
            <a:r>
              <a:rPr lang="fr-FR" altLang="zh-TW" dirty="0">
                <a:solidFill>
                  <a:srgbClr val="000000"/>
                </a:solidFill>
                <a:ea typeface="細明體" panose="02020509000000000000" pitchFamily="49" charset="-120"/>
              </a:rPr>
              <a:t> </a:t>
            </a:r>
            <a:r>
              <a:rPr lang="fr-FR" altLang="zh-TW" dirty="0">
                <a:solidFill>
                  <a:srgbClr val="808080"/>
                </a:solidFill>
                <a:ea typeface="細明體" panose="02020509000000000000" pitchFamily="49" charset="-120"/>
              </a:rPr>
              <a:t>p2</a:t>
            </a:r>
            <a:r>
              <a:rPr lang="fr-FR"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p>
          <a:p>
            <a:r>
              <a:rPr lang="es-ES" altLang="zh-TW" dirty="0">
                <a:solidFill>
                  <a:srgbClr val="000000"/>
                </a:solidFill>
                <a:ea typeface="細明體" panose="02020509000000000000" pitchFamily="49" charset="-120"/>
              </a:rPr>
              <a:t>   </a:t>
            </a:r>
            <a:r>
              <a:rPr lang="es-ES" altLang="zh-TW" dirty="0">
                <a:solidFill>
                  <a:srgbClr val="0000FF"/>
                </a:solidFill>
                <a:ea typeface="細明體" panose="02020509000000000000" pitchFamily="49" charset="-120"/>
              </a:rPr>
              <a:t>return</a:t>
            </a:r>
            <a:r>
              <a:rPr lang="es-ES" altLang="zh-TW" dirty="0">
                <a:solidFill>
                  <a:srgbClr val="000000"/>
                </a:solidFill>
                <a:ea typeface="細明體" panose="02020509000000000000" pitchFamily="49" charset="-120"/>
              </a:rPr>
              <a:t>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.x -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.x ) *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.x -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.x ) + </a:t>
            </a:r>
          </a:p>
          <a:p>
            <a:r>
              <a:rPr lang="es-ES" altLang="zh-TW" dirty="0">
                <a:solidFill>
                  <a:srgbClr val="000000"/>
                </a:solidFill>
                <a:ea typeface="細明體" panose="02020509000000000000" pitchFamily="49" charset="-120"/>
              </a:rPr>
              <a:t>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.y -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.y ) * ( </a:t>
            </a:r>
            <a:r>
              <a:rPr lang="es-ES" altLang="zh-TW" dirty="0">
                <a:solidFill>
                  <a:srgbClr val="808080"/>
                </a:solidFill>
                <a:ea typeface="細明體" panose="02020509000000000000" pitchFamily="49" charset="-120"/>
              </a:rPr>
              <a:t>p1</a:t>
            </a:r>
            <a:r>
              <a:rPr lang="es-ES" altLang="zh-TW" dirty="0">
                <a:solidFill>
                  <a:srgbClr val="000000"/>
                </a:solidFill>
                <a:ea typeface="細明體" panose="02020509000000000000" pitchFamily="49" charset="-120"/>
              </a:rPr>
              <a:t>.y - </a:t>
            </a:r>
            <a:r>
              <a:rPr lang="es-ES" altLang="zh-TW" dirty="0">
                <a:solidFill>
                  <a:srgbClr val="808080"/>
                </a:solidFill>
                <a:ea typeface="細明體" panose="02020509000000000000" pitchFamily="49" charset="-120"/>
              </a:rPr>
              <a:t>p2</a:t>
            </a:r>
            <a:r>
              <a:rPr lang="es-ES" altLang="zh-TW" dirty="0">
                <a:solidFill>
                  <a:srgbClr val="000000"/>
                </a:solidFill>
                <a:ea typeface="細明體" panose="02020509000000000000" pitchFamily="49" charset="-120"/>
              </a:rPr>
              <a:t>.y );</a:t>
            </a:r>
          </a:p>
          <a:p>
            <a:r>
              <a:rPr lang="en-US" altLang="zh-TW" dirty="0" smtClean="0">
                <a:solidFill>
                  <a:srgbClr val="000000"/>
                </a:solidFill>
                <a:ea typeface="細明體" panose="02020509000000000000" pitchFamily="49" charset="-120"/>
              </a:rPr>
              <a:t>}</a:t>
            </a:r>
            <a:endParaRPr lang="zh-TW" altLang="en-US" dirty="0">
              <a:solidFill>
                <a:srgbClr val="000000"/>
              </a:solidFill>
              <a:ea typeface="細明體" panose="02020509000000000000" pitchFamily="49" charset="-120"/>
            </a:endParaRPr>
          </a:p>
        </p:txBody>
      </p:sp>
    </p:spTree>
    <p:extLst>
      <p:ext uri="{BB962C8B-B14F-4D97-AF65-F5344CB8AC3E}">
        <p14:creationId xmlns:p14="http://schemas.microsoft.com/office/powerpoint/2010/main" val="780205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solidFill>
                  <a:srgbClr val="0000FF"/>
                </a:solidFill>
                <a:ea typeface="細明體" panose="02020509000000000000" pitchFamily="49" charset="-120"/>
              </a:rPr>
              <a:t>bool</a:t>
            </a:r>
            <a:r>
              <a:rPr lang="en-US" altLang="zh-TW" dirty="0">
                <a:solidFill>
                  <a:srgbClr val="000000"/>
                </a:solidFill>
                <a:ea typeface="細明體" panose="02020509000000000000" pitchFamily="49" charset="-120"/>
              </a:rPr>
              <a:t> shorter(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p0</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return</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distanceSquare</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p0</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 &lt; </a:t>
            </a:r>
            <a:r>
              <a:rPr lang="en-US" altLang="zh-TW" dirty="0" err="1">
                <a:solidFill>
                  <a:srgbClr val="000000"/>
                </a:solidFill>
                <a:ea typeface="細明體" panose="02020509000000000000" pitchFamily="49" charset="-120"/>
              </a:rPr>
              <a:t>distanceSquare</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p0</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p>
          <a:p>
            <a:endParaRPr lang="zh-TW" altLang="en-US" dirty="0">
              <a:solidFill>
                <a:srgbClr val="000000"/>
              </a:solidFill>
              <a:ea typeface="細明體" panose="02020509000000000000" pitchFamily="49" charset="-120"/>
            </a:endParaRPr>
          </a:p>
          <a:p>
            <a:r>
              <a:rPr lang="en-US" altLang="zh-TW" dirty="0">
                <a:solidFill>
                  <a:srgbClr val="0000FF"/>
                </a:solidFill>
                <a:ea typeface="細明體" panose="02020509000000000000" pitchFamily="49" charset="-120"/>
              </a:rPr>
              <a:t>bool</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angleLess</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int</a:t>
            </a:r>
            <a:r>
              <a:rPr lang="en-US" altLang="zh-TW" dirty="0">
                <a:solidFill>
                  <a:srgbClr val="000000"/>
                </a:solidFill>
                <a:ea typeface="細明體" panose="02020509000000000000" pitchFamily="49" charset="-120"/>
              </a:rPr>
              <a:t> c = </a:t>
            </a:r>
            <a:r>
              <a:rPr lang="en-US" altLang="zh-TW" dirty="0" err="1">
                <a:solidFill>
                  <a:srgbClr val="000000"/>
                </a:solidFill>
                <a:ea typeface="細明體" panose="02020509000000000000" pitchFamily="49" charset="-120"/>
              </a:rPr>
              <a:t>crossProduct</a:t>
            </a:r>
            <a:r>
              <a:rPr lang="en-US" altLang="zh-TW" dirty="0">
                <a:solidFill>
                  <a:srgbClr val="000000"/>
                </a:solidFill>
                <a:ea typeface="細明體" panose="02020509000000000000" pitchFamily="49" charset="-120"/>
              </a:rPr>
              <a:t>(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0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return</a:t>
            </a:r>
            <a:r>
              <a:rPr lang="en-US" altLang="zh-TW" dirty="0">
                <a:solidFill>
                  <a:srgbClr val="000000"/>
                </a:solidFill>
                <a:ea typeface="細明體" panose="02020509000000000000" pitchFamily="49" charset="-120"/>
              </a:rPr>
              <a:t> c &gt; 0 || ( c == 0 &amp;&amp; shorter(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0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p1</a:t>
            </a:r>
            <a:r>
              <a:rPr lang="en-US" altLang="zh-TW" dirty="0">
                <a:solidFill>
                  <a:srgbClr val="000000"/>
                </a:solidFill>
                <a:ea typeface="細明體" panose="02020509000000000000" pitchFamily="49" charset="-120"/>
              </a:rPr>
              <a:t>, </a:t>
            </a:r>
            <a:r>
              <a:rPr lang="en-US" altLang="zh-TW" dirty="0" err="1">
                <a:solidFill>
                  <a:srgbClr val="808080"/>
                </a:solidFill>
                <a:ea typeface="細明體" panose="02020509000000000000" pitchFamily="49" charset="-120"/>
              </a:rPr>
              <a:t>p2</a:t>
            </a:r>
            <a:r>
              <a:rPr lang="en-US" altLang="zh-TW" dirty="0">
                <a:solidFill>
                  <a:srgbClr val="000000"/>
                </a:solidFill>
                <a:ea typeface="細明體" panose="02020509000000000000" pitchFamily="49" charset="-120"/>
              </a:rPr>
              <a:t> ) );</a:t>
            </a:r>
          </a:p>
          <a:p>
            <a:r>
              <a:rPr lang="en-US" altLang="zh-TW" dirty="0">
                <a:solidFill>
                  <a:srgbClr val="000000"/>
                </a:solidFill>
                <a:ea typeface="細明體" panose="02020509000000000000" pitchFamily="49" charset="-120"/>
              </a:rPr>
              <a:t>}</a:t>
            </a:r>
          </a:p>
          <a:p>
            <a:endParaRPr lang="en-US" altLang="zh-TW" dirty="0">
              <a:solidFill>
                <a:srgbClr val="000000"/>
              </a:solidFill>
              <a:ea typeface="細明體" panose="02020509000000000000" pitchFamily="49" charset="-120"/>
            </a:endParaRPr>
          </a:p>
          <a:p>
            <a:r>
              <a:rPr lang="en-US" altLang="zh-TW" dirty="0">
                <a:solidFill>
                  <a:srgbClr val="0000FF"/>
                </a:solidFill>
                <a:ea typeface="細明體" panose="02020509000000000000" pitchFamily="49" charset="-120"/>
              </a:rPr>
              <a:t>void</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eraseCollinear</a:t>
            </a:r>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a:solidFill>
                  <a:srgbClr val="2B91AF"/>
                </a:solidFill>
                <a:ea typeface="細明體" panose="02020509000000000000" pitchFamily="49" charset="-120"/>
              </a:rPr>
              <a:t>vector</a:t>
            </a:r>
            <a:r>
              <a:rPr lang="en-US" altLang="zh-TW" dirty="0">
                <a:solidFill>
                  <a:srgbClr val="000000"/>
                </a:solidFill>
                <a:ea typeface="細明體" panose="02020509000000000000" pitchFamily="49" charset="-120"/>
              </a:rPr>
              <a:t>&lt; </a:t>
            </a:r>
            <a:r>
              <a:rPr lang="en-US" altLang="zh-TW" dirty="0">
                <a:solidFill>
                  <a:srgbClr val="2B91AF"/>
                </a:solidFill>
                <a:ea typeface="細明體" panose="02020509000000000000" pitchFamily="49" charset="-120"/>
              </a:rPr>
              <a:t>Point</a:t>
            </a:r>
            <a:r>
              <a:rPr lang="en-US" altLang="zh-TW" dirty="0">
                <a:solidFill>
                  <a:srgbClr val="000000"/>
                </a:solidFill>
                <a:ea typeface="細明體" panose="02020509000000000000" pitchFamily="49" charset="-120"/>
              </a:rPr>
              <a:t> &gt;::</a:t>
            </a:r>
            <a:r>
              <a:rPr lang="en-US" altLang="zh-TW" dirty="0">
                <a:solidFill>
                  <a:srgbClr val="2B91AF"/>
                </a:solidFill>
                <a:ea typeface="細明體" panose="02020509000000000000" pitchFamily="49" charset="-120"/>
              </a:rPr>
              <a:t>iterator</a:t>
            </a:r>
            <a:r>
              <a:rPr lang="en-US" altLang="zh-TW" dirty="0">
                <a:solidFill>
                  <a:srgbClr val="000000"/>
                </a:solidFill>
                <a:ea typeface="細明體" panose="02020509000000000000" pitchFamily="49" charset="-120"/>
              </a:rPr>
              <a:t> it = </a:t>
            </a:r>
            <a:r>
              <a:rPr lang="en-US" altLang="zh-TW" dirty="0" err="1">
                <a:solidFill>
                  <a:srgbClr val="000000"/>
                </a:solidFill>
                <a:ea typeface="細明體" panose="02020509000000000000" pitchFamily="49" charset="-120"/>
              </a:rPr>
              <a:t>p.begin</a:t>
            </a:r>
            <a:r>
              <a:rPr lang="en-US" altLang="zh-TW" dirty="0">
                <a:solidFill>
                  <a:srgbClr val="000000"/>
                </a:solidFill>
                <a:ea typeface="細明體" panose="02020509000000000000" pitchFamily="49" charset="-120"/>
              </a:rPr>
              <a:t>();</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while</a:t>
            </a:r>
            <a:r>
              <a:rPr lang="en-US" altLang="zh-TW" dirty="0">
                <a:solidFill>
                  <a:srgbClr val="000000"/>
                </a:solidFill>
                <a:ea typeface="細明體" panose="02020509000000000000" pitchFamily="49" charset="-120"/>
              </a:rPr>
              <a:t>( it </a:t>
            </a:r>
            <a:r>
              <a:rPr lang="en-US" altLang="zh-TW" dirty="0">
                <a:solidFill>
                  <a:srgbClr val="008080"/>
                </a:solidFill>
                <a:ea typeface="細明體" panose="02020509000000000000" pitchFamily="49" charset="-120"/>
              </a:rPr>
              <a:t>&lt;</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p.end</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2 )</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if</a:t>
            </a:r>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crossProduct</a:t>
            </a:r>
            <a:r>
              <a:rPr lang="en-US" altLang="zh-TW" dirty="0">
                <a:solidFill>
                  <a:srgbClr val="000000"/>
                </a:solidFill>
                <a:ea typeface="細明體" panose="02020509000000000000" pitchFamily="49" charset="-120"/>
              </a:rPr>
              <a:t>(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0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it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1 ),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it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2 ) ) == 0 )</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if</a:t>
            </a:r>
            <a:r>
              <a:rPr lang="en-US" altLang="zh-TW" dirty="0">
                <a:solidFill>
                  <a:srgbClr val="000000"/>
                </a:solidFill>
                <a:ea typeface="細明體" panose="02020509000000000000" pitchFamily="49" charset="-120"/>
              </a:rPr>
              <a:t>( shorter( p</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0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it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1 ),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it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2 ) ) )</a:t>
            </a:r>
          </a:p>
          <a:p>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p.erase</a:t>
            </a:r>
            <a:r>
              <a:rPr lang="en-US" altLang="zh-TW" dirty="0">
                <a:solidFill>
                  <a:srgbClr val="000000"/>
                </a:solidFill>
                <a:ea typeface="細明體" panose="02020509000000000000" pitchFamily="49" charset="-120"/>
              </a:rPr>
              <a:t>( it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1 );</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else</a:t>
            </a:r>
            <a:endParaRPr lang="en-US" altLang="zh-TW" dirty="0">
              <a:solidFill>
                <a:srgbClr val="000000"/>
              </a:solidFill>
              <a:ea typeface="細明體" panose="02020509000000000000" pitchFamily="49" charset="-120"/>
            </a:endParaRPr>
          </a:p>
          <a:p>
            <a:r>
              <a:rPr lang="en-US" altLang="zh-TW" dirty="0">
                <a:solidFill>
                  <a:srgbClr val="000000"/>
                </a:solidFill>
                <a:ea typeface="細明體" panose="02020509000000000000" pitchFamily="49" charset="-120"/>
              </a:rPr>
              <a:t>            </a:t>
            </a:r>
            <a:r>
              <a:rPr lang="en-US" altLang="zh-TW" dirty="0" err="1">
                <a:solidFill>
                  <a:srgbClr val="000000"/>
                </a:solidFill>
                <a:ea typeface="細明體" panose="02020509000000000000" pitchFamily="49" charset="-120"/>
              </a:rPr>
              <a:t>p.erase</a:t>
            </a:r>
            <a:r>
              <a:rPr lang="en-US" altLang="zh-TW" dirty="0">
                <a:solidFill>
                  <a:srgbClr val="000000"/>
                </a:solidFill>
                <a:ea typeface="細明體" panose="02020509000000000000" pitchFamily="49" charset="-120"/>
              </a:rPr>
              <a:t>( it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 2 );</a:t>
            </a:r>
          </a:p>
          <a:p>
            <a:r>
              <a:rPr lang="en-US" altLang="zh-TW" dirty="0">
                <a:solidFill>
                  <a:srgbClr val="000000"/>
                </a:solidFill>
                <a:ea typeface="細明體" panose="02020509000000000000" pitchFamily="49" charset="-120"/>
              </a:rPr>
              <a:t>      </a:t>
            </a:r>
            <a:r>
              <a:rPr lang="en-US" altLang="zh-TW" dirty="0">
                <a:solidFill>
                  <a:srgbClr val="0000FF"/>
                </a:solidFill>
                <a:ea typeface="細明體" panose="02020509000000000000" pitchFamily="49" charset="-120"/>
              </a:rPr>
              <a:t>else</a:t>
            </a:r>
            <a:endParaRPr lang="en-US" altLang="zh-TW" dirty="0">
              <a:solidFill>
                <a:srgbClr val="000000"/>
              </a:solidFill>
              <a:ea typeface="細明體" panose="02020509000000000000" pitchFamily="49" charset="-120"/>
            </a:endParaRPr>
          </a:p>
          <a:p>
            <a:r>
              <a:rPr lang="en-US" altLang="zh-TW" dirty="0">
                <a:solidFill>
                  <a:srgbClr val="000000"/>
                </a:solidFill>
                <a:ea typeface="細明體" panose="02020509000000000000" pitchFamily="49" charset="-120"/>
              </a:rPr>
              <a:t>         </a:t>
            </a:r>
            <a:r>
              <a:rPr lang="en-US" altLang="zh-TW" dirty="0">
                <a:solidFill>
                  <a:srgbClr val="008080"/>
                </a:solidFill>
                <a:ea typeface="細明體" panose="02020509000000000000" pitchFamily="49" charset="-120"/>
              </a:rPr>
              <a:t>++</a:t>
            </a:r>
            <a:r>
              <a:rPr lang="en-US" altLang="zh-TW" dirty="0">
                <a:solidFill>
                  <a:srgbClr val="000000"/>
                </a:solidFill>
                <a:ea typeface="細明體" panose="02020509000000000000" pitchFamily="49" charset="-120"/>
              </a:rPr>
              <a:t>it;</a:t>
            </a:r>
          </a:p>
          <a:p>
            <a:r>
              <a:rPr lang="en-US" altLang="zh-TW" dirty="0">
                <a:solidFill>
                  <a:srgbClr val="000000"/>
                </a:solidFill>
                <a:ea typeface="細明體" panose="02020509000000000000" pitchFamily="49" charset="-120"/>
              </a:rPr>
              <a:t>}</a:t>
            </a:r>
            <a:endParaRPr lang="zh-TW" altLang="en-US" dirty="0"/>
          </a:p>
        </p:txBody>
      </p:sp>
    </p:spTree>
    <p:extLst>
      <p:ext uri="{BB962C8B-B14F-4D97-AF65-F5344CB8AC3E}">
        <p14:creationId xmlns:p14="http://schemas.microsoft.com/office/powerpoint/2010/main" val="2549290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t>Ronald L. Graham. An efficient algorithm for determining the convex hull of a finite planar set. </a:t>
            </a:r>
            <a:r>
              <a:rPr lang="en-US" altLang="zh-TW" i="1" dirty="0"/>
              <a:t>Information Processing Letters</a:t>
            </a:r>
            <a:r>
              <a:rPr lang="en-US" altLang="zh-TW" dirty="0"/>
              <a:t>, 1(4):132–133, 1972.</a:t>
            </a:r>
          </a:p>
        </p:txBody>
      </p:sp>
    </p:spTree>
    <p:extLst>
      <p:ext uri="{BB962C8B-B14F-4D97-AF65-F5344CB8AC3E}">
        <p14:creationId xmlns:p14="http://schemas.microsoft.com/office/powerpoint/2010/main" val="3554794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t>Line 1 chooses point </a:t>
            </a:r>
            <a:r>
              <a:rPr lang="en-US" altLang="zh-TW" i="1" dirty="0" err="1"/>
              <a:t>p</a:t>
            </a:r>
            <a:r>
              <a:rPr lang="en-US" altLang="zh-TW" baseline="-25000" dirty="0" err="1"/>
              <a:t>0</a:t>
            </a:r>
            <a:r>
              <a:rPr lang="en-US" altLang="zh-TW" dirty="0"/>
              <a:t> as the point with the lowest </a:t>
            </a:r>
            <a:r>
              <a:rPr lang="en-US" altLang="zh-TW" i="1" dirty="0"/>
              <a:t>y</a:t>
            </a:r>
            <a:r>
              <a:rPr lang="en-US" altLang="zh-TW" dirty="0"/>
              <a:t>-coordinate, picking the leftmost such point in case of a tie.</a:t>
            </a:r>
          </a:p>
          <a:p>
            <a:r>
              <a:rPr lang="en-US" altLang="zh-TW" dirty="0"/>
              <a:t>Since there is no point in </a:t>
            </a:r>
            <a:r>
              <a:rPr lang="en-US" altLang="zh-TW" i="1" dirty="0"/>
              <a:t>Q</a:t>
            </a:r>
            <a:r>
              <a:rPr lang="en-US" altLang="zh-TW" dirty="0"/>
              <a:t> that is below </a:t>
            </a:r>
            <a:r>
              <a:rPr lang="en-US" altLang="zh-TW" i="1" dirty="0" err="1">
                <a:solidFill>
                  <a:srgbClr val="000000"/>
                </a:solidFill>
              </a:rPr>
              <a:t>p</a:t>
            </a:r>
            <a:r>
              <a:rPr lang="en-US" altLang="zh-TW" baseline="-25000" dirty="0" err="1">
                <a:solidFill>
                  <a:srgbClr val="000000"/>
                </a:solidFill>
              </a:rPr>
              <a:t>0</a:t>
            </a:r>
            <a:r>
              <a:rPr lang="en-US" altLang="zh-TW" dirty="0"/>
              <a:t> and any other points with the same </a:t>
            </a:r>
            <a:r>
              <a:rPr lang="en-US" altLang="zh-TW" i="1" dirty="0"/>
              <a:t>y</a:t>
            </a:r>
            <a:r>
              <a:rPr lang="en-US" altLang="zh-TW" dirty="0"/>
              <a:t>-coordinate are to its right, </a:t>
            </a:r>
            <a:r>
              <a:rPr lang="en-US" altLang="zh-TW" i="1" dirty="0" err="1">
                <a:solidFill>
                  <a:srgbClr val="000000"/>
                </a:solidFill>
              </a:rPr>
              <a:t>p</a:t>
            </a:r>
            <a:r>
              <a:rPr lang="en-US" altLang="zh-TW" baseline="-25000" dirty="0" err="1">
                <a:solidFill>
                  <a:srgbClr val="000000"/>
                </a:solidFill>
              </a:rPr>
              <a:t>0</a:t>
            </a:r>
            <a:r>
              <a:rPr lang="en-US" altLang="zh-TW" dirty="0"/>
              <a:t> must be a vertex of </a:t>
            </a:r>
            <a:r>
              <a:rPr lang="en-US" altLang="zh-TW" dirty="0">
                <a:solidFill>
                  <a:srgbClr val="000000"/>
                </a:solidFill>
              </a:rPr>
              <a:t>CH(</a:t>
            </a:r>
            <a:r>
              <a:rPr lang="en-US" altLang="zh-TW" i="1" dirty="0">
                <a:solidFill>
                  <a:srgbClr val="000000"/>
                </a:solidFill>
              </a:rPr>
              <a:t>Q</a:t>
            </a:r>
            <a:r>
              <a:rPr lang="en-US" altLang="zh-TW" dirty="0">
                <a:solidFill>
                  <a:srgbClr val="000000"/>
                </a:solidFill>
              </a:rPr>
              <a:t>)</a:t>
            </a:r>
            <a:r>
              <a:rPr lang="en-US" altLang="zh-TW" dirty="0"/>
              <a:t>.</a:t>
            </a:r>
          </a:p>
          <a:p>
            <a:r>
              <a:rPr lang="en-US" altLang="zh-TW" dirty="0"/>
              <a:t>Line 2 sorts the remaining points of </a:t>
            </a:r>
            <a:r>
              <a:rPr lang="en-US" altLang="zh-TW" i="1" dirty="0"/>
              <a:t>Q</a:t>
            </a:r>
            <a:r>
              <a:rPr lang="en-US" altLang="zh-TW" dirty="0"/>
              <a:t> by polar angle relative to </a:t>
            </a:r>
            <a:r>
              <a:rPr lang="en-US" altLang="zh-TW" i="1" dirty="0" err="1">
                <a:solidFill>
                  <a:srgbClr val="000000"/>
                </a:solidFill>
              </a:rPr>
              <a:t>p</a:t>
            </a:r>
            <a:r>
              <a:rPr lang="en-US" altLang="zh-TW" baseline="-25000" dirty="0" err="1">
                <a:solidFill>
                  <a:srgbClr val="000000"/>
                </a:solidFill>
              </a:rPr>
              <a:t>0</a:t>
            </a:r>
            <a:r>
              <a:rPr lang="en-US" altLang="zh-TW" dirty="0"/>
              <a:t>.</a:t>
            </a:r>
          </a:p>
          <a:p>
            <a:r>
              <a:rPr lang="en-US" altLang="zh-TW" dirty="0"/>
              <a:t>If two or more points have the same polar angle relative to </a:t>
            </a:r>
            <a:r>
              <a:rPr lang="en-US" altLang="zh-TW" i="1" dirty="0" err="1">
                <a:solidFill>
                  <a:srgbClr val="000000"/>
                </a:solidFill>
              </a:rPr>
              <a:t>p</a:t>
            </a:r>
            <a:r>
              <a:rPr lang="en-US" altLang="zh-TW" baseline="-25000" dirty="0" err="1">
                <a:solidFill>
                  <a:srgbClr val="000000"/>
                </a:solidFill>
              </a:rPr>
              <a:t>0</a:t>
            </a:r>
            <a:r>
              <a:rPr lang="en-US" altLang="zh-TW" dirty="0"/>
              <a:t>, all but the farthest such point are convex combinations of </a:t>
            </a:r>
            <a:r>
              <a:rPr lang="en-US" altLang="zh-TW" i="1" dirty="0" err="1">
                <a:solidFill>
                  <a:srgbClr val="000000"/>
                </a:solidFill>
              </a:rPr>
              <a:t>p</a:t>
            </a:r>
            <a:r>
              <a:rPr lang="en-US" altLang="zh-TW" baseline="-25000" dirty="0" err="1">
                <a:solidFill>
                  <a:srgbClr val="000000"/>
                </a:solidFill>
              </a:rPr>
              <a:t>0</a:t>
            </a:r>
            <a:r>
              <a:rPr lang="en-US" altLang="zh-TW" dirty="0"/>
              <a:t> and the farthest point, and so we remove them entirely from consideration.</a:t>
            </a:r>
          </a:p>
          <a:p>
            <a:r>
              <a:rPr lang="en-US" altLang="zh-TW" dirty="0"/>
              <a:t>We let </a:t>
            </a:r>
            <a:r>
              <a:rPr lang="en-US" altLang="zh-TW" i="1" dirty="0"/>
              <a:t>m</a:t>
            </a:r>
            <a:r>
              <a:rPr lang="en-US" altLang="zh-TW" dirty="0"/>
              <a:t> denote the number of points other than </a:t>
            </a:r>
            <a:r>
              <a:rPr lang="en-US" altLang="zh-TW" i="1" dirty="0" err="1">
                <a:solidFill>
                  <a:srgbClr val="000000"/>
                </a:solidFill>
              </a:rPr>
              <a:t>p</a:t>
            </a:r>
            <a:r>
              <a:rPr lang="en-US" altLang="zh-TW" baseline="-25000" dirty="0" err="1">
                <a:solidFill>
                  <a:srgbClr val="000000"/>
                </a:solidFill>
              </a:rPr>
              <a:t>0</a:t>
            </a:r>
            <a:r>
              <a:rPr lang="en-US" altLang="zh-TW" dirty="0"/>
              <a:t> that remain.</a:t>
            </a:r>
          </a:p>
          <a:p>
            <a:r>
              <a:rPr lang="en-US" altLang="zh-TW" dirty="0"/>
              <a:t>The polar angle, measured in radians, of each point in </a:t>
            </a:r>
            <a:r>
              <a:rPr lang="en-US" altLang="zh-TW" i="1" dirty="0"/>
              <a:t>Q</a:t>
            </a:r>
            <a:r>
              <a:rPr lang="en-US" altLang="zh-TW" dirty="0"/>
              <a:t> relative to </a:t>
            </a:r>
            <a:r>
              <a:rPr lang="en-US" altLang="zh-TW" i="1" dirty="0" err="1">
                <a:solidFill>
                  <a:srgbClr val="000000"/>
                </a:solidFill>
              </a:rPr>
              <a:t>p</a:t>
            </a:r>
            <a:r>
              <a:rPr lang="en-US" altLang="zh-TW" baseline="-25000" dirty="0" err="1">
                <a:solidFill>
                  <a:srgbClr val="000000"/>
                </a:solidFill>
              </a:rPr>
              <a:t>0</a:t>
            </a:r>
            <a:r>
              <a:rPr lang="en-US" altLang="zh-TW" dirty="0"/>
              <a:t> is in the half-open interval [0, </a:t>
            </a:r>
            <a:r>
              <a:rPr lang="zh-TW" altLang="en-US" dirty="0">
                <a:latin typeface="Cambria Math" panose="02040503050406030204" pitchFamily="18" charset="0"/>
              </a:rPr>
              <a:t>𝜋</a:t>
            </a:r>
            <a:r>
              <a:rPr lang="en-US" altLang="zh-TW" dirty="0"/>
              <a:t>).</a:t>
            </a:r>
          </a:p>
          <a:p>
            <a:r>
              <a:rPr lang="en-US" altLang="zh-TW" dirty="0"/>
              <a:t>Since the points are sorted according to polar angles, they are sorted in counterclockwise order relative to </a:t>
            </a:r>
            <a:r>
              <a:rPr lang="en-US" altLang="zh-TW" i="1" dirty="0" err="1">
                <a:solidFill>
                  <a:srgbClr val="000000"/>
                </a:solidFill>
              </a:rPr>
              <a:t>p</a:t>
            </a:r>
            <a:r>
              <a:rPr lang="en-US" altLang="zh-TW" baseline="-25000" dirty="0" err="1">
                <a:solidFill>
                  <a:srgbClr val="000000"/>
                </a:solidFill>
              </a:rPr>
              <a:t>0</a:t>
            </a:r>
            <a:r>
              <a:rPr lang="en-US" altLang="zh-TW" dirty="0"/>
              <a:t>.</a:t>
            </a:r>
          </a:p>
          <a:p>
            <a:r>
              <a:rPr lang="en-US" altLang="zh-TW" dirty="0"/>
              <a:t>We designate this sorted sequence of points by</a:t>
            </a:r>
            <a:r>
              <a:rPr lang="zh-TW" altLang="en-US" dirty="0">
                <a:solidFill>
                  <a:srgbClr val="000000"/>
                </a:solidFill>
              </a:rPr>
              <a:t> </a:t>
            </a:r>
            <a:r>
              <a:rPr lang="zh-TW" altLang="en-US" spc="300" dirty="0">
                <a:solidFill>
                  <a:srgbClr val="000000"/>
                </a:solidFill>
                <a:sym typeface="Symbol" panose="05050102010706020507" pitchFamily="18" charset="2"/>
              </a:rPr>
              <a:t></a:t>
            </a:r>
            <a:r>
              <a:rPr lang="en-US" altLang="zh-TW" i="1" dirty="0" err="1">
                <a:solidFill>
                  <a:srgbClr val="000000"/>
                </a:solidFill>
              </a:rPr>
              <a:t>p</a:t>
            </a:r>
            <a:r>
              <a:rPr lang="en-US" altLang="zh-TW" baseline="-25000" dirty="0" err="1">
                <a:solidFill>
                  <a:srgbClr val="000000"/>
                </a:solidFill>
              </a:rPr>
              <a:t>1</a:t>
            </a:r>
            <a:r>
              <a:rPr lang="en-US" altLang="zh-TW" dirty="0">
                <a:solidFill>
                  <a:srgbClr val="000000"/>
                </a:solidFill>
              </a:rPr>
              <a:t>, </a:t>
            </a:r>
            <a:r>
              <a:rPr lang="en-US" altLang="zh-TW" i="1" dirty="0" err="1">
                <a:solidFill>
                  <a:srgbClr val="000000"/>
                </a:solidFill>
              </a:rPr>
              <a:t>p</a:t>
            </a:r>
            <a:r>
              <a:rPr lang="en-US" altLang="zh-TW" baseline="-25000" dirty="0" err="1">
                <a:solidFill>
                  <a:srgbClr val="000000"/>
                </a:solidFill>
              </a:rPr>
              <a:t>2</a:t>
            </a:r>
            <a:r>
              <a:rPr lang="en-US" altLang="zh-TW" dirty="0">
                <a:solidFill>
                  <a:srgbClr val="000000"/>
                </a:solidFill>
              </a:rPr>
              <a:t>, . . . , </a:t>
            </a:r>
            <a:r>
              <a:rPr lang="en-US" altLang="zh-TW" i="1" dirty="0">
                <a:solidFill>
                  <a:srgbClr val="000000"/>
                </a:solidFill>
              </a:rPr>
              <a:t>p</a:t>
            </a:r>
            <a:r>
              <a:rPr lang="en-US" altLang="zh-TW" i="1" baseline="-25000" dirty="0">
                <a:solidFill>
                  <a:srgbClr val="000000"/>
                </a:solidFill>
              </a:rPr>
              <a:t>m</a:t>
            </a:r>
            <a:r>
              <a:rPr lang="zh-TW" altLang="en-US" dirty="0">
                <a:solidFill>
                  <a:srgbClr val="000000"/>
                </a:solidFill>
                <a:sym typeface="Symbol" panose="05050102010706020507" pitchFamily="18" charset="2"/>
              </a:rPr>
              <a:t></a:t>
            </a:r>
            <a:r>
              <a:rPr lang="en-US" altLang="zh-TW" dirty="0"/>
              <a:t>.</a:t>
            </a:r>
          </a:p>
          <a:p>
            <a:r>
              <a:rPr lang="en-US" altLang="zh-TW" dirty="0"/>
              <a:t>Note that points </a:t>
            </a:r>
            <a:r>
              <a:rPr lang="en-US" altLang="zh-TW" i="1" dirty="0" err="1"/>
              <a:t>p</a:t>
            </a:r>
            <a:r>
              <a:rPr lang="en-US" altLang="zh-TW" baseline="-25000" dirty="0" err="1"/>
              <a:t>1</a:t>
            </a:r>
            <a:r>
              <a:rPr lang="en-US" altLang="zh-TW" dirty="0"/>
              <a:t> and </a:t>
            </a:r>
            <a:r>
              <a:rPr lang="en-US" altLang="zh-TW" i="1" dirty="0"/>
              <a:t>p</a:t>
            </a:r>
            <a:r>
              <a:rPr lang="en-US" altLang="zh-TW" i="1" baseline="-25000" dirty="0"/>
              <a:t>m</a:t>
            </a:r>
            <a:r>
              <a:rPr lang="en-US" altLang="zh-TW" dirty="0"/>
              <a:t> are vertices of </a:t>
            </a:r>
            <a:r>
              <a:rPr lang="en-US" altLang="zh-TW" dirty="0">
                <a:solidFill>
                  <a:srgbClr val="000000"/>
                </a:solidFill>
              </a:rPr>
              <a:t>CH(</a:t>
            </a:r>
            <a:r>
              <a:rPr lang="en-US" altLang="zh-TW" i="1" dirty="0">
                <a:solidFill>
                  <a:srgbClr val="000000"/>
                </a:solidFill>
              </a:rPr>
              <a:t>Q</a:t>
            </a:r>
            <a:r>
              <a:rPr lang="en-US" altLang="zh-TW" dirty="0">
                <a:solidFill>
                  <a:srgbClr val="000000"/>
                </a:solidFill>
              </a:rPr>
              <a:t>).</a:t>
            </a:r>
            <a:endParaRPr lang="zh-TW" altLang="en-US" dirty="0"/>
          </a:p>
        </p:txBody>
      </p:sp>
    </p:spTree>
    <p:extLst>
      <p:ext uri="{BB962C8B-B14F-4D97-AF65-F5344CB8AC3E}">
        <p14:creationId xmlns:p14="http://schemas.microsoft.com/office/powerpoint/2010/main" val="2715304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4" name="直線接點 3"/>
          <p:cNvCxnSpPr>
            <a:stCxn id="34" idx="2"/>
            <a:endCxn id="36" idx="0"/>
          </p:cNvCxnSpPr>
          <p:nvPr/>
        </p:nvCxnSpPr>
        <p:spPr bwMode="auto">
          <a:xfrm flipH="1">
            <a:off x="2052184" y="3608839"/>
            <a:ext cx="1800230" cy="2340368"/>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5" name="直線接點 4"/>
          <p:cNvCxnSpPr>
            <a:stCxn id="30" idx="3"/>
            <a:endCxn id="36" idx="0"/>
          </p:cNvCxnSpPr>
          <p:nvPr/>
        </p:nvCxnSpPr>
        <p:spPr bwMode="auto">
          <a:xfrm flipH="1">
            <a:off x="2052184" y="2168724"/>
            <a:ext cx="540023" cy="3780483"/>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6" name="直線接點 5"/>
          <p:cNvCxnSpPr>
            <a:stCxn id="32" idx="2"/>
            <a:endCxn id="36" idx="0"/>
          </p:cNvCxnSpPr>
          <p:nvPr/>
        </p:nvCxnSpPr>
        <p:spPr bwMode="auto">
          <a:xfrm flipH="1">
            <a:off x="2052184" y="3608839"/>
            <a:ext cx="540069" cy="2340368"/>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7" name="直線接點 6"/>
          <p:cNvCxnSpPr>
            <a:stCxn id="29" idx="2"/>
            <a:endCxn id="36" idx="0"/>
          </p:cNvCxnSpPr>
          <p:nvPr/>
        </p:nvCxnSpPr>
        <p:spPr bwMode="auto">
          <a:xfrm>
            <a:off x="1872161" y="3968885"/>
            <a:ext cx="180023" cy="1980322"/>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8" name="直線接點 7"/>
          <p:cNvCxnSpPr>
            <a:stCxn id="31" idx="3"/>
            <a:endCxn id="36" idx="0"/>
          </p:cNvCxnSpPr>
          <p:nvPr/>
        </p:nvCxnSpPr>
        <p:spPr bwMode="auto">
          <a:xfrm>
            <a:off x="972000" y="4689046"/>
            <a:ext cx="1080184" cy="1260161"/>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9" name="直線接點 8"/>
          <p:cNvCxnSpPr>
            <a:stCxn id="35" idx="2"/>
            <a:endCxn id="36" idx="0"/>
          </p:cNvCxnSpPr>
          <p:nvPr/>
        </p:nvCxnSpPr>
        <p:spPr bwMode="auto">
          <a:xfrm flipH="1">
            <a:off x="2052184" y="4148908"/>
            <a:ext cx="900115" cy="1800299"/>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0" name="直線接點 9"/>
          <p:cNvCxnSpPr>
            <a:stCxn id="33" idx="2"/>
            <a:endCxn id="36" idx="0"/>
          </p:cNvCxnSpPr>
          <p:nvPr/>
        </p:nvCxnSpPr>
        <p:spPr bwMode="auto">
          <a:xfrm flipH="1">
            <a:off x="2052184" y="3788862"/>
            <a:ext cx="1260161" cy="2160345"/>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1" name="直線接點 10"/>
          <p:cNvCxnSpPr>
            <a:stCxn id="37" idx="0"/>
            <a:endCxn id="36" idx="0"/>
          </p:cNvCxnSpPr>
          <p:nvPr/>
        </p:nvCxnSpPr>
        <p:spPr bwMode="auto">
          <a:xfrm flipH="1">
            <a:off x="2052184" y="3788931"/>
            <a:ext cx="2880368" cy="216027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2" name="直線接點 11"/>
          <p:cNvCxnSpPr/>
          <p:nvPr/>
        </p:nvCxnSpPr>
        <p:spPr bwMode="auto">
          <a:xfrm flipH="1">
            <a:off x="2052230" y="5589161"/>
            <a:ext cx="3600506" cy="36004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3" name="直線接點 12"/>
          <p:cNvCxnSpPr>
            <a:stCxn id="40" idx="1"/>
            <a:endCxn id="36" idx="0"/>
          </p:cNvCxnSpPr>
          <p:nvPr/>
        </p:nvCxnSpPr>
        <p:spPr bwMode="auto">
          <a:xfrm flipH="1">
            <a:off x="2052184" y="5049092"/>
            <a:ext cx="3420483" cy="900115"/>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4" name="直線接點 13"/>
          <p:cNvCxnSpPr>
            <a:stCxn id="38" idx="1"/>
            <a:endCxn id="36" idx="0"/>
          </p:cNvCxnSpPr>
          <p:nvPr/>
        </p:nvCxnSpPr>
        <p:spPr bwMode="auto">
          <a:xfrm flipH="1">
            <a:off x="2052184" y="4329000"/>
            <a:ext cx="4320598" cy="1620207"/>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5" name="直線接點 14"/>
          <p:cNvCxnSpPr>
            <a:stCxn id="41" idx="0"/>
            <a:endCxn id="36" idx="0"/>
          </p:cNvCxnSpPr>
          <p:nvPr/>
        </p:nvCxnSpPr>
        <p:spPr bwMode="auto">
          <a:xfrm flipH="1">
            <a:off x="2052184" y="4329000"/>
            <a:ext cx="3240414" cy="1620207"/>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161" y="3428885"/>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232253"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299" y="3608908"/>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5472667" y="4689046"/>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250229617"/>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3" name="矩形 42"/>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2913737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直線接點 44"/>
          <p:cNvCxnSpPr/>
          <p:nvPr/>
        </p:nvCxnSpPr>
        <p:spPr bwMode="auto">
          <a:xfrm>
            <a:off x="5472000" y="5049000"/>
            <a:ext cx="180116"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8" idx="1"/>
            <a:endCxn id="40" idx="3"/>
          </p:cNvCxnSpPr>
          <p:nvPr/>
        </p:nvCxnSpPr>
        <p:spPr bwMode="auto">
          <a:xfrm flipH="1">
            <a:off x="5471977" y="4329000"/>
            <a:ext cx="900805" cy="72004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2245844448"/>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2</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9" name="矩形 48"/>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3788585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8" idx="1"/>
            <a:endCxn id="39" idx="1"/>
          </p:cNvCxnSpPr>
          <p:nvPr/>
        </p:nvCxnSpPr>
        <p:spPr bwMode="auto">
          <a:xfrm flipH="1">
            <a:off x="5652690" y="4329000"/>
            <a:ext cx="720092" cy="1260161"/>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2447795325"/>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3" name="矩形 42"/>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6" name="矩形 45"/>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1020750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41" idx="0"/>
            <a:endCxn id="38" idx="1"/>
          </p:cNvCxnSpPr>
          <p:nvPr/>
        </p:nvCxnSpPr>
        <p:spPr bwMode="auto">
          <a:xfrm>
            <a:off x="5292598" y="4329000"/>
            <a:ext cx="1080184" cy="0"/>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2865529770"/>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3" name="矩形 42"/>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6" name="矩形 45"/>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148828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線接點 42"/>
          <p:cNvCxnSpPr>
            <a:stCxn id="41" idx="0"/>
            <a:endCxn id="38" idx="1"/>
          </p:cNvCxnSpPr>
          <p:nvPr/>
        </p:nvCxnSpPr>
        <p:spPr bwMode="auto">
          <a:xfrm>
            <a:off x="5292598" y="4329000"/>
            <a:ext cx="1080184" cy="0"/>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7" idx="0"/>
            <a:endCxn id="41" idx="0"/>
          </p:cNvCxnSpPr>
          <p:nvPr/>
        </p:nvCxnSpPr>
        <p:spPr bwMode="auto">
          <a:xfrm>
            <a:off x="4932552" y="3788931"/>
            <a:ext cx="360046" cy="540069"/>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292530612"/>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4</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7" name="矩形 46"/>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351890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7" idx="0"/>
            <a:endCxn id="38" idx="1"/>
          </p:cNvCxnSpPr>
          <p:nvPr/>
        </p:nvCxnSpPr>
        <p:spPr bwMode="auto">
          <a:xfrm>
            <a:off x="4932552" y="3788931"/>
            <a:ext cx="1440230" cy="540069"/>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1125765679"/>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7" name="矩形 46"/>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3582011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4" idx="2"/>
            <a:endCxn id="37" idx="0"/>
          </p:cNvCxnSpPr>
          <p:nvPr/>
        </p:nvCxnSpPr>
        <p:spPr bwMode="auto">
          <a:xfrm>
            <a:off x="3852414" y="3608839"/>
            <a:ext cx="1080138" cy="180092"/>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4285681942"/>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7" name="矩形 46"/>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830814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直線接點 46"/>
          <p:cNvCxnSpPr>
            <a:stCxn id="34" idx="2"/>
            <a:endCxn id="37" idx="0"/>
          </p:cNvCxnSpPr>
          <p:nvPr/>
        </p:nvCxnSpPr>
        <p:spPr bwMode="auto">
          <a:xfrm>
            <a:off x="3852414" y="3608839"/>
            <a:ext cx="1080138" cy="18009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endCxn id="34" idx="2"/>
          </p:cNvCxnSpPr>
          <p:nvPr/>
        </p:nvCxnSpPr>
        <p:spPr bwMode="auto">
          <a:xfrm flipV="1">
            <a:off x="3312000" y="3608839"/>
            <a:ext cx="540414" cy="180162"/>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3178872756"/>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6</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8" name="矩形 47"/>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547896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p:cNvCxnSpPr>
            <a:endCxn id="34" idx="2"/>
          </p:cNvCxnSpPr>
          <p:nvPr/>
        </p:nvCxnSpPr>
        <p:spPr bwMode="auto">
          <a:xfrm flipV="1">
            <a:off x="3312000" y="3608839"/>
            <a:ext cx="540414" cy="180161"/>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7" name="直線接點 46"/>
          <p:cNvCxnSpPr>
            <a:stCxn id="34" idx="2"/>
            <a:endCxn id="37" idx="0"/>
          </p:cNvCxnSpPr>
          <p:nvPr/>
        </p:nvCxnSpPr>
        <p:spPr bwMode="auto">
          <a:xfrm>
            <a:off x="3852414" y="3608839"/>
            <a:ext cx="1080138" cy="18009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p:nvPr/>
        </p:nvCxnSpPr>
        <p:spPr bwMode="auto">
          <a:xfrm flipV="1">
            <a:off x="2952000" y="3789000"/>
            <a:ext cx="359701" cy="359908"/>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3436639164"/>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6</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7</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
        <p:nvSpPr>
          <p:cNvPr id="49" name="矩形 48"/>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Tree>
    <p:extLst>
      <p:ext uri="{BB962C8B-B14F-4D97-AF65-F5344CB8AC3E}">
        <p14:creationId xmlns:p14="http://schemas.microsoft.com/office/powerpoint/2010/main" val="2661119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直線接點 48"/>
          <p:cNvCxnSpPr/>
          <p:nvPr/>
        </p:nvCxnSpPr>
        <p:spPr bwMode="auto">
          <a:xfrm flipV="1">
            <a:off x="2952000" y="3789000"/>
            <a:ext cx="359701" cy="359908"/>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8" name="直線接點 47"/>
          <p:cNvCxnSpPr>
            <a:endCxn id="34" idx="2"/>
          </p:cNvCxnSpPr>
          <p:nvPr/>
        </p:nvCxnSpPr>
        <p:spPr bwMode="auto">
          <a:xfrm flipV="1">
            <a:off x="3312000" y="3608839"/>
            <a:ext cx="540414" cy="180161"/>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7" name="直線接點 46"/>
          <p:cNvCxnSpPr>
            <a:stCxn id="34" idx="2"/>
            <a:endCxn id="37" idx="0"/>
          </p:cNvCxnSpPr>
          <p:nvPr/>
        </p:nvCxnSpPr>
        <p:spPr bwMode="auto">
          <a:xfrm>
            <a:off x="3852414" y="3608839"/>
            <a:ext cx="1080138" cy="18009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p:nvPr/>
        </p:nvCxnSpPr>
        <p:spPr bwMode="auto">
          <a:xfrm>
            <a:off x="2592000" y="3609000"/>
            <a:ext cx="360299" cy="539908"/>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1293532844"/>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6</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7</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8</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4215174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p:cNvCxnSpPr>
            <a:endCxn id="34" idx="2"/>
          </p:cNvCxnSpPr>
          <p:nvPr/>
        </p:nvCxnSpPr>
        <p:spPr bwMode="auto">
          <a:xfrm flipV="1">
            <a:off x="3312000" y="3608839"/>
            <a:ext cx="540414" cy="180161"/>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7" name="直線接點 46"/>
          <p:cNvCxnSpPr>
            <a:stCxn id="34" idx="2"/>
            <a:endCxn id="37" idx="0"/>
          </p:cNvCxnSpPr>
          <p:nvPr/>
        </p:nvCxnSpPr>
        <p:spPr bwMode="auto">
          <a:xfrm>
            <a:off x="3852414" y="3608839"/>
            <a:ext cx="1080138" cy="18009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endCxn id="33" idx="2"/>
          </p:cNvCxnSpPr>
          <p:nvPr/>
        </p:nvCxnSpPr>
        <p:spPr bwMode="auto">
          <a:xfrm>
            <a:off x="2592000" y="3609000"/>
            <a:ext cx="720345" cy="179862"/>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345" y="3248862"/>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3334738313"/>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6</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7</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4116843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直線接點 46"/>
          <p:cNvCxnSpPr>
            <a:stCxn id="34" idx="2"/>
            <a:endCxn id="37" idx="0"/>
          </p:cNvCxnSpPr>
          <p:nvPr/>
        </p:nvCxnSpPr>
        <p:spPr bwMode="auto">
          <a:xfrm>
            <a:off x="3852414" y="3608839"/>
            <a:ext cx="1080138" cy="18009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endCxn id="34" idx="2"/>
          </p:cNvCxnSpPr>
          <p:nvPr/>
        </p:nvCxnSpPr>
        <p:spPr bwMode="auto">
          <a:xfrm flipV="1">
            <a:off x="2592000" y="3608839"/>
            <a:ext cx="1260414" cy="161"/>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1363045299"/>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6</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2750024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p:cNvCxnSpPr>
            <a:stCxn id="32" idx="3"/>
            <a:endCxn id="34" idx="2"/>
          </p:cNvCxnSpPr>
          <p:nvPr/>
        </p:nvCxnSpPr>
        <p:spPr bwMode="auto">
          <a:xfrm flipV="1">
            <a:off x="2592000" y="3608839"/>
            <a:ext cx="1260414" cy="161"/>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7" name="直線接點 46"/>
          <p:cNvCxnSpPr>
            <a:stCxn id="34" idx="2"/>
            <a:endCxn id="37" idx="0"/>
          </p:cNvCxnSpPr>
          <p:nvPr/>
        </p:nvCxnSpPr>
        <p:spPr bwMode="auto">
          <a:xfrm>
            <a:off x="3852414" y="3608839"/>
            <a:ext cx="1080138" cy="18009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0" idx="3"/>
            <a:endCxn id="32" idx="3"/>
          </p:cNvCxnSpPr>
          <p:nvPr/>
        </p:nvCxnSpPr>
        <p:spPr bwMode="auto">
          <a:xfrm flipH="1">
            <a:off x="2592000" y="2168724"/>
            <a:ext cx="207" cy="144027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414" y="3068839"/>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1753100262"/>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6</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9</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1900926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直線接點 46"/>
          <p:cNvCxnSpPr>
            <a:stCxn id="34" idx="2"/>
            <a:endCxn id="37" idx="0"/>
          </p:cNvCxnSpPr>
          <p:nvPr/>
        </p:nvCxnSpPr>
        <p:spPr bwMode="auto">
          <a:xfrm>
            <a:off x="3852414" y="3608839"/>
            <a:ext cx="1080138" cy="18009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0" idx="3"/>
            <a:endCxn id="34" idx="0"/>
          </p:cNvCxnSpPr>
          <p:nvPr/>
        </p:nvCxnSpPr>
        <p:spPr bwMode="auto">
          <a:xfrm>
            <a:off x="2592207" y="2168724"/>
            <a:ext cx="1259793" cy="144027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3185483313"/>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6</a:t>
                      </a: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176704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線接點 42"/>
          <p:cNvCxnSpPr>
            <a:stCxn id="37" idx="0"/>
            <a:endCxn id="38" idx="1"/>
          </p:cNvCxnSpPr>
          <p:nvPr/>
        </p:nvCxnSpPr>
        <p:spPr bwMode="auto">
          <a:xfrm>
            <a:off x="4932552" y="3788931"/>
            <a:ext cx="1440230" cy="54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0" idx="3"/>
            <a:endCxn id="37" idx="0"/>
          </p:cNvCxnSpPr>
          <p:nvPr/>
        </p:nvCxnSpPr>
        <p:spPr bwMode="auto">
          <a:xfrm>
            <a:off x="2592207" y="2168724"/>
            <a:ext cx="2340345" cy="1620207"/>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3965548942"/>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5</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3892436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0" idx="3"/>
            <a:endCxn id="38" idx="1"/>
          </p:cNvCxnSpPr>
          <p:nvPr/>
        </p:nvCxnSpPr>
        <p:spPr bwMode="auto">
          <a:xfrm>
            <a:off x="2592207" y="2168724"/>
            <a:ext cx="3780575" cy="216027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1406008391"/>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2334072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線接點 42"/>
          <p:cNvCxnSpPr>
            <a:stCxn id="30" idx="3"/>
            <a:endCxn id="38" idx="1"/>
          </p:cNvCxnSpPr>
          <p:nvPr/>
        </p:nvCxnSpPr>
        <p:spPr bwMode="auto">
          <a:xfrm>
            <a:off x="2592207" y="2168724"/>
            <a:ext cx="3780575" cy="216027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29" idx="0"/>
            <a:endCxn id="30" idx="3"/>
          </p:cNvCxnSpPr>
          <p:nvPr/>
        </p:nvCxnSpPr>
        <p:spPr bwMode="auto">
          <a:xfrm flipV="1">
            <a:off x="1872000" y="2168724"/>
            <a:ext cx="720207" cy="180027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3798336204"/>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000" i="1" dirty="0" err="1">
                          <a:latin typeface="+mn-lt"/>
                        </a:rPr>
                        <a:t>p</a:t>
                      </a:r>
                      <a:r>
                        <a:rPr lang="en-US" altLang="zh-TW" sz="2000" baseline="-25000" dirty="0" err="1">
                          <a:latin typeface="+mn-lt"/>
                        </a:rPr>
                        <a:t>10</a:t>
                      </a:r>
                      <a:endParaRPr lang="zh-TW" altLang="en-US" sz="2000" baseline="-250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3000408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直線接點 46"/>
          <p:cNvCxnSpPr>
            <a:stCxn id="29" idx="0"/>
            <a:endCxn id="30" idx="3"/>
          </p:cNvCxnSpPr>
          <p:nvPr/>
        </p:nvCxnSpPr>
        <p:spPr bwMode="auto">
          <a:xfrm flipV="1">
            <a:off x="1872000" y="2168724"/>
            <a:ext cx="720207" cy="180027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0" idx="3"/>
            <a:endCxn id="38" idx="1"/>
          </p:cNvCxnSpPr>
          <p:nvPr/>
        </p:nvCxnSpPr>
        <p:spPr bwMode="auto">
          <a:xfrm>
            <a:off x="2592207" y="2168724"/>
            <a:ext cx="3780575" cy="216027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1" idx="3"/>
            <a:endCxn id="29" idx="0"/>
          </p:cNvCxnSpPr>
          <p:nvPr/>
        </p:nvCxnSpPr>
        <p:spPr bwMode="auto">
          <a:xfrm flipV="1">
            <a:off x="972000" y="3969000"/>
            <a:ext cx="900000" cy="720046"/>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507843714"/>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000" i="1" dirty="0" err="1">
                          <a:latin typeface="+mn-lt"/>
                        </a:rPr>
                        <a:t>p</a:t>
                      </a:r>
                      <a:r>
                        <a:rPr lang="en-US" altLang="zh-TW" sz="2000" baseline="-25000" dirty="0" err="1">
                          <a:latin typeface="+mn-lt"/>
                        </a:rPr>
                        <a:t>10</a:t>
                      </a:r>
                      <a:endParaRPr lang="zh-TW" altLang="en-US" sz="2000" baseline="-250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kumimoji="0" lang="en-US" altLang="zh-TW" sz="2000" b="0" i="1" u="none" strike="noStrike" kern="1200" cap="none" spc="0" normalizeH="0" baseline="0" noProof="0" dirty="0" err="1">
                          <a:ln>
                            <a:noFill/>
                          </a:ln>
                          <a:solidFill>
                            <a:srgbClr val="000000"/>
                          </a:solidFill>
                          <a:effectLst/>
                          <a:uLnTx/>
                          <a:uFillTx/>
                          <a:latin typeface="+mn-lt"/>
                          <a:cs typeface="+mn-cs"/>
                        </a:rPr>
                        <a:t>p</a:t>
                      </a:r>
                      <a:r>
                        <a:rPr kumimoji="0" lang="en-US" altLang="zh-TW" sz="2000" b="0" i="0" u="none" strike="noStrike" kern="1200" cap="none" spc="0" normalizeH="0" baseline="-25000" noProof="0" dirty="0" err="1">
                          <a:ln>
                            <a:noFill/>
                          </a:ln>
                          <a:solidFill>
                            <a:srgbClr val="000000"/>
                          </a:solidFill>
                          <a:effectLst/>
                          <a:uLnTx/>
                          <a:uFillTx/>
                          <a:latin typeface="+mn-lt"/>
                          <a:cs typeface="+mn-cs"/>
                        </a:rPr>
                        <a:t>11</a:t>
                      </a:r>
                      <a:endParaRPr lang="zh-TW" altLang="en-US" sz="22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589145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線接點 42"/>
          <p:cNvCxnSpPr>
            <a:stCxn id="30" idx="3"/>
            <a:endCxn id="38" idx="1"/>
          </p:cNvCxnSpPr>
          <p:nvPr/>
        </p:nvCxnSpPr>
        <p:spPr bwMode="auto">
          <a:xfrm>
            <a:off x="2592207" y="2168724"/>
            <a:ext cx="3780575" cy="216027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3" name="直線接點 12"/>
          <p:cNvCxnSpPr>
            <a:stCxn id="31" idx="3"/>
            <a:endCxn id="30" idx="3"/>
          </p:cNvCxnSpPr>
          <p:nvPr/>
        </p:nvCxnSpPr>
        <p:spPr bwMode="auto">
          <a:xfrm flipV="1">
            <a:off x="972000" y="2168724"/>
            <a:ext cx="1620207" cy="2520322"/>
          </a:xfrm>
          <a:prstGeom prst="line">
            <a:avLst/>
          </a:prstGeom>
          <a:solidFill>
            <a:schemeClr val="accent1"/>
          </a:solidFill>
          <a:ln w="12700" cap="flat" cmpd="sng" algn="ctr">
            <a:solidFill>
              <a:srgbClr val="00B050"/>
            </a:solidFill>
            <a:prstDash val="sysDash"/>
            <a:miter lim="800000"/>
            <a:headEnd type="none" w="med" len="med"/>
            <a:tailEnd type="none" w="med" len="med"/>
          </a:ln>
          <a:effectLst/>
        </p:spPr>
      </p:cxn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1790483"/>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000" i="1" dirty="0" err="1">
                          <a:latin typeface="+mn-lt"/>
                        </a:rPr>
                        <a:t>p</a:t>
                      </a:r>
                      <a:r>
                        <a:rPr lang="en-US" altLang="zh-TW" sz="2000" baseline="-25000" dirty="0" err="1">
                          <a:latin typeface="+mn-lt"/>
                        </a:rPr>
                        <a:t>10</a:t>
                      </a:r>
                      <a:endParaRPr lang="zh-TW" altLang="en-US" sz="2000" baseline="-250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2874867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直線接點 46"/>
          <p:cNvCxnSpPr>
            <a:stCxn id="31" idx="3"/>
            <a:endCxn id="30" idx="3"/>
          </p:cNvCxnSpPr>
          <p:nvPr/>
        </p:nvCxnSpPr>
        <p:spPr bwMode="auto">
          <a:xfrm flipV="1">
            <a:off x="972000" y="2168724"/>
            <a:ext cx="1620207" cy="252032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0" idx="3"/>
            <a:endCxn id="38" idx="1"/>
          </p:cNvCxnSpPr>
          <p:nvPr/>
        </p:nvCxnSpPr>
        <p:spPr bwMode="auto">
          <a:xfrm>
            <a:off x="2592207" y="2168724"/>
            <a:ext cx="3780575" cy="216027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2080111068"/>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000" i="1" dirty="0" err="1">
                          <a:latin typeface="+mn-lt"/>
                        </a:rPr>
                        <a:t>p</a:t>
                      </a:r>
                      <a:r>
                        <a:rPr lang="en-US" altLang="zh-TW" sz="2000" baseline="-25000" dirty="0" err="1">
                          <a:latin typeface="+mn-lt"/>
                        </a:rPr>
                        <a:t>10</a:t>
                      </a:r>
                      <a:endParaRPr lang="zh-TW" altLang="en-US" sz="2000" baseline="-250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kumimoji="0" lang="en-US" altLang="zh-TW" sz="2000" b="0" i="1" u="none" strike="noStrike" kern="1200" cap="none" spc="0" normalizeH="0" baseline="0" noProof="0" dirty="0" err="1">
                          <a:ln>
                            <a:noFill/>
                          </a:ln>
                          <a:solidFill>
                            <a:srgbClr val="000000"/>
                          </a:solidFill>
                          <a:effectLst/>
                          <a:uLnTx/>
                          <a:uFillTx/>
                          <a:latin typeface="+mn-lt"/>
                          <a:cs typeface="+mn-cs"/>
                        </a:rPr>
                        <a:t>p</a:t>
                      </a:r>
                      <a:r>
                        <a:rPr kumimoji="0" lang="en-US" altLang="zh-TW" sz="2000" b="0" i="0" u="none" strike="noStrike" kern="1200" cap="none" spc="0" normalizeH="0" baseline="-25000" noProof="0" dirty="0" err="1">
                          <a:ln>
                            <a:noFill/>
                          </a:ln>
                          <a:solidFill>
                            <a:srgbClr val="000000"/>
                          </a:solidFill>
                          <a:effectLst/>
                          <a:uLnTx/>
                          <a:uFillTx/>
                          <a:latin typeface="+mn-lt"/>
                          <a:cs typeface="+mn-cs"/>
                        </a:rPr>
                        <a:t>12</a:t>
                      </a:r>
                      <a:endParaRPr lang="zh-TW" altLang="en-US" sz="22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650061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p:cNvCxnSpPr>
            <a:stCxn id="36" idx="0"/>
            <a:endCxn id="31" idx="3"/>
          </p:cNvCxnSpPr>
          <p:nvPr/>
        </p:nvCxnSpPr>
        <p:spPr bwMode="auto">
          <a:xfrm flipH="1" flipV="1">
            <a:off x="972000" y="4689046"/>
            <a:ext cx="1080184" cy="1260161"/>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7" name="直線接點 46"/>
          <p:cNvCxnSpPr>
            <a:stCxn id="31" idx="3"/>
            <a:endCxn id="30" idx="3"/>
          </p:cNvCxnSpPr>
          <p:nvPr/>
        </p:nvCxnSpPr>
        <p:spPr bwMode="auto">
          <a:xfrm flipV="1">
            <a:off x="972000" y="2168724"/>
            <a:ext cx="1620207" cy="2520322"/>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3" name="直線接點 42"/>
          <p:cNvCxnSpPr>
            <a:stCxn id="30" idx="3"/>
            <a:endCxn id="38" idx="1"/>
          </p:cNvCxnSpPr>
          <p:nvPr/>
        </p:nvCxnSpPr>
        <p:spPr bwMode="auto">
          <a:xfrm>
            <a:off x="2592207" y="2168724"/>
            <a:ext cx="3780575" cy="216027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5" name="直線接點 44"/>
          <p:cNvCxnSpPr>
            <a:stCxn id="38" idx="1"/>
          </p:cNvCxnSpPr>
          <p:nvPr/>
        </p:nvCxnSpPr>
        <p:spPr bwMode="auto">
          <a:xfrm flipH="1">
            <a:off x="5652116" y="4329000"/>
            <a:ext cx="720666" cy="1260069"/>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cxnSp>
        <p:nvCxnSpPr>
          <p:cNvPr id="44" name="直線接點 43"/>
          <p:cNvCxnSpPr/>
          <p:nvPr/>
        </p:nvCxnSpPr>
        <p:spPr bwMode="auto">
          <a:xfrm flipH="1">
            <a:off x="2052000" y="5589000"/>
            <a:ext cx="3600506" cy="360046"/>
          </a:xfrm>
          <a:prstGeom prst="line">
            <a:avLst/>
          </a:prstGeom>
          <a:solidFill>
            <a:schemeClr val="accent1"/>
          </a:solidFill>
          <a:ln w="28575" cap="flat" cmpd="sng" algn="ctr">
            <a:solidFill>
              <a:srgbClr val="00B0F0"/>
            </a:solidFill>
            <a:prstDash val="solid"/>
            <a:miter lim="800000"/>
            <a:headEnd type="none" w="med" len="med"/>
            <a:tailEnd type="none" w="med" len="med"/>
          </a:ln>
          <a:effectLst/>
        </p:spPr>
      </p:cxnSp>
      <p:sp>
        <p:nvSpPr>
          <p:cNvPr id="3" name="內容版面配置區 2"/>
          <p:cNvSpPr>
            <a:spLocks noGrp="1"/>
          </p:cNvSpPr>
          <p:nvPr>
            <p:ph idx="1"/>
          </p:nvPr>
        </p:nvSpPr>
        <p:spPr/>
        <p:txBody>
          <a:bodyPr/>
          <a:lstStyle/>
          <a:p>
            <a:pPr lvl="0">
              <a:spcBef>
                <a:spcPts val="0"/>
              </a:spcBef>
              <a:buClr>
                <a:srgbClr val="000000"/>
              </a:buClr>
            </a:pPr>
            <a:r>
              <a:rPr lang="en-US" altLang="zh-TW" dirty="0">
                <a:solidFill>
                  <a:srgbClr val="0000FF"/>
                </a:solidFill>
                <a:latin typeface="Lucida Console"/>
              </a:rPr>
              <a:t>for</a:t>
            </a:r>
            <a:r>
              <a:rPr lang="en-US" altLang="zh-TW" dirty="0">
                <a:solidFill>
                  <a:srgbClr val="000000"/>
                </a:solidFill>
                <a:latin typeface="Lucida Console"/>
              </a:rPr>
              <a:t>( </a:t>
            </a:r>
            <a:r>
              <a:rPr lang="en-US" altLang="zh-TW" dirty="0" err="1">
                <a:solidFill>
                  <a:srgbClr val="2B91AF"/>
                </a:solidFill>
                <a:latin typeface="Lucida Console"/>
              </a:rPr>
              <a:t>size_t</a:t>
            </a:r>
            <a:r>
              <a:rPr lang="en-US" altLang="zh-TW" dirty="0">
                <a:solidFill>
                  <a:srgbClr val="000000"/>
                </a:solidFill>
                <a:latin typeface="Lucida Console"/>
              </a:rPr>
              <a:t> i = 3; i &lt; </a:t>
            </a:r>
            <a:r>
              <a:rPr lang="en-US" altLang="zh-TW" dirty="0" err="1">
                <a:solidFill>
                  <a:srgbClr val="000000"/>
                </a:solidFill>
                <a:latin typeface="Lucida Console"/>
              </a:rPr>
              <a:t>p.size</a:t>
            </a:r>
            <a:r>
              <a:rPr lang="en-US" altLang="zh-TW" dirty="0">
                <a:solidFill>
                  <a:srgbClr val="000000"/>
                </a:solidFill>
                <a:latin typeface="Lucida Console"/>
              </a:rPr>
              <a:t>(); ++i )</a:t>
            </a:r>
          </a:p>
          <a:p>
            <a:pPr lvl="0">
              <a:spcBef>
                <a:spcPts val="0"/>
              </a:spcBef>
              <a:buClr>
                <a:srgbClr val="000000"/>
              </a:buClr>
            </a:pPr>
            <a:r>
              <a:rPr lang="en-US" altLang="zh-TW" dirty="0">
                <a:solidFill>
                  <a:srgbClr val="000000"/>
                </a:solidFill>
                <a:latin typeface="Lucida Console"/>
              </a:rPr>
              <a:t>{</a:t>
            </a:r>
          </a:p>
          <a:p>
            <a:pPr lvl="0">
              <a:lnSpc>
                <a:spcPct val="50000"/>
              </a:lnSpc>
              <a:spcBef>
                <a:spcPts val="0"/>
              </a:spcBef>
              <a:buClr>
                <a:srgbClr val="000000"/>
              </a:buClr>
            </a:pPr>
            <a:r>
              <a:rPr lang="en-US" altLang="zh-TW" dirty="0">
                <a:solidFill>
                  <a:srgbClr val="000000"/>
                </a:solidFill>
                <a:latin typeface="Lucida Console"/>
              </a:rPr>
              <a:t>   </a:t>
            </a:r>
            <a:r>
              <a:rPr lang="en-US" altLang="zh-TW" dirty="0">
                <a:solidFill>
                  <a:srgbClr val="0000FF"/>
                </a:solidFill>
                <a:latin typeface="Lucida Console"/>
              </a:rPr>
              <a:t>while</a:t>
            </a:r>
            <a:r>
              <a:rPr lang="en-US" altLang="zh-TW" dirty="0">
                <a:solidFill>
                  <a:srgbClr val="000000"/>
                </a:solidFill>
                <a:latin typeface="Lucida Console"/>
              </a:rPr>
              <a:t>( !</a:t>
            </a:r>
            <a:r>
              <a:rPr lang="en-US" altLang="zh-TW" dirty="0" err="1">
                <a:solidFill>
                  <a:srgbClr val="000000"/>
                </a:solidFill>
                <a:latin typeface="Lucida Console"/>
              </a:rPr>
              <a:t>leftTurn</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2 ),</a:t>
            </a:r>
          </a:p>
          <a:p>
            <a:pPr lvl="0">
              <a:spcBef>
                <a:spcPts val="0"/>
              </a:spcBef>
              <a:buClr>
                <a:srgbClr val="000000"/>
              </a:buClr>
            </a:pP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a:t>
            </a:r>
            <a:r>
              <a:rPr lang="en-US" altLang="zh-TW" dirty="0" err="1">
                <a:solidFill>
                  <a:srgbClr val="000000"/>
                </a:solidFill>
                <a:latin typeface="Lucida Console"/>
              </a:rPr>
              <a:t>convexHull.end</a:t>
            </a:r>
            <a:r>
              <a:rPr lang="en-US" altLang="zh-TW" dirty="0">
                <a:solidFill>
                  <a:srgbClr val="000000"/>
                </a:solidFill>
                <a:latin typeface="Lucida Console"/>
              </a:rPr>
              <a:t>() </a:t>
            </a:r>
            <a:r>
              <a:rPr lang="en-US" altLang="zh-TW" dirty="0">
                <a:solidFill>
                  <a:srgbClr val="008080"/>
                </a:solidFill>
                <a:latin typeface="Lucida Console"/>
              </a:rPr>
              <a:t>-</a:t>
            </a:r>
            <a:r>
              <a:rPr lang="en-US" altLang="zh-TW" dirty="0">
                <a:solidFill>
                  <a:srgbClr val="000000"/>
                </a:solidFill>
                <a:latin typeface="Lucida Console"/>
              </a:rPr>
              <a:t> 1 ),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 )</a:t>
            </a: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convexHull.pop_back</a:t>
            </a:r>
            <a:r>
              <a:rPr lang="en-US" altLang="zh-TW" dirty="0">
                <a:solidFill>
                  <a:srgbClr val="000000"/>
                </a:solidFill>
                <a:latin typeface="Lucida Console"/>
              </a:rPr>
              <a:t>();</a:t>
            </a:r>
            <a:endParaRPr lang="zh-TW" altLang="en-US" dirty="0">
              <a:solidFill>
                <a:srgbClr val="000000"/>
              </a:solidFill>
              <a:latin typeface="Lucida Console"/>
            </a:endParaRPr>
          </a:p>
          <a:p>
            <a:pPr lvl="0">
              <a:spcBef>
                <a:spcPts val="0"/>
              </a:spcBef>
              <a:buClr>
                <a:srgbClr val="000000"/>
              </a:buClr>
            </a:pPr>
            <a:r>
              <a:rPr lang="en-US" altLang="zh-TW" dirty="0">
                <a:solidFill>
                  <a:srgbClr val="000000"/>
                </a:solidFill>
                <a:latin typeface="Lucida Console"/>
              </a:rPr>
              <a:t>   </a:t>
            </a:r>
            <a:r>
              <a:rPr lang="en-US" altLang="zh-TW" dirty="0" err="1">
                <a:solidFill>
                  <a:srgbClr val="000000"/>
                </a:solidFill>
                <a:latin typeface="Lucida Console"/>
              </a:rPr>
              <a:t>convexHull.push_back</a:t>
            </a:r>
            <a:r>
              <a:rPr lang="en-US" altLang="zh-TW" dirty="0">
                <a:solidFill>
                  <a:srgbClr val="000000"/>
                </a:solidFill>
                <a:latin typeface="Lucida Console"/>
              </a:rPr>
              <a:t>( p</a:t>
            </a:r>
            <a:r>
              <a:rPr lang="en-US" altLang="zh-TW" dirty="0">
                <a:solidFill>
                  <a:srgbClr val="008080"/>
                </a:solidFill>
                <a:latin typeface="Lucida Console"/>
              </a:rPr>
              <a:t>[</a:t>
            </a:r>
            <a:r>
              <a:rPr lang="en-US" altLang="zh-TW" dirty="0">
                <a:solidFill>
                  <a:srgbClr val="000000"/>
                </a:solidFill>
                <a:latin typeface="Lucida Console"/>
              </a:rPr>
              <a:t> i </a:t>
            </a:r>
            <a:r>
              <a:rPr lang="en-US" altLang="zh-TW" dirty="0">
                <a:solidFill>
                  <a:srgbClr val="008080"/>
                </a:solidFill>
                <a:latin typeface="Lucida Console"/>
              </a:rPr>
              <a:t>]</a:t>
            </a:r>
            <a:r>
              <a:rPr lang="en-US" altLang="zh-TW" dirty="0">
                <a:solidFill>
                  <a:srgbClr val="000000"/>
                </a:solidFill>
                <a:latin typeface="Lucida Console"/>
              </a:rPr>
              <a:t> );</a:t>
            </a:r>
          </a:p>
          <a:p>
            <a:pPr lvl="0">
              <a:lnSpc>
                <a:spcPct val="50000"/>
              </a:lnSpc>
              <a:spcBef>
                <a:spcPts val="0"/>
              </a:spcBef>
              <a:buClr>
                <a:srgbClr val="000000"/>
              </a:buClr>
            </a:pPr>
            <a:r>
              <a:rPr lang="en-US" altLang="zh-TW" dirty="0">
                <a:solidFill>
                  <a:srgbClr val="000000"/>
                </a:solidFill>
                <a:latin typeface="Lucida Console"/>
              </a:rPr>
              <a:t>}</a:t>
            </a:r>
            <a:endParaRPr lang="zh-TW" altLang="en-US" dirty="0"/>
          </a:p>
        </p:txBody>
      </p:sp>
      <p:cxnSp>
        <p:nvCxnSpPr>
          <p:cNvPr id="16" name="直線接點 15"/>
          <p:cNvCxnSpPr/>
          <p:nvPr/>
        </p:nvCxnSpPr>
        <p:spPr bwMode="auto">
          <a:xfrm flipH="1">
            <a:off x="1872207" y="396895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7" name="直線接點 16"/>
          <p:cNvCxnSpPr/>
          <p:nvPr/>
        </p:nvCxnSpPr>
        <p:spPr bwMode="auto">
          <a:xfrm flipH="1">
            <a:off x="2592299" y="2168724"/>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8" name="直線接點 17"/>
          <p:cNvCxnSpPr/>
          <p:nvPr/>
        </p:nvCxnSpPr>
        <p:spPr bwMode="auto">
          <a:xfrm flipH="1">
            <a:off x="2592299"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19" name="直線接點 18"/>
          <p:cNvCxnSpPr/>
          <p:nvPr/>
        </p:nvCxnSpPr>
        <p:spPr bwMode="auto">
          <a:xfrm flipH="1">
            <a:off x="2952345" y="414897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0" name="直線接點 19"/>
          <p:cNvCxnSpPr/>
          <p:nvPr/>
        </p:nvCxnSpPr>
        <p:spPr bwMode="auto">
          <a:xfrm flipH="1">
            <a:off x="3312391"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1" name="直線接點 20"/>
          <p:cNvCxnSpPr/>
          <p:nvPr/>
        </p:nvCxnSpPr>
        <p:spPr bwMode="auto">
          <a:xfrm flipH="1">
            <a:off x="3852460" y="3608908"/>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2" name="直線接點 21"/>
          <p:cNvCxnSpPr/>
          <p:nvPr/>
        </p:nvCxnSpPr>
        <p:spPr bwMode="auto">
          <a:xfrm flipH="1">
            <a:off x="4932598" y="378893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3" name="直線接點 22"/>
          <p:cNvCxnSpPr/>
          <p:nvPr/>
        </p:nvCxnSpPr>
        <p:spPr bwMode="auto">
          <a:xfrm flipH="1">
            <a:off x="5292644"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4" name="直線接點 23"/>
          <p:cNvCxnSpPr/>
          <p:nvPr/>
        </p:nvCxnSpPr>
        <p:spPr bwMode="auto">
          <a:xfrm flipH="1">
            <a:off x="6372782" y="4329000"/>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5" name="直線接點 24"/>
          <p:cNvCxnSpPr/>
          <p:nvPr/>
        </p:nvCxnSpPr>
        <p:spPr bwMode="auto">
          <a:xfrm flipH="1">
            <a:off x="5472667" y="5049092"/>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6" name="直線接點 25"/>
          <p:cNvCxnSpPr/>
          <p:nvPr/>
        </p:nvCxnSpPr>
        <p:spPr bwMode="auto">
          <a:xfrm flipH="1">
            <a:off x="5652690" y="5589161"/>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7" name="直線接點 26"/>
          <p:cNvCxnSpPr/>
          <p:nvPr/>
        </p:nvCxnSpPr>
        <p:spPr bwMode="auto">
          <a:xfrm flipH="1">
            <a:off x="2052230" y="5949207"/>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cxnSp>
        <p:nvCxnSpPr>
          <p:cNvPr id="28" name="直線接點 27"/>
          <p:cNvCxnSpPr/>
          <p:nvPr/>
        </p:nvCxnSpPr>
        <p:spPr bwMode="auto">
          <a:xfrm flipH="1">
            <a:off x="972092" y="4689046"/>
            <a:ext cx="0" cy="0"/>
          </a:xfrm>
          <a:prstGeom prst="line">
            <a:avLst/>
          </a:prstGeom>
          <a:solidFill>
            <a:schemeClr val="accent1"/>
          </a:solidFill>
          <a:ln w="9525" cap="flat" cmpd="sng" algn="ctr">
            <a:solidFill>
              <a:schemeClr val="tx1"/>
            </a:solidFill>
            <a:prstDash val="solid"/>
            <a:miter lim="800000"/>
            <a:headEnd type="oval" w="lg" len="lg"/>
            <a:tailEnd type="oval" w="lg" len="lg"/>
          </a:ln>
          <a:effectLst/>
        </p:spPr>
      </p:cxnSp>
      <p:sp>
        <p:nvSpPr>
          <p:cNvPr id="29" name="矩形 28"/>
          <p:cNvSpPr/>
          <p:nvPr/>
        </p:nvSpPr>
        <p:spPr bwMode="auto">
          <a:xfrm>
            <a:off x="1512000" y="396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0" name="矩形 29"/>
          <p:cNvSpPr/>
          <p:nvPr/>
        </p:nvSpPr>
        <p:spPr bwMode="auto">
          <a:xfrm>
            <a:off x="1872207" y="1808678"/>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1" name="矩形 30"/>
          <p:cNvSpPr/>
          <p:nvPr/>
        </p:nvSpPr>
        <p:spPr bwMode="auto">
          <a:xfrm>
            <a:off x="252000" y="4329000"/>
            <a:ext cx="720000"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2" name="矩形 31"/>
          <p:cNvSpPr/>
          <p:nvPr/>
        </p:nvSpPr>
        <p:spPr bwMode="auto">
          <a:xfrm>
            <a:off x="2052000" y="3249000"/>
            <a:ext cx="540000" cy="72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9</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3" name="矩形 32"/>
          <p:cNvSpPr/>
          <p:nvPr/>
        </p:nvSpPr>
        <p:spPr bwMode="auto">
          <a:xfrm>
            <a:off x="2952000" y="378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7</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4" name="矩形 33"/>
          <p:cNvSpPr/>
          <p:nvPr/>
        </p:nvSpPr>
        <p:spPr bwMode="auto">
          <a:xfrm>
            <a:off x="3492000" y="360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6</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5" name="矩形 34"/>
          <p:cNvSpPr/>
          <p:nvPr/>
        </p:nvSpPr>
        <p:spPr bwMode="auto">
          <a:xfrm>
            <a:off x="2592000" y="414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7200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8</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6" name="矩形 35"/>
          <p:cNvSpPr/>
          <p:nvPr/>
        </p:nvSpPr>
        <p:spPr bwMode="auto">
          <a:xfrm>
            <a:off x="1692184" y="5949207"/>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0</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7" name="矩形 36"/>
          <p:cNvSpPr/>
          <p:nvPr/>
        </p:nvSpPr>
        <p:spPr bwMode="auto">
          <a:xfrm>
            <a:off x="4572552" y="3788931"/>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5</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8" name="矩形 37"/>
          <p:cNvSpPr/>
          <p:nvPr/>
        </p:nvSpPr>
        <p:spPr bwMode="auto">
          <a:xfrm>
            <a:off x="6372782" y="3968954"/>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3</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39" name="矩形 38"/>
          <p:cNvSpPr/>
          <p:nvPr/>
        </p:nvSpPr>
        <p:spPr bwMode="auto">
          <a:xfrm>
            <a:off x="5652690" y="5229115"/>
            <a:ext cx="540069"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144000" tIns="0" rIns="108000" bIns="720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1</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0" name="矩形 39"/>
          <p:cNvSpPr/>
          <p:nvPr/>
        </p:nvSpPr>
        <p:spPr bwMode="auto">
          <a:xfrm>
            <a:off x="4932000" y="4689000"/>
            <a:ext cx="539977" cy="720092"/>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0" rIns="108000" bIns="7200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2</a:t>
            </a:r>
            <a:endParaRPr kumimoji="1" lang="zh-TW" altLang="en-US" b="0" i="0" u="none" strike="noStrike" cap="none" normalizeH="0" baseline="-25000" dirty="0">
              <a:ln>
                <a:noFill/>
              </a:ln>
              <a:solidFill>
                <a:schemeClr val="tx1"/>
              </a:solidFill>
              <a:effectLst/>
              <a:ea typeface="新細明體" pitchFamily="18" charset="-120"/>
            </a:endParaRPr>
          </a:p>
        </p:txBody>
      </p:sp>
      <p:sp>
        <p:nvSpPr>
          <p:cNvPr id="41" name="矩形 40"/>
          <p:cNvSpPr/>
          <p:nvPr/>
        </p:nvSpPr>
        <p:spPr bwMode="auto">
          <a:xfrm>
            <a:off x="4932598" y="4329000"/>
            <a:ext cx="720000" cy="54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b="0" i="1" u="none" strike="noStrike" cap="none" normalizeH="0" baseline="0" dirty="0" err="1">
                <a:ln>
                  <a:noFill/>
                </a:ln>
                <a:solidFill>
                  <a:schemeClr val="tx1"/>
                </a:solidFill>
                <a:effectLst/>
                <a:ea typeface="新細明體" pitchFamily="18" charset="-120"/>
              </a:rPr>
              <a:t>p</a:t>
            </a:r>
            <a:r>
              <a:rPr kumimoji="1" lang="en-US" altLang="zh-TW" b="0" i="0" u="none" strike="noStrike" cap="none" normalizeH="0" baseline="-25000" dirty="0" err="1">
                <a:ln>
                  <a:noFill/>
                </a:ln>
                <a:solidFill>
                  <a:schemeClr val="tx1"/>
                </a:solidFill>
                <a:effectLst/>
                <a:ea typeface="新細明體" pitchFamily="18" charset="-120"/>
              </a:rPr>
              <a:t>4</a:t>
            </a:r>
            <a:endParaRPr kumimoji="1" lang="zh-TW" altLang="en-US" b="0" i="0" u="none" strike="noStrike" cap="none" normalizeH="0" baseline="-25000" dirty="0">
              <a:ln>
                <a:noFill/>
              </a:ln>
              <a:solidFill>
                <a:schemeClr val="tx1"/>
              </a:solidFill>
              <a:effectLst/>
              <a:ea typeface="新細明體" pitchFamily="18" charset="-120"/>
            </a:endParaRPr>
          </a:p>
        </p:txBody>
      </p:sp>
      <p:graphicFrame>
        <p:nvGraphicFramePr>
          <p:cNvPr id="42" name="表格 41"/>
          <p:cNvGraphicFramePr>
            <a:graphicFrameLocks noGrp="1"/>
          </p:cNvGraphicFramePr>
          <p:nvPr>
            <p:extLst>
              <p:ext uri="{D42A27DB-BD31-4B8C-83A1-F6EECF244321}">
                <p14:modId xmlns:p14="http://schemas.microsoft.com/office/powerpoint/2010/main" val="1960072132"/>
              </p:ext>
            </p:extLst>
          </p:nvPr>
        </p:nvGraphicFramePr>
        <p:xfrm>
          <a:off x="6012000" y="2169000"/>
          <a:ext cx="2520000" cy="72000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84945889"/>
                    </a:ext>
                  </a:extLst>
                </a:gridCol>
                <a:gridCol w="360000">
                  <a:extLst>
                    <a:ext uri="{9D8B030D-6E8A-4147-A177-3AD203B41FA5}">
                      <a16:colId xmlns:a16="http://schemas.microsoft.com/office/drawing/2014/main" val="3988586148"/>
                    </a:ext>
                  </a:extLst>
                </a:gridCol>
                <a:gridCol w="360000">
                  <a:extLst>
                    <a:ext uri="{9D8B030D-6E8A-4147-A177-3AD203B41FA5}">
                      <a16:colId xmlns:a16="http://schemas.microsoft.com/office/drawing/2014/main" val="3279648711"/>
                    </a:ext>
                  </a:extLst>
                </a:gridCol>
                <a:gridCol w="360000">
                  <a:extLst>
                    <a:ext uri="{9D8B030D-6E8A-4147-A177-3AD203B41FA5}">
                      <a16:colId xmlns:a16="http://schemas.microsoft.com/office/drawing/2014/main" val="2744420202"/>
                    </a:ext>
                  </a:extLst>
                </a:gridCol>
                <a:gridCol w="360000">
                  <a:extLst>
                    <a:ext uri="{9D8B030D-6E8A-4147-A177-3AD203B41FA5}">
                      <a16:colId xmlns:a16="http://schemas.microsoft.com/office/drawing/2014/main" val="2105633419"/>
                    </a:ext>
                  </a:extLst>
                </a:gridCol>
                <a:gridCol w="360000">
                  <a:extLst>
                    <a:ext uri="{9D8B030D-6E8A-4147-A177-3AD203B41FA5}">
                      <a16:colId xmlns:a16="http://schemas.microsoft.com/office/drawing/2014/main" val="4041176038"/>
                    </a:ext>
                  </a:extLst>
                </a:gridCol>
                <a:gridCol w="360000">
                  <a:extLst>
                    <a:ext uri="{9D8B030D-6E8A-4147-A177-3AD203B41FA5}">
                      <a16:colId xmlns:a16="http://schemas.microsoft.com/office/drawing/2014/main" val="1932611871"/>
                    </a:ext>
                  </a:extLst>
                </a:gridCol>
              </a:tblGrid>
              <a:tr h="360000">
                <a:tc>
                  <a:txBody>
                    <a:bodyPr/>
                    <a:lstStyle/>
                    <a:p>
                      <a:pPr algn="ctr"/>
                      <a:r>
                        <a:rPr lang="en-US" altLang="zh-TW" sz="2000" dirty="0">
                          <a:latin typeface="+mn-lt"/>
                        </a:rPr>
                        <a:t>0</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1</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2</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3</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4</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5</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mn-lt"/>
                        </a:rPr>
                        <a:t>6</a:t>
                      </a:r>
                      <a:endParaRPr lang="zh-TW" altLang="en-US" sz="2000" dirty="0">
                        <a:latin typeface="+mn-lt"/>
                      </a:endParaRPr>
                    </a:p>
                  </a:txBody>
                  <a:tcPr marL="0" marR="0" marT="0" marB="0"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5414742"/>
                  </a:ext>
                </a:extLst>
              </a:tr>
              <a:tr h="360000">
                <a:tc>
                  <a:txBody>
                    <a:bodyPr/>
                    <a:lstStyle/>
                    <a:p>
                      <a:pPr algn="ctr">
                        <a:lnSpc>
                          <a:spcPct val="57000"/>
                        </a:lnSpc>
                      </a:pPr>
                      <a:r>
                        <a:rPr lang="en-US" altLang="zh-TW" sz="2200" i="1" dirty="0" err="1">
                          <a:latin typeface="+mn-lt"/>
                        </a:rPr>
                        <a:t>p</a:t>
                      </a:r>
                      <a:r>
                        <a:rPr lang="en-US" altLang="zh-TW" sz="2200" baseline="-25000" dirty="0" err="1">
                          <a:latin typeface="+mn-lt"/>
                        </a:rPr>
                        <a:t>0</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ea typeface="+mn-ea"/>
                          <a:cs typeface="+mn-cs"/>
                        </a:rPr>
                        <a:t>p</a:t>
                      </a:r>
                      <a:r>
                        <a:rPr kumimoji="0" lang="en-US" altLang="zh-TW" sz="2200" b="0" i="0" u="none" strike="noStrike" kern="1200" cap="none" spc="0" normalizeH="0" baseline="-25000" noProof="0" dirty="0" err="1">
                          <a:ln>
                            <a:noFill/>
                          </a:ln>
                          <a:solidFill>
                            <a:srgbClr val="000000"/>
                          </a:solidFill>
                          <a:effectLst/>
                          <a:uLnTx/>
                          <a:uFillTx/>
                          <a:latin typeface="+mn-lt"/>
                          <a:ea typeface="+mn-ea"/>
                          <a:cs typeface="+mn-cs"/>
                        </a:rPr>
                        <a:t>1</a:t>
                      </a:r>
                      <a:endParaRPr kumimoji="0" lang="zh-TW" altLang="en-US" sz="2200" b="0" i="0" u="none" strike="noStrike" kern="1200" cap="none" spc="0" normalizeH="0" baseline="-25000" noProof="0" dirty="0">
                        <a:ln>
                          <a:noFill/>
                        </a:ln>
                        <a:solidFill>
                          <a:srgbClr val="000000"/>
                        </a:solidFill>
                        <a:effectLst/>
                        <a:uLnTx/>
                        <a:uFillTx/>
                        <a:latin typeface="+mn-lt"/>
                        <a:ea typeface="+mn-ea"/>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200" i="1" dirty="0" err="1">
                          <a:latin typeface="+mn-lt"/>
                        </a:rPr>
                        <a:t>p</a:t>
                      </a:r>
                      <a:r>
                        <a:rPr lang="en-US" altLang="zh-TW" sz="2200" baseline="-25000" dirty="0" err="1">
                          <a:latin typeface="+mn-lt"/>
                        </a:rPr>
                        <a:t>3</a:t>
                      </a:r>
                      <a:endParaRPr lang="zh-TW" altLang="en-US" sz="2200" baseline="-250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lang="en-US" altLang="zh-TW" sz="2000" i="1" dirty="0" err="1">
                          <a:latin typeface="+mn-lt"/>
                        </a:rPr>
                        <a:t>p</a:t>
                      </a:r>
                      <a:r>
                        <a:rPr lang="en-US" altLang="zh-TW" sz="2000" baseline="-25000" dirty="0" err="1">
                          <a:latin typeface="+mn-lt"/>
                        </a:rPr>
                        <a:t>10</a:t>
                      </a:r>
                      <a:endParaRPr lang="zh-TW" altLang="en-US" sz="2000" baseline="-250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r>
                        <a:rPr kumimoji="0" lang="en-US" altLang="zh-TW" sz="2000" b="0" i="1" u="none" strike="noStrike" kern="1200" cap="none" spc="0" normalizeH="0" baseline="0" noProof="0" dirty="0" err="1">
                          <a:ln>
                            <a:noFill/>
                          </a:ln>
                          <a:solidFill>
                            <a:srgbClr val="000000"/>
                          </a:solidFill>
                          <a:effectLst/>
                          <a:uLnTx/>
                          <a:uFillTx/>
                          <a:latin typeface="+mn-lt"/>
                          <a:cs typeface="+mn-cs"/>
                        </a:rPr>
                        <a:t>p</a:t>
                      </a:r>
                      <a:r>
                        <a:rPr kumimoji="0" lang="en-US" altLang="zh-TW" sz="2000" b="0" i="0" u="none" strike="noStrike" kern="1200" cap="none" spc="0" normalizeH="0" baseline="-25000" noProof="0" dirty="0" err="1">
                          <a:ln>
                            <a:noFill/>
                          </a:ln>
                          <a:solidFill>
                            <a:srgbClr val="000000"/>
                          </a:solidFill>
                          <a:effectLst/>
                          <a:uLnTx/>
                          <a:uFillTx/>
                          <a:latin typeface="+mn-lt"/>
                          <a:cs typeface="+mn-cs"/>
                        </a:rPr>
                        <a:t>12</a:t>
                      </a:r>
                      <a:endParaRPr lang="zh-TW" altLang="en-US" sz="2200" dirty="0">
                        <a:latin typeface="+mn-lt"/>
                      </a:endParaRPr>
                    </a:p>
                  </a:txBody>
                  <a:tcPr marL="18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57000"/>
                        </a:lnSpc>
                        <a:spcBef>
                          <a:spcPts val="0"/>
                        </a:spcBef>
                        <a:spcAft>
                          <a:spcPts val="0"/>
                        </a:spcAft>
                        <a:buClrTx/>
                        <a:buSzTx/>
                        <a:buFontTx/>
                        <a:buNone/>
                        <a:tabLst/>
                        <a:defRPr/>
                      </a:pPr>
                      <a:r>
                        <a:rPr kumimoji="0" lang="en-US" altLang="zh-TW" sz="2200" b="0" i="1" u="none" strike="noStrike" kern="1200" cap="none" spc="0" normalizeH="0" baseline="0" noProof="0" dirty="0" err="1">
                          <a:ln>
                            <a:noFill/>
                          </a:ln>
                          <a:solidFill>
                            <a:srgbClr val="000000"/>
                          </a:solidFill>
                          <a:effectLst/>
                          <a:uLnTx/>
                          <a:uFillTx/>
                          <a:latin typeface="+mn-lt"/>
                          <a:cs typeface="+mn-cs"/>
                        </a:rPr>
                        <a:t>p</a:t>
                      </a:r>
                      <a:r>
                        <a:rPr kumimoji="0" lang="en-US" altLang="zh-TW" sz="2200" b="0" i="0" u="none" strike="noStrike" kern="1200" cap="none" spc="0" normalizeH="0" baseline="-25000" noProof="0" dirty="0" err="1">
                          <a:ln>
                            <a:noFill/>
                          </a:ln>
                          <a:solidFill>
                            <a:srgbClr val="000000"/>
                          </a:solidFill>
                          <a:effectLst/>
                          <a:uLnTx/>
                          <a:uFillTx/>
                          <a:latin typeface="+mn-lt"/>
                          <a:cs typeface="+mn-cs"/>
                        </a:rPr>
                        <a:t>0</a:t>
                      </a:r>
                      <a:endParaRPr kumimoji="0" lang="zh-TW" altLang="en-US" sz="2200" b="0" i="0" u="none" strike="noStrike" kern="1200" cap="none" spc="0" normalizeH="0" baseline="-25000" noProof="0" dirty="0">
                        <a:ln>
                          <a:noFill/>
                        </a:ln>
                        <a:solidFill>
                          <a:srgbClr val="000000"/>
                        </a:solidFill>
                        <a:effectLst/>
                        <a:uLnTx/>
                        <a:uFillTx/>
                        <a:latin typeface="+mn-lt"/>
                        <a:cs typeface="+mn-cs"/>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57000"/>
                        </a:lnSpc>
                      </a:pPr>
                      <a:endParaRPr lang="zh-TW" altLang="en-US" sz="2200" dirty="0">
                        <a:latin typeface="+mn-lt"/>
                      </a:endParaRPr>
                    </a:p>
                  </a:txBody>
                  <a:tcPr marL="3600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925278"/>
                  </a:ext>
                </a:extLst>
              </a:tr>
            </a:tbl>
          </a:graphicData>
        </a:graphic>
      </p:graphicFrame>
      <p:sp>
        <p:nvSpPr>
          <p:cNvPr id="46" name="矩形 45"/>
          <p:cNvSpPr/>
          <p:nvPr/>
        </p:nvSpPr>
        <p:spPr bwMode="auto">
          <a:xfrm>
            <a:off x="4572000" y="2529000"/>
            <a:ext cx="1440000" cy="360000"/>
          </a:xfrm>
          <a:prstGeom prst="rect">
            <a:avLst/>
          </a:prstGeom>
          <a:no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none" lIns="90000" tIns="36000" rIns="90000" bIns="36000" numCol="1" rtlCol="0" anchor="ctr" anchorCtr="0" compatLnSpc="1">
            <a:prstTxWarp prst="textNoShape">
              <a:avLst/>
            </a:prstTxWarp>
          </a:bodyPr>
          <a:lstStyle/>
          <a:p>
            <a:pPr algn="r"/>
            <a:r>
              <a:rPr lang="en-US" altLang="zh-TW" sz="1600" dirty="0" err="1">
                <a:solidFill>
                  <a:schemeClr val="tx1"/>
                </a:solidFill>
                <a:latin typeface="+mn-ea"/>
              </a:rPr>
              <a:t>convexHull</a:t>
            </a:r>
            <a:endParaRPr kumimoji="1" lang="zh-TW" altLang="en-US" sz="1600" b="0" u="none" strike="noStrike" cap="none" normalizeH="0" baseline="-25000" dirty="0">
              <a:ln>
                <a:noFill/>
              </a:ln>
              <a:solidFill>
                <a:schemeClr val="tx1"/>
              </a:solidFill>
              <a:effectLst/>
              <a:latin typeface="+mn-ea"/>
            </a:endParaRPr>
          </a:p>
        </p:txBody>
      </p:sp>
    </p:spTree>
    <p:extLst>
      <p:ext uri="{BB962C8B-B14F-4D97-AF65-F5344CB8AC3E}">
        <p14:creationId xmlns:p14="http://schemas.microsoft.com/office/powerpoint/2010/main" val="543134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solidFill>
                  <a:srgbClr val="0000FF"/>
                </a:solidFill>
                <a:latin typeface="+mn-ea"/>
              </a:rPr>
              <a:t>void</a:t>
            </a:r>
            <a:r>
              <a:rPr lang="en-US" altLang="zh-TW" dirty="0">
                <a:solidFill>
                  <a:srgbClr val="000000"/>
                </a:solidFill>
                <a:latin typeface="+mn-ea"/>
              </a:rPr>
              <a:t> </a:t>
            </a:r>
            <a:r>
              <a:rPr lang="en-US" altLang="zh-TW" dirty="0" err="1">
                <a:solidFill>
                  <a:srgbClr val="000000"/>
                </a:solidFill>
                <a:latin typeface="+mn-ea"/>
              </a:rPr>
              <a:t>GrahamScan</a:t>
            </a:r>
            <a:r>
              <a:rPr lang="en-US" altLang="zh-TW" dirty="0">
                <a:solidFill>
                  <a:srgbClr val="000000"/>
                </a:solidFill>
                <a:latin typeface="+mn-ea"/>
              </a:rPr>
              <a:t>()</a:t>
            </a:r>
          </a:p>
          <a:p>
            <a:r>
              <a:rPr lang="en-US" altLang="zh-TW" dirty="0">
                <a:solidFill>
                  <a:srgbClr val="000000"/>
                </a:solidFill>
                <a:latin typeface="+mn-ea"/>
              </a:rPr>
              <a:t>{</a:t>
            </a:r>
          </a:p>
          <a:p>
            <a:r>
              <a:rPr lang="en-US" altLang="zh-TW" dirty="0">
                <a:solidFill>
                  <a:srgbClr val="000000"/>
                </a:solidFill>
                <a:latin typeface="+mn-ea"/>
              </a:rPr>
              <a:t>   swap( p</a:t>
            </a:r>
            <a:r>
              <a:rPr lang="en-US" altLang="zh-TW" dirty="0">
                <a:solidFill>
                  <a:srgbClr val="008080"/>
                </a:solidFill>
                <a:latin typeface="+mn-ea"/>
              </a:rPr>
              <a:t>[</a:t>
            </a:r>
            <a:r>
              <a:rPr lang="en-US" altLang="zh-TW" dirty="0">
                <a:solidFill>
                  <a:srgbClr val="000000"/>
                </a:solidFill>
                <a:latin typeface="+mn-ea"/>
              </a:rPr>
              <a:t> 0 </a:t>
            </a:r>
            <a:r>
              <a:rPr lang="en-US" altLang="zh-TW" dirty="0">
                <a:solidFill>
                  <a:srgbClr val="008080"/>
                </a:solidFill>
                <a:latin typeface="+mn-ea"/>
              </a:rPr>
              <a:t>]</a:t>
            </a:r>
            <a:r>
              <a:rPr lang="en-US" altLang="zh-TW" dirty="0">
                <a:solidFill>
                  <a:srgbClr val="000000"/>
                </a:solidFill>
                <a:latin typeface="+mn-ea"/>
              </a:rPr>
              <a:t>, </a:t>
            </a:r>
            <a:r>
              <a:rPr lang="en-US" altLang="zh-TW" dirty="0">
                <a:solidFill>
                  <a:srgbClr val="008080"/>
                </a:solidFill>
                <a:latin typeface="+mn-ea"/>
              </a:rPr>
              <a:t>*</a:t>
            </a:r>
            <a:r>
              <a:rPr lang="en-US" altLang="zh-TW" dirty="0" err="1">
                <a:solidFill>
                  <a:srgbClr val="000000"/>
                </a:solidFill>
                <a:latin typeface="+mn-ea"/>
              </a:rPr>
              <a:t>min_element</a:t>
            </a:r>
            <a:r>
              <a:rPr lang="en-US" altLang="zh-TW" dirty="0">
                <a:solidFill>
                  <a:srgbClr val="000000"/>
                </a:solidFill>
                <a:latin typeface="+mn-ea"/>
              </a:rPr>
              <a:t>( </a:t>
            </a:r>
            <a:r>
              <a:rPr lang="en-US" altLang="zh-TW" dirty="0" err="1">
                <a:solidFill>
                  <a:srgbClr val="000000"/>
                </a:solidFill>
                <a:latin typeface="+mn-ea"/>
              </a:rPr>
              <a:t>p.begin</a:t>
            </a:r>
            <a:r>
              <a:rPr lang="en-US" altLang="zh-TW" dirty="0">
                <a:solidFill>
                  <a:srgbClr val="000000"/>
                </a:solidFill>
                <a:latin typeface="+mn-ea"/>
              </a:rPr>
              <a:t>(), </a:t>
            </a:r>
            <a:r>
              <a:rPr lang="en-US" altLang="zh-TW" dirty="0" err="1">
                <a:solidFill>
                  <a:srgbClr val="000000"/>
                </a:solidFill>
                <a:latin typeface="+mn-ea"/>
              </a:rPr>
              <a:t>p.end</a:t>
            </a:r>
            <a:r>
              <a:rPr lang="en-US" altLang="zh-TW" dirty="0">
                <a:solidFill>
                  <a:srgbClr val="000000"/>
                </a:solidFill>
                <a:latin typeface="+mn-ea"/>
              </a:rPr>
              <a:t>(), lower ) );</a:t>
            </a:r>
            <a:endParaRPr lang="zh-TW" altLang="en-US" dirty="0">
              <a:solidFill>
                <a:srgbClr val="000000"/>
              </a:solidFill>
              <a:latin typeface="+mn-ea"/>
            </a:endParaRPr>
          </a:p>
          <a:p>
            <a:r>
              <a:rPr lang="en-US" altLang="zh-TW" dirty="0">
                <a:solidFill>
                  <a:srgbClr val="000000"/>
                </a:solidFill>
                <a:latin typeface="+mn-ea"/>
              </a:rPr>
              <a:t>   sort( </a:t>
            </a:r>
            <a:r>
              <a:rPr lang="en-US" altLang="zh-TW" dirty="0" err="1">
                <a:solidFill>
                  <a:srgbClr val="000000"/>
                </a:solidFill>
                <a:latin typeface="+mn-ea"/>
              </a:rPr>
              <a:t>p.begin</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1, </a:t>
            </a:r>
            <a:r>
              <a:rPr lang="en-US" altLang="zh-TW" dirty="0" err="1">
                <a:solidFill>
                  <a:srgbClr val="000000"/>
                </a:solidFill>
                <a:latin typeface="+mn-ea"/>
              </a:rPr>
              <a:t>p.end</a:t>
            </a:r>
            <a:r>
              <a:rPr lang="en-US" altLang="zh-TW" dirty="0">
                <a:solidFill>
                  <a:srgbClr val="000000"/>
                </a:solidFill>
                <a:latin typeface="+mn-ea"/>
              </a:rPr>
              <a:t>(), </a:t>
            </a:r>
            <a:r>
              <a:rPr lang="en-US" altLang="zh-TW" dirty="0" err="1">
                <a:solidFill>
                  <a:srgbClr val="000000"/>
                </a:solidFill>
                <a:latin typeface="+mn-ea"/>
              </a:rPr>
              <a:t>angleLess</a:t>
            </a:r>
            <a:r>
              <a:rPr lang="en-US" altLang="zh-TW" dirty="0">
                <a:solidFill>
                  <a:srgbClr val="000000"/>
                </a:solidFill>
                <a:latin typeface="+mn-ea"/>
              </a:rPr>
              <a:t> );</a:t>
            </a:r>
            <a:endParaRPr lang="zh-TW" altLang="en-US" dirty="0">
              <a:solidFill>
                <a:srgbClr val="000000"/>
              </a:solidFill>
              <a:latin typeface="+mn-ea"/>
            </a:endParaRPr>
          </a:p>
          <a:p>
            <a:r>
              <a:rPr lang="en-US" altLang="zh-TW" dirty="0">
                <a:solidFill>
                  <a:srgbClr val="000000"/>
                </a:solidFill>
                <a:latin typeface="+mn-ea"/>
              </a:rPr>
              <a:t>   </a:t>
            </a:r>
            <a:r>
              <a:rPr lang="en-US" altLang="zh-TW" dirty="0" err="1">
                <a:solidFill>
                  <a:srgbClr val="000000"/>
                </a:solidFill>
                <a:latin typeface="+mn-ea"/>
              </a:rPr>
              <a:t>eraseCollinear</a:t>
            </a:r>
            <a:r>
              <a:rPr lang="en-US" altLang="zh-TW" dirty="0">
                <a:solidFill>
                  <a:srgbClr val="000000"/>
                </a:solidFill>
                <a:latin typeface="+mn-ea"/>
              </a:rPr>
              <a:t>();</a:t>
            </a:r>
          </a:p>
          <a:p>
            <a:endParaRPr lang="zh-TW" altLang="en-US" dirty="0">
              <a:solidFill>
                <a:srgbClr val="000000"/>
              </a:solidFill>
              <a:latin typeface="+mn-ea"/>
            </a:endParaRP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0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1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   </a:t>
            </a:r>
            <a:r>
              <a:rPr lang="en-US" altLang="zh-TW" dirty="0">
                <a:solidFill>
                  <a:srgbClr val="0000FF"/>
                </a:solidFill>
                <a:latin typeface="+mn-ea"/>
              </a:rPr>
              <a:t>if</a:t>
            </a:r>
            <a:r>
              <a:rPr lang="en-US" altLang="zh-TW" dirty="0">
                <a:solidFill>
                  <a:srgbClr val="000000"/>
                </a:solidFill>
                <a:latin typeface="+mn-ea"/>
              </a:rPr>
              <a:t>( </a:t>
            </a:r>
            <a:r>
              <a:rPr lang="en-US" altLang="zh-TW" dirty="0" err="1">
                <a:solidFill>
                  <a:srgbClr val="000000"/>
                </a:solidFill>
                <a:latin typeface="+mn-ea"/>
              </a:rPr>
              <a:t>p.size</a:t>
            </a:r>
            <a:r>
              <a:rPr lang="en-US" altLang="zh-TW" dirty="0">
                <a:solidFill>
                  <a:srgbClr val="000000"/>
                </a:solidFill>
                <a:latin typeface="+mn-ea"/>
              </a:rPr>
              <a:t>() &gt; 2 )</a:t>
            </a:r>
          </a:p>
          <a:p>
            <a:r>
              <a:rPr lang="zh-TW" altLang="en-US" dirty="0">
                <a:solidFill>
                  <a:srgbClr val="000000"/>
                </a:solidFill>
                <a:latin typeface="+mn-ea"/>
              </a:rPr>
              <a:t>   </a:t>
            </a:r>
            <a:r>
              <a:rPr lang="en-US" altLang="zh-TW" dirty="0">
                <a:solidFill>
                  <a:srgbClr val="000000"/>
                </a:solidFill>
                <a:latin typeface="+mn-ea"/>
              </a:rPr>
              <a:t>{</a:t>
            </a: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2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      </a:t>
            </a:r>
            <a:r>
              <a:rPr lang="en-US" altLang="zh-TW" dirty="0">
                <a:solidFill>
                  <a:srgbClr val="0000FF"/>
                </a:solidFill>
                <a:latin typeface="+mn-ea"/>
              </a:rPr>
              <a:t>for</a:t>
            </a:r>
            <a:r>
              <a:rPr lang="en-US" altLang="zh-TW" dirty="0">
                <a:solidFill>
                  <a:srgbClr val="000000"/>
                </a:solidFill>
                <a:latin typeface="+mn-ea"/>
              </a:rPr>
              <a:t>( </a:t>
            </a:r>
            <a:r>
              <a:rPr lang="en-US" altLang="zh-TW" dirty="0" err="1">
                <a:solidFill>
                  <a:srgbClr val="2B91AF"/>
                </a:solidFill>
                <a:latin typeface="+mn-ea"/>
              </a:rPr>
              <a:t>size_t</a:t>
            </a:r>
            <a:r>
              <a:rPr lang="en-US" altLang="zh-TW" dirty="0">
                <a:solidFill>
                  <a:srgbClr val="000000"/>
                </a:solidFill>
                <a:latin typeface="+mn-ea"/>
              </a:rPr>
              <a:t> i = 3; i &lt; </a:t>
            </a:r>
            <a:r>
              <a:rPr lang="en-US" altLang="zh-TW" dirty="0" err="1">
                <a:solidFill>
                  <a:srgbClr val="000000"/>
                </a:solidFill>
                <a:latin typeface="+mn-ea"/>
              </a:rPr>
              <a:t>p.size</a:t>
            </a:r>
            <a:r>
              <a:rPr lang="en-US" altLang="zh-TW" dirty="0">
                <a:solidFill>
                  <a:srgbClr val="000000"/>
                </a:solidFill>
                <a:latin typeface="+mn-ea"/>
              </a:rPr>
              <a:t>(); ++i )</a:t>
            </a:r>
          </a:p>
          <a:p>
            <a:r>
              <a:rPr lang="zh-TW" altLang="en-US" dirty="0">
                <a:solidFill>
                  <a:srgbClr val="000000"/>
                </a:solidFill>
                <a:latin typeface="+mn-ea"/>
              </a:rPr>
              <a:t>      </a:t>
            </a:r>
            <a:r>
              <a:rPr lang="en-US" altLang="zh-TW" dirty="0">
                <a:solidFill>
                  <a:srgbClr val="000000"/>
                </a:solidFill>
                <a:latin typeface="+mn-ea"/>
              </a:rPr>
              <a:t>{</a:t>
            </a:r>
          </a:p>
          <a:p>
            <a:r>
              <a:rPr lang="en-US" altLang="zh-TW" dirty="0">
                <a:solidFill>
                  <a:srgbClr val="000000"/>
                </a:solidFill>
                <a:latin typeface="+mn-ea"/>
              </a:rPr>
              <a:t>         </a:t>
            </a:r>
            <a:r>
              <a:rPr lang="en-US" altLang="zh-TW" dirty="0">
                <a:solidFill>
                  <a:srgbClr val="0000FF"/>
                </a:solidFill>
                <a:latin typeface="+mn-ea"/>
              </a:rPr>
              <a:t>while</a:t>
            </a:r>
            <a:r>
              <a:rPr lang="en-US" altLang="zh-TW" dirty="0">
                <a:solidFill>
                  <a:srgbClr val="000000"/>
                </a:solidFill>
                <a:latin typeface="+mn-ea"/>
              </a:rPr>
              <a:t>( !</a:t>
            </a:r>
            <a:r>
              <a:rPr lang="en-US" altLang="zh-TW" dirty="0" err="1">
                <a:solidFill>
                  <a:srgbClr val="000000"/>
                </a:solidFill>
                <a:latin typeface="+mn-ea"/>
              </a:rPr>
              <a:t>leftTurn</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a:t>
            </a:r>
            <a:r>
              <a:rPr lang="en-US" altLang="zh-TW" dirty="0" err="1">
                <a:solidFill>
                  <a:srgbClr val="000000"/>
                </a:solidFill>
                <a:latin typeface="+mn-ea"/>
              </a:rPr>
              <a:t>convexHull.end</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2 ),</a:t>
            </a:r>
          </a:p>
          <a:p>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a:t>
            </a:r>
            <a:r>
              <a:rPr lang="en-US" altLang="zh-TW" dirty="0" err="1">
                <a:solidFill>
                  <a:srgbClr val="000000"/>
                </a:solidFill>
                <a:latin typeface="+mn-ea"/>
              </a:rPr>
              <a:t>convexHull.end</a:t>
            </a:r>
            <a:r>
              <a:rPr lang="en-US" altLang="zh-TW" dirty="0">
                <a:solidFill>
                  <a:srgbClr val="000000"/>
                </a:solidFill>
                <a:latin typeface="+mn-ea"/>
              </a:rPr>
              <a:t>() </a:t>
            </a:r>
            <a:r>
              <a:rPr lang="en-US" altLang="zh-TW" dirty="0">
                <a:solidFill>
                  <a:srgbClr val="008080"/>
                </a:solidFill>
                <a:latin typeface="+mn-ea"/>
              </a:rPr>
              <a:t>-</a:t>
            </a:r>
            <a:r>
              <a:rPr lang="en-US" altLang="zh-TW" dirty="0">
                <a:solidFill>
                  <a:srgbClr val="000000"/>
                </a:solidFill>
                <a:latin typeface="+mn-ea"/>
              </a:rPr>
              <a:t> 1 ), p</a:t>
            </a:r>
            <a:r>
              <a:rPr lang="en-US" altLang="zh-TW" dirty="0">
                <a:solidFill>
                  <a:srgbClr val="008080"/>
                </a:solidFill>
                <a:latin typeface="+mn-ea"/>
              </a:rPr>
              <a:t>[</a:t>
            </a:r>
            <a:r>
              <a:rPr lang="en-US" altLang="zh-TW" dirty="0">
                <a:solidFill>
                  <a:srgbClr val="000000"/>
                </a:solidFill>
                <a:latin typeface="+mn-ea"/>
              </a:rPr>
              <a:t> i </a:t>
            </a:r>
            <a:r>
              <a:rPr lang="en-US" altLang="zh-TW" dirty="0">
                <a:solidFill>
                  <a:srgbClr val="008080"/>
                </a:solidFill>
                <a:latin typeface="+mn-ea"/>
              </a:rPr>
              <a:t>]</a:t>
            </a:r>
            <a:r>
              <a:rPr lang="en-US" altLang="zh-TW" dirty="0">
                <a:solidFill>
                  <a:srgbClr val="000000"/>
                </a:solidFill>
                <a:latin typeface="+mn-ea"/>
              </a:rPr>
              <a:t> ) )</a:t>
            </a:r>
          </a:p>
          <a:p>
            <a:r>
              <a:rPr lang="en-US" altLang="zh-TW" dirty="0">
                <a:solidFill>
                  <a:srgbClr val="000000"/>
                </a:solidFill>
                <a:latin typeface="+mn-ea"/>
              </a:rPr>
              <a:t>            </a:t>
            </a:r>
            <a:r>
              <a:rPr lang="en-US" altLang="zh-TW" dirty="0" err="1">
                <a:solidFill>
                  <a:srgbClr val="000000"/>
                </a:solidFill>
                <a:latin typeface="+mn-ea"/>
              </a:rPr>
              <a:t>convexHull.pop_back</a:t>
            </a:r>
            <a:r>
              <a:rPr lang="en-US" altLang="zh-TW" dirty="0">
                <a:solidFill>
                  <a:srgbClr val="000000"/>
                </a:solidFill>
                <a:latin typeface="+mn-ea"/>
              </a:rPr>
              <a:t>();</a:t>
            </a:r>
          </a:p>
          <a:p>
            <a:endParaRPr lang="zh-TW" altLang="en-US" dirty="0">
              <a:solidFill>
                <a:srgbClr val="000000"/>
              </a:solidFill>
              <a:latin typeface="+mn-ea"/>
            </a:endParaRP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i </a:t>
            </a:r>
            <a:r>
              <a:rPr lang="en-US" altLang="zh-TW" dirty="0">
                <a:solidFill>
                  <a:srgbClr val="008080"/>
                </a:solidFill>
                <a:latin typeface="+mn-ea"/>
              </a:rPr>
              <a:t>]</a:t>
            </a:r>
            <a:r>
              <a:rPr lang="en-US" altLang="zh-TW" dirty="0">
                <a:solidFill>
                  <a:srgbClr val="000000"/>
                </a:solidFill>
                <a:latin typeface="+mn-ea"/>
              </a:rPr>
              <a:t> );</a:t>
            </a:r>
          </a:p>
          <a:p>
            <a:r>
              <a:rPr lang="zh-TW" altLang="en-US" dirty="0">
                <a:solidFill>
                  <a:srgbClr val="000000"/>
                </a:solidFill>
                <a:latin typeface="+mn-ea"/>
              </a:rPr>
              <a:t>      </a:t>
            </a:r>
            <a:r>
              <a:rPr lang="en-US" altLang="zh-TW" dirty="0">
                <a:solidFill>
                  <a:srgbClr val="000000"/>
                </a:solidFill>
                <a:latin typeface="+mn-ea"/>
              </a:rPr>
              <a:t>}</a:t>
            </a:r>
          </a:p>
          <a:p>
            <a:r>
              <a:rPr lang="zh-TW" altLang="en-US" dirty="0">
                <a:solidFill>
                  <a:srgbClr val="000000"/>
                </a:solidFill>
                <a:latin typeface="+mn-ea"/>
              </a:rPr>
              <a:t>   </a:t>
            </a:r>
            <a:r>
              <a:rPr lang="en-US" altLang="zh-TW" dirty="0">
                <a:solidFill>
                  <a:srgbClr val="000000"/>
                </a:solidFill>
                <a:latin typeface="+mn-ea"/>
              </a:rPr>
              <a:t>}</a:t>
            </a:r>
          </a:p>
          <a:p>
            <a:r>
              <a:rPr lang="en-US" altLang="zh-TW" dirty="0">
                <a:solidFill>
                  <a:srgbClr val="000000"/>
                </a:solidFill>
                <a:latin typeface="+mn-ea"/>
              </a:rPr>
              <a:t>   </a:t>
            </a:r>
            <a:r>
              <a:rPr lang="en-US" altLang="zh-TW" dirty="0" err="1">
                <a:solidFill>
                  <a:srgbClr val="000000"/>
                </a:solidFill>
                <a:latin typeface="+mn-ea"/>
              </a:rPr>
              <a:t>convexHull.push_back</a:t>
            </a:r>
            <a:r>
              <a:rPr lang="en-US" altLang="zh-TW" dirty="0">
                <a:solidFill>
                  <a:srgbClr val="000000"/>
                </a:solidFill>
                <a:latin typeface="+mn-ea"/>
              </a:rPr>
              <a:t>( p</a:t>
            </a:r>
            <a:r>
              <a:rPr lang="en-US" altLang="zh-TW" dirty="0">
                <a:solidFill>
                  <a:srgbClr val="008080"/>
                </a:solidFill>
                <a:latin typeface="+mn-ea"/>
              </a:rPr>
              <a:t>[</a:t>
            </a:r>
            <a:r>
              <a:rPr lang="en-US" altLang="zh-TW" dirty="0">
                <a:solidFill>
                  <a:srgbClr val="000000"/>
                </a:solidFill>
                <a:latin typeface="+mn-ea"/>
              </a:rPr>
              <a:t> 0 </a:t>
            </a:r>
            <a:r>
              <a:rPr lang="en-US" altLang="zh-TW" dirty="0">
                <a:solidFill>
                  <a:srgbClr val="008080"/>
                </a:solidFill>
                <a:latin typeface="+mn-ea"/>
              </a:rPr>
              <a:t>]</a:t>
            </a:r>
            <a:r>
              <a:rPr lang="en-US" altLang="zh-TW" dirty="0">
                <a:solidFill>
                  <a:srgbClr val="000000"/>
                </a:solidFill>
                <a:latin typeface="+mn-ea"/>
              </a:rPr>
              <a:t> );</a:t>
            </a:r>
          </a:p>
          <a:p>
            <a:r>
              <a:rPr lang="en-US" altLang="zh-TW" dirty="0">
                <a:solidFill>
                  <a:srgbClr val="000000"/>
                </a:solidFill>
                <a:latin typeface="+mn-ea"/>
              </a:rPr>
              <a:t>}</a:t>
            </a:r>
            <a:endParaRPr lang="zh-TW" altLang="en-US" dirty="0">
              <a:latin typeface="+mn-ea"/>
            </a:endParaRPr>
          </a:p>
        </p:txBody>
      </p:sp>
    </p:spTree>
    <p:extLst>
      <p:ext uri="{BB962C8B-B14F-4D97-AF65-F5344CB8AC3E}">
        <p14:creationId xmlns:p14="http://schemas.microsoft.com/office/powerpoint/2010/main" val="3588861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The time complexity of </a:t>
            </a:r>
            <a:r>
              <a:rPr lang="en-US" altLang="zh-TW" sz="3200" dirty="0" err="1">
                <a:latin typeface="+mn-ea"/>
                <a:ea typeface="+mn-ea"/>
              </a:rPr>
              <a:t>GrahamScan</a:t>
            </a:r>
            <a:endParaRPr lang="zh-TW" altLang="en-US" sz="3200" dirty="0">
              <a:latin typeface="+mn-ea"/>
              <a:ea typeface="+mn-ea"/>
            </a:endParaRPr>
          </a:p>
        </p:txBody>
      </p:sp>
      <p:sp>
        <p:nvSpPr>
          <p:cNvPr id="2" name="內容版面配置區 1"/>
          <p:cNvSpPr>
            <a:spLocks noGrp="1"/>
          </p:cNvSpPr>
          <p:nvPr>
            <p:ph idx="1"/>
          </p:nvPr>
        </p:nvSpPr>
        <p:spPr/>
        <p:txBody>
          <a:bodyPr/>
          <a:lstStyle/>
          <a:p>
            <a:pPr>
              <a:spcBef>
                <a:spcPts val="300"/>
              </a:spcBef>
            </a:pPr>
            <a:r>
              <a:rPr lang="en-US" altLang="zh-TW" dirty="0"/>
              <a:t>We now show that the time complexity of </a:t>
            </a:r>
            <a:r>
              <a:rPr lang="en-US" altLang="zh-TW" sz="1800" dirty="0" err="1">
                <a:solidFill>
                  <a:srgbClr val="000000"/>
                </a:solidFill>
                <a:latin typeface="Lucida Console"/>
              </a:rPr>
              <a:t>GrahamScan</a:t>
            </a:r>
            <a:r>
              <a:rPr lang="en-US" altLang="zh-TW" dirty="0"/>
              <a:t> is </a:t>
            </a:r>
            <a:r>
              <a:rPr lang="en-US" altLang="zh-TW" i="1" dirty="0">
                <a:solidFill>
                  <a:srgbClr val="000000"/>
                </a:solidFill>
              </a:rPr>
              <a:t>O</a:t>
            </a:r>
            <a:r>
              <a:rPr lang="en-US" altLang="zh-TW" dirty="0">
                <a:solidFill>
                  <a:srgbClr val="000000"/>
                </a:solidFill>
              </a:rPr>
              <a:t>(</a:t>
            </a:r>
            <a:r>
              <a:rPr lang="en-US" altLang="zh-TW" i="1" spc="300" dirty="0" err="1">
                <a:solidFill>
                  <a:srgbClr val="000000"/>
                </a:solidFill>
              </a:rPr>
              <a:t>n</a:t>
            </a:r>
            <a:r>
              <a:rPr lang="en-US" altLang="zh-TW" dirty="0" err="1">
                <a:solidFill>
                  <a:srgbClr val="000000"/>
                </a:solidFill>
              </a:rPr>
              <a:t>l</a:t>
            </a:r>
            <a:r>
              <a:rPr lang="en-US" altLang="zh-TW" spc="300" dirty="0" err="1">
                <a:solidFill>
                  <a:srgbClr val="000000"/>
                </a:solidFill>
              </a:rPr>
              <a:t>g</a:t>
            </a:r>
            <a:r>
              <a:rPr lang="en-US" altLang="zh-TW" i="1" dirty="0" err="1">
                <a:solidFill>
                  <a:srgbClr val="000000"/>
                </a:solidFill>
              </a:rPr>
              <a:t>n</a:t>
            </a:r>
            <a:r>
              <a:rPr lang="en-US" altLang="zh-TW" dirty="0">
                <a:solidFill>
                  <a:srgbClr val="000000"/>
                </a:solidFill>
              </a:rPr>
              <a:t>)</a:t>
            </a:r>
            <a:r>
              <a:rPr lang="en-US" altLang="zh-TW" dirty="0"/>
              <a:t>, where </a:t>
            </a:r>
            <a:r>
              <a:rPr lang="en-US" altLang="zh-TW" i="1" dirty="0"/>
              <a:t>n</a:t>
            </a:r>
            <a:r>
              <a:rPr lang="en-US" altLang="zh-TW" dirty="0"/>
              <a:t> </a:t>
            </a:r>
            <a:r>
              <a:rPr lang="en-US" altLang="zh-TW" dirty="0">
                <a:latin typeface="Cambria Math" panose="02040503050406030204" pitchFamily="18" charset="0"/>
                <a:ea typeface="Cambria Math" panose="02040503050406030204" pitchFamily="18" charset="0"/>
              </a:rPr>
              <a:t>=</a:t>
            </a:r>
            <a:r>
              <a:rPr lang="en-US" altLang="zh-TW" dirty="0"/>
              <a:t> </a:t>
            </a:r>
            <a:r>
              <a:rPr lang="en-US" altLang="zh-TW" sz="1800" dirty="0" err="1">
                <a:solidFill>
                  <a:srgbClr val="000000"/>
                </a:solidFill>
                <a:latin typeface="Lucida Console"/>
              </a:rPr>
              <a:t>p.size</a:t>
            </a:r>
            <a:r>
              <a:rPr lang="en-US" altLang="zh-TW" sz="1800" dirty="0">
                <a:solidFill>
                  <a:srgbClr val="000000"/>
                </a:solidFill>
                <a:latin typeface="Lucida Console"/>
              </a:rPr>
              <a:t>()</a:t>
            </a:r>
            <a:r>
              <a:rPr lang="en-US" altLang="zh-TW" dirty="0">
                <a:solidFill>
                  <a:srgbClr val="000000"/>
                </a:solidFill>
              </a:rPr>
              <a:t> before the execution of </a:t>
            </a:r>
            <a:r>
              <a:rPr lang="en-US" altLang="zh-TW" sz="1800" dirty="0" err="1">
                <a:solidFill>
                  <a:srgbClr val="000000"/>
                </a:solidFill>
                <a:latin typeface="Lucida Console"/>
              </a:rPr>
              <a:t>eraseCollinear</a:t>
            </a:r>
            <a:r>
              <a:rPr lang="en-US" altLang="zh-TW" dirty="0"/>
              <a:t>.</a:t>
            </a:r>
          </a:p>
          <a:p>
            <a:pPr>
              <a:spcBef>
                <a:spcPts val="300"/>
              </a:spcBef>
            </a:pPr>
            <a:r>
              <a:rPr lang="en-US" altLang="zh-TW" sz="1800" dirty="0" err="1">
                <a:solidFill>
                  <a:srgbClr val="000000"/>
                </a:solidFill>
                <a:latin typeface="Lucida Console"/>
              </a:rPr>
              <a:t>min_element</a:t>
            </a:r>
            <a:r>
              <a:rPr lang="en-US" altLang="zh-TW" dirty="0"/>
              <a:t> takes </a:t>
            </a:r>
            <a:r>
              <a:rPr lang="el-GR" altLang="zh-TW" dirty="0">
                <a:latin typeface="Times New Roman" panose="02020603050405020304" pitchFamily="18" charset="0"/>
                <a:cs typeface="Times New Roman" panose="02020603050405020304" pitchFamily="18" charset="0"/>
              </a:rPr>
              <a:t>Θ</a:t>
            </a:r>
            <a:r>
              <a:rPr lang="en-US" altLang="zh-TW" dirty="0"/>
              <a:t>(</a:t>
            </a:r>
            <a:r>
              <a:rPr lang="en-US" altLang="zh-TW" i="1" dirty="0"/>
              <a:t>n</a:t>
            </a:r>
            <a:r>
              <a:rPr lang="en-US" altLang="zh-TW" dirty="0"/>
              <a:t>) time.</a:t>
            </a:r>
          </a:p>
          <a:p>
            <a:pPr>
              <a:spcBef>
                <a:spcPts val="300"/>
              </a:spcBef>
            </a:pPr>
            <a:r>
              <a:rPr lang="en-US" altLang="zh-TW" sz="1800" dirty="0">
                <a:solidFill>
                  <a:srgbClr val="000000"/>
                </a:solidFill>
                <a:latin typeface="Lucida Console"/>
              </a:rPr>
              <a:t>sort</a:t>
            </a:r>
            <a:r>
              <a:rPr lang="en-US" altLang="zh-TW" dirty="0"/>
              <a:t> takes </a:t>
            </a:r>
            <a:r>
              <a:rPr lang="en-US" altLang="zh-TW" i="1" dirty="0"/>
              <a:t>O</a:t>
            </a:r>
            <a:r>
              <a:rPr lang="en-US" altLang="zh-TW" dirty="0"/>
              <a:t>(</a:t>
            </a:r>
            <a:r>
              <a:rPr lang="en-US" altLang="zh-TW" i="1" spc="300" dirty="0" err="1"/>
              <a:t>n</a:t>
            </a:r>
            <a:r>
              <a:rPr lang="en-US" altLang="zh-TW" dirty="0" err="1"/>
              <a:t>l</a:t>
            </a:r>
            <a:r>
              <a:rPr lang="en-US" altLang="zh-TW" spc="300" dirty="0" err="1"/>
              <a:t>g</a:t>
            </a:r>
            <a:r>
              <a:rPr lang="en-US" altLang="zh-TW" i="1" dirty="0" err="1"/>
              <a:t>n</a:t>
            </a:r>
            <a:r>
              <a:rPr lang="en-US" altLang="zh-TW" dirty="0"/>
              <a:t>) time.</a:t>
            </a:r>
          </a:p>
          <a:p>
            <a:pPr lvl="0">
              <a:spcBef>
                <a:spcPts val="300"/>
              </a:spcBef>
              <a:buClr>
                <a:srgbClr val="000000"/>
              </a:buClr>
            </a:pPr>
            <a:r>
              <a:rPr lang="en-US" altLang="zh-TW" sz="1800" dirty="0" err="1">
                <a:solidFill>
                  <a:srgbClr val="000000"/>
                </a:solidFill>
                <a:latin typeface="Lucida Console"/>
              </a:rPr>
              <a:t>eraseCollinear</a:t>
            </a:r>
            <a:r>
              <a:rPr lang="en-US" altLang="zh-TW" dirty="0">
                <a:solidFill>
                  <a:srgbClr val="000000"/>
                </a:solidFill>
              </a:rPr>
              <a:t> takes </a:t>
            </a:r>
            <a:r>
              <a:rPr lang="el-GR" altLang="zh-TW" dirty="0">
                <a:solidFill>
                  <a:srgbClr val="000000"/>
                </a:solidFill>
                <a:latin typeface="Times New Roman" panose="02020603050405020304" pitchFamily="18" charset="0"/>
                <a:cs typeface="Times New Roman" panose="02020603050405020304" pitchFamily="18" charset="0"/>
              </a:rPr>
              <a:t>Θ</a:t>
            </a:r>
            <a:r>
              <a:rPr lang="en-US" altLang="zh-TW" dirty="0">
                <a:solidFill>
                  <a:srgbClr val="000000"/>
                </a:solidFill>
              </a:rPr>
              <a:t>(</a:t>
            </a:r>
            <a:r>
              <a:rPr lang="en-US" altLang="zh-TW" i="1" dirty="0">
                <a:solidFill>
                  <a:srgbClr val="000000"/>
                </a:solidFill>
              </a:rPr>
              <a:t>n</a:t>
            </a:r>
            <a:r>
              <a:rPr lang="en-US" altLang="zh-TW" dirty="0">
                <a:solidFill>
                  <a:srgbClr val="000000"/>
                </a:solidFill>
              </a:rPr>
              <a:t>) time.</a:t>
            </a:r>
            <a:endParaRPr lang="en-US" altLang="zh-TW" dirty="0"/>
          </a:p>
          <a:p>
            <a:pPr>
              <a:spcBef>
                <a:spcPts val="300"/>
              </a:spcBef>
            </a:pPr>
            <a:r>
              <a:rPr lang="en-US" altLang="zh-TW" dirty="0"/>
              <a:t>For </a:t>
            </a:r>
            <a:r>
              <a:rPr lang="en-US" altLang="zh-TW" i="1" dirty="0"/>
              <a:t>i</a:t>
            </a:r>
            <a:r>
              <a:rPr lang="en-US" altLang="zh-TW" dirty="0"/>
              <a:t> </a:t>
            </a:r>
            <a:r>
              <a:rPr lang="en-US" altLang="zh-TW" dirty="0">
                <a:latin typeface="Cambria Math" panose="02040503050406030204" pitchFamily="18" charset="0"/>
                <a:ea typeface="Cambria Math" panose="02040503050406030204" pitchFamily="18" charset="0"/>
              </a:rPr>
              <a:t>=</a:t>
            </a:r>
            <a:r>
              <a:rPr lang="en-US" altLang="zh-TW" dirty="0"/>
              <a:t> 0, 1, . . ., </a:t>
            </a:r>
            <a:r>
              <a:rPr lang="en-US" altLang="zh-TW" i="1" dirty="0"/>
              <a:t>m</a:t>
            </a:r>
            <a:r>
              <a:rPr lang="en-US" altLang="zh-TW" dirty="0"/>
              <a:t>, we </a:t>
            </a:r>
            <a:r>
              <a:rPr lang="en-US" altLang="zh-TW" sz="1800" dirty="0" err="1">
                <a:solidFill>
                  <a:srgbClr val="000000"/>
                </a:solidFill>
                <a:latin typeface="Lucida Console"/>
              </a:rPr>
              <a:t>push_back</a:t>
            </a:r>
            <a:r>
              <a:rPr lang="en-US" altLang="zh-TW" dirty="0"/>
              <a:t> each point </a:t>
            </a:r>
            <a:r>
              <a:rPr lang="en-US" altLang="zh-TW" i="1" dirty="0"/>
              <a:t>p</a:t>
            </a:r>
            <a:r>
              <a:rPr lang="en-US" altLang="zh-TW" i="1" baseline="-25000" dirty="0"/>
              <a:t>i</a:t>
            </a:r>
            <a:r>
              <a:rPr lang="en-US" altLang="zh-TW" dirty="0"/>
              <a:t> into </a:t>
            </a:r>
            <a:r>
              <a:rPr lang="en-US" altLang="zh-TW" sz="1800" dirty="0" err="1">
                <a:solidFill>
                  <a:srgbClr val="000000"/>
                </a:solidFill>
                <a:latin typeface="Lucida Console"/>
              </a:rPr>
              <a:t>convexHull</a:t>
            </a:r>
            <a:r>
              <a:rPr lang="en-US" altLang="zh-TW" dirty="0"/>
              <a:t> exactly once</a:t>
            </a:r>
            <a:r>
              <a:rPr lang="en-US" altLang="zh-TW" dirty="0">
                <a:solidFill>
                  <a:srgbClr val="000000"/>
                </a:solidFill>
              </a:rPr>
              <a:t>, where </a:t>
            </a:r>
            <a:r>
              <a:rPr lang="en-US" altLang="zh-TW" i="1" dirty="0">
                <a:solidFill>
                  <a:srgbClr val="000000"/>
                </a:solidFill>
              </a:rPr>
              <a:t>m</a:t>
            </a:r>
            <a:r>
              <a:rPr lang="en-US" altLang="zh-TW" dirty="0">
                <a:solidFill>
                  <a:srgbClr val="000000"/>
                </a:solidFill>
              </a:rPr>
              <a:t> </a:t>
            </a:r>
            <a:r>
              <a:rPr lang="en-US" altLang="zh-TW"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 </a:t>
            </a:r>
            <a:r>
              <a:rPr lang="en-US" altLang="zh-TW" sz="1800" dirty="0" err="1">
                <a:solidFill>
                  <a:srgbClr val="000000"/>
                </a:solidFill>
                <a:latin typeface="Lucida Console"/>
              </a:rPr>
              <a:t>p.size</a:t>
            </a:r>
            <a:r>
              <a:rPr lang="en-US" altLang="zh-TW" sz="1800" dirty="0">
                <a:solidFill>
                  <a:srgbClr val="000000"/>
                </a:solidFill>
                <a:latin typeface="Lucida Console"/>
              </a:rPr>
              <a:t>()</a:t>
            </a:r>
            <a:r>
              <a:rPr lang="en-US" altLang="zh-TW" dirty="0">
                <a:solidFill>
                  <a:srgbClr val="000000"/>
                </a:solidFill>
              </a:rPr>
              <a:t> after the execution of </a:t>
            </a:r>
            <a:r>
              <a:rPr lang="en-US" altLang="zh-TW" sz="1800" dirty="0" err="1">
                <a:solidFill>
                  <a:srgbClr val="000000"/>
                </a:solidFill>
                <a:latin typeface="Lucida Console"/>
              </a:rPr>
              <a:t>eraseCollinear</a:t>
            </a:r>
            <a:r>
              <a:rPr lang="en-US" altLang="zh-TW" dirty="0"/>
              <a:t>.</a:t>
            </a:r>
          </a:p>
          <a:p>
            <a:pPr>
              <a:spcBef>
                <a:spcPts val="300"/>
              </a:spcBef>
            </a:pPr>
            <a:r>
              <a:rPr lang="en-US" altLang="zh-TW" dirty="0"/>
              <a:t>We can </a:t>
            </a:r>
            <a:r>
              <a:rPr lang="en-US" altLang="zh-TW" sz="1800" dirty="0" err="1">
                <a:solidFill>
                  <a:srgbClr val="000000"/>
                </a:solidFill>
                <a:latin typeface="Lucida Console"/>
              </a:rPr>
              <a:t>pop_back</a:t>
            </a:r>
            <a:r>
              <a:rPr lang="en-US" altLang="zh-TW" dirty="0"/>
              <a:t> at most the number of items that we </a:t>
            </a:r>
            <a:r>
              <a:rPr lang="en-US" altLang="zh-TW" sz="1800" dirty="0" err="1">
                <a:solidFill>
                  <a:srgbClr val="000000"/>
                </a:solidFill>
                <a:latin typeface="Lucida Console"/>
              </a:rPr>
              <a:t>push_back</a:t>
            </a:r>
            <a:r>
              <a:rPr lang="en-US" altLang="zh-TW" dirty="0"/>
              <a:t>.</a:t>
            </a:r>
          </a:p>
          <a:p>
            <a:pPr>
              <a:spcBef>
                <a:spcPts val="300"/>
              </a:spcBef>
            </a:pPr>
            <a:r>
              <a:rPr lang="en-US" altLang="zh-TW" dirty="0"/>
              <a:t>At most </a:t>
            </a:r>
            <a:r>
              <a:rPr lang="en-US" altLang="zh-TW" i="1" dirty="0"/>
              <a:t>m</a:t>
            </a:r>
            <a:r>
              <a:rPr lang="en-US" altLang="zh-TW" spc="-150" dirty="0"/>
              <a:t> </a:t>
            </a:r>
            <a:r>
              <a:rPr lang="en-US" altLang="zh-TW" sz="2000" spc="300" dirty="0">
                <a:latin typeface="Cambria Math" panose="02040503050406030204" pitchFamily="18" charset="0"/>
                <a:ea typeface="Cambria Math" panose="02040503050406030204" pitchFamily="18" charset="0"/>
              </a:rPr>
              <a:t>+</a:t>
            </a:r>
            <a:r>
              <a:rPr lang="en-US" altLang="zh-TW" dirty="0"/>
              <a:t>1 </a:t>
            </a:r>
            <a:r>
              <a:rPr lang="en-US" altLang="zh-TW" sz="1800" dirty="0" err="1">
                <a:solidFill>
                  <a:srgbClr val="000000"/>
                </a:solidFill>
                <a:latin typeface="Lucida Console"/>
              </a:rPr>
              <a:t>pop_back</a:t>
            </a:r>
            <a:r>
              <a:rPr lang="en-US" altLang="zh-TW" dirty="0"/>
              <a:t> operations are performed in total.</a:t>
            </a:r>
          </a:p>
          <a:p>
            <a:pPr>
              <a:spcBef>
                <a:spcPts val="300"/>
              </a:spcBef>
            </a:pPr>
            <a:r>
              <a:rPr lang="en-US" altLang="zh-TW" dirty="0"/>
              <a:t>Each iteration of the while loop performs one </a:t>
            </a:r>
            <a:r>
              <a:rPr lang="en-US" altLang="zh-TW" sz="1800" dirty="0" err="1">
                <a:solidFill>
                  <a:srgbClr val="000000"/>
                </a:solidFill>
                <a:latin typeface="Lucida Console"/>
              </a:rPr>
              <a:t>pop_back</a:t>
            </a:r>
            <a:r>
              <a:rPr lang="en-US" altLang="zh-TW" dirty="0"/>
              <a:t>, and so there are at most </a:t>
            </a:r>
            <a:r>
              <a:rPr lang="en-US" altLang="zh-TW" i="1" dirty="0">
                <a:solidFill>
                  <a:srgbClr val="000000"/>
                </a:solidFill>
              </a:rPr>
              <a:t>m</a:t>
            </a:r>
            <a:r>
              <a:rPr lang="en-US" altLang="zh-TW" spc="-150" dirty="0">
                <a:solidFill>
                  <a:srgbClr val="000000"/>
                </a:solidFill>
              </a:rPr>
              <a:t> </a:t>
            </a:r>
            <a:r>
              <a:rPr lang="en-US" altLang="zh-TW" sz="2000" spc="300" dirty="0">
                <a:solidFill>
                  <a:srgbClr val="000000"/>
                </a:solidFill>
                <a:latin typeface="Cambria Math" panose="02040503050406030204" pitchFamily="18" charset="0"/>
                <a:ea typeface="Cambria Math" panose="02040503050406030204" pitchFamily="18" charset="0"/>
              </a:rPr>
              <a:t>+</a:t>
            </a:r>
            <a:r>
              <a:rPr lang="en-US" altLang="zh-TW" dirty="0">
                <a:solidFill>
                  <a:srgbClr val="000000"/>
                </a:solidFill>
              </a:rPr>
              <a:t>1</a:t>
            </a:r>
            <a:r>
              <a:rPr lang="en-US" altLang="zh-TW" dirty="0"/>
              <a:t> iterations of the while loop altogether.</a:t>
            </a:r>
          </a:p>
          <a:p>
            <a:pPr>
              <a:spcBef>
                <a:spcPts val="300"/>
              </a:spcBef>
            </a:pPr>
            <a:r>
              <a:rPr lang="en-US" altLang="zh-TW" dirty="0"/>
              <a:t>The total time taken by the while loop is </a:t>
            </a:r>
            <a:r>
              <a:rPr lang="en-US" altLang="zh-TW" i="1" dirty="0"/>
              <a:t>O</a:t>
            </a:r>
            <a:r>
              <a:rPr lang="en-US" altLang="zh-TW" dirty="0"/>
              <a:t>(</a:t>
            </a:r>
            <a:r>
              <a:rPr lang="en-US" altLang="zh-TW" i="1" dirty="0"/>
              <a:t>n</a:t>
            </a:r>
            <a:r>
              <a:rPr lang="en-US" altLang="zh-TW" dirty="0"/>
              <a:t>).</a:t>
            </a:r>
          </a:p>
          <a:p>
            <a:pPr>
              <a:spcBef>
                <a:spcPts val="300"/>
              </a:spcBef>
            </a:pPr>
            <a:r>
              <a:rPr lang="en-US" altLang="zh-TW" dirty="0"/>
              <a:t>Thus, the time complexity of </a:t>
            </a:r>
            <a:r>
              <a:rPr lang="en-US" altLang="zh-TW" sz="1800" dirty="0" err="1">
                <a:solidFill>
                  <a:srgbClr val="000000"/>
                </a:solidFill>
                <a:latin typeface="Lucida Console"/>
              </a:rPr>
              <a:t>GrahamScan</a:t>
            </a:r>
            <a:r>
              <a:rPr lang="en-US" altLang="zh-TW" dirty="0"/>
              <a:t> is </a:t>
            </a:r>
            <a:r>
              <a:rPr lang="en-US" altLang="zh-TW" i="1" dirty="0">
                <a:solidFill>
                  <a:srgbClr val="000000"/>
                </a:solidFill>
              </a:rPr>
              <a:t>O</a:t>
            </a:r>
            <a:r>
              <a:rPr lang="en-US" altLang="zh-TW" dirty="0">
                <a:solidFill>
                  <a:srgbClr val="000000"/>
                </a:solidFill>
              </a:rPr>
              <a:t>(</a:t>
            </a:r>
            <a:r>
              <a:rPr lang="en-US" altLang="zh-TW" i="1" spc="300" dirty="0" err="1">
                <a:solidFill>
                  <a:srgbClr val="000000"/>
                </a:solidFill>
              </a:rPr>
              <a:t>n</a:t>
            </a:r>
            <a:r>
              <a:rPr lang="en-US" altLang="zh-TW" dirty="0" err="1">
                <a:solidFill>
                  <a:srgbClr val="000000"/>
                </a:solidFill>
              </a:rPr>
              <a:t>l</a:t>
            </a:r>
            <a:r>
              <a:rPr lang="en-US" altLang="zh-TW" spc="300" dirty="0" err="1">
                <a:solidFill>
                  <a:srgbClr val="000000"/>
                </a:solidFill>
              </a:rPr>
              <a:t>g</a:t>
            </a:r>
            <a:r>
              <a:rPr lang="en-US" altLang="zh-TW" i="1" dirty="0" err="1">
                <a:solidFill>
                  <a:srgbClr val="000000"/>
                </a:solidFill>
              </a:rPr>
              <a:t>n</a:t>
            </a:r>
            <a:r>
              <a:rPr lang="en-US" altLang="zh-TW" dirty="0">
                <a:solidFill>
                  <a:srgbClr val="000000"/>
                </a:solidFill>
              </a:rPr>
              <a:t>).</a:t>
            </a:r>
            <a:endParaRPr lang="en-US" altLang="zh-TW" dirty="0"/>
          </a:p>
        </p:txBody>
      </p:sp>
    </p:spTree>
    <p:extLst>
      <p:ext uri="{BB962C8B-B14F-4D97-AF65-F5344CB8AC3E}">
        <p14:creationId xmlns:p14="http://schemas.microsoft.com/office/powerpoint/2010/main" val="902191680"/>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自訂 6">
      <a:majorFont>
        <a:latin typeface="Times New Roman"/>
        <a:ea typeface="Times New Roman"/>
        <a:cs typeface=""/>
      </a:majorFont>
      <a:minorFont>
        <a:latin typeface="Times New Roman"/>
        <a:ea typeface="Lucida Consol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itchFamily="34"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itchFamily="34" charset="0"/>
            <a:ea typeface="新細明體" pitchFamily="18" charset="-12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28709</TotalTime>
  <Words>3927</Words>
  <Application>Microsoft Office PowerPoint</Application>
  <PresentationFormat>如螢幕大小 (4:3)</PresentationFormat>
  <Paragraphs>943</Paragraphs>
  <Slides>41</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41</vt:i4>
      </vt:variant>
    </vt:vector>
  </HeadingPairs>
  <TitlesOfParts>
    <vt:vector size="51" baseType="lpstr">
      <vt:lpstr>細明體</vt:lpstr>
      <vt:lpstr>新細明體</vt:lpstr>
      <vt:lpstr>Arial</vt:lpstr>
      <vt:lpstr>Cambria Math</vt:lpstr>
      <vt:lpstr>Georgia</vt:lpstr>
      <vt:lpstr>Lucida Console</vt:lpstr>
      <vt:lpstr>Symbol</vt:lpstr>
      <vt:lpstr>Tahoma</vt:lpstr>
      <vt:lpstr>Times New Roman</vt:lpstr>
      <vt:lpstr>Blends</vt:lpstr>
      <vt:lpstr>Finding the Convex Hull</vt:lpstr>
      <vt:lpstr>Convex Hull</vt:lpstr>
      <vt:lpstr>PowerPoint 簡報</vt:lpstr>
      <vt:lpstr>Graham’s Scan</vt:lpstr>
      <vt:lpstr>PowerPoint 簡報</vt:lpstr>
      <vt:lpstr>Polar angle</vt:lpstr>
      <vt:lpstr>Cross Products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The time complexity of GrahamScan</vt:lpstr>
    </vt:vector>
  </TitlesOfParts>
  <Company>NCTU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Li Tseng-Kuei</dc:creator>
  <cp:lastModifiedBy>james</cp:lastModifiedBy>
  <cp:revision>828</cp:revision>
  <dcterms:created xsi:type="dcterms:W3CDTF">2001-09-06T13:56:50Z</dcterms:created>
  <dcterms:modified xsi:type="dcterms:W3CDTF">2026-01-09T10:15:12Z</dcterms:modified>
</cp:coreProperties>
</file>