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5"/>
  </p:notesMasterIdLst>
  <p:handoutMasterIdLst>
    <p:handoutMasterId r:id="rId26"/>
  </p:handoutMasterIdLst>
  <p:sldIdLst>
    <p:sldId id="256" r:id="rId2"/>
    <p:sldId id="681" r:id="rId3"/>
    <p:sldId id="736" r:id="rId4"/>
    <p:sldId id="692" r:id="rId5"/>
    <p:sldId id="715" r:id="rId6"/>
    <p:sldId id="716" r:id="rId7"/>
    <p:sldId id="710" r:id="rId8"/>
    <p:sldId id="756" r:id="rId9"/>
    <p:sldId id="717" r:id="rId10"/>
    <p:sldId id="742" r:id="rId11"/>
    <p:sldId id="744" r:id="rId12"/>
    <p:sldId id="704" r:id="rId13"/>
    <p:sldId id="757" r:id="rId14"/>
    <p:sldId id="758" r:id="rId15"/>
    <p:sldId id="759" r:id="rId16"/>
    <p:sldId id="760" r:id="rId17"/>
    <p:sldId id="761" r:id="rId18"/>
    <p:sldId id="762" r:id="rId19"/>
    <p:sldId id="763" r:id="rId20"/>
    <p:sldId id="764" r:id="rId21"/>
    <p:sldId id="765" r:id="rId22"/>
    <p:sldId id="766" r:id="rId23"/>
    <p:sldId id="743" r:id="rId24"/>
  </p:sldIdLst>
  <p:sldSz cx="9144000" cy="6858000" type="screen4x3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">
          <p15:clr>
            <a:srgbClr val="A4A3A4"/>
          </p15:clr>
        </p15:guide>
        <p15:guide id="2" pos="3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7C80"/>
    <a:srgbClr val="9999FF"/>
    <a:srgbClr val="FF0000"/>
    <a:srgbClr val="006600"/>
    <a:srgbClr val="008000"/>
    <a:srgbClr val="6666FF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1" autoAdjust="0"/>
    <p:restoredTop sz="94637" autoAdjust="0"/>
  </p:normalViewPr>
  <p:slideViewPr>
    <p:cSldViewPr showGuides="1">
      <p:cViewPr varScale="1">
        <p:scale>
          <a:sx n="95" d="100"/>
          <a:sy n="95" d="100"/>
        </p:scale>
        <p:origin x="216" y="77"/>
      </p:cViewPr>
      <p:guideLst>
        <p:guide orient="horz" pos="5"/>
        <p:guide pos="3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180023" cy="18002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6BF26EBD-3E09-44EF-956B-8BD3C916C0F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86388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3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76B13448-43F4-443B-9CE2-651BE8BCA09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56973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611494" y="2708908"/>
            <a:ext cx="7921012" cy="1440184"/>
          </a:xfrm>
        </p:spPr>
        <p:txBody>
          <a:bodyPr/>
          <a:lstStyle>
            <a:lvl1pPr>
              <a:defRPr sz="5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1471" y="188913"/>
            <a:ext cx="8281058" cy="900112"/>
          </a:xfrm>
        </p:spPr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1268724"/>
            <a:ext cx="8281058" cy="5040001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1471" y="188913"/>
            <a:ext cx="8281058" cy="900112"/>
          </a:xfrm>
        </p:spPr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1268724"/>
            <a:ext cx="8281058" cy="5040001"/>
          </a:xfrm>
        </p:spPr>
        <p:txBody>
          <a:bodyPr/>
          <a:lstStyle>
            <a:lvl1pPr marL="0" indent="0">
              <a:buFontTx/>
              <a:buNone/>
              <a:defRPr sz="18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153634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548632"/>
            <a:ext cx="4860621" cy="576073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0616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1471" y="188913"/>
            <a:ext cx="8281058" cy="90011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0" y="1268724"/>
            <a:ext cx="8281059" cy="5040001"/>
          </a:xfrm>
        </p:spPr>
        <p:txBody>
          <a:bodyPr/>
          <a:lstStyle>
            <a:lvl1pPr marL="269875" indent="-269875">
              <a:defRPr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04209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31471" y="188913"/>
            <a:ext cx="8281057" cy="90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27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471" y="1268724"/>
            <a:ext cx="8281057" cy="5040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1" r:id="rId3"/>
    <p:sldLayoutId id="2147483660" r:id="rId4"/>
    <p:sldLayoutId id="2147483659" r:id="rId5"/>
    <p:sldLayoutId id="2147483657" r:id="rId6"/>
    <p:sldLayoutId id="2147483658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00FF"/>
          </a:solidFill>
          <a:latin typeface="Times New Roman" pitchFamily="18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00FF"/>
          </a:solidFill>
          <a:latin typeface="Times New Roman" pitchFamily="18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00FF"/>
          </a:solidFill>
          <a:latin typeface="Times New Roman" pitchFamily="18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000FF"/>
          </a:solidFill>
          <a:latin typeface="Times New Roman" pitchFamily="18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rgbClr val="0000FF"/>
          </a:solidFill>
          <a:latin typeface="Times New Roman" pitchFamily="18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rgbClr val="0000FF"/>
          </a:solidFill>
          <a:latin typeface="Times New Roman" pitchFamily="18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rgbClr val="0000FF"/>
          </a:solidFill>
          <a:latin typeface="Times New Roman" pitchFamily="18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rgbClr val="0000FF"/>
          </a:solidFill>
          <a:latin typeface="Times New Roman" pitchFamily="18" charset="0"/>
          <a:ea typeface="標楷體" pitchFamily="65" charset="-12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Tx/>
        <a:buNone/>
        <a:defRPr kumimoji="1"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Coin changing</a:t>
            </a:r>
            <a:endParaRPr lang="en-US" altLang="zh-TW" sz="5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Coin </a:t>
            </a:r>
            <a:r>
              <a:rPr lang="en-US" altLang="zh-TW" dirty="0" smtClean="0"/>
              <a:t>changing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449" y="1268724"/>
            <a:ext cx="8641104" cy="900115"/>
          </a:xfrm>
        </p:spPr>
        <p:txBody>
          <a:bodyPr/>
          <a:lstStyle/>
          <a:p>
            <a:r>
              <a:rPr lang="en-US" altLang="zh-TW" dirty="0"/>
              <a:t>Consider the problem of making change for </a:t>
            </a:r>
            <a:r>
              <a:rPr lang="en-US" altLang="zh-TW" i="1" dirty="0"/>
              <a:t>n</a:t>
            </a:r>
            <a:r>
              <a:rPr lang="en-US" altLang="zh-TW" dirty="0"/>
              <a:t> cents using the fewest number </a:t>
            </a:r>
            <a:r>
              <a:rPr lang="en-US" altLang="zh-TW" dirty="0" smtClean="0"/>
              <a:t>of coins</a:t>
            </a:r>
            <a:r>
              <a:rPr lang="en-US" altLang="zh-TW" dirty="0"/>
              <a:t>. Assume that each coin’s value is an integer</a:t>
            </a:r>
            <a:r>
              <a:rPr lang="en-US" altLang="zh-TW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3548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Coin </a:t>
            </a:r>
            <a:r>
              <a:rPr lang="en-US" altLang="zh-TW" dirty="0" smtClean="0"/>
              <a:t>changing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4"/>
            <a:ext cx="8281058" cy="4500575"/>
          </a:xfrm>
        </p:spPr>
        <p:txBody>
          <a:bodyPr lIns="36000" rIns="0"/>
          <a:lstStyle/>
          <a:p>
            <a:pPr marL="360363" indent="-360363"/>
            <a:r>
              <a:rPr lang="en-US" altLang="zh-TW" i="1" dirty="0" smtClean="0"/>
              <a:t>a</a:t>
            </a:r>
            <a:r>
              <a:rPr lang="en-US" altLang="zh-TW" dirty="0" smtClean="0"/>
              <a:t>.	Describe </a:t>
            </a:r>
            <a:r>
              <a:rPr lang="en-US" altLang="zh-TW" dirty="0"/>
              <a:t>a greedy algorithm to make change consisting of quarters (25 cents), dimes </a:t>
            </a:r>
            <a:r>
              <a:rPr lang="en-US" altLang="zh-TW" dirty="0" smtClean="0"/>
              <a:t>(10 </a:t>
            </a:r>
            <a:r>
              <a:rPr lang="en-US" altLang="zh-TW" dirty="0"/>
              <a:t>cents), nickels </a:t>
            </a:r>
            <a:r>
              <a:rPr lang="en-US" altLang="zh-TW" dirty="0" smtClean="0"/>
              <a:t>(5 </a:t>
            </a:r>
            <a:r>
              <a:rPr lang="en-US" altLang="zh-TW" dirty="0"/>
              <a:t>cents), and pennies </a:t>
            </a:r>
            <a:r>
              <a:rPr lang="en-US" altLang="zh-TW" dirty="0" smtClean="0"/>
              <a:t>(1 cent). </a:t>
            </a:r>
            <a:r>
              <a:rPr lang="en-US" altLang="zh-TW" dirty="0"/>
              <a:t>Prove that your algorithm yields an optimal solution</a:t>
            </a:r>
            <a:r>
              <a:rPr lang="en-US" altLang="zh-TW" dirty="0" smtClean="0"/>
              <a:t>.</a:t>
            </a:r>
            <a:endParaRPr lang="en-US" altLang="zh-TW" sz="1200" dirty="0" smtClean="0"/>
          </a:p>
          <a:p>
            <a:pPr marL="360363"/>
            <a:r>
              <a:rPr lang="en-US" altLang="zh-TW" dirty="0" smtClean="0"/>
              <a:t>A </a:t>
            </a:r>
            <a:r>
              <a:rPr lang="en-US" altLang="zh-TW" dirty="0"/>
              <a:t>greedy algorithm to make change using quarters, dimes, nickels, and </a:t>
            </a:r>
            <a:r>
              <a:rPr lang="en-US" altLang="zh-TW" dirty="0" smtClean="0"/>
              <a:t>pennies works </a:t>
            </a:r>
            <a:r>
              <a:rPr lang="en-US" altLang="zh-TW" dirty="0"/>
              <a:t>as follows:</a:t>
            </a:r>
          </a:p>
          <a:p>
            <a:pPr marL="720725" indent="-360363">
              <a:buFont typeface="Arial" panose="020B0604020202020204" pitchFamily="34" charset="0"/>
              <a:buChar char="•"/>
            </a:pPr>
            <a:r>
              <a:rPr lang="en-US" altLang="zh-TW" dirty="0" smtClean="0"/>
              <a:t>Give </a:t>
            </a:r>
            <a:r>
              <a:rPr lang="en-US" altLang="zh-TW" i="1" dirty="0"/>
              <a:t>q</a:t>
            </a:r>
            <a:r>
              <a:rPr lang="en-US" altLang="zh-TW" dirty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⎿</a:t>
            </a:r>
            <a:r>
              <a:rPr lang="en-US" altLang="zh-TW" i="1" dirty="0" smtClean="0"/>
              <a:t>n</a:t>
            </a:r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en-US" altLang="zh-TW" dirty="0" err="1" smtClean="0"/>
              <a:t>25</a:t>
            </a:r>
            <a:r>
              <a:rPr lang="en-US" altLang="zh-TW" dirty="0" err="1" smtClean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⏌</a:t>
            </a:r>
            <a:r>
              <a:rPr lang="en-US" altLang="zh-TW" dirty="0" err="1" smtClean="0"/>
              <a:t>quarters</a:t>
            </a:r>
            <a:r>
              <a:rPr lang="en-US" altLang="zh-TW" dirty="0" smtClean="0"/>
              <a:t>.					 </a:t>
            </a:r>
            <a:r>
              <a:rPr lang="en-US" altLang="zh-TW" dirty="0"/>
              <a:t>That leaves </a:t>
            </a:r>
            <a:r>
              <a:rPr lang="en-US" altLang="zh-TW" i="1" dirty="0"/>
              <a:t>n</a:t>
            </a:r>
            <a:r>
              <a:rPr lang="en-US" altLang="zh-TW" i="1" baseline="-25000" dirty="0"/>
              <a:t>q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 mod 25 cents to </a:t>
            </a:r>
            <a:r>
              <a:rPr lang="en-US" altLang="zh-TW" dirty="0" smtClean="0"/>
              <a:t>make change</a:t>
            </a:r>
            <a:r>
              <a:rPr lang="en-US" altLang="zh-TW" dirty="0"/>
              <a:t>.</a:t>
            </a:r>
          </a:p>
          <a:p>
            <a:pPr marL="720725" indent="-360363">
              <a:buFont typeface="Arial" panose="020B0604020202020204" pitchFamily="34" charset="0"/>
              <a:buChar char="•"/>
            </a:pPr>
            <a:r>
              <a:rPr lang="en-US" altLang="zh-TW" dirty="0" smtClean="0"/>
              <a:t>Then </a:t>
            </a:r>
            <a:r>
              <a:rPr lang="en-US" altLang="zh-TW" dirty="0"/>
              <a:t>give </a:t>
            </a:r>
            <a:r>
              <a:rPr lang="en-US" altLang="zh-TW" i="1" dirty="0"/>
              <a:t>d</a:t>
            </a:r>
            <a:r>
              <a:rPr lang="en-US" altLang="zh-TW" dirty="0"/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⎿</a:t>
            </a:r>
            <a:r>
              <a:rPr lang="en-US" altLang="zh-TW" i="1" dirty="0" smtClean="0"/>
              <a:t>n</a:t>
            </a:r>
            <a:r>
              <a:rPr lang="en-US" altLang="zh-TW" i="1" spc="300" baseline="-25000" dirty="0" smtClean="0"/>
              <a:t>q</a:t>
            </a:r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en-US" altLang="zh-TW" dirty="0" err="1" smtClean="0"/>
              <a:t>10</a:t>
            </a:r>
            <a:r>
              <a:rPr lang="en-US" altLang="zh-TW" dirty="0" err="1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⏌</a:t>
            </a:r>
            <a:r>
              <a:rPr lang="en-US" altLang="zh-TW" dirty="0" err="1" smtClean="0"/>
              <a:t>dimes</a:t>
            </a:r>
            <a:r>
              <a:rPr lang="en-US" altLang="zh-TW" dirty="0" smtClean="0"/>
              <a:t>.					 </a:t>
            </a:r>
            <a:r>
              <a:rPr lang="en-US" altLang="zh-TW" dirty="0"/>
              <a:t>That leaves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d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i="1" dirty="0"/>
              <a:t>n</a:t>
            </a:r>
            <a:r>
              <a:rPr lang="en-US" altLang="zh-TW" i="1" baseline="-25000" dirty="0"/>
              <a:t>q</a:t>
            </a:r>
            <a:r>
              <a:rPr lang="en-US" altLang="zh-TW" dirty="0"/>
              <a:t> mod 10 cents to </a:t>
            </a:r>
            <a:r>
              <a:rPr lang="en-US" altLang="zh-TW" dirty="0" smtClean="0"/>
              <a:t>make change</a:t>
            </a:r>
            <a:r>
              <a:rPr lang="en-US" altLang="zh-TW" dirty="0"/>
              <a:t>.</a:t>
            </a:r>
          </a:p>
          <a:p>
            <a:pPr marL="720725" indent="-360363">
              <a:buFont typeface="Arial" panose="020B0604020202020204" pitchFamily="34" charset="0"/>
              <a:buChar char="•"/>
            </a:pPr>
            <a:r>
              <a:rPr lang="en-US" altLang="zh-TW" dirty="0" smtClean="0"/>
              <a:t>Then </a:t>
            </a:r>
            <a:r>
              <a:rPr lang="en-US" altLang="zh-TW" dirty="0"/>
              <a:t>give </a:t>
            </a:r>
            <a:r>
              <a:rPr lang="en-US" altLang="zh-TW" i="1" dirty="0"/>
              <a:t>k</a:t>
            </a:r>
            <a:r>
              <a:rPr lang="en-US" altLang="zh-TW" dirty="0"/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⎿</a:t>
            </a:r>
            <a:r>
              <a:rPr lang="en-US" altLang="zh-TW" i="1" dirty="0" err="1" smtClean="0"/>
              <a:t>n</a:t>
            </a:r>
            <a:r>
              <a:rPr lang="en-US" altLang="zh-TW" i="1" spc="300" baseline="-25000" dirty="0" err="1" smtClean="0"/>
              <a:t>d</a:t>
            </a:r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en-US" altLang="zh-TW" dirty="0" err="1" smtClean="0"/>
              <a:t>5</a:t>
            </a:r>
            <a:r>
              <a:rPr lang="en-US" altLang="zh-TW" dirty="0" err="1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⏌</a:t>
            </a:r>
            <a:r>
              <a:rPr lang="en-US" altLang="zh-TW" dirty="0" err="1" smtClean="0"/>
              <a:t>nickels</a:t>
            </a:r>
            <a:r>
              <a:rPr lang="en-US" altLang="zh-TW" dirty="0" smtClean="0"/>
              <a:t>.					 </a:t>
            </a:r>
            <a:r>
              <a:rPr lang="en-US" altLang="zh-TW" dirty="0"/>
              <a:t>That leaves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k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d</a:t>
            </a:r>
            <a:r>
              <a:rPr lang="en-US" altLang="zh-TW" dirty="0"/>
              <a:t> mod 5 cents to </a:t>
            </a:r>
            <a:r>
              <a:rPr lang="en-US" altLang="zh-TW" dirty="0" smtClean="0"/>
              <a:t>make change.</a:t>
            </a:r>
          </a:p>
          <a:p>
            <a:pPr marL="720725" indent="-360363">
              <a:buFont typeface="Arial" panose="020B0604020202020204" pitchFamily="34" charset="0"/>
              <a:buChar char="•"/>
            </a:pPr>
            <a:r>
              <a:rPr lang="en-US" altLang="zh-TW" dirty="0"/>
              <a:t>Finally, give </a:t>
            </a:r>
            <a:r>
              <a:rPr lang="en-US" altLang="zh-TW" i="1" dirty="0"/>
              <a:t>p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k</a:t>
            </a:r>
            <a:r>
              <a:rPr lang="en-US" altLang="zh-TW" dirty="0"/>
              <a:t> pennies.</a:t>
            </a:r>
          </a:p>
        </p:txBody>
      </p:sp>
    </p:spTree>
    <p:extLst>
      <p:ext uri="{BB962C8B-B14F-4D97-AF65-F5344CB8AC3E}">
        <p14:creationId xmlns:p14="http://schemas.microsoft.com/office/powerpoint/2010/main" val="2200369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 greedy </a:t>
            </a:r>
            <a:r>
              <a:rPr lang="en-US" altLang="zh-TW" dirty="0"/>
              <a:t>algorithm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lIns="90000" rIns="90000"/>
          <a:lstStyle/>
          <a:p>
            <a:pPr marL="360363" indent="-360363"/>
            <a:r>
              <a:rPr lang="en-US" altLang="zh-TW" i="1" dirty="0" smtClean="0"/>
              <a:t>b</a:t>
            </a:r>
            <a:r>
              <a:rPr lang="en-US" altLang="zh-TW" dirty="0" smtClean="0"/>
              <a:t>.	Suppose </a:t>
            </a:r>
            <a:r>
              <a:rPr lang="en-US" altLang="zh-TW" dirty="0"/>
              <a:t>that the available coins are in the </a:t>
            </a:r>
            <a:r>
              <a:rPr lang="en-US" altLang="zh-TW" dirty="0" smtClean="0"/>
              <a:t>denominations (</a:t>
            </a:r>
            <a:r>
              <a:rPr lang="zh-TW" altLang="en-US" dirty="0"/>
              <a:t>面值</a:t>
            </a:r>
            <a:r>
              <a:rPr lang="en-US" altLang="zh-TW" dirty="0" smtClean="0"/>
              <a:t>) </a:t>
            </a:r>
            <a:r>
              <a:rPr lang="en-US" altLang="zh-TW" dirty="0"/>
              <a:t>that are powers of </a:t>
            </a:r>
            <a:r>
              <a:rPr lang="en-US" altLang="zh-TW" i="1" dirty="0"/>
              <a:t>c</a:t>
            </a:r>
            <a:r>
              <a:rPr lang="en-US" altLang="zh-TW" dirty="0" smtClean="0"/>
              <a:t>, i.e</a:t>
            </a:r>
            <a:r>
              <a:rPr lang="en-US" altLang="zh-TW" dirty="0"/>
              <a:t>., the denominations are </a:t>
            </a:r>
            <a:r>
              <a:rPr lang="en-US" altLang="zh-TW" i="1" dirty="0" err="1" smtClean="0"/>
              <a:t>c</a:t>
            </a:r>
            <a:r>
              <a:rPr lang="en-US" altLang="zh-TW" baseline="30000" dirty="0" err="1" smtClean="0"/>
              <a:t>0</a:t>
            </a:r>
            <a:r>
              <a:rPr lang="en-US" altLang="zh-TW" dirty="0" smtClean="0"/>
              <a:t>, </a:t>
            </a:r>
            <a:r>
              <a:rPr lang="en-US" altLang="zh-TW" i="1" dirty="0" err="1" smtClean="0"/>
              <a:t>c</a:t>
            </a:r>
            <a:r>
              <a:rPr lang="en-US" altLang="zh-TW" baseline="30000" dirty="0" err="1" smtClean="0"/>
              <a:t>1</a:t>
            </a:r>
            <a:r>
              <a:rPr lang="en-US" altLang="zh-TW" dirty="0" smtClean="0"/>
              <a:t>, . . . , </a:t>
            </a:r>
            <a:r>
              <a:rPr lang="en-US" altLang="zh-TW" sz="2300" i="1" spc="100" dirty="0" err="1">
                <a:solidFill>
                  <a:srgbClr val="000000"/>
                </a:solidFill>
              </a:rPr>
              <a:t>c</a:t>
            </a:r>
            <a:r>
              <a:rPr lang="en-US" altLang="zh-TW" i="1" baseline="30000" dirty="0" err="1" smtClean="0"/>
              <a:t>k</a:t>
            </a:r>
            <a:r>
              <a:rPr lang="en-US" altLang="zh-TW" dirty="0" smtClean="0"/>
              <a:t> </a:t>
            </a:r>
            <a:r>
              <a:rPr lang="en-US" altLang="zh-TW" dirty="0"/>
              <a:t>for some integers </a:t>
            </a:r>
            <a:r>
              <a:rPr lang="en-US" altLang="zh-TW" i="1" dirty="0"/>
              <a:t>c</a:t>
            </a:r>
            <a:r>
              <a:rPr lang="en-US" altLang="zh-TW" dirty="0"/>
              <a:t>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/>
              <a:t> 1 and </a:t>
            </a:r>
            <a:r>
              <a:rPr lang="en-US" altLang="zh-TW" i="1" dirty="0"/>
              <a:t>k</a:t>
            </a:r>
            <a:r>
              <a:rPr lang="en-US" altLang="zh-TW" dirty="0"/>
              <a:t> 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≥</a:t>
            </a:r>
            <a:r>
              <a:rPr lang="en-US" altLang="zh-TW" dirty="0" smtClean="0"/>
              <a:t> </a:t>
            </a:r>
            <a:r>
              <a:rPr lang="en-US" altLang="zh-TW" dirty="0"/>
              <a:t>1</a:t>
            </a:r>
            <a:r>
              <a:rPr lang="en-US" altLang="zh-TW" dirty="0" smtClean="0"/>
              <a:t>. Show </a:t>
            </a:r>
            <a:r>
              <a:rPr lang="en-US" altLang="zh-TW" dirty="0"/>
              <a:t>that the greedy algorithm always yields an optimal solution</a:t>
            </a:r>
            <a:r>
              <a:rPr lang="en-US" altLang="zh-TW" dirty="0" smtClean="0"/>
              <a:t>.</a:t>
            </a:r>
          </a:p>
          <a:p>
            <a:pPr marL="360363" indent="-360363"/>
            <a:endParaRPr lang="en-US" altLang="zh-TW" dirty="0"/>
          </a:p>
          <a:p>
            <a:r>
              <a:rPr lang="en-US" altLang="zh-TW" dirty="0"/>
              <a:t>When the coin denominations </a:t>
            </a:r>
            <a:r>
              <a:rPr lang="en-US" altLang="zh-TW" dirty="0" smtClean="0"/>
              <a:t>are </a:t>
            </a:r>
            <a:r>
              <a:rPr lang="en-US" altLang="zh-TW" i="1" dirty="0" err="1">
                <a:solidFill>
                  <a:srgbClr val="000000"/>
                </a:solidFill>
              </a:rPr>
              <a:t>c</a:t>
            </a:r>
            <a:r>
              <a:rPr lang="en-US" altLang="zh-TW" baseline="30000" dirty="0" err="1">
                <a:solidFill>
                  <a:srgbClr val="000000"/>
                </a:solidFill>
              </a:rPr>
              <a:t>0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 err="1">
                <a:solidFill>
                  <a:srgbClr val="000000"/>
                </a:solidFill>
              </a:rPr>
              <a:t>c</a:t>
            </a:r>
            <a:r>
              <a:rPr lang="en-US" altLang="zh-TW" baseline="30000" dirty="0" err="1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, . . . , 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i="1" baseline="30000" dirty="0" err="1" smtClean="0">
                <a:solidFill>
                  <a:srgbClr val="000000"/>
                </a:solidFill>
              </a:rPr>
              <a:t>k</a:t>
            </a:r>
            <a:r>
              <a:rPr lang="en-US" altLang="zh-TW" dirty="0" smtClean="0"/>
              <a:t>, </a:t>
            </a:r>
            <a:r>
              <a:rPr lang="en-US" altLang="zh-TW" dirty="0"/>
              <a:t>the greedy algorithm to </a:t>
            </a:r>
            <a:r>
              <a:rPr lang="en-US" altLang="zh-TW" dirty="0" smtClean="0"/>
              <a:t>make change </a:t>
            </a:r>
            <a:r>
              <a:rPr lang="en-US" altLang="zh-TW" dirty="0"/>
              <a:t>for </a:t>
            </a:r>
            <a:r>
              <a:rPr lang="en-US" altLang="zh-TW" i="1" dirty="0"/>
              <a:t>n</a:t>
            </a:r>
            <a:r>
              <a:rPr lang="en-US" altLang="zh-TW" dirty="0"/>
              <a:t> cents works by finding the denomination </a:t>
            </a:r>
            <a:r>
              <a:rPr lang="en-US" altLang="zh-TW" i="1" spc="300" dirty="0" err="1" smtClean="0">
                <a:solidFill>
                  <a:srgbClr val="000000"/>
                </a:solidFill>
              </a:rPr>
              <a:t>c</a:t>
            </a:r>
            <a:r>
              <a:rPr lang="en-US" altLang="zh-TW" i="1" baseline="30000" dirty="0" err="1" smtClean="0">
                <a:solidFill>
                  <a:srgbClr val="000000"/>
                </a:solidFill>
              </a:rPr>
              <a:t>j</a:t>
            </a:r>
            <a:r>
              <a:rPr lang="en-US" altLang="zh-TW" dirty="0" smtClean="0"/>
              <a:t> </a:t>
            </a:r>
            <a:r>
              <a:rPr lang="en-US" altLang="zh-TW" dirty="0"/>
              <a:t>such </a:t>
            </a:r>
            <a:r>
              <a:rPr lang="en-US" altLang="zh-TW" dirty="0" smtClean="0"/>
              <a:t>that </a:t>
            </a:r>
            <a:r>
              <a:rPr lang="en-US" altLang="zh-TW" i="1" dirty="0"/>
              <a:t>j</a:t>
            </a:r>
            <a:r>
              <a:rPr lang="en-US" altLang="zh-TW" dirty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max{0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≤</a:t>
            </a:r>
            <a:r>
              <a:rPr lang="en-US" altLang="zh-TW" dirty="0" smtClean="0"/>
              <a:t> </a:t>
            </a:r>
            <a:r>
              <a:rPr lang="en-US" altLang="zh-TW" i="1" dirty="0"/>
              <a:t>i</a:t>
            </a:r>
            <a:r>
              <a:rPr lang="en-US" altLang="zh-TW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≤</a:t>
            </a:r>
            <a:r>
              <a:rPr lang="en-US" altLang="zh-TW" dirty="0" smtClean="0"/>
              <a:t> </a:t>
            </a:r>
            <a:r>
              <a:rPr lang="en-US" altLang="zh-TW" i="1" dirty="0"/>
              <a:t>k</a:t>
            </a:r>
            <a:r>
              <a:rPr lang="en-US" altLang="zh-TW" dirty="0"/>
              <a:t> : </a:t>
            </a:r>
            <a:r>
              <a:rPr lang="en-US" altLang="zh-TW" i="1" spc="100" dirty="0"/>
              <a:t>c</a:t>
            </a:r>
            <a:r>
              <a:rPr lang="en-US" altLang="zh-TW" i="1" baseline="30000" dirty="0"/>
              <a:t>i</a:t>
            </a:r>
            <a:r>
              <a:rPr lang="en-US" altLang="zh-TW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≤</a:t>
            </a:r>
            <a:r>
              <a:rPr lang="en-US" altLang="zh-TW" dirty="0" smtClean="0"/>
              <a:t> </a:t>
            </a:r>
            <a:r>
              <a:rPr lang="en-US" altLang="zh-TW" i="1" dirty="0"/>
              <a:t>n</a:t>
            </a:r>
            <a:r>
              <a:rPr lang="en-US" altLang="zh-TW" dirty="0"/>
              <a:t>}, giving one coin of denomination </a:t>
            </a:r>
            <a:r>
              <a:rPr lang="en-US" altLang="zh-TW" i="1" spc="300" dirty="0" err="1" smtClean="0"/>
              <a:t>c</a:t>
            </a:r>
            <a:r>
              <a:rPr lang="en-US" altLang="zh-TW" i="1" baseline="30000" dirty="0" err="1" smtClean="0"/>
              <a:t>j</a:t>
            </a:r>
            <a:r>
              <a:rPr lang="en-US" altLang="zh-TW" dirty="0" smtClean="0"/>
              <a:t>, </a:t>
            </a:r>
            <a:r>
              <a:rPr lang="en-US" altLang="zh-TW" dirty="0"/>
              <a:t>and </a:t>
            </a:r>
            <a:r>
              <a:rPr lang="en-US" altLang="zh-TW" dirty="0" err="1" smtClean="0"/>
              <a:t>recursing</a:t>
            </a:r>
            <a:r>
              <a:rPr lang="en-US" altLang="zh-TW" dirty="0" smtClean="0"/>
              <a:t> on </a:t>
            </a:r>
            <a:r>
              <a:rPr lang="en-US" altLang="zh-TW" dirty="0"/>
              <a:t>the subproblem of making change for 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 smtClean="0"/>
              <a:t> </a:t>
            </a:r>
            <a:r>
              <a:rPr lang="en-US" altLang="zh-TW" i="1" spc="300" dirty="0" err="1" smtClean="0">
                <a:solidFill>
                  <a:srgbClr val="000000"/>
                </a:solidFill>
              </a:rPr>
              <a:t>c</a:t>
            </a:r>
            <a:r>
              <a:rPr lang="en-US" altLang="zh-TW" i="1" baseline="30000" dirty="0" err="1" smtClean="0">
                <a:solidFill>
                  <a:srgbClr val="000000"/>
                </a:solidFill>
              </a:rPr>
              <a:t>j</a:t>
            </a:r>
            <a:r>
              <a:rPr lang="en-US" altLang="zh-TW" dirty="0" smtClean="0"/>
              <a:t> </a:t>
            </a:r>
            <a:r>
              <a:rPr lang="en-US" altLang="zh-TW" dirty="0"/>
              <a:t>cents</a:t>
            </a:r>
            <a:r>
              <a:rPr lang="en-US" altLang="zh-TW" dirty="0" smtClean="0"/>
              <a:t>.	      </a:t>
            </a:r>
            <a:r>
              <a:rPr lang="en-US" altLang="zh-TW" dirty="0"/>
              <a:t>(An equivalent</a:t>
            </a:r>
            <a:r>
              <a:rPr lang="en-US" altLang="zh-TW" dirty="0" smtClean="0"/>
              <a:t>, but </a:t>
            </a:r>
            <a:r>
              <a:rPr lang="en-US" altLang="zh-TW" dirty="0"/>
              <a:t>more efficient, algorithm is to </a:t>
            </a:r>
            <a:r>
              <a:rPr lang="en-US" altLang="zh-TW" dirty="0" err="1" smtClean="0"/>
              <a:t>give</a:t>
            </a:r>
            <a:r>
              <a:rPr lang="en-US" altLang="zh-TW" dirty="0" err="1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⎿</a:t>
            </a:r>
            <a:r>
              <a:rPr lang="en-US" altLang="zh-TW" i="1" dirty="0" err="1" smtClean="0">
                <a:solidFill>
                  <a:srgbClr val="000000"/>
                </a:solidFill>
              </a:rPr>
              <a:t>n</a:t>
            </a:r>
            <a:r>
              <a:rPr lang="en-US" altLang="zh-TW" sz="2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en-US" altLang="zh-TW" i="1" spc="100" dirty="0" err="1" smtClean="0">
                <a:solidFill>
                  <a:srgbClr val="000000"/>
                </a:solidFill>
              </a:rPr>
              <a:t>c</a:t>
            </a:r>
            <a:r>
              <a:rPr lang="en-US" altLang="zh-TW" i="1" baseline="30000" dirty="0" err="1" smtClean="0">
                <a:solidFill>
                  <a:srgbClr val="000000"/>
                </a:solidFill>
              </a:rPr>
              <a:t>k</a:t>
            </a:r>
            <a:r>
              <a:rPr lang="en-US" altLang="zh-TW" dirty="0" err="1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⏌</a:t>
            </a:r>
            <a:r>
              <a:rPr lang="en-US" altLang="zh-TW" dirty="0" err="1" smtClean="0"/>
              <a:t>coins</a:t>
            </a:r>
            <a:r>
              <a:rPr lang="en-US" altLang="zh-TW" dirty="0" smtClean="0"/>
              <a:t> </a:t>
            </a:r>
            <a:r>
              <a:rPr lang="en-US" altLang="zh-TW" dirty="0"/>
              <a:t>of denomination </a:t>
            </a:r>
            <a:r>
              <a:rPr lang="en-US" altLang="zh-TW" i="1" spc="100" dirty="0" err="1">
                <a:solidFill>
                  <a:srgbClr val="000000"/>
                </a:solidFill>
              </a:rPr>
              <a:t>c</a:t>
            </a:r>
            <a:r>
              <a:rPr lang="en-US" altLang="zh-TW" i="1" baseline="30000" dirty="0" err="1">
                <a:solidFill>
                  <a:srgbClr val="000000"/>
                </a:solidFill>
              </a:rPr>
              <a:t>k</a:t>
            </a:r>
            <a:r>
              <a:rPr lang="en-US" altLang="zh-TW" dirty="0" smtClean="0"/>
              <a:t> and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⎿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 mod </a:t>
            </a:r>
            <a:r>
              <a:rPr lang="en-US" altLang="zh-TW" i="1" spc="100" dirty="0" err="1"/>
              <a:t>c</a:t>
            </a:r>
            <a:r>
              <a:rPr lang="en-US" altLang="zh-TW" i="1" spc="300" baseline="30000" dirty="0" err="1"/>
              <a:t>i</a:t>
            </a:r>
            <a:r>
              <a:rPr lang="en-US" altLang="zh-TW" baseline="30000" dirty="0" err="1">
                <a:latin typeface="Symbol" panose="05050102010706020507" pitchFamily="18" charset="2"/>
              </a:rPr>
              <a:t>+</a:t>
            </a:r>
            <a:r>
              <a:rPr lang="en-US" altLang="zh-TW" baseline="30000" dirty="0" err="1"/>
              <a:t>1</a:t>
            </a:r>
            <a:r>
              <a:rPr lang="en-US" altLang="zh-TW" spc="300" dirty="0" smtClean="0"/>
              <a:t>)</a:t>
            </a:r>
            <a:r>
              <a:rPr lang="en-US" altLang="zh-TW" sz="2200" spc="3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en-US" altLang="zh-TW" i="1" spc="100" dirty="0" err="1" smtClean="0">
                <a:solidFill>
                  <a:srgbClr val="000000"/>
                </a:solidFill>
              </a:rPr>
              <a:t>c</a:t>
            </a:r>
            <a:r>
              <a:rPr lang="en-US" altLang="zh-TW" i="1" baseline="30000" dirty="0" err="1" smtClean="0">
                <a:solidFill>
                  <a:srgbClr val="000000"/>
                </a:solidFill>
              </a:rPr>
              <a:t>i</a:t>
            </a:r>
            <a:r>
              <a:rPr lang="en-US" altLang="zh-TW" dirty="0" err="1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⏌</a:t>
            </a:r>
            <a:r>
              <a:rPr lang="en-US" altLang="zh-TW" dirty="0" err="1" smtClean="0"/>
              <a:t>coins</a:t>
            </a:r>
            <a:r>
              <a:rPr lang="en-US" altLang="zh-TW" dirty="0" smtClean="0"/>
              <a:t> </a:t>
            </a:r>
            <a:r>
              <a:rPr lang="en-US" altLang="zh-TW" dirty="0"/>
              <a:t>of denomination </a:t>
            </a:r>
            <a:r>
              <a:rPr lang="en-US" altLang="zh-TW" i="1" spc="100" dirty="0">
                <a:solidFill>
                  <a:srgbClr val="000000"/>
                </a:solidFill>
              </a:rPr>
              <a:t>c</a:t>
            </a:r>
            <a:r>
              <a:rPr lang="en-US" altLang="zh-TW" i="1" baseline="30000" dirty="0">
                <a:solidFill>
                  <a:srgbClr val="000000"/>
                </a:solidFill>
              </a:rPr>
              <a:t>i</a:t>
            </a:r>
            <a:r>
              <a:rPr lang="en-US" altLang="zh-TW" dirty="0" smtClean="0"/>
              <a:t> for     </a:t>
            </a:r>
            <a:r>
              <a:rPr lang="en-US" altLang="zh-TW" i="1" dirty="0"/>
              <a:t>i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dirty="0"/>
              <a:t>0, 1, . . . , </a:t>
            </a:r>
            <a:r>
              <a:rPr lang="en-US" altLang="zh-TW" i="1" dirty="0"/>
              <a:t>k</a:t>
            </a:r>
            <a:r>
              <a:rPr lang="en-US" altLang="zh-TW" dirty="0"/>
              <a:t> </a:t>
            </a:r>
            <a:r>
              <a:rPr lang="en-US" altLang="zh-TW" sz="2200" spc="3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300" dirty="0">
                <a:solidFill>
                  <a:srgbClr val="000000"/>
                </a:solidFill>
              </a:rPr>
              <a:t>1</a:t>
            </a:r>
            <a:r>
              <a:rPr lang="en-US" altLang="zh-TW" dirty="0" smtClean="0"/>
              <a:t>.) To </a:t>
            </a:r>
            <a:r>
              <a:rPr lang="en-US" altLang="zh-TW" dirty="0"/>
              <a:t>show that the greedy algorithm produces an optimal solution, we start </a:t>
            </a:r>
            <a:r>
              <a:rPr lang="en-US" altLang="zh-TW" dirty="0" smtClean="0"/>
              <a:t>by proving </a:t>
            </a:r>
            <a:r>
              <a:rPr lang="en-US" altLang="zh-TW" dirty="0"/>
              <a:t>the following lemma:</a:t>
            </a:r>
          </a:p>
        </p:txBody>
      </p:sp>
    </p:spTree>
    <p:extLst>
      <p:ext uri="{BB962C8B-B14F-4D97-AF65-F5344CB8AC3E}">
        <p14:creationId xmlns:p14="http://schemas.microsoft.com/office/powerpoint/2010/main" val="1842169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 greedy </a:t>
            </a:r>
            <a:r>
              <a:rPr lang="en-US" altLang="zh-TW" dirty="0"/>
              <a:t>algorithm 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611493" y="1268724"/>
            <a:ext cx="7921013" cy="3780483"/>
          </a:xfrm>
        </p:spPr>
        <p:txBody>
          <a:bodyPr/>
          <a:lstStyle/>
          <a:p>
            <a:pPr lvl="0"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	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remainder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;</a:t>
            </a:r>
          </a:p>
          <a:p>
            <a:pPr lvl="0"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sz="2200" b="1" dirty="0">
                <a:solidFill>
                  <a:srgbClr val="000000"/>
                </a:solidFill>
                <a:latin typeface="Times New Roman"/>
              </a:rPr>
              <a:t>	for	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i="1" dirty="0" smtClean="0">
                <a:solidFill>
                  <a:srgbClr val="000000"/>
                </a:solidFill>
                <a:latin typeface="Times New Roman"/>
              </a:rPr>
              <a:t>k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b="1" dirty="0" err="1">
                <a:solidFill>
                  <a:srgbClr val="000000"/>
                </a:solidFill>
                <a:latin typeface="Times New Roman"/>
              </a:rPr>
              <a:t>downto</a:t>
            </a:r>
            <a:r>
              <a:rPr lang="en-US" altLang="zh-TW" sz="22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0</a:t>
            </a:r>
          </a:p>
          <a:p>
            <a:pPr lvl="0"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新細明體"/>
              </a:rPr>
              <a:t>		</a:t>
            </a:r>
            <a:r>
              <a:rPr lang="en-US" altLang="zh-TW" sz="2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TW" sz="2200" i="1" spc="2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 </a:t>
            </a:r>
            <a:r>
              <a:rPr lang="en-US" altLang="zh-TW" sz="2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TW" sz="2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⎿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i="1" dirty="0" smtClean="0">
                <a:solidFill>
                  <a:srgbClr val="000000"/>
                </a:solidFill>
                <a:latin typeface="Times New Roman"/>
              </a:rPr>
              <a:t>remainde</a:t>
            </a:r>
            <a:r>
              <a:rPr lang="en-US" altLang="zh-TW" sz="2200" i="1" spc="300" dirty="0" smtClean="0">
                <a:solidFill>
                  <a:srgbClr val="000000"/>
                </a:solidFill>
                <a:latin typeface="Times New Roman"/>
              </a:rPr>
              <a:t>r</a:t>
            </a:r>
            <a:r>
              <a:rPr lang="en-US" altLang="zh-TW" sz="2000" spc="3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en-US" altLang="zh-TW" sz="2200" i="1" spc="100" dirty="0" smtClean="0">
                <a:solidFill>
                  <a:srgbClr val="000000"/>
                </a:solidFill>
                <a:latin typeface="Times New Roman"/>
              </a:rPr>
              <a:t>c</a:t>
            </a:r>
            <a:r>
              <a:rPr lang="en-US" altLang="zh-TW" sz="2200" i="1" baseline="30000" dirty="0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⏌</a:t>
            </a:r>
          </a:p>
          <a:p>
            <a:pPr lvl="0"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sz="2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		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remainder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remainder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mod </a:t>
            </a:r>
            <a:r>
              <a:rPr lang="en-US" altLang="zh-TW" sz="2200" i="1" spc="100" dirty="0" smtClean="0">
                <a:solidFill>
                  <a:srgbClr val="000000"/>
                </a:solidFill>
                <a:latin typeface="Times New Roman"/>
              </a:rPr>
              <a:t>c</a:t>
            </a:r>
            <a:r>
              <a:rPr lang="en-US" altLang="zh-TW" sz="2200" i="1" baseline="30000" dirty="0" smtClean="0">
                <a:solidFill>
                  <a:srgbClr val="000000"/>
                </a:solidFill>
                <a:latin typeface="Times New Roman"/>
              </a:rPr>
              <a:t>i</a:t>
            </a:r>
            <a:endParaRPr lang="en-US" altLang="zh-TW" sz="2200" dirty="0">
              <a:solidFill>
                <a:srgbClr val="000000"/>
              </a:solidFill>
              <a:latin typeface="Cambria Math" panose="02040503050406030204" pitchFamily="18" charset="0"/>
              <a:ea typeface="Cambria Math" panose="02040503050406030204" pitchFamily="18" charset="0"/>
              <a:sym typeface="Symbol" panose="05050102010706020507" pitchFamily="18" charset="2"/>
            </a:endParaRP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endParaRPr lang="en-US" altLang="zh-TW" sz="2200" i="1" dirty="0" smtClean="0">
              <a:solidFill>
                <a:srgbClr val="000000"/>
              </a:solidFill>
              <a:latin typeface="Times New Roman"/>
              <a:ea typeface="新細明體"/>
            </a:endParaRP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endParaRPr lang="en-US" altLang="zh-TW" sz="2200" i="1" dirty="0">
              <a:solidFill>
                <a:srgbClr val="000000"/>
              </a:solidFill>
              <a:latin typeface="Times New Roman"/>
              <a:ea typeface="新細明體"/>
            </a:endParaRPr>
          </a:p>
          <a:p>
            <a:pPr lvl="0"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sz="2200" b="1" spc="50" dirty="0" smtClean="0">
                <a:solidFill>
                  <a:srgbClr val="000000"/>
                </a:solidFill>
                <a:latin typeface="Times New Roman"/>
                <a:ea typeface="新細明體"/>
              </a:rPr>
              <a:t>	fo</a:t>
            </a:r>
            <a:r>
              <a:rPr lang="en-US" altLang="zh-TW" sz="2200" b="1" dirty="0" smtClean="0">
                <a:solidFill>
                  <a:srgbClr val="000000"/>
                </a:solidFill>
                <a:latin typeface="Times New Roman"/>
                <a:ea typeface="新細明體"/>
              </a:rPr>
              <a:t>r	</a:t>
            </a:r>
            <a:r>
              <a:rPr lang="en-US" altLang="zh-TW" sz="22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  <a:ea typeface="新細明體"/>
              </a:rPr>
              <a:t> 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  <a:ea typeface="新細明體"/>
              </a:rPr>
              <a:t>0 </a:t>
            </a:r>
            <a:r>
              <a:rPr lang="en-US" altLang="zh-TW" sz="2200" b="1" dirty="0">
                <a:solidFill>
                  <a:srgbClr val="000000"/>
                </a:solidFill>
                <a:latin typeface="Times New Roman"/>
                <a:ea typeface="新細明體"/>
              </a:rPr>
              <a:t>to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k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1</a:t>
            </a:r>
            <a:endParaRPr lang="en-US" altLang="zh-TW" sz="2200" i="1" dirty="0" smtClean="0">
              <a:solidFill>
                <a:srgbClr val="000000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0"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sz="2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a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TW" sz="2200" i="1" spc="2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 </a:t>
            </a:r>
            <a:r>
              <a:rPr lang="en-US" altLang="zh-TW" sz="2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TW" sz="2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⎿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mod </a:t>
            </a:r>
            <a:r>
              <a:rPr lang="en-US" altLang="zh-TW" sz="2200" i="1" spc="100" dirty="0" err="1">
                <a:solidFill>
                  <a:srgbClr val="000000"/>
                </a:solidFill>
                <a:latin typeface="Times New Roman"/>
              </a:rPr>
              <a:t>c</a:t>
            </a:r>
            <a:r>
              <a:rPr lang="en-US" altLang="zh-TW" sz="2200" i="1" spc="300" baseline="30000" dirty="0" err="1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baseline="30000" dirty="0" err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r>
              <a:rPr lang="en-US" altLang="zh-TW" sz="2200" baseline="30000" dirty="0" err="1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zh-TW" sz="2200" spc="300" dirty="0">
                <a:solidFill>
                  <a:srgbClr val="000000"/>
                </a:solidFill>
                <a:latin typeface="Times New Roman"/>
              </a:rPr>
              <a:t>)</a:t>
            </a:r>
            <a:r>
              <a:rPr lang="en-US" altLang="zh-TW" sz="2000" spc="3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en-US" altLang="zh-TW" sz="2200" i="1" spc="100" dirty="0">
                <a:solidFill>
                  <a:srgbClr val="000000"/>
                </a:solidFill>
                <a:latin typeface="Times New Roman"/>
              </a:rPr>
              <a:t>c</a:t>
            </a:r>
            <a:r>
              <a:rPr lang="en-US" altLang="zh-TW" sz="2200" i="1" baseline="30000" dirty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⏌</a:t>
            </a:r>
          </a:p>
          <a:p>
            <a:pPr lvl="0"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zh-TW" sz="2200" i="1" dirty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TW" sz="2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TW" sz="2200" i="1" spc="2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 </a:t>
            </a:r>
            <a:r>
              <a:rPr lang="en-US" altLang="zh-TW" sz="2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TW" sz="2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⎿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n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/</a:t>
            </a:r>
            <a:r>
              <a:rPr lang="en-US" altLang="zh-TW" sz="2200" i="1" spc="100" dirty="0" err="1">
                <a:solidFill>
                  <a:srgbClr val="000000"/>
                </a:solidFill>
                <a:latin typeface="Times New Roman"/>
              </a:rPr>
              <a:t>c</a:t>
            </a:r>
            <a:r>
              <a:rPr lang="en-US" altLang="zh-TW" sz="2200" i="1" baseline="30000" dirty="0" err="1">
                <a:solidFill>
                  <a:srgbClr val="000000"/>
                </a:solidFill>
                <a:latin typeface="Times New Roman"/>
              </a:rPr>
              <a:t>k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⏌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64748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1471" y="188912"/>
            <a:ext cx="8281058" cy="1439857"/>
          </a:xfrm>
        </p:spPr>
        <p:txBody>
          <a:bodyPr/>
          <a:lstStyle/>
          <a:p>
            <a:pPr algn="l"/>
            <a:r>
              <a:rPr lang="en-US" altLang="zh-TW" sz="3600" dirty="0" smtClean="0"/>
              <a:t>An example for </a:t>
            </a:r>
            <a:r>
              <a:rPr lang="en-US" altLang="zh-TW" sz="3600" dirty="0"/>
              <a:t>which the greedy algorithm does not </a:t>
            </a:r>
            <a:r>
              <a:rPr lang="en-US" altLang="zh-TW" sz="3600" dirty="0" smtClean="0"/>
              <a:t>yield an </a:t>
            </a:r>
            <a:r>
              <a:rPr lang="en-US" altLang="zh-TW" sz="3600" dirty="0"/>
              <a:t>optimal solution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808793"/>
            <a:ext cx="8281058" cy="4320552"/>
          </a:xfrm>
        </p:spPr>
        <p:txBody>
          <a:bodyPr/>
          <a:lstStyle/>
          <a:p>
            <a:pPr marL="360363" indent="-360363"/>
            <a:r>
              <a:rPr lang="en-US" altLang="zh-TW" i="1" dirty="0" smtClean="0"/>
              <a:t>c</a:t>
            </a:r>
            <a:r>
              <a:rPr lang="en-US" altLang="zh-TW" dirty="0" smtClean="0"/>
              <a:t>.	Give </a:t>
            </a:r>
            <a:r>
              <a:rPr lang="en-US" altLang="zh-TW" dirty="0"/>
              <a:t>a set of coin denominations for which the greedy algorithm does not </a:t>
            </a:r>
            <a:r>
              <a:rPr lang="en-US" altLang="zh-TW" dirty="0" smtClean="0"/>
              <a:t>yield an </a:t>
            </a:r>
            <a:r>
              <a:rPr lang="en-US" altLang="zh-TW" dirty="0"/>
              <a:t>optimal solution. Your set should include a penny so that there is a </a:t>
            </a:r>
            <a:r>
              <a:rPr lang="en-US" altLang="zh-TW" dirty="0" smtClean="0"/>
              <a:t>solution for </a:t>
            </a:r>
            <a:r>
              <a:rPr lang="en-US" altLang="zh-TW" dirty="0"/>
              <a:t>every value of </a:t>
            </a:r>
            <a:r>
              <a:rPr lang="en-US" altLang="zh-TW" i="1" dirty="0"/>
              <a:t>n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r>
              <a:rPr lang="en-US" altLang="zh-TW" dirty="0"/>
              <a:t>With actual U.S. coins, we can use coins of denomination 1, 10, and 25. </a:t>
            </a:r>
            <a:r>
              <a:rPr lang="en-US" altLang="zh-TW" dirty="0" smtClean="0"/>
              <a:t>When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30 cents, the greedy solution gives one quarter and </a:t>
            </a:r>
            <a:r>
              <a:rPr lang="en-US" altLang="zh-TW" dirty="0" smtClean="0"/>
              <a:t>five </a:t>
            </a:r>
            <a:r>
              <a:rPr lang="en-US" altLang="zh-TW" dirty="0"/>
              <a:t>pennies, for a </a:t>
            </a:r>
            <a:r>
              <a:rPr lang="en-US" altLang="zh-TW" dirty="0" smtClean="0"/>
              <a:t>total of </a:t>
            </a:r>
            <a:r>
              <a:rPr lang="en-US" altLang="zh-TW" dirty="0"/>
              <a:t>six coins. The non-greedy solution of three dimes is better.</a:t>
            </a:r>
          </a:p>
          <a:p>
            <a:r>
              <a:rPr lang="en-US" altLang="zh-TW" dirty="0"/>
              <a:t>The smallest integer numbers we can use are 1, 3, and 4. When 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6 cents, </a:t>
            </a:r>
            <a:r>
              <a:rPr lang="en-US" altLang="zh-TW" dirty="0" smtClean="0"/>
              <a:t>the greedy </a:t>
            </a:r>
            <a:r>
              <a:rPr lang="en-US" altLang="zh-TW" dirty="0"/>
              <a:t>solution gives one 4-cent coin and two 1-cent coins, for a total of </a:t>
            </a:r>
            <a:r>
              <a:rPr lang="en-US" altLang="zh-TW" dirty="0" smtClean="0"/>
              <a:t>three coins</a:t>
            </a:r>
            <a:r>
              <a:rPr lang="en-US" altLang="zh-TW" dirty="0"/>
              <a:t>. The non-greedy solution of two 3-cent coins is better.</a:t>
            </a:r>
          </a:p>
        </p:txBody>
      </p:sp>
    </p:spTree>
    <p:extLst>
      <p:ext uri="{BB962C8B-B14F-4D97-AF65-F5344CB8AC3E}">
        <p14:creationId xmlns:p14="http://schemas.microsoft.com/office/powerpoint/2010/main" val="88392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 dynamic programming </a:t>
            </a:r>
            <a:r>
              <a:rPr lang="en-US" altLang="zh-TW" dirty="0"/>
              <a:t>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5"/>
            <a:ext cx="8281058" cy="1080137"/>
          </a:xfrm>
        </p:spPr>
        <p:txBody>
          <a:bodyPr lIns="72000" rIns="0"/>
          <a:lstStyle/>
          <a:p>
            <a:pPr marL="360363" indent="-360363"/>
            <a:r>
              <a:rPr lang="en-US" altLang="zh-TW" i="1" dirty="0" smtClean="0"/>
              <a:t>d</a:t>
            </a:r>
            <a:r>
              <a:rPr lang="en-US" altLang="zh-TW" dirty="0" smtClean="0"/>
              <a:t>.	Give </a:t>
            </a:r>
            <a:r>
              <a:rPr lang="en-US" altLang="zh-TW" dirty="0"/>
              <a:t>an </a:t>
            </a:r>
            <a:r>
              <a:rPr lang="en-US" altLang="zh-TW" i="1" dirty="0" smtClean="0"/>
              <a:t>O</a:t>
            </a:r>
            <a:r>
              <a:rPr lang="en-US" altLang="zh-TW" dirty="0" smtClean="0"/>
              <a:t>(</a:t>
            </a:r>
            <a:r>
              <a:rPr lang="en-US" altLang="zh-TW" i="1" dirty="0" err="1" smtClean="0"/>
              <a:t>nk</a:t>
            </a:r>
            <a:r>
              <a:rPr lang="en-US" altLang="zh-TW" dirty="0" smtClean="0"/>
              <a:t>)-</a:t>
            </a:r>
            <a:r>
              <a:rPr lang="en-US" altLang="zh-TW" dirty="0"/>
              <a:t>time algorithm that makes change for any set of </a:t>
            </a:r>
            <a:r>
              <a:rPr lang="en-US" altLang="zh-TW" i="1" dirty="0"/>
              <a:t>k</a:t>
            </a:r>
            <a:r>
              <a:rPr lang="en-US" altLang="zh-TW" dirty="0"/>
              <a:t> different </a:t>
            </a:r>
            <a:r>
              <a:rPr lang="en-US" altLang="zh-TW" dirty="0" smtClean="0"/>
              <a:t>coin denominations</a:t>
            </a:r>
            <a:r>
              <a:rPr lang="en-US" altLang="zh-TW" dirty="0"/>
              <a:t>, assuming that one of the coins is a penny</a:t>
            </a:r>
            <a:r>
              <a:rPr lang="en-US" altLang="zh-TW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043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 dynamic programming </a:t>
            </a:r>
            <a:r>
              <a:rPr lang="en-US" altLang="zh-TW" dirty="0"/>
              <a:t>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5"/>
            <a:ext cx="8281058" cy="3060390"/>
          </a:xfrm>
        </p:spPr>
        <p:txBody>
          <a:bodyPr lIns="72000" rIns="0"/>
          <a:lstStyle/>
          <a:p>
            <a:pPr marL="360363" indent="-360363"/>
            <a:r>
              <a:rPr lang="en-US" altLang="zh-TW" i="1" dirty="0" smtClean="0"/>
              <a:t>d</a:t>
            </a:r>
            <a:r>
              <a:rPr lang="en-US" altLang="zh-TW" dirty="0" smtClean="0"/>
              <a:t>.	Give </a:t>
            </a:r>
            <a:r>
              <a:rPr lang="en-US" altLang="zh-TW" dirty="0"/>
              <a:t>an </a:t>
            </a:r>
            <a:r>
              <a:rPr lang="en-US" altLang="zh-TW" i="1" dirty="0" smtClean="0"/>
              <a:t>O</a:t>
            </a:r>
            <a:r>
              <a:rPr lang="en-US" altLang="zh-TW" dirty="0" smtClean="0"/>
              <a:t>(</a:t>
            </a:r>
            <a:r>
              <a:rPr lang="en-US" altLang="zh-TW" i="1" dirty="0" err="1" smtClean="0"/>
              <a:t>nk</a:t>
            </a:r>
            <a:r>
              <a:rPr lang="en-US" altLang="zh-TW" dirty="0" smtClean="0"/>
              <a:t>)-</a:t>
            </a:r>
            <a:r>
              <a:rPr lang="en-US" altLang="zh-TW" dirty="0"/>
              <a:t>time algorithm that makes change for any set of </a:t>
            </a:r>
            <a:r>
              <a:rPr lang="en-US" altLang="zh-TW" i="1" dirty="0"/>
              <a:t>k</a:t>
            </a:r>
            <a:r>
              <a:rPr lang="en-US" altLang="zh-TW" dirty="0"/>
              <a:t> different </a:t>
            </a:r>
            <a:r>
              <a:rPr lang="en-US" altLang="zh-TW" dirty="0" smtClean="0"/>
              <a:t>coin denominations</a:t>
            </a:r>
            <a:r>
              <a:rPr lang="en-US" altLang="zh-TW" dirty="0"/>
              <a:t>, assuming that one of the coins is a penny</a:t>
            </a:r>
            <a:r>
              <a:rPr lang="en-US" altLang="zh-TW" dirty="0" smtClean="0"/>
              <a:t>.</a:t>
            </a:r>
          </a:p>
          <a:p>
            <a:pPr marL="360363" indent="-360363"/>
            <a:endParaRPr lang="en-US" altLang="zh-TW" dirty="0"/>
          </a:p>
          <a:p>
            <a:pPr marL="360363"/>
            <a:r>
              <a:rPr lang="en-US" altLang="zh-TW" dirty="0"/>
              <a:t>Let us </a:t>
            </a:r>
            <a:r>
              <a:rPr lang="en-US" altLang="zh-TW" dirty="0" smtClean="0"/>
              <a:t>define </a:t>
            </a:r>
            <a:r>
              <a:rPr lang="en-US" altLang="zh-TW" i="1" dirty="0"/>
              <a:t>c</a:t>
            </a:r>
            <a:r>
              <a:rPr lang="en-US" altLang="zh-TW" dirty="0"/>
              <a:t>[ </a:t>
            </a:r>
            <a:r>
              <a:rPr lang="en-US" altLang="zh-TW" i="1" spc="300" dirty="0" smtClean="0"/>
              <a:t>j</a:t>
            </a:r>
            <a:r>
              <a:rPr lang="en-US" altLang="zh-TW" dirty="0" smtClean="0"/>
              <a:t>] </a:t>
            </a:r>
            <a:r>
              <a:rPr lang="en-US" altLang="zh-TW" dirty="0"/>
              <a:t>to be the minimum number of coins we need to make </a:t>
            </a:r>
            <a:r>
              <a:rPr lang="en-US" altLang="zh-TW" dirty="0" smtClean="0"/>
              <a:t>change for</a:t>
            </a:r>
            <a:r>
              <a:rPr lang="en-US" altLang="zh-TW" spc="300" dirty="0" smtClean="0"/>
              <a:t> </a:t>
            </a:r>
            <a:r>
              <a:rPr lang="en-US" altLang="zh-TW" i="1" dirty="0"/>
              <a:t>j</a:t>
            </a:r>
            <a:r>
              <a:rPr lang="en-US" altLang="zh-TW" dirty="0"/>
              <a:t> cents. Let the coin denominations be </a:t>
            </a:r>
            <a:r>
              <a:rPr lang="en-US" altLang="zh-TW" i="1" dirty="0" err="1"/>
              <a:t>d</a:t>
            </a:r>
            <a:r>
              <a:rPr lang="en-US" altLang="zh-TW" baseline="-25000" dirty="0" err="1"/>
              <a:t>1</a:t>
            </a:r>
            <a:r>
              <a:rPr lang="en-US" altLang="zh-TW" dirty="0"/>
              <a:t>, </a:t>
            </a:r>
            <a:r>
              <a:rPr lang="en-US" altLang="zh-TW" i="1" dirty="0" err="1"/>
              <a:t>d</a:t>
            </a:r>
            <a:r>
              <a:rPr lang="en-US" altLang="zh-TW" baseline="-25000" dirty="0" err="1"/>
              <a:t>2</a:t>
            </a:r>
            <a:r>
              <a:rPr lang="en-US" altLang="zh-TW" dirty="0"/>
              <a:t>, . . </a:t>
            </a:r>
            <a:r>
              <a:rPr lang="en-US" altLang="zh-TW" dirty="0" smtClean="0"/>
              <a:t>., </a:t>
            </a:r>
            <a:r>
              <a:rPr lang="en-US" altLang="zh-TW" i="1" dirty="0" smtClean="0"/>
              <a:t>d</a:t>
            </a:r>
            <a:r>
              <a:rPr lang="en-US" altLang="zh-TW" i="1" spc="300" baseline="-25000" dirty="0" smtClean="0"/>
              <a:t>k</a:t>
            </a:r>
            <a:r>
              <a:rPr lang="en-US" altLang="zh-TW" dirty="0" smtClean="0"/>
              <a:t>. </a:t>
            </a:r>
            <a:r>
              <a:rPr lang="en-US" altLang="zh-TW" dirty="0"/>
              <a:t>Since one of </a:t>
            </a:r>
            <a:r>
              <a:rPr lang="en-US" altLang="zh-TW" dirty="0" smtClean="0"/>
              <a:t>the coins </a:t>
            </a:r>
            <a:r>
              <a:rPr lang="en-US" altLang="zh-TW" dirty="0"/>
              <a:t>is a penny, there is a way to make change for any amount</a:t>
            </a:r>
            <a:r>
              <a:rPr lang="en-US" altLang="zh-TW" spc="300" dirty="0"/>
              <a:t> </a:t>
            </a:r>
            <a:r>
              <a:rPr lang="en-US" altLang="zh-TW" i="1" dirty="0"/>
              <a:t>j</a:t>
            </a:r>
            <a:r>
              <a:rPr lang="en-US" altLang="zh-TW" dirty="0"/>
              <a:t> </a:t>
            </a:r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≥</a:t>
            </a:r>
            <a:r>
              <a:rPr lang="en-US" altLang="zh-TW" dirty="0" smtClean="0"/>
              <a:t> </a:t>
            </a:r>
            <a:r>
              <a:rPr lang="en-US" altLang="zh-TW" dirty="0"/>
              <a:t>1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47213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 dynamic programming </a:t>
            </a:r>
            <a:r>
              <a:rPr lang="en-US" altLang="zh-TW" dirty="0"/>
              <a:t>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5"/>
            <a:ext cx="8281058" cy="4320552"/>
          </a:xfrm>
        </p:spPr>
        <p:txBody>
          <a:bodyPr lIns="72000" rIns="0"/>
          <a:lstStyle/>
          <a:p>
            <a:pPr marL="360363" indent="-360363"/>
            <a:r>
              <a:rPr lang="en-US" altLang="zh-TW" i="1" dirty="0" smtClean="0"/>
              <a:t>d</a:t>
            </a:r>
            <a:r>
              <a:rPr lang="en-US" altLang="zh-TW" dirty="0" smtClean="0"/>
              <a:t>.	Give </a:t>
            </a:r>
            <a:r>
              <a:rPr lang="en-US" altLang="zh-TW" dirty="0"/>
              <a:t>an </a:t>
            </a:r>
            <a:r>
              <a:rPr lang="en-US" altLang="zh-TW" i="1" dirty="0" smtClean="0"/>
              <a:t>O</a:t>
            </a:r>
            <a:r>
              <a:rPr lang="en-US" altLang="zh-TW" dirty="0" smtClean="0"/>
              <a:t>(</a:t>
            </a:r>
            <a:r>
              <a:rPr lang="en-US" altLang="zh-TW" i="1" dirty="0" err="1" smtClean="0"/>
              <a:t>nk</a:t>
            </a:r>
            <a:r>
              <a:rPr lang="en-US" altLang="zh-TW" dirty="0" smtClean="0"/>
              <a:t>)-</a:t>
            </a:r>
            <a:r>
              <a:rPr lang="en-US" altLang="zh-TW" dirty="0"/>
              <a:t>time algorithm that makes change for any set of </a:t>
            </a:r>
            <a:r>
              <a:rPr lang="en-US" altLang="zh-TW" i="1" dirty="0"/>
              <a:t>k</a:t>
            </a:r>
            <a:r>
              <a:rPr lang="en-US" altLang="zh-TW" dirty="0"/>
              <a:t> different </a:t>
            </a:r>
            <a:r>
              <a:rPr lang="en-US" altLang="zh-TW" dirty="0" smtClean="0"/>
              <a:t>coin denominations</a:t>
            </a:r>
            <a:r>
              <a:rPr lang="en-US" altLang="zh-TW" dirty="0"/>
              <a:t>, assuming that one of the coins is a penny</a:t>
            </a:r>
            <a:r>
              <a:rPr lang="en-US" altLang="zh-TW" dirty="0" smtClean="0"/>
              <a:t>.</a:t>
            </a:r>
          </a:p>
          <a:p>
            <a:pPr marL="360363" indent="-360363"/>
            <a:endParaRPr lang="en-US" altLang="zh-TW" dirty="0"/>
          </a:p>
          <a:p>
            <a:pPr marL="360363"/>
            <a:r>
              <a:rPr lang="en-US" altLang="zh-TW" dirty="0"/>
              <a:t>Let us </a:t>
            </a:r>
            <a:r>
              <a:rPr lang="en-US" altLang="zh-TW" dirty="0" smtClean="0"/>
              <a:t>define </a:t>
            </a:r>
            <a:r>
              <a:rPr lang="en-US" altLang="zh-TW" i="1" dirty="0"/>
              <a:t>c</a:t>
            </a:r>
            <a:r>
              <a:rPr lang="en-US" altLang="zh-TW" dirty="0"/>
              <a:t>[ </a:t>
            </a:r>
            <a:r>
              <a:rPr lang="en-US" altLang="zh-TW" i="1" spc="300" dirty="0" smtClean="0"/>
              <a:t>j</a:t>
            </a:r>
            <a:r>
              <a:rPr lang="en-US" altLang="zh-TW" dirty="0" smtClean="0"/>
              <a:t>] </a:t>
            </a:r>
            <a:r>
              <a:rPr lang="en-US" altLang="zh-TW" dirty="0"/>
              <a:t>to be the minimum number of coins we need to make </a:t>
            </a:r>
            <a:r>
              <a:rPr lang="en-US" altLang="zh-TW" dirty="0" smtClean="0"/>
              <a:t>change for</a:t>
            </a:r>
            <a:r>
              <a:rPr lang="en-US" altLang="zh-TW" spc="300" dirty="0" smtClean="0"/>
              <a:t> </a:t>
            </a:r>
            <a:r>
              <a:rPr lang="en-US" altLang="zh-TW" i="1" dirty="0"/>
              <a:t>j</a:t>
            </a:r>
            <a:r>
              <a:rPr lang="en-US" altLang="zh-TW" dirty="0"/>
              <a:t> cents. Let the coin denominations be </a:t>
            </a:r>
            <a:r>
              <a:rPr lang="en-US" altLang="zh-TW" i="1" dirty="0" err="1"/>
              <a:t>d</a:t>
            </a:r>
            <a:r>
              <a:rPr lang="en-US" altLang="zh-TW" baseline="-25000" dirty="0" err="1"/>
              <a:t>1</a:t>
            </a:r>
            <a:r>
              <a:rPr lang="en-US" altLang="zh-TW" dirty="0"/>
              <a:t>, </a:t>
            </a:r>
            <a:r>
              <a:rPr lang="en-US" altLang="zh-TW" i="1" dirty="0" err="1"/>
              <a:t>d</a:t>
            </a:r>
            <a:r>
              <a:rPr lang="en-US" altLang="zh-TW" baseline="-25000" dirty="0" err="1"/>
              <a:t>2</a:t>
            </a:r>
            <a:r>
              <a:rPr lang="en-US" altLang="zh-TW" dirty="0"/>
              <a:t>, . . </a:t>
            </a:r>
            <a:r>
              <a:rPr lang="en-US" altLang="zh-TW" dirty="0" smtClean="0"/>
              <a:t>., </a:t>
            </a:r>
            <a:r>
              <a:rPr lang="en-US" altLang="zh-TW" i="1" dirty="0" smtClean="0"/>
              <a:t>d</a:t>
            </a:r>
            <a:r>
              <a:rPr lang="en-US" altLang="zh-TW" i="1" spc="300" baseline="-25000" dirty="0" smtClean="0"/>
              <a:t>k</a:t>
            </a:r>
            <a:r>
              <a:rPr lang="en-US" altLang="zh-TW" dirty="0" smtClean="0"/>
              <a:t>. </a:t>
            </a:r>
            <a:r>
              <a:rPr lang="en-US" altLang="zh-TW" dirty="0"/>
              <a:t>Since one of </a:t>
            </a:r>
            <a:r>
              <a:rPr lang="en-US" altLang="zh-TW" dirty="0" smtClean="0"/>
              <a:t>the coins </a:t>
            </a:r>
            <a:r>
              <a:rPr lang="en-US" altLang="zh-TW" dirty="0"/>
              <a:t>is a penny, there is a way to make change for any amount</a:t>
            </a:r>
            <a:r>
              <a:rPr lang="en-US" altLang="zh-TW" spc="300" dirty="0"/>
              <a:t> </a:t>
            </a:r>
            <a:r>
              <a:rPr lang="en-US" altLang="zh-TW" i="1" dirty="0"/>
              <a:t>j</a:t>
            </a:r>
            <a:r>
              <a:rPr lang="en-US" altLang="zh-TW" dirty="0"/>
              <a:t> </a:t>
            </a:r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≥</a:t>
            </a:r>
            <a:r>
              <a:rPr lang="en-US" altLang="zh-TW" dirty="0" smtClean="0"/>
              <a:t> </a:t>
            </a:r>
            <a:r>
              <a:rPr lang="en-US" altLang="zh-TW" dirty="0"/>
              <a:t>1.</a:t>
            </a:r>
          </a:p>
          <a:p>
            <a:pPr marL="360363"/>
            <a:r>
              <a:rPr lang="en-US" altLang="zh-TW" dirty="0"/>
              <a:t>Because of the optimal substructure, if we knew that an optimal solution </a:t>
            </a:r>
            <a:r>
              <a:rPr lang="en-US" altLang="zh-TW" dirty="0" smtClean="0"/>
              <a:t>for the </a:t>
            </a:r>
            <a:r>
              <a:rPr lang="en-US" altLang="zh-TW" dirty="0"/>
              <a:t>problem of making change for</a:t>
            </a:r>
            <a:r>
              <a:rPr lang="en-US" altLang="zh-TW" spc="300" dirty="0"/>
              <a:t> </a:t>
            </a:r>
            <a:r>
              <a:rPr lang="en-US" altLang="zh-TW" i="1" dirty="0"/>
              <a:t>j</a:t>
            </a:r>
            <a:r>
              <a:rPr lang="en-US" altLang="zh-TW" dirty="0"/>
              <a:t> cents used a coin of denomination </a:t>
            </a:r>
            <a:r>
              <a:rPr lang="en-US" altLang="zh-TW" i="1" dirty="0" smtClean="0"/>
              <a:t>d</a:t>
            </a:r>
            <a:r>
              <a:rPr lang="en-US" altLang="zh-TW" i="1" spc="300" baseline="-25000" dirty="0" smtClean="0"/>
              <a:t>i</a:t>
            </a:r>
            <a:r>
              <a:rPr lang="en-US" altLang="zh-TW" dirty="0" smtClean="0"/>
              <a:t>, we would </a:t>
            </a:r>
            <a:r>
              <a:rPr lang="en-US" altLang="zh-TW" dirty="0"/>
              <a:t>have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 smtClean="0">
                <a:solidFill>
                  <a:srgbClr val="000000"/>
                </a:solidFill>
              </a:rPr>
              <a:t>]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1 </a:t>
            </a:r>
            <a:r>
              <a:rPr lang="en-US" altLang="zh-TW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/>
              <a:t> </a:t>
            </a:r>
            <a:r>
              <a:rPr lang="en-US" altLang="zh-TW" i="1" dirty="0"/>
              <a:t>c</a:t>
            </a:r>
            <a:r>
              <a:rPr lang="en-US" altLang="zh-TW" dirty="0"/>
              <a:t>[ </a:t>
            </a:r>
            <a:r>
              <a:rPr lang="en-US" altLang="zh-TW" i="1" dirty="0"/>
              <a:t>j</a:t>
            </a:r>
            <a:r>
              <a:rPr lang="en-US" altLang="zh-TW" dirty="0"/>
              <a:t> </a:t>
            </a:r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d</a:t>
            </a:r>
            <a:r>
              <a:rPr lang="en-US" altLang="zh-TW" i="1" baseline="-25000" dirty="0" smtClean="0"/>
              <a:t>i</a:t>
            </a:r>
            <a:r>
              <a:rPr lang="en-US" altLang="zh-TW" dirty="0" smtClean="0"/>
              <a:t>]. </a:t>
            </a:r>
            <a:r>
              <a:rPr lang="en-US" altLang="zh-TW" dirty="0"/>
              <a:t>As base cases, we have that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 smtClean="0">
                <a:solidFill>
                  <a:srgbClr val="000000"/>
                </a:solidFill>
              </a:rPr>
              <a:t>]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0 for </a:t>
            </a:r>
            <a:r>
              <a:rPr lang="en-US" altLang="zh-TW" dirty="0" smtClean="0"/>
              <a:t>all</a:t>
            </a:r>
            <a:r>
              <a:rPr lang="en-US" altLang="zh-TW" spc="300" dirty="0" smtClean="0"/>
              <a:t> 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 </a:t>
            </a:r>
            <a:r>
              <a:rPr lang="en-US" altLang="zh-TW" sz="2000" dirty="0" smtClean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≤</a:t>
            </a:r>
            <a:r>
              <a:rPr lang="en-US" altLang="zh-TW" dirty="0" smtClean="0"/>
              <a:t> </a:t>
            </a:r>
            <a:r>
              <a:rPr lang="en-US" altLang="zh-TW" dirty="0"/>
              <a:t>0.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579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dynamic programming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 lIns="72000" rIns="0"/>
              <a:lstStyle/>
              <a:p>
                <a:r>
                  <a:rPr lang="en-US" altLang="zh-TW" dirty="0" smtClean="0"/>
                  <a:t>To develop a recursive formulation, we have to check all denominations, giving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>
                          <a:solidFill>
                            <a:srgbClr val="000000"/>
                          </a:solidFill>
                        </a:rPr>
                        <m:t>c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 spc="300">
                              <a:solidFill>
                                <a:srgbClr val="000000"/>
                              </a:solidFill>
                            </a:rPr>
                            <m:t>j</m:t>
                          </m:r>
                        </m:e>
                      </m:d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   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mtClean="0">
                                    <a:solidFill>
                                      <a:schemeClr val="bg1"/>
                                    </a:solidFill>
                                  </a:rPr>
                                  <m:t>1</m:t>
                                </m:r>
                                <m:r>
                                  <a:rPr lang="en-US" altLang="zh-TW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zh-TW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zh-TW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min</m:t>
                                        </m:r>
                                      </m:e>
                                      <m:lim>
                                        <m:sSub>
                                          <m:sSubPr>
                                            <m:ctrlPr>
                                              <a:rPr lang="en-US" altLang="zh-TW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zh-TW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en-US" altLang="zh-TW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>
                                        <a:solidFill>
                                          <a:schemeClr val="bg1"/>
                                        </a:solidFill>
                                      </a:rPr>
                                      <m:t>c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>
                                        <a:solidFill>
                                          <a:schemeClr val="bg1"/>
                                        </a:solidFill>
                                      </a:rPr>
                                      <m:t>[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i="1">
                                        <a:solidFill>
                                          <a:schemeClr val="bg1"/>
                                        </a:solidFill>
                                      </a:rPr>
                                      <m:t>j</m:t>
                                    </m:r>
                                    <m:r>
                                      <a:rPr lang="en-US" altLang="zh-TW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i="1">
                                        <a:solidFill>
                                          <a:schemeClr val="bg1"/>
                                        </a:solidFill>
                                      </a:rPr>
                                      <m:t>d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i="1" baseline="-25000">
                                        <a:solidFill>
                                          <a:schemeClr val="bg1"/>
                                        </a:solidFill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>
                                        <a:solidFill>
                                          <a:schemeClr val="bg1"/>
                                        </a:solidFill>
                                      </a:rPr>
                                      <m:t>]</m:t>
                                    </m:r>
                                  </m:e>
                                </m:func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/>
              </a:p>
              <a:p>
                <a:pPr>
                  <a:spcBef>
                    <a:spcPts val="1800"/>
                  </a:spcBef>
                </a:pPr>
                <a:r>
                  <a:rPr lang="en-US" altLang="zh-TW" dirty="0" smtClean="0"/>
                  <a:t>We </a:t>
                </a:r>
                <a:r>
                  <a:rPr lang="en-US" altLang="zh-TW" dirty="0"/>
                  <a:t>can compute the </a:t>
                </a:r>
                <a:r>
                  <a:rPr lang="en-US" altLang="zh-TW" i="1" dirty="0"/>
                  <a:t>c</a:t>
                </a:r>
                <a:r>
                  <a:rPr lang="en-US" altLang="zh-TW" dirty="0"/>
                  <a:t>[ </a:t>
                </a:r>
                <a:r>
                  <a:rPr lang="en-US" altLang="zh-TW" i="1" spc="300" dirty="0" smtClean="0"/>
                  <a:t>j</a:t>
                </a:r>
                <a:r>
                  <a:rPr lang="en-US" altLang="zh-TW" dirty="0" smtClean="0"/>
                  <a:t>] </a:t>
                </a:r>
                <a:r>
                  <a:rPr lang="en-US" altLang="zh-TW" dirty="0"/>
                  <a:t>values in order of increasing</a:t>
                </a:r>
                <a:r>
                  <a:rPr lang="en-US" altLang="zh-TW" spc="300" dirty="0"/>
                  <a:t>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by using a table. </a:t>
                </a:r>
                <a:r>
                  <a:rPr lang="en-US" altLang="zh-TW" dirty="0" smtClean="0"/>
                  <a:t>The following </a:t>
                </a:r>
                <a:r>
                  <a:rPr lang="en-US" altLang="zh-TW" dirty="0"/>
                  <a:t>procedure does so, producing a table </a:t>
                </a:r>
                <a:r>
                  <a:rPr lang="en-US" altLang="zh-TW" i="1" dirty="0"/>
                  <a:t>c</a:t>
                </a:r>
                <a:r>
                  <a:rPr lang="en-US" altLang="zh-TW" dirty="0"/>
                  <a:t>[1 . . </a:t>
                </a:r>
                <a:r>
                  <a:rPr lang="en-US" altLang="zh-TW" i="1" dirty="0"/>
                  <a:t>n</a:t>
                </a:r>
                <a:r>
                  <a:rPr lang="en-US" altLang="zh-TW" dirty="0" smtClean="0"/>
                  <a:t>].	           </a:t>
                </a:r>
                <a:r>
                  <a:rPr lang="en-US" altLang="zh-TW" dirty="0"/>
                  <a:t>It avoids even </a:t>
                </a:r>
                <a:r>
                  <a:rPr lang="en-US" altLang="zh-TW" dirty="0" smtClean="0"/>
                  <a:t>examining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for</a:t>
                </a:r>
                <a:r>
                  <a:rPr lang="en-US" altLang="zh-TW" spc="300" dirty="0"/>
                  <a:t>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≤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0 by ensuring that</a:t>
                </a:r>
                <a:r>
                  <a:rPr lang="en-US" altLang="zh-TW" spc="300" dirty="0"/>
                  <a:t>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≥</a:t>
                </a:r>
                <a:r>
                  <a:rPr lang="en-US" altLang="zh-TW" dirty="0" smtClean="0"/>
                  <a:t> </a:t>
                </a:r>
                <a:r>
                  <a:rPr lang="en-US" altLang="zh-TW" i="1" dirty="0"/>
                  <a:t>d</a:t>
                </a:r>
                <a:r>
                  <a:rPr lang="en-US" altLang="zh-TW" i="1" baseline="-25000" dirty="0"/>
                  <a:t>i</a:t>
                </a:r>
                <a:r>
                  <a:rPr lang="en-US" altLang="zh-TW" dirty="0"/>
                  <a:t> before looking up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c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d</a:t>
                </a:r>
                <a:r>
                  <a:rPr lang="en-US" altLang="zh-TW" i="1" baseline="-250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/>
                  <a:t>. The procedure </a:t>
                </a:r>
                <a:r>
                  <a:rPr lang="en-US" altLang="zh-TW" dirty="0"/>
                  <a:t>also produces a table </a:t>
                </a:r>
                <a:r>
                  <a:rPr lang="en-US" altLang="zh-TW" i="1" dirty="0" err="1"/>
                  <a:t>denom</a:t>
                </a:r>
                <a:r>
                  <a:rPr lang="en-US" altLang="zh-TW" dirty="0"/>
                  <a:t>[1 . .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], where </a:t>
                </a:r>
                <a:r>
                  <a:rPr lang="en-US" altLang="zh-TW" i="1" dirty="0" err="1"/>
                  <a:t>denom</a:t>
                </a:r>
                <a:r>
                  <a:rPr lang="en-US" altLang="zh-TW" dirty="0"/>
                  <a:t>[ </a:t>
                </a:r>
                <a:r>
                  <a:rPr lang="en-US" altLang="zh-TW" i="1" spc="300" dirty="0" smtClean="0"/>
                  <a:t>j</a:t>
                </a:r>
                <a:r>
                  <a:rPr lang="en-US" altLang="zh-TW" dirty="0" smtClean="0"/>
                  <a:t>] </a:t>
                </a:r>
                <a:r>
                  <a:rPr lang="en-US" altLang="zh-TW" dirty="0"/>
                  <a:t>is the </a:t>
                </a:r>
                <a:r>
                  <a:rPr lang="en-US" altLang="zh-TW" dirty="0" smtClean="0"/>
                  <a:t>denomination of </a:t>
                </a:r>
                <a:r>
                  <a:rPr lang="en-US" altLang="zh-TW" dirty="0"/>
                  <a:t>a coin used in an optimal solution to the problem of making </a:t>
                </a:r>
                <a:r>
                  <a:rPr lang="en-US" altLang="zh-TW" dirty="0" smtClean="0"/>
                  <a:t>change for</a:t>
                </a:r>
                <a:r>
                  <a:rPr lang="en-US" altLang="zh-TW" spc="300" dirty="0" smtClean="0"/>
                  <a:t>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cents.</a:t>
                </a:r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78" t="-846" r="-27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466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dynamic programming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725"/>
                <a:ext cx="8281058" cy="3600460"/>
              </a:xfrm>
            </p:spPr>
            <p:txBody>
              <a:bodyPr lIns="72000" rIns="0"/>
              <a:lstStyle/>
              <a:p>
                <a:r>
                  <a:rPr lang="en-US" altLang="zh-TW" dirty="0" smtClean="0"/>
                  <a:t>To develop a recursive formulation, we have to check all denominations, giving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i="1">
                          <a:solidFill>
                            <a:srgbClr val="000000"/>
                          </a:solidFill>
                        </a:rPr>
                        <m:t>c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i="1" spc="300">
                              <a:solidFill>
                                <a:srgbClr val="000000"/>
                              </a:solidFill>
                            </a:rPr>
                            <m:t>j</m:t>
                          </m:r>
                        </m:e>
                      </m:d>
                      <m:r>
                        <a:rPr lang="en-US" altLang="zh-TW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   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1</m:t>
                                </m:r>
                                <m: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zh-TW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min</m:t>
                                        </m:r>
                                      </m:e>
                                      <m:lim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dirty="0">
                                            <a:solidFill>
                                              <a:srgbClr val="000000"/>
                                            </a:solidFill>
                                          </a:rPr>
                                          <m:t>d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spc="150" baseline="-25000" dirty="0">
                                            <a:solidFill>
                                              <a:srgbClr val="000000"/>
                                            </a:solidFill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spc="15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dirty="0">
                                            <a:solidFill>
                                              <a:srgbClr val="000000"/>
                                            </a:solidFill>
                                          </a:rPr>
                                          <m:t>j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</a:rPr>
                                      <m:t>c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>
                                        <a:solidFill>
                                          <a:srgbClr val="000000"/>
                                        </a:solidFill>
                                      </a:rPr>
                                      <m:t>[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</a:rPr>
                                      <m:t>j</m:t>
                                    </m:r>
                                    <m:r>
                                      <a:rPr lang="en-US" altLang="zh-TW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i="1">
                                        <a:solidFill>
                                          <a:srgbClr val="000000"/>
                                        </a:solidFill>
                                      </a:rPr>
                                      <m:t>d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i="1" baseline="-25000">
                                        <a:solidFill>
                                          <a:srgbClr val="000000"/>
                                        </a:solidFill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>
                                        <a:solidFill>
                                          <a:srgbClr val="000000"/>
                                        </a:solidFill>
                                      </a:rPr>
                                      <m:t>]</m:t>
                                    </m:r>
                                  </m:e>
                                </m:func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1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a:rPr lang="en-US" altLang="zh-TW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solidFill>
                                      <a:srgbClr val="000000"/>
                                    </a:solidFill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>
                                    <a:solidFill>
                                      <a:srgbClr val="000000"/>
                                    </a:solidFill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/>
              </a:p>
              <a:p>
                <a:pPr>
                  <a:spcBef>
                    <a:spcPts val="1800"/>
                  </a:spcBef>
                </a:pPr>
                <a:r>
                  <a:rPr lang="en-US" altLang="zh-TW" dirty="0" smtClean="0"/>
                  <a:t>We </a:t>
                </a:r>
                <a:r>
                  <a:rPr lang="en-US" altLang="zh-TW" dirty="0"/>
                  <a:t>can compute the </a:t>
                </a:r>
                <a:r>
                  <a:rPr lang="en-US" altLang="zh-TW" i="1" dirty="0"/>
                  <a:t>c</a:t>
                </a:r>
                <a:r>
                  <a:rPr lang="en-US" altLang="zh-TW" dirty="0"/>
                  <a:t>[ </a:t>
                </a:r>
                <a:r>
                  <a:rPr lang="en-US" altLang="zh-TW" i="1" spc="300" dirty="0" smtClean="0"/>
                  <a:t>j</a:t>
                </a:r>
                <a:r>
                  <a:rPr lang="en-US" altLang="zh-TW" dirty="0" smtClean="0"/>
                  <a:t>] </a:t>
                </a:r>
                <a:r>
                  <a:rPr lang="en-US" altLang="zh-TW" dirty="0"/>
                  <a:t>values in order of increasing</a:t>
                </a:r>
                <a:r>
                  <a:rPr lang="en-US" altLang="zh-TW" spc="300" dirty="0"/>
                  <a:t>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by using a table. </a:t>
                </a:r>
                <a:r>
                  <a:rPr lang="en-US" altLang="zh-TW" dirty="0" smtClean="0"/>
                  <a:t>The following </a:t>
                </a:r>
                <a:r>
                  <a:rPr lang="en-US" altLang="zh-TW" dirty="0"/>
                  <a:t>procedure does so, producing a table </a:t>
                </a:r>
                <a:r>
                  <a:rPr lang="en-US" altLang="zh-TW" i="1" dirty="0"/>
                  <a:t>c</a:t>
                </a:r>
                <a:r>
                  <a:rPr lang="en-US" altLang="zh-TW" dirty="0"/>
                  <a:t>[1 . . </a:t>
                </a:r>
                <a:r>
                  <a:rPr lang="en-US" altLang="zh-TW" i="1" dirty="0"/>
                  <a:t>n</a:t>
                </a:r>
                <a:r>
                  <a:rPr lang="en-US" altLang="zh-TW" dirty="0" smtClean="0"/>
                  <a:t>].	           The procedure </a:t>
                </a:r>
                <a:r>
                  <a:rPr lang="en-US" altLang="zh-TW" dirty="0"/>
                  <a:t>also produces a table </a:t>
                </a:r>
                <a:r>
                  <a:rPr lang="en-US" altLang="zh-TW" i="1" dirty="0" err="1"/>
                  <a:t>denom</a:t>
                </a:r>
                <a:r>
                  <a:rPr lang="en-US" altLang="zh-TW" dirty="0"/>
                  <a:t>[1 . .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], where </a:t>
                </a:r>
                <a:r>
                  <a:rPr lang="en-US" altLang="zh-TW" i="1" dirty="0" err="1"/>
                  <a:t>denom</a:t>
                </a:r>
                <a:r>
                  <a:rPr lang="en-US" altLang="zh-TW" dirty="0"/>
                  <a:t>[ </a:t>
                </a:r>
                <a:r>
                  <a:rPr lang="en-US" altLang="zh-TW" i="1" spc="300" dirty="0" smtClean="0"/>
                  <a:t>j</a:t>
                </a:r>
                <a:r>
                  <a:rPr lang="en-US" altLang="zh-TW" dirty="0" smtClean="0"/>
                  <a:t>] </a:t>
                </a:r>
                <a:r>
                  <a:rPr lang="en-US" altLang="zh-TW" dirty="0"/>
                  <a:t>is the </a:t>
                </a:r>
                <a:r>
                  <a:rPr lang="en-US" altLang="zh-TW" dirty="0" smtClean="0"/>
                  <a:t>denomination of </a:t>
                </a:r>
                <a:r>
                  <a:rPr lang="en-US" altLang="zh-TW" dirty="0"/>
                  <a:t>a coin used in an optimal solution to the problem of making </a:t>
                </a:r>
                <a:r>
                  <a:rPr lang="en-US" altLang="zh-TW" dirty="0" smtClean="0"/>
                  <a:t>change for</a:t>
                </a:r>
                <a:r>
                  <a:rPr lang="en-US" altLang="zh-TW" spc="300" dirty="0" smtClean="0"/>
                  <a:t>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cents</a:t>
                </a:r>
                <a:r>
                  <a:rPr lang="en-US" altLang="zh-TW" dirty="0" smtClean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725"/>
                <a:ext cx="8281058" cy="3600460"/>
              </a:xfrm>
              <a:blipFill>
                <a:blip r:embed="rId2"/>
                <a:stretch>
                  <a:fillRect l="-1178" t="-1184" r="-2725" b="-18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7621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 dynamic programming algorithm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5"/>
            <a:ext cx="8281058" cy="4320552"/>
          </a:xfrm>
        </p:spPr>
        <p:txBody>
          <a:bodyPr/>
          <a:lstStyle/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C</a:t>
            </a:r>
            <a:r>
              <a:rPr lang="en-US" altLang="zh-TW" sz="1800" dirty="0">
                <a:solidFill>
                  <a:srgbClr val="000000"/>
                </a:solidFill>
              </a:rPr>
              <a:t>OMPUTE</a:t>
            </a:r>
            <a:r>
              <a:rPr lang="en-US" altLang="zh-TW" dirty="0">
                <a:solidFill>
                  <a:srgbClr val="000000"/>
                </a:solidFill>
              </a:rPr>
              <a:t>-C</a:t>
            </a:r>
            <a:r>
              <a:rPr lang="en-US" altLang="zh-TW" sz="1800" dirty="0">
                <a:solidFill>
                  <a:srgbClr val="000000"/>
                </a:solidFill>
              </a:rPr>
              <a:t>HANGE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[0]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  <a:endParaRPr lang="en-US" altLang="zh-TW" b="1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for	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for	</a:t>
            </a:r>
            <a:r>
              <a:rPr lang="en-US" altLang="zh-TW" i="1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	if	</a:t>
            </a:r>
            <a:r>
              <a:rPr lang="en-US" altLang="zh-TW" i="1" dirty="0" smtClean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 smtClean="0">
                <a:solidFill>
                  <a:srgbClr val="000000"/>
                </a:solidFill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sz="20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spc="300" dirty="0" smtClean="0">
                <a:solidFill>
                  <a:srgbClr val="000000"/>
                </a:solidFill>
              </a:rPr>
              <a:t> </a:t>
            </a:r>
            <a:r>
              <a:rPr lang="en-US" altLang="zh-TW" i="1" dirty="0" smtClean="0">
                <a:solidFill>
                  <a:srgbClr val="000000"/>
                </a:solidFill>
              </a:rPr>
              <a:t>j</a:t>
            </a:r>
            <a:r>
              <a:rPr lang="en-US" altLang="zh-TW" dirty="0" smtClean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denom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</a:p>
          <a:p>
            <a:pPr lv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return </a:t>
            </a:r>
            <a:r>
              <a:rPr lang="en-US" altLang="zh-TW" i="1" dirty="0">
                <a:solidFill>
                  <a:srgbClr val="000000"/>
                </a:solidFill>
              </a:rPr>
              <a:t>c </a:t>
            </a:r>
            <a:r>
              <a:rPr lang="en-US" altLang="zh-TW" dirty="0">
                <a:solidFill>
                  <a:srgbClr val="000000"/>
                </a:solidFill>
              </a:rPr>
              <a:t>and </a:t>
            </a:r>
            <a:r>
              <a:rPr lang="en-US" altLang="zh-TW" i="1" dirty="0" err="1">
                <a:solidFill>
                  <a:srgbClr val="000000"/>
                </a:solidFill>
              </a:rPr>
              <a:t>denom</a:t>
            </a:r>
            <a:endParaRPr lang="en-US" altLang="zh-TW" i="1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This procedure obviously runs in </a:t>
            </a:r>
            <a:r>
              <a:rPr lang="en-US" altLang="zh-TW" i="1" dirty="0">
                <a:solidFill>
                  <a:srgbClr val="000000"/>
                </a:solidFill>
              </a:rPr>
              <a:t>O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 err="1">
                <a:solidFill>
                  <a:srgbClr val="000000"/>
                </a:solidFill>
              </a:rPr>
              <a:t>nk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i="1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time.</a:t>
            </a:r>
            <a:endParaRPr lang="zh-TW" altLang="en-US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851908" y="1808793"/>
                <a:ext cx="4500000" cy="1080000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none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 kern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</a:rPr>
                        <m:t>c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2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2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200" i="1" kern="0" spc="300">
                              <a:solidFill>
                                <a:srgbClr val="000000"/>
                              </a:solidFill>
                              <a:latin typeface="Times New Roman"/>
                              <a:ea typeface="標楷體"/>
                            </a:rPr>
                            <m:t>j</m:t>
                          </m:r>
                        </m:e>
                      </m:d>
                      <m:r>
                        <a:rPr lang="en-US" altLang="zh-TW" sz="22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2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</a:rPr>
                                  <m:t>    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</a:rPr>
                                  <m:t>j</m:t>
                                </m:r>
                                <m: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</a:rPr>
                                  <m:t>1</m:t>
                                </m:r>
                                <m: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zh-TW" sz="2200" i="1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zh-TW" sz="2200" i="1" ker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2200" ker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min</m:t>
                                        </m:r>
                                      </m:e>
                                      <m:lim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  <a:ea typeface="標楷體"/>
                                          </a:rPr>
                                          <m:t>d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kern="0" spc="150" baseline="-2500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  <a:ea typeface="標楷體"/>
                                          </a:rPr>
                                          <m:t>i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kern="0" spc="150" dirty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altLang="zh-TW" sz="1600" i="1" kern="0" dirty="0">
                                            <a:solidFill>
                                              <a:srgbClr val="000000"/>
                                            </a:solidFill>
                                            <a:latin typeface="Times New Roman"/>
                                            <a:ea typeface="標楷體"/>
                                          </a:rPr>
                                          <m:t>j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sz="2200" i="1" kern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ea typeface="標楷體"/>
                                      </a:rPr>
                                      <m:t>c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2200" kern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ea typeface="標楷體"/>
                                      </a:rPr>
                                      <m:t>[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2200" i="1" kern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ea typeface="標楷體"/>
                                      </a:rPr>
                                      <m:t>j</m:t>
                                    </m:r>
                                    <m:r>
                                      <a:rPr lang="en-US" altLang="zh-TW" sz="2200" ker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2200" i="1" kern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ea typeface="標楷體"/>
                                      </a:rPr>
                                      <m:t>d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2200" i="1" kern="0" baseline="-2500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ea typeface="標楷體"/>
                                      </a:rPr>
                                      <m:t>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zh-TW" sz="2200" kern="0">
                                        <a:solidFill>
                                          <a:srgbClr val="000000"/>
                                        </a:solidFill>
                                        <a:latin typeface="Times New Roman"/>
                                        <a:ea typeface="標楷體"/>
                                      </a:rPr>
                                      <m:t>]</m:t>
                                    </m:r>
                                  </m:e>
                                </m:func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</a:rPr>
                                  <m:t>j</m:t>
                                </m:r>
                                <m: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kern="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標楷體"/>
                                  </a:rPr>
                                  <m:t>0.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08" y="1808793"/>
                <a:ext cx="4500000" cy="108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809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Let 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6,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 smtClean="0">
                <a:solidFill>
                  <a:srgbClr val="000000"/>
                </a:solidFill>
              </a:rPr>
              <a:t>k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1,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4.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 smtClean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C</a:t>
            </a:r>
            <a:r>
              <a:rPr lang="en-US" altLang="zh-TW" sz="1800" dirty="0" smtClean="0">
                <a:solidFill>
                  <a:srgbClr val="000000"/>
                </a:solidFill>
              </a:rPr>
              <a:t>OMPUTE</a:t>
            </a:r>
            <a:r>
              <a:rPr lang="en-US" altLang="zh-TW" dirty="0" smtClean="0">
                <a:solidFill>
                  <a:srgbClr val="000000"/>
                </a:solidFill>
              </a:rPr>
              <a:t>-C</a:t>
            </a:r>
            <a:r>
              <a:rPr lang="en-US" altLang="zh-TW" sz="1800" dirty="0" smtClean="0">
                <a:solidFill>
                  <a:srgbClr val="000000"/>
                </a:solidFill>
              </a:rPr>
              <a:t>HANGE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[0]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  <a:endParaRPr lang="en-US" altLang="zh-TW" b="1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for	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for	</a:t>
            </a:r>
            <a:r>
              <a:rPr lang="en-US" altLang="zh-TW" i="1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	if	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denom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</a:p>
          <a:p>
            <a:pPr lv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return </a:t>
            </a:r>
            <a:r>
              <a:rPr lang="en-US" altLang="zh-TW" i="1" dirty="0">
                <a:solidFill>
                  <a:srgbClr val="000000"/>
                </a:solidFill>
              </a:rPr>
              <a:t>c </a:t>
            </a:r>
            <a:r>
              <a:rPr lang="en-US" altLang="zh-TW" dirty="0">
                <a:solidFill>
                  <a:srgbClr val="000000"/>
                </a:solidFill>
              </a:rPr>
              <a:t>and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denom</a:t>
            </a:r>
            <a:endParaRPr lang="en-US" altLang="zh-TW" i="1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642477"/>
              </p:ext>
            </p:extLst>
          </p:nvPr>
        </p:nvGraphicFramePr>
        <p:xfrm>
          <a:off x="5292092" y="1988816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443812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65318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96788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080159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78693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518829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71290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505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8185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c</a:t>
                      </a:r>
                      <a:endParaRPr lang="zh-TW" altLang="en-US" sz="2000" i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529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409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Let 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6,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 smtClean="0">
                <a:solidFill>
                  <a:srgbClr val="000000"/>
                </a:solidFill>
              </a:rPr>
              <a:t>k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1,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4.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 smtClean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C</a:t>
            </a:r>
            <a:r>
              <a:rPr lang="en-US" altLang="zh-TW" sz="1800" dirty="0" smtClean="0">
                <a:solidFill>
                  <a:srgbClr val="000000"/>
                </a:solidFill>
              </a:rPr>
              <a:t>OMPUTE</a:t>
            </a:r>
            <a:r>
              <a:rPr lang="en-US" altLang="zh-TW" dirty="0" smtClean="0">
                <a:solidFill>
                  <a:srgbClr val="000000"/>
                </a:solidFill>
              </a:rPr>
              <a:t>-C</a:t>
            </a:r>
            <a:r>
              <a:rPr lang="en-US" altLang="zh-TW" sz="1800" dirty="0" smtClean="0">
                <a:solidFill>
                  <a:srgbClr val="000000"/>
                </a:solidFill>
              </a:rPr>
              <a:t>HANGE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[0]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  <a:endParaRPr lang="en-US" altLang="zh-TW" b="1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for	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for	</a:t>
            </a:r>
            <a:r>
              <a:rPr lang="en-US" altLang="zh-TW" i="1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	if	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denom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</a:p>
          <a:p>
            <a:pPr lv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return </a:t>
            </a:r>
            <a:r>
              <a:rPr lang="en-US" altLang="zh-TW" i="1" dirty="0">
                <a:solidFill>
                  <a:srgbClr val="000000"/>
                </a:solidFill>
              </a:rPr>
              <a:t>c </a:t>
            </a:r>
            <a:r>
              <a:rPr lang="en-US" altLang="zh-TW" dirty="0">
                <a:solidFill>
                  <a:srgbClr val="000000"/>
                </a:solidFill>
              </a:rPr>
              <a:t>and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denom</a:t>
            </a:r>
            <a:endParaRPr lang="en-US" altLang="zh-TW" i="1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858690"/>
              </p:ext>
            </p:extLst>
          </p:nvPr>
        </p:nvGraphicFramePr>
        <p:xfrm>
          <a:off x="5292092" y="1988816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443812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65318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96788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080159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78693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518829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71290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505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8185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c</a:t>
                      </a:r>
                      <a:endParaRPr lang="zh-TW" altLang="en-US" sz="2000" i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529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9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Let 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6,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 smtClean="0">
                <a:solidFill>
                  <a:srgbClr val="000000"/>
                </a:solidFill>
              </a:rPr>
              <a:t>k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1,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4.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 smtClean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C</a:t>
            </a:r>
            <a:r>
              <a:rPr lang="en-US" altLang="zh-TW" sz="1800" dirty="0" smtClean="0">
                <a:solidFill>
                  <a:srgbClr val="000000"/>
                </a:solidFill>
              </a:rPr>
              <a:t>OMPUTE</a:t>
            </a:r>
            <a:r>
              <a:rPr lang="en-US" altLang="zh-TW" dirty="0" smtClean="0">
                <a:solidFill>
                  <a:srgbClr val="000000"/>
                </a:solidFill>
              </a:rPr>
              <a:t>-C</a:t>
            </a:r>
            <a:r>
              <a:rPr lang="en-US" altLang="zh-TW" sz="1800" dirty="0" smtClean="0">
                <a:solidFill>
                  <a:srgbClr val="000000"/>
                </a:solidFill>
              </a:rPr>
              <a:t>HANGE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[0]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  <a:endParaRPr lang="en-US" altLang="zh-TW" b="1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for	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for	</a:t>
            </a:r>
            <a:r>
              <a:rPr lang="en-US" altLang="zh-TW" i="1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	if	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denom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</a:p>
          <a:p>
            <a:pPr lv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return </a:t>
            </a:r>
            <a:r>
              <a:rPr lang="en-US" altLang="zh-TW" i="1" dirty="0">
                <a:solidFill>
                  <a:srgbClr val="000000"/>
                </a:solidFill>
              </a:rPr>
              <a:t>c </a:t>
            </a:r>
            <a:r>
              <a:rPr lang="en-US" altLang="zh-TW" dirty="0">
                <a:solidFill>
                  <a:srgbClr val="000000"/>
                </a:solidFill>
              </a:rPr>
              <a:t>and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denom</a:t>
            </a:r>
            <a:endParaRPr lang="en-US" altLang="zh-TW" i="1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382256"/>
              </p:ext>
            </p:extLst>
          </p:nvPr>
        </p:nvGraphicFramePr>
        <p:xfrm>
          <a:off x="5292092" y="1988816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443812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65318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96788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080159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78693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518829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71290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505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8185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c</a:t>
                      </a:r>
                      <a:endParaRPr lang="zh-TW" altLang="en-US" sz="2000" i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529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1016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Let 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6,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 smtClean="0">
                <a:solidFill>
                  <a:srgbClr val="000000"/>
                </a:solidFill>
              </a:rPr>
              <a:t>k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1,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4.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 smtClean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C</a:t>
            </a:r>
            <a:r>
              <a:rPr lang="en-US" altLang="zh-TW" sz="1800" dirty="0" smtClean="0">
                <a:solidFill>
                  <a:srgbClr val="000000"/>
                </a:solidFill>
              </a:rPr>
              <a:t>OMPUTE</a:t>
            </a:r>
            <a:r>
              <a:rPr lang="en-US" altLang="zh-TW" dirty="0" smtClean="0">
                <a:solidFill>
                  <a:srgbClr val="000000"/>
                </a:solidFill>
              </a:rPr>
              <a:t>-C</a:t>
            </a:r>
            <a:r>
              <a:rPr lang="en-US" altLang="zh-TW" sz="1800" dirty="0" smtClean="0">
                <a:solidFill>
                  <a:srgbClr val="000000"/>
                </a:solidFill>
              </a:rPr>
              <a:t>HANGE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[0]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  <a:endParaRPr lang="en-US" altLang="zh-TW" b="1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for	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for	</a:t>
            </a:r>
            <a:r>
              <a:rPr lang="en-US" altLang="zh-TW" i="1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	if	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denom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</a:p>
          <a:p>
            <a:pPr lv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return </a:t>
            </a:r>
            <a:r>
              <a:rPr lang="en-US" altLang="zh-TW" i="1" dirty="0">
                <a:solidFill>
                  <a:srgbClr val="000000"/>
                </a:solidFill>
              </a:rPr>
              <a:t>c </a:t>
            </a:r>
            <a:r>
              <a:rPr lang="en-US" altLang="zh-TW" dirty="0">
                <a:solidFill>
                  <a:srgbClr val="000000"/>
                </a:solidFill>
              </a:rPr>
              <a:t>and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denom</a:t>
            </a:r>
            <a:endParaRPr lang="en-US" altLang="zh-TW" i="1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446957"/>
              </p:ext>
            </p:extLst>
          </p:nvPr>
        </p:nvGraphicFramePr>
        <p:xfrm>
          <a:off x="5292092" y="1988816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443812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65318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96788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080159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78693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518829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71290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505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8185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c</a:t>
                      </a:r>
                      <a:endParaRPr lang="zh-TW" altLang="en-US" sz="2000" i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529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812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Let 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6,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 smtClean="0">
                <a:solidFill>
                  <a:srgbClr val="000000"/>
                </a:solidFill>
              </a:rPr>
              <a:t>k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1,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4.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 smtClean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C</a:t>
            </a:r>
            <a:r>
              <a:rPr lang="en-US" altLang="zh-TW" sz="1800" dirty="0" smtClean="0">
                <a:solidFill>
                  <a:srgbClr val="000000"/>
                </a:solidFill>
              </a:rPr>
              <a:t>OMPUTE</a:t>
            </a:r>
            <a:r>
              <a:rPr lang="en-US" altLang="zh-TW" dirty="0" smtClean="0">
                <a:solidFill>
                  <a:srgbClr val="000000"/>
                </a:solidFill>
              </a:rPr>
              <a:t>-C</a:t>
            </a:r>
            <a:r>
              <a:rPr lang="en-US" altLang="zh-TW" sz="1800" dirty="0" smtClean="0">
                <a:solidFill>
                  <a:srgbClr val="000000"/>
                </a:solidFill>
              </a:rPr>
              <a:t>HANGE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[0]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  <a:endParaRPr lang="en-US" altLang="zh-TW" b="1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for	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for	</a:t>
            </a:r>
            <a:r>
              <a:rPr lang="en-US" altLang="zh-TW" i="1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	if	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denom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</a:p>
          <a:p>
            <a:pPr lv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return </a:t>
            </a:r>
            <a:r>
              <a:rPr lang="en-US" altLang="zh-TW" i="1" dirty="0">
                <a:solidFill>
                  <a:srgbClr val="000000"/>
                </a:solidFill>
              </a:rPr>
              <a:t>c </a:t>
            </a:r>
            <a:r>
              <a:rPr lang="en-US" altLang="zh-TW" dirty="0">
                <a:solidFill>
                  <a:srgbClr val="000000"/>
                </a:solidFill>
              </a:rPr>
              <a:t>and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denom</a:t>
            </a:r>
            <a:endParaRPr lang="en-US" altLang="zh-TW" i="1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801450"/>
              </p:ext>
            </p:extLst>
          </p:nvPr>
        </p:nvGraphicFramePr>
        <p:xfrm>
          <a:off x="5292092" y="1988816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443812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65318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96788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080159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78693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518829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71290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505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8185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c</a:t>
                      </a:r>
                      <a:endParaRPr lang="zh-TW" altLang="en-US" sz="2000" i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529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398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Let 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6,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 smtClean="0">
                <a:solidFill>
                  <a:srgbClr val="000000"/>
                </a:solidFill>
              </a:rPr>
              <a:t>k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1,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4.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 smtClean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C</a:t>
            </a:r>
            <a:r>
              <a:rPr lang="en-US" altLang="zh-TW" sz="1800" dirty="0" smtClean="0">
                <a:solidFill>
                  <a:srgbClr val="000000"/>
                </a:solidFill>
              </a:rPr>
              <a:t>OMPUTE</a:t>
            </a:r>
            <a:r>
              <a:rPr lang="en-US" altLang="zh-TW" dirty="0" smtClean="0">
                <a:solidFill>
                  <a:srgbClr val="000000"/>
                </a:solidFill>
              </a:rPr>
              <a:t>-C</a:t>
            </a:r>
            <a:r>
              <a:rPr lang="en-US" altLang="zh-TW" sz="1800" dirty="0" smtClean="0">
                <a:solidFill>
                  <a:srgbClr val="000000"/>
                </a:solidFill>
              </a:rPr>
              <a:t>HANGE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[0]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  <a:endParaRPr lang="en-US" altLang="zh-TW" b="1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for	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for	</a:t>
            </a:r>
            <a:r>
              <a:rPr lang="en-US" altLang="zh-TW" i="1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	if	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denom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</a:p>
          <a:p>
            <a:pPr lv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return </a:t>
            </a:r>
            <a:r>
              <a:rPr lang="en-US" altLang="zh-TW" i="1" dirty="0">
                <a:solidFill>
                  <a:srgbClr val="000000"/>
                </a:solidFill>
              </a:rPr>
              <a:t>c </a:t>
            </a:r>
            <a:r>
              <a:rPr lang="en-US" altLang="zh-TW" dirty="0">
                <a:solidFill>
                  <a:srgbClr val="000000"/>
                </a:solidFill>
              </a:rPr>
              <a:t>and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denom</a:t>
            </a:r>
            <a:endParaRPr lang="en-US" altLang="zh-TW" i="1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590811"/>
              </p:ext>
            </p:extLst>
          </p:nvPr>
        </p:nvGraphicFramePr>
        <p:xfrm>
          <a:off x="5292092" y="1988816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443812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65318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96788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080159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78693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518829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71290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505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8185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c</a:t>
                      </a:r>
                      <a:endParaRPr lang="zh-TW" altLang="en-US" sz="2000" i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529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172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Let 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6,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 smtClean="0">
                <a:solidFill>
                  <a:srgbClr val="000000"/>
                </a:solidFill>
              </a:rPr>
              <a:t>k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1,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4.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 smtClean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C</a:t>
            </a:r>
            <a:r>
              <a:rPr lang="en-US" altLang="zh-TW" sz="1800" dirty="0" smtClean="0">
                <a:solidFill>
                  <a:srgbClr val="000000"/>
                </a:solidFill>
              </a:rPr>
              <a:t>OMPUTE</a:t>
            </a:r>
            <a:r>
              <a:rPr lang="en-US" altLang="zh-TW" dirty="0" smtClean="0">
                <a:solidFill>
                  <a:srgbClr val="000000"/>
                </a:solidFill>
              </a:rPr>
              <a:t>-C</a:t>
            </a:r>
            <a:r>
              <a:rPr lang="en-US" altLang="zh-TW" sz="1800" dirty="0" smtClean="0">
                <a:solidFill>
                  <a:srgbClr val="000000"/>
                </a:solidFill>
              </a:rPr>
              <a:t>HANGE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[0]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  <a:endParaRPr lang="en-US" altLang="zh-TW" b="1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for	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for	</a:t>
            </a:r>
            <a:r>
              <a:rPr lang="en-US" altLang="zh-TW" i="1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	if	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denom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</a:p>
          <a:p>
            <a:pPr lv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return </a:t>
            </a:r>
            <a:r>
              <a:rPr lang="en-US" altLang="zh-TW" i="1" dirty="0">
                <a:solidFill>
                  <a:srgbClr val="000000"/>
                </a:solidFill>
              </a:rPr>
              <a:t>c </a:t>
            </a:r>
            <a:r>
              <a:rPr lang="en-US" altLang="zh-TW" dirty="0">
                <a:solidFill>
                  <a:srgbClr val="000000"/>
                </a:solidFill>
              </a:rPr>
              <a:t>and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denom</a:t>
            </a:r>
            <a:endParaRPr lang="en-US" altLang="zh-TW" i="1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729314"/>
              </p:ext>
            </p:extLst>
          </p:nvPr>
        </p:nvGraphicFramePr>
        <p:xfrm>
          <a:off x="5292092" y="1988816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443812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65318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96788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080159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78693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518829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71290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505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8185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c</a:t>
                      </a:r>
                      <a:endParaRPr lang="zh-TW" altLang="en-US" sz="2000" i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529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1552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Let 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6,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 smtClean="0">
                <a:solidFill>
                  <a:srgbClr val="000000"/>
                </a:solidFill>
              </a:rPr>
              <a:t>k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1,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4.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 smtClean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C</a:t>
            </a:r>
            <a:r>
              <a:rPr lang="en-US" altLang="zh-TW" sz="1800" dirty="0" smtClean="0">
                <a:solidFill>
                  <a:srgbClr val="000000"/>
                </a:solidFill>
              </a:rPr>
              <a:t>OMPUTE</a:t>
            </a:r>
            <a:r>
              <a:rPr lang="en-US" altLang="zh-TW" dirty="0" smtClean="0">
                <a:solidFill>
                  <a:srgbClr val="000000"/>
                </a:solidFill>
              </a:rPr>
              <a:t>-C</a:t>
            </a:r>
            <a:r>
              <a:rPr lang="en-US" altLang="zh-TW" sz="1800" dirty="0" smtClean="0">
                <a:solidFill>
                  <a:srgbClr val="000000"/>
                </a:solidFill>
              </a:rPr>
              <a:t>HANGE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[0]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  <a:endParaRPr lang="en-US" altLang="zh-TW" b="1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for	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for	</a:t>
            </a:r>
            <a:r>
              <a:rPr lang="en-US" altLang="zh-TW" i="1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	if	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denom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</a:p>
          <a:p>
            <a:pPr lv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return </a:t>
            </a:r>
            <a:r>
              <a:rPr lang="en-US" altLang="zh-TW" i="1" dirty="0">
                <a:solidFill>
                  <a:srgbClr val="000000"/>
                </a:solidFill>
              </a:rPr>
              <a:t>c </a:t>
            </a:r>
            <a:r>
              <a:rPr lang="en-US" altLang="zh-TW" dirty="0">
                <a:solidFill>
                  <a:srgbClr val="000000"/>
                </a:solidFill>
              </a:rPr>
              <a:t>and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denom</a:t>
            </a:r>
            <a:endParaRPr lang="en-US" altLang="zh-TW" i="1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220381"/>
              </p:ext>
            </p:extLst>
          </p:nvPr>
        </p:nvGraphicFramePr>
        <p:xfrm>
          <a:off x="5292092" y="1988816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443812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65318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96788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080159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78693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518829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71290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505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8185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c</a:t>
                      </a:r>
                      <a:endParaRPr lang="zh-TW" altLang="en-US" sz="2000" i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529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245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Let 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6,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 smtClean="0">
                <a:solidFill>
                  <a:srgbClr val="000000"/>
                </a:solidFill>
              </a:rPr>
              <a:t>k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1,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4.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 smtClean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C</a:t>
            </a:r>
            <a:r>
              <a:rPr lang="en-US" altLang="zh-TW" sz="1800" dirty="0" smtClean="0">
                <a:solidFill>
                  <a:srgbClr val="000000"/>
                </a:solidFill>
              </a:rPr>
              <a:t>OMPUTE</a:t>
            </a:r>
            <a:r>
              <a:rPr lang="en-US" altLang="zh-TW" dirty="0" smtClean="0">
                <a:solidFill>
                  <a:srgbClr val="000000"/>
                </a:solidFill>
              </a:rPr>
              <a:t>-C</a:t>
            </a:r>
            <a:r>
              <a:rPr lang="en-US" altLang="zh-TW" sz="1800" dirty="0" smtClean="0">
                <a:solidFill>
                  <a:srgbClr val="000000"/>
                </a:solidFill>
              </a:rPr>
              <a:t>HANGE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[0]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  <a:endParaRPr lang="en-US" altLang="zh-TW" b="1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for	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for	</a:t>
            </a:r>
            <a:r>
              <a:rPr lang="en-US" altLang="zh-TW" i="1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	if	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denom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</a:p>
          <a:p>
            <a:pPr lv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return </a:t>
            </a:r>
            <a:r>
              <a:rPr lang="en-US" altLang="zh-TW" i="1" dirty="0">
                <a:solidFill>
                  <a:srgbClr val="000000"/>
                </a:solidFill>
              </a:rPr>
              <a:t>c </a:t>
            </a:r>
            <a:r>
              <a:rPr lang="en-US" altLang="zh-TW" dirty="0">
                <a:solidFill>
                  <a:srgbClr val="000000"/>
                </a:solidFill>
              </a:rPr>
              <a:t>and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denom</a:t>
            </a:r>
            <a:endParaRPr lang="en-US" altLang="zh-TW" i="1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308628"/>
              </p:ext>
            </p:extLst>
          </p:nvPr>
        </p:nvGraphicFramePr>
        <p:xfrm>
          <a:off x="5292092" y="1988816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443812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65318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96788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080159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78693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518829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71290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505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8185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c</a:t>
                      </a:r>
                      <a:endParaRPr lang="zh-TW" altLang="en-US" sz="2000" i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529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6071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Let 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6,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 smtClean="0">
                <a:solidFill>
                  <a:srgbClr val="000000"/>
                </a:solidFill>
              </a:rPr>
              <a:t>k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1,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3,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4.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endParaRPr lang="en-US" altLang="zh-TW" dirty="0" smtClean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dirty="0" smtClean="0">
                <a:solidFill>
                  <a:srgbClr val="000000"/>
                </a:solidFill>
              </a:rPr>
              <a:t>C</a:t>
            </a:r>
            <a:r>
              <a:rPr lang="en-US" altLang="zh-TW" sz="1800" dirty="0" smtClean="0">
                <a:solidFill>
                  <a:srgbClr val="000000"/>
                </a:solidFill>
              </a:rPr>
              <a:t>OMPUTE</a:t>
            </a:r>
            <a:r>
              <a:rPr lang="en-US" altLang="zh-TW" dirty="0" smtClean="0">
                <a:solidFill>
                  <a:srgbClr val="000000"/>
                </a:solidFill>
              </a:rPr>
              <a:t>-C</a:t>
            </a:r>
            <a:r>
              <a:rPr lang="en-US" altLang="zh-TW" sz="1800" dirty="0" smtClean="0">
                <a:solidFill>
                  <a:srgbClr val="000000"/>
                </a:solidFill>
              </a:rPr>
              <a:t>HANGE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smtClean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[0]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0</a:t>
            </a:r>
            <a:endParaRPr lang="en-US" altLang="zh-TW" b="1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for	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∞</a:t>
            </a:r>
            <a:endParaRPr lang="en-US" altLang="zh-TW" dirty="0">
              <a:solidFill>
                <a:srgbClr val="000000"/>
              </a:solidFill>
            </a:endParaRP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for	</a:t>
            </a:r>
            <a:r>
              <a:rPr lang="en-US" altLang="zh-TW" i="1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b="1" dirty="0">
                <a:solidFill>
                  <a:srgbClr val="000000"/>
                </a:solidFill>
              </a:rPr>
              <a:t>to </a:t>
            </a:r>
            <a:r>
              <a:rPr lang="en-US" altLang="zh-TW" i="1" dirty="0">
                <a:solidFill>
                  <a:srgbClr val="000000"/>
                </a:solidFill>
              </a:rPr>
              <a:t>k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		if	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c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</a:p>
          <a:p>
            <a:pPr lvl="0">
              <a:spcBef>
                <a:spcPts val="400"/>
              </a:spcBef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i="1" dirty="0">
                <a:solidFill>
                  <a:srgbClr val="000000"/>
                </a:solidFill>
              </a:rPr>
              <a:t>			</a:t>
            </a:r>
            <a:r>
              <a:rPr lang="en-US" altLang="zh-TW" i="1" dirty="0" err="1">
                <a:solidFill>
                  <a:srgbClr val="000000"/>
                </a:solidFill>
              </a:rPr>
              <a:t>denom</a:t>
            </a:r>
            <a:r>
              <a:rPr lang="en-US" altLang="zh-TW" dirty="0">
                <a:solidFill>
                  <a:srgbClr val="000000"/>
                </a:solidFill>
              </a:rPr>
              <a:t>[ </a:t>
            </a:r>
            <a:r>
              <a:rPr lang="en-US" altLang="zh-TW" i="1" spc="300" dirty="0">
                <a:solidFill>
                  <a:srgbClr val="000000"/>
                </a:solidFill>
              </a:rPr>
              <a:t>j</a:t>
            </a:r>
            <a:r>
              <a:rPr lang="en-US" altLang="zh-TW" dirty="0">
                <a:solidFill>
                  <a:srgbClr val="000000"/>
                </a:solidFill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d</a:t>
            </a:r>
            <a:r>
              <a:rPr lang="en-US" altLang="zh-TW" i="1" baseline="-25000" dirty="0">
                <a:solidFill>
                  <a:srgbClr val="000000"/>
                </a:solidFill>
              </a:rPr>
              <a:t>i</a:t>
            </a:r>
          </a:p>
          <a:p>
            <a:pPr lv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tabLst>
                <a:tab pos="444500" algn="l"/>
                <a:tab pos="896938" algn="l"/>
                <a:tab pos="1166813" algn="l"/>
              </a:tabLst>
            </a:pPr>
            <a:r>
              <a:rPr lang="en-US" altLang="zh-TW" b="1" dirty="0">
                <a:solidFill>
                  <a:srgbClr val="000000"/>
                </a:solidFill>
              </a:rPr>
              <a:t>return </a:t>
            </a:r>
            <a:r>
              <a:rPr lang="en-US" altLang="zh-TW" i="1" dirty="0">
                <a:solidFill>
                  <a:srgbClr val="000000"/>
                </a:solidFill>
              </a:rPr>
              <a:t>c </a:t>
            </a:r>
            <a:r>
              <a:rPr lang="en-US" altLang="zh-TW" dirty="0">
                <a:solidFill>
                  <a:srgbClr val="000000"/>
                </a:solidFill>
              </a:rPr>
              <a:t>and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denom</a:t>
            </a:r>
            <a:endParaRPr lang="en-US" altLang="zh-TW" i="1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004051"/>
              </p:ext>
            </p:extLst>
          </p:nvPr>
        </p:nvGraphicFramePr>
        <p:xfrm>
          <a:off x="5292092" y="1988816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42443812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653189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96788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080159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78693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0518829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371290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775058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8185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c</a:t>
                      </a:r>
                      <a:endParaRPr lang="zh-TW" altLang="en-US" sz="2000" i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529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044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 dynamic programming algorithm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4"/>
            <a:ext cx="8281058" cy="5040001"/>
          </a:xfrm>
        </p:spPr>
        <p:txBody>
          <a:bodyPr/>
          <a:lstStyle/>
          <a:p>
            <a:r>
              <a:rPr lang="en-US" altLang="zh-TW" dirty="0"/>
              <a:t>We use the following procedure to output the coins used in the optimal </a:t>
            </a:r>
            <a:r>
              <a:rPr lang="en-US" altLang="zh-TW" dirty="0" smtClean="0"/>
              <a:t>solution computed </a:t>
            </a:r>
            <a:r>
              <a:rPr lang="en-US" altLang="zh-TW" dirty="0"/>
              <a:t>by C</a:t>
            </a:r>
            <a:r>
              <a:rPr lang="en-US" altLang="zh-TW" sz="1800" dirty="0"/>
              <a:t>OMPUTE</a:t>
            </a:r>
            <a:r>
              <a:rPr lang="en-US" altLang="zh-TW" dirty="0"/>
              <a:t>-C</a:t>
            </a:r>
            <a:r>
              <a:rPr lang="en-US" altLang="zh-TW" sz="1800" dirty="0"/>
              <a:t>HANGE</a:t>
            </a:r>
            <a:r>
              <a:rPr lang="en-US" altLang="zh-TW" dirty="0" smtClean="0"/>
              <a:t>:</a:t>
            </a:r>
          </a:p>
          <a:p>
            <a:endParaRPr lang="en-US" altLang="zh-TW" dirty="0"/>
          </a:p>
          <a:p>
            <a:r>
              <a:rPr lang="en-US" altLang="zh-TW" dirty="0"/>
              <a:t>G</a:t>
            </a:r>
            <a:r>
              <a:rPr lang="en-US" altLang="zh-TW" sz="1800" dirty="0"/>
              <a:t>IVE</a:t>
            </a:r>
            <a:r>
              <a:rPr lang="en-US" altLang="zh-TW" dirty="0"/>
              <a:t>-C</a:t>
            </a:r>
            <a:r>
              <a:rPr lang="en-US" altLang="zh-TW" sz="1800" dirty="0"/>
              <a:t>HANGE</a:t>
            </a:r>
            <a:r>
              <a:rPr lang="en-US" altLang="zh-TW" dirty="0"/>
              <a:t>( </a:t>
            </a:r>
            <a:r>
              <a:rPr lang="en-US" altLang="zh-TW" i="1" dirty="0"/>
              <a:t>j</a:t>
            </a:r>
            <a:r>
              <a:rPr lang="en-US" altLang="zh-TW" dirty="0"/>
              <a:t>, </a:t>
            </a:r>
            <a:r>
              <a:rPr lang="en-US" altLang="zh-TW" i="1" dirty="0" err="1"/>
              <a:t>denom</a:t>
            </a:r>
            <a:r>
              <a:rPr lang="en-US" altLang="zh-TW" dirty="0"/>
              <a:t>)</a:t>
            </a:r>
          </a:p>
          <a:p>
            <a:pPr marL="268288" indent="-268288"/>
            <a:r>
              <a:rPr lang="en-US" altLang="zh-TW" b="1" dirty="0" smtClean="0"/>
              <a:t>if	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 </a:t>
            </a:r>
            <a:r>
              <a:rPr lang="en-US" altLang="zh-TW" dirty="0">
                <a:latin typeface="Symbol" panose="05050102010706020507" pitchFamily="18" charset="2"/>
              </a:rPr>
              <a:t>&gt;</a:t>
            </a:r>
            <a:r>
              <a:rPr lang="en-US" altLang="zh-TW" i="1" dirty="0"/>
              <a:t> </a:t>
            </a:r>
            <a:r>
              <a:rPr lang="en-US" altLang="zh-TW" dirty="0"/>
              <a:t>0</a:t>
            </a:r>
          </a:p>
          <a:p>
            <a:pPr marL="268288"/>
            <a:r>
              <a:rPr lang="en-US" altLang="zh-TW" dirty="0" smtClean="0"/>
              <a:t>give </a:t>
            </a:r>
            <a:r>
              <a:rPr lang="en-US" altLang="zh-TW" dirty="0"/>
              <a:t>one coin of denomination </a:t>
            </a:r>
            <a:r>
              <a:rPr lang="en-US" altLang="zh-TW" i="1" dirty="0" err="1"/>
              <a:t>denom</a:t>
            </a:r>
            <a:r>
              <a:rPr lang="en-US" altLang="zh-TW" dirty="0"/>
              <a:t>[ </a:t>
            </a:r>
            <a:r>
              <a:rPr lang="en-US" altLang="zh-TW" i="1" spc="300" dirty="0" smtClean="0"/>
              <a:t>j</a:t>
            </a:r>
            <a:r>
              <a:rPr lang="en-US" altLang="zh-TW" dirty="0" smtClean="0"/>
              <a:t>]</a:t>
            </a:r>
            <a:endParaRPr lang="en-US" altLang="zh-TW" dirty="0"/>
          </a:p>
          <a:p>
            <a:pPr marL="268288"/>
            <a:r>
              <a:rPr lang="da-DK" altLang="zh-TW" dirty="0"/>
              <a:t>G</a:t>
            </a:r>
            <a:r>
              <a:rPr lang="da-DK" altLang="zh-TW" sz="1800" dirty="0"/>
              <a:t>IVE</a:t>
            </a:r>
            <a:r>
              <a:rPr lang="da-DK" altLang="zh-TW" dirty="0"/>
              <a:t>-C</a:t>
            </a:r>
            <a:r>
              <a:rPr lang="da-DK" altLang="zh-TW" sz="1800" dirty="0"/>
              <a:t>HANGE</a:t>
            </a:r>
            <a:r>
              <a:rPr lang="da-DK" altLang="zh-TW" dirty="0"/>
              <a:t>( </a:t>
            </a:r>
            <a:r>
              <a:rPr lang="da-DK" altLang="zh-TW" i="1" dirty="0"/>
              <a:t>j </a:t>
            </a:r>
            <a:r>
              <a:rPr lang="da-DK" altLang="zh-TW" dirty="0" smtClean="0">
                <a:latin typeface="Symbol" panose="05050102010706020507" pitchFamily="18" charset="2"/>
              </a:rPr>
              <a:t>-</a:t>
            </a:r>
            <a:r>
              <a:rPr lang="da-DK" altLang="zh-TW" dirty="0" smtClean="0"/>
              <a:t> </a:t>
            </a:r>
            <a:r>
              <a:rPr lang="da-DK" altLang="zh-TW" i="1" dirty="0"/>
              <a:t>denom</a:t>
            </a:r>
            <a:r>
              <a:rPr lang="da-DK" altLang="zh-TW" dirty="0"/>
              <a:t>[ </a:t>
            </a:r>
            <a:r>
              <a:rPr lang="da-DK" altLang="zh-TW" i="1" spc="300" dirty="0" smtClean="0"/>
              <a:t>j</a:t>
            </a:r>
            <a:r>
              <a:rPr lang="da-DK" altLang="zh-TW" dirty="0" smtClean="0"/>
              <a:t>], </a:t>
            </a:r>
            <a:r>
              <a:rPr lang="da-DK" altLang="zh-TW" i="1" dirty="0"/>
              <a:t>denom</a:t>
            </a:r>
            <a:r>
              <a:rPr lang="da-DK" altLang="zh-TW" dirty="0" smtClean="0"/>
              <a:t>)</a:t>
            </a:r>
          </a:p>
          <a:p>
            <a:endParaRPr lang="da-DK" altLang="zh-TW" dirty="0"/>
          </a:p>
          <a:p>
            <a:r>
              <a:rPr lang="en-US" altLang="zh-TW" dirty="0"/>
              <a:t>The initial call is G</a:t>
            </a:r>
            <a:r>
              <a:rPr lang="en-US" altLang="zh-TW" sz="1800" dirty="0"/>
              <a:t>IVE</a:t>
            </a:r>
            <a:r>
              <a:rPr lang="en-US" altLang="zh-TW" dirty="0"/>
              <a:t>-C</a:t>
            </a:r>
            <a:r>
              <a:rPr lang="en-US" altLang="zh-TW" sz="1800" dirty="0"/>
              <a:t>HANGE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, </a:t>
            </a:r>
            <a:r>
              <a:rPr lang="en-US" altLang="zh-TW" i="1" dirty="0" err="1"/>
              <a:t>denom</a:t>
            </a:r>
            <a:r>
              <a:rPr lang="en-US" altLang="zh-TW" dirty="0"/>
              <a:t>). Since the value of the </a:t>
            </a:r>
            <a:r>
              <a:rPr lang="en-US" altLang="zh-TW" dirty="0" smtClean="0"/>
              <a:t>first parameter decreases </a:t>
            </a:r>
            <a:r>
              <a:rPr lang="en-US" altLang="zh-TW" dirty="0"/>
              <a:t>in each recursive call, this procedure runs in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  <a:r>
              <a:rPr lang="en-US" altLang="zh-TW" i="1" dirty="0"/>
              <a:t> </a:t>
            </a:r>
            <a:r>
              <a:rPr lang="en-US" altLang="zh-TW" dirty="0"/>
              <a:t>time.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8438636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10737</TotalTime>
  <Words>2534</Words>
  <Application>Microsoft Office PowerPoint</Application>
  <PresentationFormat>如螢幕大小 (4:3)</PresentationFormat>
  <Paragraphs>324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1" baseType="lpstr">
      <vt:lpstr>新細明體</vt:lpstr>
      <vt:lpstr>標楷體</vt:lpstr>
      <vt:lpstr>Arial</vt:lpstr>
      <vt:lpstr>Cambria Math</vt:lpstr>
      <vt:lpstr>Lucida Console</vt:lpstr>
      <vt:lpstr>Symbol</vt:lpstr>
      <vt:lpstr>Times New Roman</vt:lpstr>
      <vt:lpstr>Blends</vt:lpstr>
      <vt:lpstr>Coin changing</vt:lpstr>
      <vt:lpstr>Coin changing problem</vt:lpstr>
      <vt:lpstr>Coin changing problem</vt:lpstr>
      <vt:lpstr>A greedy algorithm </vt:lpstr>
      <vt:lpstr>A greedy algorithm </vt:lpstr>
      <vt:lpstr>An example for which the greedy algorithm does not yield an optimal solution</vt:lpstr>
      <vt:lpstr>A dynamic programming algorithm</vt:lpstr>
      <vt:lpstr>A dynamic programming algorithm</vt:lpstr>
      <vt:lpstr>A dynamic programming algorithm</vt:lpstr>
      <vt:lpstr>A dynamic programming algorithm</vt:lpstr>
      <vt:lpstr>A dynamic programming algorithm</vt:lpstr>
      <vt:lpstr>A dynamic programming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 dynamic programming algorithm</vt:lpstr>
    </vt:vector>
  </TitlesOfParts>
  <Company>NCTU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Li Tseng-Kuei</dc:creator>
  <cp:lastModifiedBy>james</cp:lastModifiedBy>
  <cp:revision>674</cp:revision>
  <dcterms:created xsi:type="dcterms:W3CDTF">2001-09-06T13:56:50Z</dcterms:created>
  <dcterms:modified xsi:type="dcterms:W3CDTF">2025-10-20T08:03:14Z</dcterms:modified>
</cp:coreProperties>
</file>