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91"/>
  </p:notesMasterIdLst>
  <p:sldIdLst>
    <p:sldId id="256" r:id="rId2"/>
    <p:sldId id="444" r:id="rId3"/>
    <p:sldId id="566" r:id="rId4"/>
    <p:sldId id="565" r:id="rId5"/>
    <p:sldId id="655" r:id="rId6"/>
    <p:sldId id="653" r:id="rId7"/>
    <p:sldId id="652" r:id="rId8"/>
    <p:sldId id="656" r:id="rId9"/>
    <p:sldId id="658" r:id="rId10"/>
    <p:sldId id="659" r:id="rId11"/>
    <p:sldId id="660" r:id="rId12"/>
    <p:sldId id="661" r:id="rId13"/>
    <p:sldId id="662" r:id="rId14"/>
    <p:sldId id="663" r:id="rId15"/>
    <p:sldId id="664" r:id="rId16"/>
    <p:sldId id="1537" r:id="rId17"/>
    <p:sldId id="679" r:id="rId18"/>
    <p:sldId id="680" r:id="rId19"/>
    <p:sldId id="623" r:id="rId20"/>
    <p:sldId id="1592" r:id="rId21"/>
    <p:sldId id="1728" r:id="rId22"/>
    <p:sldId id="1245" r:id="rId23"/>
    <p:sldId id="1725" r:id="rId24"/>
    <p:sldId id="1724" r:id="rId25"/>
    <p:sldId id="1591" r:id="rId26"/>
    <p:sldId id="705" r:id="rId27"/>
    <p:sldId id="1594" r:id="rId28"/>
    <p:sldId id="1731" r:id="rId29"/>
    <p:sldId id="1732" r:id="rId30"/>
    <p:sldId id="1593" r:id="rId31"/>
    <p:sldId id="1142" r:id="rId32"/>
    <p:sldId id="1734" r:id="rId33"/>
    <p:sldId id="1735" r:id="rId34"/>
    <p:sldId id="1736" r:id="rId35"/>
    <p:sldId id="1737" r:id="rId36"/>
    <p:sldId id="449" r:id="rId37"/>
    <p:sldId id="613" r:id="rId38"/>
    <p:sldId id="1538" r:id="rId39"/>
    <p:sldId id="1539" r:id="rId40"/>
    <p:sldId id="1540" r:id="rId41"/>
    <p:sldId id="1541" r:id="rId42"/>
    <p:sldId id="1542" r:id="rId43"/>
    <p:sldId id="1543" r:id="rId44"/>
    <p:sldId id="1544" r:id="rId45"/>
    <p:sldId id="1545" r:id="rId46"/>
    <p:sldId id="1546" r:id="rId47"/>
    <p:sldId id="1547" r:id="rId48"/>
    <p:sldId id="1548" r:id="rId49"/>
    <p:sldId id="1549" r:id="rId50"/>
    <p:sldId id="1550" r:id="rId51"/>
    <p:sldId id="334" r:id="rId52"/>
    <p:sldId id="1590" r:id="rId53"/>
    <p:sldId id="474" r:id="rId54"/>
    <p:sldId id="473" r:id="rId55"/>
    <p:sldId id="685" r:id="rId56"/>
    <p:sldId id="686" r:id="rId57"/>
    <p:sldId id="1769" r:id="rId58"/>
    <p:sldId id="336" r:id="rId59"/>
    <p:sldId id="683" r:id="rId60"/>
    <p:sldId id="1826" r:id="rId61"/>
    <p:sldId id="1770" r:id="rId62"/>
    <p:sldId id="1773" r:id="rId63"/>
    <p:sldId id="1589" r:id="rId64"/>
    <p:sldId id="1727" r:id="rId65"/>
    <p:sldId id="1552" r:id="rId66"/>
    <p:sldId id="1553" r:id="rId67"/>
    <p:sldId id="1726" r:id="rId68"/>
    <p:sldId id="1554" r:id="rId69"/>
    <p:sldId id="1780" r:id="rId70"/>
    <p:sldId id="1556" r:id="rId71"/>
    <p:sldId id="1782" r:id="rId72"/>
    <p:sldId id="1335" r:id="rId73"/>
    <p:sldId id="1336" r:id="rId74"/>
    <p:sldId id="1338" r:id="rId75"/>
    <p:sldId id="1339" r:id="rId76"/>
    <p:sldId id="1341" r:id="rId77"/>
    <p:sldId id="1342" r:id="rId78"/>
    <p:sldId id="1344" r:id="rId79"/>
    <p:sldId id="1345" r:id="rId80"/>
    <p:sldId id="1473" r:id="rId81"/>
    <p:sldId id="1785" r:id="rId82"/>
    <p:sldId id="1436" r:id="rId83"/>
    <p:sldId id="1437" r:id="rId84"/>
    <p:sldId id="1438" r:id="rId85"/>
    <p:sldId id="1439" r:id="rId86"/>
    <p:sldId id="1440" r:id="rId87"/>
    <p:sldId id="1441" r:id="rId88"/>
    <p:sldId id="1442" r:id="rId89"/>
    <p:sldId id="1443" r:id="rId90"/>
    <p:sldId id="1444" r:id="rId91"/>
    <p:sldId id="1195" r:id="rId92"/>
    <p:sldId id="1175" r:id="rId93"/>
    <p:sldId id="1743" r:id="rId94"/>
    <p:sldId id="1744" r:id="rId95"/>
    <p:sldId id="1745" r:id="rId96"/>
    <p:sldId id="1746" r:id="rId97"/>
    <p:sldId id="1747" r:id="rId98"/>
    <p:sldId id="1748" r:id="rId99"/>
    <p:sldId id="1749" r:id="rId100"/>
    <p:sldId id="1750" r:id="rId101"/>
    <p:sldId id="1751" r:id="rId102"/>
    <p:sldId id="1752" r:id="rId103"/>
    <p:sldId id="1786" r:id="rId104"/>
    <p:sldId id="1159" r:id="rId105"/>
    <p:sldId id="1160" r:id="rId106"/>
    <p:sldId id="1461" r:id="rId107"/>
    <p:sldId id="1462" r:id="rId108"/>
    <p:sldId id="1463" r:id="rId109"/>
    <p:sldId id="1464" r:id="rId110"/>
    <p:sldId id="1465" r:id="rId111"/>
    <p:sldId id="1466" r:id="rId112"/>
    <p:sldId id="1467" r:id="rId113"/>
    <p:sldId id="1468" r:id="rId114"/>
    <p:sldId id="1469" r:id="rId115"/>
    <p:sldId id="1171" r:id="rId116"/>
    <p:sldId id="1788" r:id="rId117"/>
    <p:sldId id="1798" r:id="rId118"/>
    <p:sldId id="1794" r:id="rId119"/>
    <p:sldId id="1799" r:id="rId120"/>
    <p:sldId id="1800" r:id="rId121"/>
    <p:sldId id="1801" r:id="rId122"/>
    <p:sldId id="1803" r:id="rId123"/>
    <p:sldId id="1802" r:id="rId124"/>
    <p:sldId id="1797" r:id="rId125"/>
    <p:sldId id="1485" r:id="rId126"/>
    <p:sldId id="1486" r:id="rId127"/>
    <p:sldId id="1487" r:id="rId128"/>
    <p:sldId id="1488" r:id="rId129"/>
    <p:sldId id="1489" r:id="rId130"/>
    <p:sldId id="1490" r:id="rId131"/>
    <p:sldId id="1491" r:id="rId132"/>
    <p:sldId id="1492" r:id="rId133"/>
    <p:sldId id="1493" r:id="rId134"/>
    <p:sldId id="1494" r:id="rId135"/>
    <p:sldId id="1495" r:id="rId136"/>
    <p:sldId id="1496" r:id="rId137"/>
    <p:sldId id="1804" r:id="rId138"/>
    <p:sldId id="1805" r:id="rId139"/>
    <p:sldId id="928" r:id="rId140"/>
    <p:sldId id="1806" r:id="rId141"/>
    <p:sldId id="1807" r:id="rId142"/>
    <p:sldId id="1808" r:id="rId143"/>
    <p:sldId id="1809" r:id="rId144"/>
    <p:sldId id="1810" r:id="rId145"/>
    <p:sldId id="1484" r:id="rId146"/>
    <p:sldId id="1497" r:id="rId147"/>
    <p:sldId id="1498" r:id="rId148"/>
    <p:sldId id="1508" r:id="rId149"/>
    <p:sldId id="1509" r:id="rId150"/>
    <p:sldId id="1510" r:id="rId151"/>
    <p:sldId id="1511" r:id="rId152"/>
    <p:sldId id="1499" r:id="rId153"/>
    <p:sldId id="1512" r:id="rId154"/>
    <p:sldId id="1513" r:id="rId155"/>
    <p:sldId id="1514" r:id="rId156"/>
    <p:sldId id="1767" r:id="rId157"/>
    <p:sldId id="1768" r:id="rId158"/>
    <p:sldId id="1500" r:id="rId159"/>
    <p:sldId id="1501" r:id="rId160"/>
    <p:sldId id="1502" r:id="rId161"/>
    <p:sldId id="1515" r:id="rId162"/>
    <p:sldId id="1516" r:id="rId163"/>
    <p:sldId id="1517" r:id="rId164"/>
    <p:sldId id="1518" r:id="rId165"/>
    <p:sldId id="1503" r:id="rId166"/>
    <p:sldId id="1504" r:id="rId167"/>
    <p:sldId id="1766" r:id="rId168"/>
    <p:sldId id="1758" r:id="rId169"/>
    <p:sldId id="1714" r:id="rId170"/>
    <p:sldId id="1716" r:id="rId171"/>
    <p:sldId id="1814" r:id="rId172"/>
    <p:sldId id="1761" r:id="rId173"/>
    <p:sldId id="1760" r:id="rId174"/>
    <p:sldId id="1759" r:id="rId175"/>
    <p:sldId id="1762" r:id="rId176"/>
    <p:sldId id="1527" r:id="rId177"/>
    <p:sldId id="755" r:id="rId178"/>
    <p:sldId id="756" r:id="rId179"/>
    <p:sldId id="1772" r:id="rId180"/>
    <p:sldId id="1771" r:id="rId181"/>
    <p:sldId id="1827" r:id="rId182"/>
    <p:sldId id="946" r:id="rId183"/>
    <p:sldId id="947" r:id="rId184"/>
    <p:sldId id="948" r:id="rId185"/>
    <p:sldId id="952" r:id="rId186"/>
    <p:sldId id="1816" r:id="rId187"/>
    <p:sldId id="949" r:id="rId188"/>
    <p:sldId id="950" r:id="rId189"/>
    <p:sldId id="951" r:id="rId190"/>
  </p:sldIdLst>
  <p:sldSz cx="9144000" cy="6858000" type="screen4x3"/>
  <p:notesSz cx="6735763" cy="98679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48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48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48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48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48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48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48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48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48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53" userDrawn="1">
          <p15:clr>
            <a:srgbClr val="A4A3A4"/>
          </p15:clr>
        </p15:guide>
        <p15:guide id="2" pos="50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8000"/>
    <a:srgbClr val="FF99FF"/>
    <a:srgbClr val="006600"/>
    <a:srgbClr val="0033CC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585" autoAdjust="0"/>
    <p:restoredTop sz="94660"/>
  </p:normalViewPr>
  <p:slideViewPr>
    <p:cSldViewPr showGuides="1">
      <p:cViewPr varScale="1">
        <p:scale>
          <a:sx n="96" d="100"/>
          <a:sy n="96" d="100"/>
        </p:scale>
        <p:origin x="67" y="72"/>
      </p:cViewPr>
      <p:guideLst>
        <p:guide orient="horz" pos="1253"/>
        <p:guide pos="503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372"/>
    </p:cViewPr>
  </p:sorterViewPr>
  <p:gridSpacing cx="180000" cy="1800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notesMaster" Target="notesMasters/notesMaster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presProps" Target="presProps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viewProps" Target="viewProps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tableStyles" Target="tableStyles.xml"/><Relationship Id="rId190" Type="http://schemas.openxmlformats.org/officeDocument/2006/relationships/slide" Target="slides/slide189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4763" y="0"/>
            <a:ext cx="2919412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65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1700" y="739775"/>
            <a:ext cx="4933950" cy="37004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100" y="4687888"/>
            <a:ext cx="5389563" cy="444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757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260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57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4763" y="9372600"/>
            <a:ext cx="2919412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3F435D5-E76E-4E01-A2C6-4639814C865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137781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51460" y="1989000"/>
            <a:ext cx="8641080" cy="1440000"/>
          </a:xfrm>
        </p:spPr>
        <p:txBody>
          <a:bodyPr/>
          <a:lstStyle>
            <a:lvl1pPr>
              <a:defRPr sz="54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922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972000" y="3609000"/>
            <a:ext cx="7200000" cy="1080000"/>
          </a:xfrm>
        </p:spPr>
        <p:txBody>
          <a:bodyPr/>
          <a:lstStyle>
            <a:lvl1pPr marL="0" indent="0" algn="ctr">
              <a:defRPr sz="4000"/>
            </a:lvl1pPr>
          </a:lstStyle>
          <a:p>
            <a:r>
              <a:rPr lang="zh-TW" altLang="en-US" dirty="0"/>
              <a:t>按一下以編輯母片副標題樣式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72000" y="2708910"/>
            <a:ext cx="7200000" cy="1440180"/>
          </a:xfrm>
        </p:spPr>
        <p:txBody>
          <a:bodyPr/>
          <a:lstStyle>
            <a:lvl1pPr>
              <a:defRPr sz="48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828254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612000" y="548641"/>
            <a:ext cx="7920000" cy="5760084"/>
          </a:xfrm>
        </p:spPr>
        <p:txBody>
          <a:bodyPr lIns="18000" rIns="18000"/>
          <a:lstStyle/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37942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2052000" y="548641"/>
            <a:ext cx="5040000" cy="5760084"/>
          </a:xfrm>
        </p:spPr>
        <p:txBody>
          <a:bodyPr wrap="none" lIns="90000" rIns="90000"/>
          <a:lstStyle/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914760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612000" y="548641"/>
            <a:ext cx="7920000" cy="5760084"/>
          </a:xfrm>
        </p:spPr>
        <p:txBody>
          <a:bodyPr lIns="90000" rIns="90000"/>
          <a:lstStyle>
            <a:lvl1pPr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512382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612000" y="369000"/>
            <a:ext cx="7920000" cy="3239999"/>
          </a:xfrm>
        </p:spPr>
        <p:txBody>
          <a:bodyPr lIns="90000" rIns="90000"/>
          <a:lstStyle>
            <a:lvl1pPr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484111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548641"/>
            <a:ext cx="8280000" cy="5760084"/>
          </a:xfrm>
        </p:spPr>
        <p:txBody>
          <a:bodyPr lIns="90000" rIns="90000"/>
          <a:lstStyle>
            <a:lvl1pPr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736910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612000" y="549000"/>
            <a:ext cx="7920000" cy="2160000"/>
          </a:xfrm>
        </p:spPr>
        <p:txBody>
          <a:bodyPr lIns="18000" rIns="18000"/>
          <a:lstStyle/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295401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549000"/>
            <a:ext cx="8280000" cy="2160000"/>
          </a:xfrm>
        </p:spPr>
        <p:txBody>
          <a:bodyPr lIns="90000" rIns="72000"/>
          <a:lstStyle>
            <a:lvl1pPr marL="0" indent="0">
              <a:spcBef>
                <a:spcPts val="0"/>
              </a:spcBef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986388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612000" y="548999"/>
            <a:ext cx="7920000" cy="2520001"/>
          </a:xfrm>
        </p:spPr>
        <p:txBody>
          <a:bodyPr lIns="18000" tIns="0" rIns="18000" bIns="0"/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6284399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549000"/>
            <a:ext cx="8280000" cy="5760000"/>
          </a:xfrm>
        </p:spPr>
        <p:txBody>
          <a:bodyPr lIns="90000" rIns="90000"/>
          <a:lstStyle/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481215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549000"/>
            <a:ext cx="2160000" cy="4320000"/>
          </a:xfrm>
        </p:spPr>
        <p:txBody>
          <a:bodyPr lIns="90000" rIns="90000"/>
          <a:lstStyle/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998594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549000"/>
            <a:ext cx="7200000" cy="5400000"/>
          </a:xfrm>
        </p:spPr>
        <p:txBody>
          <a:bodyPr lIns="90000" tIns="46800" rIns="90000" bIns="46800"/>
          <a:lstStyle/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2051747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548641"/>
            <a:ext cx="8280000" cy="5760084"/>
          </a:xfrm>
        </p:spPr>
        <p:txBody>
          <a:bodyPr lIns="90000" rIns="90000"/>
          <a:lstStyle/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6951807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612000" y="548641"/>
            <a:ext cx="7920000" cy="5760084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1407467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612000" y="369000"/>
            <a:ext cx="7920000" cy="6120000"/>
          </a:xfrm>
        </p:spPr>
        <p:txBody>
          <a:bodyPr lIns="36000" tIns="0" rIns="36000"/>
          <a:lstStyle/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5953635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5112000" y="2169000"/>
            <a:ext cx="3780000" cy="2520000"/>
          </a:xfrm>
        </p:spPr>
        <p:txBody>
          <a:bodyPr anchor="ctr" anchorCtr="0"/>
          <a:lstStyle>
            <a:lvl1pPr marL="538163" indent="-538163">
              <a:spcBef>
                <a:spcPts val="0"/>
              </a:spcBef>
              <a:defRPr sz="2200"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7421377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5112000" y="2709000"/>
            <a:ext cx="3600000" cy="1440000"/>
          </a:xfrm>
        </p:spPr>
        <p:txBody>
          <a:bodyPr anchor="ctr" anchorCtr="0"/>
          <a:lstStyle>
            <a:lvl1pPr marL="0" indent="0">
              <a:defRPr sz="2200"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1834854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5292000" y="2169000"/>
            <a:ext cx="3600000" cy="2520000"/>
          </a:xfrm>
        </p:spPr>
        <p:txBody>
          <a:bodyPr anchor="ctr" anchorCtr="0"/>
          <a:lstStyle>
            <a:lvl1pPr marL="0" indent="0">
              <a:defRPr sz="2200"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797841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5652000" y="2709000"/>
            <a:ext cx="2880000" cy="1440000"/>
          </a:xfrm>
        </p:spPr>
        <p:txBody>
          <a:bodyPr rIns="0" anchor="t" anchorCtr="0"/>
          <a:lstStyle>
            <a:lvl1pPr marL="719138" indent="-719138">
              <a:defRPr sz="2200"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6240683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5292000" y="2889000"/>
            <a:ext cx="3240000" cy="1080000"/>
          </a:xfrm>
        </p:spPr>
        <p:txBody>
          <a:bodyPr anchor="t" anchorCtr="0"/>
          <a:lstStyle>
            <a:lvl1pPr marL="719138" indent="-719138">
              <a:defRPr sz="2200"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9249265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5589000"/>
            <a:ext cx="8280000" cy="720000"/>
          </a:xfrm>
        </p:spPr>
        <p:txBody>
          <a:bodyPr anchor="t" anchorCtr="0"/>
          <a:lstStyle>
            <a:lvl1pPr marL="719138" indent="-719138">
              <a:defRPr sz="2200"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7761123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251460" y="1268729"/>
            <a:ext cx="4140540" cy="5039995"/>
          </a:xfrm>
        </p:spPr>
        <p:txBody>
          <a:bodyPr/>
          <a:lstStyle>
            <a:lvl1pPr>
              <a:defRPr sz="22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4752000" y="1268729"/>
            <a:ext cx="4140540" cy="5039995"/>
          </a:xfrm>
        </p:spPr>
        <p:txBody>
          <a:bodyPr/>
          <a:lstStyle>
            <a:lvl1pPr>
              <a:defRPr sz="22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252000" y="549000"/>
            <a:ext cx="5940000" cy="5759724"/>
          </a:xfrm>
        </p:spPr>
        <p:txBody>
          <a:bodyPr/>
          <a:lstStyle>
            <a:lvl1pPr>
              <a:defRPr sz="22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4212000" y="909000"/>
            <a:ext cx="4680000" cy="1980000"/>
          </a:xfrm>
        </p:spPr>
        <p:txBody>
          <a:bodyPr wrap="none"/>
          <a:lstStyle>
            <a:lvl1pPr>
              <a:defRPr sz="22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10618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72000" y="189000"/>
            <a:ext cx="5580000" cy="3240000"/>
          </a:xfrm>
        </p:spPr>
        <p:txBody>
          <a:bodyPr wrap="none"/>
          <a:lstStyle>
            <a:lvl1pPr>
              <a:defRPr sz="1500">
                <a:latin typeface="Lucida Console" panose="020B06090405040202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5292000" y="189000"/>
            <a:ext cx="3600000" cy="3240000"/>
          </a:xfrm>
        </p:spPr>
        <p:txBody>
          <a:bodyPr wrap="none"/>
          <a:lstStyle>
            <a:lvl1pPr>
              <a:defRPr sz="1500">
                <a:latin typeface="Lucida Console" panose="020B06090405040202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4923504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792000" y="549001"/>
            <a:ext cx="7560000" cy="900000"/>
          </a:xfrm>
        </p:spPr>
        <p:txBody>
          <a:bodyPr/>
          <a:lstStyle>
            <a:lvl1pPr>
              <a:defRPr sz="22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612000" y="5769000"/>
            <a:ext cx="7920000" cy="539724"/>
          </a:xfrm>
        </p:spPr>
        <p:txBody>
          <a:bodyPr/>
          <a:lstStyle>
            <a:lvl1pPr>
              <a:defRPr sz="22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9204819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612000" y="729001"/>
            <a:ext cx="7920000" cy="900000"/>
          </a:xfrm>
        </p:spPr>
        <p:txBody>
          <a:bodyPr/>
          <a:lstStyle>
            <a:lvl1pPr>
              <a:defRPr sz="22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612000" y="2709000"/>
            <a:ext cx="7920000" cy="1260000"/>
          </a:xfrm>
        </p:spPr>
        <p:txBody>
          <a:bodyPr/>
          <a:lstStyle>
            <a:lvl1pPr>
              <a:defRPr sz="22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1879044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252000" y="189000"/>
            <a:ext cx="8640000" cy="10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53251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2000" y="1269000"/>
            <a:ext cx="8640000" cy="50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74" r:id="rId3"/>
    <p:sldLayoutId id="2147483686" r:id="rId4"/>
    <p:sldLayoutId id="2147483709" r:id="rId5"/>
    <p:sldLayoutId id="2147483705" r:id="rId6"/>
    <p:sldLayoutId id="2147483707" r:id="rId7"/>
    <p:sldLayoutId id="2147483706" r:id="rId8"/>
    <p:sldLayoutId id="2147483698" r:id="rId9"/>
    <p:sldLayoutId id="2147483702" r:id="rId10"/>
    <p:sldLayoutId id="2147483696" r:id="rId11"/>
    <p:sldLayoutId id="2147483695" r:id="rId12"/>
    <p:sldLayoutId id="2147483704" r:id="rId13"/>
    <p:sldLayoutId id="2147483694" r:id="rId14"/>
    <p:sldLayoutId id="2147483692" r:id="rId15"/>
    <p:sldLayoutId id="2147483690" r:id="rId16"/>
    <p:sldLayoutId id="2147483689" r:id="rId17"/>
    <p:sldLayoutId id="2147483688" r:id="rId18"/>
    <p:sldLayoutId id="2147483703" r:id="rId19"/>
    <p:sldLayoutId id="2147483697" r:id="rId20"/>
    <p:sldLayoutId id="2147483700" r:id="rId21"/>
    <p:sldLayoutId id="2147483699" r:id="rId22"/>
    <p:sldLayoutId id="2147483701" r:id="rId23"/>
    <p:sldLayoutId id="2147483676" r:id="rId24"/>
    <p:sldLayoutId id="2147483693" r:id="rId25"/>
    <p:sldLayoutId id="2147483708" r:id="rId26"/>
    <p:sldLayoutId id="2147483691" r:id="rId27"/>
    <p:sldLayoutId id="2147483687" r:id="rId28"/>
    <p:sldLayoutId id="2147483678" r:id="rId29"/>
    <p:sldLayoutId id="2147483679" r:id="rId3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itchFamily="2" charset="2"/>
        <a:defRPr kumimoji="1" sz="2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.e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0.w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1.wmf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9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.em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3.emf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0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0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0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0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0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0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0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0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1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1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1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1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1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1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1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1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1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30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30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30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30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30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30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30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30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30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23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20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20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20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20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20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20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20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20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20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20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emf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emf"/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emf"/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emf"/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emf"/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emf"/><Relationship Id="rId1" Type="http://schemas.openxmlformats.org/officeDocument/2006/relationships/slideLayout" Target="../slideLayouts/slideLayout26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emf"/><Relationship Id="rId1" Type="http://schemas.openxmlformats.org/officeDocument/2006/relationships/slideLayout" Target="../slideLayouts/slideLayout26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emf"/><Relationship Id="rId1" Type="http://schemas.openxmlformats.org/officeDocument/2006/relationships/slideLayout" Target="../slideLayouts/slideLayout26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emf"/><Relationship Id="rId1" Type="http://schemas.openxmlformats.org/officeDocument/2006/relationships/slideLayout" Target="../slideLayouts/slideLayout26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emf"/><Relationship Id="rId1" Type="http://schemas.openxmlformats.org/officeDocument/2006/relationships/slideLayout" Target="../slideLayouts/slideLayout26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26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emf"/><Relationship Id="rId1" Type="http://schemas.openxmlformats.org/officeDocument/2006/relationships/slideLayout" Target="../slideLayouts/slideLayout26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emf"/><Relationship Id="rId1" Type="http://schemas.openxmlformats.org/officeDocument/2006/relationships/slideLayout" Target="../slideLayouts/slideLayout26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emf"/><Relationship Id="rId1" Type="http://schemas.openxmlformats.org/officeDocument/2006/relationships/slideLayout" Target="../slideLayouts/slideLayout26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emf"/><Relationship Id="rId1" Type="http://schemas.openxmlformats.org/officeDocument/2006/relationships/slideLayout" Target="../slideLayouts/slideLayout26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emf"/><Relationship Id="rId1" Type="http://schemas.openxmlformats.org/officeDocument/2006/relationships/slideLayout" Target="../slideLayouts/slideLayout26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emf"/><Relationship Id="rId1" Type="http://schemas.openxmlformats.org/officeDocument/2006/relationships/slideLayout" Target="../slideLayouts/slideLayout26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emf"/><Relationship Id="rId1" Type="http://schemas.openxmlformats.org/officeDocument/2006/relationships/slideLayout" Target="../slideLayouts/slideLayout26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emf"/><Relationship Id="rId1" Type="http://schemas.openxmlformats.org/officeDocument/2006/relationships/slideLayout" Target="../slideLayouts/slideLayout26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emf"/><Relationship Id="rId1" Type="http://schemas.openxmlformats.org/officeDocument/2006/relationships/slideLayout" Target="../slideLayouts/slideLayout26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emf"/><Relationship Id="rId1" Type="http://schemas.openxmlformats.org/officeDocument/2006/relationships/slideLayout" Target="../slideLayouts/slideLayout26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emf"/><Relationship Id="rId1" Type="http://schemas.openxmlformats.org/officeDocument/2006/relationships/slideLayout" Target="../slideLayouts/slideLayout26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emf"/><Relationship Id="rId1" Type="http://schemas.openxmlformats.org/officeDocument/2006/relationships/slideLayout" Target="../slideLayouts/slideLayout26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emf"/><Relationship Id="rId1" Type="http://schemas.openxmlformats.org/officeDocument/2006/relationships/slideLayout" Target="../slideLayouts/slideLayout26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emf"/><Relationship Id="rId1" Type="http://schemas.openxmlformats.org/officeDocument/2006/relationships/slideLayout" Target="../slideLayouts/slideLayout26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emf"/><Relationship Id="rId1" Type="http://schemas.openxmlformats.org/officeDocument/2006/relationships/slideLayout" Target="../slideLayouts/slideLayout26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emf"/><Relationship Id="rId1" Type="http://schemas.openxmlformats.org/officeDocument/2006/relationships/slideLayout" Target="../slideLayouts/slideLayout2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0.wmf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4.xml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30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8.xml.rels><?xml version="1.0" encoding="UTF-8" standalone="yes"?>
<Relationships xmlns="http://schemas.openxmlformats.org/package/2006/relationships"><Relationship Id="rId8" Type="http://schemas.openxmlformats.org/officeDocument/2006/relationships/hyperlink" Target="http://uva.onlinejudge.org/external/104/10418.pdf" TargetMode="External"/><Relationship Id="rId3" Type="http://schemas.openxmlformats.org/officeDocument/2006/relationships/hyperlink" Target="http://uva.onlinejudge.org/external/6/670.pdf" TargetMode="External"/><Relationship Id="rId7" Type="http://schemas.openxmlformats.org/officeDocument/2006/relationships/hyperlink" Target="http://uva.onlinejudge.org/external/102/10243.pdf" TargetMode="External"/><Relationship Id="rId2" Type="http://schemas.openxmlformats.org/officeDocument/2006/relationships/hyperlink" Target="http://uva.onlinejudge.org/external/2/259.pdf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uva.onlinejudge.org/external/100/10092.pdf" TargetMode="External"/><Relationship Id="rId11" Type="http://schemas.openxmlformats.org/officeDocument/2006/relationships/hyperlink" Target="http://uva.onlinejudge.org/external/111/11148.pdf" TargetMode="External"/><Relationship Id="rId5" Type="http://schemas.openxmlformats.org/officeDocument/2006/relationships/hyperlink" Target="http://uva.onlinejudge.org/external/100/10080.pdf" TargetMode="External"/><Relationship Id="rId10" Type="http://schemas.openxmlformats.org/officeDocument/2006/relationships/hyperlink" Target="http://uva.onlinejudge.org/external/6/663.pdf" TargetMode="External"/><Relationship Id="rId4" Type="http://schemas.openxmlformats.org/officeDocument/2006/relationships/hyperlink" Target="http://uva.onlinejudge.org/external/7/753.pdf" TargetMode="External"/><Relationship Id="rId9" Type="http://schemas.openxmlformats.org/officeDocument/2006/relationships/hyperlink" Target="http://uva.onlinejudge.org/external/109/10984.pdf" TargetMode="Externa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TW" sz="5400" dirty="0"/>
              <a:t>Maximum 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TW" sz="4800" dirty="0"/>
              <a:t>The trucking problem of the Lucky Puck Company</a:t>
            </a:r>
            <a:endParaRPr lang="zh-TW" alt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612000" y="4509000"/>
            <a:ext cx="7920000" cy="1800001"/>
          </a:xfrm>
        </p:spPr>
        <p:txBody>
          <a:bodyPr lIns="90000" rIns="90000"/>
          <a:lstStyle/>
          <a:p>
            <a:pPr marL="0" indent="0"/>
            <a:r>
              <a:rPr lang="en-US" altLang="zh-TW" sz="2200" dirty="0"/>
              <a:t>A flow network </a:t>
            </a:r>
            <a:r>
              <a:rPr lang="en-US" altLang="zh-TW" sz="2200" i="1" dirty="0">
                <a:solidFill>
                  <a:srgbClr val="000000"/>
                </a:solidFill>
              </a:rPr>
              <a:t>G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</a:rPr>
              <a:t> (</a:t>
            </a:r>
            <a:r>
              <a:rPr lang="en-US" altLang="zh-TW" sz="2200" i="1" dirty="0">
                <a:solidFill>
                  <a:srgbClr val="000000"/>
                </a:solidFill>
              </a:rPr>
              <a:t>V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</a:rPr>
              <a:t>E</a:t>
            </a:r>
            <a:r>
              <a:rPr lang="en-US" altLang="zh-TW" sz="2200" dirty="0">
                <a:solidFill>
                  <a:srgbClr val="000000"/>
                </a:solidFill>
              </a:rPr>
              <a:t>)</a:t>
            </a:r>
            <a:r>
              <a:rPr lang="en-US" altLang="zh-TW" sz="2200" dirty="0"/>
              <a:t> for the Lucky Puck Company’s trucking problem. The Vancouver factory is the source </a:t>
            </a:r>
            <a:r>
              <a:rPr lang="en-US" altLang="zh-TW" sz="2200" i="1" dirty="0"/>
              <a:t>s</a:t>
            </a:r>
            <a:r>
              <a:rPr lang="en-US" altLang="zh-TW" sz="2200" dirty="0"/>
              <a:t>, and the Winnipeg warehouse is the sink </a:t>
            </a:r>
            <a:r>
              <a:rPr lang="en-US" altLang="zh-TW" sz="2200" i="1" dirty="0"/>
              <a:t>t</a:t>
            </a:r>
            <a:r>
              <a:rPr lang="en-US" altLang="zh-TW" sz="2200" dirty="0"/>
              <a:t>. The company ships pucks through intermediate cities, but only </a:t>
            </a:r>
            <a:r>
              <a:rPr lang="en-US" altLang="zh-TW" sz="2200" i="1" dirty="0"/>
              <a:t>c</a:t>
            </a:r>
            <a:r>
              <a:rPr lang="en-US" altLang="zh-TW" sz="2200" dirty="0"/>
              <a:t>(</a:t>
            </a:r>
            <a:r>
              <a:rPr lang="en-US" altLang="zh-TW" sz="2200" i="1" dirty="0"/>
              <a:t>u</a:t>
            </a:r>
            <a:r>
              <a:rPr lang="en-US" altLang="zh-TW" sz="2200" dirty="0"/>
              <a:t>, </a:t>
            </a:r>
            <a:r>
              <a:rPr lang="en-US" altLang="zh-TW" sz="2200" i="1" dirty="0"/>
              <a:t>v</a:t>
            </a:r>
            <a:r>
              <a:rPr lang="en-US" altLang="zh-TW" sz="2200" dirty="0"/>
              <a:t>) crates per day can go from city </a:t>
            </a:r>
            <a:r>
              <a:rPr lang="en-US" altLang="zh-TW" sz="2200" i="1" dirty="0"/>
              <a:t>u</a:t>
            </a:r>
            <a:r>
              <a:rPr lang="en-US" altLang="zh-TW" sz="2200" dirty="0"/>
              <a:t> to city </a:t>
            </a:r>
            <a:r>
              <a:rPr lang="en-US" altLang="zh-TW" sz="2200" i="1" dirty="0"/>
              <a:t>v</a:t>
            </a:r>
            <a:r>
              <a:rPr lang="en-US" altLang="zh-TW" sz="2200" dirty="0"/>
              <a:t>. Each edge is labeled with its capacity.</a:t>
            </a:r>
            <a:endParaRPr lang="zh-TW" altLang="en-US" sz="2200" dirty="0"/>
          </a:p>
        </p:txBody>
      </p:sp>
      <p:sp>
        <p:nvSpPr>
          <p:cNvPr id="37" name="Text Box 14"/>
          <p:cNvSpPr txBox="1">
            <a:spLocks noChangeArrowheads="1"/>
          </p:cNvSpPr>
          <p:nvPr/>
        </p:nvSpPr>
        <p:spPr bwMode="auto">
          <a:xfrm>
            <a:off x="972000" y="1989000"/>
            <a:ext cx="14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72000" bIns="0">
            <a:noAutofit/>
          </a:bodyPr>
          <a:lstStyle/>
          <a:p>
            <a:pPr algn="r"/>
            <a:r>
              <a:rPr lang="en-US" altLang="zh-TW" sz="2400" dirty="0">
                <a:solidFill>
                  <a:srgbClr val="006600"/>
                </a:solidFill>
              </a:rPr>
              <a:t>Vancouver</a:t>
            </a:r>
          </a:p>
        </p:txBody>
      </p:sp>
      <p:sp>
        <p:nvSpPr>
          <p:cNvPr id="38" name="Text Box 15"/>
          <p:cNvSpPr txBox="1">
            <a:spLocks noChangeArrowheads="1"/>
          </p:cNvSpPr>
          <p:nvPr/>
        </p:nvSpPr>
        <p:spPr bwMode="auto">
          <a:xfrm>
            <a:off x="2772000" y="3789000"/>
            <a:ext cx="14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>
            <a:noAutofit/>
          </a:bodyPr>
          <a:lstStyle/>
          <a:p>
            <a:pPr algn="ctr"/>
            <a:r>
              <a:rPr lang="en-US" altLang="zh-TW" sz="2400" dirty="0">
                <a:solidFill>
                  <a:srgbClr val="006600"/>
                </a:solidFill>
              </a:rPr>
              <a:t>Calgary</a:t>
            </a:r>
          </a:p>
        </p:txBody>
      </p:sp>
      <p:sp>
        <p:nvSpPr>
          <p:cNvPr id="39" name="Text Box 16"/>
          <p:cNvSpPr txBox="1">
            <a:spLocks noChangeArrowheads="1"/>
          </p:cNvSpPr>
          <p:nvPr/>
        </p:nvSpPr>
        <p:spPr bwMode="auto">
          <a:xfrm>
            <a:off x="2772000" y="909000"/>
            <a:ext cx="14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>
            <a:noAutofit/>
          </a:bodyPr>
          <a:lstStyle/>
          <a:p>
            <a:pPr algn="ctr"/>
            <a:r>
              <a:rPr lang="en-US" altLang="zh-TW" sz="2400" dirty="0">
                <a:solidFill>
                  <a:srgbClr val="006600"/>
                </a:solidFill>
              </a:rPr>
              <a:t>Edmonton</a:t>
            </a:r>
          </a:p>
        </p:txBody>
      </p:sp>
      <p:sp>
        <p:nvSpPr>
          <p:cNvPr id="40" name="Text Box 17"/>
          <p:cNvSpPr txBox="1">
            <a:spLocks noChangeArrowheads="1"/>
          </p:cNvSpPr>
          <p:nvPr/>
        </p:nvSpPr>
        <p:spPr bwMode="auto">
          <a:xfrm>
            <a:off x="5112000" y="37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>
            <a:noAutofit/>
          </a:bodyPr>
          <a:lstStyle/>
          <a:p>
            <a:pPr algn="ctr"/>
            <a:r>
              <a:rPr lang="en-US" altLang="zh-TW" sz="2400" dirty="0">
                <a:solidFill>
                  <a:srgbClr val="006600"/>
                </a:solidFill>
              </a:rPr>
              <a:t>Regina</a:t>
            </a:r>
          </a:p>
        </p:txBody>
      </p:sp>
      <p:sp>
        <p:nvSpPr>
          <p:cNvPr id="41" name="Text Box 18"/>
          <p:cNvSpPr txBox="1">
            <a:spLocks noChangeArrowheads="1"/>
          </p:cNvSpPr>
          <p:nvPr/>
        </p:nvSpPr>
        <p:spPr bwMode="auto">
          <a:xfrm>
            <a:off x="4932000" y="909000"/>
            <a:ext cx="14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>
            <a:noAutofit/>
          </a:bodyPr>
          <a:lstStyle/>
          <a:p>
            <a:pPr algn="ctr"/>
            <a:r>
              <a:rPr lang="en-US" altLang="zh-TW" sz="2400" dirty="0">
                <a:solidFill>
                  <a:srgbClr val="006600"/>
                </a:solidFill>
              </a:rPr>
              <a:t>Saskatoon</a:t>
            </a:r>
          </a:p>
        </p:txBody>
      </p:sp>
      <p:sp>
        <p:nvSpPr>
          <p:cNvPr id="42" name="Text Box 19"/>
          <p:cNvSpPr txBox="1">
            <a:spLocks noChangeArrowheads="1"/>
          </p:cNvSpPr>
          <p:nvPr/>
        </p:nvSpPr>
        <p:spPr bwMode="auto">
          <a:xfrm>
            <a:off x="6732000" y="1989000"/>
            <a:ext cx="14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>
            <a:noAutofit/>
          </a:bodyPr>
          <a:lstStyle/>
          <a:p>
            <a:r>
              <a:rPr lang="en-US" altLang="zh-TW" sz="2400" dirty="0">
                <a:solidFill>
                  <a:srgbClr val="006600"/>
                </a:solidFill>
              </a:rPr>
              <a:t>Winnipeg</a:t>
            </a:r>
          </a:p>
        </p:txBody>
      </p:sp>
      <p:sp>
        <p:nvSpPr>
          <p:cNvPr id="43" name="Text Box 20"/>
          <p:cNvSpPr txBox="1">
            <a:spLocks noChangeArrowheads="1"/>
          </p:cNvSpPr>
          <p:nvPr/>
        </p:nvSpPr>
        <p:spPr bwMode="auto">
          <a:xfrm>
            <a:off x="1332000" y="270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72000" bIns="0">
            <a:noAutofit/>
          </a:bodyPr>
          <a:lstStyle/>
          <a:p>
            <a:pPr algn="r"/>
            <a:r>
              <a:rPr lang="en-US" altLang="zh-TW" sz="2400" dirty="0">
                <a:solidFill>
                  <a:schemeClr val="hlink"/>
                </a:solidFill>
              </a:rPr>
              <a:t>factory</a:t>
            </a:r>
          </a:p>
        </p:txBody>
      </p:sp>
      <p:sp>
        <p:nvSpPr>
          <p:cNvPr id="44" name="Text Box 21"/>
          <p:cNvSpPr txBox="1">
            <a:spLocks noChangeArrowheads="1"/>
          </p:cNvSpPr>
          <p:nvPr/>
        </p:nvSpPr>
        <p:spPr bwMode="auto">
          <a:xfrm>
            <a:off x="6732000" y="2709000"/>
            <a:ext cx="14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>
            <a:noAutofit/>
          </a:bodyPr>
          <a:lstStyle/>
          <a:p>
            <a:r>
              <a:rPr lang="en-US" altLang="zh-TW" sz="2400" dirty="0">
                <a:solidFill>
                  <a:schemeClr val="hlink"/>
                </a:solidFill>
              </a:rPr>
              <a:t>warehouse</a:t>
            </a:r>
          </a:p>
        </p:txBody>
      </p:sp>
      <p:sp>
        <p:nvSpPr>
          <p:cNvPr id="45" name="Text Box 4"/>
          <p:cNvSpPr txBox="1">
            <a:spLocks noChangeArrowheads="1"/>
          </p:cNvSpPr>
          <p:nvPr/>
        </p:nvSpPr>
        <p:spPr bwMode="auto">
          <a:xfrm>
            <a:off x="241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72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16</a:t>
            </a:r>
          </a:p>
        </p:txBody>
      </p:sp>
      <p:sp>
        <p:nvSpPr>
          <p:cNvPr id="46" name="Text Box 6"/>
          <p:cNvSpPr txBox="1">
            <a:spLocks noChangeArrowheads="1"/>
          </p:cNvSpPr>
          <p:nvPr/>
        </p:nvSpPr>
        <p:spPr bwMode="auto">
          <a:xfrm>
            <a:off x="4392000" y="10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47" name="Text Box 7"/>
          <p:cNvSpPr txBox="1">
            <a:spLocks noChangeArrowheads="1"/>
          </p:cNvSpPr>
          <p:nvPr/>
        </p:nvSpPr>
        <p:spPr bwMode="auto">
          <a:xfrm>
            <a:off x="2412000" y="28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36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48" name="Text Box 8"/>
          <p:cNvSpPr txBox="1">
            <a:spLocks noChangeArrowheads="1"/>
          </p:cNvSpPr>
          <p:nvPr/>
        </p:nvSpPr>
        <p:spPr bwMode="auto">
          <a:xfrm>
            <a:off x="619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20</a:t>
            </a:r>
          </a:p>
        </p:txBody>
      </p:sp>
      <p:sp>
        <p:nvSpPr>
          <p:cNvPr id="49" name="Text Box 9"/>
          <p:cNvSpPr txBox="1">
            <a:spLocks noChangeArrowheads="1"/>
          </p:cNvSpPr>
          <p:nvPr/>
        </p:nvSpPr>
        <p:spPr bwMode="auto">
          <a:xfrm>
            <a:off x="439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3600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sp>
        <p:nvSpPr>
          <p:cNvPr id="50" name="Text Box 10"/>
          <p:cNvSpPr txBox="1">
            <a:spLocks noChangeArrowheads="1"/>
          </p:cNvSpPr>
          <p:nvPr/>
        </p:nvSpPr>
        <p:spPr bwMode="auto">
          <a:xfrm>
            <a:off x="6192000" y="28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51" name="Text Box 11"/>
          <p:cNvSpPr txBox="1">
            <a:spLocks noChangeArrowheads="1"/>
          </p:cNvSpPr>
          <p:nvPr/>
        </p:nvSpPr>
        <p:spPr bwMode="auto">
          <a:xfrm>
            <a:off x="4572000" y="23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52" name="Text Box 12"/>
          <p:cNvSpPr txBox="1">
            <a:spLocks noChangeArrowheads="1"/>
          </p:cNvSpPr>
          <p:nvPr/>
        </p:nvSpPr>
        <p:spPr bwMode="auto">
          <a:xfrm>
            <a:off x="349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53" name="Text Box 13"/>
          <p:cNvSpPr txBox="1">
            <a:spLocks noChangeArrowheads="1"/>
          </p:cNvSpPr>
          <p:nvPr/>
        </p:nvSpPr>
        <p:spPr bwMode="auto">
          <a:xfrm>
            <a:off x="565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54" name="橢圓 53"/>
          <p:cNvSpPr/>
          <p:nvPr/>
        </p:nvSpPr>
        <p:spPr>
          <a:xfrm>
            <a:off x="3312000" y="126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1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55" name="橢圓 54"/>
          <p:cNvSpPr/>
          <p:nvPr/>
        </p:nvSpPr>
        <p:spPr>
          <a:xfrm>
            <a:off x="3312000" y="342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2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56" name="橢圓 55"/>
          <p:cNvSpPr/>
          <p:nvPr/>
        </p:nvSpPr>
        <p:spPr>
          <a:xfrm>
            <a:off x="5472000" y="126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3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57" name="橢圓 56"/>
          <p:cNvSpPr/>
          <p:nvPr/>
        </p:nvSpPr>
        <p:spPr>
          <a:xfrm>
            <a:off x="5472000" y="342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4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58" name="橢圓 57"/>
          <p:cNvSpPr/>
          <p:nvPr/>
        </p:nvSpPr>
        <p:spPr>
          <a:xfrm>
            <a:off x="2232000" y="2349000"/>
            <a:ext cx="360000" cy="360000"/>
          </a:xfrm>
          <a:prstGeom prst="ellipse">
            <a:avLst/>
          </a:prstGeom>
          <a:solidFill>
            <a:srgbClr val="FFFF0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s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59" name="直線單箭頭接點 58"/>
          <p:cNvCxnSpPr>
            <a:stCxn id="58" idx="7"/>
            <a:endCxn id="54" idx="3"/>
          </p:cNvCxnSpPr>
          <p:nvPr/>
        </p:nvCxnSpPr>
        <p:spPr>
          <a:xfrm flipV="1">
            <a:off x="2539279" y="157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>
            <a:stCxn id="54" idx="6"/>
            <a:endCxn id="56" idx="2"/>
          </p:cNvCxnSpPr>
          <p:nvPr/>
        </p:nvCxnSpPr>
        <p:spPr>
          <a:xfrm>
            <a:off x="3672000" y="144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>
            <a:stCxn id="56" idx="3"/>
            <a:endCxn id="55" idx="7"/>
          </p:cNvCxnSpPr>
          <p:nvPr/>
        </p:nvCxnSpPr>
        <p:spPr>
          <a:xfrm flipH="1">
            <a:off x="3619279" y="1576279"/>
            <a:ext cx="1905442" cy="190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>
            <a:stCxn id="55" idx="6"/>
            <a:endCxn id="57" idx="2"/>
          </p:cNvCxnSpPr>
          <p:nvPr/>
        </p:nvCxnSpPr>
        <p:spPr>
          <a:xfrm>
            <a:off x="3672000" y="360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>
            <a:stCxn id="55" idx="0"/>
            <a:endCxn id="54" idx="4"/>
          </p:cNvCxnSpPr>
          <p:nvPr/>
        </p:nvCxnSpPr>
        <p:spPr>
          <a:xfrm flipV="1">
            <a:off x="3492000" y="162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>
            <a:stCxn id="56" idx="5"/>
            <a:endCxn id="67" idx="1"/>
          </p:cNvCxnSpPr>
          <p:nvPr/>
        </p:nvCxnSpPr>
        <p:spPr>
          <a:xfrm>
            <a:off x="5779279" y="157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線單箭頭接點 64"/>
          <p:cNvCxnSpPr>
            <a:stCxn id="57" idx="0"/>
            <a:endCxn id="56" idx="4"/>
          </p:cNvCxnSpPr>
          <p:nvPr/>
        </p:nvCxnSpPr>
        <p:spPr>
          <a:xfrm flipV="1">
            <a:off x="5652000" y="162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線單箭頭接點 65"/>
          <p:cNvCxnSpPr>
            <a:stCxn id="58" idx="5"/>
            <a:endCxn id="55" idx="1"/>
          </p:cNvCxnSpPr>
          <p:nvPr/>
        </p:nvCxnSpPr>
        <p:spPr>
          <a:xfrm>
            <a:off x="2539279" y="265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橢圓 66"/>
          <p:cNvSpPr/>
          <p:nvPr/>
        </p:nvSpPr>
        <p:spPr>
          <a:xfrm>
            <a:off x="6552000" y="2349000"/>
            <a:ext cx="360000" cy="360000"/>
          </a:xfrm>
          <a:prstGeom prst="ellipse">
            <a:avLst/>
          </a:prstGeom>
          <a:solidFill>
            <a:srgbClr val="92D05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t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68" name="直線單箭頭接點 67"/>
          <p:cNvCxnSpPr>
            <a:stCxn id="57" idx="7"/>
            <a:endCxn id="67" idx="3"/>
          </p:cNvCxnSpPr>
          <p:nvPr/>
        </p:nvCxnSpPr>
        <p:spPr>
          <a:xfrm flipV="1">
            <a:off x="5779279" y="265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215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404622"/>
            <a:ext cx="8640000" cy="6065880"/>
          </a:xfrm>
          <a:prstGeom prst="rect">
            <a:avLst/>
          </a:prstGeom>
        </p:spPr>
      </p:pic>
      <p:cxnSp>
        <p:nvCxnSpPr>
          <p:cNvPr id="4" name="直線單箭頭接點 3"/>
          <p:cNvCxnSpPr/>
          <p:nvPr/>
        </p:nvCxnSpPr>
        <p:spPr>
          <a:xfrm flipV="1">
            <a:off x="1115976" y="2708996"/>
            <a:ext cx="2592018" cy="1296008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/>
          <p:cNvCxnSpPr/>
          <p:nvPr/>
        </p:nvCxnSpPr>
        <p:spPr>
          <a:xfrm flipV="1">
            <a:off x="1115976" y="3861006"/>
            <a:ext cx="2448017" cy="143998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 flipV="1">
            <a:off x="3563993" y="2708996"/>
            <a:ext cx="144001" cy="115200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>
            <a:off x="3707994" y="2708995"/>
            <a:ext cx="1872013" cy="576004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5580007" y="3284999"/>
            <a:ext cx="2448017" cy="432003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V="1">
            <a:off x="6156011" y="3717002"/>
            <a:ext cx="1872013" cy="288002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>
            <a:off x="3563993" y="3861003"/>
            <a:ext cx="2592018" cy="144001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 flipH="1" flipV="1">
            <a:off x="5580007" y="3285000"/>
            <a:ext cx="576004" cy="720004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/>
          <p:nvPr/>
        </p:nvCxnSpPr>
        <p:spPr>
          <a:xfrm flipH="1">
            <a:off x="3563993" y="3284999"/>
            <a:ext cx="2016014" cy="576004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6290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Box 14"/>
          <p:cNvSpPr txBox="1">
            <a:spLocks noChangeArrowheads="1"/>
          </p:cNvSpPr>
          <p:nvPr/>
        </p:nvSpPr>
        <p:spPr bwMode="auto">
          <a:xfrm>
            <a:off x="972000" y="2889000"/>
            <a:ext cx="14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72000" bIns="0">
            <a:noAutofit/>
          </a:bodyPr>
          <a:lstStyle/>
          <a:p>
            <a:pPr algn="r"/>
            <a:r>
              <a:rPr lang="en-US" altLang="zh-TW" sz="2400" dirty="0">
                <a:solidFill>
                  <a:srgbClr val="006600"/>
                </a:solidFill>
              </a:rPr>
              <a:t>Vancouver</a:t>
            </a:r>
          </a:p>
        </p:txBody>
      </p:sp>
      <p:sp>
        <p:nvSpPr>
          <p:cNvPr id="30" name="Text Box 15"/>
          <p:cNvSpPr txBox="1">
            <a:spLocks noChangeArrowheads="1"/>
          </p:cNvSpPr>
          <p:nvPr/>
        </p:nvSpPr>
        <p:spPr bwMode="auto">
          <a:xfrm>
            <a:off x="2772000" y="4689000"/>
            <a:ext cx="14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>
            <a:noAutofit/>
          </a:bodyPr>
          <a:lstStyle/>
          <a:p>
            <a:pPr algn="ctr"/>
            <a:r>
              <a:rPr lang="en-US" altLang="zh-TW" sz="2400" dirty="0">
                <a:solidFill>
                  <a:srgbClr val="006600"/>
                </a:solidFill>
              </a:rPr>
              <a:t>Calgary</a:t>
            </a:r>
          </a:p>
        </p:txBody>
      </p:sp>
      <p:sp>
        <p:nvSpPr>
          <p:cNvPr id="33" name="Text Box 16"/>
          <p:cNvSpPr txBox="1">
            <a:spLocks noChangeArrowheads="1"/>
          </p:cNvSpPr>
          <p:nvPr/>
        </p:nvSpPr>
        <p:spPr bwMode="auto">
          <a:xfrm>
            <a:off x="2772000" y="1809000"/>
            <a:ext cx="14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>
            <a:noAutofit/>
          </a:bodyPr>
          <a:lstStyle/>
          <a:p>
            <a:pPr algn="ctr"/>
            <a:r>
              <a:rPr lang="en-US" altLang="zh-TW" sz="2400" dirty="0">
                <a:solidFill>
                  <a:srgbClr val="006600"/>
                </a:solidFill>
              </a:rPr>
              <a:t>Edmonton</a:t>
            </a:r>
          </a:p>
        </p:txBody>
      </p:sp>
      <p:sp>
        <p:nvSpPr>
          <p:cNvPr id="36" name="Text Box 17"/>
          <p:cNvSpPr txBox="1">
            <a:spLocks noChangeArrowheads="1"/>
          </p:cNvSpPr>
          <p:nvPr/>
        </p:nvSpPr>
        <p:spPr bwMode="auto">
          <a:xfrm>
            <a:off x="5112000" y="46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>
            <a:noAutofit/>
          </a:bodyPr>
          <a:lstStyle/>
          <a:p>
            <a:pPr algn="ctr"/>
            <a:r>
              <a:rPr lang="en-US" altLang="zh-TW" sz="2400" dirty="0">
                <a:solidFill>
                  <a:srgbClr val="006600"/>
                </a:solidFill>
              </a:rPr>
              <a:t>Regina</a:t>
            </a:r>
          </a:p>
        </p:txBody>
      </p:sp>
      <p:sp>
        <p:nvSpPr>
          <p:cNvPr id="39" name="Text Box 18"/>
          <p:cNvSpPr txBox="1">
            <a:spLocks noChangeArrowheads="1"/>
          </p:cNvSpPr>
          <p:nvPr/>
        </p:nvSpPr>
        <p:spPr bwMode="auto">
          <a:xfrm>
            <a:off x="4932000" y="1809000"/>
            <a:ext cx="14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>
            <a:noAutofit/>
          </a:bodyPr>
          <a:lstStyle/>
          <a:p>
            <a:pPr algn="ctr"/>
            <a:r>
              <a:rPr lang="en-US" altLang="zh-TW" sz="2400" dirty="0">
                <a:solidFill>
                  <a:srgbClr val="006600"/>
                </a:solidFill>
              </a:rPr>
              <a:t>Saskatoon</a:t>
            </a:r>
          </a:p>
        </p:txBody>
      </p:sp>
      <p:sp>
        <p:nvSpPr>
          <p:cNvPr id="42" name="Text Box 19"/>
          <p:cNvSpPr txBox="1">
            <a:spLocks noChangeArrowheads="1"/>
          </p:cNvSpPr>
          <p:nvPr/>
        </p:nvSpPr>
        <p:spPr bwMode="auto">
          <a:xfrm>
            <a:off x="6732000" y="2889000"/>
            <a:ext cx="14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>
            <a:noAutofit/>
          </a:bodyPr>
          <a:lstStyle/>
          <a:p>
            <a:r>
              <a:rPr lang="en-US" altLang="zh-TW" sz="2400" dirty="0">
                <a:solidFill>
                  <a:srgbClr val="006600"/>
                </a:solidFill>
              </a:rPr>
              <a:t>Winnipeg</a:t>
            </a:r>
          </a:p>
        </p:txBody>
      </p:sp>
      <p:sp>
        <p:nvSpPr>
          <p:cNvPr id="47" name="Text Box 20"/>
          <p:cNvSpPr txBox="1">
            <a:spLocks noChangeArrowheads="1"/>
          </p:cNvSpPr>
          <p:nvPr/>
        </p:nvSpPr>
        <p:spPr bwMode="auto">
          <a:xfrm>
            <a:off x="1332000" y="360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72000" bIns="0">
            <a:noAutofit/>
          </a:bodyPr>
          <a:lstStyle/>
          <a:p>
            <a:pPr algn="r"/>
            <a:r>
              <a:rPr lang="en-US" altLang="zh-TW" sz="2400" dirty="0">
                <a:solidFill>
                  <a:schemeClr val="hlink"/>
                </a:solidFill>
              </a:rPr>
              <a:t>factory</a:t>
            </a:r>
          </a:p>
        </p:txBody>
      </p:sp>
      <p:sp>
        <p:nvSpPr>
          <p:cNvPr id="48" name="Text Box 21"/>
          <p:cNvSpPr txBox="1">
            <a:spLocks noChangeArrowheads="1"/>
          </p:cNvSpPr>
          <p:nvPr/>
        </p:nvSpPr>
        <p:spPr bwMode="auto">
          <a:xfrm>
            <a:off x="6732000" y="3609000"/>
            <a:ext cx="14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>
            <a:noAutofit/>
          </a:bodyPr>
          <a:lstStyle/>
          <a:p>
            <a:r>
              <a:rPr lang="en-US" altLang="zh-TW" sz="2400" dirty="0">
                <a:solidFill>
                  <a:schemeClr val="hlink"/>
                </a:solidFill>
              </a:rPr>
              <a:t>warehouse</a:t>
            </a:r>
          </a:p>
        </p:txBody>
      </p:sp>
      <p:sp>
        <p:nvSpPr>
          <p:cNvPr id="49" name="Text Box 4"/>
          <p:cNvSpPr txBox="1">
            <a:spLocks noChangeArrowheads="1"/>
          </p:cNvSpPr>
          <p:nvPr/>
        </p:nvSpPr>
        <p:spPr bwMode="auto">
          <a:xfrm>
            <a:off x="2412000" y="25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72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16</a:t>
            </a:r>
          </a:p>
        </p:txBody>
      </p:sp>
      <p:sp>
        <p:nvSpPr>
          <p:cNvPr id="50" name="Text Box 6"/>
          <p:cNvSpPr txBox="1">
            <a:spLocks noChangeArrowheads="1"/>
          </p:cNvSpPr>
          <p:nvPr/>
        </p:nvSpPr>
        <p:spPr bwMode="auto">
          <a:xfrm>
            <a:off x="439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51" name="Text Box 7"/>
          <p:cNvSpPr txBox="1">
            <a:spLocks noChangeArrowheads="1"/>
          </p:cNvSpPr>
          <p:nvPr/>
        </p:nvSpPr>
        <p:spPr bwMode="auto">
          <a:xfrm>
            <a:off x="241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36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52" name="Text Box 8"/>
          <p:cNvSpPr txBox="1">
            <a:spLocks noChangeArrowheads="1"/>
          </p:cNvSpPr>
          <p:nvPr/>
        </p:nvSpPr>
        <p:spPr bwMode="auto">
          <a:xfrm>
            <a:off x="6192000" y="25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20</a:t>
            </a:r>
          </a:p>
        </p:txBody>
      </p:sp>
      <p:sp>
        <p:nvSpPr>
          <p:cNvPr id="53" name="Text Box 9"/>
          <p:cNvSpPr txBox="1">
            <a:spLocks noChangeArrowheads="1"/>
          </p:cNvSpPr>
          <p:nvPr/>
        </p:nvSpPr>
        <p:spPr bwMode="auto">
          <a:xfrm>
            <a:off x="439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3600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sp>
        <p:nvSpPr>
          <p:cNvPr id="54" name="Text Box 10"/>
          <p:cNvSpPr txBox="1">
            <a:spLocks noChangeArrowheads="1"/>
          </p:cNvSpPr>
          <p:nvPr/>
        </p:nvSpPr>
        <p:spPr bwMode="auto">
          <a:xfrm>
            <a:off x="619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55" name="Text Box 11"/>
          <p:cNvSpPr txBox="1">
            <a:spLocks noChangeArrowheads="1"/>
          </p:cNvSpPr>
          <p:nvPr/>
        </p:nvSpPr>
        <p:spPr bwMode="auto">
          <a:xfrm>
            <a:off x="4572000" y="32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56" name="Text Box 12"/>
          <p:cNvSpPr txBox="1">
            <a:spLocks noChangeArrowheads="1"/>
          </p:cNvSpPr>
          <p:nvPr/>
        </p:nvSpPr>
        <p:spPr bwMode="auto">
          <a:xfrm>
            <a:off x="3492000" y="32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57" name="Text Box 13"/>
          <p:cNvSpPr txBox="1">
            <a:spLocks noChangeArrowheads="1"/>
          </p:cNvSpPr>
          <p:nvPr/>
        </p:nvSpPr>
        <p:spPr bwMode="auto">
          <a:xfrm>
            <a:off x="5652000" y="32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58" name="橢圓 57"/>
          <p:cNvSpPr/>
          <p:nvPr/>
        </p:nvSpPr>
        <p:spPr>
          <a:xfrm>
            <a:off x="3312000" y="216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1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59" name="橢圓 58"/>
          <p:cNvSpPr/>
          <p:nvPr/>
        </p:nvSpPr>
        <p:spPr>
          <a:xfrm>
            <a:off x="3312000" y="432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2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60" name="橢圓 59"/>
          <p:cNvSpPr/>
          <p:nvPr/>
        </p:nvSpPr>
        <p:spPr>
          <a:xfrm>
            <a:off x="5472000" y="216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3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61" name="橢圓 60"/>
          <p:cNvSpPr/>
          <p:nvPr/>
        </p:nvSpPr>
        <p:spPr>
          <a:xfrm>
            <a:off x="5472000" y="432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4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62" name="橢圓 61"/>
          <p:cNvSpPr/>
          <p:nvPr/>
        </p:nvSpPr>
        <p:spPr>
          <a:xfrm>
            <a:off x="2232000" y="3249000"/>
            <a:ext cx="360000" cy="360000"/>
          </a:xfrm>
          <a:prstGeom prst="ellipse">
            <a:avLst/>
          </a:prstGeom>
          <a:solidFill>
            <a:srgbClr val="FFFF0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s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63" name="直線單箭頭接點 62"/>
          <p:cNvCxnSpPr>
            <a:stCxn id="62" idx="7"/>
            <a:endCxn id="58" idx="3"/>
          </p:cNvCxnSpPr>
          <p:nvPr/>
        </p:nvCxnSpPr>
        <p:spPr>
          <a:xfrm flipV="1">
            <a:off x="2539279" y="247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>
            <a:stCxn id="58" idx="6"/>
            <a:endCxn id="60" idx="2"/>
          </p:cNvCxnSpPr>
          <p:nvPr/>
        </p:nvCxnSpPr>
        <p:spPr>
          <a:xfrm>
            <a:off x="3672000" y="234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線單箭頭接點 64"/>
          <p:cNvCxnSpPr>
            <a:stCxn id="60" idx="3"/>
            <a:endCxn id="59" idx="7"/>
          </p:cNvCxnSpPr>
          <p:nvPr/>
        </p:nvCxnSpPr>
        <p:spPr>
          <a:xfrm flipH="1">
            <a:off x="3619279" y="2476279"/>
            <a:ext cx="1905442" cy="190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線單箭頭接點 65"/>
          <p:cNvCxnSpPr>
            <a:stCxn id="59" idx="6"/>
            <a:endCxn id="61" idx="2"/>
          </p:cNvCxnSpPr>
          <p:nvPr/>
        </p:nvCxnSpPr>
        <p:spPr>
          <a:xfrm>
            <a:off x="3672000" y="450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>
            <a:stCxn id="59" idx="0"/>
            <a:endCxn id="58" idx="4"/>
          </p:cNvCxnSpPr>
          <p:nvPr/>
        </p:nvCxnSpPr>
        <p:spPr>
          <a:xfrm flipV="1">
            <a:off x="3492000" y="252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線單箭頭接點 67"/>
          <p:cNvCxnSpPr>
            <a:stCxn id="60" idx="5"/>
            <a:endCxn id="71" idx="1"/>
          </p:cNvCxnSpPr>
          <p:nvPr/>
        </p:nvCxnSpPr>
        <p:spPr>
          <a:xfrm>
            <a:off x="5779279" y="247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stCxn id="61" idx="0"/>
            <a:endCxn id="60" idx="4"/>
          </p:cNvCxnSpPr>
          <p:nvPr/>
        </p:nvCxnSpPr>
        <p:spPr>
          <a:xfrm flipV="1">
            <a:off x="5652000" y="252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>
            <a:stCxn id="62" idx="5"/>
            <a:endCxn id="59" idx="1"/>
          </p:cNvCxnSpPr>
          <p:nvPr/>
        </p:nvCxnSpPr>
        <p:spPr>
          <a:xfrm>
            <a:off x="2539279" y="355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橢圓 70"/>
          <p:cNvSpPr/>
          <p:nvPr/>
        </p:nvSpPr>
        <p:spPr>
          <a:xfrm>
            <a:off x="6552000" y="3249000"/>
            <a:ext cx="360000" cy="360000"/>
          </a:xfrm>
          <a:prstGeom prst="ellipse">
            <a:avLst/>
          </a:prstGeom>
          <a:solidFill>
            <a:srgbClr val="92D05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t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72" name="直線單箭頭接點 71"/>
          <p:cNvCxnSpPr>
            <a:stCxn id="61" idx="7"/>
            <a:endCxn id="71" idx="3"/>
          </p:cNvCxnSpPr>
          <p:nvPr/>
        </p:nvCxnSpPr>
        <p:spPr>
          <a:xfrm flipV="1">
            <a:off x="5779279" y="355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7556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4"/>
          <p:cNvSpPr txBox="1">
            <a:spLocks noChangeArrowheads="1"/>
          </p:cNvSpPr>
          <p:nvPr/>
        </p:nvSpPr>
        <p:spPr bwMode="auto">
          <a:xfrm>
            <a:off x="2412000" y="25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72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16</a:t>
            </a:r>
          </a:p>
        </p:txBody>
      </p:sp>
      <p:sp>
        <p:nvSpPr>
          <p:cNvPr id="2053" name="Text Box 6"/>
          <p:cNvSpPr txBox="1">
            <a:spLocks noChangeArrowheads="1"/>
          </p:cNvSpPr>
          <p:nvPr/>
        </p:nvSpPr>
        <p:spPr bwMode="auto">
          <a:xfrm>
            <a:off x="439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2054" name="Text Box 7"/>
          <p:cNvSpPr txBox="1">
            <a:spLocks noChangeArrowheads="1"/>
          </p:cNvSpPr>
          <p:nvPr/>
        </p:nvSpPr>
        <p:spPr bwMode="auto">
          <a:xfrm>
            <a:off x="241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36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2055" name="Text Box 8"/>
          <p:cNvSpPr txBox="1">
            <a:spLocks noChangeArrowheads="1"/>
          </p:cNvSpPr>
          <p:nvPr/>
        </p:nvSpPr>
        <p:spPr bwMode="auto">
          <a:xfrm>
            <a:off x="6192000" y="25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20</a:t>
            </a:r>
          </a:p>
        </p:txBody>
      </p:sp>
      <p:sp>
        <p:nvSpPr>
          <p:cNvPr id="2056" name="Text Box 9"/>
          <p:cNvSpPr txBox="1">
            <a:spLocks noChangeArrowheads="1"/>
          </p:cNvSpPr>
          <p:nvPr/>
        </p:nvSpPr>
        <p:spPr bwMode="auto">
          <a:xfrm>
            <a:off x="439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3600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sp>
        <p:nvSpPr>
          <p:cNvPr id="2057" name="Text Box 10"/>
          <p:cNvSpPr txBox="1">
            <a:spLocks noChangeArrowheads="1"/>
          </p:cNvSpPr>
          <p:nvPr/>
        </p:nvSpPr>
        <p:spPr bwMode="auto">
          <a:xfrm>
            <a:off x="619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2058" name="Text Box 11"/>
          <p:cNvSpPr txBox="1">
            <a:spLocks noChangeArrowheads="1"/>
          </p:cNvSpPr>
          <p:nvPr/>
        </p:nvSpPr>
        <p:spPr bwMode="auto">
          <a:xfrm>
            <a:off x="4572000" y="32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2059" name="Text Box 12"/>
          <p:cNvSpPr txBox="1">
            <a:spLocks noChangeArrowheads="1"/>
          </p:cNvSpPr>
          <p:nvPr/>
        </p:nvSpPr>
        <p:spPr bwMode="auto">
          <a:xfrm>
            <a:off x="3492000" y="32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2060" name="Text Box 13"/>
          <p:cNvSpPr txBox="1">
            <a:spLocks noChangeArrowheads="1"/>
          </p:cNvSpPr>
          <p:nvPr/>
        </p:nvSpPr>
        <p:spPr bwMode="auto">
          <a:xfrm>
            <a:off x="5652000" y="32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26" name="橢圓 25"/>
          <p:cNvSpPr/>
          <p:nvPr/>
        </p:nvSpPr>
        <p:spPr>
          <a:xfrm>
            <a:off x="3312000" y="216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1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8" name="橢圓 27"/>
          <p:cNvSpPr/>
          <p:nvPr/>
        </p:nvSpPr>
        <p:spPr>
          <a:xfrm>
            <a:off x="3312000" y="432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2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9" name="橢圓 28"/>
          <p:cNvSpPr/>
          <p:nvPr/>
        </p:nvSpPr>
        <p:spPr>
          <a:xfrm>
            <a:off x="5472000" y="216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3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31" name="橢圓 30"/>
          <p:cNvSpPr/>
          <p:nvPr/>
        </p:nvSpPr>
        <p:spPr>
          <a:xfrm>
            <a:off x="5472000" y="432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4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32" name="橢圓 31"/>
          <p:cNvSpPr/>
          <p:nvPr/>
        </p:nvSpPr>
        <p:spPr>
          <a:xfrm>
            <a:off x="2232000" y="3249000"/>
            <a:ext cx="360000" cy="360000"/>
          </a:xfrm>
          <a:prstGeom prst="ellipse">
            <a:avLst/>
          </a:prstGeom>
          <a:solidFill>
            <a:srgbClr val="FFFF0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s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35" name="直線單箭頭接點 34"/>
          <p:cNvCxnSpPr>
            <a:stCxn id="32" idx="7"/>
            <a:endCxn id="26" idx="3"/>
          </p:cNvCxnSpPr>
          <p:nvPr/>
        </p:nvCxnSpPr>
        <p:spPr>
          <a:xfrm flipV="1">
            <a:off x="2539279" y="247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stCxn id="26" idx="6"/>
            <a:endCxn id="29" idx="2"/>
          </p:cNvCxnSpPr>
          <p:nvPr/>
        </p:nvCxnSpPr>
        <p:spPr>
          <a:xfrm>
            <a:off x="3672000" y="234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>
            <a:stCxn id="29" idx="3"/>
            <a:endCxn id="28" idx="7"/>
          </p:cNvCxnSpPr>
          <p:nvPr/>
        </p:nvCxnSpPr>
        <p:spPr>
          <a:xfrm flipH="1">
            <a:off x="3619279" y="2476279"/>
            <a:ext cx="1905442" cy="190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>
            <a:stCxn id="28" idx="6"/>
            <a:endCxn id="31" idx="2"/>
          </p:cNvCxnSpPr>
          <p:nvPr/>
        </p:nvCxnSpPr>
        <p:spPr>
          <a:xfrm>
            <a:off x="3672000" y="450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>
            <a:stCxn id="28" idx="0"/>
            <a:endCxn id="26" idx="4"/>
          </p:cNvCxnSpPr>
          <p:nvPr/>
        </p:nvCxnSpPr>
        <p:spPr>
          <a:xfrm flipV="1">
            <a:off x="3492000" y="252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>
            <a:stCxn id="29" idx="5"/>
            <a:endCxn id="67" idx="1"/>
          </p:cNvCxnSpPr>
          <p:nvPr/>
        </p:nvCxnSpPr>
        <p:spPr>
          <a:xfrm>
            <a:off x="5779279" y="247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>
            <a:stCxn id="31" idx="0"/>
            <a:endCxn id="29" idx="4"/>
          </p:cNvCxnSpPr>
          <p:nvPr/>
        </p:nvCxnSpPr>
        <p:spPr>
          <a:xfrm flipV="1">
            <a:off x="5652000" y="252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>
            <a:stCxn id="32" idx="5"/>
            <a:endCxn id="28" idx="1"/>
          </p:cNvCxnSpPr>
          <p:nvPr/>
        </p:nvCxnSpPr>
        <p:spPr>
          <a:xfrm>
            <a:off x="2539279" y="355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橢圓 66"/>
          <p:cNvSpPr/>
          <p:nvPr/>
        </p:nvSpPr>
        <p:spPr>
          <a:xfrm>
            <a:off x="6552000" y="3249000"/>
            <a:ext cx="360000" cy="360000"/>
          </a:xfrm>
          <a:prstGeom prst="ellipse">
            <a:avLst/>
          </a:prstGeom>
          <a:solidFill>
            <a:srgbClr val="92D05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t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68" name="直線單箭頭接點 67"/>
          <p:cNvCxnSpPr>
            <a:stCxn id="31" idx="7"/>
            <a:endCxn id="67" idx="3"/>
          </p:cNvCxnSpPr>
          <p:nvPr/>
        </p:nvCxnSpPr>
        <p:spPr>
          <a:xfrm flipV="1">
            <a:off x="5779279" y="355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4868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4"/>
          <p:cNvSpPr txBox="1">
            <a:spLocks noChangeArrowheads="1"/>
          </p:cNvSpPr>
          <p:nvPr/>
        </p:nvSpPr>
        <p:spPr bwMode="auto">
          <a:xfrm>
            <a:off x="2232000" y="252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72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16</a:t>
            </a:r>
          </a:p>
        </p:txBody>
      </p:sp>
      <p:sp>
        <p:nvSpPr>
          <p:cNvPr id="2053" name="Text Box 6"/>
          <p:cNvSpPr txBox="1">
            <a:spLocks noChangeArrowheads="1"/>
          </p:cNvSpPr>
          <p:nvPr/>
        </p:nvSpPr>
        <p:spPr bwMode="auto">
          <a:xfrm>
            <a:off x="4212000" y="198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2054" name="Text Box 7"/>
          <p:cNvSpPr txBox="1">
            <a:spLocks noChangeArrowheads="1"/>
          </p:cNvSpPr>
          <p:nvPr/>
        </p:nvSpPr>
        <p:spPr bwMode="auto">
          <a:xfrm>
            <a:off x="2232000" y="378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36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2055" name="Text Box 8"/>
          <p:cNvSpPr txBox="1">
            <a:spLocks noChangeArrowheads="1"/>
          </p:cNvSpPr>
          <p:nvPr/>
        </p:nvSpPr>
        <p:spPr bwMode="auto">
          <a:xfrm>
            <a:off x="6192000" y="252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20</a:t>
            </a:r>
          </a:p>
        </p:txBody>
      </p:sp>
      <p:sp>
        <p:nvSpPr>
          <p:cNvPr id="2056" name="Text Box 9"/>
          <p:cNvSpPr txBox="1">
            <a:spLocks noChangeArrowheads="1"/>
          </p:cNvSpPr>
          <p:nvPr/>
        </p:nvSpPr>
        <p:spPr bwMode="auto">
          <a:xfrm>
            <a:off x="4212000" y="450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3600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sp>
        <p:nvSpPr>
          <p:cNvPr id="2057" name="Text Box 10"/>
          <p:cNvSpPr txBox="1">
            <a:spLocks noChangeArrowheads="1"/>
          </p:cNvSpPr>
          <p:nvPr/>
        </p:nvSpPr>
        <p:spPr bwMode="auto">
          <a:xfrm>
            <a:off x="619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2058" name="Text Box 11"/>
          <p:cNvSpPr txBox="1">
            <a:spLocks noChangeArrowheads="1"/>
          </p:cNvSpPr>
          <p:nvPr/>
        </p:nvSpPr>
        <p:spPr bwMode="auto">
          <a:xfrm>
            <a:off x="4572000" y="32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2059" name="Text Box 12"/>
          <p:cNvSpPr txBox="1">
            <a:spLocks noChangeArrowheads="1"/>
          </p:cNvSpPr>
          <p:nvPr/>
        </p:nvSpPr>
        <p:spPr bwMode="auto">
          <a:xfrm>
            <a:off x="3492000" y="324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2060" name="Text Box 13"/>
          <p:cNvSpPr txBox="1">
            <a:spLocks noChangeArrowheads="1"/>
          </p:cNvSpPr>
          <p:nvPr/>
        </p:nvSpPr>
        <p:spPr bwMode="auto">
          <a:xfrm>
            <a:off x="5652000" y="324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26" name="橢圓 25"/>
          <p:cNvSpPr/>
          <p:nvPr/>
        </p:nvSpPr>
        <p:spPr>
          <a:xfrm>
            <a:off x="3312000" y="216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1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8" name="橢圓 27"/>
          <p:cNvSpPr/>
          <p:nvPr/>
        </p:nvSpPr>
        <p:spPr>
          <a:xfrm>
            <a:off x="3312000" y="432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2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9" name="橢圓 28"/>
          <p:cNvSpPr/>
          <p:nvPr/>
        </p:nvSpPr>
        <p:spPr>
          <a:xfrm>
            <a:off x="5472000" y="216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3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31" name="橢圓 30"/>
          <p:cNvSpPr/>
          <p:nvPr/>
        </p:nvSpPr>
        <p:spPr>
          <a:xfrm>
            <a:off x="5472000" y="432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4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32" name="橢圓 31"/>
          <p:cNvSpPr/>
          <p:nvPr/>
        </p:nvSpPr>
        <p:spPr>
          <a:xfrm>
            <a:off x="2232000" y="3249000"/>
            <a:ext cx="360000" cy="360000"/>
          </a:xfrm>
          <a:prstGeom prst="ellipse">
            <a:avLst/>
          </a:prstGeom>
          <a:solidFill>
            <a:srgbClr val="FFFF0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s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35" name="直線單箭頭接點 34"/>
          <p:cNvCxnSpPr>
            <a:stCxn id="32" idx="7"/>
            <a:endCxn id="26" idx="3"/>
          </p:cNvCxnSpPr>
          <p:nvPr/>
        </p:nvCxnSpPr>
        <p:spPr>
          <a:xfrm flipV="1">
            <a:off x="2539279" y="247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stCxn id="26" idx="6"/>
            <a:endCxn id="29" idx="2"/>
          </p:cNvCxnSpPr>
          <p:nvPr/>
        </p:nvCxnSpPr>
        <p:spPr>
          <a:xfrm>
            <a:off x="3672000" y="234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>
            <a:stCxn id="29" idx="3"/>
            <a:endCxn id="28" idx="7"/>
          </p:cNvCxnSpPr>
          <p:nvPr/>
        </p:nvCxnSpPr>
        <p:spPr>
          <a:xfrm flipH="1">
            <a:off x="3619279" y="2476279"/>
            <a:ext cx="1905442" cy="190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>
            <a:stCxn id="28" idx="6"/>
            <a:endCxn id="31" idx="2"/>
          </p:cNvCxnSpPr>
          <p:nvPr/>
        </p:nvCxnSpPr>
        <p:spPr>
          <a:xfrm>
            <a:off x="3672000" y="450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>
            <a:stCxn id="28" idx="0"/>
            <a:endCxn id="26" idx="4"/>
          </p:cNvCxnSpPr>
          <p:nvPr/>
        </p:nvCxnSpPr>
        <p:spPr>
          <a:xfrm flipV="1">
            <a:off x="3492000" y="252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>
            <a:stCxn id="29" idx="5"/>
            <a:endCxn id="67" idx="1"/>
          </p:cNvCxnSpPr>
          <p:nvPr/>
        </p:nvCxnSpPr>
        <p:spPr>
          <a:xfrm>
            <a:off x="5779279" y="247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>
            <a:stCxn id="31" idx="0"/>
            <a:endCxn id="29" idx="4"/>
          </p:cNvCxnSpPr>
          <p:nvPr/>
        </p:nvCxnSpPr>
        <p:spPr>
          <a:xfrm flipV="1">
            <a:off x="5652000" y="252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>
            <a:stCxn id="32" idx="5"/>
            <a:endCxn id="28" idx="1"/>
          </p:cNvCxnSpPr>
          <p:nvPr/>
        </p:nvCxnSpPr>
        <p:spPr>
          <a:xfrm>
            <a:off x="2539279" y="355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橢圓 66"/>
          <p:cNvSpPr/>
          <p:nvPr/>
        </p:nvSpPr>
        <p:spPr>
          <a:xfrm>
            <a:off x="6552000" y="3249000"/>
            <a:ext cx="360000" cy="360000"/>
          </a:xfrm>
          <a:prstGeom prst="ellipse">
            <a:avLst/>
          </a:prstGeom>
          <a:solidFill>
            <a:srgbClr val="92D05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t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68" name="直線單箭頭接點 67"/>
          <p:cNvCxnSpPr>
            <a:stCxn id="31" idx="7"/>
            <a:endCxn id="67" idx="3"/>
          </p:cNvCxnSpPr>
          <p:nvPr/>
        </p:nvCxnSpPr>
        <p:spPr>
          <a:xfrm flipV="1">
            <a:off x="5779279" y="355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6998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4"/>
          <p:cNvSpPr txBox="1">
            <a:spLocks noChangeArrowheads="1"/>
          </p:cNvSpPr>
          <p:nvPr/>
        </p:nvSpPr>
        <p:spPr bwMode="auto">
          <a:xfrm>
            <a:off x="2232000" y="252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72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16</a:t>
            </a:r>
          </a:p>
        </p:txBody>
      </p:sp>
      <p:sp>
        <p:nvSpPr>
          <p:cNvPr id="2053" name="Text Box 6"/>
          <p:cNvSpPr txBox="1">
            <a:spLocks noChangeArrowheads="1"/>
          </p:cNvSpPr>
          <p:nvPr/>
        </p:nvSpPr>
        <p:spPr bwMode="auto">
          <a:xfrm>
            <a:off x="4212000" y="198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2054" name="Text Box 7"/>
          <p:cNvSpPr txBox="1">
            <a:spLocks noChangeArrowheads="1"/>
          </p:cNvSpPr>
          <p:nvPr/>
        </p:nvSpPr>
        <p:spPr bwMode="auto">
          <a:xfrm>
            <a:off x="2232000" y="378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36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2055" name="Text Box 8"/>
          <p:cNvSpPr txBox="1">
            <a:spLocks noChangeArrowheads="1"/>
          </p:cNvSpPr>
          <p:nvPr/>
        </p:nvSpPr>
        <p:spPr bwMode="auto">
          <a:xfrm>
            <a:off x="6192000" y="252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20</a:t>
            </a:r>
          </a:p>
        </p:txBody>
      </p:sp>
      <p:sp>
        <p:nvSpPr>
          <p:cNvPr id="2056" name="Text Box 9"/>
          <p:cNvSpPr txBox="1">
            <a:spLocks noChangeArrowheads="1"/>
          </p:cNvSpPr>
          <p:nvPr/>
        </p:nvSpPr>
        <p:spPr bwMode="auto">
          <a:xfrm>
            <a:off x="4212000" y="450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3600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sp>
        <p:nvSpPr>
          <p:cNvPr id="2057" name="Text Box 10"/>
          <p:cNvSpPr txBox="1">
            <a:spLocks noChangeArrowheads="1"/>
          </p:cNvSpPr>
          <p:nvPr/>
        </p:nvSpPr>
        <p:spPr bwMode="auto">
          <a:xfrm>
            <a:off x="619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2058" name="Text Box 11"/>
          <p:cNvSpPr txBox="1">
            <a:spLocks noChangeArrowheads="1"/>
          </p:cNvSpPr>
          <p:nvPr/>
        </p:nvSpPr>
        <p:spPr bwMode="auto">
          <a:xfrm>
            <a:off x="4572000" y="32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2059" name="Text Box 12"/>
          <p:cNvSpPr txBox="1">
            <a:spLocks noChangeArrowheads="1"/>
          </p:cNvSpPr>
          <p:nvPr/>
        </p:nvSpPr>
        <p:spPr bwMode="auto">
          <a:xfrm>
            <a:off x="3492000" y="324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2060" name="Text Box 13"/>
          <p:cNvSpPr txBox="1">
            <a:spLocks noChangeArrowheads="1"/>
          </p:cNvSpPr>
          <p:nvPr/>
        </p:nvSpPr>
        <p:spPr bwMode="auto">
          <a:xfrm>
            <a:off x="5652000" y="324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26" name="橢圓 25"/>
          <p:cNvSpPr/>
          <p:nvPr/>
        </p:nvSpPr>
        <p:spPr>
          <a:xfrm>
            <a:off x="3312000" y="216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1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8" name="橢圓 27"/>
          <p:cNvSpPr/>
          <p:nvPr/>
        </p:nvSpPr>
        <p:spPr>
          <a:xfrm>
            <a:off x="3312000" y="432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2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9" name="橢圓 28"/>
          <p:cNvSpPr/>
          <p:nvPr/>
        </p:nvSpPr>
        <p:spPr>
          <a:xfrm>
            <a:off x="5472000" y="216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3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31" name="橢圓 30"/>
          <p:cNvSpPr/>
          <p:nvPr/>
        </p:nvSpPr>
        <p:spPr>
          <a:xfrm>
            <a:off x="5472000" y="432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4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32" name="橢圓 31"/>
          <p:cNvSpPr/>
          <p:nvPr/>
        </p:nvSpPr>
        <p:spPr>
          <a:xfrm>
            <a:off x="2232000" y="3249000"/>
            <a:ext cx="360000" cy="360000"/>
          </a:xfrm>
          <a:prstGeom prst="ellipse">
            <a:avLst/>
          </a:prstGeom>
          <a:solidFill>
            <a:srgbClr val="FFFF0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s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35" name="直線單箭頭接點 34"/>
          <p:cNvCxnSpPr>
            <a:stCxn id="32" idx="7"/>
            <a:endCxn id="26" idx="3"/>
          </p:cNvCxnSpPr>
          <p:nvPr/>
        </p:nvCxnSpPr>
        <p:spPr>
          <a:xfrm flipV="1">
            <a:off x="2539279" y="2476279"/>
            <a:ext cx="825442" cy="825442"/>
          </a:xfrm>
          <a:prstGeom prst="straightConnector1">
            <a:avLst/>
          </a:prstGeom>
          <a:ln w="19050">
            <a:solidFill>
              <a:srgbClr val="FF0000"/>
            </a:solidFill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stCxn id="26" idx="6"/>
            <a:endCxn id="29" idx="2"/>
          </p:cNvCxnSpPr>
          <p:nvPr/>
        </p:nvCxnSpPr>
        <p:spPr>
          <a:xfrm>
            <a:off x="3672000" y="2349000"/>
            <a:ext cx="1800000" cy="0"/>
          </a:xfrm>
          <a:prstGeom prst="straightConnector1">
            <a:avLst/>
          </a:prstGeom>
          <a:ln w="19050">
            <a:solidFill>
              <a:srgbClr val="FF0000"/>
            </a:solidFill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>
            <a:stCxn id="29" idx="3"/>
            <a:endCxn id="28" idx="7"/>
          </p:cNvCxnSpPr>
          <p:nvPr/>
        </p:nvCxnSpPr>
        <p:spPr>
          <a:xfrm flipH="1">
            <a:off x="3619279" y="2476279"/>
            <a:ext cx="1905442" cy="1905442"/>
          </a:xfrm>
          <a:prstGeom prst="straightConnector1">
            <a:avLst/>
          </a:prstGeom>
          <a:ln w="19050">
            <a:solidFill>
              <a:srgbClr val="FF0000"/>
            </a:solidFill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>
            <a:stCxn id="28" idx="6"/>
            <a:endCxn id="31" idx="2"/>
          </p:cNvCxnSpPr>
          <p:nvPr/>
        </p:nvCxnSpPr>
        <p:spPr>
          <a:xfrm>
            <a:off x="3672000" y="4509000"/>
            <a:ext cx="1800000" cy="0"/>
          </a:xfrm>
          <a:prstGeom prst="straightConnector1">
            <a:avLst/>
          </a:prstGeom>
          <a:ln w="19050">
            <a:solidFill>
              <a:srgbClr val="FF0000"/>
            </a:solidFill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>
            <a:stCxn id="28" idx="0"/>
            <a:endCxn id="26" idx="4"/>
          </p:cNvCxnSpPr>
          <p:nvPr/>
        </p:nvCxnSpPr>
        <p:spPr>
          <a:xfrm flipV="1">
            <a:off x="3492000" y="252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>
            <a:stCxn id="29" idx="5"/>
            <a:endCxn id="67" idx="1"/>
          </p:cNvCxnSpPr>
          <p:nvPr/>
        </p:nvCxnSpPr>
        <p:spPr>
          <a:xfrm>
            <a:off x="5779279" y="247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>
            <a:stCxn id="31" idx="0"/>
            <a:endCxn id="29" idx="4"/>
          </p:cNvCxnSpPr>
          <p:nvPr/>
        </p:nvCxnSpPr>
        <p:spPr>
          <a:xfrm flipV="1">
            <a:off x="5652000" y="252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>
            <a:stCxn id="32" idx="5"/>
            <a:endCxn id="28" idx="1"/>
          </p:cNvCxnSpPr>
          <p:nvPr/>
        </p:nvCxnSpPr>
        <p:spPr>
          <a:xfrm>
            <a:off x="2539279" y="355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橢圓 66"/>
          <p:cNvSpPr/>
          <p:nvPr/>
        </p:nvSpPr>
        <p:spPr>
          <a:xfrm>
            <a:off x="6552000" y="3249000"/>
            <a:ext cx="360000" cy="360000"/>
          </a:xfrm>
          <a:prstGeom prst="ellipse">
            <a:avLst/>
          </a:prstGeom>
          <a:solidFill>
            <a:srgbClr val="92D05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t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68" name="直線單箭頭接點 67"/>
          <p:cNvCxnSpPr>
            <a:stCxn id="31" idx="7"/>
            <a:endCxn id="67" idx="3"/>
          </p:cNvCxnSpPr>
          <p:nvPr/>
        </p:nvCxnSpPr>
        <p:spPr>
          <a:xfrm flipV="1">
            <a:off x="5779279" y="3556279"/>
            <a:ext cx="825442" cy="825442"/>
          </a:xfrm>
          <a:prstGeom prst="straightConnector1">
            <a:avLst/>
          </a:prstGeom>
          <a:ln w="19050">
            <a:solidFill>
              <a:srgbClr val="FF0000"/>
            </a:solidFill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7703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4"/>
          <p:cNvSpPr txBox="1">
            <a:spLocks noChangeArrowheads="1"/>
          </p:cNvSpPr>
          <p:nvPr/>
        </p:nvSpPr>
        <p:spPr bwMode="auto">
          <a:xfrm>
            <a:off x="2232000" y="252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72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16</a:t>
            </a:r>
          </a:p>
        </p:txBody>
      </p:sp>
      <p:sp>
        <p:nvSpPr>
          <p:cNvPr id="2053" name="Text Box 6"/>
          <p:cNvSpPr txBox="1">
            <a:spLocks noChangeArrowheads="1"/>
          </p:cNvSpPr>
          <p:nvPr/>
        </p:nvSpPr>
        <p:spPr bwMode="auto">
          <a:xfrm>
            <a:off x="4212000" y="198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2054" name="Text Box 7"/>
          <p:cNvSpPr txBox="1">
            <a:spLocks noChangeArrowheads="1"/>
          </p:cNvSpPr>
          <p:nvPr/>
        </p:nvSpPr>
        <p:spPr bwMode="auto">
          <a:xfrm>
            <a:off x="2232000" y="378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36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2055" name="Text Box 8"/>
          <p:cNvSpPr txBox="1">
            <a:spLocks noChangeArrowheads="1"/>
          </p:cNvSpPr>
          <p:nvPr/>
        </p:nvSpPr>
        <p:spPr bwMode="auto">
          <a:xfrm>
            <a:off x="6192000" y="252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20</a:t>
            </a:r>
          </a:p>
        </p:txBody>
      </p:sp>
      <p:sp>
        <p:nvSpPr>
          <p:cNvPr id="2056" name="Text Box 9"/>
          <p:cNvSpPr txBox="1">
            <a:spLocks noChangeArrowheads="1"/>
          </p:cNvSpPr>
          <p:nvPr/>
        </p:nvSpPr>
        <p:spPr bwMode="auto">
          <a:xfrm>
            <a:off x="4212000" y="450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3600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sp>
        <p:nvSpPr>
          <p:cNvPr id="2057" name="Text Box 10"/>
          <p:cNvSpPr txBox="1">
            <a:spLocks noChangeArrowheads="1"/>
          </p:cNvSpPr>
          <p:nvPr/>
        </p:nvSpPr>
        <p:spPr bwMode="auto">
          <a:xfrm>
            <a:off x="619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2058" name="Text Box 11"/>
          <p:cNvSpPr txBox="1">
            <a:spLocks noChangeArrowheads="1"/>
          </p:cNvSpPr>
          <p:nvPr/>
        </p:nvSpPr>
        <p:spPr bwMode="auto">
          <a:xfrm>
            <a:off x="4572000" y="32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2059" name="Text Box 12"/>
          <p:cNvSpPr txBox="1">
            <a:spLocks noChangeArrowheads="1"/>
          </p:cNvSpPr>
          <p:nvPr/>
        </p:nvSpPr>
        <p:spPr bwMode="auto">
          <a:xfrm>
            <a:off x="3492000" y="324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2060" name="Text Box 13"/>
          <p:cNvSpPr txBox="1">
            <a:spLocks noChangeArrowheads="1"/>
          </p:cNvSpPr>
          <p:nvPr/>
        </p:nvSpPr>
        <p:spPr bwMode="auto">
          <a:xfrm>
            <a:off x="5652000" y="324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26" name="橢圓 25"/>
          <p:cNvSpPr/>
          <p:nvPr/>
        </p:nvSpPr>
        <p:spPr>
          <a:xfrm>
            <a:off x="3312000" y="216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1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8" name="橢圓 27"/>
          <p:cNvSpPr/>
          <p:nvPr/>
        </p:nvSpPr>
        <p:spPr>
          <a:xfrm>
            <a:off x="3312000" y="432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2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9" name="橢圓 28"/>
          <p:cNvSpPr/>
          <p:nvPr/>
        </p:nvSpPr>
        <p:spPr>
          <a:xfrm>
            <a:off x="5472000" y="216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3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31" name="橢圓 30"/>
          <p:cNvSpPr/>
          <p:nvPr/>
        </p:nvSpPr>
        <p:spPr>
          <a:xfrm>
            <a:off x="5472000" y="432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4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32" name="橢圓 31"/>
          <p:cNvSpPr/>
          <p:nvPr/>
        </p:nvSpPr>
        <p:spPr>
          <a:xfrm>
            <a:off x="2232000" y="3249000"/>
            <a:ext cx="360000" cy="360000"/>
          </a:xfrm>
          <a:prstGeom prst="ellipse">
            <a:avLst/>
          </a:prstGeom>
          <a:solidFill>
            <a:srgbClr val="FFFF0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s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35" name="直線單箭頭接點 34"/>
          <p:cNvCxnSpPr>
            <a:stCxn id="32" idx="7"/>
            <a:endCxn id="26" idx="3"/>
          </p:cNvCxnSpPr>
          <p:nvPr/>
        </p:nvCxnSpPr>
        <p:spPr>
          <a:xfrm flipV="1">
            <a:off x="2539279" y="247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stCxn id="26" idx="6"/>
            <a:endCxn id="29" idx="2"/>
          </p:cNvCxnSpPr>
          <p:nvPr/>
        </p:nvCxnSpPr>
        <p:spPr>
          <a:xfrm>
            <a:off x="3672000" y="234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>
            <a:stCxn id="29" idx="3"/>
            <a:endCxn id="28" idx="7"/>
          </p:cNvCxnSpPr>
          <p:nvPr/>
        </p:nvCxnSpPr>
        <p:spPr>
          <a:xfrm flipH="1">
            <a:off x="3619279" y="2476279"/>
            <a:ext cx="1905442" cy="190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>
            <a:stCxn id="28" idx="6"/>
            <a:endCxn id="31" idx="2"/>
          </p:cNvCxnSpPr>
          <p:nvPr/>
        </p:nvCxnSpPr>
        <p:spPr>
          <a:xfrm>
            <a:off x="3672000" y="450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>
            <a:stCxn id="28" idx="0"/>
            <a:endCxn id="26" idx="4"/>
          </p:cNvCxnSpPr>
          <p:nvPr/>
        </p:nvCxnSpPr>
        <p:spPr>
          <a:xfrm flipV="1">
            <a:off x="3492000" y="252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>
            <a:stCxn id="29" idx="5"/>
            <a:endCxn id="67" idx="1"/>
          </p:cNvCxnSpPr>
          <p:nvPr/>
        </p:nvCxnSpPr>
        <p:spPr>
          <a:xfrm>
            <a:off x="5779279" y="247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>
            <a:stCxn id="31" idx="0"/>
            <a:endCxn id="29" idx="4"/>
          </p:cNvCxnSpPr>
          <p:nvPr/>
        </p:nvCxnSpPr>
        <p:spPr>
          <a:xfrm flipV="1">
            <a:off x="5652000" y="252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>
            <a:stCxn id="32" idx="5"/>
            <a:endCxn id="28" idx="1"/>
          </p:cNvCxnSpPr>
          <p:nvPr/>
        </p:nvCxnSpPr>
        <p:spPr>
          <a:xfrm>
            <a:off x="2539279" y="355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橢圓 66"/>
          <p:cNvSpPr/>
          <p:nvPr/>
        </p:nvSpPr>
        <p:spPr>
          <a:xfrm>
            <a:off x="6552000" y="3249000"/>
            <a:ext cx="360000" cy="360000"/>
          </a:xfrm>
          <a:prstGeom prst="ellipse">
            <a:avLst/>
          </a:prstGeom>
          <a:solidFill>
            <a:srgbClr val="92D05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t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68" name="直線單箭頭接點 67"/>
          <p:cNvCxnSpPr>
            <a:stCxn id="31" idx="7"/>
            <a:endCxn id="67" idx="3"/>
          </p:cNvCxnSpPr>
          <p:nvPr/>
        </p:nvCxnSpPr>
        <p:spPr>
          <a:xfrm flipV="1">
            <a:off x="5779279" y="355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233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4"/>
          <p:cNvSpPr txBox="1">
            <a:spLocks noChangeArrowheads="1"/>
          </p:cNvSpPr>
          <p:nvPr/>
        </p:nvSpPr>
        <p:spPr bwMode="auto">
          <a:xfrm>
            <a:off x="2232000" y="252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72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16</a:t>
            </a:r>
          </a:p>
        </p:txBody>
      </p:sp>
      <p:sp>
        <p:nvSpPr>
          <p:cNvPr id="2053" name="Text Box 6"/>
          <p:cNvSpPr txBox="1">
            <a:spLocks noChangeArrowheads="1"/>
          </p:cNvSpPr>
          <p:nvPr/>
        </p:nvSpPr>
        <p:spPr bwMode="auto">
          <a:xfrm>
            <a:off x="4212000" y="198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2054" name="Text Box 7"/>
          <p:cNvSpPr txBox="1">
            <a:spLocks noChangeArrowheads="1"/>
          </p:cNvSpPr>
          <p:nvPr/>
        </p:nvSpPr>
        <p:spPr bwMode="auto">
          <a:xfrm>
            <a:off x="2232000" y="378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36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2055" name="Text Box 8"/>
          <p:cNvSpPr txBox="1">
            <a:spLocks noChangeArrowheads="1"/>
          </p:cNvSpPr>
          <p:nvPr/>
        </p:nvSpPr>
        <p:spPr bwMode="auto">
          <a:xfrm>
            <a:off x="6192000" y="252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20</a:t>
            </a:r>
          </a:p>
        </p:txBody>
      </p:sp>
      <p:sp>
        <p:nvSpPr>
          <p:cNvPr id="2056" name="Text Box 9"/>
          <p:cNvSpPr txBox="1">
            <a:spLocks noChangeArrowheads="1"/>
          </p:cNvSpPr>
          <p:nvPr/>
        </p:nvSpPr>
        <p:spPr bwMode="auto">
          <a:xfrm>
            <a:off x="4212000" y="450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3600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sp>
        <p:nvSpPr>
          <p:cNvPr id="2057" name="Text Box 10"/>
          <p:cNvSpPr txBox="1">
            <a:spLocks noChangeArrowheads="1"/>
          </p:cNvSpPr>
          <p:nvPr/>
        </p:nvSpPr>
        <p:spPr bwMode="auto">
          <a:xfrm>
            <a:off x="619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2058" name="Text Box 11"/>
          <p:cNvSpPr txBox="1">
            <a:spLocks noChangeArrowheads="1"/>
          </p:cNvSpPr>
          <p:nvPr/>
        </p:nvSpPr>
        <p:spPr bwMode="auto">
          <a:xfrm>
            <a:off x="4572000" y="32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2059" name="Text Box 12"/>
          <p:cNvSpPr txBox="1">
            <a:spLocks noChangeArrowheads="1"/>
          </p:cNvSpPr>
          <p:nvPr/>
        </p:nvSpPr>
        <p:spPr bwMode="auto">
          <a:xfrm>
            <a:off x="3492000" y="324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2060" name="Text Box 13"/>
          <p:cNvSpPr txBox="1">
            <a:spLocks noChangeArrowheads="1"/>
          </p:cNvSpPr>
          <p:nvPr/>
        </p:nvSpPr>
        <p:spPr bwMode="auto">
          <a:xfrm>
            <a:off x="5652000" y="324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26" name="橢圓 25"/>
          <p:cNvSpPr/>
          <p:nvPr/>
        </p:nvSpPr>
        <p:spPr>
          <a:xfrm>
            <a:off x="3312000" y="216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1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8" name="橢圓 27"/>
          <p:cNvSpPr/>
          <p:nvPr/>
        </p:nvSpPr>
        <p:spPr>
          <a:xfrm>
            <a:off x="3312000" y="432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2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9" name="橢圓 28"/>
          <p:cNvSpPr/>
          <p:nvPr/>
        </p:nvSpPr>
        <p:spPr>
          <a:xfrm>
            <a:off x="5472000" y="216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3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31" name="橢圓 30"/>
          <p:cNvSpPr/>
          <p:nvPr/>
        </p:nvSpPr>
        <p:spPr>
          <a:xfrm>
            <a:off x="5472000" y="432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4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32" name="橢圓 31"/>
          <p:cNvSpPr/>
          <p:nvPr/>
        </p:nvSpPr>
        <p:spPr>
          <a:xfrm>
            <a:off x="2232000" y="3249000"/>
            <a:ext cx="360000" cy="360000"/>
          </a:xfrm>
          <a:prstGeom prst="ellipse">
            <a:avLst/>
          </a:prstGeom>
          <a:solidFill>
            <a:srgbClr val="FFFF0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s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35" name="直線單箭頭接點 34"/>
          <p:cNvCxnSpPr>
            <a:stCxn id="32" idx="7"/>
            <a:endCxn id="26" idx="3"/>
          </p:cNvCxnSpPr>
          <p:nvPr/>
        </p:nvCxnSpPr>
        <p:spPr>
          <a:xfrm flipV="1">
            <a:off x="2539279" y="2476279"/>
            <a:ext cx="825442" cy="825442"/>
          </a:xfrm>
          <a:prstGeom prst="straightConnector1">
            <a:avLst/>
          </a:prstGeom>
          <a:ln w="19050">
            <a:solidFill>
              <a:srgbClr val="FF0000"/>
            </a:solidFill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stCxn id="26" idx="6"/>
            <a:endCxn id="29" idx="2"/>
          </p:cNvCxnSpPr>
          <p:nvPr/>
        </p:nvCxnSpPr>
        <p:spPr>
          <a:xfrm>
            <a:off x="3672000" y="2349000"/>
            <a:ext cx="1800000" cy="0"/>
          </a:xfrm>
          <a:prstGeom prst="straightConnector1">
            <a:avLst/>
          </a:prstGeom>
          <a:ln w="19050">
            <a:solidFill>
              <a:srgbClr val="FF0000"/>
            </a:solidFill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>
            <a:stCxn id="29" idx="3"/>
            <a:endCxn id="28" idx="7"/>
          </p:cNvCxnSpPr>
          <p:nvPr/>
        </p:nvCxnSpPr>
        <p:spPr>
          <a:xfrm flipH="1">
            <a:off x="3619279" y="2476279"/>
            <a:ext cx="1905442" cy="190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>
            <a:stCxn id="28" idx="6"/>
            <a:endCxn id="31" idx="2"/>
          </p:cNvCxnSpPr>
          <p:nvPr/>
        </p:nvCxnSpPr>
        <p:spPr>
          <a:xfrm>
            <a:off x="3672000" y="450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>
            <a:stCxn id="28" idx="0"/>
            <a:endCxn id="26" idx="4"/>
          </p:cNvCxnSpPr>
          <p:nvPr/>
        </p:nvCxnSpPr>
        <p:spPr>
          <a:xfrm flipV="1">
            <a:off x="3492000" y="252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>
            <a:stCxn id="29" idx="5"/>
            <a:endCxn id="67" idx="1"/>
          </p:cNvCxnSpPr>
          <p:nvPr/>
        </p:nvCxnSpPr>
        <p:spPr>
          <a:xfrm>
            <a:off x="5779279" y="2476279"/>
            <a:ext cx="825442" cy="825442"/>
          </a:xfrm>
          <a:prstGeom prst="straightConnector1">
            <a:avLst/>
          </a:prstGeom>
          <a:ln w="19050">
            <a:solidFill>
              <a:srgbClr val="FF0000"/>
            </a:solidFill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>
            <a:stCxn id="31" idx="0"/>
            <a:endCxn id="29" idx="4"/>
          </p:cNvCxnSpPr>
          <p:nvPr/>
        </p:nvCxnSpPr>
        <p:spPr>
          <a:xfrm flipV="1">
            <a:off x="5652000" y="252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>
            <a:stCxn id="32" idx="5"/>
            <a:endCxn id="28" idx="1"/>
          </p:cNvCxnSpPr>
          <p:nvPr/>
        </p:nvCxnSpPr>
        <p:spPr>
          <a:xfrm>
            <a:off x="2539279" y="355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橢圓 66"/>
          <p:cNvSpPr/>
          <p:nvPr/>
        </p:nvSpPr>
        <p:spPr>
          <a:xfrm>
            <a:off x="6552000" y="3249000"/>
            <a:ext cx="360000" cy="360000"/>
          </a:xfrm>
          <a:prstGeom prst="ellipse">
            <a:avLst/>
          </a:prstGeom>
          <a:solidFill>
            <a:srgbClr val="92D05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t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68" name="直線單箭頭接點 67"/>
          <p:cNvCxnSpPr>
            <a:stCxn id="31" idx="7"/>
            <a:endCxn id="67" idx="3"/>
          </p:cNvCxnSpPr>
          <p:nvPr/>
        </p:nvCxnSpPr>
        <p:spPr>
          <a:xfrm flipV="1">
            <a:off x="5779279" y="355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5803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4"/>
          <p:cNvSpPr txBox="1">
            <a:spLocks noChangeArrowheads="1"/>
          </p:cNvSpPr>
          <p:nvPr/>
        </p:nvSpPr>
        <p:spPr bwMode="auto">
          <a:xfrm>
            <a:off x="2232000" y="252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72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12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16</a:t>
            </a:r>
          </a:p>
        </p:txBody>
      </p:sp>
      <p:sp>
        <p:nvSpPr>
          <p:cNvPr id="2053" name="Text Box 6"/>
          <p:cNvSpPr txBox="1">
            <a:spLocks noChangeArrowheads="1"/>
          </p:cNvSpPr>
          <p:nvPr/>
        </p:nvSpPr>
        <p:spPr bwMode="auto">
          <a:xfrm>
            <a:off x="4212000" y="198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2054" name="Text Box 7"/>
          <p:cNvSpPr txBox="1">
            <a:spLocks noChangeArrowheads="1"/>
          </p:cNvSpPr>
          <p:nvPr/>
        </p:nvSpPr>
        <p:spPr bwMode="auto">
          <a:xfrm>
            <a:off x="2232000" y="378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36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2055" name="Text Box 8"/>
          <p:cNvSpPr txBox="1">
            <a:spLocks noChangeArrowheads="1"/>
          </p:cNvSpPr>
          <p:nvPr/>
        </p:nvSpPr>
        <p:spPr bwMode="auto">
          <a:xfrm>
            <a:off x="6192000" y="252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8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20</a:t>
            </a:r>
          </a:p>
        </p:txBody>
      </p:sp>
      <p:sp>
        <p:nvSpPr>
          <p:cNvPr id="2056" name="Text Box 9"/>
          <p:cNvSpPr txBox="1">
            <a:spLocks noChangeArrowheads="1"/>
          </p:cNvSpPr>
          <p:nvPr/>
        </p:nvSpPr>
        <p:spPr bwMode="auto">
          <a:xfrm>
            <a:off x="4212000" y="450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3600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sp>
        <p:nvSpPr>
          <p:cNvPr id="2057" name="Text Box 10"/>
          <p:cNvSpPr txBox="1">
            <a:spLocks noChangeArrowheads="1"/>
          </p:cNvSpPr>
          <p:nvPr/>
        </p:nvSpPr>
        <p:spPr bwMode="auto">
          <a:xfrm>
            <a:off x="619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2058" name="Text Box 11"/>
          <p:cNvSpPr txBox="1">
            <a:spLocks noChangeArrowheads="1"/>
          </p:cNvSpPr>
          <p:nvPr/>
        </p:nvSpPr>
        <p:spPr bwMode="auto">
          <a:xfrm>
            <a:off x="4572000" y="32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2059" name="Text Box 12"/>
          <p:cNvSpPr txBox="1">
            <a:spLocks noChangeArrowheads="1"/>
          </p:cNvSpPr>
          <p:nvPr/>
        </p:nvSpPr>
        <p:spPr bwMode="auto">
          <a:xfrm>
            <a:off x="3492000" y="324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2060" name="Text Box 13"/>
          <p:cNvSpPr txBox="1">
            <a:spLocks noChangeArrowheads="1"/>
          </p:cNvSpPr>
          <p:nvPr/>
        </p:nvSpPr>
        <p:spPr bwMode="auto">
          <a:xfrm>
            <a:off x="5652000" y="324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26" name="橢圓 25"/>
          <p:cNvSpPr/>
          <p:nvPr/>
        </p:nvSpPr>
        <p:spPr>
          <a:xfrm>
            <a:off x="3312000" y="216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1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8" name="橢圓 27"/>
          <p:cNvSpPr/>
          <p:nvPr/>
        </p:nvSpPr>
        <p:spPr>
          <a:xfrm>
            <a:off x="3312000" y="432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2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9" name="橢圓 28"/>
          <p:cNvSpPr/>
          <p:nvPr/>
        </p:nvSpPr>
        <p:spPr>
          <a:xfrm>
            <a:off x="5472000" y="216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3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31" name="橢圓 30"/>
          <p:cNvSpPr/>
          <p:nvPr/>
        </p:nvSpPr>
        <p:spPr>
          <a:xfrm>
            <a:off x="5472000" y="432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4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32" name="橢圓 31"/>
          <p:cNvSpPr/>
          <p:nvPr/>
        </p:nvSpPr>
        <p:spPr>
          <a:xfrm>
            <a:off x="2232000" y="3249000"/>
            <a:ext cx="360000" cy="360000"/>
          </a:xfrm>
          <a:prstGeom prst="ellipse">
            <a:avLst/>
          </a:prstGeom>
          <a:solidFill>
            <a:srgbClr val="FFFF0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s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35" name="直線單箭頭接點 34"/>
          <p:cNvCxnSpPr>
            <a:stCxn id="32" idx="7"/>
            <a:endCxn id="26" idx="3"/>
          </p:cNvCxnSpPr>
          <p:nvPr/>
        </p:nvCxnSpPr>
        <p:spPr>
          <a:xfrm flipV="1">
            <a:off x="2539279" y="247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stCxn id="26" idx="6"/>
            <a:endCxn id="29" idx="2"/>
          </p:cNvCxnSpPr>
          <p:nvPr/>
        </p:nvCxnSpPr>
        <p:spPr>
          <a:xfrm>
            <a:off x="3672000" y="234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>
            <a:stCxn id="29" idx="3"/>
            <a:endCxn id="28" idx="7"/>
          </p:cNvCxnSpPr>
          <p:nvPr/>
        </p:nvCxnSpPr>
        <p:spPr>
          <a:xfrm flipH="1">
            <a:off x="3619279" y="2476279"/>
            <a:ext cx="1905442" cy="190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>
            <a:stCxn id="28" idx="6"/>
            <a:endCxn id="31" idx="2"/>
          </p:cNvCxnSpPr>
          <p:nvPr/>
        </p:nvCxnSpPr>
        <p:spPr>
          <a:xfrm>
            <a:off x="3672000" y="450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>
            <a:stCxn id="28" idx="0"/>
            <a:endCxn id="26" idx="4"/>
          </p:cNvCxnSpPr>
          <p:nvPr/>
        </p:nvCxnSpPr>
        <p:spPr>
          <a:xfrm flipV="1">
            <a:off x="3492000" y="252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>
            <a:stCxn id="29" idx="5"/>
            <a:endCxn id="67" idx="1"/>
          </p:cNvCxnSpPr>
          <p:nvPr/>
        </p:nvCxnSpPr>
        <p:spPr>
          <a:xfrm>
            <a:off x="5779279" y="247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>
            <a:stCxn id="31" idx="0"/>
            <a:endCxn id="29" idx="4"/>
          </p:cNvCxnSpPr>
          <p:nvPr/>
        </p:nvCxnSpPr>
        <p:spPr>
          <a:xfrm flipV="1">
            <a:off x="5652000" y="252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>
            <a:stCxn id="32" idx="5"/>
            <a:endCxn id="28" idx="1"/>
          </p:cNvCxnSpPr>
          <p:nvPr/>
        </p:nvCxnSpPr>
        <p:spPr>
          <a:xfrm>
            <a:off x="2539279" y="355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橢圓 66"/>
          <p:cNvSpPr/>
          <p:nvPr/>
        </p:nvSpPr>
        <p:spPr>
          <a:xfrm>
            <a:off x="6552000" y="3249000"/>
            <a:ext cx="360000" cy="360000"/>
          </a:xfrm>
          <a:prstGeom prst="ellipse">
            <a:avLst/>
          </a:prstGeom>
          <a:solidFill>
            <a:srgbClr val="92D05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t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68" name="直線單箭頭接點 67"/>
          <p:cNvCxnSpPr>
            <a:stCxn id="31" idx="7"/>
            <a:endCxn id="67" idx="3"/>
          </p:cNvCxnSpPr>
          <p:nvPr/>
        </p:nvCxnSpPr>
        <p:spPr>
          <a:xfrm flipV="1">
            <a:off x="5779279" y="355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578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4"/>
          <p:cNvSpPr txBox="1">
            <a:spLocks noChangeArrowheads="1"/>
          </p:cNvSpPr>
          <p:nvPr/>
        </p:nvSpPr>
        <p:spPr bwMode="auto">
          <a:xfrm>
            <a:off x="2232000" y="252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72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12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16</a:t>
            </a:r>
          </a:p>
        </p:txBody>
      </p:sp>
      <p:sp>
        <p:nvSpPr>
          <p:cNvPr id="2053" name="Text Box 6"/>
          <p:cNvSpPr txBox="1">
            <a:spLocks noChangeArrowheads="1"/>
          </p:cNvSpPr>
          <p:nvPr/>
        </p:nvSpPr>
        <p:spPr bwMode="auto">
          <a:xfrm>
            <a:off x="4212000" y="198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2054" name="Text Box 7"/>
          <p:cNvSpPr txBox="1">
            <a:spLocks noChangeArrowheads="1"/>
          </p:cNvSpPr>
          <p:nvPr/>
        </p:nvSpPr>
        <p:spPr bwMode="auto">
          <a:xfrm>
            <a:off x="2232000" y="378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36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2055" name="Text Box 8"/>
          <p:cNvSpPr txBox="1">
            <a:spLocks noChangeArrowheads="1"/>
          </p:cNvSpPr>
          <p:nvPr/>
        </p:nvSpPr>
        <p:spPr bwMode="auto">
          <a:xfrm>
            <a:off x="6192000" y="252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8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20</a:t>
            </a:r>
          </a:p>
        </p:txBody>
      </p:sp>
      <p:sp>
        <p:nvSpPr>
          <p:cNvPr id="2056" name="Text Box 9"/>
          <p:cNvSpPr txBox="1">
            <a:spLocks noChangeArrowheads="1"/>
          </p:cNvSpPr>
          <p:nvPr/>
        </p:nvSpPr>
        <p:spPr bwMode="auto">
          <a:xfrm>
            <a:off x="4212000" y="450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3600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sp>
        <p:nvSpPr>
          <p:cNvPr id="2057" name="Text Box 10"/>
          <p:cNvSpPr txBox="1">
            <a:spLocks noChangeArrowheads="1"/>
          </p:cNvSpPr>
          <p:nvPr/>
        </p:nvSpPr>
        <p:spPr bwMode="auto">
          <a:xfrm>
            <a:off x="619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2058" name="Text Box 11"/>
          <p:cNvSpPr txBox="1">
            <a:spLocks noChangeArrowheads="1"/>
          </p:cNvSpPr>
          <p:nvPr/>
        </p:nvSpPr>
        <p:spPr bwMode="auto">
          <a:xfrm>
            <a:off x="4572000" y="32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2059" name="Text Box 12"/>
          <p:cNvSpPr txBox="1">
            <a:spLocks noChangeArrowheads="1"/>
          </p:cNvSpPr>
          <p:nvPr/>
        </p:nvSpPr>
        <p:spPr bwMode="auto">
          <a:xfrm>
            <a:off x="3492000" y="324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2060" name="Text Box 13"/>
          <p:cNvSpPr txBox="1">
            <a:spLocks noChangeArrowheads="1"/>
          </p:cNvSpPr>
          <p:nvPr/>
        </p:nvSpPr>
        <p:spPr bwMode="auto">
          <a:xfrm>
            <a:off x="5652000" y="324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26" name="橢圓 25"/>
          <p:cNvSpPr/>
          <p:nvPr/>
        </p:nvSpPr>
        <p:spPr>
          <a:xfrm>
            <a:off x="3312000" y="216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1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8" name="橢圓 27"/>
          <p:cNvSpPr/>
          <p:nvPr/>
        </p:nvSpPr>
        <p:spPr>
          <a:xfrm>
            <a:off x="3312000" y="432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2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9" name="橢圓 28"/>
          <p:cNvSpPr/>
          <p:nvPr/>
        </p:nvSpPr>
        <p:spPr>
          <a:xfrm>
            <a:off x="5472000" y="216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3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31" name="橢圓 30"/>
          <p:cNvSpPr/>
          <p:nvPr/>
        </p:nvSpPr>
        <p:spPr>
          <a:xfrm>
            <a:off x="5472000" y="432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4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32" name="橢圓 31"/>
          <p:cNvSpPr/>
          <p:nvPr/>
        </p:nvSpPr>
        <p:spPr>
          <a:xfrm>
            <a:off x="2232000" y="3249000"/>
            <a:ext cx="360000" cy="360000"/>
          </a:xfrm>
          <a:prstGeom prst="ellipse">
            <a:avLst/>
          </a:prstGeom>
          <a:solidFill>
            <a:srgbClr val="FFFF0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s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35" name="直線單箭頭接點 34"/>
          <p:cNvCxnSpPr>
            <a:stCxn id="32" idx="7"/>
            <a:endCxn id="26" idx="3"/>
          </p:cNvCxnSpPr>
          <p:nvPr/>
        </p:nvCxnSpPr>
        <p:spPr>
          <a:xfrm flipV="1">
            <a:off x="2539279" y="247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stCxn id="26" idx="6"/>
            <a:endCxn id="29" idx="2"/>
          </p:cNvCxnSpPr>
          <p:nvPr/>
        </p:nvCxnSpPr>
        <p:spPr>
          <a:xfrm>
            <a:off x="3672000" y="234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>
            <a:stCxn id="29" idx="3"/>
            <a:endCxn id="28" idx="7"/>
          </p:cNvCxnSpPr>
          <p:nvPr/>
        </p:nvCxnSpPr>
        <p:spPr>
          <a:xfrm flipH="1">
            <a:off x="3619279" y="2476279"/>
            <a:ext cx="1905442" cy="190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>
            <a:stCxn id="28" idx="6"/>
            <a:endCxn id="31" idx="2"/>
          </p:cNvCxnSpPr>
          <p:nvPr/>
        </p:nvCxnSpPr>
        <p:spPr>
          <a:xfrm>
            <a:off x="3672000" y="4509000"/>
            <a:ext cx="1800000" cy="0"/>
          </a:xfrm>
          <a:prstGeom prst="straightConnector1">
            <a:avLst/>
          </a:prstGeom>
          <a:ln w="19050">
            <a:solidFill>
              <a:srgbClr val="FF0000"/>
            </a:solidFill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>
            <a:stCxn id="28" idx="0"/>
            <a:endCxn id="26" idx="4"/>
          </p:cNvCxnSpPr>
          <p:nvPr/>
        </p:nvCxnSpPr>
        <p:spPr>
          <a:xfrm flipV="1">
            <a:off x="3492000" y="252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>
            <a:stCxn id="29" idx="5"/>
            <a:endCxn id="67" idx="1"/>
          </p:cNvCxnSpPr>
          <p:nvPr/>
        </p:nvCxnSpPr>
        <p:spPr>
          <a:xfrm>
            <a:off x="5779279" y="2476279"/>
            <a:ext cx="825442" cy="825442"/>
          </a:xfrm>
          <a:prstGeom prst="straightConnector1">
            <a:avLst/>
          </a:prstGeom>
          <a:ln w="19050">
            <a:solidFill>
              <a:srgbClr val="FF0000"/>
            </a:solidFill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>
            <a:stCxn id="31" idx="0"/>
            <a:endCxn id="29" idx="4"/>
          </p:cNvCxnSpPr>
          <p:nvPr/>
        </p:nvCxnSpPr>
        <p:spPr>
          <a:xfrm flipV="1">
            <a:off x="5652000" y="2529000"/>
            <a:ext cx="0" cy="1800000"/>
          </a:xfrm>
          <a:prstGeom prst="straightConnector1">
            <a:avLst/>
          </a:prstGeom>
          <a:ln w="19050">
            <a:solidFill>
              <a:srgbClr val="FF0000"/>
            </a:solidFill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>
            <a:stCxn id="32" idx="5"/>
            <a:endCxn id="28" idx="1"/>
          </p:cNvCxnSpPr>
          <p:nvPr/>
        </p:nvCxnSpPr>
        <p:spPr>
          <a:xfrm>
            <a:off x="2539279" y="3556279"/>
            <a:ext cx="825442" cy="825442"/>
          </a:xfrm>
          <a:prstGeom prst="straightConnector1">
            <a:avLst/>
          </a:prstGeom>
          <a:ln w="19050">
            <a:solidFill>
              <a:srgbClr val="FF0000"/>
            </a:solidFill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橢圓 66"/>
          <p:cNvSpPr/>
          <p:nvPr/>
        </p:nvSpPr>
        <p:spPr>
          <a:xfrm>
            <a:off x="6552000" y="3249000"/>
            <a:ext cx="360000" cy="360000"/>
          </a:xfrm>
          <a:prstGeom prst="ellipse">
            <a:avLst/>
          </a:prstGeom>
          <a:solidFill>
            <a:srgbClr val="92D05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t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68" name="直線單箭頭接點 67"/>
          <p:cNvCxnSpPr>
            <a:stCxn id="31" idx="7"/>
            <a:endCxn id="67" idx="3"/>
          </p:cNvCxnSpPr>
          <p:nvPr/>
        </p:nvCxnSpPr>
        <p:spPr>
          <a:xfrm flipV="1">
            <a:off x="5779279" y="355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2498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4"/>
          <p:cNvSpPr txBox="1">
            <a:spLocks noChangeArrowheads="1"/>
          </p:cNvSpPr>
          <p:nvPr/>
        </p:nvSpPr>
        <p:spPr bwMode="auto">
          <a:xfrm>
            <a:off x="2232000" y="252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72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12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16</a:t>
            </a:r>
          </a:p>
        </p:txBody>
      </p:sp>
      <p:sp>
        <p:nvSpPr>
          <p:cNvPr id="2053" name="Text Box 6"/>
          <p:cNvSpPr txBox="1">
            <a:spLocks noChangeArrowheads="1"/>
          </p:cNvSpPr>
          <p:nvPr/>
        </p:nvSpPr>
        <p:spPr bwMode="auto">
          <a:xfrm>
            <a:off x="4212000" y="198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2054" name="Text Box 7"/>
          <p:cNvSpPr txBox="1">
            <a:spLocks noChangeArrowheads="1"/>
          </p:cNvSpPr>
          <p:nvPr/>
        </p:nvSpPr>
        <p:spPr bwMode="auto">
          <a:xfrm>
            <a:off x="2232000" y="378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36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2055" name="Text Box 8"/>
          <p:cNvSpPr txBox="1">
            <a:spLocks noChangeArrowheads="1"/>
          </p:cNvSpPr>
          <p:nvPr/>
        </p:nvSpPr>
        <p:spPr bwMode="auto">
          <a:xfrm>
            <a:off x="6192000" y="252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15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20</a:t>
            </a:r>
          </a:p>
        </p:txBody>
      </p:sp>
      <p:sp>
        <p:nvSpPr>
          <p:cNvPr id="2056" name="Text Box 9"/>
          <p:cNvSpPr txBox="1">
            <a:spLocks noChangeArrowheads="1"/>
          </p:cNvSpPr>
          <p:nvPr/>
        </p:nvSpPr>
        <p:spPr bwMode="auto">
          <a:xfrm>
            <a:off x="4212000" y="450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3600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sp>
        <p:nvSpPr>
          <p:cNvPr id="2057" name="Text Box 10"/>
          <p:cNvSpPr txBox="1">
            <a:spLocks noChangeArrowheads="1"/>
          </p:cNvSpPr>
          <p:nvPr/>
        </p:nvSpPr>
        <p:spPr bwMode="auto">
          <a:xfrm>
            <a:off x="619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2058" name="Text Box 11"/>
          <p:cNvSpPr txBox="1">
            <a:spLocks noChangeArrowheads="1"/>
          </p:cNvSpPr>
          <p:nvPr/>
        </p:nvSpPr>
        <p:spPr bwMode="auto">
          <a:xfrm>
            <a:off x="4572000" y="32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2059" name="Text Box 12"/>
          <p:cNvSpPr txBox="1">
            <a:spLocks noChangeArrowheads="1"/>
          </p:cNvSpPr>
          <p:nvPr/>
        </p:nvSpPr>
        <p:spPr bwMode="auto">
          <a:xfrm>
            <a:off x="3492000" y="324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2060" name="Text Box 13"/>
          <p:cNvSpPr txBox="1">
            <a:spLocks noChangeArrowheads="1"/>
          </p:cNvSpPr>
          <p:nvPr/>
        </p:nvSpPr>
        <p:spPr bwMode="auto">
          <a:xfrm>
            <a:off x="5652000" y="324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26" name="橢圓 25"/>
          <p:cNvSpPr/>
          <p:nvPr/>
        </p:nvSpPr>
        <p:spPr>
          <a:xfrm>
            <a:off x="3312000" y="216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1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8" name="橢圓 27"/>
          <p:cNvSpPr/>
          <p:nvPr/>
        </p:nvSpPr>
        <p:spPr>
          <a:xfrm>
            <a:off x="3312000" y="432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2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9" name="橢圓 28"/>
          <p:cNvSpPr/>
          <p:nvPr/>
        </p:nvSpPr>
        <p:spPr>
          <a:xfrm>
            <a:off x="5472000" y="216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3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31" name="橢圓 30"/>
          <p:cNvSpPr/>
          <p:nvPr/>
        </p:nvSpPr>
        <p:spPr>
          <a:xfrm>
            <a:off x="5472000" y="432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4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32" name="橢圓 31"/>
          <p:cNvSpPr/>
          <p:nvPr/>
        </p:nvSpPr>
        <p:spPr>
          <a:xfrm>
            <a:off x="2232000" y="3249000"/>
            <a:ext cx="360000" cy="360000"/>
          </a:xfrm>
          <a:prstGeom prst="ellipse">
            <a:avLst/>
          </a:prstGeom>
          <a:solidFill>
            <a:srgbClr val="FFFF0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s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35" name="直線單箭頭接點 34"/>
          <p:cNvCxnSpPr>
            <a:stCxn id="32" idx="7"/>
            <a:endCxn id="26" idx="3"/>
          </p:cNvCxnSpPr>
          <p:nvPr/>
        </p:nvCxnSpPr>
        <p:spPr>
          <a:xfrm flipV="1">
            <a:off x="2539279" y="247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stCxn id="26" idx="6"/>
            <a:endCxn id="29" idx="2"/>
          </p:cNvCxnSpPr>
          <p:nvPr/>
        </p:nvCxnSpPr>
        <p:spPr>
          <a:xfrm>
            <a:off x="3672000" y="234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>
            <a:stCxn id="29" idx="3"/>
            <a:endCxn id="28" idx="7"/>
          </p:cNvCxnSpPr>
          <p:nvPr/>
        </p:nvCxnSpPr>
        <p:spPr>
          <a:xfrm flipH="1">
            <a:off x="3619279" y="2476279"/>
            <a:ext cx="1905442" cy="190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>
            <a:stCxn id="28" idx="6"/>
            <a:endCxn id="31" idx="2"/>
          </p:cNvCxnSpPr>
          <p:nvPr/>
        </p:nvCxnSpPr>
        <p:spPr>
          <a:xfrm>
            <a:off x="3672000" y="450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>
            <a:stCxn id="28" idx="0"/>
            <a:endCxn id="26" idx="4"/>
          </p:cNvCxnSpPr>
          <p:nvPr/>
        </p:nvCxnSpPr>
        <p:spPr>
          <a:xfrm flipV="1">
            <a:off x="3492000" y="252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>
            <a:stCxn id="29" idx="5"/>
            <a:endCxn id="67" idx="1"/>
          </p:cNvCxnSpPr>
          <p:nvPr/>
        </p:nvCxnSpPr>
        <p:spPr>
          <a:xfrm>
            <a:off x="5779279" y="247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>
            <a:stCxn id="31" idx="0"/>
            <a:endCxn id="29" idx="4"/>
          </p:cNvCxnSpPr>
          <p:nvPr/>
        </p:nvCxnSpPr>
        <p:spPr>
          <a:xfrm flipV="1">
            <a:off x="5652000" y="252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>
            <a:stCxn id="32" idx="5"/>
            <a:endCxn id="28" idx="1"/>
          </p:cNvCxnSpPr>
          <p:nvPr/>
        </p:nvCxnSpPr>
        <p:spPr>
          <a:xfrm>
            <a:off x="2539279" y="355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橢圓 66"/>
          <p:cNvSpPr/>
          <p:nvPr/>
        </p:nvSpPr>
        <p:spPr>
          <a:xfrm>
            <a:off x="6552000" y="3249000"/>
            <a:ext cx="360000" cy="360000"/>
          </a:xfrm>
          <a:prstGeom prst="ellipse">
            <a:avLst/>
          </a:prstGeom>
          <a:solidFill>
            <a:srgbClr val="92D05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t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68" name="直線單箭頭接點 67"/>
          <p:cNvCxnSpPr>
            <a:stCxn id="31" idx="7"/>
            <a:endCxn id="67" idx="3"/>
          </p:cNvCxnSpPr>
          <p:nvPr/>
        </p:nvCxnSpPr>
        <p:spPr>
          <a:xfrm flipV="1">
            <a:off x="5779279" y="355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500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4"/>
          <p:cNvSpPr txBox="1">
            <a:spLocks noChangeArrowheads="1"/>
          </p:cNvSpPr>
          <p:nvPr/>
        </p:nvSpPr>
        <p:spPr bwMode="auto">
          <a:xfrm>
            <a:off x="2232000" y="252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72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12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16</a:t>
            </a:r>
          </a:p>
        </p:txBody>
      </p:sp>
      <p:sp>
        <p:nvSpPr>
          <p:cNvPr id="2053" name="Text Box 6"/>
          <p:cNvSpPr txBox="1">
            <a:spLocks noChangeArrowheads="1"/>
          </p:cNvSpPr>
          <p:nvPr/>
        </p:nvSpPr>
        <p:spPr bwMode="auto">
          <a:xfrm>
            <a:off x="4212000" y="198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2054" name="Text Box 7"/>
          <p:cNvSpPr txBox="1">
            <a:spLocks noChangeArrowheads="1"/>
          </p:cNvSpPr>
          <p:nvPr/>
        </p:nvSpPr>
        <p:spPr bwMode="auto">
          <a:xfrm>
            <a:off x="2232000" y="378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36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2055" name="Text Box 8"/>
          <p:cNvSpPr txBox="1">
            <a:spLocks noChangeArrowheads="1"/>
          </p:cNvSpPr>
          <p:nvPr/>
        </p:nvSpPr>
        <p:spPr bwMode="auto">
          <a:xfrm>
            <a:off x="6192000" y="252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15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20</a:t>
            </a:r>
          </a:p>
        </p:txBody>
      </p:sp>
      <p:sp>
        <p:nvSpPr>
          <p:cNvPr id="2056" name="Text Box 9"/>
          <p:cNvSpPr txBox="1">
            <a:spLocks noChangeArrowheads="1"/>
          </p:cNvSpPr>
          <p:nvPr/>
        </p:nvSpPr>
        <p:spPr bwMode="auto">
          <a:xfrm>
            <a:off x="4212000" y="450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3600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sp>
        <p:nvSpPr>
          <p:cNvPr id="2057" name="Text Box 10"/>
          <p:cNvSpPr txBox="1">
            <a:spLocks noChangeArrowheads="1"/>
          </p:cNvSpPr>
          <p:nvPr/>
        </p:nvSpPr>
        <p:spPr bwMode="auto">
          <a:xfrm>
            <a:off x="619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2058" name="Text Box 11"/>
          <p:cNvSpPr txBox="1">
            <a:spLocks noChangeArrowheads="1"/>
          </p:cNvSpPr>
          <p:nvPr/>
        </p:nvSpPr>
        <p:spPr bwMode="auto">
          <a:xfrm>
            <a:off x="4572000" y="32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2059" name="Text Box 12"/>
          <p:cNvSpPr txBox="1">
            <a:spLocks noChangeArrowheads="1"/>
          </p:cNvSpPr>
          <p:nvPr/>
        </p:nvSpPr>
        <p:spPr bwMode="auto">
          <a:xfrm>
            <a:off x="3492000" y="324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2060" name="Text Box 13"/>
          <p:cNvSpPr txBox="1">
            <a:spLocks noChangeArrowheads="1"/>
          </p:cNvSpPr>
          <p:nvPr/>
        </p:nvSpPr>
        <p:spPr bwMode="auto">
          <a:xfrm>
            <a:off x="5652000" y="324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26" name="橢圓 25"/>
          <p:cNvSpPr/>
          <p:nvPr/>
        </p:nvSpPr>
        <p:spPr>
          <a:xfrm>
            <a:off x="3312000" y="216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1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8" name="橢圓 27"/>
          <p:cNvSpPr/>
          <p:nvPr/>
        </p:nvSpPr>
        <p:spPr>
          <a:xfrm>
            <a:off x="3312000" y="432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2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9" name="橢圓 28"/>
          <p:cNvSpPr/>
          <p:nvPr/>
        </p:nvSpPr>
        <p:spPr>
          <a:xfrm>
            <a:off x="5472000" y="216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3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31" name="橢圓 30"/>
          <p:cNvSpPr/>
          <p:nvPr/>
        </p:nvSpPr>
        <p:spPr>
          <a:xfrm>
            <a:off x="5472000" y="432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4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32" name="橢圓 31"/>
          <p:cNvSpPr/>
          <p:nvPr/>
        </p:nvSpPr>
        <p:spPr>
          <a:xfrm>
            <a:off x="2232000" y="3249000"/>
            <a:ext cx="360000" cy="360000"/>
          </a:xfrm>
          <a:prstGeom prst="ellipse">
            <a:avLst/>
          </a:prstGeom>
          <a:solidFill>
            <a:srgbClr val="FFFF0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s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35" name="直線單箭頭接點 34"/>
          <p:cNvCxnSpPr>
            <a:stCxn id="32" idx="7"/>
            <a:endCxn id="26" idx="3"/>
          </p:cNvCxnSpPr>
          <p:nvPr/>
        </p:nvCxnSpPr>
        <p:spPr>
          <a:xfrm flipV="1">
            <a:off x="2539279" y="247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stCxn id="26" idx="6"/>
            <a:endCxn id="29" idx="2"/>
          </p:cNvCxnSpPr>
          <p:nvPr/>
        </p:nvCxnSpPr>
        <p:spPr>
          <a:xfrm>
            <a:off x="3672000" y="234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>
            <a:stCxn id="29" idx="3"/>
            <a:endCxn id="28" idx="7"/>
          </p:cNvCxnSpPr>
          <p:nvPr/>
        </p:nvCxnSpPr>
        <p:spPr>
          <a:xfrm flipH="1">
            <a:off x="3619279" y="2476279"/>
            <a:ext cx="1905442" cy="1905442"/>
          </a:xfrm>
          <a:prstGeom prst="straightConnector1">
            <a:avLst/>
          </a:prstGeom>
          <a:ln w="19050">
            <a:solidFill>
              <a:srgbClr val="0000FF"/>
            </a:solidFill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>
            <a:stCxn id="28" idx="6"/>
            <a:endCxn id="31" idx="2"/>
          </p:cNvCxnSpPr>
          <p:nvPr/>
        </p:nvCxnSpPr>
        <p:spPr>
          <a:xfrm>
            <a:off x="3672000" y="450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>
            <a:stCxn id="28" idx="0"/>
            <a:endCxn id="26" idx="4"/>
          </p:cNvCxnSpPr>
          <p:nvPr/>
        </p:nvCxnSpPr>
        <p:spPr>
          <a:xfrm flipV="1">
            <a:off x="3492000" y="252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>
            <a:stCxn id="29" idx="5"/>
            <a:endCxn id="67" idx="1"/>
          </p:cNvCxnSpPr>
          <p:nvPr/>
        </p:nvCxnSpPr>
        <p:spPr>
          <a:xfrm>
            <a:off x="5779279" y="2476279"/>
            <a:ext cx="825442" cy="825442"/>
          </a:xfrm>
          <a:prstGeom prst="straightConnector1">
            <a:avLst/>
          </a:prstGeom>
          <a:ln w="19050">
            <a:solidFill>
              <a:srgbClr val="FF0000"/>
            </a:solidFill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>
            <a:stCxn id="31" idx="0"/>
            <a:endCxn id="29" idx="4"/>
          </p:cNvCxnSpPr>
          <p:nvPr/>
        </p:nvCxnSpPr>
        <p:spPr>
          <a:xfrm flipV="1">
            <a:off x="5652000" y="252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>
            <a:stCxn id="32" idx="5"/>
            <a:endCxn id="28" idx="1"/>
          </p:cNvCxnSpPr>
          <p:nvPr/>
        </p:nvCxnSpPr>
        <p:spPr>
          <a:xfrm>
            <a:off x="2539279" y="3556279"/>
            <a:ext cx="825442" cy="825442"/>
          </a:xfrm>
          <a:prstGeom prst="straightConnector1">
            <a:avLst/>
          </a:prstGeom>
          <a:ln w="19050">
            <a:solidFill>
              <a:srgbClr val="FF0000"/>
            </a:solidFill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橢圓 66"/>
          <p:cNvSpPr/>
          <p:nvPr/>
        </p:nvSpPr>
        <p:spPr>
          <a:xfrm>
            <a:off x="6552000" y="3249000"/>
            <a:ext cx="360000" cy="360000"/>
          </a:xfrm>
          <a:prstGeom prst="ellipse">
            <a:avLst/>
          </a:prstGeom>
          <a:solidFill>
            <a:srgbClr val="92D05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t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68" name="直線單箭頭接點 67"/>
          <p:cNvCxnSpPr>
            <a:stCxn id="31" idx="7"/>
            <a:endCxn id="67" idx="3"/>
          </p:cNvCxnSpPr>
          <p:nvPr/>
        </p:nvCxnSpPr>
        <p:spPr>
          <a:xfrm flipV="1">
            <a:off x="5779279" y="355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4493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4"/>
          <p:cNvSpPr txBox="1">
            <a:spLocks noChangeArrowheads="1"/>
          </p:cNvSpPr>
          <p:nvPr/>
        </p:nvSpPr>
        <p:spPr bwMode="auto">
          <a:xfrm>
            <a:off x="2232000" y="252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72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12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16</a:t>
            </a:r>
          </a:p>
        </p:txBody>
      </p:sp>
      <p:sp>
        <p:nvSpPr>
          <p:cNvPr id="2053" name="Text Box 6"/>
          <p:cNvSpPr txBox="1">
            <a:spLocks noChangeArrowheads="1"/>
          </p:cNvSpPr>
          <p:nvPr/>
        </p:nvSpPr>
        <p:spPr bwMode="auto">
          <a:xfrm>
            <a:off x="4212000" y="198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2054" name="Text Box 7"/>
          <p:cNvSpPr txBox="1">
            <a:spLocks noChangeArrowheads="1"/>
          </p:cNvSpPr>
          <p:nvPr/>
        </p:nvSpPr>
        <p:spPr bwMode="auto">
          <a:xfrm>
            <a:off x="2232000" y="378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36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11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2055" name="Text Box 8"/>
          <p:cNvSpPr txBox="1">
            <a:spLocks noChangeArrowheads="1"/>
          </p:cNvSpPr>
          <p:nvPr/>
        </p:nvSpPr>
        <p:spPr bwMode="auto">
          <a:xfrm>
            <a:off x="6192000" y="252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19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20</a:t>
            </a:r>
          </a:p>
        </p:txBody>
      </p:sp>
      <p:sp>
        <p:nvSpPr>
          <p:cNvPr id="2056" name="Text Box 9"/>
          <p:cNvSpPr txBox="1">
            <a:spLocks noChangeArrowheads="1"/>
          </p:cNvSpPr>
          <p:nvPr/>
        </p:nvSpPr>
        <p:spPr bwMode="auto">
          <a:xfrm>
            <a:off x="4212000" y="450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3600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sp>
        <p:nvSpPr>
          <p:cNvPr id="2057" name="Text Box 10"/>
          <p:cNvSpPr txBox="1">
            <a:spLocks noChangeArrowheads="1"/>
          </p:cNvSpPr>
          <p:nvPr/>
        </p:nvSpPr>
        <p:spPr bwMode="auto">
          <a:xfrm>
            <a:off x="619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2058" name="Text Box 11"/>
          <p:cNvSpPr txBox="1">
            <a:spLocks noChangeArrowheads="1"/>
          </p:cNvSpPr>
          <p:nvPr/>
        </p:nvSpPr>
        <p:spPr bwMode="auto">
          <a:xfrm>
            <a:off x="4572000" y="32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2059" name="Text Box 12"/>
          <p:cNvSpPr txBox="1">
            <a:spLocks noChangeArrowheads="1"/>
          </p:cNvSpPr>
          <p:nvPr/>
        </p:nvSpPr>
        <p:spPr bwMode="auto">
          <a:xfrm>
            <a:off x="3492000" y="324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2060" name="Text Box 13"/>
          <p:cNvSpPr txBox="1">
            <a:spLocks noChangeArrowheads="1"/>
          </p:cNvSpPr>
          <p:nvPr/>
        </p:nvSpPr>
        <p:spPr bwMode="auto">
          <a:xfrm>
            <a:off x="5652000" y="324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26" name="橢圓 25"/>
          <p:cNvSpPr/>
          <p:nvPr/>
        </p:nvSpPr>
        <p:spPr>
          <a:xfrm>
            <a:off x="3312000" y="216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1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8" name="橢圓 27"/>
          <p:cNvSpPr/>
          <p:nvPr/>
        </p:nvSpPr>
        <p:spPr>
          <a:xfrm>
            <a:off x="3312000" y="432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2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9" name="橢圓 28"/>
          <p:cNvSpPr/>
          <p:nvPr/>
        </p:nvSpPr>
        <p:spPr>
          <a:xfrm>
            <a:off x="5472000" y="216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3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31" name="橢圓 30"/>
          <p:cNvSpPr/>
          <p:nvPr/>
        </p:nvSpPr>
        <p:spPr>
          <a:xfrm>
            <a:off x="5472000" y="432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4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32" name="橢圓 31"/>
          <p:cNvSpPr/>
          <p:nvPr/>
        </p:nvSpPr>
        <p:spPr>
          <a:xfrm>
            <a:off x="2232000" y="3249000"/>
            <a:ext cx="360000" cy="360000"/>
          </a:xfrm>
          <a:prstGeom prst="ellipse">
            <a:avLst/>
          </a:prstGeom>
          <a:solidFill>
            <a:srgbClr val="FFFF0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s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35" name="直線單箭頭接點 34"/>
          <p:cNvCxnSpPr>
            <a:stCxn id="32" idx="7"/>
            <a:endCxn id="26" idx="3"/>
          </p:cNvCxnSpPr>
          <p:nvPr/>
        </p:nvCxnSpPr>
        <p:spPr>
          <a:xfrm flipV="1">
            <a:off x="2539279" y="247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stCxn id="26" idx="6"/>
            <a:endCxn id="29" idx="2"/>
          </p:cNvCxnSpPr>
          <p:nvPr/>
        </p:nvCxnSpPr>
        <p:spPr>
          <a:xfrm>
            <a:off x="3672000" y="234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>
            <a:stCxn id="29" idx="3"/>
            <a:endCxn id="28" idx="7"/>
          </p:cNvCxnSpPr>
          <p:nvPr/>
        </p:nvCxnSpPr>
        <p:spPr>
          <a:xfrm flipH="1">
            <a:off x="3619279" y="2476279"/>
            <a:ext cx="1905442" cy="190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>
            <a:stCxn id="28" idx="6"/>
            <a:endCxn id="31" idx="2"/>
          </p:cNvCxnSpPr>
          <p:nvPr/>
        </p:nvCxnSpPr>
        <p:spPr>
          <a:xfrm>
            <a:off x="3672000" y="450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>
            <a:stCxn id="28" idx="0"/>
            <a:endCxn id="26" idx="4"/>
          </p:cNvCxnSpPr>
          <p:nvPr/>
        </p:nvCxnSpPr>
        <p:spPr>
          <a:xfrm flipV="1">
            <a:off x="3492000" y="252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>
            <a:stCxn id="29" idx="5"/>
            <a:endCxn id="67" idx="1"/>
          </p:cNvCxnSpPr>
          <p:nvPr/>
        </p:nvCxnSpPr>
        <p:spPr>
          <a:xfrm>
            <a:off x="5779279" y="247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>
            <a:stCxn id="31" idx="0"/>
            <a:endCxn id="29" idx="4"/>
          </p:cNvCxnSpPr>
          <p:nvPr/>
        </p:nvCxnSpPr>
        <p:spPr>
          <a:xfrm flipV="1">
            <a:off x="5652000" y="252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>
            <a:stCxn id="32" idx="5"/>
            <a:endCxn id="28" idx="1"/>
          </p:cNvCxnSpPr>
          <p:nvPr/>
        </p:nvCxnSpPr>
        <p:spPr>
          <a:xfrm>
            <a:off x="2539279" y="355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橢圓 66"/>
          <p:cNvSpPr/>
          <p:nvPr/>
        </p:nvSpPr>
        <p:spPr>
          <a:xfrm>
            <a:off x="6552000" y="3249000"/>
            <a:ext cx="360000" cy="360000"/>
          </a:xfrm>
          <a:prstGeom prst="ellipse">
            <a:avLst/>
          </a:prstGeom>
          <a:solidFill>
            <a:srgbClr val="92D05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t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68" name="直線單箭頭接點 67"/>
          <p:cNvCxnSpPr>
            <a:stCxn id="31" idx="7"/>
            <a:endCxn id="67" idx="3"/>
          </p:cNvCxnSpPr>
          <p:nvPr/>
        </p:nvCxnSpPr>
        <p:spPr>
          <a:xfrm flipV="1">
            <a:off x="5779279" y="355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6068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Flow Networks</a:t>
            </a:r>
            <a:endParaRPr lang="zh-TW" altLang="en-US" dirty="0"/>
          </a:p>
        </p:txBody>
      </p:sp>
      <p:sp>
        <p:nvSpPr>
          <p:cNvPr id="57347" name="Rectangle 6"/>
          <p:cNvSpPr>
            <a:spLocks noGrp="1" noChangeArrowheads="1"/>
          </p:cNvSpPr>
          <p:nvPr>
            <p:ph idx="1"/>
          </p:nvPr>
        </p:nvSpPr>
        <p:spPr>
          <a:xfrm>
            <a:off x="432001" y="1268729"/>
            <a:ext cx="8280000" cy="5040271"/>
          </a:xfrm>
        </p:spPr>
        <p:txBody>
          <a:bodyPr lIns="90000" rIns="90000"/>
          <a:lstStyle/>
          <a:p>
            <a:pPr marL="0" indent="0" eaLnBrk="1" hangingPunct="1">
              <a:spcBef>
                <a:spcPct val="40000"/>
              </a:spcBef>
              <a:defRPr/>
            </a:pPr>
            <a:r>
              <a:rPr lang="en-US" altLang="zh-TW" sz="2200" dirty="0"/>
              <a:t>A </a:t>
            </a:r>
            <a:r>
              <a:rPr lang="en-US" altLang="zh-TW" sz="2200" i="1" spc="300" dirty="0">
                <a:solidFill>
                  <a:srgbClr val="0000FF"/>
                </a:solidFill>
              </a:rPr>
              <a:t>f</a:t>
            </a:r>
            <a:r>
              <a:rPr lang="en-US" altLang="zh-TW" sz="2200" i="1" dirty="0">
                <a:solidFill>
                  <a:srgbClr val="0000FF"/>
                </a:solidFill>
              </a:rPr>
              <a:t>low network</a:t>
            </a:r>
            <a:r>
              <a:rPr lang="en-US" altLang="zh-TW" sz="2200" dirty="0"/>
              <a:t> </a:t>
            </a:r>
            <a:r>
              <a:rPr lang="en-US" altLang="zh-TW" sz="2200" i="1" dirty="0"/>
              <a:t>G</a:t>
            </a:r>
            <a:r>
              <a:rPr lang="en-US" altLang="zh-TW" sz="2200" dirty="0"/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/>
              <a:t> (</a:t>
            </a:r>
            <a:r>
              <a:rPr lang="en-US" altLang="zh-TW" sz="2200" i="1" dirty="0"/>
              <a:t>V</a:t>
            </a:r>
            <a:r>
              <a:rPr lang="en-US" altLang="zh-TW" sz="2200" dirty="0"/>
              <a:t>, </a:t>
            </a:r>
            <a:r>
              <a:rPr lang="en-US" altLang="zh-TW" sz="2200" i="1" spc="300" dirty="0"/>
              <a:t>E</a:t>
            </a:r>
            <a:r>
              <a:rPr lang="en-US" altLang="zh-TW" sz="2200" dirty="0"/>
              <a:t>) is a </a:t>
            </a:r>
            <a:r>
              <a:rPr lang="en-US" altLang="zh-TW" sz="2200" dirty="0">
                <a:solidFill>
                  <a:schemeClr val="hlink"/>
                </a:solidFill>
              </a:rPr>
              <a:t>directed</a:t>
            </a:r>
            <a:r>
              <a:rPr lang="en-US" altLang="zh-TW" sz="2200" dirty="0"/>
              <a:t> simple graph in which each edge (</a:t>
            </a:r>
            <a:r>
              <a:rPr lang="en-US" altLang="zh-TW" sz="2200" i="1" dirty="0"/>
              <a:t>u</a:t>
            </a:r>
            <a:r>
              <a:rPr lang="en-US" altLang="zh-TW" sz="2200" dirty="0"/>
              <a:t>, </a:t>
            </a:r>
            <a:r>
              <a:rPr lang="en-US" altLang="zh-TW" sz="2200" i="1" dirty="0"/>
              <a:t>v</a:t>
            </a:r>
            <a:r>
              <a:rPr lang="en-US" altLang="zh-TW" sz="2200" dirty="0"/>
              <a:t>) </a:t>
            </a:r>
            <a:r>
              <a:rPr lang="en-US" altLang="zh-TW" sz="2200" dirty="0"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sz="2200" dirty="0">
                <a:sym typeface="Symbol" pitchFamily="18" charset="2"/>
              </a:rPr>
              <a:t> </a:t>
            </a:r>
            <a:r>
              <a:rPr lang="en-US" altLang="zh-TW" sz="2200" i="1" dirty="0"/>
              <a:t>E</a:t>
            </a:r>
            <a:r>
              <a:rPr lang="en-US" altLang="zh-TW" sz="2200" dirty="0">
                <a:sym typeface="Symbol" pitchFamily="18" charset="2"/>
              </a:rPr>
              <a:t> has a positive</a:t>
            </a:r>
            <a:r>
              <a:rPr lang="en-US" altLang="zh-TW" sz="2200" dirty="0"/>
              <a:t> </a:t>
            </a:r>
            <a:r>
              <a:rPr lang="en-US" altLang="zh-TW" sz="2200" i="1" dirty="0">
                <a:solidFill>
                  <a:srgbClr val="0000FF"/>
                </a:solidFill>
              </a:rPr>
              <a:t>capacity </a:t>
            </a:r>
            <a:r>
              <a:rPr lang="en-US" altLang="zh-TW" sz="2200" i="1" dirty="0"/>
              <a:t>c</a:t>
            </a:r>
            <a:r>
              <a:rPr lang="en-US" altLang="zh-TW" sz="2200" dirty="0"/>
              <a:t>(</a:t>
            </a:r>
            <a:r>
              <a:rPr lang="en-US" altLang="zh-TW" sz="2200" i="1" dirty="0"/>
              <a:t>u</a:t>
            </a:r>
            <a:r>
              <a:rPr lang="en-US" altLang="zh-TW" sz="2200" dirty="0"/>
              <a:t>, </a:t>
            </a:r>
            <a:r>
              <a:rPr lang="en-US" altLang="zh-TW" sz="2200" i="1" dirty="0"/>
              <a:t>v</a:t>
            </a:r>
            <a:r>
              <a:rPr lang="en-US" altLang="zh-TW" sz="2200" dirty="0"/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&gt;</a:t>
            </a:r>
            <a:r>
              <a:rPr lang="en-US" altLang="zh-TW" sz="2200" dirty="0">
                <a:sym typeface="Symbol" pitchFamily="18" charset="2"/>
              </a:rPr>
              <a:t> 0.</a:t>
            </a:r>
          </a:p>
          <a:p>
            <a:pPr marL="0" lvl="0" indent="0" eaLnBrk="1" hangingPunct="1">
              <a:spcBef>
                <a:spcPct val="40000"/>
              </a:spcBef>
              <a:buClr>
                <a:srgbClr val="3333CC"/>
              </a:buClr>
              <a:defRPr/>
            </a:pPr>
            <a:r>
              <a:rPr lang="en-US" altLang="zh-TW" dirty="0">
                <a:solidFill>
                  <a:srgbClr val="000000"/>
                </a:solidFill>
              </a:rPr>
              <a:t>We further require that if </a:t>
            </a:r>
            <a:r>
              <a:rPr lang="en-US" altLang="zh-TW" i="1" dirty="0">
                <a:solidFill>
                  <a:srgbClr val="000000"/>
                </a:solidFill>
              </a:rPr>
              <a:t>E</a:t>
            </a:r>
            <a:r>
              <a:rPr lang="en-US" altLang="zh-TW" dirty="0">
                <a:solidFill>
                  <a:srgbClr val="000000"/>
                </a:solidFill>
              </a:rPr>
              <a:t> contains an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), then there is no edge (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 in the reverse direction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, and we disallow self-loops</a:t>
            </a:r>
            <a:r>
              <a:rPr lang="en-US" altLang="zh-TW" dirty="0">
                <a:solidFill>
                  <a:srgbClr val="000000"/>
                </a:solidFill>
              </a:rPr>
              <a:t>.</a:t>
            </a:r>
          </a:p>
          <a:p>
            <a:pPr marL="0" indent="0" eaLnBrk="1" hangingPunct="1">
              <a:spcBef>
                <a:spcPct val="40000"/>
              </a:spcBef>
              <a:defRPr/>
            </a:pPr>
            <a:r>
              <a:rPr lang="en-US" altLang="zh-TW" sz="2200" dirty="0"/>
              <a:t>If (</a:t>
            </a:r>
            <a:r>
              <a:rPr lang="en-US" altLang="zh-TW" sz="2200" i="1" dirty="0"/>
              <a:t>u</a:t>
            </a:r>
            <a:r>
              <a:rPr lang="en-US" altLang="zh-TW" sz="2200" dirty="0"/>
              <a:t>, </a:t>
            </a:r>
            <a:r>
              <a:rPr lang="en-US" altLang="zh-TW" sz="2200" i="1" dirty="0"/>
              <a:t>v</a:t>
            </a:r>
            <a:r>
              <a:rPr lang="en-US" altLang="zh-TW" sz="2200" dirty="0"/>
              <a:t>)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∉</a:t>
            </a:r>
            <a:r>
              <a:rPr lang="en-US" altLang="zh-TW" sz="2200" dirty="0">
                <a:sym typeface="Symbol" pitchFamily="18" charset="2"/>
              </a:rPr>
              <a:t> </a:t>
            </a:r>
            <a:r>
              <a:rPr lang="en-US" altLang="zh-TW" sz="2200" i="1" dirty="0"/>
              <a:t>E</a:t>
            </a:r>
            <a:r>
              <a:rPr lang="en-US" altLang="zh-TW" sz="2200" dirty="0">
                <a:sym typeface="Symbol" pitchFamily="18" charset="2"/>
              </a:rPr>
              <a:t>, then we define </a:t>
            </a:r>
            <a:r>
              <a:rPr lang="en-US" altLang="zh-TW" sz="2200" i="1" dirty="0"/>
              <a:t>c</a:t>
            </a:r>
            <a:r>
              <a:rPr lang="en-US" altLang="zh-TW" sz="2200" dirty="0"/>
              <a:t>(</a:t>
            </a:r>
            <a:r>
              <a:rPr lang="en-US" altLang="zh-TW" sz="2200" i="1" dirty="0"/>
              <a:t>u</a:t>
            </a:r>
            <a:r>
              <a:rPr lang="en-US" altLang="zh-TW" sz="2200" dirty="0"/>
              <a:t>, </a:t>
            </a:r>
            <a:r>
              <a:rPr lang="en-US" altLang="zh-TW" sz="2200" i="1" dirty="0"/>
              <a:t>v</a:t>
            </a:r>
            <a:r>
              <a:rPr lang="en-US" altLang="zh-TW" sz="2200" dirty="0"/>
              <a:t>) </a:t>
            </a:r>
            <a:r>
              <a:rPr lang="en-US" altLang="zh-TW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/>
              <a:t> </a:t>
            </a:r>
            <a:r>
              <a:rPr lang="en-US" altLang="zh-TW" sz="2200" dirty="0">
                <a:sym typeface="Symbol" pitchFamily="18" charset="2"/>
              </a:rPr>
              <a:t>0</a:t>
            </a:r>
            <a:r>
              <a:rPr lang="en-US" altLang="zh-TW" sz="2200" dirty="0"/>
              <a:t>.</a:t>
            </a:r>
          </a:p>
          <a:p>
            <a:pPr marL="0" lvl="0" indent="0" eaLnBrk="1" hangingPunct="1">
              <a:spcBef>
                <a:spcPct val="40000"/>
              </a:spcBef>
              <a:buClr>
                <a:srgbClr val="3333CC"/>
              </a:buClr>
              <a:defRPr/>
            </a:pPr>
            <a:r>
              <a:rPr lang="en-US" altLang="zh-TW" dirty="0">
                <a:solidFill>
                  <a:srgbClr val="000000"/>
                </a:solidFill>
              </a:rPr>
              <a:t>Each flow network contains two distinguished nodes: a </a:t>
            </a:r>
            <a:r>
              <a:rPr lang="en-US" altLang="zh-TW" i="1" dirty="0">
                <a:solidFill>
                  <a:srgbClr val="0000FF"/>
                </a:solidFill>
              </a:rPr>
              <a:t>source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and a </a:t>
            </a:r>
            <a:r>
              <a:rPr lang="en-US" altLang="zh-TW" i="1" dirty="0">
                <a:solidFill>
                  <a:srgbClr val="0000FF"/>
                </a:solidFill>
              </a:rPr>
              <a:t>sink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.</a:t>
            </a:r>
          </a:p>
          <a:p>
            <a:pPr marL="0" indent="0" eaLnBrk="1" hangingPunct="1">
              <a:spcBef>
                <a:spcPct val="40000"/>
              </a:spcBef>
              <a:defRPr/>
            </a:pPr>
            <a:r>
              <a:rPr lang="en-US" altLang="zh-TW" sz="2200" dirty="0"/>
              <a:t>For convenience, we assume that </a:t>
            </a:r>
            <a:r>
              <a:rPr lang="en-US" altLang="zh-TW" sz="2200" dirty="0">
                <a:solidFill>
                  <a:schemeClr val="hlink"/>
                </a:solidFill>
              </a:rPr>
              <a:t>each node lies on some path from the source to the sink</a:t>
            </a:r>
            <a:r>
              <a:rPr lang="en-US" altLang="zh-TW" sz="2200" dirty="0"/>
              <a:t>.</a:t>
            </a:r>
          </a:p>
          <a:p>
            <a:pPr marL="0" indent="0" eaLnBrk="1" hangingPunct="1">
              <a:spcBef>
                <a:spcPts val="0"/>
              </a:spcBef>
              <a:defRPr/>
            </a:pPr>
            <a:endParaRPr lang="en-US" altLang="zh-TW" sz="2200" dirty="0"/>
          </a:p>
          <a:p>
            <a:pPr marL="0" indent="0" eaLnBrk="1" hangingPunct="1">
              <a:spcBef>
                <a:spcPts val="0"/>
              </a:spcBef>
              <a:tabLst>
                <a:tab pos="1163638" algn="l"/>
              </a:tabLst>
              <a:defRPr/>
            </a:pPr>
            <a:r>
              <a:rPr lang="en-US" altLang="zh-TW" sz="2200" dirty="0">
                <a:sym typeface="Symbol" pitchFamily="18" charset="2"/>
              </a:rPr>
              <a:t>Let </a:t>
            </a:r>
            <a:r>
              <a:rPr lang="en-US" altLang="zh-TW" i="1" spc="300" dirty="0" err="1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spc="50" dirty="0" err="1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×</a:t>
            </a:r>
            <a:r>
              <a:rPr lang="en-US" altLang="zh-TW" i="1" dirty="0" err="1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V</a:t>
            </a:r>
            <a:r>
              <a:rPr lang="zh-TW" altLang="en-US" sz="2200" dirty="0"/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/>
              <a:t> {(</a:t>
            </a:r>
            <a:r>
              <a:rPr lang="en-US" altLang="zh-TW" sz="2200" i="1" dirty="0"/>
              <a:t>x</a:t>
            </a:r>
            <a:r>
              <a:rPr lang="en-US" altLang="zh-TW" sz="2200" dirty="0"/>
              <a:t>, </a:t>
            </a:r>
            <a:r>
              <a:rPr lang="en-US" altLang="zh-TW" sz="2200" i="1" dirty="0"/>
              <a:t>y</a:t>
            </a:r>
            <a:r>
              <a:rPr lang="en-US" altLang="zh-TW" sz="2200" dirty="0"/>
              <a:t>) </a:t>
            </a:r>
            <a:r>
              <a:rPr lang="en-US" altLang="zh-TW" sz="2200" b="1" dirty="0"/>
              <a:t>|</a:t>
            </a:r>
            <a:r>
              <a:rPr lang="en-US" altLang="zh-TW" sz="2200" dirty="0"/>
              <a:t> </a:t>
            </a:r>
            <a:r>
              <a:rPr lang="en-US" altLang="zh-TW" sz="2200" i="1" dirty="0"/>
              <a:t>x</a:t>
            </a:r>
            <a:r>
              <a:rPr lang="en-US" altLang="zh-TW" sz="2200" dirty="0"/>
              <a:t>, </a:t>
            </a:r>
            <a:r>
              <a:rPr lang="en-US" altLang="zh-TW" sz="2200" i="1" dirty="0"/>
              <a:t>y</a:t>
            </a:r>
            <a:r>
              <a:rPr lang="en-US" altLang="zh-TW" sz="2200" dirty="0"/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sz="2200" dirty="0">
                <a:sym typeface="Symbol" pitchFamily="18" charset="2"/>
              </a:rPr>
              <a:t> </a:t>
            </a:r>
            <a:r>
              <a:rPr lang="en-US" altLang="zh-TW" sz="2200" i="1" spc="300" dirty="0">
                <a:sym typeface="Symbol" pitchFamily="18" charset="2"/>
              </a:rPr>
              <a:t>V</a:t>
            </a:r>
            <a:r>
              <a:rPr lang="en-US" altLang="zh-TW" sz="2200" dirty="0">
                <a:sym typeface="Symbol" pitchFamily="18" charset="2"/>
              </a:rPr>
              <a:t>}.</a:t>
            </a:r>
          </a:p>
          <a:p>
            <a:pPr marL="0" indent="0" eaLnBrk="1" hangingPunct="1">
              <a:tabLst>
                <a:tab pos="1163638" algn="l"/>
              </a:tabLst>
              <a:defRPr/>
            </a:pPr>
            <a:r>
              <a:rPr lang="en-US" altLang="zh-TW" sz="2200" dirty="0">
                <a:sym typeface="Symbol" pitchFamily="18" charset="2"/>
              </a:rPr>
              <a:t>If </a:t>
            </a:r>
            <a:r>
              <a:rPr lang="en-US" altLang="zh-TW" sz="2200" i="1" dirty="0">
                <a:sym typeface="Symbol" pitchFamily="18" charset="2"/>
              </a:rPr>
              <a:t>V</a:t>
            </a:r>
            <a:r>
              <a:rPr lang="en-US" altLang="zh-TW" sz="2200" dirty="0">
                <a:sym typeface="Symbol" pitchFamily="18" charset="2"/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ym typeface="Symbol" pitchFamily="18" charset="2"/>
              </a:rPr>
              <a:t> {</a:t>
            </a:r>
            <a:r>
              <a:rPr lang="en-US" altLang="zh-TW" sz="2200" i="1" dirty="0">
                <a:sym typeface="Symbol" pitchFamily="18" charset="2"/>
              </a:rPr>
              <a:t>a</a:t>
            </a:r>
            <a:r>
              <a:rPr lang="en-US" altLang="zh-TW" sz="2200" dirty="0">
                <a:sym typeface="Symbol" pitchFamily="18" charset="2"/>
              </a:rPr>
              <a:t>, </a:t>
            </a:r>
            <a:r>
              <a:rPr lang="en-US" altLang="zh-TW" sz="2200" i="1" dirty="0">
                <a:sym typeface="Symbol" pitchFamily="18" charset="2"/>
              </a:rPr>
              <a:t>b</a:t>
            </a:r>
            <a:r>
              <a:rPr lang="en-US" altLang="zh-TW" sz="2200" dirty="0">
                <a:sym typeface="Symbol" pitchFamily="18" charset="2"/>
              </a:rPr>
              <a:t>, </a:t>
            </a:r>
            <a:r>
              <a:rPr lang="en-US" altLang="zh-TW" sz="2200" i="1" dirty="0">
                <a:sym typeface="Symbol" pitchFamily="18" charset="2"/>
              </a:rPr>
              <a:t>c</a:t>
            </a:r>
            <a:r>
              <a:rPr lang="en-US" altLang="zh-TW" sz="2200" dirty="0">
                <a:sym typeface="Symbol" pitchFamily="18" charset="2"/>
              </a:rPr>
              <a:t>}, then</a:t>
            </a:r>
          </a:p>
          <a:p>
            <a:pPr marL="0" indent="0" eaLnBrk="1" hangingPunct="1">
              <a:tabLst>
                <a:tab pos="1163638" algn="l"/>
              </a:tabLst>
              <a:defRPr/>
            </a:pPr>
            <a:r>
              <a:rPr lang="en-US" altLang="zh-TW" i="1" spc="300" dirty="0" err="1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spc="50" dirty="0" err="1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×</a:t>
            </a:r>
            <a:r>
              <a:rPr lang="en-US" altLang="zh-TW" i="1" dirty="0" err="1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V</a:t>
            </a:r>
            <a:r>
              <a:rPr lang="zh-TW" altLang="en-US" sz="2200" dirty="0"/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/>
              <a:t> {(</a:t>
            </a:r>
            <a:r>
              <a:rPr lang="en-US" altLang="zh-TW" sz="2200" i="1" dirty="0"/>
              <a:t>a</a:t>
            </a:r>
            <a:r>
              <a:rPr lang="en-US" altLang="zh-TW" sz="2200" dirty="0"/>
              <a:t>, </a:t>
            </a:r>
            <a:r>
              <a:rPr lang="en-US" altLang="zh-TW" sz="2200" i="1" dirty="0"/>
              <a:t>a</a:t>
            </a:r>
            <a:r>
              <a:rPr lang="en-US" altLang="zh-TW" sz="2200" dirty="0"/>
              <a:t>), (</a:t>
            </a:r>
            <a:r>
              <a:rPr lang="en-US" altLang="zh-TW" sz="2200" i="1" dirty="0"/>
              <a:t>a</a:t>
            </a:r>
            <a:r>
              <a:rPr lang="en-US" altLang="zh-TW" sz="2200" dirty="0"/>
              <a:t>, </a:t>
            </a:r>
            <a:r>
              <a:rPr lang="en-US" altLang="zh-TW" sz="2200" i="1" dirty="0"/>
              <a:t>b</a:t>
            </a:r>
            <a:r>
              <a:rPr lang="en-US" altLang="zh-TW" sz="2200" dirty="0"/>
              <a:t>), (</a:t>
            </a:r>
            <a:r>
              <a:rPr lang="en-US" altLang="zh-TW" sz="2200" i="1" dirty="0"/>
              <a:t>a</a:t>
            </a:r>
            <a:r>
              <a:rPr lang="en-US" altLang="zh-TW" sz="2200" dirty="0"/>
              <a:t>, </a:t>
            </a:r>
            <a:r>
              <a:rPr lang="en-US" altLang="zh-TW" sz="2200" i="1" dirty="0"/>
              <a:t>c</a:t>
            </a:r>
            <a:r>
              <a:rPr lang="en-US" altLang="zh-TW" sz="2200" dirty="0"/>
              <a:t>), (</a:t>
            </a:r>
            <a:r>
              <a:rPr lang="en-US" altLang="zh-TW" sz="2200" i="1" dirty="0"/>
              <a:t>b</a:t>
            </a:r>
            <a:r>
              <a:rPr lang="en-US" altLang="zh-TW" sz="2200" dirty="0"/>
              <a:t>, </a:t>
            </a:r>
            <a:r>
              <a:rPr lang="en-US" altLang="zh-TW" sz="2200" i="1" dirty="0"/>
              <a:t>a</a:t>
            </a:r>
            <a:r>
              <a:rPr lang="en-US" altLang="zh-TW" sz="2200" dirty="0"/>
              <a:t>), (</a:t>
            </a:r>
            <a:r>
              <a:rPr lang="en-US" altLang="zh-TW" sz="2200" i="1" dirty="0"/>
              <a:t>b</a:t>
            </a:r>
            <a:r>
              <a:rPr lang="en-US" altLang="zh-TW" sz="2200" dirty="0"/>
              <a:t>, </a:t>
            </a:r>
            <a:r>
              <a:rPr lang="en-US" altLang="zh-TW" sz="2200" i="1" dirty="0"/>
              <a:t>b</a:t>
            </a:r>
            <a:r>
              <a:rPr lang="en-US" altLang="zh-TW" sz="2200" dirty="0"/>
              <a:t>), (</a:t>
            </a:r>
            <a:r>
              <a:rPr lang="en-US" altLang="zh-TW" sz="2200" i="1" dirty="0"/>
              <a:t>b</a:t>
            </a:r>
            <a:r>
              <a:rPr lang="en-US" altLang="zh-TW" sz="2200" dirty="0"/>
              <a:t>, </a:t>
            </a:r>
            <a:r>
              <a:rPr lang="en-US" altLang="zh-TW" sz="2200" i="1" dirty="0"/>
              <a:t>c</a:t>
            </a:r>
            <a:r>
              <a:rPr lang="en-US" altLang="zh-TW" sz="2200" dirty="0"/>
              <a:t>), (</a:t>
            </a:r>
            <a:r>
              <a:rPr lang="en-US" altLang="zh-TW" sz="2200" i="1" dirty="0"/>
              <a:t>c</a:t>
            </a:r>
            <a:r>
              <a:rPr lang="en-US" altLang="zh-TW" sz="2200" dirty="0"/>
              <a:t>, </a:t>
            </a:r>
            <a:r>
              <a:rPr lang="en-US" altLang="zh-TW" sz="2200" i="1" dirty="0"/>
              <a:t>a</a:t>
            </a:r>
            <a:r>
              <a:rPr lang="en-US" altLang="zh-TW" sz="2200" dirty="0"/>
              <a:t>), (</a:t>
            </a:r>
            <a:r>
              <a:rPr lang="en-US" altLang="zh-TW" sz="2200" i="1" dirty="0"/>
              <a:t>c</a:t>
            </a:r>
            <a:r>
              <a:rPr lang="en-US" altLang="zh-TW" sz="2200" dirty="0"/>
              <a:t>, </a:t>
            </a:r>
            <a:r>
              <a:rPr lang="en-US" altLang="zh-TW" sz="2200" i="1" dirty="0"/>
              <a:t>b</a:t>
            </a:r>
            <a:r>
              <a:rPr lang="en-US" altLang="zh-TW" sz="2200" dirty="0"/>
              <a:t>), (</a:t>
            </a:r>
            <a:r>
              <a:rPr lang="en-US" altLang="zh-TW" sz="2200" i="1" dirty="0"/>
              <a:t>c</a:t>
            </a:r>
            <a:r>
              <a:rPr lang="en-US" altLang="zh-TW" sz="2200" dirty="0"/>
              <a:t>, </a:t>
            </a:r>
            <a:r>
              <a:rPr lang="en-US" altLang="zh-TW" sz="2200" i="1" dirty="0"/>
              <a:t>c</a:t>
            </a:r>
            <a:r>
              <a:rPr lang="en-US" altLang="zh-TW" sz="2200" dirty="0"/>
              <a:t>)}.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1953751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4"/>
          <p:cNvSpPr txBox="1">
            <a:spLocks noChangeArrowheads="1"/>
          </p:cNvSpPr>
          <p:nvPr/>
        </p:nvSpPr>
        <p:spPr bwMode="auto">
          <a:xfrm>
            <a:off x="2412000" y="25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72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16</a:t>
            </a:r>
          </a:p>
        </p:txBody>
      </p:sp>
      <p:sp>
        <p:nvSpPr>
          <p:cNvPr id="2053" name="Text Box 6"/>
          <p:cNvSpPr txBox="1">
            <a:spLocks noChangeArrowheads="1"/>
          </p:cNvSpPr>
          <p:nvPr/>
        </p:nvSpPr>
        <p:spPr bwMode="auto">
          <a:xfrm>
            <a:off x="439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2054" name="Text Box 7"/>
          <p:cNvSpPr txBox="1">
            <a:spLocks noChangeArrowheads="1"/>
          </p:cNvSpPr>
          <p:nvPr/>
        </p:nvSpPr>
        <p:spPr bwMode="auto">
          <a:xfrm>
            <a:off x="241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36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2055" name="Text Box 8"/>
          <p:cNvSpPr txBox="1">
            <a:spLocks noChangeArrowheads="1"/>
          </p:cNvSpPr>
          <p:nvPr/>
        </p:nvSpPr>
        <p:spPr bwMode="auto">
          <a:xfrm>
            <a:off x="6192000" y="25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20</a:t>
            </a:r>
          </a:p>
        </p:txBody>
      </p:sp>
      <p:sp>
        <p:nvSpPr>
          <p:cNvPr id="2056" name="Text Box 9"/>
          <p:cNvSpPr txBox="1">
            <a:spLocks noChangeArrowheads="1"/>
          </p:cNvSpPr>
          <p:nvPr/>
        </p:nvSpPr>
        <p:spPr bwMode="auto">
          <a:xfrm>
            <a:off x="439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3600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sp>
        <p:nvSpPr>
          <p:cNvPr id="2057" name="Text Box 10"/>
          <p:cNvSpPr txBox="1">
            <a:spLocks noChangeArrowheads="1"/>
          </p:cNvSpPr>
          <p:nvPr/>
        </p:nvSpPr>
        <p:spPr bwMode="auto">
          <a:xfrm>
            <a:off x="619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2058" name="Text Box 11"/>
          <p:cNvSpPr txBox="1">
            <a:spLocks noChangeArrowheads="1"/>
          </p:cNvSpPr>
          <p:nvPr/>
        </p:nvSpPr>
        <p:spPr bwMode="auto">
          <a:xfrm>
            <a:off x="4572000" y="32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21</a:t>
            </a:r>
          </a:p>
        </p:txBody>
      </p:sp>
      <p:sp>
        <p:nvSpPr>
          <p:cNvPr id="2059" name="Text Box 12"/>
          <p:cNvSpPr txBox="1">
            <a:spLocks noChangeArrowheads="1"/>
          </p:cNvSpPr>
          <p:nvPr/>
        </p:nvSpPr>
        <p:spPr bwMode="auto">
          <a:xfrm>
            <a:off x="3492000" y="32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2060" name="Text Box 13"/>
          <p:cNvSpPr txBox="1">
            <a:spLocks noChangeArrowheads="1"/>
          </p:cNvSpPr>
          <p:nvPr/>
        </p:nvSpPr>
        <p:spPr bwMode="auto">
          <a:xfrm>
            <a:off x="5652000" y="32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26" name="橢圓 25"/>
          <p:cNvSpPr/>
          <p:nvPr/>
        </p:nvSpPr>
        <p:spPr>
          <a:xfrm>
            <a:off x="3312000" y="216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1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8" name="橢圓 27"/>
          <p:cNvSpPr/>
          <p:nvPr/>
        </p:nvSpPr>
        <p:spPr>
          <a:xfrm>
            <a:off x="3312000" y="432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2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9" name="橢圓 28"/>
          <p:cNvSpPr/>
          <p:nvPr/>
        </p:nvSpPr>
        <p:spPr>
          <a:xfrm>
            <a:off x="5472000" y="216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3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31" name="橢圓 30"/>
          <p:cNvSpPr/>
          <p:nvPr/>
        </p:nvSpPr>
        <p:spPr>
          <a:xfrm>
            <a:off x="5472000" y="432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4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32" name="橢圓 31"/>
          <p:cNvSpPr/>
          <p:nvPr/>
        </p:nvSpPr>
        <p:spPr>
          <a:xfrm>
            <a:off x="2232000" y="3249000"/>
            <a:ext cx="360000" cy="360000"/>
          </a:xfrm>
          <a:prstGeom prst="ellipse">
            <a:avLst/>
          </a:prstGeom>
          <a:solidFill>
            <a:srgbClr val="FFFF0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s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35" name="直線單箭頭接點 34"/>
          <p:cNvCxnSpPr>
            <a:stCxn id="32" idx="7"/>
            <a:endCxn id="26" idx="3"/>
          </p:cNvCxnSpPr>
          <p:nvPr/>
        </p:nvCxnSpPr>
        <p:spPr>
          <a:xfrm flipV="1">
            <a:off x="2539279" y="247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stCxn id="26" idx="6"/>
            <a:endCxn id="29" idx="2"/>
          </p:cNvCxnSpPr>
          <p:nvPr/>
        </p:nvCxnSpPr>
        <p:spPr>
          <a:xfrm>
            <a:off x="3672000" y="234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>
            <a:stCxn id="29" idx="3"/>
            <a:endCxn id="28" idx="7"/>
          </p:cNvCxnSpPr>
          <p:nvPr/>
        </p:nvCxnSpPr>
        <p:spPr>
          <a:xfrm flipH="1">
            <a:off x="3619279" y="2476279"/>
            <a:ext cx="1905442" cy="190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>
            <a:stCxn id="28" idx="6"/>
            <a:endCxn id="31" idx="2"/>
          </p:cNvCxnSpPr>
          <p:nvPr/>
        </p:nvCxnSpPr>
        <p:spPr>
          <a:xfrm>
            <a:off x="3672000" y="450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>
            <a:stCxn id="28" idx="0"/>
            <a:endCxn id="26" idx="4"/>
          </p:cNvCxnSpPr>
          <p:nvPr/>
        </p:nvCxnSpPr>
        <p:spPr>
          <a:xfrm flipV="1">
            <a:off x="3492000" y="252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>
            <a:stCxn id="29" idx="5"/>
            <a:endCxn id="67" idx="1"/>
          </p:cNvCxnSpPr>
          <p:nvPr/>
        </p:nvCxnSpPr>
        <p:spPr>
          <a:xfrm>
            <a:off x="5779279" y="247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>
            <a:stCxn id="31" idx="0"/>
            <a:endCxn id="29" idx="4"/>
          </p:cNvCxnSpPr>
          <p:nvPr/>
        </p:nvCxnSpPr>
        <p:spPr>
          <a:xfrm flipV="1">
            <a:off x="5652000" y="252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>
            <a:stCxn id="32" idx="5"/>
            <a:endCxn id="28" idx="1"/>
          </p:cNvCxnSpPr>
          <p:nvPr/>
        </p:nvCxnSpPr>
        <p:spPr>
          <a:xfrm>
            <a:off x="2539279" y="355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橢圓 66"/>
          <p:cNvSpPr/>
          <p:nvPr/>
        </p:nvSpPr>
        <p:spPr>
          <a:xfrm>
            <a:off x="6552000" y="3249000"/>
            <a:ext cx="360000" cy="360000"/>
          </a:xfrm>
          <a:prstGeom prst="ellipse">
            <a:avLst/>
          </a:prstGeom>
          <a:solidFill>
            <a:srgbClr val="92D05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t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68" name="直線單箭頭接點 67"/>
          <p:cNvCxnSpPr>
            <a:stCxn id="31" idx="7"/>
            <a:endCxn id="67" idx="3"/>
          </p:cNvCxnSpPr>
          <p:nvPr/>
        </p:nvCxnSpPr>
        <p:spPr>
          <a:xfrm flipV="1">
            <a:off x="5779279" y="355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線單箭頭接點 5"/>
          <p:cNvCxnSpPr/>
          <p:nvPr/>
        </p:nvCxnSpPr>
        <p:spPr>
          <a:xfrm>
            <a:off x="3419872" y="2528888"/>
            <a:ext cx="0" cy="1800225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Text Box 12"/>
          <p:cNvSpPr txBox="1">
            <a:spLocks noChangeArrowheads="1"/>
          </p:cNvSpPr>
          <p:nvPr/>
        </p:nvSpPr>
        <p:spPr bwMode="auto">
          <a:xfrm>
            <a:off x="3132000" y="32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7277606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4"/>
          <p:cNvSpPr txBox="1">
            <a:spLocks noChangeArrowheads="1"/>
          </p:cNvSpPr>
          <p:nvPr/>
        </p:nvSpPr>
        <p:spPr bwMode="auto">
          <a:xfrm>
            <a:off x="2412000" y="25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72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16</a:t>
            </a:r>
          </a:p>
        </p:txBody>
      </p:sp>
      <p:sp>
        <p:nvSpPr>
          <p:cNvPr id="2053" name="Text Box 6"/>
          <p:cNvSpPr txBox="1">
            <a:spLocks noChangeArrowheads="1"/>
          </p:cNvSpPr>
          <p:nvPr/>
        </p:nvSpPr>
        <p:spPr bwMode="auto">
          <a:xfrm>
            <a:off x="439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2054" name="Text Box 7"/>
          <p:cNvSpPr txBox="1">
            <a:spLocks noChangeArrowheads="1"/>
          </p:cNvSpPr>
          <p:nvPr/>
        </p:nvSpPr>
        <p:spPr bwMode="auto">
          <a:xfrm>
            <a:off x="241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36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2055" name="Text Box 8"/>
          <p:cNvSpPr txBox="1">
            <a:spLocks noChangeArrowheads="1"/>
          </p:cNvSpPr>
          <p:nvPr/>
        </p:nvSpPr>
        <p:spPr bwMode="auto">
          <a:xfrm>
            <a:off x="6192000" y="25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20</a:t>
            </a:r>
          </a:p>
        </p:txBody>
      </p:sp>
      <p:sp>
        <p:nvSpPr>
          <p:cNvPr id="2056" name="Text Box 9"/>
          <p:cNvSpPr txBox="1">
            <a:spLocks noChangeArrowheads="1"/>
          </p:cNvSpPr>
          <p:nvPr/>
        </p:nvSpPr>
        <p:spPr bwMode="auto">
          <a:xfrm>
            <a:off x="439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3600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sp>
        <p:nvSpPr>
          <p:cNvPr id="2057" name="Text Box 10"/>
          <p:cNvSpPr txBox="1">
            <a:spLocks noChangeArrowheads="1"/>
          </p:cNvSpPr>
          <p:nvPr/>
        </p:nvSpPr>
        <p:spPr bwMode="auto">
          <a:xfrm>
            <a:off x="619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2058" name="Text Box 11"/>
          <p:cNvSpPr txBox="1">
            <a:spLocks noChangeArrowheads="1"/>
          </p:cNvSpPr>
          <p:nvPr/>
        </p:nvSpPr>
        <p:spPr bwMode="auto">
          <a:xfrm>
            <a:off x="4572000" y="32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21</a:t>
            </a:r>
          </a:p>
        </p:txBody>
      </p:sp>
      <p:sp>
        <p:nvSpPr>
          <p:cNvPr id="2059" name="Text Box 12"/>
          <p:cNvSpPr txBox="1">
            <a:spLocks noChangeArrowheads="1"/>
          </p:cNvSpPr>
          <p:nvPr/>
        </p:nvSpPr>
        <p:spPr bwMode="auto">
          <a:xfrm>
            <a:off x="3492000" y="32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2060" name="Text Box 13"/>
          <p:cNvSpPr txBox="1">
            <a:spLocks noChangeArrowheads="1"/>
          </p:cNvSpPr>
          <p:nvPr/>
        </p:nvSpPr>
        <p:spPr bwMode="auto">
          <a:xfrm>
            <a:off x="5652000" y="32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26" name="橢圓 25"/>
          <p:cNvSpPr/>
          <p:nvPr/>
        </p:nvSpPr>
        <p:spPr>
          <a:xfrm>
            <a:off x="3312000" y="216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1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8" name="橢圓 27"/>
          <p:cNvSpPr/>
          <p:nvPr/>
        </p:nvSpPr>
        <p:spPr>
          <a:xfrm>
            <a:off x="3312000" y="432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2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9" name="橢圓 28"/>
          <p:cNvSpPr/>
          <p:nvPr/>
        </p:nvSpPr>
        <p:spPr>
          <a:xfrm>
            <a:off x="5472000" y="216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3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31" name="橢圓 30"/>
          <p:cNvSpPr/>
          <p:nvPr/>
        </p:nvSpPr>
        <p:spPr>
          <a:xfrm>
            <a:off x="5472000" y="432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4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32" name="橢圓 31"/>
          <p:cNvSpPr/>
          <p:nvPr/>
        </p:nvSpPr>
        <p:spPr>
          <a:xfrm>
            <a:off x="2232000" y="3249000"/>
            <a:ext cx="360000" cy="360000"/>
          </a:xfrm>
          <a:prstGeom prst="ellipse">
            <a:avLst/>
          </a:prstGeom>
          <a:solidFill>
            <a:srgbClr val="FFFF0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s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35" name="直線單箭頭接點 34"/>
          <p:cNvCxnSpPr>
            <a:stCxn id="32" idx="7"/>
            <a:endCxn id="26" idx="3"/>
          </p:cNvCxnSpPr>
          <p:nvPr/>
        </p:nvCxnSpPr>
        <p:spPr>
          <a:xfrm flipV="1">
            <a:off x="2539279" y="247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stCxn id="26" idx="6"/>
            <a:endCxn id="29" idx="2"/>
          </p:cNvCxnSpPr>
          <p:nvPr/>
        </p:nvCxnSpPr>
        <p:spPr>
          <a:xfrm>
            <a:off x="3672000" y="234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>
            <a:stCxn id="29" idx="3"/>
            <a:endCxn id="28" idx="7"/>
          </p:cNvCxnSpPr>
          <p:nvPr/>
        </p:nvCxnSpPr>
        <p:spPr>
          <a:xfrm flipH="1">
            <a:off x="3619279" y="2476279"/>
            <a:ext cx="1905442" cy="190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>
            <a:stCxn id="28" idx="6"/>
            <a:endCxn id="31" idx="2"/>
          </p:cNvCxnSpPr>
          <p:nvPr/>
        </p:nvCxnSpPr>
        <p:spPr>
          <a:xfrm>
            <a:off x="3672000" y="450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>
            <a:stCxn id="28" idx="0"/>
            <a:endCxn id="26" idx="4"/>
          </p:cNvCxnSpPr>
          <p:nvPr/>
        </p:nvCxnSpPr>
        <p:spPr>
          <a:xfrm flipV="1">
            <a:off x="3492000" y="252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>
            <a:stCxn id="29" idx="5"/>
            <a:endCxn id="67" idx="1"/>
          </p:cNvCxnSpPr>
          <p:nvPr/>
        </p:nvCxnSpPr>
        <p:spPr>
          <a:xfrm>
            <a:off x="5779279" y="247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>
            <a:stCxn id="31" idx="0"/>
            <a:endCxn id="29" idx="4"/>
          </p:cNvCxnSpPr>
          <p:nvPr/>
        </p:nvCxnSpPr>
        <p:spPr>
          <a:xfrm flipV="1">
            <a:off x="5652000" y="252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>
            <a:stCxn id="32" idx="5"/>
            <a:endCxn id="28" idx="1"/>
          </p:cNvCxnSpPr>
          <p:nvPr/>
        </p:nvCxnSpPr>
        <p:spPr>
          <a:xfrm>
            <a:off x="2539279" y="355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橢圓 66"/>
          <p:cNvSpPr/>
          <p:nvPr/>
        </p:nvSpPr>
        <p:spPr>
          <a:xfrm>
            <a:off x="6552000" y="3249000"/>
            <a:ext cx="360000" cy="360000"/>
          </a:xfrm>
          <a:prstGeom prst="ellipse">
            <a:avLst/>
          </a:prstGeom>
          <a:solidFill>
            <a:srgbClr val="92D05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t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68" name="直線單箭頭接點 67"/>
          <p:cNvCxnSpPr>
            <a:stCxn id="31" idx="7"/>
            <a:endCxn id="67" idx="3"/>
          </p:cNvCxnSpPr>
          <p:nvPr/>
        </p:nvCxnSpPr>
        <p:spPr>
          <a:xfrm flipV="1">
            <a:off x="5779279" y="355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線單箭頭接點 5"/>
          <p:cNvCxnSpPr/>
          <p:nvPr/>
        </p:nvCxnSpPr>
        <p:spPr>
          <a:xfrm flipH="1">
            <a:off x="3167064" y="2528900"/>
            <a:ext cx="252411" cy="720713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橢圓 26"/>
          <p:cNvSpPr/>
          <p:nvPr/>
        </p:nvSpPr>
        <p:spPr>
          <a:xfrm>
            <a:off x="2952000" y="324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36000" rtlCol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sym typeface="Symbol" panose="05050102010706020507" pitchFamily="18" charset="2"/>
              </a:rPr>
              <a:t></a:t>
            </a:r>
            <a:endParaRPr kumimoji="1" lang="zh-TW" altLang="en-US" sz="2200" b="0" u="none" strike="noStrike" kern="120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</a:endParaRPr>
          </a:p>
        </p:txBody>
      </p:sp>
      <p:cxnSp>
        <p:nvCxnSpPr>
          <p:cNvPr id="33" name="直線單箭頭接點 32"/>
          <p:cNvCxnSpPr/>
          <p:nvPr/>
        </p:nvCxnSpPr>
        <p:spPr>
          <a:xfrm>
            <a:off x="3167844" y="3608388"/>
            <a:ext cx="251631" cy="720725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 Box 12"/>
          <p:cNvSpPr txBox="1">
            <a:spLocks noChangeArrowheads="1"/>
          </p:cNvSpPr>
          <p:nvPr/>
        </p:nvSpPr>
        <p:spPr bwMode="auto">
          <a:xfrm>
            <a:off x="295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7" name="Text Box 12"/>
          <p:cNvSpPr txBox="1">
            <a:spLocks noChangeArrowheads="1"/>
          </p:cNvSpPr>
          <p:nvPr/>
        </p:nvSpPr>
        <p:spPr bwMode="auto">
          <a:xfrm>
            <a:off x="295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662057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Flow Networks</a:t>
            </a:r>
            <a:endParaRPr lang="zh-TW" altLang="en-US" dirty="0"/>
          </a:p>
        </p:txBody>
      </p:sp>
      <p:sp>
        <p:nvSpPr>
          <p:cNvPr id="57347" name="Rectangle 6"/>
          <p:cNvSpPr>
            <a:spLocks noGrp="1" noChangeArrowheads="1"/>
          </p:cNvSpPr>
          <p:nvPr>
            <p:ph idx="1"/>
          </p:nvPr>
        </p:nvSpPr>
        <p:spPr>
          <a:xfrm>
            <a:off x="432001" y="1268729"/>
            <a:ext cx="8280000" cy="3600271"/>
          </a:xfrm>
        </p:spPr>
        <p:txBody>
          <a:bodyPr lIns="90000" rIns="90000"/>
          <a:lstStyle/>
          <a:p>
            <a:pPr marL="0" indent="0" eaLnBrk="1" hangingPunct="1">
              <a:spcBef>
                <a:spcPct val="40000"/>
              </a:spcBef>
              <a:defRPr/>
            </a:pPr>
            <a:r>
              <a:rPr lang="en-US" altLang="zh-TW" sz="2200" dirty="0"/>
              <a:t>A </a:t>
            </a:r>
            <a:r>
              <a:rPr lang="en-US" altLang="zh-TW" sz="2200" i="1" spc="300" dirty="0">
                <a:solidFill>
                  <a:srgbClr val="0000FF"/>
                </a:solidFill>
              </a:rPr>
              <a:t>f</a:t>
            </a:r>
            <a:r>
              <a:rPr lang="en-US" altLang="zh-TW" sz="2200" i="1" dirty="0">
                <a:solidFill>
                  <a:srgbClr val="0000FF"/>
                </a:solidFill>
              </a:rPr>
              <a:t>low network</a:t>
            </a:r>
            <a:r>
              <a:rPr lang="en-US" altLang="zh-TW" sz="2200" dirty="0"/>
              <a:t> </a:t>
            </a:r>
            <a:r>
              <a:rPr lang="en-US" altLang="zh-TW" sz="2200" i="1" dirty="0"/>
              <a:t>G</a:t>
            </a:r>
            <a:r>
              <a:rPr lang="en-US" altLang="zh-TW" sz="2200" dirty="0"/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/>
              <a:t> (</a:t>
            </a:r>
            <a:r>
              <a:rPr lang="en-US" altLang="zh-TW" sz="2200" i="1" dirty="0"/>
              <a:t>V</a:t>
            </a:r>
            <a:r>
              <a:rPr lang="en-US" altLang="zh-TW" sz="2200" dirty="0"/>
              <a:t>, </a:t>
            </a:r>
            <a:r>
              <a:rPr lang="en-US" altLang="zh-TW" sz="2200" i="1" spc="300" dirty="0"/>
              <a:t>E</a:t>
            </a:r>
            <a:r>
              <a:rPr lang="en-US" altLang="zh-TW" sz="2200" dirty="0"/>
              <a:t>) is a </a:t>
            </a:r>
            <a:r>
              <a:rPr lang="en-US" altLang="zh-TW" sz="2200" dirty="0">
                <a:solidFill>
                  <a:schemeClr val="hlink"/>
                </a:solidFill>
              </a:rPr>
              <a:t>directed</a:t>
            </a:r>
            <a:r>
              <a:rPr lang="en-US" altLang="zh-TW" sz="2200" dirty="0"/>
              <a:t> </a:t>
            </a:r>
            <a:r>
              <a:rPr lang="en-US" altLang="zh-TW" dirty="0"/>
              <a:t>simple graph </a:t>
            </a:r>
            <a:r>
              <a:rPr lang="en-US" altLang="zh-TW" sz="2200" dirty="0"/>
              <a:t>in which each edge (</a:t>
            </a:r>
            <a:r>
              <a:rPr lang="en-US" altLang="zh-TW" sz="2200" i="1" dirty="0"/>
              <a:t>u</a:t>
            </a:r>
            <a:r>
              <a:rPr lang="en-US" altLang="zh-TW" sz="2200" dirty="0"/>
              <a:t>, </a:t>
            </a:r>
            <a:r>
              <a:rPr lang="en-US" altLang="zh-TW" sz="2200" i="1" dirty="0"/>
              <a:t>v</a:t>
            </a:r>
            <a:r>
              <a:rPr lang="en-US" altLang="zh-TW" sz="2200" dirty="0"/>
              <a:t>) </a:t>
            </a:r>
            <a:r>
              <a:rPr lang="en-US" altLang="zh-TW" sz="2200" dirty="0"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sz="2200" dirty="0">
                <a:sym typeface="Symbol" pitchFamily="18" charset="2"/>
              </a:rPr>
              <a:t> </a:t>
            </a:r>
            <a:r>
              <a:rPr lang="en-US" altLang="zh-TW" sz="2200" i="1" dirty="0"/>
              <a:t>E</a:t>
            </a:r>
            <a:r>
              <a:rPr lang="en-US" altLang="zh-TW" sz="2200" dirty="0">
                <a:sym typeface="Symbol" pitchFamily="18" charset="2"/>
              </a:rPr>
              <a:t> has a </a:t>
            </a:r>
            <a:r>
              <a:rPr lang="en-US" altLang="zh-TW" dirty="0">
                <a:sym typeface="Symbol" pitchFamily="18" charset="2"/>
              </a:rPr>
              <a:t>positive</a:t>
            </a:r>
            <a:r>
              <a:rPr lang="en-US" altLang="zh-TW" sz="2200" dirty="0"/>
              <a:t> </a:t>
            </a:r>
            <a:r>
              <a:rPr lang="en-US" altLang="zh-TW" sz="2200" i="1" dirty="0">
                <a:solidFill>
                  <a:srgbClr val="0000FF"/>
                </a:solidFill>
              </a:rPr>
              <a:t>capacity </a:t>
            </a:r>
            <a:r>
              <a:rPr lang="en-US" altLang="zh-TW" sz="2200" i="1" dirty="0"/>
              <a:t>c</a:t>
            </a:r>
            <a:r>
              <a:rPr lang="en-US" altLang="zh-TW" sz="2200" dirty="0"/>
              <a:t>(</a:t>
            </a:r>
            <a:r>
              <a:rPr lang="en-US" altLang="zh-TW" sz="2200" i="1" dirty="0"/>
              <a:t>u</a:t>
            </a:r>
            <a:r>
              <a:rPr lang="en-US" altLang="zh-TW" sz="2200" dirty="0"/>
              <a:t>, </a:t>
            </a:r>
            <a:r>
              <a:rPr lang="en-US" altLang="zh-TW" sz="2200" i="1" dirty="0"/>
              <a:t>v</a:t>
            </a:r>
            <a:r>
              <a:rPr lang="en-US" altLang="zh-TW" sz="2200" dirty="0"/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&gt;</a:t>
            </a:r>
            <a:r>
              <a:rPr lang="en-US" altLang="zh-TW" sz="2200" dirty="0">
                <a:sym typeface="Symbol" pitchFamily="18" charset="2"/>
              </a:rPr>
              <a:t> 0.</a:t>
            </a:r>
          </a:p>
          <a:p>
            <a:pPr marL="0" indent="0" eaLnBrk="1" hangingPunct="1">
              <a:spcBef>
                <a:spcPct val="40000"/>
              </a:spcBef>
              <a:defRPr/>
            </a:pPr>
            <a:r>
              <a:rPr lang="en-US" altLang="zh-TW" sz="2200" dirty="0"/>
              <a:t>We further require that </a:t>
            </a:r>
            <a:r>
              <a:rPr lang="en-US" altLang="zh-TW" dirty="0"/>
              <a:t>if </a:t>
            </a:r>
            <a:r>
              <a:rPr lang="en-US" altLang="zh-TW" i="1" dirty="0"/>
              <a:t>E</a:t>
            </a:r>
            <a:r>
              <a:rPr lang="en-US" altLang="zh-TW" dirty="0"/>
              <a:t> contains an edge </a:t>
            </a:r>
            <a:r>
              <a:rPr lang="en-US" altLang="zh-TW" sz="2200" dirty="0"/>
              <a:t>(</a:t>
            </a:r>
            <a:r>
              <a:rPr lang="en-US" altLang="zh-TW" sz="2200" i="1" dirty="0"/>
              <a:t>u</a:t>
            </a:r>
            <a:r>
              <a:rPr lang="en-US" altLang="zh-TW" sz="2200" dirty="0"/>
              <a:t>, </a:t>
            </a:r>
            <a:r>
              <a:rPr lang="en-US" altLang="zh-TW" sz="2200" i="1" dirty="0"/>
              <a:t>v</a:t>
            </a:r>
            <a:r>
              <a:rPr lang="en-US" altLang="zh-TW" dirty="0"/>
              <a:t>), then there is no edge </a:t>
            </a:r>
            <a:r>
              <a:rPr lang="en-US" altLang="zh-TW" sz="2200" dirty="0"/>
              <a:t>(</a:t>
            </a:r>
            <a:r>
              <a:rPr lang="en-US" altLang="zh-TW" sz="2200" i="1" dirty="0"/>
              <a:t>v</a:t>
            </a:r>
            <a:r>
              <a:rPr lang="en-US" altLang="zh-TW" sz="2200" dirty="0"/>
              <a:t>, </a:t>
            </a:r>
            <a:r>
              <a:rPr lang="en-US" altLang="zh-TW" sz="2200" i="1" dirty="0"/>
              <a:t>u</a:t>
            </a:r>
            <a:r>
              <a:rPr lang="en-US" altLang="zh-TW" sz="2200" dirty="0"/>
              <a:t>) </a:t>
            </a:r>
            <a:r>
              <a:rPr lang="en-US" altLang="zh-TW" dirty="0"/>
              <a:t>in the reverse direction</a:t>
            </a:r>
            <a:r>
              <a:rPr lang="en-US" altLang="zh-TW" dirty="0">
                <a:sym typeface="Symbol" pitchFamily="18" charset="2"/>
              </a:rPr>
              <a:t>, and we disallow self-loops</a:t>
            </a:r>
            <a:r>
              <a:rPr lang="en-US" altLang="zh-TW" sz="2200" dirty="0"/>
              <a:t>.</a:t>
            </a:r>
          </a:p>
          <a:p>
            <a:pPr marL="0" indent="0" eaLnBrk="1" hangingPunct="1">
              <a:spcBef>
                <a:spcPct val="40000"/>
              </a:spcBef>
              <a:defRPr/>
            </a:pPr>
            <a:r>
              <a:rPr lang="en-US" altLang="zh-TW" sz="2200" dirty="0"/>
              <a:t>If (</a:t>
            </a:r>
            <a:r>
              <a:rPr lang="en-US" altLang="zh-TW" sz="2200" i="1" dirty="0"/>
              <a:t>u</a:t>
            </a:r>
            <a:r>
              <a:rPr lang="en-US" altLang="zh-TW" sz="2200" dirty="0"/>
              <a:t>, </a:t>
            </a:r>
            <a:r>
              <a:rPr lang="en-US" altLang="zh-TW" sz="2200" i="1" dirty="0"/>
              <a:t>v</a:t>
            </a:r>
            <a:r>
              <a:rPr lang="en-US" altLang="zh-TW" sz="2200" dirty="0"/>
              <a:t>)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∉</a:t>
            </a:r>
            <a:r>
              <a:rPr lang="en-US" altLang="zh-TW" sz="2200" dirty="0">
                <a:sym typeface="Symbol" pitchFamily="18" charset="2"/>
              </a:rPr>
              <a:t> </a:t>
            </a:r>
            <a:r>
              <a:rPr lang="en-US" altLang="zh-TW" sz="2200" i="1" dirty="0"/>
              <a:t>E</a:t>
            </a:r>
            <a:r>
              <a:rPr lang="en-US" altLang="zh-TW" sz="2200" dirty="0">
                <a:sym typeface="Symbol" pitchFamily="18" charset="2"/>
              </a:rPr>
              <a:t>, then we define </a:t>
            </a:r>
            <a:r>
              <a:rPr lang="en-US" altLang="zh-TW" sz="2200" i="1" dirty="0"/>
              <a:t>c</a:t>
            </a:r>
            <a:r>
              <a:rPr lang="en-US" altLang="zh-TW" sz="2200" dirty="0"/>
              <a:t>(</a:t>
            </a:r>
            <a:r>
              <a:rPr lang="en-US" altLang="zh-TW" sz="2200" i="1" dirty="0"/>
              <a:t>u</a:t>
            </a:r>
            <a:r>
              <a:rPr lang="en-US" altLang="zh-TW" sz="2200" dirty="0"/>
              <a:t>, </a:t>
            </a:r>
            <a:r>
              <a:rPr lang="en-US" altLang="zh-TW" sz="2200" i="1" dirty="0"/>
              <a:t>v</a:t>
            </a:r>
            <a:r>
              <a:rPr lang="en-US" altLang="zh-TW" sz="2200" dirty="0"/>
              <a:t>) </a:t>
            </a:r>
            <a:r>
              <a:rPr lang="en-US" altLang="zh-TW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/>
              <a:t> </a:t>
            </a:r>
            <a:r>
              <a:rPr lang="en-US" altLang="zh-TW" sz="2200" dirty="0">
                <a:sym typeface="Symbol" pitchFamily="18" charset="2"/>
              </a:rPr>
              <a:t>0</a:t>
            </a:r>
            <a:r>
              <a:rPr lang="en-US" altLang="zh-TW" sz="2200" dirty="0"/>
              <a:t>.</a:t>
            </a:r>
          </a:p>
          <a:p>
            <a:pPr marL="0" indent="0" eaLnBrk="1" hangingPunct="1">
              <a:spcBef>
                <a:spcPct val="40000"/>
              </a:spcBef>
              <a:defRPr/>
            </a:pPr>
            <a:r>
              <a:rPr lang="en-US" altLang="zh-TW" dirty="0"/>
              <a:t>Each flow network contains two distinguished nodes: </a:t>
            </a:r>
            <a:r>
              <a:rPr lang="en-US" altLang="zh-TW" sz="2200" dirty="0"/>
              <a:t>a </a:t>
            </a:r>
            <a:r>
              <a:rPr lang="en-US" altLang="zh-TW" sz="2200" i="1" dirty="0">
                <a:solidFill>
                  <a:srgbClr val="0000FF"/>
                </a:solidFill>
              </a:rPr>
              <a:t>source</a:t>
            </a:r>
            <a:r>
              <a:rPr lang="en-US" altLang="zh-TW" sz="2200" dirty="0"/>
              <a:t> </a:t>
            </a:r>
            <a:r>
              <a:rPr lang="en-US" altLang="zh-TW" sz="2200" i="1" dirty="0"/>
              <a:t>s</a:t>
            </a:r>
            <a:r>
              <a:rPr lang="en-US" altLang="zh-TW" sz="2200" dirty="0"/>
              <a:t> and a </a:t>
            </a:r>
            <a:r>
              <a:rPr lang="en-US" altLang="zh-TW" sz="2200" i="1" dirty="0">
                <a:solidFill>
                  <a:srgbClr val="0000FF"/>
                </a:solidFill>
              </a:rPr>
              <a:t>sink</a:t>
            </a:r>
            <a:r>
              <a:rPr lang="en-US" altLang="zh-TW" sz="2200" dirty="0"/>
              <a:t> </a:t>
            </a:r>
            <a:r>
              <a:rPr lang="en-US" altLang="zh-TW" sz="2200" i="1" dirty="0"/>
              <a:t>t</a:t>
            </a:r>
            <a:r>
              <a:rPr lang="en-US" altLang="zh-TW" sz="2200" dirty="0"/>
              <a:t>.</a:t>
            </a:r>
          </a:p>
          <a:p>
            <a:pPr marL="0" indent="0" eaLnBrk="1" hangingPunct="1">
              <a:spcBef>
                <a:spcPct val="40000"/>
              </a:spcBef>
              <a:defRPr/>
            </a:pPr>
            <a:r>
              <a:rPr lang="en-US" altLang="zh-TW" sz="2200" dirty="0"/>
              <a:t>For convenience, we assume that </a:t>
            </a:r>
            <a:r>
              <a:rPr lang="en-US" altLang="zh-TW" sz="2200" dirty="0">
                <a:solidFill>
                  <a:schemeClr val="hlink"/>
                </a:solidFill>
              </a:rPr>
              <a:t>each node lies on some path from the source to the sink</a:t>
            </a:r>
            <a:r>
              <a:rPr lang="en-US" altLang="zh-TW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512398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 Example of Flow Network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12000" y="1269000"/>
            <a:ext cx="7920000" cy="1440000"/>
          </a:xfrm>
        </p:spPr>
        <p:txBody>
          <a:bodyPr lIns="36000" rIns="0"/>
          <a:lstStyle/>
          <a:p>
            <a:pPr marL="0" lvl="0" indent="0" eaLnBrk="1" hangingPunct="1">
              <a:spcBef>
                <a:spcPts val="600"/>
              </a:spcBef>
              <a:buClr>
                <a:srgbClr val="3333CC"/>
              </a:buClr>
              <a:tabLst>
                <a:tab pos="2160000" algn="l"/>
                <a:tab pos="4320000" algn="l"/>
                <a:tab pos="6480000" algn="l"/>
              </a:tabLst>
              <a:defRPr/>
            </a:pP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16	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2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13	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3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12	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2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4</a:t>
            </a:r>
          </a:p>
          <a:p>
            <a:pPr marL="0" lvl="0" indent="0" eaLnBrk="1" hangingPunct="1">
              <a:spcBef>
                <a:spcPts val="600"/>
              </a:spcBef>
              <a:buClr>
                <a:srgbClr val="3333CC"/>
              </a:buClr>
              <a:tabLst>
                <a:tab pos="2160000" algn="l"/>
                <a:tab pos="4320000" algn="l"/>
                <a:tab pos="6480000" algn="l"/>
              </a:tabLst>
              <a:defRPr/>
            </a:pP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2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4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14	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3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2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9	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3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20	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4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3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7</a:t>
            </a:r>
          </a:p>
          <a:p>
            <a:pPr marL="0" lvl="0" indent="0" eaLnBrk="1" hangingPunct="1">
              <a:spcBef>
                <a:spcPts val="600"/>
              </a:spcBef>
              <a:buClr>
                <a:srgbClr val="3333CC"/>
              </a:buClr>
              <a:tabLst>
                <a:tab pos="2160000" algn="l"/>
                <a:tab pos="4320000" algn="l"/>
                <a:tab pos="6480000" algn="l"/>
              </a:tabLst>
              <a:defRPr/>
            </a:pP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4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4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412000" y="36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72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16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43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2412000" y="48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36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6192000" y="36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20</a:t>
            </a: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4392000" y="55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3600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6192000" y="48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572000" y="43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349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565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13" name="橢圓 12"/>
          <p:cNvSpPr/>
          <p:nvPr/>
        </p:nvSpPr>
        <p:spPr>
          <a:xfrm>
            <a:off x="3312000" y="324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1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3312000" y="540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2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5472000" y="324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3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6" name="橢圓 15"/>
          <p:cNvSpPr/>
          <p:nvPr/>
        </p:nvSpPr>
        <p:spPr>
          <a:xfrm>
            <a:off x="5472000" y="540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4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7" name="橢圓 16"/>
          <p:cNvSpPr/>
          <p:nvPr/>
        </p:nvSpPr>
        <p:spPr>
          <a:xfrm>
            <a:off x="2232000" y="4329000"/>
            <a:ext cx="360000" cy="360000"/>
          </a:xfrm>
          <a:prstGeom prst="ellipse">
            <a:avLst/>
          </a:prstGeom>
          <a:solidFill>
            <a:srgbClr val="FFFF0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s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18" name="直線單箭頭接點 17"/>
          <p:cNvCxnSpPr>
            <a:stCxn id="17" idx="7"/>
            <a:endCxn id="13" idx="3"/>
          </p:cNvCxnSpPr>
          <p:nvPr/>
        </p:nvCxnSpPr>
        <p:spPr>
          <a:xfrm flipV="1">
            <a:off x="2539279" y="355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stCxn id="13" idx="6"/>
            <a:endCxn id="15" idx="2"/>
          </p:cNvCxnSpPr>
          <p:nvPr/>
        </p:nvCxnSpPr>
        <p:spPr>
          <a:xfrm>
            <a:off x="3672000" y="342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15" idx="3"/>
            <a:endCxn id="14" idx="7"/>
          </p:cNvCxnSpPr>
          <p:nvPr/>
        </p:nvCxnSpPr>
        <p:spPr>
          <a:xfrm flipH="1">
            <a:off x="3619279" y="3556279"/>
            <a:ext cx="1905442" cy="190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14" idx="6"/>
            <a:endCxn id="16" idx="2"/>
          </p:cNvCxnSpPr>
          <p:nvPr/>
        </p:nvCxnSpPr>
        <p:spPr>
          <a:xfrm>
            <a:off x="3672000" y="558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14" idx="0"/>
            <a:endCxn id="13" idx="4"/>
          </p:cNvCxnSpPr>
          <p:nvPr/>
        </p:nvCxnSpPr>
        <p:spPr>
          <a:xfrm flipV="1">
            <a:off x="3492000" y="360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stCxn id="15" idx="5"/>
            <a:endCxn id="26" idx="1"/>
          </p:cNvCxnSpPr>
          <p:nvPr/>
        </p:nvCxnSpPr>
        <p:spPr>
          <a:xfrm>
            <a:off x="5779279" y="355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>
            <a:stCxn id="16" idx="0"/>
            <a:endCxn id="15" idx="4"/>
          </p:cNvCxnSpPr>
          <p:nvPr/>
        </p:nvCxnSpPr>
        <p:spPr>
          <a:xfrm flipV="1">
            <a:off x="5652000" y="360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stCxn id="17" idx="5"/>
            <a:endCxn id="14" idx="1"/>
          </p:cNvCxnSpPr>
          <p:nvPr/>
        </p:nvCxnSpPr>
        <p:spPr>
          <a:xfrm>
            <a:off x="2539279" y="463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橢圓 25"/>
          <p:cNvSpPr/>
          <p:nvPr/>
        </p:nvSpPr>
        <p:spPr>
          <a:xfrm>
            <a:off x="6552000" y="4329000"/>
            <a:ext cx="360000" cy="360000"/>
          </a:xfrm>
          <a:prstGeom prst="ellipse">
            <a:avLst/>
          </a:prstGeom>
          <a:solidFill>
            <a:srgbClr val="92D05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t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27" name="直線單箭頭接點 26"/>
          <p:cNvCxnSpPr>
            <a:stCxn id="16" idx="7"/>
            <a:endCxn id="26" idx="3"/>
          </p:cNvCxnSpPr>
          <p:nvPr/>
        </p:nvCxnSpPr>
        <p:spPr>
          <a:xfrm flipV="1">
            <a:off x="5779279" y="463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59932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Maximum-flow Problem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52000" y="1269000"/>
                <a:ext cx="8640000" cy="3420000"/>
              </a:xfrm>
            </p:spPr>
            <p:txBody>
              <a:bodyPr/>
              <a:lstStyle/>
              <a:p>
                <a:pPr marL="0" lvl="0" indent="0" eaLnBrk="1" hangingPunct="1">
                  <a:buClr>
                    <a:srgbClr val="3333CC"/>
                  </a:buClr>
                </a:pPr>
                <a:r>
                  <a:rPr lang="en-US" altLang="zh-TW" dirty="0">
                    <a:solidFill>
                      <a:schemeClr val="bg1"/>
                    </a:solidFill>
                  </a:rPr>
                  <a:t>We call the nonnegative quantity </a:t>
                </a:r>
                <a:r>
                  <a:rPr lang="en-US" altLang="zh-TW" i="1" spc="300" dirty="0">
                    <a:solidFill>
                      <a:schemeClr val="bg1"/>
                    </a:solidFill>
                  </a:rPr>
                  <a:t>f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(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u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,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v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) the </a:t>
                </a:r>
                <a:r>
                  <a:rPr lang="en-US" altLang="zh-TW" i="1" spc="300" dirty="0">
                    <a:solidFill>
                      <a:schemeClr val="bg1"/>
                    </a:solidFill>
                  </a:rPr>
                  <a:t>f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low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 from node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u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 to node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v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.  The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value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TW" b="1" spc="600" dirty="0">
                    <a:solidFill>
                      <a:schemeClr val="bg1"/>
                    </a:solidFill>
                  </a:rPr>
                  <a:t>|</a:t>
                </a:r>
                <a:r>
                  <a:rPr lang="en-US" altLang="zh-TW" i="1" spc="600" dirty="0">
                    <a:solidFill>
                      <a:schemeClr val="bg1"/>
                    </a:solidFill>
                  </a:rPr>
                  <a:t>f</a:t>
                </a:r>
                <a:r>
                  <a:rPr lang="en-US" altLang="zh-TW" b="1" dirty="0">
                    <a:solidFill>
                      <a:schemeClr val="bg1"/>
                    </a:solidFill>
                  </a:rPr>
                  <a:t>|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 of a flow</a:t>
                </a:r>
                <a:r>
                  <a:rPr lang="en-US" altLang="zh-TW" spc="30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TW" i="1" spc="300" dirty="0">
                    <a:solidFill>
                      <a:schemeClr val="bg1"/>
                    </a:solidFill>
                  </a:rPr>
                  <a:t>f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 is defined as,</a:t>
                </a:r>
                <a:endParaRPr lang="zh-TW" altLang="en-US" dirty="0">
                  <a:solidFill>
                    <a:schemeClr val="bg1"/>
                  </a:solidFill>
                </a:endParaRPr>
              </a:p>
              <a:p>
                <a:pPr>
                  <a:spcBef>
                    <a:spcPts val="0"/>
                  </a:spcBef>
                </a:pPr>
                <a:endParaRPr lang="en-US" altLang="zh-TW" dirty="0">
                  <a:solidFill>
                    <a:schemeClr val="bg1"/>
                  </a:solidFill>
                </a:endParaRPr>
              </a:p>
              <a:p>
                <a:pPr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b="1" spc="600" dirty="0">
                          <a:solidFill>
                            <a:schemeClr val="bg1"/>
                          </a:solidFill>
                        </a:rPr>
                        <m:t>|</m:t>
                      </m:r>
                      <m:r>
                        <m:rPr>
                          <m:nor/>
                        </m:rPr>
                        <a:rPr lang="en-US" altLang="zh-TW" i="1" spc="600" dirty="0">
                          <a:solidFill>
                            <a:schemeClr val="bg1"/>
                          </a:solidFill>
                        </a:rPr>
                        <m:t>f</m:t>
                      </m:r>
                      <m:r>
                        <m:rPr>
                          <m:nor/>
                        </m:rPr>
                        <a:rPr lang="en-US" altLang="zh-TW" b="1" dirty="0">
                          <a:solidFill>
                            <a:schemeClr val="bg1"/>
                          </a:solidFill>
                        </a:rPr>
                        <m:t>|</m:t>
                      </m:r>
                      <m:r>
                        <a:rPr lang="en-US" altLang="zh-TW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800" i="1" spc="100" dirty="0">
                              <a:solidFill>
                                <a:schemeClr val="bg1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sz="1800" spc="10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en-US" altLang="zh-TW" sz="1800" i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V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zh-TW" i="1" spc="300" dirty="0">
                              <a:solidFill>
                                <a:schemeClr val="bg1"/>
                              </a:solidFill>
                            </a:rPr>
                            <m:t>f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chemeClr val="bg1"/>
                              </a:solidFill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b="0" i="1" dirty="0" smtClean="0">
                              <a:solidFill>
                                <a:schemeClr val="bg1"/>
                              </a:solidFill>
                            </a:rPr>
                            <m:t>s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chemeClr val="bg1"/>
                              </a:solidFill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US" altLang="zh-TW" i="1" dirty="0">
                              <a:solidFill>
                                <a:schemeClr val="bg1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chemeClr val="bg1"/>
                              </a:solidFill>
                            </a:rPr>
                            <m:t>)</m:t>
                          </m:r>
                        </m:e>
                      </m:nary>
                      <m:r>
                        <a:rPr lang="en-US" altLang="zh-TW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800" i="1" spc="100" dirty="0">
                              <a:solidFill>
                                <a:schemeClr val="bg1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sz="1800" spc="10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en-US" altLang="zh-TW" sz="1800" i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V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zh-TW" i="1" spc="300" dirty="0">
                              <a:solidFill>
                                <a:schemeClr val="bg1"/>
                              </a:solidFill>
                            </a:rPr>
                            <m:t>f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chemeClr val="bg1"/>
                              </a:solidFill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b="0" i="1" dirty="0" smtClean="0">
                              <a:solidFill>
                                <a:schemeClr val="bg1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chemeClr val="bg1"/>
                              </a:solidFill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US" altLang="zh-TW" b="0" i="1" dirty="0" smtClean="0">
                              <a:solidFill>
                                <a:schemeClr val="bg1"/>
                              </a:solidFill>
                            </a:rPr>
                            <m:t>s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chemeClr val="bg1"/>
                              </a:solidFill>
                            </a:rPr>
                            <m:t>)</m:t>
                          </m:r>
                        </m:e>
                      </m:nary>
                      <m:r>
                        <m:rPr>
                          <m:nor/>
                        </m:rPr>
                        <a:rPr lang="en-US" altLang="zh-TW" b="0" i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en-US" altLang="zh-TW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0"/>
                  </a:spcBef>
                </a:pPr>
                <a:endParaRPr lang="en-US" altLang="zh-TW" dirty="0">
                  <a:solidFill>
                    <a:schemeClr val="bg1"/>
                  </a:solidFill>
                </a:endParaRPr>
              </a:p>
              <a:p>
                <a:pPr marL="0" lvl="0" indent="0" eaLnBrk="1" hangingPunct="1">
                  <a:spcBef>
                    <a:spcPts val="0"/>
                  </a:spcBef>
                  <a:buClr>
                    <a:srgbClr val="3333CC"/>
                  </a:buClr>
                </a:pPr>
                <a:r>
                  <a:rPr lang="en-US" altLang="zh-TW" dirty="0">
                    <a:solidFill>
                      <a:schemeClr val="bg1"/>
                    </a:solidFill>
                  </a:rPr>
                  <a:t>that is, the total flow out of the source minus the flow into the source.</a:t>
                </a:r>
              </a:p>
              <a:p>
                <a:pPr marL="0" lvl="0" indent="0" eaLnBrk="1" hangingPunct="1">
                  <a:spcBef>
                    <a:spcPct val="50000"/>
                  </a:spcBef>
                  <a:buClr>
                    <a:srgbClr val="3333CC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In the 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maximum-</a:t>
                </a:r>
                <a:r>
                  <a:rPr lang="en-US" altLang="zh-TW" i="1" spc="300" dirty="0">
                    <a:solidFill>
                      <a:srgbClr val="0000FF"/>
                    </a:solidFill>
                  </a:rPr>
                  <a:t>f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low problem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the input is a flow network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with source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s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and sink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t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and the goal is to find a flow of maximum value.</a:t>
                </a:r>
                <a:endParaRPr lang="zh-TW" altLang="en-US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2000" y="1269000"/>
                <a:ext cx="8640000" cy="3420000"/>
              </a:xfrm>
              <a:blipFill>
                <a:blip r:embed="rId2"/>
                <a:stretch>
                  <a:fillRect l="-917" t="-1248" b="-39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31317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Flow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07" name="Rectangle 5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32000" y="1269000"/>
                <a:ext cx="8280000" cy="4860000"/>
              </a:xfrm>
            </p:spPr>
            <p:txBody>
              <a:bodyPr/>
              <a:lstStyle/>
              <a:p>
                <a:pPr marL="0" indent="0" eaLnBrk="1" hangingPunct="1">
                  <a:spcBef>
                    <a:spcPts val="0"/>
                  </a:spcBef>
                </a:pPr>
                <a:r>
                  <a:rPr lang="en-US" altLang="zh-TW" dirty="0"/>
                  <a:t>A</a:t>
                </a:r>
                <a:r>
                  <a:rPr lang="en-US" altLang="zh-TW" spc="300" dirty="0"/>
                  <a:t> </a:t>
                </a:r>
                <a:r>
                  <a:rPr lang="en-US" altLang="zh-TW" i="1" spc="300" dirty="0">
                    <a:solidFill>
                      <a:srgbClr val="0000FF"/>
                    </a:solidFill>
                  </a:rPr>
                  <a:t>f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low</a:t>
                </a:r>
                <a:r>
                  <a:rPr lang="en-US" altLang="zh-TW" dirty="0"/>
                  <a:t> in </a:t>
                </a:r>
                <a:r>
                  <a:rPr lang="en-US" altLang="zh-TW" i="1" dirty="0"/>
                  <a:t>G</a:t>
                </a:r>
                <a:r>
                  <a:rPr lang="en-US" altLang="zh-TW" dirty="0"/>
                  <a:t> is a real-valued function </a:t>
                </a:r>
                <a:r>
                  <a:rPr lang="en-US" altLang="zh-TW" i="1" dirty="0"/>
                  <a:t>f </a:t>
                </a:r>
                <a:r>
                  <a:rPr lang="en-US" altLang="zh-TW" dirty="0"/>
                  <a:t>: </a:t>
                </a:r>
                <a:r>
                  <a:rPr lang="en-US" altLang="zh-TW" i="1" spc="300" dirty="0" err="1">
                    <a:solidFill>
                      <a:srgbClr val="000000"/>
                    </a:solidFill>
                    <a:sym typeface="Symbol" pitchFamily="18" charset="2"/>
                  </a:rPr>
                  <a:t>V</a:t>
                </a:r>
                <a:r>
                  <a:rPr lang="en-US" altLang="zh-TW" spc="50" dirty="0" err="1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×</a:t>
                </a:r>
                <a:r>
                  <a:rPr lang="en-US" altLang="zh-TW" i="1" dirty="0" err="1">
                    <a:solidFill>
                      <a:srgbClr val="000000"/>
                    </a:solidFill>
                    <a:cs typeface="Times New Roman" pitchFamily="18" charset="0"/>
                    <a:sym typeface="Symbol" pitchFamily="18" charset="2"/>
                  </a:rPr>
                  <a:t>V</a:t>
                </a:r>
                <a:r>
                  <a:rPr lang="en-US" altLang="zh-TW" dirty="0">
                    <a:cs typeface="Times New Roman" pitchFamily="18" charset="0"/>
                    <a:sym typeface="Symbol" pitchFamily="18" charset="2"/>
                  </a:rPr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itchFamily="18" charset="0"/>
                    <a:sym typeface="Symbol" pitchFamily="18" charset="2"/>
                  </a:rPr>
                  <a:t>⟶</a:t>
                </a:r>
                <a:r>
                  <a:rPr lang="en-US" altLang="zh-TW" dirty="0">
                    <a:cs typeface="Times New Roman" pitchFamily="18" charset="0"/>
                    <a:sym typeface="Symbol" pitchFamily="18" charset="2"/>
                  </a:rPr>
                  <a:t> </a:t>
                </a:r>
                <a:r>
                  <a:rPr lang="en-US" altLang="zh-TW" b="1" i="1" dirty="0">
                    <a:cs typeface="Times New Roman" pitchFamily="18" charset="0"/>
                    <a:sym typeface="Symbol" pitchFamily="18" charset="2"/>
                  </a:rPr>
                  <a:t>R</a:t>
                </a:r>
                <a:r>
                  <a:rPr lang="en-US" altLang="zh-TW" dirty="0"/>
                  <a:t> that satisfies the following two properties:</a:t>
                </a:r>
                <a:endParaRPr lang="en-US" altLang="zh-TW" b="1" i="1" dirty="0"/>
              </a:p>
              <a:p>
                <a:pPr marL="0" indent="0" eaLnBrk="1" hangingPunct="1">
                  <a:spcBef>
                    <a:spcPts val="2400"/>
                  </a:spcBef>
                  <a:spcAft>
                    <a:spcPts val="1200"/>
                  </a:spcAft>
                </a:pPr>
                <a:r>
                  <a:rPr lang="en-US" altLang="zh-TW" dirty="0">
                    <a:solidFill>
                      <a:schemeClr val="bg1"/>
                    </a:solidFill>
                  </a:rPr>
                  <a:t>Capacity constraint: For all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u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,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v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TW" sz="22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∈</a:t>
                </a:r>
                <a:r>
                  <a:rPr lang="en-US" altLang="zh-TW" dirty="0">
                    <a:solidFill>
                      <a:schemeClr val="bg1"/>
                    </a:solidFill>
                    <a:sym typeface="Symbol" pitchFamily="18" charset="2"/>
                  </a:rPr>
                  <a:t> </a:t>
                </a:r>
                <a:r>
                  <a:rPr lang="en-US" altLang="zh-TW" i="1" dirty="0">
                    <a:solidFill>
                      <a:schemeClr val="bg1"/>
                    </a:solidFill>
                    <a:sym typeface="Symbol" pitchFamily="18" charset="2"/>
                  </a:rPr>
                  <a:t>V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, 0 </a:t>
                </a:r>
                <a:r>
                  <a:rPr lang="en-US" altLang="zh-TW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≤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f</a:t>
                </a:r>
                <a:r>
                  <a:rPr lang="en-US" altLang="zh-TW" sz="120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(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u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,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v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) </a:t>
                </a:r>
                <a:r>
                  <a:rPr lang="en-US" altLang="zh-TW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≤</a:t>
                </a:r>
                <a:r>
                  <a:rPr lang="en-US" altLang="zh-TW" dirty="0">
                    <a:solidFill>
                      <a:schemeClr val="bg1"/>
                    </a:solidFill>
                    <a:sym typeface="Symbol" pitchFamily="18" charset="2"/>
                  </a:rPr>
                  <a:t> </a:t>
                </a:r>
                <a:r>
                  <a:rPr lang="en-US" altLang="zh-TW" i="1" dirty="0">
                    <a:solidFill>
                      <a:schemeClr val="bg1"/>
                    </a:solidFill>
                    <a:sym typeface="Symbol" pitchFamily="18" charset="2"/>
                  </a:rPr>
                  <a:t>c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(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u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,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v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).</a:t>
                </a:r>
                <a:endParaRPr lang="en-US" altLang="zh-TW" b="1" i="1" dirty="0">
                  <a:solidFill>
                    <a:schemeClr val="bg1"/>
                  </a:solidFill>
                </a:endParaRPr>
              </a:p>
              <a:p>
                <a:pPr marL="0" indent="0" eaLnBrk="1" hangingPunct="1">
                  <a:spcBef>
                    <a:spcPts val="24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bg1"/>
                          </a:solidFill>
                        </a:rPr>
                        <m:t>Flow</m:t>
                      </m:r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bg1"/>
                          </a:solidFill>
                        </a:rPr>
                        <m:t>conservation</m:t>
                      </m:r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bg1"/>
                          </a:solidFill>
                        </a:rPr>
                        <m:t>: </m:t>
                      </m:r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bg1"/>
                          </a:solidFill>
                        </a:rPr>
                        <m:t>For</m:t>
                      </m:r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bg1"/>
                          </a:solidFill>
                        </a:rPr>
                        <m:t>all</m:t>
                      </m:r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i="1" dirty="0" smtClean="0">
                          <a:solidFill>
                            <a:schemeClr val="bg1"/>
                          </a:solidFill>
                        </a:rPr>
                        <m:t>u</m:t>
                      </m:r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i="1" dirty="0" smtClean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m:t>V</m:t>
                      </m:r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bg1"/>
                          </a:solidFill>
                        </a:rPr>
                        <m:t> {</m:t>
                      </m:r>
                      <m:r>
                        <m:rPr>
                          <m:nor/>
                        </m:rPr>
                        <a:rPr lang="en-US" altLang="zh-TW" i="1" dirty="0" smtClean="0">
                          <a:solidFill>
                            <a:schemeClr val="bg1"/>
                          </a:solidFill>
                        </a:rPr>
                        <m:t>s</m:t>
                      </m:r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bg1"/>
                          </a:solidFill>
                        </a:rPr>
                        <m:t>, </m:t>
                      </m:r>
                      <m:r>
                        <m:rPr>
                          <m:nor/>
                        </m:rPr>
                        <a:rPr lang="en-US" altLang="zh-TW" i="1" dirty="0" smtClean="0">
                          <a:solidFill>
                            <a:schemeClr val="bg1"/>
                          </a:solidFill>
                        </a:rPr>
                        <m:t>t</m:t>
                      </m:r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bg1"/>
                          </a:solidFill>
                        </a:rPr>
                        <m:t>},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800" i="1" spc="100" dirty="0">
                              <a:solidFill>
                                <a:schemeClr val="bg1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sz="1800" spc="10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en-US" altLang="zh-TW" sz="1800" i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V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zh-TW" i="1" dirty="0">
                              <a:solidFill>
                                <a:schemeClr val="bg1"/>
                              </a:solidFill>
                            </a:rPr>
                            <m:t>f</m:t>
                          </m:r>
                          <m:r>
                            <m:rPr>
                              <m:nor/>
                            </m:rPr>
                            <a:rPr lang="en-US" altLang="zh-TW" sz="1200" dirty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chemeClr val="bg1"/>
                              </a:solidFill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b="0" i="1" dirty="0" smtClean="0">
                              <a:solidFill>
                                <a:schemeClr val="bg1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chemeClr val="bg1"/>
                              </a:solidFill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US" altLang="zh-TW" b="0" i="1" dirty="0" smtClean="0">
                              <a:solidFill>
                                <a:schemeClr val="bg1"/>
                              </a:solidFill>
                            </a:rPr>
                            <m:t>u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chemeClr val="bg1"/>
                              </a:solidFill>
                            </a:rPr>
                            <m:t>)</m:t>
                          </m:r>
                        </m:e>
                      </m:nary>
                      <m:r>
                        <a:rPr lang="en-US" altLang="zh-TW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800" i="1" spc="100" dirty="0">
                              <a:solidFill>
                                <a:schemeClr val="bg1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sz="1800" spc="10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en-US" altLang="zh-TW" sz="1800" i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V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zh-TW" i="1" dirty="0">
                              <a:solidFill>
                                <a:schemeClr val="bg1"/>
                              </a:solidFill>
                            </a:rPr>
                            <m:t>f</m:t>
                          </m:r>
                          <m:r>
                            <m:rPr>
                              <m:nor/>
                            </m:rPr>
                            <a:rPr lang="en-US" altLang="zh-TW" sz="1200" dirty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chemeClr val="bg1"/>
                              </a:solidFill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i="1" dirty="0">
                              <a:solidFill>
                                <a:schemeClr val="bg1"/>
                              </a:solidFill>
                            </a:rPr>
                            <m:t>u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chemeClr val="bg1"/>
                              </a:solidFill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US" altLang="zh-TW" i="1" dirty="0">
                              <a:solidFill>
                                <a:schemeClr val="bg1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chemeClr val="bg1"/>
                              </a:solidFill>
                            </a:rPr>
                            <m:t>)</m:t>
                          </m:r>
                        </m:e>
                      </m:nary>
                      <m:r>
                        <a:rPr lang="en-US" altLang="zh-TW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TW" dirty="0">
                  <a:solidFill>
                    <a:schemeClr val="bg1"/>
                  </a:solidFill>
                </a:endParaRPr>
              </a:p>
              <a:p>
                <a:pPr marL="0" indent="0" eaLnBrk="1" hangingPunct="1">
                  <a:spcBef>
                    <a:spcPts val="3000"/>
                  </a:spcBef>
                </a:pPr>
                <a:r>
                  <a:rPr lang="en-US" altLang="zh-TW" dirty="0">
                    <a:solidFill>
                      <a:schemeClr val="bg1"/>
                    </a:solidFill>
                  </a:rPr>
                  <a:t>When (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u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,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v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) </a:t>
                </a:r>
                <a:r>
                  <a:rPr lang="en-US" altLang="zh-TW" sz="22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∉</a:t>
                </a:r>
                <a:r>
                  <a:rPr lang="en-US" altLang="zh-TW" dirty="0">
                    <a:solidFill>
                      <a:schemeClr val="bg1"/>
                    </a:solidFill>
                    <a:sym typeface="Symbol" pitchFamily="18" charset="2"/>
                  </a:rPr>
                  <a:t>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E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, there can be no flow from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u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 to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v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, and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f</a:t>
                </a:r>
                <a:r>
                  <a:rPr lang="en-US" altLang="zh-TW" sz="120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(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u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,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v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) </a:t>
                </a:r>
                <a:r>
                  <a:rPr lang="en-US" altLang="zh-TW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 0.</a:t>
                </a:r>
              </a:p>
              <a:p>
                <a:pPr marL="0" lvl="0" indent="0" eaLnBrk="1" hangingPunct="1">
                  <a:spcBef>
                    <a:spcPct val="40000"/>
                  </a:spcBef>
                  <a:buClr>
                    <a:srgbClr val="3333CC"/>
                  </a:buClr>
                  <a:defRPr/>
                </a:pPr>
                <a:endParaRPr lang="en-US" altLang="zh-TW" dirty="0">
                  <a:solidFill>
                    <a:schemeClr val="bg1"/>
                  </a:solidFill>
                </a:endParaRPr>
              </a:p>
              <a:p>
                <a:pPr marL="0" lvl="0" indent="0" eaLnBrk="1" hangingPunct="1">
                  <a:buClr>
                    <a:srgbClr val="3333CC"/>
                  </a:buClr>
                  <a:tabLst>
                    <a:tab pos="1163638" algn="l"/>
                  </a:tabLst>
                  <a:defRPr/>
                </a:pPr>
                <a:r>
                  <a:rPr lang="en-US" altLang="zh-TW" dirty="0">
                    <a:solidFill>
                      <a:schemeClr val="bg1"/>
                    </a:solidFill>
                    <a:sym typeface="Symbol" pitchFamily="18" charset="2"/>
                  </a:rPr>
                  <a:t>Let </a:t>
                </a:r>
                <a:r>
                  <a:rPr lang="en-US" altLang="zh-TW" i="1" spc="300" dirty="0" err="1">
                    <a:solidFill>
                      <a:schemeClr val="bg1"/>
                    </a:solidFill>
                    <a:sym typeface="Symbol" pitchFamily="18" charset="2"/>
                  </a:rPr>
                  <a:t>V</a:t>
                </a:r>
                <a:r>
                  <a:rPr lang="en-US" altLang="zh-TW" spc="5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×</a:t>
                </a:r>
                <a:r>
                  <a:rPr lang="en-US" altLang="zh-TW" i="1" dirty="0" err="1">
                    <a:solidFill>
                      <a:schemeClr val="bg1"/>
                    </a:solidFill>
                    <a:cs typeface="Times New Roman" pitchFamily="18" charset="0"/>
                    <a:sym typeface="Symbol" pitchFamily="18" charset="2"/>
                  </a:rPr>
                  <a:t>V</a:t>
                </a:r>
                <a:r>
                  <a:rPr lang="zh-TW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 {(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x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,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y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) </a:t>
                </a:r>
                <a:r>
                  <a:rPr lang="en-US" altLang="zh-TW" b="1" dirty="0">
                    <a:solidFill>
                      <a:schemeClr val="bg1"/>
                    </a:solidFill>
                  </a:rPr>
                  <a:t>|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x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,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y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∈</a:t>
                </a:r>
                <a:r>
                  <a:rPr lang="en-US" altLang="zh-TW" dirty="0">
                    <a:solidFill>
                      <a:schemeClr val="bg1"/>
                    </a:solidFill>
                    <a:sym typeface="Symbol" pitchFamily="18" charset="2"/>
                  </a:rPr>
                  <a:t> </a:t>
                </a:r>
                <a:r>
                  <a:rPr lang="en-US" altLang="zh-TW" i="1" spc="300" dirty="0">
                    <a:solidFill>
                      <a:schemeClr val="bg1"/>
                    </a:solidFill>
                    <a:sym typeface="Symbol" pitchFamily="18" charset="2"/>
                  </a:rPr>
                  <a:t>V</a:t>
                </a:r>
                <a:r>
                  <a:rPr lang="en-US" altLang="zh-TW" dirty="0">
                    <a:solidFill>
                      <a:schemeClr val="bg1"/>
                    </a:solidFill>
                    <a:sym typeface="Symbol" pitchFamily="18" charset="2"/>
                  </a:rPr>
                  <a:t>}.</a:t>
                </a:r>
              </a:p>
              <a:p>
                <a:pPr marL="0" lvl="0" indent="0" eaLnBrk="1" hangingPunct="1">
                  <a:buClr>
                    <a:srgbClr val="3333CC"/>
                  </a:buClr>
                  <a:tabLst>
                    <a:tab pos="1163638" algn="l"/>
                  </a:tabLst>
                  <a:defRPr/>
                </a:pPr>
                <a:r>
                  <a:rPr lang="en-US" altLang="zh-TW" dirty="0">
                    <a:solidFill>
                      <a:schemeClr val="bg1"/>
                    </a:solidFill>
                    <a:sym typeface="Symbol" pitchFamily="18" charset="2"/>
                  </a:rPr>
                  <a:t>If </a:t>
                </a:r>
                <a:r>
                  <a:rPr lang="en-US" altLang="zh-TW" i="1" dirty="0">
                    <a:solidFill>
                      <a:schemeClr val="bg1"/>
                    </a:solidFill>
                    <a:sym typeface="Symbol" pitchFamily="18" charset="2"/>
                  </a:rPr>
                  <a:t>V</a:t>
                </a:r>
                <a:r>
                  <a:rPr lang="en-US" altLang="zh-TW" dirty="0">
                    <a:solidFill>
                      <a:schemeClr val="bg1"/>
                    </a:solidFill>
                    <a:sym typeface="Symbol" pitchFamily="18" charset="2"/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chemeClr val="bg1"/>
                    </a:solidFill>
                    <a:sym typeface="Symbol" pitchFamily="18" charset="2"/>
                  </a:rPr>
                  <a:t> {</a:t>
                </a:r>
                <a:r>
                  <a:rPr lang="en-US" altLang="zh-TW" i="1" dirty="0">
                    <a:solidFill>
                      <a:schemeClr val="bg1"/>
                    </a:solidFill>
                    <a:sym typeface="Symbol" pitchFamily="18" charset="2"/>
                  </a:rPr>
                  <a:t>a</a:t>
                </a:r>
                <a:r>
                  <a:rPr lang="en-US" altLang="zh-TW" dirty="0">
                    <a:solidFill>
                      <a:schemeClr val="bg1"/>
                    </a:solidFill>
                    <a:sym typeface="Symbol" pitchFamily="18" charset="2"/>
                  </a:rPr>
                  <a:t>, </a:t>
                </a:r>
                <a:r>
                  <a:rPr lang="en-US" altLang="zh-TW" i="1" dirty="0">
                    <a:solidFill>
                      <a:schemeClr val="bg1"/>
                    </a:solidFill>
                    <a:sym typeface="Symbol" pitchFamily="18" charset="2"/>
                  </a:rPr>
                  <a:t>b</a:t>
                </a:r>
                <a:r>
                  <a:rPr lang="en-US" altLang="zh-TW" dirty="0">
                    <a:solidFill>
                      <a:schemeClr val="bg1"/>
                    </a:solidFill>
                    <a:sym typeface="Symbol" pitchFamily="18" charset="2"/>
                  </a:rPr>
                  <a:t>, </a:t>
                </a:r>
                <a:r>
                  <a:rPr lang="en-US" altLang="zh-TW" i="1" dirty="0">
                    <a:solidFill>
                      <a:schemeClr val="bg1"/>
                    </a:solidFill>
                    <a:sym typeface="Symbol" pitchFamily="18" charset="2"/>
                  </a:rPr>
                  <a:t>c</a:t>
                </a:r>
                <a:r>
                  <a:rPr lang="en-US" altLang="zh-TW" dirty="0">
                    <a:solidFill>
                      <a:schemeClr val="bg1"/>
                    </a:solidFill>
                    <a:sym typeface="Symbol" pitchFamily="18" charset="2"/>
                  </a:rPr>
                  <a:t>}, then</a:t>
                </a:r>
              </a:p>
              <a:p>
                <a:pPr marL="0" lvl="0" indent="0" eaLnBrk="1" hangingPunct="1">
                  <a:buClr>
                    <a:srgbClr val="3333CC"/>
                  </a:buClr>
                  <a:tabLst>
                    <a:tab pos="1163638" algn="l"/>
                  </a:tabLst>
                  <a:defRPr/>
                </a:pPr>
                <a:r>
                  <a:rPr lang="en-US" altLang="zh-TW" i="1" spc="300" dirty="0" err="1">
                    <a:solidFill>
                      <a:schemeClr val="bg1"/>
                    </a:solidFill>
                    <a:sym typeface="Symbol" pitchFamily="18" charset="2"/>
                  </a:rPr>
                  <a:t>V</a:t>
                </a:r>
                <a:r>
                  <a:rPr lang="en-US" altLang="zh-TW" spc="5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×</a:t>
                </a:r>
                <a:r>
                  <a:rPr lang="en-US" altLang="zh-TW" i="1" dirty="0" err="1">
                    <a:solidFill>
                      <a:schemeClr val="bg1"/>
                    </a:solidFill>
                    <a:cs typeface="Times New Roman" pitchFamily="18" charset="0"/>
                    <a:sym typeface="Symbol" pitchFamily="18" charset="2"/>
                  </a:rPr>
                  <a:t>V</a:t>
                </a:r>
                <a:r>
                  <a:rPr lang="zh-TW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 {(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a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,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a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), (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a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,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b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), (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a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,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c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), (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b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,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a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), (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b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,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b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), (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b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,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c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), (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c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,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a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), (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c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,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b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), (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c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,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c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)}.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507" name="Rectangle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2000" y="1269000"/>
                <a:ext cx="8280000" cy="4860000"/>
              </a:xfrm>
              <a:blipFill>
                <a:blip r:embed="rId2"/>
                <a:stretch>
                  <a:fillRect l="-957" t="-1004" b="-7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92925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Flow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07" name="Rectangle 5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32000" y="1269000"/>
                <a:ext cx="8280000" cy="4860000"/>
              </a:xfrm>
            </p:spPr>
            <p:txBody>
              <a:bodyPr/>
              <a:lstStyle/>
              <a:p>
                <a:pPr marL="0" indent="0" eaLnBrk="1" hangingPunct="1">
                  <a:spcBef>
                    <a:spcPts val="0"/>
                  </a:spcBef>
                </a:pPr>
                <a:r>
                  <a:rPr lang="en-US" altLang="zh-TW" dirty="0"/>
                  <a:t>A</a:t>
                </a:r>
                <a:r>
                  <a:rPr lang="en-US" altLang="zh-TW" spc="300" dirty="0"/>
                  <a:t> </a:t>
                </a:r>
                <a:r>
                  <a:rPr lang="en-US" altLang="zh-TW" i="1" spc="300" dirty="0">
                    <a:solidFill>
                      <a:srgbClr val="0000FF"/>
                    </a:solidFill>
                  </a:rPr>
                  <a:t>f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low</a:t>
                </a:r>
                <a:r>
                  <a:rPr lang="en-US" altLang="zh-TW" dirty="0"/>
                  <a:t> in </a:t>
                </a:r>
                <a:r>
                  <a:rPr lang="en-US" altLang="zh-TW" i="1" dirty="0"/>
                  <a:t>G</a:t>
                </a:r>
                <a:r>
                  <a:rPr lang="en-US" altLang="zh-TW" dirty="0"/>
                  <a:t> is a real-valued function </a:t>
                </a:r>
                <a:r>
                  <a:rPr lang="en-US" altLang="zh-TW" i="1" dirty="0"/>
                  <a:t>f </a:t>
                </a:r>
                <a:r>
                  <a:rPr lang="en-US" altLang="zh-TW" dirty="0"/>
                  <a:t>: </a:t>
                </a:r>
                <a:r>
                  <a:rPr lang="en-US" altLang="zh-TW" i="1" spc="300" dirty="0" err="1">
                    <a:solidFill>
                      <a:srgbClr val="000000"/>
                    </a:solidFill>
                    <a:sym typeface="Symbol" pitchFamily="18" charset="2"/>
                  </a:rPr>
                  <a:t>V</a:t>
                </a:r>
                <a:r>
                  <a:rPr lang="en-US" altLang="zh-TW" spc="50" dirty="0" err="1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×</a:t>
                </a:r>
                <a:r>
                  <a:rPr lang="en-US" altLang="zh-TW" i="1" dirty="0" err="1">
                    <a:solidFill>
                      <a:srgbClr val="000000"/>
                    </a:solidFill>
                    <a:cs typeface="Times New Roman" pitchFamily="18" charset="0"/>
                    <a:sym typeface="Symbol" pitchFamily="18" charset="2"/>
                  </a:rPr>
                  <a:t>V</a:t>
                </a:r>
                <a:r>
                  <a:rPr lang="en-US" altLang="zh-TW" dirty="0">
                    <a:cs typeface="Times New Roman" pitchFamily="18" charset="0"/>
                    <a:sym typeface="Symbol" pitchFamily="18" charset="2"/>
                  </a:rPr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itchFamily="18" charset="0"/>
                    <a:sym typeface="Symbol" pitchFamily="18" charset="2"/>
                  </a:rPr>
                  <a:t>⟶</a:t>
                </a:r>
                <a:r>
                  <a:rPr lang="en-US" altLang="zh-TW" dirty="0">
                    <a:cs typeface="Times New Roman" pitchFamily="18" charset="0"/>
                    <a:sym typeface="Symbol" pitchFamily="18" charset="2"/>
                  </a:rPr>
                  <a:t> </a:t>
                </a:r>
                <a:r>
                  <a:rPr lang="en-US" altLang="zh-TW" b="1" i="1" dirty="0">
                    <a:cs typeface="Times New Roman" pitchFamily="18" charset="0"/>
                    <a:sym typeface="Symbol" pitchFamily="18" charset="2"/>
                  </a:rPr>
                  <a:t>R</a:t>
                </a:r>
                <a:r>
                  <a:rPr lang="en-US" altLang="zh-TW" dirty="0"/>
                  <a:t> that satisfies the following two properties:</a:t>
                </a:r>
                <a:endParaRPr lang="en-US" altLang="zh-TW" b="1" i="1" dirty="0"/>
              </a:p>
              <a:p>
                <a:pPr marL="0" indent="0" eaLnBrk="1" hangingPunct="1">
                  <a:spcBef>
                    <a:spcPts val="2400"/>
                  </a:spcBef>
                  <a:spcAft>
                    <a:spcPts val="1200"/>
                  </a:spcAft>
                </a:pPr>
                <a:r>
                  <a:rPr lang="en-US" altLang="zh-TW" dirty="0">
                    <a:solidFill>
                      <a:srgbClr val="0000FF"/>
                    </a:solidFill>
                  </a:rPr>
                  <a:t>Capacity constraint:</a:t>
                </a:r>
                <a:r>
                  <a:rPr lang="en-US" altLang="zh-TW" dirty="0"/>
                  <a:t> For all </a:t>
                </a:r>
                <a:r>
                  <a:rPr lang="en-US" altLang="zh-TW" i="1" dirty="0"/>
                  <a:t>u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v</a:t>
                </a:r>
                <a:r>
                  <a:rPr lang="en-US" altLang="zh-TW" dirty="0"/>
                  <a:t>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∈</a:t>
                </a:r>
                <a:r>
                  <a:rPr lang="en-US" altLang="zh-TW" dirty="0">
                    <a:sym typeface="Symbol" pitchFamily="18" charset="2"/>
                  </a:rPr>
                  <a:t> </a:t>
                </a:r>
                <a:r>
                  <a:rPr lang="en-US" altLang="zh-TW" i="1" dirty="0">
                    <a:sym typeface="Symbol" pitchFamily="18" charset="2"/>
                  </a:rPr>
                  <a:t>V</a:t>
                </a:r>
                <a:r>
                  <a:rPr lang="en-US" altLang="zh-TW" dirty="0"/>
                  <a:t>, 0 </a:t>
                </a:r>
                <a:r>
                  <a:rPr lang="en-US" altLang="zh-TW" sz="20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≤</a:t>
                </a:r>
                <a:r>
                  <a:rPr lang="en-US" altLang="zh-TW" dirty="0"/>
                  <a:t> </a:t>
                </a:r>
                <a:r>
                  <a:rPr lang="en-US" altLang="zh-TW" i="1" dirty="0"/>
                  <a:t>f</a:t>
                </a:r>
                <a:r>
                  <a:rPr lang="en-US" altLang="zh-TW" sz="1200" dirty="0"/>
                  <a:t> </a:t>
                </a:r>
                <a:r>
                  <a:rPr lang="en-US" altLang="zh-TW" dirty="0"/>
                  <a:t>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/>
                  <a:t>)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≤</a:t>
                </a:r>
                <a:r>
                  <a:rPr lang="en-US" altLang="zh-TW" dirty="0">
                    <a:sym typeface="Symbol" pitchFamily="18" charset="2"/>
                  </a:rPr>
                  <a:t> </a:t>
                </a:r>
                <a:r>
                  <a:rPr lang="en-US" altLang="zh-TW" i="1" dirty="0">
                    <a:sym typeface="Symbol" pitchFamily="18" charset="2"/>
                  </a:rPr>
                  <a:t>c</a:t>
                </a:r>
                <a:r>
                  <a:rPr lang="en-US" altLang="zh-TW" dirty="0"/>
                  <a:t>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/>
                  <a:t>).</a:t>
                </a:r>
                <a:endParaRPr lang="en-US" altLang="zh-TW" b="1" i="1" dirty="0"/>
              </a:p>
              <a:p>
                <a:pPr marL="0" indent="0" eaLnBrk="1" hangingPunct="1">
                  <a:spcBef>
                    <a:spcPts val="24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bg1"/>
                          </a:solidFill>
                        </a:rPr>
                        <m:t>Flow</m:t>
                      </m:r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bg1"/>
                          </a:solidFill>
                        </a:rPr>
                        <m:t>conservation</m:t>
                      </m:r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bg1"/>
                          </a:solidFill>
                        </a:rPr>
                        <m:t>: </m:t>
                      </m:r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bg1"/>
                          </a:solidFill>
                        </a:rPr>
                        <m:t>For</m:t>
                      </m:r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bg1"/>
                          </a:solidFill>
                        </a:rPr>
                        <m:t>all</m:t>
                      </m:r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i="1" dirty="0" smtClean="0">
                          <a:solidFill>
                            <a:schemeClr val="bg1"/>
                          </a:solidFill>
                        </a:rPr>
                        <m:t>u</m:t>
                      </m:r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i="1" dirty="0" smtClean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m:t>V</m:t>
                      </m:r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bg1"/>
                          </a:solidFill>
                        </a:rPr>
                        <m:t> {</m:t>
                      </m:r>
                      <m:r>
                        <m:rPr>
                          <m:nor/>
                        </m:rPr>
                        <a:rPr lang="en-US" altLang="zh-TW" i="1" dirty="0" smtClean="0">
                          <a:solidFill>
                            <a:schemeClr val="bg1"/>
                          </a:solidFill>
                        </a:rPr>
                        <m:t>s</m:t>
                      </m:r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bg1"/>
                          </a:solidFill>
                        </a:rPr>
                        <m:t>, </m:t>
                      </m:r>
                      <m:r>
                        <m:rPr>
                          <m:nor/>
                        </m:rPr>
                        <a:rPr lang="en-US" altLang="zh-TW" i="1" dirty="0" smtClean="0">
                          <a:solidFill>
                            <a:schemeClr val="bg1"/>
                          </a:solidFill>
                        </a:rPr>
                        <m:t>t</m:t>
                      </m:r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bg1"/>
                          </a:solidFill>
                        </a:rPr>
                        <m:t>},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800" i="1" spc="100" dirty="0">
                              <a:solidFill>
                                <a:schemeClr val="bg1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sz="1800" spc="10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en-US" altLang="zh-TW" sz="1800" i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V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zh-TW" i="1" dirty="0">
                              <a:solidFill>
                                <a:schemeClr val="bg1"/>
                              </a:solidFill>
                            </a:rPr>
                            <m:t>f</m:t>
                          </m:r>
                          <m:r>
                            <m:rPr>
                              <m:nor/>
                            </m:rPr>
                            <a:rPr lang="en-US" altLang="zh-TW" sz="1200" dirty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chemeClr val="bg1"/>
                              </a:solidFill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b="0" i="1" dirty="0" smtClean="0">
                              <a:solidFill>
                                <a:schemeClr val="bg1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chemeClr val="bg1"/>
                              </a:solidFill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US" altLang="zh-TW" b="0" i="1" dirty="0" smtClean="0">
                              <a:solidFill>
                                <a:schemeClr val="bg1"/>
                              </a:solidFill>
                            </a:rPr>
                            <m:t>u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chemeClr val="bg1"/>
                              </a:solidFill>
                            </a:rPr>
                            <m:t>)</m:t>
                          </m:r>
                        </m:e>
                      </m:nary>
                      <m:r>
                        <a:rPr lang="en-US" altLang="zh-TW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800" i="1" spc="100" dirty="0">
                              <a:solidFill>
                                <a:schemeClr val="bg1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sz="1800" spc="10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en-US" altLang="zh-TW" sz="1800" i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V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zh-TW" i="1" dirty="0">
                              <a:solidFill>
                                <a:schemeClr val="bg1"/>
                              </a:solidFill>
                            </a:rPr>
                            <m:t>f</m:t>
                          </m:r>
                          <m:r>
                            <m:rPr>
                              <m:nor/>
                            </m:rPr>
                            <a:rPr lang="en-US" altLang="zh-TW" sz="1200" dirty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chemeClr val="bg1"/>
                              </a:solidFill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i="1" dirty="0">
                              <a:solidFill>
                                <a:schemeClr val="bg1"/>
                              </a:solidFill>
                            </a:rPr>
                            <m:t>u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chemeClr val="bg1"/>
                              </a:solidFill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US" altLang="zh-TW" i="1" dirty="0">
                              <a:solidFill>
                                <a:schemeClr val="bg1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chemeClr val="bg1"/>
                              </a:solidFill>
                            </a:rPr>
                            <m:t>)</m:t>
                          </m:r>
                        </m:e>
                      </m:nary>
                      <m:r>
                        <a:rPr lang="en-US" altLang="zh-TW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TW" dirty="0">
                  <a:solidFill>
                    <a:schemeClr val="bg1"/>
                  </a:solidFill>
                </a:endParaRPr>
              </a:p>
              <a:p>
                <a:pPr marL="0" indent="0" eaLnBrk="1" hangingPunct="1">
                  <a:spcBef>
                    <a:spcPts val="3000"/>
                  </a:spcBef>
                </a:pPr>
                <a:r>
                  <a:rPr lang="en-US" altLang="zh-TW" dirty="0">
                    <a:solidFill>
                      <a:schemeClr val="bg1"/>
                    </a:solidFill>
                  </a:rPr>
                  <a:t>When (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u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,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v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) </a:t>
                </a:r>
                <a:r>
                  <a:rPr lang="en-US" altLang="zh-TW" sz="22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∉</a:t>
                </a:r>
                <a:r>
                  <a:rPr lang="en-US" altLang="zh-TW" dirty="0">
                    <a:solidFill>
                      <a:schemeClr val="bg1"/>
                    </a:solidFill>
                    <a:sym typeface="Symbol" pitchFamily="18" charset="2"/>
                  </a:rPr>
                  <a:t>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E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, there can be no flow from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u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 to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v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, and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f</a:t>
                </a:r>
                <a:r>
                  <a:rPr lang="en-US" altLang="zh-TW" sz="120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(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u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,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v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) </a:t>
                </a:r>
                <a:r>
                  <a:rPr lang="en-US" altLang="zh-TW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 0.</a:t>
                </a:r>
              </a:p>
              <a:p>
                <a:pPr marL="0" lvl="0" indent="0" eaLnBrk="1" hangingPunct="1">
                  <a:spcBef>
                    <a:spcPct val="40000"/>
                  </a:spcBef>
                  <a:buClr>
                    <a:srgbClr val="3333CC"/>
                  </a:buClr>
                  <a:defRPr/>
                </a:pPr>
                <a:endParaRPr lang="en-US" altLang="zh-TW" dirty="0">
                  <a:solidFill>
                    <a:schemeClr val="bg1"/>
                  </a:solidFill>
                </a:endParaRPr>
              </a:p>
              <a:p>
                <a:pPr marL="0" lvl="0" indent="0" eaLnBrk="1" hangingPunct="1">
                  <a:buClr>
                    <a:srgbClr val="3333CC"/>
                  </a:buClr>
                  <a:tabLst>
                    <a:tab pos="1163638" algn="l"/>
                  </a:tabLst>
                  <a:defRPr/>
                </a:pPr>
                <a:r>
                  <a:rPr lang="en-US" altLang="zh-TW" dirty="0">
                    <a:solidFill>
                      <a:schemeClr val="bg1"/>
                    </a:solidFill>
                    <a:sym typeface="Symbol" pitchFamily="18" charset="2"/>
                  </a:rPr>
                  <a:t>Let </a:t>
                </a:r>
                <a:r>
                  <a:rPr lang="en-US" altLang="zh-TW" i="1" spc="300" dirty="0" err="1">
                    <a:solidFill>
                      <a:schemeClr val="bg1"/>
                    </a:solidFill>
                    <a:sym typeface="Symbol" pitchFamily="18" charset="2"/>
                  </a:rPr>
                  <a:t>V</a:t>
                </a:r>
                <a:r>
                  <a:rPr lang="en-US" altLang="zh-TW" spc="5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×</a:t>
                </a:r>
                <a:r>
                  <a:rPr lang="en-US" altLang="zh-TW" i="1" dirty="0" err="1">
                    <a:solidFill>
                      <a:schemeClr val="bg1"/>
                    </a:solidFill>
                    <a:cs typeface="Times New Roman" pitchFamily="18" charset="0"/>
                    <a:sym typeface="Symbol" pitchFamily="18" charset="2"/>
                  </a:rPr>
                  <a:t>V</a:t>
                </a:r>
                <a:r>
                  <a:rPr lang="zh-TW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 {(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x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,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y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) </a:t>
                </a:r>
                <a:r>
                  <a:rPr lang="en-US" altLang="zh-TW" b="1" dirty="0">
                    <a:solidFill>
                      <a:schemeClr val="bg1"/>
                    </a:solidFill>
                  </a:rPr>
                  <a:t>|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x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,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y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∈</a:t>
                </a:r>
                <a:r>
                  <a:rPr lang="en-US" altLang="zh-TW" dirty="0">
                    <a:solidFill>
                      <a:schemeClr val="bg1"/>
                    </a:solidFill>
                    <a:sym typeface="Symbol" pitchFamily="18" charset="2"/>
                  </a:rPr>
                  <a:t> </a:t>
                </a:r>
                <a:r>
                  <a:rPr lang="en-US" altLang="zh-TW" i="1" spc="300" dirty="0">
                    <a:solidFill>
                      <a:schemeClr val="bg1"/>
                    </a:solidFill>
                    <a:sym typeface="Symbol" pitchFamily="18" charset="2"/>
                  </a:rPr>
                  <a:t>V</a:t>
                </a:r>
                <a:r>
                  <a:rPr lang="en-US" altLang="zh-TW" dirty="0">
                    <a:solidFill>
                      <a:schemeClr val="bg1"/>
                    </a:solidFill>
                    <a:sym typeface="Symbol" pitchFamily="18" charset="2"/>
                  </a:rPr>
                  <a:t>}.</a:t>
                </a:r>
              </a:p>
              <a:p>
                <a:pPr marL="0" lvl="0" indent="0" eaLnBrk="1" hangingPunct="1">
                  <a:buClr>
                    <a:srgbClr val="3333CC"/>
                  </a:buClr>
                  <a:tabLst>
                    <a:tab pos="1163638" algn="l"/>
                  </a:tabLst>
                  <a:defRPr/>
                </a:pPr>
                <a:r>
                  <a:rPr lang="en-US" altLang="zh-TW" dirty="0">
                    <a:solidFill>
                      <a:schemeClr val="bg1"/>
                    </a:solidFill>
                    <a:sym typeface="Symbol" pitchFamily="18" charset="2"/>
                  </a:rPr>
                  <a:t>If </a:t>
                </a:r>
                <a:r>
                  <a:rPr lang="en-US" altLang="zh-TW" i="1" dirty="0">
                    <a:solidFill>
                      <a:schemeClr val="bg1"/>
                    </a:solidFill>
                    <a:sym typeface="Symbol" pitchFamily="18" charset="2"/>
                  </a:rPr>
                  <a:t>V</a:t>
                </a:r>
                <a:r>
                  <a:rPr lang="en-US" altLang="zh-TW" dirty="0">
                    <a:solidFill>
                      <a:schemeClr val="bg1"/>
                    </a:solidFill>
                    <a:sym typeface="Symbol" pitchFamily="18" charset="2"/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chemeClr val="bg1"/>
                    </a:solidFill>
                    <a:sym typeface="Symbol" pitchFamily="18" charset="2"/>
                  </a:rPr>
                  <a:t> {</a:t>
                </a:r>
                <a:r>
                  <a:rPr lang="en-US" altLang="zh-TW" i="1" dirty="0">
                    <a:solidFill>
                      <a:schemeClr val="bg1"/>
                    </a:solidFill>
                    <a:sym typeface="Symbol" pitchFamily="18" charset="2"/>
                  </a:rPr>
                  <a:t>a</a:t>
                </a:r>
                <a:r>
                  <a:rPr lang="en-US" altLang="zh-TW" dirty="0">
                    <a:solidFill>
                      <a:schemeClr val="bg1"/>
                    </a:solidFill>
                    <a:sym typeface="Symbol" pitchFamily="18" charset="2"/>
                  </a:rPr>
                  <a:t>, </a:t>
                </a:r>
                <a:r>
                  <a:rPr lang="en-US" altLang="zh-TW" i="1" dirty="0">
                    <a:solidFill>
                      <a:schemeClr val="bg1"/>
                    </a:solidFill>
                    <a:sym typeface="Symbol" pitchFamily="18" charset="2"/>
                  </a:rPr>
                  <a:t>b</a:t>
                </a:r>
                <a:r>
                  <a:rPr lang="en-US" altLang="zh-TW" dirty="0">
                    <a:solidFill>
                      <a:schemeClr val="bg1"/>
                    </a:solidFill>
                    <a:sym typeface="Symbol" pitchFamily="18" charset="2"/>
                  </a:rPr>
                  <a:t>, </a:t>
                </a:r>
                <a:r>
                  <a:rPr lang="en-US" altLang="zh-TW" i="1" dirty="0">
                    <a:solidFill>
                      <a:schemeClr val="bg1"/>
                    </a:solidFill>
                    <a:sym typeface="Symbol" pitchFamily="18" charset="2"/>
                  </a:rPr>
                  <a:t>c</a:t>
                </a:r>
                <a:r>
                  <a:rPr lang="en-US" altLang="zh-TW" dirty="0">
                    <a:solidFill>
                      <a:schemeClr val="bg1"/>
                    </a:solidFill>
                    <a:sym typeface="Symbol" pitchFamily="18" charset="2"/>
                  </a:rPr>
                  <a:t>}, then</a:t>
                </a:r>
              </a:p>
              <a:p>
                <a:pPr marL="0" lvl="0" indent="0" eaLnBrk="1" hangingPunct="1">
                  <a:buClr>
                    <a:srgbClr val="3333CC"/>
                  </a:buClr>
                  <a:tabLst>
                    <a:tab pos="1163638" algn="l"/>
                  </a:tabLst>
                  <a:defRPr/>
                </a:pPr>
                <a:r>
                  <a:rPr lang="en-US" altLang="zh-TW" i="1" spc="300" dirty="0" err="1">
                    <a:solidFill>
                      <a:schemeClr val="bg1"/>
                    </a:solidFill>
                    <a:sym typeface="Symbol" pitchFamily="18" charset="2"/>
                  </a:rPr>
                  <a:t>V</a:t>
                </a:r>
                <a:r>
                  <a:rPr lang="en-US" altLang="zh-TW" spc="5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×</a:t>
                </a:r>
                <a:r>
                  <a:rPr lang="en-US" altLang="zh-TW" i="1" dirty="0" err="1">
                    <a:solidFill>
                      <a:schemeClr val="bg1"/>
                    </a:solidFill>
                    <a:cs typeface="Times New Roman" pitchFamily="18" charset="0"/>
                    <a:sym typeface="Symbol" pitchFamily="18" charset="2"/>
                  </a:rPr>
                  <a:t>V</a:t>
                </a:r>
                <a:r>
                  <a:rPr lang="zh-TW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 {(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a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,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a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), (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a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,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b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), (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a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,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c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), (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b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,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a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), (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b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,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b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), (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b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,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c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), (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c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,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a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), (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c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,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b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), (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c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,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c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)}.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507" name="Rectangle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2000" y="1269000"/>
                <a:ext cx="8280000" cy="4860000"/>
              </a:xfrm>
              <a:blipFill>
                <a:blip r:embed="rId2"/>
                <a:stretch>
                  <a:fillRect l="-957" t="-1004" b="-7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21015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Flow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07" name="Rectangle 5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32000" y="1269000"/>
                <a:ext cx="8280000" cy="4860000"/>
              </a:xfrm>
            </p:spPr>
            <p:txBody>
              <a:bodyPr/>
              <a:lstStyle/>
              <a:p>
                <a:pPr marL="0" indent="0" eaLnBrk="1" hangingPunct="1">
                  <a:spcBef>
                    <a:spcPts val="0"/>
                  </a:spcBef>
                </a:pPr>
                <a:r>
                  <a:rPr lang="en-US" altLang="zh-TW" dirty="0"/>
                  <a:t>A</a:t>
                </a:r>
                <a:r>
                  <a:rPr lang="en-US" altLang="zh-TW" spc="300" dirty="0"/>
                  <a:t> </a:t>
                </a:r>
                <a:r>
                  <a:rPr lang="en-US" altLang="zh-TW" i="1" spc="300" dirty="0">
                    <a:solidFill>
                      <a:srgbClr val="0000FF"/>
                    </a:solidFill>
                  </a:rPr>
                  <a:t>f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low</a:t>
                </a:r>
                <a:r>
                  <a:rPr lang="en-US" altLang="zh-TW" dirty="0"/>
                  <a:t> in </a:t>
                </a:r>
                <a:r>
                  <a:rPr lang="en-US" altLang="zh-TW" i="1" dirty="0"/>
                  <a:t>G</a:t>
                </a:r>
                <a:r>
                  <a:rPr lang="en-US" altLang="zh-TW" dirty="0"/>
                  <a:t> is a real-valued function </a:t>
                </a:r>
                <a:r>
                  <a:rPr lang="en-US" altLang="zh-TW" i="1" dirty="0"/>
                  <a:t>f </a:t>
                </a:r>
                <a:r>
                  <a:rPr lang="en-US" altLang="zh-TW" dirty="0"/>
                  <a:t>: </a:t>
                </a:r>
                <a:r>
                  <a:rPr lang="en-US" altLang="zh-TW" i="1" spc="300" dirty="0" err="1">
                    <a:solidFill>
                      <a:srgbClr val="000000"/>
                    </a:solidFill>
                    <a:sym typeface="Symbol" pitchFamily="18" charset="2"/>
                  </a:rPr>
                  <a:t>V</a:t>
                </a:r>
                <a:r>
                  <a:rPr lang="en-US" altLang="zh-TW" spc="50" dirty="0" err="1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×</a:t>
                </a:r>
                <a:r>
                  <a:rPr lang="en-US" altLang="zh-TW" i="1" dirty="0" err="1">
                    <a:solidFill>
                      <a:srgbClr val="000000"/>
                    </a:solidFill>
                    <a:cs typeface="Times New Roman" pitchFamily="18" charset="0"/>
                    <a:sym typeface="Symbol" pitchFamily="18" charset="2"/>
                  </a:rPr>
                  <a:t>V</a:t>
                </a:r>
                <a:r>
                  <a:rPr lang="en-US" altLang="zh-TW" dirty="0">
                    <a:cs typeface="Times New Roman" pitchFamily="18" charset="0"/>
                    <a:sym typeface="Symbol" pitchFamily="18" charset="2"/>
                  </a:rPr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itchFamily="18" charset="0"/>
                    <a:sym typeface="Symbol" pitchFamily="18" charset="2"/>
                  </a:rPr>
                  <a:t>⟶</a:t>
                </a:r>
                <a:r>
                  <a:rPr lang="en-US" altLang="zh-TW" dirty="0">
                    <a:cs typeface="Times New Roman" pitchFamily="18" charset="0"/>
                    <a:sym typeface="Symbol" pitchFamily="18" charset="2"/>
                  </a:rPr>
                  <a:t> </a:t>
                </a:r>
                <a:r>
                  <a:rPr lang="en-US" altLang="zh-TW" b="1" i="1" dirty="0">
                    <a:cs typeface="Times New Roman" pitchFamily="18" charset="0"/>
                    <a:sym typeface="Symbol" pitchFamily="18" charset="2"/>
                  </a:rPr>
                  <a:t>R</a:t>
                </a:r>
                <a:r>
                  <a:rPr lang="en-US" altLang="zh-TW" dirty="0"/>
                  <a:t> that satisfies the following two properties:</a:t>
                </a:r>
                <a:endParaRPr lang="en-US" altLang="zh-TW" b="1" i="1" dirty="0"/>
              </a:p>
              <a:p>
                <a:pPr marL="0" indent="0" eaLnBrk="1" hangingPunct="1">
                  <a:spcBef>
                    <a:spcPts val="2400"/>
                  </a:spcBef>
                  <a:spcAft>
                    <a:spcPts val="1200"/>
                  </a:spcAft>
                </a:pPr>
                <a:r>
                  <a:rPr lang="en-US" altLang="zh-TW" dirty="0">
                    <a:solidFill>
                      <a:srgbClr val="0000FF"/>
                    </a:solidFill>
                  </a:rPr>
                  <a:t>Capacity constraint:</a:t>
                </a:r>
                <a:r>
                  <a:rPr lang="en-US" altLang="zh-TW" dirty="0"/>
                  <a:t> For all </a:t>
                </a:r>
                <a:r>
                  <a:rPr lang="en-US" altLang="zh-TW" i="1" dirty="0"/>
                  <a:t>u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v</a:t>
                </a:r>
                <a:r>
                  <a:rPr lang="en-US" altLang="zh-TW" dirty="0"/>
                  <a:t>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∈</a:t>
                </a:r>
                <a:r>
                  <a:rPr lang="en-US" altLang="zh-TW" dirty="0">
                    <a:sym typeface="Symbol" pitchFamily="18" charset="2"/>
                  </a:rPr>
                  <a:t> </a:t>
                </a:r>
                <a:r>
                  <a:rPr lang="en-US" altLang="zh-TW" i="1" dirty="0">
                    <a:sym typeface="Symbol" pitchFamily="18" charset="2"/>
                  </a:rPr>
                  <a:t>V</a:t>
                </a:r>
                <a:r>
                  <a:rPr lang="en-US" altLang="zh-TW" dirty="0"/>
                  <a:t>, 0 </a:t>
                </a:r>
                <a:r>
                  <a:rPr lang="en-US" altLang="zh-TW" sz="20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≤</a:t>
                </a:r>
                <a:r>
                  <a:rPr lang="en-US" altLang="zh-TW" dirty="0"/>
                  <a:t> </a:t>
                </a:r>
                <a:r>
                  <a:rPr lang="en-US" altLang="zh-TW" i="1" dirty="0"/>
                  <a:t>f</a:t>
                </a:r>
                <a:r>
                  <a:rPr lang="en-US" altLang="zh-TW" sz="1200" dirty="0"/>
                  <a:t> </a:t>
                </a:r>
                <a:r>
                  <a:rPr lang="en-US" altLang="zh-TW" dirty="0"/>
                  <a:t>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/>
                  <a:t>)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≤</a:t>
                </a:r>
                <a:r>
                  <a:rPr lang="en-US" altLang="zh-TW" dirty="0">
                    <a:sym typeface="Symbol" pitchFamily="18" charset="2"/>
                  </a:rPr>
                  <a:t> </a:t>
                </a:r>
                <a:r>
                  <a:rPr lang="en-US" altLang="zh-TW" i="1" dirty="0">
                    <a:sym typeface="Symbol" pitchFamily="18" charset="2"/>
                  </a:rPr>
                  <a:t>c</a:t>
                </a:r>
                <a:r>
                  <a:rPr lang="en-US" altLang="zh-TW" dirty="0"/>
                  <a:t>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/>
                  <a:t>).</a:t>
                </a:r>
                <a:endParaRPr lang="en-US" altLang="zh-TW" b="1" i="1" dirty="0"/>
              </a:p>
              <a:p>
                <a:pPr marL="0" indent="0" eaLnBrk="1" hangingPunct="1">
                  <a:spcBef>
                    <a:spcPts val="24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FF"/>
                          </a:solidFill>
                        </a:rPr>
                        <m:t>Flow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FF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FF"/>
                          </a:solidFill>
                        </a:rPr>
                        <m:t>conservation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FF"/>
                          </a:solidFill>
                        </a:rPr>
                        <m:t>: 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For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all</m:t>
                      </m:r>
                      <m:r>
                        <m:rPr>
                          <m:nor/>
                        </m:rPr>
                        <a:rPr lang="en-US" altLang="zh-TW" b="0" i="1" dirty="0" smtClean="0">
                          <a:solidFill>
                            <a:srgbClr val="0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i="1" dirty="0">
                          <a:solidFill>
                            <a:srgbClr val="000000"/>
                          </a:solidFill>
                        </a:rPr>
                        <m:t>u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00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  <a:sym typeface="Symbol" pitchFamily="18" charset="2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i="1" dirty="0">
                          <a:solidFill>
                            <a:srgbClr val="000000"/>
                          </a:solidFill>
                          <a:sym typeface="Symbol" pitchFamily="18" charset="2"/>
                        </a:rPr>
                        <m:t>V</m:t>
                      </m:r>
                      <m:r>
                        <m:rPr>
                          <m:nor/>
                        </m:rPr>
                        <a:rPr lang="en-US" altLang="zh-TW" b="0" i="1" dirty="0" smtClean="0">
                          <a:solidFill>
                            <a:srgbClr val="000000"/>
                          </a:solidFill>
                          <a:sym typeface="Symbol" pitchFamily="18" charset="2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 {</m:t>
                      </m:r>
                      <m:r>
                        <m:rPr>
                          <m:nor/>
                        </m:rPr>
                        <a:rPr lang="en-US" altLang="zh-TW" i="1" dirty="0">
                          <a:solidFill>
                            <a:srgbClr val="000000"/>
                          </a:solidFill>
                        </a:rPr>
                        <m:t>s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, </m:t>
                      </m:r>
                      <m:r>
                        <m:rPr>
                          <m:nor/>
                        </m:rPr>
                        <a:rPr lang="en-US" altLang="zh-TW" i="1" dirty="0">
                          <a:solidFill>
                            <a:srgbClr val="000000"/>
                          </a:solidFill>
                        </a:rPr>
                        <m:t>t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},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600" i="1" spc="150" dirty="0">
                              <a:solidFill>
                                <a:srgbClr val="000000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sz="1600" spc="1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sym typeface="Symbol" pitchFamily="18" charset="2"/>
                            </a:rPr>
                            <m:t>V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zh-TW" i="1" dirty="0">
                              <a:solidFill>
                                <a:srgbClr val="000000"/>
                              </a:solidFill>
                            </a:rPr>
                            <m:t>f</m:t>
                          </m:r>
                          <m:r>
                            <m:rPr>
                              <m:nor/>
                            </m:rPr>
                            <a:rPr lang="en-US" altLang="zh-TW" sz="1200" dirty="0">
                              <a:solidFill>
                                <a:srgbClr val="000000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b="0" i="1" dirty="0" smtClean="0">
                              <a:solidFill>
                                <a:srgbClr val="000000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US" altLang="zh-TW" b="0" i="1" dirty="0" smtClean="0">
                              <a:solidFill>
                                <a:srgbClr val="000000"/>
                              </a:solidFill>
                            </a:rPr>
                            <m:t>u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)</m:t>
                          </m:r>
                        </m:e>
                      </m:nary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600" i="1" spc="150" dirty="0">
                              <a:solidFill>
                                <a:srgbClr val="000000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sz="1600" spc="1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sym typeface="Symbol" pitchFamily="18" charset="2"/>
                            </a:rPr>
                            <m:t>V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zh-TW" i="1" dirty="0">
                              <a:solidFill>
                                <a:srgbClr val="000000"/>
                              </a:solidFill>
                            </a:rPr>
                            <m:t>f</m:t>
                          </m:r>
                          <m:r>
                            <m:rPr>
                              <m:nor/>
                            </m:rPr>
                            <a:rPr lang="en-US" altLang="zh-TW" sz="1200" dirty="0">
                              <a:solidFill>
                                <a:srgbClr val="000000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i="1" dirty="0">
                              <a:solidFill>
                                <a:srgbClr val="000000"/>
                              </a:solidFill>
                            </a:rPr>
                            <m:t>u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US" altLang="zh-TW" i="1" dirty="0">
                              <a:solidFill>
                                <a:srgbClr val="000000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)</m:t>
                          </m:r>
                        </m:e>
                      </m:nary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TW" dirty="0"/>
              </a:p>
              <a:p>
                <a:pPr marL="0" indent="0" eaLnBrk="1" hangingPunct="1">
                  <a:spcBef>
                    <a:spcPts val="3000"/>
                  </a:spcBef>
                </a:pPr>
                <a:r>
                  <a:rPr lang="en-US" altLang="zh-TW" dirty="0"/>
                  <a:t>When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 </a:t>
                </a:r>
                <a:r>
                  <a:rPr lang="en-US" altLang="zh-TW" sz="2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∉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E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there can be no flow from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to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and </a:t>
                </a:r>
                <a:r>
                  <a:rPr lang="en-US" altLang="zh-TW" i="1" dirty="0"/>
                  <a:t>f</a:t>
                </a:r>
                <a:r>
                  <a:rPr lang="en-US" altLang="zh-TW" sz="1200" dirty="0"/>
                  <a:t> </a:t>
                </a:r>
                <a:r>
                  <a:rPr lang="en-US" altLang="zh-TW" dirty="0"/>
                  <a:t>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/>
                  <a:t>)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0.</a:t>
                </a:r>
              </a:p>
              <a:p>
                <a:pPr marL="0" lvl="0" indent="0" eaLnBrk="1" hangingPunct="1">
                  <a:spcBef>
                    <a:spcPct val="40000"/>
                  </a:spcBef>
                  <a:buClr>
                    <a:srgbClr val="3333CC"/>
                  </a:buClr>
                  <a:defRPr/>
                </a:pPr>
                <a:endParaRPr lang="en-US" altLang="zh-TW" sz="1600" dirty="0">
                  <a:solidFill>
                    <a:srgbClr val="000000"/>
                  </a:solidFill>
                </a:endParaRPr>
              </a:p>
              <a:p>
                <a:pPr marL="0" lvl="0" indent="0" eaLnBrk="1" hangingPunct="1">
                  <a:buClr>
                    <a:srgbClr val="3333CC"/>
                  </a:buClr>
                  <a:tabLst>
                    <a:tab pos="1163638" algn="l"/>
                  </a:tabLst>
                  <a:defRPr/>
                </a:pP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Let </a:t>
                </a:r>
                <a:r>
                  <a:rPr lang="en-US" altLang="zh-TW" i="1" spc="300" dirty="0" err="1">
                    <a:solidFill>
                      <a:srgbClr val="000000"/>
                    </a:solidFill>
                    <a:sym typeface="Symbol" pitchFamily="18" charset="2"/>
                  </a:rPr>
                  <a:t>V</a:t>
                </a:r>
                <a:r>
                  <a:rPr lang="en-US" altLang="zh-TW" spc="50" dirty="0" err="1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×</a:t>
                </a:r>
                <a:r>
                  <a:rPr lang="en-US" altLang="zh-TW" i="1" dirty="0" err="1">
                    <a:solidFill>
                      <a:srgbClr val="000000"/>
                    </a:solidFill>
                    <a:cs typeface="Times New Roman" pitchFamily="18" charset="0"/>
                    <a:sym typeface="Symbol" pitchFamily="18" charset="2"/>
                  </a:rPr>
                  <a:t>V</a:t>
                </a:r>
                <a:r>
                  <a:rPr lang="zh-TW" altLang="en-US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{(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x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y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 </a:t>
                </a:r>
                <a:r>
                  <a:rPr lang="en-US" altLang="zh-TW" b="1" dirty="0">
                    <a:solidFill>
                      <a:srgbClr val="000000"/>
                    </a:solidFill>
                  </a:rPr>
                  <a:t>|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x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y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∈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 </a:t>
                </a:r>
                <a:r>
                  <a:rPr lang="en-US" altLang="zh-TW" i="1" spc="300" dirty="0">
                    <a:solidFill>
                      <a:srgbClr val="000000"/>
                    </a:solidFill>
                    <a:sym typeface="Symbol" pitchFamily="18" charset="2"/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}.</a:t>
                </a:r>
              </a:p>
              <a:p>
                <a:pPr marL="0" lvl="0" indent="0" eaLnBrk="1" hangingPunct="1">
                  <a:buClr>
                    <a:srgbClr val="3333CC"/>
                  </a:buClr>
                  <a:tabLst>
                    <a:tab pos="1163638" algn="l"/>
                  </a:tabLst>
                  <a:defRPr/>
                </a:pP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If </a:t>
                </a:r>
                <a:r>
                  <a:rPr lang="en-US" altLang="zh-TW" i="1" dirty="0">
                    <a:solidFill>
                      <a:srgbClr val="000000"/>
                    </a:solidFill>
                    <a:sym typeface="Symbol" pitchFamily="18" charset="2"/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 {</a:t>
                </a:r>
                <a:r>
                  <a:rPr lang="en-US" altLang="zh-TW" i="1" dirty="0">
                    <a:solidFill>
                      <a:srgbClr val="000000"/>
                    </a:solidFill>
                    <a:sym typeface="Symbol" pitchFamily="18" charset="2"/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  <a:sym typeface="Symbol" pitchFamily="18" charset="2"/>
                  </a:rPr>
                  <a:t>b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  <a:sym typeface="Symbol" pitchFamily="18" charset="2"/>
                  </a:rPr>
                  <a:t>c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}, then</a:t>
                </a:r>
              </a:p>
              <a:p>
                <a:pPr marL="0" lvl="0" indent="0" eaLnBrk="1" hangingPunct="1">
                  <a:buClr>
                    <a:srgbClr val="3333CC"/>
                  </a:buClr>
                  <a:tabLst>
                    <a:tab pos="1163638" algn="l"/>
                  </a:tabLst>
                  <a:defRPr/>
                </a:pPr>
                <a:r>
                  <a:rPr lang="en-US" altLang="zh-TW" i="1" spc="300" dirty="0" err="1">
                    <a:solidFill>
                      <a:srgbClr val="000000"/>
                    </a:solidFill>
                    <a:sym typeface="Symbol" pitchFamily="18" charset="2"/>
                  </a:rPr>
                  <a:t>V</a:t>
                </a:r>
                <a:r>
                  <a:rPr lang="en-US" altLang="zh-TW" spc="50" dirty="0" err="1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×</a:t>
                </a:r>
                <a:r>
                  <a:rPr lang="en-US" altLang="zh-TW" i="1" dirty="0" err="1">
                    <a:solidFill>
                      <a:srgbClr val="000000"/>
                    </a:solidFill>
                    <a:cs typeface="Times New Roman" pitchFamily="18" charset="0"/>
                    <a:sym typeface="Symbol" pitchFamily="18" charset="2"/>
                  </a:rPr>
                  <a:t>V</a:t>
                </a:r>
                <a:r>
                  <a:rPr lang="zh-TW" altLang="en-US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{(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), 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b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), 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c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), 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b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), 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b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b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), 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b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c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), 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c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), 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c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b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), 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c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c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)}.</a:t>
                </a:r>
                <a:endParaRPr lang="zh-TW" altLang="en-US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1507" name="Rectangle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2000" y="1269000"/>
                <a:ext cx="8280000" cy="4860000"/>
              </a:xfrm>
              <a:blipFill>
                <a:blip r:embed="rId2"/>
                <a:stretch>
                  <a:fillRect l="-957" t="-10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55210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 Example of 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12000" y="1269000"/>
            <a:ext cx="7920000" cy="1800000"/>
          </a:xfrm>
        </p:spPr>
        <p:txBody>
          <a:bodyPr lIns="36000" rIns="0"/>
          <a:lstStyle/>
          <a:p>
            <a:pPr marL="0" lvl="0" indent="0" eaLnBrk="1" hangingPunct="1">
              <a:spcBef>
                <a:spcPts val="600"/>
              </a:spcBef>
              <a:buClr>
                <a:srgbClr val="3333CC"/>
              </a:buClr>
              <a:tabLst>
                <a:tab pos="2160000" algn="l"/>
                <a:tab pos="4320000" algn="l"/>
                <a:tab pos="6480000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12	 </a:t>
            </a:r>
            <a:r>
              <a:rPr lang="en-US" altLang="zh-TW" i="1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2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7	</a:t>
            </a:r>
            <a:r>
              <a:rPr lang="en-US" altLang="zh-TW" i="1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3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12	</a:t>
            </a:r>
            <a:r>
              <a:rPr lang="en-US" altLang="zh-TW" i="1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2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0</a:t>
            </a:r>
          </a:p>
          <a:p>
            <a:pPr marL="0" lvl="0" indent="0" eaLnBrk="1" hangingPunct="1">
              <a:spcBef>
                <a:spcPts val="600"/>
              </a:spcBef>
              <a:buClr>
                <a:srgbClr val="3333CC"/>
              </a:buClr>
              <a:tabLst>
                <a:tab pos="2160000" algn="l"/>
                <a:tab pos="4320000" algn="l"/>
                <a:tab pos="6480000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3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2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4	</a:t>
            </a:r>
            <a:r>
              <a:rPr lang="en-US" altLang="zh-TW" i="1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2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4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11	</a:t>
            </a:r>
            <a:r>
              <a:rPr lang="en-US" altLang="zh-TW" i="1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3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15	</a:t>
            </a:r>
            <a:r>
              <a:rPr lang="en-US" altLang="zh-TW" i="1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4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3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7</a:t>
            </a:r>
          </a:p>
          <a:p>
            <a:pPr marL="0" lvl="0" indent="0" eaLnBrk="1" hangingPunct="1">
              <a:spcBef>
                <a:spcPts val="600"/>
              </a:spcBef>
              <a:buClr>
                <a:srgbClr val="3333CC"/>
              </a:buClr>
              <a:tabLst>
                <a:tab pos="2160000" algn="l"/>
                <a:tab pos="4320000" algn="l"/>
                <a:tab pos="6480000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4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4</a:t>
            </a:r>
          </a:p>
          <a:p>
            <a:pPr lvl="0" eaLnBrk="1" hangingPunct="1">
              <a:spcBef>
                <a:spcPts val="600"/>
              </a:spcBef>
              <a:buClr>
                <a:srgbClr val="3333CC"/>
              </a:buClr>
              <a:tabLst>
                <a:tab pos="1970088" algn="l"/>
                <a:tab pos="4305300" algn="l"/>
                <a:tab pos="6276975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For other pairs of nodes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),</a:t>
            </a:r>
            <a:r>
              <a:rPr lang="en-US" altLang="zh-TW" spc="300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0              </a:t>
            </a:r>
            <a:r>
              <a:rPr lang="en-US" altLang="zh-TW" i="1" dirty="0">
                <a:solidFill>
                  <a:srgbClr val="FF0000"/>
                </a:solidFill>
              </a:rPr>
              <a:t>f </a:t>
            </a:r>
            <a:r>
              <a:rPr lang="en-US" altLang="zh-TW" dirty="0">
                <a:solidFill>
                  <a:srgbClr val="FF0000"/>
                </a:solidFill>
              </a:rPr>
              <a:t>: </a:t>
            </a:r>
            <a:r>
              <a:rPr lang="en-US" altLang="zh-TW" i="1" dirty="0">
                <a:solidFill>
                  <a:srgbClr val="FF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altLang="zh-TW" spc="2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itchFamily="18" charset="0"/>
                <a:sym typeface="Symbol" pitchFamily="18" charset="2"/>
              </a:rPr>
              <a:t>×</a:t>
            </a:r>
            <a:r>
              <a:rPr lang="en-US" altLang="zh-TW" i="1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  </a:t>
            </a:r>
            <a:r>
              <a:rPr lang="en-US" altLang="zh-TW" b="1" i="1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R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232000" y="396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72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12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16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4212000" y="342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2232000" y="522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36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6192000" y="396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15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20</a:t>
            </a: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4212000" y="594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3600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6192000" y="52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572000" y="46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7200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3492000" y="468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5652000" y="468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13" name="橢圓 12"/>
          <p:cNvSpPr/>
          <p:nvPr/>
        </p:nvSpPr>
        <p:spPr>
          <a:xfrm>
            <a:off x="3312000" y="360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1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3312000" y="576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2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5472000" y="360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3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6" name="橢圓 15"/>
          <p:cNvSpPr/>
          <p:nvPr/>
        </p:nvSpPr>
        <p:spPr>
          <a:xfrm>
            <a:off x="5472000" y="576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4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7" name="橢圓 16"/>
          <p:cNvSpPr/>
          <p:nvPr/>
        </p:nvSpPr>
        <p:spPr>
          <a:xfrm>
            <a:off x="2232000" y="4689000"/>
            <a:ext cx="360000" cy="360000"/>
          </a:xfrm>
          <a:prstGeom prst="ellipse">
            <a:avLst/>
          </a:prstGeom>
          <a:solidFill>
            <a:srgbClr val="FFFF0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s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18" name="直線單箭頭接點 17"/>
          <p:cNvCxnSpPr>
            <a:stCxn id="17" idx="7"/>
            <a:endCxn id="13" idx="3"/>
          </p:cNvCxnSpPr>
          <p:nvPr/>
        </p:nvCxnSpPr>
        <p:spPr>
          <a:xfrm flipV="1">
            <a:off x="2539279" y="391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stCxn id="13" idx="6"/>
            <a:endCxn id="15" idx="2"/>
          </p:cNvCxnSpPr>
          <p:nvPr/>
        </p:nvCxnSpPr>
        <p:spPr>
          <a:xfrm>
            <a:off x="3672000" y="378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15" idx="3"/>
            <a:endCxn id="14" idx="7"/>
          </p:cNvCxnSpPr>
          <p:nvPr/>
        </p:nvCxnSpPr>
        <p:spPr>
          <a:xfrm flipH="1">
            <a:off x="3619279" y="3916279"/>
            <a:ext cx="1905442" cy="190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14" idx="6"/>
            <a:endCxn id="16" idx="2"/>
          </p:cNvCxnSpPr>
          <p:nvPr/>
        </p:nvCxnSpPr>
        <p:spPr>
          <a:xfrm>
            <a:off x="3672000" y="594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14" idx="0"/>
            <a:endCxn id="13" idx="4"/>
          </p:cNvCxnSpPr>
          <p:nvPr/>
        </p:nvCxnSpPr>
        <p:spPr>
          <a:xfrm flipV="1">
            <a:off x="3492000" y="396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stCxn id="15" idx="5"/>
            <a:endCxn id="26" idx="1"/>
          </p:cNvCxnSpPr>
          <p:nvPr/>
        </p:nvCxnSpPr>
        <p:spPr>
          <a:xfrm>
            <a:off x="5779279" y="391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>
            <a:stCxn id="16" idx="0"/>
            <a:endCxn id="15" idx="4"/>
          </p:cNvCxnSpPr>
          <p:nvPr/>
        </p:nvCxnSpPr>
        <p:spPr>
          <a:xfrm flipV="1">
            <a:off x="5652000" y="396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stCxn id="17" idx="5"/>
            <a:endCxn id="14" idx="1"/>
          </p:cNvCxnSpPr>
          <p:nvPr/>
        </p:nvCxnSpPr>
        <p:spPr>
          <a:xfrm>
            <a:off x="2539279" y="499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橢圓 25"/>
          <p:cNvSpPr/>
          <p:nvPr/>
        </p:nvSpPr>
        <p:spPr>
          <a:xfrm>
            <a:off x="6552000" y="4689000"/>
            <a:ext cx="360000" cy="360000"/>
          </a:xfrm>
          <a:prstGeom prst="ellipse">
            <a:avLst/>
          </a:prstGeom>
          <a:solidFill>
            <a:srgbClr val="92D05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t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27" name="直線單箭頭接點 26"/>
          <p:cNvCxnSpPr>
            <a:stCxn id="16" idx="7"/>
            <a:endCxn id="26" idx="3"/>
          </p:cNvCxnSpPr>
          <p:nvPr/>
        </p:nvCxnSpPr>
        <p:spPr>
          <a:xfrm flipV="1">
            <a:off x="5779279" y="499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89049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Maximum-flow 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2000" y="1269000"/>
            <a:ext cx="8640000" cy="900000"/>
          </a:xfrm>
        </p:spPr>
        <p:txBody>
          <a:bodyPr/>
          <a:lstStyle/>
          <a:p>
            <a:pPr marL="0" lvl="0" indent="0" eaLnBrk="1" hangingPunct="1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</a:rPr>
              <a:t>We call the nonnegative quantity </a:t>
            </a:r>
            <a:r>
              <a:rPr lang="en-US" altLang="zh-TW" i="1" spc="3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the </a:t>
            </a:r>
            <a:r>
              <a:rPr lang="en-US" altLang="zh-TW" i="1" spc="300" dirty="0">
                <a:solidFill>
                  <a:srgbClr val="0000FF"/>
                </a:solidFill>
              </a:rPr>
              <a:t>f</a:t>
            </a:r>
            <a:r>
              <a:rPr lang="en-US" altLang="zh-TW" i="1" dirty="0">
                <a:solidFill>
                  <a:srgbClr val="0000FF"/>
                </a:solidFill>
              </a:rPr>
              <a:t>low</a:t>
            </a:r>
            <a:r>
              <a:rPr lang="en-US" altLang="zh-TW" dirty="0">
                <a:solidFill>
                  <a:srgbClr val="0000FF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from node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to node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.  The </a:t>
            </a:r>
            <a:r>
              <a:rPr lang="en-US" altLang="zh-TW" i="1" dirty="0">
                <a:solidFill>
                  <a:srgbClr val="0000FF"/>
                </a:solidFill>
              </a:rPr>
              <a:t>value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spc="600" dirty="0">
                <a:solidFill>
                  <a:srgbClr val="000000"/>
                </a:solidFill>
              </a:rPr>
              <a:t>|</a:t>
            </a:r>
            <a:r>
              <a:rPr lang="en-US" altLang="zh-TW" i="1" spc="600" dirty="0">
                <a:solidFill>
                  <a:srgbClr val="000000"/>
                </a:solidFill>
              </a:rPr>
              <a:t>f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 of a flow</a:t>
            </a:r>
            <a:r>
              <a:rPr lang="en-US" altLang="zh-TW" spc="300" dirty="0">
                <a:solidFill>
                  <a:srgbClr val="000000"/>
                </a:solidFill>
              </a:rPr>
              <a:t> </a:t>
            </a:r>
            <a:r>
              <a:rPr lang="en-US" altLang="zh-TW" i="1" spc="3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 is defined as,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232000" y="396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72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12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16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4212000" y="342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2232000" y="522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36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6192000" y="396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15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20</a:t>
            </a: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4212000" y="594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3600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6192000" y="52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572000" y="46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7200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3492000" y="468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5652000" y="468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13" name="橢圓 12"/>
          <p:cNvSpPr/>
          <p:nvPr/>
        </p:nvSpPr>
        <p:spPr>
          <a:xfrm>
            <a:off x="3312000" y="360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1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3312000" y="576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2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5472000" y="360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3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6" name="橢圓 15"/>
          <p:cNvSpPr/>
          <p:nvPr/>
        </p:nvSpPr>
        <p:spPr>
          <a:xfrm>
            <a:off x="5472000" y="576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4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7" name="橢圓 16"/>
          <p:cNvSpPr/>
          <p:nvPr/>
        </p:nvSpPr>
        <p:spPr>
          <a:xfrm>
            <a:off x="2232000" y="4689000"/>
            <a:ext cx="360000" cy="360000"/>
          </a:xfrm>
          <a:prstGeom prst="ellipse">
            <a:avLst/>
          </a:prstGeom>
          <a:solidFill>
            <a:srgbClr val="FFFF0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s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18" name="直線單箭頭接點 17"/>
          <p:cNvCxnSpPr>
            <a:stCxn id="17" idx="7"/>
            <a:endCxn id="13" idx="3"/>
          </p:cNvCxnSpPr>
          <p:nvPr/>
        </p:nvCxnSpPr>
        <p:spPr>
          <a:xfrm flipV="1">
            <a:off x="2539279" y="391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stCxn id="13" idx="6"/>
            <a:endCxn id="15" idx="2"/>
          </p:cNvCxnSpPr>
          <p:nvPr/>
        </p:nvCxnSpPr>
        <p:spPr>
          <a:xfrm>
            <a:off x="3672000" y="378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15" idx="3"/>
            <a:endCxn id="14" idx="7"/>
          </p:cNvCxnSpPr>
          <p:nvPr/>
        </p:nvCxnSpPr>
        <p:spPr>
          <a:xfrm flipH="1">
            <a:off x="3619279" y="3916279"/>
            <a:ext cx="1905442" cy="190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14" idx="6"/>
            <a:endCxn id="16" idx="2"/>
          </p:cNvCxnSpPr>
          <p:nvPr/>
        </p:nvCxnSpPr>
        <p:spPr>
          <a:xfrm>
            <a:off x="3672000" y="594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14" idx="0"/>
            <a:endCxn id="13" idx="4"/>
          </p:cNvCxnSpPr>
          <p:nvPr/>
        </p:nvCxnSpPr>
        <p:spPr>
          <a:xfrm flipV="1">
            <a:off x="3492000" y="396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stCxn id="15" idx="5"/>
            <a:endCxn id="26" idx="1"/>
          </p:cNvCxnSpPr>
          <p:nvPr/>
        </p:nvCxnSpPr>
        <p:spPr>
          <a:xfrm>
            <a:off x="5779279" y="391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>
            <a:stCxn id="16" idx="0"/>
            <a:endCxn id="15" idx="4"/>
          </p:cNvCxnSpPr>
          <p:nvPr/>
        </p:nvCxnSpPr>
        <p:spPr>
          <a:xfrm flipV="1">
            <a:off x="5652000" y="396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stCxn id="17" idx="5"/>
            <a:endCxn id="14" idx="1"/>
          </p:cNvCxnSpPr>
          <p:nvPr/>
        </p:nvCxnSpPr>
        <p:spPr>
          <a:xfrm>
            <a:off x="2539279" y="499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橢圓 25"/>
          <p:cNvSpPr/>
          <p:nvPr/>
        </p:nvSpPr>
        <p:spPr>
          <a:xfrm>
            <a:off x="6552000" y="4689000"/>
            <a:ext cx="360000" cy="360000"/>
          </a:xfrm>
          <a:prstGeom prst="ellipse">
            <a:avLst/>
          </a:prstGeom>
          <a:solidFill>
            <a:srgbClr val="92D05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t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27" name="直線單箭頭接點 26"/>
          <p:cNvCxnSpPr>
            <a:stCxn id="16" idx="7"/>
            <a:endCxn id="26" idx="3"/>
          </p:cNvCxnSpPr>
          <p:nvPr/>
        </p:nvCxnSpPr>
        <p:spPr>
          <a:xfrm flipV="1">
            <a:off x="5779279" y="499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65011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Maximum-flow Problem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52000" y="1269000"/>
                <a:ext cx="8640000" cy="1980000"/>
              </a:xfrm>
            </p:spPr>
            <p:txBody>
              <a:bodyPr/>
              <a:lstStyle/>
              <a:p>
                <a:pPr marL="0" lvl="0" indent="0" eaLnBrk="1" hangingPunct="1">
                  <a:buClr>
                    <a:srgbClr val="3333CC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We call the nonnegative quantity </a:t>
                </a:r>
                <a:r>
                  <a:rPr lang="en-US" altLang="zh-TW" i="1" spc="300" dirty="0">
                    <a:solidFill>
                      <a:srgbClr val="000000"/>
                    </a:solidFill>
                  </a:rPr>
                  <a:t>f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 the </a:t>
                </a:r>
                <a:r>
                  <a:rPr lang="en-US" altLang="zh-TW" i="1" spc="300" dirty="0">
                    <a:solidFill>
                      <a:srgbClr val="0000FF"/>
                    </a:solidFill>
                  </a:rPr>
                  <a:t>f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low</a:t>
                </a:r>
                <a:r>
                  <a:rPr lang="en-US" altLang="zh-TW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from node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to node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.  The 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value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b="1" spc="600" dirty="0">
                    <a:solidFill>
                      <a:srgbClr val="000000"/>
                    </a:solidFill>
                  </a:rPr>
                  <a:t>|</a:t>
                </a:r>
                <a:r>
                  <a:rPr lang="en-US" altLang="zh-TW" i="1" spc="600" dirty="0">
                    <a:solidFill>
                      <a:srgbClr val="000000"/>
                    </a:solidFill>
                  </a:rPr>
                  <a:t>f</a:t>
                </a:r>
                <a:r>
                  <a:rPr lang="en-US" altLang="zh-TW" b="1" dirty="0">
                    <a:solidFill>
                      <a:srgbClr val="000000"/>
                    </a:solidFill>
                  </a:rPr>
                  <a:t>|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of a flow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spc="300" dirty="0">
                    <a:solidFill>
                      <a:srgbClr val="000000"/>
                    </a:solidFill>
                  </a:rPr>
                  <a:t>f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is defined as,</a:t>
                </a:r>
                <a:endParaRPr lang="zh-TW" altLang="en-US" dirty="0">
                  <a:solidFill>
                    <a:srgbClr val="000000"/>
                  </a:solidFill>
                </a:endParaRPr>
              </a:p>
              <a:p>
                <a:pPr>
                  <a:spcBef>
                    <a:spcPts val="0"/>
                  </a:spcBef>
                </a:pPr>
                <a:endParaRPr lang="en-US" altLang="zh-TW" dirty="0"/>
              </a:p>
              <a:p>
                <a:pPr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b="1" spc="600" dirty="0">
                          <a:solidFill>
                            <a:srgbClr val="000000"/>
                          </a:solidFill>
                        </a:rPr>
                        <m:t>|</m:t>
                      </m:r>
                      <m:r>
                        <m:rPr>
                          <m:nor/>
                        </m:rPr>
                        <a:rPr lang="en-US" altLang="zh-TW" i="1" spc="600" dirty="0">
                          <a:solidFill>
                            <a:srgbClr val="000000"/>
                          </a:solidFill>
                        </a:rPr>
                        <m:t>f</m:t>
                      </m:r>
                      <m:r>
                        <m:rPr>
                          <m:nor/>
                        </m:rPr>
                        <a:rPr lang="en-US" altLang="zh-TW" b="1" dirty="0">
                          <a:solidFill>
                            <a:srgbClr val="000000"/>
                          </a:solidFill>
                        </a:rPr>
                        <m:t>|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600" i="1" spc="150" dirty="0">
                              <a:solidFill>
                                <a:srgbClr val="000000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sz="1600" spc="1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sym typeface="Symbol" pitchFamily="18" charset="2"/>
                            </a:rPr>
                            <m:t>V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zh-TW" i="1" spc="300" dirty="0">
                              <a:solidFill>
                                <a:srgbClr val="000000"/>
                              </a:solidFill>
                            </a:rPr>
                            <m:t>f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b="0" i="1" dirty="0" smtClean="0">
                              <a:solidFill>
                                <a:srgbClr val="000000"/>
                              </a:solidFill>
                            </a:rPr>
                            <m:t>s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US" altLang="zh-TW" i="1" dirty="0">
                              <a:solidFill>
                                <a:srgbClr val="000000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)</m:t>
                          </m:r>
                        </m:e>
                      </m:nary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600" i="1" spc="150" dirty="0">
                              <a:solidFill>
                                <a:srgbClr val="000000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sz="1600" spc="1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sym typeface="Symbol" pitchFamily="18" charset="2"/>
                            </a:rPr>
                            <m:t>V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zh-TW" i="1" spc="300" dirty="0">
                              <a:solidFill>
                                <a:srgbClr val="000000"/>
                              </a:solidFill>
                            </a:rPr>
                            <m:t>f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b="0" i="1" dirty="0" smtClean="0">
                              <a:solidFill>
                                <a:srgbClr val="000000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US" altLang="zh-TW" b="0" i="1" dirty="0" smtClean="0">
                              <a:solidFill>
                                <a:srgbClr val="000000"/>
                              </a:solidFill>
                            </a:rPr>
                            <m:t>s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)</m:t>
                          </m:r>
                        </m:e>
                      </m:nary>
                      <m:r>
                        <m:rPr>
                          <m:nor/>
                        </m:rPr>
                        <a:rPr lang="en-US" altLang="zh-TW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en-US" altLang="zh-TW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0"/>
                  </a:spcBef>
                </a:pPr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2000" y="1269000"/>
                <a:ext cx="8640000" cy="1980000"/>
              </a:xfrm>
              <a:blipFill>
                <a:blip r:embed="rId2"/>
                <a:stretch>
                  <a:fillRect l="-917" t="-21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232000" y="396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72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12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16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4212000" y="342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2232000" y="522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36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6192000" y="396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15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20</a:t>
            </a: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4212000" y="594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3600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6192000" y="52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572000" y="46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7200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3492000" y="468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5652000" y="468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13" name="橢圓 12"/>
          <p:cNvSpPr/>
          <p:nvPr/>
        </p:nvSpPr>
        <p:spPr>
          <a:xfrm>
            <a:off x="3312000" y="360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1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3312000" y="576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2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5472000" y="360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3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6" name="橢圓 15"/>
          <p:cNvSpPr/>
          <p:nvPr/>
        </p:nvSpPr>
        <p:spPr>
          <a:xfrm>
            <a:off x="5472000" y="576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4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7" name="橢圓 16"/>
          <p:cNvSpPr/>
          <p:nvPr/>
        </p:nvSpPr>
        <p:spPr>
          <a:xfrm>
            <a:off x="2232000" y="4689000"/>
            <a:ext cx="360000" cy="360000"/>
          </a:xfrm>
          <a:prstGeom prst="ellipse">
            <a:avLst/>
          </a:prstGeom>
          <a:solidFill>
            <a:srgbClr val="FFFF0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s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18" name="直線單箭頭接點 17"/>
          <p:cNvCxnSpPr>
            <a:stCxn id="17" idx="7"/>
            <a:endCxn id="13" idx="3"/>
          </p:cNvCxnSpPr>
          <p:nvPr/>
        </p:nvCxnSpPr>
        <p:spPr>
          <a:xfrm flipV="1">
            <a:off x="2539279" y="391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stCxn id="13" idx="6"/>
            <a:endCxn id="15" idx="2"/>
          </p:cNvCxnSpPr>
          <p:nvPr/>
        </p:nvCxnSpPr>
        <p:spPr>
          <a:xfrm>
            <a:off x="3672000" y="378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15" idx="3"/>
            <a:endCxn id="14" idx="7"/>
          </p:cNvCxnSpPr>
          <p:nvPr/>
        </p:nvCxnSpPr>
        <p:spPr>
          <a:xfrm flipH="1">
            <a:off x="3619279" y="3916279"/>
            <a:ext cx="1905442" cy="190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14" idx="6"/>
            <a:endCxn id="16" idx="2"/>
          </p:cNvCxnSpPr>
          <p:nvPr/>
        </p:nvCxnSpPr>
        <p:spPr>
          <a:xfrm>
            <a:off x="3672000" y="594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14" idx="0"/>
            <a:endCxn id="13" idx="4"/>
          </p:cNvCxnSpPr>
          <p:nvPr/>
        </p:nvCxnSpPr>
        <p:spPr>
          <a:xfrm flipV="1">
            <a:off x="3492000" y="396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stCxn id="15" idx="5"/>
            <a:endCxn id="26" idx="1"/>
          </p:cNvCxnSpPr>
          <p:nvPr/>
        </p:nvCxnSpPr>
        <p:spPr>
          <a:xfrm>
            <a:off x="5779279" y="391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>
            <a:stCxn id="16" idx="0"/>
            <a:endCxn id="15" idx="4"/>
          </p:cNvCxnSpPr>
          <p:nvPr/>
        </p:nvCxnSpPr>
        <p:spPr>
          <a:xfrm flipV="1">
            <a:off x="5652000" y="396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stCxn id="17" idx="5"/>
            <a:endCxn id="14" idx="1"/>
          </p:cNvCxnSpPr>
          <p:nvPr/>
        </p:nvCxnSpPr>
        <p:spPr>
          <a:xfrm>
            <a:off x="2539279" y="499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橢圓 25"/>
          <p:cNvSpPr/>
          <p:nvPr/>
        </p:nvSpPr>
        <p:spPr>
          <a:xfrm>
            <a:off x="6552000" y="4689000"/>
            <a:ext cx="360000" cy="360000"/>
          </a:xfrm>
          <a:prstGeom prst="ellipse">
            <a:avLst/>
          </a:prstGeom>
          <a:solidFill>
            <a:srgbClr val="92D05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t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27" name="直線單箭頭接點 26"/>
          <p:cNvCxnSpPr>
            <a:stCxn id="16" idx="7"/>
            <a:endCxn id="26" idx="3"/>
          </p:cNvCxnSpPr>
          <p:nvPr/>
        </p:nvCxnSpPr>
        <p:spPr>
          <a:xfrm flipV="1">
            <a:off x="5779279" y="499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30044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線單箭頭接點 19"/>
          <p:cNvCxnSpPr>
            <a:endCxn id="17" idx="6"/>
          </p:cNvCxnSpPr>
          <p:nvPr/>
        </p:nvCxnSpPr>
        <p:spPr>
          <a:xfrm flipH="1">
            <a:off x="2592000" y="3789000"/>
            <a:ext cx="3060000" cy="108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Maximum-flow Problem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52000" y="1269000"/>
                <a:ext cx="8640000" cy="1980000"/>
              </a:xfrm>
            </p:spPr>
            <p:txBody>
              <a:bodyPr/>
              <a:lstStyle/>
              <a:p>
                <a:pPr marL="0" lvl="0" indent="0" eaLnBrk="1" hangingPunct="1">
                  <a:buClr>
                    <a:srgbClr val="3333CC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We call the nonnegative quantity </a:t>
                </a:r>
                <a:r>
                  <a:rPr lang="en-US" altLang="zh-TW" i="1" spc="300" dirty="0">
                    <a:solidFill>
                      <a:srgbClr val="000000"/>
                    </a:solidFill>
                  </a:rPr>
                  <a:t>f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 the </a:t>
                </a:r>
                <a:r>
                  <a:rPr lang="en-US" altLang="zh-TW" i="1" spc="300" dirty="0">
                    <a:solidFill>
                      <a:srgbClr val="0000FF"/>
                    </a:solidFill>
                  </a:rPr>
                  <a:t>f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low</a:t>
                </a:r>
                <a:r>
                  <a:rPr lang="en-US" altLang="zh-TW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from node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to node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.  The 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value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b="1" spc="600" dirty="0">
                    <a:solidFill>
                      <a:srgbClr val="000000"/>
                    </a:solidFill>
                  </a:rPr>
                  <a:t>|</a:t>
                </a:r>
                <a:r>
                  <a:rPr lang="en-US" altLang="zh-TW" i="1" spc="600" dirty="0">
                    <a:solidFill>
                      <a:srgbClr val="000000"/>
                    </a:solidFill>
                  </a:rPr>
                  <a:t>f</a:t>
                </a:r>
                <a:r>
                  <a:rPr lang="en-US" altLang="zh-TW" b="1" dirty="0">
                    <a:solidFill>
                      <a:srgbClr val="000000"/>
                    </a:solidFill>
                  </a:rPr>
                  <a:t>|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of a flow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spc="300" dirty="0">
                    <a:solidFill>
                      <a:srgbClr val="000000"/>
                    </a:solidFill>
                  </a:rPr>
                  <a:t>f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is defined as,</a:t>
                </a:r>
                <a:endParaRPr lang="zh-TW" altLang="en-US" dirty="0">
                  <a:solidFill>
                    <a:srgbClr val="000000"/>
                  </a:solidFill>
                </a:endParaRPr>
              </a:p>
              <a:p>
                <a:pPr>
                  <a:spcBef>
                    <a:spcPts val="0"/>
                  </a:spcBef>
                </a:pPr>
                <a:endParaRPr lang="en-US" altLang="zh-TW" dirty="0"/>
              </a:p>
              <a:p>
                <a:pPr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b="1" spc="600" dirty="0">
                          <a:solidFill>
                            <a:srgbClr val="000000"/>
                          </a:solidFill>
                        </a:rPr>
                        <m:t>|</m:t>
                      </m:r>
                      <m:r>
                        <m:rPr>
                          <m:nor/>
                        </m:rPr>
                        <a:rPr lang="en-US" altLang="zh-TW" i="1" spc="600" dirty="0">
                          <a:solidFill>
                            <a:srgbClr val="000000"/>
                          </a:solidFill>
                        </a:rPr>
                        <m:t>f</m:t>
                      </m:r>
                      <m:r>
                        <m:rPr>
                          <m:nor/>
                        </m:rPr>
                        <a:rPr lang="en-US" altLang="zh-TW" b="1" dirty="0">
                          <a:solidFill>
                            <a:srgbClr val="000000"/>
                          </a:solidFill>
                        </a:rPr>
                        <m:t>|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600" i="1" spc="150" dirty="0">
                              <a:solidFill>
                                <a:srgbClr val="000000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sz="1600" spc="1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sym typeface="Symbol" pitchFamily="18" charset="2"/>
                            </a:rPr>
                            <m:t>V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zh-TW" i="1" spc="300" dirty="0">
                              <a:solidFill>
                                <a:srgbClr val="000000"/>
                              </a:solidFill>
                            </a:rPr>
                            <m:t>f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b="0" i="1" dirty="0" smtClean="0">
                              <a:solidFill>
                                <a:srgbClr val="000000"/>
                              </a:solidFill>
                            </a:rPr>
                            <m:t>s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US" altLang="zh-TW" i="1" dirty="0">
                              <a:solidFill>
                                <a:srgbClr val="000000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)</m:t>
                          </m:r>
                        </m:e>
                      </m:nary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600" i="1" spc="150" dirty="0">
                              <a:solidFill>
                                <a:srgbClr val="000000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sz="1600" spc="1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sym typeface="Symbol" pitchFamily="18" charset="2"/>
                            </a:rPr>
                            <m:t>V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zh-TW" i="1" spc="300" dirty="0">
                              <a:solidFill>
                                <a:srgbClr val="000000"/>
                              </a:solidFill>
                            </a:rPr>
                            <m:t>f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b="0" i="1" dirty="0" smtClean="0">
                              <a:solidFill>
                                <a:srgbClr val="000000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US" altLang="zh-TW" b="0" i="1" dirty="0" smtClean="0">
                              <a:solidFill>
                                <a:srgbClr val="000000"/>
                              </a:solidFill>
                            </a:rPr>
                            <m:t>s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)</m:t>
                          </m:r>
                        </m:e>
                      </m:nary>
                      <m:r>
                        <m:rPr>
                          <m:nor/>
                        </m:rPr>
                        <a:rPr lang="en-US" altLang="zh-TW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en-US" altLang="zh-TW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0"/>
                  </a:spcBef>
                </a:pPr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2000" y="1269000"/>
                <a:ext cx="8640000" cy="1980000"/>
              </a:xfrm>
              <a:blipFill>
                <a:blip r:embed="rId2"/>
                <a:stretch>
                  <a:fillRect l="-917" t="-21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232000" y="396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72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12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16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4212000" y="342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2232000" y="522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36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11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6192000" y="396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15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20</a:t>
            </a: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4212000" y="594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3600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6192000" y="52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12000" y="414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3492000" y="486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5652000" y="468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13" name="橢圓 12"/>
          <p:cNvSpPr/>
          <p:nvPr/>
        </p:nvSpPr>
        <p:spPr>
          <a:xfrm>
            <a:off x="3312000" y="360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1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3312000" y="576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2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5472000" y="360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3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6" name="橢圓 15"/>
          <p:cNvSpPr/>
          <p:nvPr/>
        </p:nvSpPr>
        <p:spPr>
          <a:xfrm>
            <a:off x="5472000" y="576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4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7" name="橢圓 16"/>
          <p:cNvSpPr/>
          <p:nvPr/>
        </p:nvSpPr>
        <p:spPr>
          <a:xfrm>
            <a:off x="2232000" y="4689000"/>
            <a:ext cx="360000" cy="360000"/>
          </a:xfrm>
          <a:prstGeom prst="ellipse">
            <a:avLst/>
          </a:prstGeom>
          <a:solidFill>
            <a:srgbClr val="FFFF0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s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18" name="直線單箭頭接點 17"/>
          <p:cNvCxnSpPr>
            <a:stCxn id="17" idx="7"/>
            <a:endCxn id="13" idx="3"/>
          </p:cNvCxnSpPr>
          <p:nvPr/>
        </p:nvCxnSpPr>
        <p:spPr>
          <a:xfrm flipV="1">
            <a:off x="2539279" y="391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stCxn id="13" idx="6"/>
            <a:endCxn id="15" idx="2"/>
          </p:cNvCxnSpPr>
          <p:nvPr/>
        </p:nvCxnSpPr>
        <p:spPr>
          <a:xfrm>
            <a:off x="3672000" y="378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14" idx="6"/>
            <a:endCxn id="16" idx="2"/>
          </p:cNvCxnSpPr>
          <p:nvPr/>
        </p:nvCxnSpPr>
        <p:spPr>
          <a:xfrm>
            <a:off x="3672000" y="594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14" idx="0"/>
            <a:endCxn id="13" idx="4"/>
          </p:cNvCxnSpPr>
          <p:nvPr/>
        </p:nvCxnSpPr>
        <p:spPr>
          <a:xfrm flipV="1">
            <a:off x="3492000" y="396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stCxn id="15" idx="5"/>
            <a:endCxn id="26" idx="1"/>
          </p:cNvCxnSpPr>
          <p:nvPr/>
        </p:nvCxnSpPr>
        <p:spPr>
          <a:xfrm>
            <a:off x="5779279" y="391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>
            <a:stCxn id="16" idx="0"/>
            <a:endCxn id="15" idx="4"/>
          </p:cNvCxnSpPr>
          <p:nvPr/>
        </p:nvCxnSpPr>
        <p:spPr>
          <a:xfrm flipV="1">
            <a:off x="5652000" y="396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stCxn id="17" idx="5"/>
            <a:endCxn id="14" idx="1"/>
          </p:cNvCxnSpPr>
          <p:nvPr/>
        </p:nvCxnSpPr>
        <p:spPr>
          <a:xfrm>
            <a:off x="2539279" y="499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橢圓 25"/>
          <p:cNvSpPr/>
          <p:nvPr/>
        </p:nvSpPr>
        <p:spPr>
          <a:xfrm>
            <a:off x="6552000" y="4689000"/>
            <a:ext cx="360000" cy="360000"/>
          </a:xfrm>
          <a:prstGeom prst="ellipse">
            <a:avLst/>
          </a:prstGeom>
          <a:solidFill>
            <a:srgbClr val="92D05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t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27" name="直線單箭頭接點 26"/>
          <p:cNvCxnSpPr>
            <a:stCxn id="16" idx="7"/>
            <a:endCxn id="26" idx="3"/>
          </p:cNvCxnSpPr>
          <p:nvPr/>
        </p:nvCxnSpPr>
        <p:spPr>
          <a:xfrm flipV="1">
            <a:off x="5779279" y="499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44425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線單箭頭接點 19"/>
          <p:cNvCxnSpPr>
            <a:endCxn id="17" idx="6"/>
          </p:cNvCxnSpPr>
          <p:nvPr/>
        </p:nvCxnSpPr>
        <p:spPr>
          <a:xfrm flipH="1">
            <a:off x="2592000" y="3789000"/>
            <a:ext cx="3060000" cy="108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Maximum-flow Problem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52000" y="1269000"/>
                <a:ext cx="8640000" cy="1980000"/>
              </a:xfrm>
            </p:spPr>
            <p:txBody>
              <a:bodyPr/>
              <a:lstStyle/>
              <a:p>
                <a:pPr marL="0" lvl="0" indent="0" eaLnBrk="1" hangingPunct="1">
                  <a:buClr>
                    <a:srgbClr val="3333CC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We call the nonnegative quantity </a:t>
                </a:r>
                <a:r>
                  <a:rPr lang="en-US" altLang="zh-TW" i="1" spc="300" dirty="0">
                    <a:solidFill>
                      <a:srgbClr val="000000"/>
                    </a:solidFill>
                  </a:rPr>
                  <a:t>f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 the </a:t>
                </a:r>
                <a:r>
                  <a:rPr lang="en-US" altLang="zh-TW" i="1" spc="300" dirty="0">
                    <a:solidFill>
                      <a:srgbClr val="0000FF"/>
                    </a:solidFill>
                  </a:rPr>
                  <a:t>f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low</a:t>
                </a:r>
                <a:r>
                  <a:rPr lang="en-US" altLang="zh-TW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from node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to node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.  The 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value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b="1" spc="600" dirty="0">
                    <a:solidFill>
                      <a:srgbClr val="000000"/>
                    </a:solidFill>
                  </a:rPr>
                  <a:t>|</a:t>
                </a:r>
                <a:r>
                  <a:rPr lang="en-US" altLang="zh-TW" i="1" spc="600" dirty="0">
                    <a:solidFill>
                      <a:srgbClr val="000000"/>
                    </a:solidFill>
                  </a:rPr>
                  <a:t>f</a:t>
                </a:r>
                <a:r>
                  <a:rPr lang="en-US" altLang="zh-TW" b="1" dirty="0">
                    <a:solidFill>
                      <a:srgbClr val="000000"/>
                    </a:solidFill>
                  </a:rPr>
                  <a:t>|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of a flow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spc="300" dirty="0">
                    <a:solidFill>
                      <a:srgbClr val="000000"/>
                    </a:solidFill>
                  </a:rPr>
                  <a:t>f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is defined as,</a:t>
                </a:r>
                <a:endParaRPr lang="zh-TW" altLang="en-US" dirty="0">
                  <a:solidFill>
                    <a:srgbClr val="000000"/>
                  </a:solidFill>
                </a:endParaRPr>
              </a:p>
              <a:p>
                <a:pPr>
                  <a:spcBef>
                    <a:spcPts val="0"/>
                  </a:spcBef>
                </a:pPr>
                <a:endParaRPr lang="en-US" altLang="zh-TW" dirty="0"/>
              </a:p>
              <a:p>
                <a:pPr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b="1" spc="600" dirty="0">
                          <a:solidFill>
                            <a:srgbClr val="000000"/>
                          </a:solidFill>
                        </a:rPr>
                        <m:t>|</m:t>
                      </m:r>
                      <m:r>
                        <m:rPr>
                          <m:nor/>
                        </m:rPr>
                        <a:rPr lang="en-US" altLang="zh-TW" i="1" spc="600" dirty="0">
                          <a:solidFill>
                            <a:srgbClr val="000000"/>
                          </a:solidFill>
                        </a:rPr>
                        <m:t>f</m:t>
                      </m:r>
                      <m:r>
                        <m:rPr>
                          <m:nor/>
                        </m:rPr>
                        <a:rPr lang="en-US" altLang="zh-TW" b="1" dirty="0">
                          <a:solidFill>
                            <a:srgbClr val="000000"/>
                          </a:solidFill>
                        </a:rPr>
                        <m:t>|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600" i="1" spc="150" dirty="0">
                              <a:solidFill>
                                <a:srgbClr val="000000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sz="1600" spc="1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sym typeface="Symbol" pitchFamily="18" charset="2"/>
                            </a:rPr>
                            <m:t>V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zh-TW" i="1" spc="300" dirty="0">
                              <a:solidFill>
                                <a:srgbClr val="000000"/>
                              </a:solidFill>
                            </a:rPr>
                            <m:t>f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b="0" i="1" dirty="0" smtClean="0">
                              <a:solidFill>
                                <a:srgbClr val="000000"/>
                              </a:solidFill>
                            </a:rPr>
                            <m:t>s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US" altLang="zh-TW" i="1" dirty="0">
                              <a:solidFill>
                                <a:srgbClr val="000000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)</m:t>
                          </m:r>
                        </m:e>
                      </m:nary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600" i="1" spc="150" dirty="0">
                              <a:solidFill>
                                <a:srgbClr val="000000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sz="1600" spc="1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sym typeface="Symbol" pitchFamily="18" charset="2"/>
                            </a:rPr>
                            <m:t>V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zh-TW" i="1" spc="300" dirty="0">
                              <a:solidFill>
                                <a:srgbClr val="000000"/>
                              </a:solidFill>
                            </a:rPr>
                            <m:t>f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b="0" i="1" dirty="0" smtClean="0">
                              <a:solidFill>
                                <a:srgbClr val="000000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US" altLang="zh-TW" b="0" i="1" dirty="0" smtClean="0">
                              <a:solidFill>
                                <a:srgbClr val="000000"/>
                              </a:solidFill>
                            </a:rPr>
                            <m:t>s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)</m:t>
                          </m:r>
                        </m:e>
                      </m:nary>
                      <m:r>
                        <m:rPr>
                          <m:nor/>
                        </m:rPr>
                        <a:rPr lang="en-US" altLang="zh-TW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en-US" altLang="zh-TW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0"/>
                  </a:spcBef>
                </a:pPr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2000" y="1269000"/>
                <a:ext cx="8640000" cy="1980000"/>
              </a:xfrm>
              <a:blipFill>
                <a:blip r:embed="rId2"/>
                <a:stretch>
                  <a:fillRect l="-917" t="-21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232000" y="396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72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8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16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4212000" y="342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2232000" y="522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36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11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6192000" y="396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15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20</a:t>
            </a: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4212000" y="594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3600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6192000" y="52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12000" y="414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3492000" y="486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5652000" y="468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13" name="橢圓 12"/>
          <p:cNvSpPr/>
          <p:nvPr/>
        </p:nvSpPr>
        <p:spPr>
          <a:xfrm>
            <a:off x="3312000" y="360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1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3312000" y="576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2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5472000" y="360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3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6" name="橢圓 15"/>
          <p:cNvSpPr/>
          <p:nvPr/>
        </p:nvSpPr>
        <p:spPr>
          <a:xfrm>
            <a:off x="5472000" y="576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4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7" name="橢圓 16"/>
          <p:cNvSpPr/>
          <p:nvPr/>
        </p:nvSpPr>
        <p:spPr>
          <a:xfrm>
            <a:off x="2232000" y="4689000"/>
            <a:ext cx="360000" cy="360000"/>
          </a:xfrm>
          <a:prstGeom prst="ellipse">
            <a:avLst/>
          </a:prstGeom>
          <a:solidFill>
            <a:srgbClr val="FFFF0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s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18" name="直線單箭頭接點 17"/>
          <p:cNvCxnSpPr>
            <a:stCxn id="17" idx="7"/>
            <a:endCxn id="13" idx="3"/>
          </p:cNvCxnSpPr>
          <p:nvPr/>
        </p:nvCxnSpPr>
        <p:spPr>
          <a:xfrm flipV="1">
            <a:off x="2539279" y="391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stCxn id="13" idx="6"/>
            <a:endCxn id="15" idx="2"/>
          </p:cNvCxnSpPr>
          <p:nvPr/>
        </p:nvCxnSpPr>
        <p:spPr>
          <a:xfrm>
            <a:off x="3672000" y="378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14" idx="6"/>
            <a:endCxn id="16" idx="2"/>
          </p:cNvCxnSpPr>
          <p:nvPr/>
        </p:nvCxnSpPr>
        <p:spPr>
          <a:xfrm>
            <a:off x="3672000" y="594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14" idx="0"/>
            <a:endCxn id="13" idx="4"/>
          </p:cNvCxnSpPr>
          <p:nvPr/>
        </p:nvCxnSpPr>
        <p:spPr>
          <a:xfrm flipV="1">
            <a:off x="3492000" y="396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stCxn id="15" idx="5"/>
            <a:endCxn id="26" idx="1"/>
          </p:cNvCxnSpPr>
          <p:nvPr/>
        </p:nvCxnSpPr>
        <p:spPr>
          <a:xfrm>
            <a:off x="5779279" y="391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>
            <a:stCxn id="16" idx="0"/>
            <a:endCxn id="15" idx="4"/>
          </p:cNvCxnSpPr>
          <p:nvPr/>
        </p:nvCxnSpPr>
        <p:spPr>
          <a:xfrm flipV="1">
            <a:off x="5652000" y="396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stCxn id="17" idx="5"/>
            <a:endCxn id="14" idx="1"/>
          </p:cNvCxnSpPr>
          <p:nvPr/>
        </p:nvCxnSpPr>
        <p:spPr>
          <a:xfrm>
            <a:off x="2539279" y="499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橢圓 25"/>
          <p:cNvSpPr/>
          <p:nvPr/>
        </p:nvSpPr>
        <p:spPr>
          <a:xfrm>
            <a:off x="6552000" y="4689000"/>
            <a:ext cx="360000" cy="360000"/>
          </a:xfrm>
          <a:prstGeom prst="ellipse">
            <a:avLst/>
          </a:prstGeom>
          <a:solidFill>
            <a:srgbClr val="92D05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t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27" name="直線單箭頭接點 26"/>
          <p:cNvCxnSpPr>
            <a:stCxn id="16" idx="7"/>
            <a:endCxn id="26" idx="3"/>
          </p:cNvCxnSpPr>
          <p:nvPr/>
        </p:nvCxnSpPr>
        <p:spPr>
          <a:xfrm flipV="1">
            <a:off x="5779279" y="499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1729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Maximum-flow Problem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52000" y="1269000"/>
                <a:ext cx="8640000" cy="3420000"/>
              </a:xfrm>
            </p:spPr>
            <p:txBody>
              <a:bodyPr/>
              <a:lstStyle/>
              <a:p>
                <a:pPr marL="0" lvl="0" indent="0" eaLnBrk="1" hangingPunct="1">
                  <a:buClr>
                    <a:srgbClr val="3333CC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We call the nonnegative quantity </a:t>
                </a:r>
                <a:r>
                  <a:rPr lang="en-US" altLang="zh-TW" i="1" spc="300" dirty="0">
                    <a:solidFill>
                      <a:srgbClr val="000000"/>
                    </a:solidFill>
                  </a:rPr>
                  <a:t>f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 the </a:t>
                </a:r>
                <a:r>
                  <a:rPr lang="en-US" altLang="zh-TW" i="1" spc="300" dirty="0">
                    <a:solidFill>
                      <a:srgbClr val="0000FF"/>
                    </a:solidFill>
                  </a:rPr>
                  <a:t>f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low</a:t>
                </a:r>
                <a:r>
                  <a:rPr lang="en-US" altLang="zh-TW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from node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to node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.  The 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value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b="1" spc="600" dirty="0">
                    <a:solidFill>
                      <a:srgbClr val="000000"/>
                    </a:solidFill>
                  </a:rPr>
                  <a:t>|</a:t>
                </a:r>
                <a:r>
                  <a:rPr lang="en-US" altLang="zh-TW" i="1" spc="600" dirty="0">
                    <a:solidFill>
                      <a:srgbClr val="000000"/>
                    </a:solidFill>
                  </a:rPr>
                  <a:t>f</a:t>
                </a:r>
                <a:r>
                  <a:rPr lang="en-US" altLang="zh-TW" b="1" dirty="0">
                    <a:solidFill>
                      <a:srgbClr val="000000"/>
                    </a:solidFill>
                  </a:rPr>
                  <a:t>|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of a flow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spc="300" dirty="0">
                    <a:solidFill>
                      <a:srgbClr val="000000"/>
                    </a:solidFill>
                  </a:rPr>
                  <a:t>f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is defined as,</a:t>
                </a:r>
                <a:endParaRPr lang="zh-TW" altLang="en-US" dirty="0">
                  <a:solidFill>
                    <a:srgbClr val="000000"/>
                  </a:solidFill>
                </a:endParaRPr>
              </a:p>
              <a:p>
                <a:pPr>
                  <a:spcBef>
                    <a:spcPts val="0"/>
                  </a:spcBef>
                </a:pPr>
                <a:endParaRPr lang="en-US" altLang="zh-TW" dirty="0"/>
              </a:p>
              <a:p>
                <a:pPr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b="1" spc="600" dirty="0">
                          <a:solidFill>
                            <a:srgbClr val="000000"/>
                          </a:solidFill>
                        </a:rPr>
                        <m:t>|</m:t>
                      </m:r>
                      <m:r>
                        <m:rPr>
                          <m:nor/>
                        </m:rPr>
                        <a:rPr lang="en-US" altLang="zh-TW" i="1" spc="600" dirty="0">
                          <a:solidFill>
                            <a:srgbClr val="000000"/>
                          </a:solidFill>
                        </a:rPr>
                        <m:t>f</m:t>
                      </m:r>
                      <m:r>
                        <m:rPr>
                          <m:nor/>
                        </m:rPr>
                        <a:rPr lang="en-US" altLang="zh-TW" b="1" dirty="0">
                          <a:solidFill>
                            <a:srgbClr val="000000"/>
                          </a:solidFill>
                        </a:rPr>
                        <m:t>|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600" i="1" spc="150" dirty="0">
                              <a:solidFill>
                                <a:srgbClr val="000000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sz="1600" spc="1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sym typeface="Symbol" pitchFamily="18" charset="2"/>
                            </a:rPr>
                            <m:t>V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zh-TW" i="1" spc="300" dirty="0">
                              <a:solidFill>
                                <a:srgbClr val="000000"/>
                              </a:solidFill>
                            </a:rPr>
                            <m:t>f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b="0" i="1" dirty="0" smtClean="0">
                              <a:solidFill>
                                <a:srgbClr val="000000"/>
                              </a:solidFill>
                            </a:rPr>
                            <m:t>s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US" altLang="zh-TW" i="1" dirty="0">
                              <a:solidFill>
                                <a:srgbClr val="000000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)</m:t>
                          </m:r>
                        </m:e>
                      </m:nary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600" i="1" spc="150" dirty="0">
                              <a:solidFill>
                                <a:srgbClr val="000000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sz="1600" spc="1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sym typeface="Symbol" pitchFamily="18" charset="2"/>
                            </a:rPr>
                            <m:t>V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zh-TW" i="1" spc="300" dirty="0">
                              <a:solidFill>
                                <a:srgbClr val="000000"/>
                              </a:solidFill>
                            </a:rPr>
                            <m:t>f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b="0" i="1" dirty="0" smtClean="0">
                              <a:solidFill>
                                <a:srgbClr val="000000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US" altLang="zh-TW" b="0" i="1" dirty="0" smtClean="0">
                              <a:solidFill>
                                <a:srgbClr val="000000"/>
                              </a:solidFill>
                            </a:rPr>
                            <m:t>s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)</m:t>
                          </m:r>
                        </m:e>
                      </m:nary>
                      <m:r>
                        <m:rPr>
                          <m:nor/>
                        </m:rPr>
                        <a:rPr lang="en-US" altLang="zh-TW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0"/>
                  </a:spcBef>
                </a:pPr>
                <a:endParaRPr lang="en-US" altLang="zh-TW" dirty="0"/>
              </a:p>
              <a:p>
                <a:pPr marL="0" lvl="0" indent="0" eaLnBrk="1" hangingPunct="1">
                  <a:spcBef>
                    <a:spcPts val="0"/>
                  </a:spcBef>
                  <a:buClr>
                    <a:srgbClr val="3333CC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that is, the total flow out of the source minus the flow into the source.</a:t>
                </a:r>
              </a:p>
              <a:p>
                <a:pPr marL="0" lvl="0" indent="0" eaLnBrk="1" hangingPunct="1">
                  <a:spcBef>
                    <a:spcPct val="50000"/>
                  </a:spcBef>
                  <a:buClr>
                    <a:srgbClr val="3333CC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In the 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maximum-</a:t>
                </a:r>
                <a:r>
                  <a:rPr lang="en-US" altLang="zh-TW" i="1" spc="300" dirty="0">
                    <a:solidFill>
                      <a:srgbClr val="0000FF"/>
                    </a:solidFill>
                  </a:rPr>
                  <a:t>f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low problem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the input is a flow network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with source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s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and sink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t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and the goal is to find a flow of maximum value.</a:t>
                </a:r>
                <a:endParaRPr lang="zh-TW" altLang="en-US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2000" y="1269000"/>
                <a:ext cx="8640000" cy="3420000"/>
              </a:xfrm>
              <a:blipFill>
                <a:blip r:embed="rId2"/>
                <a:stretch>
                  <a:fillRect l="-917" t="-1248" b="-37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77868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Residual Networks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37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12000" y="1269000"/>
                <a:ext cx="7920000" cy="4860000"/>
              </a:xfrm>
            </p:spPr>
            <p:txBody>
              <a:bodyPr/>
              <a:lstStyle/>
              <a:p>
                <a:pPr marL="0" indent="0" eaLnBrk="1" hangingPunct="1">
                  <a:spcBef>
                    <a:spcPct val="50000"/>
                  </a:spcBef>
                </a:pPr>
                <a:r>
                  <a:rPr lang="en-US" altLang="zh-TW" dirty="0"/>
                  <a:t>For a flow network </a:t>
                </a:r>
                <a:r>
                  <a:rPr lang="en-US" altLang="zh-TW" i="1" dirty="0"/>
                  <a:t>G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(</a:t>
                </a:r>
                <a:r>
                  <a:rPr lang="en-US" altLang="zh-TW" i="1" dirty="0"/>
                  <a:t>V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E</a:t>
                </a:r>
                <a:r>
                  <a:rPr lang="en-US" altLang="zh-TW" sz="1200" dirty="0"/>
                  <a:t> </a:t>
                </a:r>
                <a:r>
                  <a:rPr lang="en-US" altLang="zh-TW" dirty="0"/>
                  <a:t>) with source </a:t>
                </a:r>
                <a:r>
                  <a:rPr lang="en-US" altLang="zh-TW" i="1" dirty="0"/>
                  <a:t>s</a:t>
                </a:r>
                <a:r>
                  <a:rPr lang="en-US" altLang="zh-TW" dirty="0"/>
                  <a:t>, sink </a:t>
                </a:r>
                <a:r>
                  <a:rPr lang="en-US" altLang="zh-TW" i="1" dirty="0"/>
                  <a:t>t</a:t>
                </a:r>
                <a:r>
                  <a:rPr lang="en-US" altLang="zh-TW" dirty="0"/>
                  <a:t>, and a flow </a:t>
                </a:r>
                <a:r>
                  <a:rPr lang="en-US" altLang="zh-TW" sz="1200" dirty="0"/>
                  <a:t> </a:t>
                </a:r>
                <a:r>
                  <a:rPr lang="en-US" altLang="zh-TW" i="1" spc="300" dirty="0"/>
                  <a:t>f</a:t>
                </a:r>
                <a:r>
                  <a:rPr lang="en-US" altLang="zh-TW" dirty="0"/>
                  <a:t>, consider a pair of nodes </a:t>
                </a:r>
                <a:r>
                  <a:rPr lang="en-US" altLang="zh-TW" i="1" dirty="0"/>
                  <a:t>u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v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∈</a:t>
                </a:r>
                <a:r>
                  <a:rPr lang="en-US" altLang="zh-TW" dirty="0">
                    <a:sym typeface="Symbol" pitchFamily="18" charset="2"/>
                  </a:rPr>
                  <a:t> </a:t>
                </a:r>
                <a:r>
                  <a:rPr lang="en-US" altLang="zh-TW" i="1" dirty="0">
                    <a:sym typeface="Symbol" pitchFamily="18" charset="2"/>
                  </a:rPr>
                  <a:t>V</a:t>
                </a:r>
                <a:r>
                  <a:rPr lang="en-US" altLang="zh-TW" dirty="0"/>
                  <a:t>. We define the 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residual capacity</a:t>
                </a:r>
                <a:r>
                  <a:rPr lang="en-US" altLang="zh-TW" dirty="0"/>
                  <a:t> </a:t>
                </a:r>
                <a:r>
                  <a:rPr lang="en-US" altLang="zh-TW" i="1" dirty="0" err="1"/>
                  <a:t>r</a:t>
                </a:r>
                <a:r>
                  <a:rPr lang="en-US" altLang="zh-TW" i="1" spc="100" dirty="0" err="1"/>
                  <a:t>c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u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v</a:t>
                </a:r>
                <a:r>
                  <a:rPr lang="en-US" altLang="zh-TW" dirty="0"/>
                  <a:t>) by</a:t>
                </a:r>
              </a:p>
              <a:p>
                <a:pPr marL="0" indent="0" eaLnBrk="1" hangingPunct="1">
                  <a:spcBef>
                    <a:spcPts val="0"/>
                  </a:spcBef>
                </a:pPr>
                <a:endParaRPr lang="en-US" altLang="zh-TW" sz="1800" dirty="0"/>
              </a:p>
              <a:p>
                <a:pPr marL="540000" indent="0" eaLnBrk="1" hangingPunct="1"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b="0" i="1" dirty="0" smtClean="0">
                          <a:solidFill>
                            <a:srgbClr val="000000"/>
                          </a:solidFill>
                        </a:rPr>
                        <m:t>r</m:t>
                      </m:r>
                      <m:r>
                        <m:rPr>
                          <m:nor/>
                        </m:rPr>
                        <a:rPr lang="en-US" altLang="zh-TW" i="1" dirty="0">
                          <a:solidFill>
                            <a:srgbClr val="000000"/>
                          </a:solidFill>
                        </a:rPr>
                        <m:t>c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TW" i="1" dirty="0">
                          <a:solidFill>
                            <a:srgbClr val="000000"/>
                          </a:solidFill>
                        </a:rPr>
                        <m:t>u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, </m:t>
                      </m:r>
                      <m:r>
                        <m:rPr>
                          <m:nor/>
                        </m:rPr>
                        <a:rPr lang="en-US" altLang="zh-TW" i="1" dirty="0">
                          <a:solidFill>
                            <a:srgbClr val="000000"/>
                          </a:solidFill>
                        </a:rPr>
                        <m:t>v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)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)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200" dirty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dirty="0" smtClean="0">
                                    <a:solidFill>
                                      <a:srgbClr val="000000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dirty="0" smtClean="0">
                                    <a:solidFill>
                                      <a:srgbClr val="000000"/>
                                    </a:solidFill>
                                  </a:rPr>
                                  <m:t>)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itchFamily="18" charset="2"/>
                                  </a:rPr>
                                  <m:t>∈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  <a:sym typeface="Symbol" pitchFamily="18" charset="2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200" dirty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1" dirty="0" smtClean="0">
                                    <a:solidFill>
                                      <a:srgbClr val="000000"/>
                                    </a:solidFill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1" dirty="0" smtClean="0">
                                    <a:solidFill>
                                      <a:srgbClr val="000000"/>
                                    </a:solidFill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)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dirty="0" smtClean="0">
                                    <a:solidFill>
                                      <a:srgbClr val="000000"/>
                                    </a:solidFill>
                                  </a:rPr>
                                  <m:t>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1" dirty="0" smtClean="0">
                                    <a:solidFill>
                                      <a:srgbClr val="000000"/>
                                    </a:solidFill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1" dirty="0" smtClean="0">
                                    <a:solidFill>
                                      <a:srgbClr val="000000"/>
                                    </a:solidFill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)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itchFamily="18" charset="2"/>
                                  </a:rPr>
                                  <m:t>∈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  <a:sym typeface="Symbol" pitchFamily="18" charset="2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0                       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otherwise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.  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                           </m:t>
                      </m:r>
                      <m:r>
                        <m:rPr>
                          <m:nor/>
                        </m:rPr>
                        <a:rPr lang="en-US" altLang="zh-TW" b="0" i="0" smtClean="0">
                          <a:cs typeface="Times New Roman" panose="02020603050405020304" pitchFamily="18" charset="0"/>
                        </a:rPr>
                        <m:t>(1)</m:t>
                      </m:r>
                    </m:oMath>
                  </m:oMathPara>
                </a14:m>
                <a:endParaRPr lang="en-US" altLang="zh-TW" dirty="0"/>
              </a:p>
              <a:p>
                <a:pPr marL="0" indent="0" eaLnBrk="1" hangingPunct="1">
                  <a:spcBef>
                    <a:spcPts val="0"/>
                  </a:spcBef>
                </a:pPr>
                <a:endParaRPr lang="en-US" altLang="zh-TW" sz="1800" dirty="0"/>
              </a:p>
              <a:p>
                <a:pPr marL="0" indent="0" eaLnBrk="1" hangingPunct="1">
                  <a:spcBef>
                    <a:spcPts val="0"/>
                  </a:spcBef>
                </a:pPr>
                <a:r>
                  <a:rPr lang="en-US" altLang="zh-TW" dirty="0"/>
                  <a:t>In a flow network,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∈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E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/>
                  <a:t>implies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∉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E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,</a:t>
                </a:r>
                <a:r>
                  <a:rPr lang="en-US" altLang="zh-TW" dirty="0"/>
                  <a:t> and so exactly one case in equation (1) applies to each ordered pair of nodes.</a:t>
                </a:r>
              </a:p>
              <a:p>
                <a:pPr marL="0" indent="0" eaLnBrk="1" hangingPunct="1">
                  <a:spcBef>
                    <a:spcPts val="0"/>
                  </a:spcBef>
                </a:pPr>
                <a:endParaRPr lang="en-US" altLang="zh-TW" dirty="0"/>
              </a:p>
              <a:p>
                <a:pPr marL="0" indent="0" eaLnBrk="1" hangingPunct="1">
                  <a:spcBef>
                    <a:spcPts val="0"/>
                  </a:spcBef>
                </a:pPr>
                <a:r>
                  <a:rPr lang="en-US" altLang="zh-TW" dirty="0"/>
                  <a:t>Given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a flow network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E</a:t>
                </a:r>
                <a:r>
                  <a:rPr lang="en-US" altLang="zh-TW" sz="12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 and a flow </a:t>
                </a:r>
                <a:r>
                  <a:rPr lang="en-US" altLang="zh-TW" sz="12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spc="300" dirty="0">
                    <a:solidFill>
                      <a:srgbClr val="000000"/>
                    </a:solidFill>
                  </a:rPr>
                  <a:t>f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</a:t>
                </a:r>
                <a:r>
                  <a:rPr lang="en-US" altLang="zh-TW" dirty="0"/>
                  <a:t> the 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residual network</a:t>
                </a:r>
                <a:r>
                  <a:rPr lang="en-US" altLang="zh-TW" dirty="0"/>
                  <a:t> of </a:t>
                </a:r>
                <a:r>
                  <a:rPr lang="en-US" altLang="zh-TW" i="1" dirty="0"/>
                  <a:t>G</a:t>
                </a:r>
                <a:r>
                  <a:rPr lang="en-US" altLang="zh-TW" dirty="0"/>
                  <a:t> induced by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/>
                  <a:t>f</a:t>
                </a:r>
                <a:r>
                  <a:rPr lang="en-US" altLang="zh-TW" dirty="0"/>
                  <a:t> </a:t>
                </a:r>
                <a:r>
                  <a:rPr lang="en-US" altLang="zh-TW" sz="1200" dirty="0"/>
                  <a:t> </a:t>
                </a:r>
                <a:r>
                  <a:rPr lang="en-US" altLang="zh-TW" dirty="0"/>
                  <a:t>is </a:t>
                </a:r>
                <a:r>
                  <a:rPr lang="en-US" altLang="zh-TW" i="1" dirty="0"/>
                  <a:t>R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(</a:t>
                </a:r>
                <a:r>
                  <a:rPr lang="en-US" altLang="zh-TW" i="1" dirty="0"/>
                  <a:t>V</a:t>
                </a:r>
                <a:r>
                  <a:rPr lang="en-US" altLang="zh-TW" dirty="0"/>
                  <a:t>, </a:t>
                </a:r>
                <a:r>
                  <a:rPr lang="en-US" altLang="zh-TW" i="1" spc="100" dirty="0">
                    <a:solidFill>
                      <a:srgbClr val="000000"/>
                    </a:solidFill>
                  </a:rPr>
                  <a:t>E</a:t>
                </a:r>
                <a:r>
                  <a:rPr lang="en-US" altLang="zh-TW" spc="1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′</a:t>
                </a:r>
                <a:r>
                  <a:rPr lang="en-US" altLang="zh-TW" dirty="0"/>
                  <a:t>), where</a:t>
                </a:r>
              </a:p>
              <a:p>
                <a:pPr marL="0" indent="0" eaLnBrk="1" hangingPunct="1">
                  <a:spcBef>
                    <a:spcPts val="600"/>
                  </a:spcBef>
                </a:pPr>
                <a:r>
                  <a:rPr lang="en-US" altLang="zh-TW" i="1" dirty="0"/>
                  <a:t>R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{(</a:t>
                </a:r>
                <a:r>
                  <a:rPr lang="en-US" altLang="zh-TW" i="1" dirty="0"/>
                  <a:t>u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v</a:t>
                </a:r>
                <a:r>
                  <a:rPr lang="en-US" altLang="zh-TW" dirty="0"/>
                  <a:t>)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∈</a:t>
                </a:r>
                <a:r>
                  <a:rPr lang="en-US" altLang="zh-TW" dirty="0">
                    <a:sym typeface="Symbol" pitchFamily="18" charset="2"/>
                  </a:rPr>
                  <a:t> </a:t>
                </a:r>
                <a:r>
                  <a:rPr lang="en-US" altLang="zh-TW" i="1" spc="300" dirty="0" err="1">
                    <a:solidFill>
                      <a:srgbClr val="000000"/>
                    </a:solidFill>
                    <a:sym typeface="Symbol" pitchFamily="18" charset="2"/>
                  </a:rPr>
                  <a:t>V</a:t>
                </a:r>
                <a:r>
                  <a:rPr lang="en-US" altLang="zh-TW" spc="50" dirty="0" err="1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×</a:t>
                </a:r>
                <a:r>
                  <a:rPr lang="en-US" altLang="zh-TW" i="1" dirty="0" err="1">
                    <a:solidFill>
                      <a:srgbClr val="000000"/>
                    </a:solidFill>
                    <a:cs typeface="Times New Roman" pitchFamily="18" charset="0"/>
                    <a:sym typeface="Symbol" pitchFamily="18" charset="2"/>
                  </a:rPr>
                  <a:t>V</a:t>
                </a:r>
                <a:r>
                  <a:rPr lang="en-US" altLang="zh-TW" dirty="0">
                    <a:sym typeface="Symbol" pitchFamily="18" charset="2"/>
                  </a:rPr>
                  <a:t> : </a:t>
                </a:r>
                <a:r>
                  <a:rPr lang="en-US" altLang="zh-TW" i="1" dirty="0" err="1">
                    <a:solidFill>
                      <a:srgbClr val="000000"/>
                    </a:solidFill>
                  </a:rPr>
                  <a:t>r</a:t>
                </a:r>
                <a:r>
                  <a:rPr lang="en-US" altLang="zh-TW" i="1" spc="100" dirty="0" err="1">
                    <a:solidFill>
                      <a:srgbClr val="000000"/>
                    </a:solidFill>
                  </a:rPr>
                  <a:t>c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dirty="0"/>
                  <a:t> </a:t>
                </a:r>
                <a:r>
                  <a:rPr lang="en-US" altLang="zh-TW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r>
                  <a:rPr lang="en-US" altLang="zh-TW" dirty="0"/>
                  <a:t> 0}.</a:t>
                </a:r>
              </a:p>
            </p:txBody>
          </p:sp>
        </mc:Choice>
        <mc:Fallback xmlns="">
          <p:sp>
            <p:nvSpPr>
              <p:cNvPr id="583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2000" y="1269000"/>
                <a:ext cx="7920000" cy="4860000"/>
              </a:xfrm>
              <a:blipFill>
                <a:blip r:embed="rId2"/>
                <a:stretch>
                  <a:fillRect l="-1000" t="-1004" r="-77" b="-15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54243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Rectangle 8"/>
          <p:cNvSpPr>
            <a:spLocks noGrp="1" noChangeArrowheads="1"/>
          </p:cNvSpPr>
          <p:nvPr>
            <p:ph type="body" sz="half" idx="2"/>
          </p:nvPr>
        </p:nvSpPr>
        <p:spPr>
          <a:xfrm>
            <a:off x="5472113" y="728663"/>
            <a:ext cx="3240087" cy="539750"/>
          </a:xfrm>
        </p:spPr>
        <p:txBody>
          <a:bodyPr/>
          <a:lstStyle/>
          <a:p>
            <a:pPr marL="0" indent="0" eaLnBrk="1" hangingPunct="1"/>
            <a:r>
              <a:rPr lang="en-US" altLang="zh-TW" sz="3200" dirty="0">
                <a:solidFill>
                  <a:srgbClr val="0000FF"/>
                </a:solidFill>
              </a:rPr>
              <a:t>A flow network </a:t>
            </a:r>
            <a:r>
              <a:rPr lang="en-US" altLang="zh-TW" sz="3200" i="1" dirty="0">
                <a:solidFill>
                  <a:srgbClr val="0000FF"/>
                </a:solidFill>
              </a:rPr>
              <a:t>G</a:t>
            </a:r>
            <a:endParaRPr lang="zh-TW" altLang="en-US" sz="3200" i="1" dirty="0">
              <a:solidFill>
                <a:srgbClr val="0000FF"/>
              </a:solidFill>
            </a:endParaRPr>
          </a:p>
        </p:txBody>
      </p:sp>
      <p:sp>
        <p:nvSpPr>
          <p:cNvPr id="24580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5652000" y="4329000"/>
            <a:ext cx="2880360" cy="1081087"/>
          </a:xfrm>
        </p:spPr>
        <p:txBody>
          <a:bodyPr/>
          <a:lstStyle/>
          <a:p>
            <a:pPr marL="0" indent="0" eaLnBrk="1" hangingPunct="1"/>
            <a:r>
              <a:rPr lang="en-US" altLang="zh-TW" sz="3200" dirty="0">
                <a:solidFill>
                  <a:srgbClr val="0000FF"/>
                </a:solidFill>
              </a:rPr>
              <a:t>The residual network </a:t>
            </a:r>
            <a:r>
              <a:rPr lang="en-US" altLang="zh-TW" sz="3200" i="1" dirty="0">
                <a:solidFill>
                  <a:srgbClr val="0000FF"/>
                </a:solidFill>
              </a:rPr>
              <a:t>R</a:t>
            </a:r>
            <a:r>
              <a:rPr lang="en-US" altLang="zh-TW" sz="3200" dirty="0">
                <a:solidFill>
                  <a:srgbClr val="0000FF"/>
                </a:solidFill>
              </a:rPr>
              <a:t> of </a:t>
            </a:r>
            <a:r>
              <a:rPr lang="en-US" altLang="zh-TW" sz="3200" i="1" dirty="0">
                <a:solidFill>
                  <a:srgbClr val="0000FF"/>
                </a:solidFill>
              </a:rPr>
              <a:t>G</a:t>
            </a:r>
            <a:endParaRPr lang="zh-TW" altLang="en-US" sz="3200" i="1" dirty="0">
              <a:solidFill>
                <a:srgbClr val="0000FF"/>
              </a:solidFill>
            </a:endParaRPr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69000"/>
            <a:ext cx="4680000" cy="2851822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3609000"/>
            <a:ext cx="4680000" cy="2882038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752000" y="5949000"/>
            <a:ext cx="414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>
              <a:tabLst>
                <a:tab pos="810000" algn="l"/>
              </a:tabLst>
            </a:pPr>
            <a:r>
              <a:rPr lang="en-US" altLang="zh-TW" sz="2200" i="1" kern="0" spc="100" dirty="0">
                <a:solidFill>
                  <a:srgbClr val="000000"/>
                </a:solidFill>
                <a:latin typeface="Times New Roman"/>
                <a:ea typeface="新細明體"/>
              </a:rPr>
              <a:t>E</a:t>
            </a:r>
            <a:r>
              <a:rPr lang="en-US" altLang="zh-TW" sz="22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sz="12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22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 {	(</a:t>
            </a:r>
            <a:r>
              <a:rPr lang="en-US" altLang="zh-TW" sz="2200" i="1" kern="0" dirty="0">
                <a:solidFill>
                  <a:srgbClr val="000000"/>
                </a:solidFill>
                <a:latin typeface="Times New Roman"/>
                <a:ea typeface="新細明體"/>
              </a:rPr>
              <a:t>u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, </a:t>
            </a:r>
            <a:r>
              <a:rPr lang="en-US" altLang="zh-TW" sz="2200" i="1" kern="0" dirty="0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) </a:t>
            </a:r>
            <a:r>
              <a:rPr lang="en-US" altLang="zh-TW" sz="22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  <a:sym typeface="Symbol" pitchFamily="18" charset="2"/>
              </a:rPr>
              <a:t> </a:t>
            </a:r>
            <a:r>
              <a:rPr lang="en-US" altLang="zh-TW" sz="2200" i="1" kern="0" spc="300" dirty="0" err="1">
                <a:solidFill>
                  <a:srgbClr val="000000"/>
                </a:solidFill>
                <a:latin typeface="Times New Roman"/>
                <a:ea typeface="新細明體"/>
                <a:sym typeface="Symbol" pitchFamily="18" charset="2"/>
              </a:rPr>
              <a:t>V</a:t>
            </a:r>
            <a:r>
              <a:rPr lang="en-US" altLang="zh-TW" sz="2200" kern="0" spc="50" dirty="0" err="1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×</a:t>
            </a:r>
            <a:r>
              <a:rPr lang="en-US" altLang="zh-TW" sz="2200" i="1" kern="0" dirty="0" err="1">
                <a:solidFill>
                  <a:srgbClr val="000000"/>
                </a:solidFill>
                <a:latin typeface="Times New Roman"/>
                <a:ea typeface="新細明體"/>
                <a:cs typeface="Times New Roman" pitchFamily="18" charset="0"/>
                <a:sym typeface="Symbol" pitchFamily="18" charset="2"/>
              </a:rPr>
              <a:t>V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  <a:sym typeface="Symbol" pitchFamily="18" charset="2"/>
              </a:rPr>
              <a:t> : </a:t>
            </a:r>
            <a:r>
              <a:rPr lang="en-US" altLang="zh-TW" sz="22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r</a:t>
            </a:r>
            <a:r>
              <a:rPr lang="en-US" altLang="zh-TW" sz="2200" i="1" kern="0" spc="100" dirty="0" err="1">
                <a:solidFill>
                  <a:srgbClr val="000000"/>
                </a:solidFill>
                <a:latin typeface="Times New Roman"/>
                <a:ea typeface="新細明體"/>
              </a:rPr>
              <a:t>c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(</a:t>
            </a:r>
            <a:r>
              <a:rPr lang="en-US" altLang="zh-TW" sz="2200" i="1" kern="0" dirty="0">
                <a:solidFill>
                  <a:srgbClr val="000000"/>
                </a:solidFill>
                <a:latin typeface="Times New Roman"/>
                <a:ea typeface="新細明體"/>
              </a:rPr>
              <a:t>u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, </a:t>
            </a:r>
            <a:r>
              <a:rPr lang="en-US" altLang="zh-TW" sz="2200" i="1" kern="0" dirty="0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) </a:t>
            </a:r>
            <a:r>
              <a:rPr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 0}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3852000" y="2709000"/>
                <a:ext cx="5040000" cy="1260000"/>
              </a:xfrm>
              <a:prstGeom prst="rect">
                <a:avLst/>
              </a:prstGeom>
            </p:spPr>
            <p:txBody>
              <a:bodyPr wrap="square" tIns="0" bIns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200" i="1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rc</m:t>
                      </m:r>
                      <m:r>
                        <m:rPr>
                          <m:nor/>
                        </m:rPr>
                        <a:rPr lang="en-US" altLang="zh-TW" sz="2200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TW" sz="2200" i="1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u</m:t>
                      </m:r>
                      <m:r>
                        <m:rPr>
                          <m:nor/>
                        </m:rPr>
                        <a:rPr lang="en-US" altLang="zh-TW" sz="2200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, </m:t>
                      </m:r>
                      <m:r>
                        <m:rPr>
                          <m:nor/>
                        </m:rPr>
                        <a:rPr lang="en-US" altLang="zh-TW" sz="2200" i="1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v</m:t>
                      </m:r>
                      <m:r>
                        <m:rPr>
                          <m:nor/>
                        </m:rPr>
                        <a:rPr lang="en-US" altLang="zh-TW" sz="2200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)</m:t>
                      </m:r>
                      <m:r>
                        <a:rPr lang="en-US" altLang="zh-TW" sz="22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2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2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)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altLang="zh-TW" sz="22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)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itchFamily="18" charset="2"/>
                                  </a:rPr>
                                  <m:t>∈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  <a:sym typeface="Symbol" pitchFamily="18" charset="2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)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)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itchFamily="18" charset="2"/>
                                  </a:rPr>
                                  <m:t>∈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  <a:sym typeface="Symbol" pitchFamily="18" charset="2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0                       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otherwise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. 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2000" y="2709000"/>
                <a:ext cx="5040000" cy="1260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9306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Rectangle 8"/>
          <p:cNvSpPr>
            <a:spLocks noGrp="1" noChangeArrowheads="1"/>
          </p:cNvSpPr>
          <p:nvPr>
            <p:ph type="body" sz="half" idx="2"/>
          </p:nvPr>
        </p:nvSpPr>
        <p:spPr>
          <a:xfrm>
            <a:off x="5472113" y="728663"/>
            <a:ext cx="3240087" cy="539750"/>
          </a:xfrm>
        </p:spPr>
        <p:txBody>
          <a:bodyPr/>
          <a:lstStyle/>
          <a:p>
            <a:pPr marL="0" indent="0" eaLnBrk="1" hangingPunct="1"/>
            <a:r>
              <a:rPr lang="en-US" altLang="zh-TW" sz="3200" dirty="0">
                <a:solidFill>
                  <a:srgbClr val="0000FF"/>
                </a:solidFill>
              </a:rPr>
              <a:t>A flow network </a:t>
            </a:r>
            <a:r>
              <a:rPr lang="en-US" altLang="zh-TW" sz="3200" i="1" dirty="0">
                <a:solidFill>
                  <a:srgbClr val="0000FF"/>
                </a:solidFill>
              </a:rPr>
              <a:t>G</a:t>
            </a:r>
            <a:endParaRPr lang="zh-TW" altLang="en-US" sz="3200" i="1" dirty="0">
              <a:solidFill>
                <a:srgbClr val="0000FF"/>
              </a:solidFill>
            </a:endParaRPr>
          </a:p>
        </p:txBody>
      </p:sp>
      <p:sp>
        <p:nvSpPr>
          <p:cNvPr id="24580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5652000" y="4329000"/>
            <a:ext cx="2880360" cy="1081087"/>
          </a:xfrm>
        </p:spPr>
        <p:txBody>
          <a:bodyPr/>
          <a:lstStyle/>
          <a:p>
            <a:pPr marL="0" indent="0" eaLnBrk="1" hangingPunct="1"/>
            <a:r>
              <a:rPr lang="en-US" altLang="zh-TW" sz="3200" dirty="0">
                <a:solidFill>
                  <a:srgbClr val="0000FF"/>
                </a:solidFill>
              </a:rPr>
              <a:t>The residual network </a:t>
            </a:r>
            <a:r>
              <a:rPr lang="en-US" altLang="zh-TW" sz="3200" i="1" dirty="0">
                <a:solidFill>
                  <a:srgbClr val="0000FF"/>
                </a:solidFill>
              </a:rPr>
              <a:t>R</a:t>
            </a:r>
            <a:r>
              <a:rPr lang="en-US" altLang="zh-TW" sz="3200" dirty="0">
                <a:solidFill>
                  <a:srgbClr val="0000FF"/>
                </a:solidFill>
              </a:rPr>
              <a:t> of </a:t>
            </a:r>
            <a:r>
              <a:rPr lang="en-US" altLang="zh-TW" sz="3200" i="1" dirty="0">
                <a:solidFill>
                  <a:srgbClr val="0000FF"/>
                </a:solidFill>
              </a:rPr>
              <a:t>G</a:t>
            </a:r>
            <a:endParaRPr lang="zh-TW" altLang="en-US" sz="3200" i="1" dirty="0">
              <a:solidFill>
                <a:srgbClr val="0000FF"/>
              </a:solidFill>
            </a:endParaRPr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69000"/>
            <a:ext cx="4680000" cy="2851822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3609000"/>
            <a:ext cx="4680000" cy="288203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752000" y="5949000"/>
            <a:ext cx="414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>
              <a:tabLst>
                <a:tab pos="810000" algn="l"/>
              </a:tabLst>
            </a:pPr>
            <a:r>
              <a:rPr lang="en-US" altLang="zh-TW" sz="2200" i="1" kern="0" spc="100" dirty="0">
                <a:solidFill>
                  <a:srgbClr val="000000"/>
                </a:solidFill>
                <a:latin typeface="Times New Roman"/>
                <a:ea typeface="新細明體"/>
              </a:rPr>
              <a:t>E</a:t>
            </a:r>
            <a:r>
              <a:rPr lang="en-US" altLang="zh-TW" sz="22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sz="12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22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 {	(</a:t>
            </a:r>
            <a:r>
              <a:rPr lang="en-US" altLang="zh-TW" sz="2200" i="1" kern="0" dirty="0">
                <a:solidFill>
                  <a:srgbClr val="000000"/>
                </a:solidFill>
                <a:latin typeface="Times New Roman"/>
                <a:ea typeface="新細明體"/>
              </a:rPr>
              <a:t>u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, </a:t>
            </a:r>
            <a:r>
              <a:rPr lang="en-US" altLang="zh-TW" sz="2200" i="1" kern="0" dirty="0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) </a:t>
            </a:r>
            <a:r>
              <a:rPr lang="en-US" altLang="zh-TW" sz="22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  <a:sym typeface="Symbol" pitchFamily="18" charset="2"/>
              </a:rPr>
              <a:t> </a:t>
            </a:r>
            <a:r>
              <a:rPr lang="en-US" altLang="zh-TW" sz="2200" i="1" kern="0" spc="300" dirty="0" err="1">
                <a:solidFill>
                  <a:srgbClr val="000000"/>
                </a:solidFill>
                <a:latin typeface="Times New Roman"/>
                <a:ea typeface="新細明體"/>
                <a:sym typeface="Symbol" pitchFamily="18" charset="2"/>
              </a:rPr>
              <a:t>V</a:t>
            </a:r>
            <a:r>
              <a:rPr lang="en-US" altLang="zh-TW" sz="2200" kern="0" spc="50" dirty="0" err="1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×</a:t>
            </a:r>
            <a:r>
              <a:rPr lang="en-US" altLang="zh-TW" sz="2200" i="1" kern="0" dirty="0" err="1">
                <a:solidFill>
                  <a:srgbClr val="000000"/>
                </a:solidFill>
                <a:latin typeface="Times New Roman"/>
                <a:ea typeface="新細明體"/>
                <a:cs typeface="Times New Roman" pitchFamily="18" charset="0"/>
                <a:sym typeface="Symbol" pitchFamily="18" charset="2"/>
              </a:rPr>
              <a:t>V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  <a:sym typeface="Symbol" pitchFamily="18" charset="2"/>
              </a:rPr>
              <a:t> : </a:t>
            </a:r>
            <a:r>
              <a:rPr lang="en-US" altLang="zh-TW" sz="22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r</a:t>
            </a:r>
            <a:r>
              <a:rPr lang="en-US" altLang="zh-TW" sz="2200" i="1" kern="0" spc="100" dirty="0" err="1">
                <a:solidFill>
                  <a:srgbClr val="000000"/>
                </a:solidFill>
                <a:latin typeface="Times New Roman"/>
                <a:ea typeface="新細明體"/>
              </a:rPr>
              <a:t>c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(</a:t>
            </a:r>
            <a:r>
              <a:rPr lang="en-US" altLang="zh-TW" sz="2200" i="1" kern="0" dirty="0">
                <a:solidFill>
                  <a:srgbClr val="000000"/>
                </a:solidFill>
                <a:latin typeface="Times New Roman"/>
                <a:ea typeface="新細明體"/>
              </a:rPr>
              <a:t>u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, </a:t>
            </a:r>
            <a:r>
              <a:rPr lang="en-US" altLang="zh-TW" sz="2200" i="1" kern="0" dirty="0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) </a:t>
            </a:r>
            <a:r>
              <a:rPr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 0}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3852000" y="2709000"/>
                <a:ext cx="5040000" cy="1260000"/>
              </a:xfrm>
              <a:prstGeom prst="rect">
                <a:avLst/>
              </a:prstGeom>
            </p:spPr>
            <p:txBody>
              <a:bodyPr wrap="square" tIns="0" bIns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200" i="1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rc</m:t>
                      </m:r>
                      <m:r>
                        <m:rPr>
                          <m:nor/>
                        </m:rPr>
                        <a:rPr lang="en-US" altLang="zh-TW" sz="2200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TW" sz="2200" i="1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u</m:t>
                      </m:r>
                      <m:r>
                        <m:rPr>
                          <m:nor/>
                        </m:rPr>
                        <a:rPr lang="en-US" altLang="zh-TW" sz="2200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, </m:t>
                      </m:r>
                      <m:r>
                        <m:rPr>
                          <m:nor/>
                        </m:rPr>
                        <a:rPr lang="en-US" altLang="zh-TW" sz="2200" i="1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v</m:t>
                      </m:r>
                      <m:r>
                        <m:rPr>
                          <m:nor/>
                        </m:rPr>
                        <a:rPr lang="en-US" altLang="zh-TW" sz="2200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)</m:t>
                      </m:r>
                      <m:r>
                        <a:rPr lang="en-US" altLang="zh-TW" sz="22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2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2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)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altLang="zh-TW" sz="22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)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itchFamily="18" charset="2"/>
                                  </a:rPr>
                                  <m:t>∈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  <a:sym typeface="Symbol" pitchFamily="18" charset="2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)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)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itchFamily="18" charset="2"/>
                                  </a:rPr>
                                  <m:t>∈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  <a:sym typeface="Symbol" pitchFamily="18" charset="2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0                       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otherwise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. 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2000" y="2709000"/>
                <a:ext cx="5040000" cy="1260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27213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Rectangle 8"/>
          <p:cNvSpPr>
            <a:spLocks noGrp="1" noChangeArrowheads="1"/>
          </p:cNvSpPr>
          <p:nvPr>
            <p:ph type="body" sz="half" idx="2"/>
          </p:nvPr>
        </p:nvSpPr>
        <p:spPr>
          <a:xfrm>
            <a:off x="5472113" y="728663"/>
            <a:ext cx="3240087" cy="539750"/>
          </a:xfrm>
        </p:spPr>
        <p:txBody>
          <a:bodyPr/>
          <a:lstStyle/>
          <a:p>
            <a:pPr marL="0" indent="0" eaLnBrk="1" hangingPunct="1"/>
            <a:r>
              <a:rPr lang="en-US" altLang="zh-TW" sz="3200" dirty="0">
                <a:solidFill>
                  <a:srgbClr val="0000FF"/>
                </a:solidFill>
              </a:rPr>
              <a:t>A flow network </a:t>
            </a:r>
            <a:r>
              <a:rPr lang="en-US" altLang="zh-TW" sz="3200" i="1" dirty="0">
                <a:solidFill>
                  <a:srgbClr val="0000FF"/>
                </a:solidFill>
              </a:rPr>
              <a:t>G</a:t>
            </a:r>
            <a:endParaRPr lang="zh-TW" altLang="en-US" sz="3200" i="1" dirty="0">
              <a:solidFill>
                <a:srgbClr val="0000FF"/>
              </a:solidFill>
            </a:endParaRPr>
          </a:p>
        </p:txBody>
      </p:sp>
      <p:sp>
        <p:nvSpPr>
          <p:cNvPr id="24580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5652000" y="4329000"/>
            <a:ext cx="2880360" cy="1081087"/>
          </a:xfrm>
        </p:spPr>
        <p:txBody>
          <a:bodyPr/>
          <a:lstStyle/>
          <a:p>
            <a:pPr marL="0" indent="0" eaLnBrk="1" hangingPunct="1"/>
            <a:r>
              <a:rPr lang="en-US" altLang="zh-TW" sz="3200" dirty="0">
                <a:solidFill>
                  <a:srgbClr val="0000FF"/>
                </a:solidFill>
              </a:rPr>
              <a:t>The residual network </a:t>
            </a:r>
            <a:r>
              <a:rPr lang="en-US" altLang="zh-TW" sz="3200" i="1" dirty="0">
                <a:solidFill>
                  <a:srgbClr val="0000FF"/>
                </a:solidFill>
              </a:rPr>
              <a:t>R</a:t>
            </a:r>
            <a:r>
              <a:rPr lang="en-US" altLang="zh-TW" sz="3200" dirty="0">
                <a:solidFill>
                  <a:srgbClr val="0000FF"/>
                </a:solidFill>
              </a:rPr>
              <a:t> of </a:t>
            </a:r>
            <a:r>
              <a:rPr lang="en-US" altLang="zh-TW" sz="3200" i="1" dirty="0">
                <a:solidFill>
                  <a:srgbClr val="0000FF"/>
                </a:solidFill>
              </a:rPr>
              <a:t>G</a:t>
            </a:r>
            <a:endParaRPr lang="zh-TW" altLang="en-US" sz="3200" i="1" dirty="0">
              <a:solidFill>
                <a:srgbClr val="0000FF"/>
              </a:solidFill>
            </a:endParaRPr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69000"/>
            <a:ext cx="4680000" cy="2851822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3609000"/>
            <a:ext cx="4680000" cy="288203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752000" y="5949000"/>
            <a:ext cx="414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>
              <a:tabLst>
                <a:tab pos="810000" algn="l"/>
              </a:tabLst>
            </a:pPr>
            <a:r>
              <a:rPr lang="en-US" altLang="zh-TW" sz="2200" i="1" kern="0" spc="100" dirty="0">
                <a:solidFill>
                  <a:srgbClr val="000000"/>
                </a:solidFill>
                <a:latin typeface="Times New Roman"/>
                <a:ea typeface="新細明體"/>
              </a:rPr>
              <a:t>E</a:t>
            </a:r>
            <a:r>
              <a:rPr lang="en-US" altLang="zh-TW" sz="22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sz="12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22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 {	(</a:t>
            </a:r>
            <a:r>
              <a:rPr lang="en-US" altLang="zh-TW" sz="2200" i="1" kern="0" dirty="0">
                <a:solidFill>
                  <a:srgbClr val="000000"/>
                </a:solidFill>
                <a:latin typeface="Times New Roman"/>
                <a:ea typeface="新細明體"/>
              </a:rPr>
              <a:t>u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, </a:t>
            </a:r>
            <a:r>
              <a:rPr lang="en-US" altLang="zh-TW" sz="2200" i="1" kern="0" dirty="0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) </a:t>
            </a:r>
            <a:r>
              <a:rPr lang="en-US" altLang="zh-TW" sz="22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  <a:sym typeface="Symbol" pitchFamily="18" charset="2"/>
              </a:rPr>
              <a:t> </a:t>
            </a:r>
            <a:r>
              <a:rPr lang="en-US" altLang="zh-TW" sz="2200" i="1" kern="0" spc="300" dirty="0" err="1">
                <a:solidFill>
                  <a:srgbClr val="000000"/>
                </a:solidFill>
                <a:latin typeface="Times New Roman"/>
                <a:ea typeface="新細明體"/>
                <a:sym typeface="Symbol" pitchFamily="18" charset="2"/>
              </a:rPr>
              <a:t>V</a:t>
            </a:r>
            <a:r>
              <a:rPr lang="en-US" altLang="zh-TW" sz="2200" kern="0" spc="50" dirty="0" err="1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×</a:t>
            </a:r>
            <a:r>
              <a:rPr lang="en-US" altLang="zh-TW" sz="2200" i="1" kern="0" dirty="0" err="1">
                <a:solidFill>
                  <a:srgbClr val="000000"/>
                </a:solidFill>
                <a:latin typeface="Times New Roman"/>
                <a:ea typeface="新細明體"/>
                <a:cs typeface="Times New Roman" pitchFamily="18" charset="0"/>
                <a:sym typeface="Symbol" pitchFamily="18" charset="2"/>
              </a:rPr>
              <a:t>V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  <a:sym typeface="Symbol" pitchFamily="18" charset="2"/>
              </a:rPr>
              <a:t> : </a:t>
            </a:r>
            <a:r>
              <a:rPr lang="en-US" altLang="zh-TW" sz="22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r</a:t>
            </a:r>
            <a:r>
              <a:rPr lang="en-US" altLang="zh-TW" sz="2200" i="1" kern="0" spc="100" dirty="0" err="1">
                <a:solidFill>
                  <a:srgbClr val="000000"/>
                </a:solidFill>
                <a:latin typeface="Times New Roman"/>
                <a:ea typeface="新細明體"/>
              </a:rPr>
              <a:t>c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(</a:t>
            </a:r>
            <a:r>
              <a:rPr lang="en-US" altLang="zh-TW" sz="2200" i="1" kern="0" dirty="0">
                <a:solidFill>
                  <a:srgbClr val="000000"/>
                </a:solidFill>
                <a:latin typeface="Times New Roman"/>
                <a:ea typeface="新細明體"/>
              </a:rPr>
              <a:t>u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, </a:t>
            </a:r>
            <a:r>
              <a:rPr lang="en-US" altLang="zh-TW" sz="2200" i="1" kern="0" dirty="0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) </a:t>
            </a:r>
            <a:r>
              <a:rPr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 0}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3852000" y="2709000"/>
                <a:ext cx="5040000" cy="1260000"/>
              </a:xfrm>
              <a:prstGeom prst="rect">
                <a:avLst/>
              </a:prstGeom>
            </p:spPr>
            <p:txBody>
              <a:bodyPr wrap="square" tIns="0" bIns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200" i="1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rc</m:t>
                      </m:r>
                      <m:r>
                        <m:rPr>
                          <m:nor/>
                        </m:rPr>
                        <a:rPr lang="en-US" altLang="zh-TW" sz="2200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TW" sz="2200" i="1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u</m:t>
                      </m:r>
                      <m:r>
                        <m:rPr>
                          <m:nor/>
                        </m:rPr>
                        <a:rPr lang="en-US" altLang="zh-TW" sz="2200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, </m:t>
                      </m:r>
                      <m:r>
                        <m:rPr>
                          <m:nor/>
                        </m:rPr>
                        <a:rPr lang="en-US" altLang="zh-TW" sz="2200" i="1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v</m:t>
                      </m:r>
                      <m:r>
                        <m:rPr>
                          <m:nor/>
                        </m:rPr>
                        <a:rPr lang="en-US" altLang="zh-TW" sz="2200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)</m:t>
                      </m:r>
                      <m:r>
                        <a:rPr lang="en-US" altLang="zh-TW" sz="22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2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2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)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altLang="zh-TW" sz="22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)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itchFamily="18" charset="2"/>
                                  </a:rPr>
                                  <m:t>∈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  <a:sym typeface="Symbol" pitchFamily="18" charset="2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)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)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itchFamily="18" charset="2"/>
                                  </a:rPr>
                                  <m:t>∈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  <a:sym typeface="Symbol" pitchFamily="18" charset="2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0                       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otherwise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. 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2000" y="2709000"/>
                <a:ext cx="5040000" cy="1260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97924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Rectangle 8"/>
          <p:cNvSpPr>
            <a:spLocks noGrp="1" noChangeArrowheads="1"/>
          </p:cNvSpPr>
          <p:nvPr>
            <p:ph type="body" sz="half" idx="2"/>
          </p:nvPr>
        </p:nvSpPr>
        <p:spPr>
          <a:xfrm>
            <a:off x="5472113" y="728663"/>
            <a:ext cx="3240087" cy="539750"/>
          </a:xfrm>
        </p:spPr>
        <p:txBody>
          <a:bodyPr/>
          <a:lstStyle/>
          <a:p>
            <a:pPr marL="0" indent="0" eaLnBrk="1" hangingPunct="1"/>
            <a:r>
              <a:rPr lang="en-US" altLang="zh-TW" sz="3200" dirty="0">
                <a:solidFill>
                  <a:srgbClr val="0000FF"/>
                </a:solidFill>
              </a:rPr>
              <a:t>A flow network </a:t>
            </a:r>
            <a:r>
              <a:rPr lang="en-US" altLang="zh-TW" sz="3200" i="1" dirty="0">
                <a:solidFill>
                  <a:srgbClr val="0000FF"/>
                </a:solidFill>
              </a:rPr>
              <a:t>G</a:t>
            </a:r>
            <a:endParaRPr lang="zh-TW" altLang="en-US" sz="3200" i="1" dirty="0">
              <a:solidFill>
                <a:srgbClr val="0000FF"/>
              </a:solidFill>
            </a:endParaRPr>
          </a:p>
        </p:txBody>
      </p:sp>
      <p:sp>
        <p:nvSpPr>
          <p:cNvPr id="24580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5652000" y="4329000"/>
            <a:ext cx="2880360" cy="1081087"/>
          </a:xfrm>
        </p:spPr>
        <p:txBody>
          <a:bodyPr/>
          <a:lstStyle/>
          <a:p>
            <a:pPr marL="0" indent="0" eaLnBrk="1" hangingPunct="1"/>
            <a:r>
              <a:rPr lang="en-US" altLang="zh-TW" sz="3200" dirty="0">
                <a:solidFill>
                  <a:srgbClr val="0000FF"/>
                </a:solidFill>
              </a:rPr>
              <a:t>The residual network </a:t>
            </a:r>
            <a:r>
              <a:rPr lang="en-US" altLang="zh-TW" sz="3200" i="1" dirty="0">
                <a:solidFill>
                  <a:srgbClr val="0000FF"/>
                </a:solidFill>
              </a:rPr>
              <a:t>R</a:t>
            </a:r>
            <a:r>
              <a:rPr lang="en-US" altLang="zh-TW" sz="3200" dirty="0">
                <a:solidFill>
                  <a:srgbClr val="0000FF"/>
                </a:solidFill>
              </a:rPr>
              <a:t> of </a:t>
            </a:r>
            <a:r>
              <a:rPr lang="en-US" altLang="zh-TW" sz="3200" i="1" dirty="0">
                <a:solidFill>
                  <a:srgbClr val="0000FF"/>
                </a:solidFill>
              </a:rPr>
              <a:t>G</a:t>
            </a:r>
            <a:endParaRPr lang="zh-TW" altLang="en-US" sz="3200" i="1" dirty="0">
              <a:solidFill>
                <a:srgbClr val="0000FF"/>
              </a:solidFill>
            </a:endParaRPr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69000"/>
            <a:ext cx="4680000" cy="2851822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3609000"/>
            <a:ext cx="4680000" cy="2882036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4752000" y="5949000"/>
            <a:ext cx="414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>
              <a:tabLst>
                <a:tab pos="810000" algn="l"/>
              </a:tabLst>
            </a:pPr>
            <a:r>
              <a:rPr lang="en-US" altLang="zh-TW" sz="2200" i="1" kern="0" spc="100" dirty="0">
                <a:solidFill>
                  <a:srgbClr val="000000"/>
                </a:solidFill>
                <a:latin typeface="Times New Roman"/>
                <a:ea typeface="新細明體"/>
              </a:rPr>
              <a:t>E</a:t>
            </a:r>
            <a:r>
              <a:rPr lang="en-US" altLang="zh-TW" sz="22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sz="12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22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 {	(</a:t>
            </a:r>
            <a:r>
              <a:rPr lang="en-US" altLang="zh-TW" sz="2200" i="1" kern="0" dirty="0">
                <a:solidFill>
                  <a:srgbClr val="000000"/>
                </a:solidFill>
                <a:latin typeface="Times New Roman"/>
                <a:ea typeface="新細明體"/>
              </a:rPr>
              <a:t>u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, </a:t>
            </a:r>
            <a:r>
              <a:rPr lang="en-US" altLang="zh-TW" sz="2200" i="1" kern="0" dirty="0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) </a:t>
            </a:r>
            <a:r>
              <a:rPr lang="en-US" altLang="zh-TW" sz="22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  <a:sym typeface="Symbol" pitchFamily="18" charset="2"/>
              </a:rPr>
              <a:t> </a:t>
            </a:r>
            <a:r>
              <a:rPr lang="en-US" altLang="zh-TW" sz="2200" i="1" kern="0" spc="300" dirty="0" err="1">
                <a:solidFill>
                  <a:srgbClr val="000000"/>
                </a:solidFill>
                <a:latin typeface="Times New Roman"/>
                <a:ea typeface="新細明體"/>
                <a:sym typeface="Symbol" pitchFamily="18" charset="2"/>
              </a:rPr>
              <a:t>V</a:t>
            </a:r>
            <a:r>
              <a:rPr lang="en-US" altLang="zh-TW" sz="2200" kern="0" spc="50" dirty="0" err="1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×</a:t>
            </a:r>
            <a:r>
              <a:rPr lang="en-US" altLang="zh-TW" sz="2200" i="1" kern="0" dirty="0" err="1">
                <a:solidFill>
                  <a:srgbClr val="000000"/>
                </a:solidFill>
                <a:latin typeface="Times New Roman"/>
                <a:ea typeface="新細明體"/>
                <a:cs typeface="Times New Roman" pitchFamily="18" charset="0"/>
                <a:sym typeface="Symbol" pitchFamily="18" charset="2"/>
              </a:rPr>
              <a:t>V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  <a:sym typeface="Symbol" pitchFamily="18" charset="2"/>
              </a:rPr>
              <a:t> : </a:t>
            </a:r>
            <a:r>
              <a:rPr lang="en-US" altLang="zh-TW" sz="22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r</a:t>
            </a:r>
            <a:r>
              <a:rPr lang="en-US" altLang="zh-TW" sz="2200" i="1" kern="0" spc="100" dirty="0" err="1">
                <a:solidFill>
                  <a:srgbClr val="000000"/>
                </a:solidFill>
                <a:latin typeface="Times New Roman"/>
                <a:ea typeface="新細明體"/>
              </a:rPr>
              <a:t>c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(</a:t>
            </a:r>
            <a:r>
              <a:rPr lang="en-US" altLang="zh-TW" sz="2200" i="1" kern="0" dirty="0">
                <a:solidFill>
                  <a:srgbClr val="000000"/>
                </a:solidFill>
                <a:latin typeface="Times New Roman"/>
                <a:ea typeface="新細明體"/>
              </a:rPr>
              <a:t>u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, </a:t>
            </a:r>
            <a:r>
              <a:rPr lang="en-US" altLang="zh-TW" sz="2200" i="1" kern="0" dirty="0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) </a:t>
            </a:r>
            <a:r>
              <a:rPr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 0}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3852000" y="2709000"/>
                <a:ext cx="5040000" cy="1260000"/>
              </a:xfrm>
              <a:prstGeom prst="rect">
                <a:avLst/>
              </a:prstGeom>
            </p:spPr>
            <p:txBody>
              <a:bodyPr wrap="square" tIns="0" bIns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200" i="1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rc</m:t>
                      </m:r>
                      <m:r>
                        <m:rPr>
                          <m:nor/>
                        </m:rPr>
                        <a:rPr lang="en-US" altLang="zh-TW" sz="2200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TW" sz="2200" i="1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u</m:t>
                      </m:r>
                      <m:r>
                        <m:rPr>
                          <m:nor/>
                        </m:rPr>
                        <a:rPr lang="en-US" altLang="zh-TW" sz="2200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, </m:t>
                      </m:r>
                      <m:r>
                        <m:rPr>
                          <m:nor/>
                        </m:rPr>
                        <a:rPr lang="en-US" altLang="zh-TW" sz="2200" i="1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v</m:t>
                      </m:r>
                      <m:r>
                        <m:rPr>
                          <m:nor/>
                        </m:rPr>
                        <a:rPr lang="en-US" altLang="zh-TW" sz="2200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)</m:t>
                      </m:r>
                      <m:r>
                        <a:rPr lang="en-US" altLang="zh-TW" sz="22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2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2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)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altLang="zh-TW" sz="22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)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itchFamily="18" charset="2"/>
                                  </a:rPr>
                                  <m:t>∈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  <a:sym typeface="Symbol" pitchFamily="18" charset="2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)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)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itchFamily="18" charset="2"/>
                                  </a:rPr>
                                  <m:t>∈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  <a:sym typeface="Symbol" pitchFamily="18" charset="2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0                       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otherwise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. 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2000" y="2709000"/>
                <a:ext cx="5040000" cy="1260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25701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Rectangle 8"/>
          <p:cNvSpPr>
            <a:spLocks noGrp="1" noChangeArrowheads="1"/>
          </p:cNvSpPr>
          <p:nvPr>
            <p:ph type="body" sz="half" idx="2"/>
          </p:nvPr>
        </p:nvSpPr>
        <p:spPr>
          <a:xfrm>
            <a:off x="5472113" y="728663"/>
            <a:ext cx="3240087" cy="539750"/>
          </a:xfrm>
        </p:spPr>
        <p:txBody>
          <a:bodyPr/>
          <a:lstStyle/>
          <a:p>
            <a:pPr marL="0" indent="0" eaLnBrk="1" hangingPunct="1"/>
            <a:r>
              <a:rPr lang="en-US" altLang="zh-TW" sz="3200" dirty="0">
                <a:solidFill>
                  <a:srgbClr val="0000FF"/>
                </a:solidFill>
              </a:rPr>
              <a:t>A flow network </a:t>
            </a:r>
            <a:r>
              <a:rPr lang="en-US" altLang="zh-TW" sz="3200" i="1" dirty="0">
                <a:solidFill>
                  <a:srgbClr val="0000FF"/>
                </a:solidFill>
              </a:rPr>
              <a:t>G</a:t>
            </a:r>
            <a:endParaRPr lang="zh-TW" altLang="en-US" sz="3200" i="1" dirty="0">
              <a:solidFill>
                <a:srgbClr val="0000FF"/>
              </a:solidFill>
            </a:endParaRPr>
          </a:p>
        </p:txBody>
      </p:sp>
      <p:sp>
        <p:nvSpPr>
          <p:cNvPr id="24580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5652000" y="4329000"/>
            <a:ext cx="2880360" cy="1081087"/>
          </a:xfrm>
        </p:spPr>
        <p:txBody>
          <a:bodyPr/>
          <a:lstStyle/>
          <a:p>
            <a:pPr marL="0" indent="0" eaLnBrk="1" hangingPunct="1"/>
            <a:r>
              <a:rPr lang="en-US" altLang="zh-TW" sz="3200" dirty="0">
                <a:solidFill>
                  <a:srgbClr val="0000FF"/>
                </a:solidFill>
              </a:rPr>
              <a:t>The residual network </a:t>
            </a:r>
            <a:r>
              <a:rPr lang="en-US" altLang="zh-TW" sz="3200" i="1" dirty="0">
                <a:solidFill>
                  <a:srgbClr val="0000FF"/>
                </a:solidFill>
              </a:rPr>
              <a:t>R</a:t>
            </a:r>
            <a:r>
              <a:rPr lang="en-US" altLang="zh-TW" sz="3200" dirty="0">
                <a:solidFill>
                  <a:srgbClr val="0000FF"/>
                </a:solidFill>
              </a:rPr>
              <a:t> of </a:t>
            </a:r>
            <a:r>
              <a:rPr lang="en-US" altLang="zh-TW" sz="3200" i="1" dirty="0">
                <a:solidFill>
                  <a:srgbClr val="0000FF"/>
                </a:solidFill>
              </a:rPr>
              <a:t>G</a:t>
            </a:r>
            <a:endParaRPr lang="zh-TW" altLang="en-US" sz="3200" i="1" dirty="0">
              <a:solidFill>
                <a:srgbClr val="0000F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52000" y="5949000"/>
            <a:ext cx="414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>
              <a:tabLst>
                <a:tab pos="810000" algn="l"/>
              </a:tabLst>
            </a:pPr>
            <a:r>
              <a:rPr lang="en-US" altLang="zh-TW" sz="2200" i="1" kern="0" spc="100" dirty="0">
                <a:solidFill>
                  <a:srgbClr val="000000"/>
                </a:solidFill>
                <a:latin typeface="Times New Roman"/>
                <a:ea typeface="新細明體"/>
              </a:rPr>
              <a:t>E</a:t>
            </a:r>
            <a:r>
              <a:rPr lang="en-US" altLang="zh-TW" sz="22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sz="12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22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 {	(</a:t>
            </a:r>
            <a:r>
              <a:rPr lang="en-US" altLang="zh-TW" sz="2200" i="1" kern="0" dirty="0">
                <a:solidFill>
                  <a:srgbClr val="000000"/>
                </a:solidFill>
                <a:latin typeface="Times New Roman"/>
                <a:ea typeface="新細明體"/>
              </a:rPr>
              <a:t>u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, </a:t>
            </a:r>
            <a:r>
              <a:rPr lang="en-US" altLang="zh-TW" sz="2200" i="1" kern="0" dirty="0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) </a:t>
            </a:r>
            <a:r>
              <a:rPr lang="en-US" altLang="zh-TW" sz="22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  <a:sym typeface="Symbol" pitchFamily="18" charset="2"/>
              </a:rPr>
              <a:t> </a:t>
            </a:r>
            <a:r>
              <a:rPr lang="en-US" altLang="zh-TW" sz="2200" i="1" kern="0" spc="300" dirty="0" err="1">
                <a:solidFill>
                  <a:srgbClr val="000000"/>
                </a:solidFill>
                <a:latin typeface="Times New Roman"/>
                <a:ea typeface="新細明體"/>
                <a:sym typeface="Symbol" pitchFamily="18" charset="2"/>
              </a:rPr>
              <a:t>V</a:t>
            </a:r>
            <a:r>
              <a:rPr lang="en-US" altLang="zh-TW" sz="2200" kern="0" spc="50" dirty="0" err="1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×</a:t>
            </a:r>
            <a:r>
              <a:rPr lang="en-US" altLang="zh-TW" sz="2200" i="1" kern="0" dirty="0" err="1">
                <a:solidFill>
                  <a:srgbClr val="000000"/>
                </a:solidFill>
                <a:latin typeface="Times New Roman"/>
                <a:ea typeface="新細明體"/>
                <a:cs typeface="Times New Roman" pitchFamily="18" charset="0"/>
                <a:sym typeface="Symbol" pitchFamily="18" charset="2"/>
              </a:rPr>
              <a:t>V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  <a:sym typeface="Symbol" pitchFamily="18" charset="2"/>
              </a:rPr>
              <a:t> : </a:t>
            </a:r>
            <a:r>
              <a:rPr lang="en-US" altLang="zh-TW" sz="22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r</a:t>
            </a:r>
            <a:r>
              <a:rPr lang="en-US" altLang="zh-TW" sz="2200" i="1" kern="0" spc="100" dirty="0" err="1">
                <a:solidFill>
                  <a:srgbClr val="000000"/>
                </a:solidFill>
                <a:latin typeface="Times New Roman"/>
                <a:ea typeface="新細明體"/>
              </a:rPr>
              <a:t>c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(</a:t>
            </a:r>
            <a:r>
              <a:rPr lang="en-US" altLang="zh-TW" sz="2200" i="1" kern="0" dirty="0">
                <a:solidFill>
                  <a:srgbClr val="000000"/>
                </a:solidFill>
                <a:latin typeface="Times New Roman"/>
                <a:ea typeface="新細明體"/>
              </a:rPr>
              <a:t>u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, </a:t>
            </a:r>
            <a:r>
              <a:rPr lang="en-US" altLang="zh-TW" sz="2200" i="1" kern="0" dirty="0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) </a:t>
            </a:r>
            <a:r>
              <a:rPr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 0}</a:t>
            </a:r>
            <a:endParaRPr lang="zh-TW" altLang="en-US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609000"/>
            <a:ext cx="4680000" cy="28759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3852000" y="2709000"/>
                <a:ext cx="5040000" cy="1260000"/>
              </a:xfrm>
              <a:prstGeom prst="rect">
                <a:avLst/>
              </a:prstGeom>
            </p:spPr>
            <p:txBody>
              <a:bodyPr wrap="square" tIns="0" bIns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200" i="1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rc</m:t>
                      </m:r>
                      <m:r>
                        <m:rPr>
                          <m:nor/>
                        </m:rPr>
                        <a:rPr lang="en-US" altLang="zh-TW" sz="2200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TW" sz="2200" i="1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u</m:t>
                      </m:r>
                      <m:r>
                        <m:rPr>
                          <m:nor/>
                        </m:rPr>
                        <a:rPr lang="en-US" altLang="zh-TW" sz="2200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, </m:t>
                      </m:r>
                      <m:r>
                        <m:rPr>
                          <m:nor/>
                        </m:rPr>
                        <a:rPr lang="en-US" altLang="zh-TW" sz="2200" i="1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v</m:t>
                      </m:r>
                      <m:r>
                        <m:rPr>
                          <m:nor/>
                        </m:rPr>
                        <a:rPr lang="en-US" altLang="zh-TW" sz="2200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)</m:t>
                      </m:r>
                      <m:r>
                        <a:rPr lang="en-US" altLang="zh-TW" sz="22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2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2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)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altLang="zh-TW" sz="22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)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itchFamily="18" charset="2"/>
                                  </a:rPr>
                                  <m:t>∈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  <a:sym typeface="Symbol" pitchFamily="18" charset="2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)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)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itchFamily="18" charset="2"/>
                                  </a:rPr>
                                  <m:t>∈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  <a:sym typeface="Symbol" pitchFamily="18" charset="2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0                       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otherwise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. 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2000" y="2709000"/>
                <a:ext cx="5040000" cy="1260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圖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00" y="369000"/>
            <a:ext cx="4680000" cy="285182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idx="1"/>
          </p:nvPr>
        </p:nvSpPr>
        <p:spPr>
          <a:xfrm>
            <a:off x="432000" y="548641"/>
            <a:ext cx="8280000" cy="5760359"/>
          </a:xfrm>
        </p:spPr>
        <p:txBody>
          <a:bodyPr lIns="90000" rIns="90000"/>
          <a:lstStyle/>
          <a:p>
            <a:pPr marL="541338" indent="-541338" eaLnBrk="1" hangingPunct="1">
              <a:defRPr/>
            </a:pPr>
            <a:r>
              <a:rPr lang="en-US" altLang="zh-TW" sz="2200" dirty="0" err="1"/>
              <a:t>FordFulkerson</a:t>
            </a:r>
            <a:r>
              <a:rPr lang="en-US" altLang="zh-TW" sz="2200" dirty="0"/>
              <a:t>(</a:t>
            </a:r>
            <a:r>
              <a:rPr lang="en-US" altLang="zh-TW" sz="2200" i="1" dirty="0"/>
              <a:t>G</a:t>
            </a:r>
            <a:r>
              <a:rPr lang="en-US" altLang="zh-TW" sz="2200" dirty="0"/>
              <a:t>, </a:t>
            </a:r>
            <a:r>
              <a:rPr lang="en-US" altLang="zh-TW" sz="2200" i="1" dirty="0"/>
              <a:t>s</a:t>
            </a:r>
            <a:r>
              <a:rPr lang="en-US" altLang="zh-TW" sz="2200" dirty="0"/>
              <a:t>, </a:t>
            </a:r>
            <a:r>
              <a:rPr lang="en-US" altLang="zh-TW" sz="2200" i="1" dirty="0"/>
              <a:t>t</a:t>
            </a:r>
            <a:r>
              <a:rPr lang="en-US" altLang="zh-TW" sz="2200" dirty="0"/>
              <a:t>)</a:t>
            </a:r>
            <a:endParaRPr lang="en-US" altLang="zh-TW" sz="2200" b="1" dirty="0"/>
          </a:p>
          <a:p>
            <a:pPr marL="0" lvl="0" indent="0" eaLnBrk="1" hangingPunct="1">
              <a:spcBef>
                <a:spcPts val="528"/>
              </a:spcBef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</a:t>
            </a:r>
            <a:r>
              <a:rPr lang="en-US" altLang="zh-TW" dirty="0" err="1">
                <a:solidFill>
                  <a:srgbClr val="000000"/>
                </a:solidFill>
                <a:sym typeface="Symbol" pitchFamily="18" charset="2"/>
              </a:rPr>
              <a:t>.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E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 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528"/>
              </a:spcBef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0</a:t>
            </a:r>
          </a:p>
          <a:p>
            <a:pPr marL="0" indent="0" eaLnBrk="1" hangingPunct="1">
              <a:spcBef>
                <a:spcPts val="528"/>
              </a:spcBef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sz="2200" dirty="0"/>
              <a:t>	3	</a:t>
            </a:r>
            <a:r>
              <a:rPr lang="en-US" altLang="zh-TW" sz="2200" b="1" dirty="0"/>
              <a:t>while</a:t>
            </a:r>
            <a:r>
              <a:rPr lang="en-US" altLang="zh-TW" sz="2200" dirty="0"/>
              <a:t>	there exists a path </a:t>
            </a:r>
            <a:r>
              <a:rPr lang="en-US" altLang="zh-TW" sz="2200" i="1" dirty="0"/>
              <a:t>p</a:t>
            </a:r>
            <a:r>
              <a:rPr lang="en-US" altLang="zh-TW" sz="2200" dirty="0"/>
              <a:t> from </a:t>
            </a:r>
            <a:r>
              <a:rPr lang="en-US" altLang="zh-TW" sz="2200" i="1" dirty="0"/>
              <a:t>s</a:t>
            </a:r>
            <a:r>
              <a:rPr lang="en-US" altLang="zh-TW" sz="2200" dirty="0"/>
              <a:t> to </a:t>
            </a:r>
            <a:r>
              <a:rPr lang="en-US" altLang="zh-TW" sz="2200" i="1" dirty="0"/>
              <a:t>t</a:t>
            </a:r>
            <a:r>
              <a:rPr lang="en-US" altLang="zh-TW" sz="2200" dirty="0"/>
              <a:t> in the residual network </a:t>
            </a:r>
            <a:r>
              <a:rPr lang="en-US" altLang="zh-TW" sz="2200" i="1" dirty="0"/>
              <a:t>R</a:t>
            </a:r>
            <a:endParaRPr lang="en-US" altLang="zh-TW" sz="2200" dirty="0"/>
          </a:p>
          <a:p>
            <a:pPr marL="0" indent="0" eaLnBrk="1" hangingPunct="1">
              <a:spcBef>
                <a:spcPts val="528"/>
              </a:spcBef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sz="2200" dirty="0"/>
              <a:t>	4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z="2200" spc="400" dirty="0"/>
              <a:t>(</a:t>
            </a:r>
            <a:r>
              <a:rPr lang="en-US" altLang="zh-TW" sz="2200" i="1" dirty="0"/>
              <a:t>p</a:t>
            </a:r>
            <a:r>
              <a:rPr lang="en-US" altLang="zh-TW" sz="2200" dirty="0"/>
              <a:t>)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ym typeface="Symbol" pitchFamily="18" charset="2"/>
              </a:rPr>
              <a:t> min{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sz="2200" i="1" dirty="0"/>
              <a:t>u</a:t>
            </a:r>
            <a:r>
              <a:rPr lang="en-US" altLang="zh-TW" sz="2200" dirty="0"/>
              <a:t>, </a:t>
            </a:r>
            <a:r>
              <a:rPr lang="en-US" altLang="zh-TW" sz="2200" i="1" dirty="0"/>
              <a:t>v</a:t>
            </a:r>
            <a:r>
              <a:rPr lang="en-US" altLang="zh-TW" sz="2200" dirty="0"/>
              <a:t>) </a:t>
            </a:r>
            <a:r>
              <a:rPr lang="en-US" altLang="zh-TW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en-US" altLang="zh-TW" sz="2200" dirty="0"/>
              <a:t> (</a:t>
            </a:r>
            <a:r>
              <a:rPr lang="en-US" altLang="zh-TW" sz="2200" i="1" dirty="0"/>
              <a:t>u</a:t>
            </a:r>
            <a:r>
              <a:rPr lang="en-US" altLang="zh-TW" sz="2200" dirty="0"/>
              <a:t>, </a:t>
            </a:r>
            <a:r>
              <a:rPr lang="en-US" altLang="zh-TW" sz="2200" i="1" dirty="0"/>
              <a:t>v</a:t>
            </a:r>
            <a:r>
              <a:rPr lang="en-US" altLang="zh-TW" sz="2200" dirty="0"/>
              <a:t>) is in </a:t>
            </a:r>
            <a:r>
              <a:rPr lang="en-US" altLang="zh-TW" sz="2200" i="1" dirty="0"/>
              <a:t>p</a:t>
            </a:r>
            <a:r>
              <a:rPr lang="en-US" altLang="zh-TW" sz="2200" dirty="0"/>
              <a:t>}</a:t>
            </a:r>
            <a:endParaRPr lang="en-US" altLang="zh-TW" sz="2200" b="1" dirty="0">
              <a:sym typeface="Symbol" pitchFamily="18" charset="2"/>
            </a:endParaRPr>
          </a:p>
          <a:p>
            <a:pPr marL="0" indent="0" eaLnBrk="1" hangingPunct="1">
              <a:spcBef>
                <a:spcPts val="528"/>
              </a:spcBef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sz="2200" dirty="0"/>
              <a:t>	5		</a:t>
            </a:r>
            <a:r>
              <a:rPr lang="en-US" altLang="zh-TW" sz="2200" b="1" dirty="0"/>
              <a:t>for</a:t>
            </a:r>
            <a:r>
              <a:rPr lang="en-US" altLang="zh-TW" sz="2200" dirty="0"/>
              <a:t>	each edge (</a:t>
            </a:r>
            <a:r>
              <a:rPr lang="en-US" altLang="zh-TW" sz="2200" i="1" dirty="0"/>
              <a:t>u</a:t>
            </a:r>
            <a:r>
              <a:rPr lang="en-US" altLang="zh-TW" sz="2200" dirty="0"/>
              <a:t>, </a:t>
            </a:r>
            <a:r>
              <a:rPr lang="en-US" altLang="zh-TW" sz="2200" i="1" dirty="0"/>
              <a:t>v</a:t>
            </a:r>
            <a:r>
              <a:rPr lang="en-US" altLang="zh-TW" sz="2200" dirty="0"/>
              <a:t>) in </a:t>
            </a:r>
            <a:r>
              <a:rPr lang="en-US" altLang="zh-TW" sz="2200" i="1" dirty="0"/>
              <a:t>p</a:t>
            </a:r>
            <a:endParaRPr lang="en-US" altLang="zh-TW" sz="2200" b="1" dirty="0"/>
          </a:p>
          <a:p>
            <a:pPr marL="0" indent="0" eaLnBrk="1" hangingPunct="1">
              <a:spcBef>
                <a:spcPts val="528"/>
              </a:spcBef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sz="2200" dirty="0"/>
              <a:t>	6			</a:t>
            </a:r>
            <a:r>
              <a:rPr lang="en-US" altLang="zh-TW" sz="2200" b="1" dirty="0"/>
              <a:t>if</a:t>
            </a:r>
            <a:r>
              <a:rPr lang="en-US" altLang="zh-TW" sz="2200" dirty="0"/>
              <a:t> (</a:t>
            </a:r>
            <a:r>
              <a:rPr lang="en-US" altLang="zh-TW" sz="2200" i="1" dirty="0"/>
              <a:t>u</a:t>
            </a:r>
            <a:r>
              <a:rPr lang="en-US" altLang="zh-TW" sz="2200" dirty="0"/>
              <a:t>, </a:t>
            </a:r>
            <a:r>
              <a:rPr lang="en-US" altLang="zh-TW" sz="2200" i="1" dirty="0"/>
              <a:t>v</a:t>
            </a:r>
            <a:r>
              <a:rPr lang="en-US" altLang="zh-TW" sz="2200" dirty="0"/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sz="2200" dirty="0">
                <a:sym typeface="Symbol" pitchFamily="18" charset="2"/>
              </a:rPr>
              <a:t> </a:t>
            </a:r>
            <a:r>
              <a:rPr lang="en-US" altLang="zh-TW" sz="2200" i="1" dirty="0">
                <a:sym typeface="Symbol" pitchFamily="18" charset="2"/>
              </a:rPr>
              <a:t>G.E</a:t>
            </a:r>
            <a:endParaRPr lang="en-US" altLang="zh-TW" sz="2200" dirty="0"/>
          </a:p>
          <a:p>
            <a:pPr marL="0" indent="0" eaLnBrk="1" hangingPunct="1">
              <a:spcBef>
                <a:spcPts val="528"/>
              </a:spcBef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sz="2200" dirty="0"/>
              <a:t>	7				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  <a:r>
              <a:rPr lang="en-US" altLang="zh-TW" sz="2200" dirty="0"/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spc="100" dirty="0"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  <a:r>
              <a:rPr lang="en-US" altLang="zh-TW" sz="2200" dirty="0"/>
              <a:t> </a:t>
            </a:r>
            <a:r>
              <a:rPr lang="en-US" altLang="zh-TW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sz="2200" dirty="0"/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sz="2200" i="1" dirty="0"/>
              <a:t>p</a:t>
            </a:r>
            <a:r>
              <a:rPr lang="en-US" altLang="zh-TW" sz="2200" dirty="0"/>
              <a:t>) </a:t>
            </a:r>
          </a:p>
          <a:p>
            <a:pPr marL="0" indent="0" eaLnBrk="1" hangingPunct="1">
              <a:spcBef>
                <a:spcPts val="528"/>
              </a:spcBef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sz="2200" dirty="0"/>
              <a:t>	8			</a:t>
            </a:r>
            <a:r>
              <a:rPr lang="en-US" altLang="zh-TW" sz="2200" b="1" dirty="0"/>
              <a:t>else</a:t>
            </a:r>
            <a:r>
              <a:rPr lang="en-US" altLang="zh-TW" sz="2200" dirty="0"/>
              <a:t>	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  <a:r>
              <a:rPr lang="en-US" altLang="zh-TW" sz="2200" dirty="0"/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spc="100" dirty="0"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  <a:r>
              <a:rPr lang="en-US" altLang="zh-TW" sz="2200" dirty="0"/>
              <a:t> </a:t>
            </a:r>
            <a:r>
              <a:rPr lang="en-US" altLang="zh-TW" sz="2000" dirty="0"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sz="2200" dirty="0"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sz="2200" i="1" dirty="0"/>
              <a:t>p</a:t>
            </a:r>
            <a:r>
              <a:rPr lang="en-US" altLang="zh-TW" sz="2200" dirty="0"/>
              <a:t>)</a:t>
            </a:r>
          </a:p>
          <a:p>
            <a:pPr marL="0" indent="0" eaLnBrk="1" hangingPunct="1">
              <a:spcBef>
                <a:spcPts val="0"/>
              </a:spcBef>
              <a:tabLst>
                <a:tab pos="361950" algn="l"/>
                <a:tab pos="808038" algn="l"/>
                <a:tab pos="1252538" algn="l"/>
                <a:tab pos="1524000" algn="l"/>
              </a:tabLst>
              <a:defRPr/>
            </a:pPr>
            <a:endParaRPr lang="en-US" altLang="zh-TW" sz="2200" dirty="0"/>
          </a:p>
          <a:p>
            <a:pPr marL="0" indent="0" eaLnBrk="1" hangingPunct="1">
              <a:spcBef>
                <a:spcPts val="0"/>
              </a:spcBef>
              <a:tabLst>
                <a:tab pos="361950" algn="l"/>
                <a:tab pos="808038" algn="l"/>
                <a:tab pos="1252538" algn="l"/>
                <a:tab pos="1524000" algn="l"/>
              </a:tabLst>
              <a:defRPr/>
            </a:pPr>
            <a:endParaRPr lang="en-US" altLang="zh-TW" dirty="0"/>
          </a:p>
          <a:p>
            <a:pPr marL="0" indent="0" eaLnBrk="1" hangingPunct="1">
              <a:spcBef>
                <a:spcPts val="0"/>
              </a:spcBef>
              <a:tabLst>
                <a:tab pos="361950" algn="l"/>
                <a:tab pos="808038" algn="l"/>
                <a:tab pos="1252538" algn="l"/>
                <a:tab pos="1524000" algn="l"/>
              </a:tabLst>
              <a:defRPr/>
            </a:pPr>
            <a:endParaRPr lang="en-US" altLang="zh-TW" dirty="0"/>
          </a:p>
          <a:p>
            <a:pPr marL="0" indent="0" eaLnBrk="1" hangingPunct="1">
              <a:spcBef>
                <a:spcPts val="0"/>
              </a:spcBef>
              <a:tabLst>
                <a:tab pos="361950" algn="l"/>
                <a:tab pos="808038" algn="l"/>
                <a:tab pos="1252538" algn="l"/>
                <a:tab pos="1524000" algn="l"/>
              </a:tabLst>
              <a:defRPr/>
            </a:pPr>
            <a:endParaRPr lang="en-US" altLang="zh-TW" sz="2200" dirty="0"/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sz="2200" dirty="0" err="1">
                <a:solidFill>
                  <a:srgbClr val="0000FF"/>
                </a:solidFill>
              </a:rPr>
              <a:t>Lestor</a:t>
            </a:r>
            <a:r>
              <a:rPr lang="en-US" altLang="zh-TW" sz="2200" dirty="0">
                <a:solidFill>
                  <a:srgbClr val="0000FF"/>
                </a:solidFill>
              </a:rPr>
              <a:t> R. Ford, Jr. and D. R. Fulkerson. Flows in Networks.	 Princeton University Press, 1962.</a:t>
            </a:r>
            <a:endParaRPr lang="en-US" altLang="zh-TW" sz="2200" dirty="0"/>
          </a:p>
        </p:txBody>
      </p:sp>
    </p:spTree>
    <p:extLst>
      <p:ext uri="{BB962C8B-B14F-4D97-AF65-F5344CB8AC3E}">
        <p14:creationId xmlns:p14="http://schemas.microsoft.com/office/powerpoint/2010/main" val="26935094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hangingPunct="1">
              <a:spcBef>
                <a:spcPts val="600"/>
              </a:spcBef>
              <a:buClr>
                <a:srgbClr val="3333CC"/>
              </a:buClr>
              <a:tabLst>
                <a:tab pos="540000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G.E</a:t>
            </a:r>
            <a:endParaRPr lang="en-US" altLang="zh-TW" dirty="0">
              <a:solidFill>
                <a:srgbClr val="000000"/>
              </a:solidFill>
            </a:endParaRPr>
          </a:p>
          <a:p>
            <a:pPr lvl="0" eaLnBrk="1" hangingPunct="1">
              <a:spcBef>
                <a:spcPts val="600"/>
              </a:spcBef>
              <a:buClr>
                <a:srgbClr val="3333CC"/>
              </a:buClr>
              <a:tabLst>
                <a:tab pos="540000" algn="l"/>
              </a:tabLst>
              <a:defRPr/>
            </a:pPr>
            <a:r>
              <a:rPr lang="en-US" altLang="zh-TW" b="1" dirty="0">
                <a:solidFill>
                  <a:srgbClr val="FFFFFF"/>
                </a:solidFill>
              </a:rPr>
              <a:t>	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lvl="0" eaLnBrk="1" hangingPunct="1">
              <a:spcBef>
                <a:spcPts val="600"/>
              </a:spcBef>
              <a:buClr>
                <a:srgbClr val="3333CC"/>
              </a:buClr>
              <a:tabLst>
                <a:tab pos="540000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565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sz="4400" i="1" kern="0" dirty="0">
                <a:solidFill>
                  <a:srgbClr val="0000FF"/>
                </a:solidFill>
              </a:rPr>
              <a:t>R</a:t>
            </a:r>
            <a:endParaRPr lang="en-US" altLang="zh-TW" sz="4400" i="1" kern="0" baseline="-25000" dirty="0">
              <a:solidFill>
                <a:srgbClr val="0000FF"/>
              </a:solidFill>
            </a:endParaRPr>
          </a:p>
        </p:txBody>
      </p:sp>
      <p:sp>
        <p:nvSpPr>
          <p:cNvPr id="5" name="內容版面配置區 1"/>
          <p:cNvSpPr txBox="1">
            <a:spLocks/>
          </p:cNvSpPr>
          <p:nvPr/>
        </p:nvSpPr>
        <p:spPr bwMode="auto">
          <a:xfrm>
            <a:off x="565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sz="4400" i="1" kern="0" dirty="0">
                <a:solidFill>
                  <a:srgbClr val="0000FF"/>
                </a:solidFill>
              </a:rPr>
              <a:t>G</a:t>
            </a:r>
            <a:endParaRPr lang="en-US" altLang="zh-TW" sz="4400" i="1" kern="0" baseline="-25000" dirty="0">
              <a:solidFill>
                <a:srgbClr val="0000FF"/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69000"/>
            <a:ext cx="4680000" cy="285335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609000"/>
            <a:ext cx="4680000" cy="285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5516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hangingPunct="1">
              <a:spcBef>
                <a:spcPts val="600"/>
              </a:spcBef>
              <a:buClr>
                <a:srgbClr val="3333CC"/>
              </a:buClr>
              <a:tabLst>
                <a:tab pos="540000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G.E</a:t>
            </a:r>
            <a:endParaRPr lang="en-US" altLang="zh-TW" dirty="0">
              <a:solidFill>
                <a:srgbClr val="000000"/>
              </a:solidFill>
            </a:endParaRPr>
          </a:p>
          <a:p>
            <a:pPr lvl="0" eaLnBrk="1" hangingPunct="1">
              <a:spcBef>
                <a:spcPts val="600"/>
              </a:spcBef>
              <a:buClr>
                <a:srgbClr val="3333CC"/>
              </a:buClr>
              <a:tabLst>
                <a:tab pos="540000" algn="l"/>
              </a:tabLst>
              <a:defRPr/>
            </a:pPr>
            <a:r>
              <a:rPr lang="en-US" altLang="zh-TW" b="1" dirty="0">
                <a:solidFill>
                  <a:srgbClr val="FFFFFF"/>
                </a:solidFill>
              </a:rPr>
              <a:t>	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lvl="0" eaLnBrk="1" hangingPunct="1">
              <a:spcBef>
                <a:spcPts val="600"/>
              </a:spcBef>
              <a:buClr>
                <a:srgbClr val="3333CC"/>
              </a:buClr>
              <a:tabLst>
                <a:tab pos="540000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69000"/>
            <a:ext cx="4680000" cy="285335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3609000"/>
            <a:ext cx="4680000" cy="2853350"/>
          </a:xfrm>
          <a:prstGeom prst="rect">
            <a:avLst/>
          </a:prstGeom>
        </p:spPr>
      </p:pic>
      <p:sp>
        <p:nvSpPr>
          <p:cNvPr id="6" name="內容版面配置區 1"/>
          <p:cNvSpPr txBox="1">
            <a:spLocks/>
          </p:cNvSpPr>
          <p:nvPr/>
        </p:nvSpPr>
        <p:spPr bwMode="auto">
          <a:xfrm>
            <a:off x="565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sz="4400" i="1" kern="0" dirty="0">
                <a:solidFill>
                  <a:srgbClr val="0000FF"/>
                </a:solidFill>
              </a:rPr>
              <a:t>R</a:t>
            </a:r>
            <a:endParaRPr lang="en-US" altLang="zh-TW" sz="4400" i="1" kern="0" baseline="-25000" dirty="0">
              <a:solidFill>
                <a:srgbClr val="0000FF"/>
              </a:solidFill>
            </a:endParaRPr>
          </a:p>
        </p:txBody>
      </p:sp>
      <p:sp>
        <p:nvSpPr>
          <p:cNvPr id="7" name="內容版面配置區 1"/>
          <p:cNvSpPr txBox="1">
            <a:spLocks/>
          </p:cNvSpPr>
          <p:nvPr/>
        </p:nvSpPr>
        <p:spPr bwMode="auto">
          <a:xfrm>
            <a:off x="565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sz="4400" i="1" kern="0" dirty="0">
                <a:solidFill>
                  <a:srgbClr val="0000FF"/>
                </a:solidFill>
              </a:rPr>
              <a:t>G</a:t>
            </a:r>
            <a:endParaRPr lang="en-US" altLang="zh-TW" sz="4400" i="1" kern="0" baseline="-250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01257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hangingPunct="1">
              <a:spcBef>
                <a:spcPts val="600"/>
              </a:spcBef>
              <a:buClr>
                <a:srgbClr val="3333CC"/>
              </a:buClr>
              <a:tabLst>
                <a:tab pos="540000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G.E</a:t>
            </a:r>
            <a:endParaRPr lang="en-US" altLang="zh-TW" dirty="0">
              <a:solidFill>
                <a:srgbClr val="000000"/>
              </a:solidFill>
            </a:endParaRPr>
          </a:p>
          <a:p>
            <a:pPr lvl="0" eaLnBrk="1" hangingPunct="1">
              <a:spcBef>
                <a:spcPts val="600"/>
              </a:spcBef>
              <a:buClr>
                <a:srgbClr val="3333CC"/>
              </a:buClr>
              <a:tabLst>
                <a:tab pos="540000" algn="l"/>
              </a:tabLst>
              <a:defRPr/>
            </a:pPr>
            <a:r>
              <a:rPr lang="en-US" altLang="zh-TW" b="1" dirty="0">
                <a:solidFill>
                  <a:srgbClr val="FFFFFF"/>
                </a:solidFill>
              </a:rPr>
              <a:t>	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lvl="0" eaLnBrk="1" hangingPunct="1">
              <a:spcBef>
                <a:spcPts val="600"/>
              </a:spcBef>
              <a:buClr>
                <a:srgbClr val="3333CC"/>
              </a:buClr>
              <a:tabLst>
                <a:tab pos="540000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609000"/>
            <a:ext cx="4680000" cy="285335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369000"/>
            <a:ext cx="4680000" cy="2853350"/>
          </a:xfrm>
          <a:prstGeom prst="rect">
            <a:avLst/>
          </a:prstGeom>
        </p:spPr>
      </p:pic>
      <p:sp>
        <p:nvSpPr>
          <p:cNvPr id="6" name="內容版面配置區 1"/>
          <p:cNvSpPr txBox="1">
            <a:spLocks/>
          </p:cNvSpPr>
          <p:nvPr/>
        </p:nvSpPr>
        <p:spPr bwMode="auto">
          <a:xfrm>
            <a:off x="565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sz="4400" i="1" kern="0" dirty="0">
                <a:solidFill>
                  <a:srgbClr val="0000FF"/>
                </a:solidFill>
              </a:rPr>
              <a:t>R</a:t>
            </a:r>
            <a:endParaRPr lang="en-US" altLang="zh-TW" sz="4400" i="1" kern="0" baseline="-25000" dirty="0">
              <a:solidFill>
                <a:srgbClr val="0000FF"/>
              </a:solidFill>
            </a:endParaRPr>
          </a:p>
        </p:txBody>
      </p:sp>
      <p:sp>
        <p:nvSpPr>
          <p:cNvPr id="7" name="內容版面配置區 1"/>
          <p:cNvSpPr txBox="1">
            <a:spLocks/>
          </p:cNvSpPr>
          <p:nvPr/>
        </p:nvSpPr>
        <p:spPr bwMode="auto">
          <a:xfrm>
            <a:off x="565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sz="4400" i="1" kern="0" dirty="0">
                <a:solidFill>
                  <a:srgbClr val="0000FF"/>
                </a:solidFill>
              </a:rPr>
              <a:t>G</a:t>
            </a:r>
            <a:endParaRPr lang="en-US" altLang="zh-TW" sz="4400" i="1" kern="0" baseline="-250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7009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hangingPunct="1">
              <a:spcBef>
                <a:spcPts val="600"/>
              </a:spcBef>
              <a:buClr>
                <a:srgbClr val="3333CC"/>
              </a:buClr>
              <a:tabLst>
                <a:tab pos="540000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G.E</a:t>
            </a:r>
            <a:endParaRPr lang="en-US" altLang="zh-TW" dirty="0">
              <a:solidFill>
                <a:srgbClr val="000000"/>
              </a:solidFill>
            </a:endParaRPr>
          </a:p>
          <a:p>
            <a:pPr lvl="0" eaLnBrk="1" hangingPunct="1">
              <a:spcBef>
                <a:spcPts val="600"/>
              </a:spcBef>
              <a:buClr>
                <a:srgbClr val="3333CC"/>
              </a:buClr>
              <a:tabLst>
                <a:tab pos="540000" algn="l"/>
              </a:tabLst>
              <a:defRPr/>
            </a:pPr>
            <a:r>
              <a:rPr lang="en-US" altLang="zh-TW" b="1" dirty="0">
                <a:solidFill>
                  <a:srgbClr val="FFFFFF"/>
                </a:solidFill>
              </a:rPr>
              <a:t>	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lvl="0" eaLnBrk="1" hangingPunct="1">
              <a:spcBef>
                <a:spcPts val="600"/>
              </a:spcBef>
              <a:buClr>
                <a:srgbClr val="3333CC"/>
              </a:buClr>
              <a:tabLst>
                <a:tab pos="540000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69000"/>
            <a:ext cx="4680000" cy="285335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3591416"/>
            <a:ext cx="4680000" cy="2902416"/>
          </a:xfrm>
          <a:prstGeom prst="rect">
            <a:avLst/>
          </a:prstGeom>
        </p:spPr>
      </p:pic>
      <p:sp>
        <p:nvSpPr>
          <p:cNvPr id="6" name="內容版面配置區 1"/>
          <p:cNvSpPr txBox="1">
            <a:spLocks/>
          </p:cNvSpPr>
          <p:nvPr/>
        </p:nvSpPr>
        <p:spPr bwMode="auto">
          <a:xfrm>
            <a:off x="565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sz="4400" i="1" kern="0" dirty="0">
                <a:solidFill>
                  <a:srgbClr val="0000FF"/>
                </a:solidFill>
              </a:rPr>
              <a:t>R</a:t>
            </a:r>
            <a:endParaRPr lang="en-US" altLang="zh-TW" sz="4400" i="1" kern="0" baseline="-25000" dirty="0">
              <a:solidFill>
                <a:srgbClr val="0000FF"/>
              </a:solidFill>
            </a:endParaRPr>
          </a:p>
        </p:txBody>
      </p:sp>
      <p:sp>
        <p:nvSpPr>
          <p:cNvPr id="7" name="內容版面配置區 1"/>
          <p:cNvSpPr txBox="1">
            <a:spLocks/>
          </p:cNvSpPr>
          <p:nvPr/>
        </p:nvSpPr>
        <p:spPr bwMode="auto">
          <a:xfrm>
            <a:off x="565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sz="4400" i="1" kern="0" dirty="0">
                <a:solidFill>
                  <a:srgbClr val="0000FF"/>
                </a:solidFill>
              </a:rPr>
              <a:t>G</a:t>
            </a:r>
            <a:endParaRPr lang="en-US" altLang="zh-TW" sz="4400" i="1" kern="0" baseline="-250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3902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hangingPunct="1">
              <a:spcBef>
                <a:spcPts val="600"/>
              </a:spcBef>
              <a:buClr>
                <a:srgbClr val="3333CC"/>
              </a:buClr>
              <a:tabLst>
                <a:tab pos="540000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G.E</a:t>
            </a:r>
            <a:endParaRPr lang="en-US" altLang="zh-TW" dirty="0">
              <a:solidFill>
                <a:srgbClr val="000000"/>
              </a:solidFill>
            </a:endParaRPr>
          </a:p>
          <a:p>
            <a:pPr lvl="0" eaLnBrk="1" hangingPunct="1">
              <a:spcBef>
                <a:spcPts val="600"/>
              </a:spcBef>
              <a:buClr>
                <a:srgbClr val="3333CC"/>
              </a:buClr>
              <a:tabLst>
                <a:tab pos="540000" algn="l"/>
              </a:tabLst>
              <a:defRPr/>
            </a:pPr>
            <a:r>
              <a:rPr lang="en-US" altLang="zh-TW" b="1" dirty="0">
                <a:solidFill>
                  <a:srgbClr val="FFFFFF"/>
                </a:solidFill>
              </a:rPr>
              <a:t>	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lvl="0" eaLnBrk="1" hangingPunct="1">
              <a:spcBef>
                <a:spcPts val="600"/>
              </a:spcBef>
              <a:buClr>
                <a:srgbClr val="3333CC"/>
              </a:buClr>
              <a:tabLst>
                <a:tab pos="540000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69000"/>
            <a:ext cx="4680000" cy="285335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3591416"/>
            <a:ext cx="4680000" cy="2902416"/>
          </a:xfrm>
          <a:prstGeom prst="rect">
            <a:avLst/>
          </a:prstGeom>
        </p:spPr>
      </p:pic>
      <p:sp>
        <p:nvSpPr>
          <p:cNvPr id="6" name="內容版面配置區 1"/>
          <p:cNvSpPr txBox="1">
            <a:spLocks/>
          </p:cNvSpPr>
          <p:nvPr/>
        </p:nvSpPr>
        <p:spPr bwMode="auto">
          <a:xfrm>
            <a:off x="565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sz="4400" i="1" kern="0" dirty="0">
                <a:solidFill>
                  <a:srgbClr val="0000FF"/>
                </a:solidFill>
              </a:rPr>
              <a:t>R</a:t>
            </a:r>
            <a:endParaRPr lang="en-US" altLang="zh-TW" sz="4400" i="1" kern="0" baseline="-25000" dirty="0">
              <a:solidFill>
                <a:srgbClr val="0000FF"/>
              </a:solidFill>
            </a:endParaRPr>
          </a:p>
        </p:txBody>
      </p:sp>
      <p:sp>
        <p:nvSpPr>
          <p:cNvPr id="7" name="內容版面配置區 1"/>
          <p:cNvSpPr txBox="1">
            <a:spLocks/>
          </p:cNvSpPr>
          <p:nvPr/>
        </p:nvSpPr>
        <p:spPr bwMode="auto">
          <a:xfrm>
            <a:off x="565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sz="4400" i="1" kern="0" dirty="0">
                <a:solidFill>
                  <a:srgbClr val="0000FF"/>
                </a:solidFill>
              </a:rPr>
              <a:t>G</a:t>
            </a:r>
            <a:endParaRPr lang="en-US" altLang="zh-TW" sz="4400" i="1" kern="0" baseline="-250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99488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hangingPunct="1">
              <a:spcBef>
                <a:spcPts val="600"/>
              </a:spcBef>
              <a:buClr>
                <a:srgbClr val="3333CC"/>
              </a:buClr>
              <a:tabLst>
                <a:tab pos="540000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G.E</a:t>
            </a:r>
            <a:endParaRPr lang="en-US" altLang="zh-TW" dirty="0">
              <a:solidFill>
                <a:srgbClr val="000000"/>
              </a:solidFill>
            </a:endParaRPr>
          </a:p>
          <a:p>
            <a:pPr lvl="0" eaLnBrk="1" hangingPunct="1">
              <a:spcBef>
                <a:spcPts val="600"/>
              </a:spcBef>
              <a:buClr>
                <a:srgbClr val="3333CC"/>
              </a:buClr>
              <a:tabLst>
                <a:tab pos="540000" algn="l"/>
              </a:tabLst>
              <a:defRPr/>
            </a:pPr>
            <a:r>
              <a:rPr lang="en-US" altLang="zh-TW" b="1" dirty="0">
                <a:solidFill>
                  <a:srgbClr val="FFFFFF"/>
                </a:solidFill>
              </a:rPr>
              <a:t>	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lvl="0" eaLnBrk="1" hangingPunct="1">
              <a:spcBef>
                <a:spcPts val="600"/>
              </a:spcBef>
              <a:buClr>
                <a:srgbClr val="3333CC"/>
              </a:buClr>
              <a:tabLst>
                <a:tab pos="540000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591416"/>
            <a:ext cx="4680000" cy="2902416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369000"/>
            <a:ext cx="4680000" cy="2853350"/>
          </a:xfrm>
          <a:prstGeom prst="rect">
            <a:avLst/>
          </a:prstGeom>
        </p:spPr>
      </p:pic>
      <p:sp>
        <p:nvSpPr>
          <p:cNvPr id="6" name="內容版面配置區 1"/>
          <p:cNvSpPr txBox="1">
            <a:spLocks/>
          </p:cNvSpPr>
          <p:nvPr/>
        </p:nvSpPr>
        <p:spPr bwMode="auto">
          <a:xfrm>
            <a:off x="565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sz="4400" i="1" kern="0" dirty="0">
                <a:solidFill>
                  <a:srgbClr val="0000FF"/>
                </a:solidFill>
              </a:rPr>
              <a:t>R</a:t>
            </a:r>
            <a:endParaRPr lang="en-US" altLang="zh-TW" sz="4400" i="1" kern="0" baseline="-25000" dirty="0">
              <a:solidFill>
                <a:srgbClr val="0000FF"/>
              </a:solidFill>
            </a:endParaRPr>
          </a:p>
        </p:txBody>
      </p:sp>
      <p:sp>
        <p:nvSpPr>
          <p:cNvPr id="7" name="內容版面配置區 1"/>
          <p:cNvSpPr txBox="1">
            <a:spLocks/>
          </p:cNvSpPr>
          <p:nvPr/>
        </p:nvSpPr>
        <p:spPr bwMode="auto">
          <a:xfrm>
            <a:off x="565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sz="4400" i="1" kern="0" dirty="0">
                <a:solidFill>
                  <a:srgbClr val="0000FF"/>
                </a:solidFill>
              </a:rPr>
              <a:t>G</a:t>
            </a:r>
            <a:endParaRPr lang="en-US" altLang="zh-TW" sz="4400" i="1" kern="0" baseline="-250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3797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hangingPunct="1">
              <a:spcBef>
                <a:spcPts val="600"/>
              </a:spcBef>
              <a:buClr>
                <a:srgbClr val="3333CC"/>
              </a:buClr>
              <a:tabLst>
                <a:tab pos="540000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G.E</a:t>
            </a:r>
            <a:endParaRPr lang="en-US" altLang="zh-TW" dirty="0">
              <a:solidFill>
                <a:srgbClr val="000000"/>
              </a:solidFill>
            </a:endParaRPr>
          </a:p>
          <a:p>
            <a:pPr lvl="0" eaLnBrk="1" hangingPunct="1">
              <a:spcBef>
                <a:spcPts val="600"/>
              </a:spcBef>
              <a:buClr>
                <a:srgbClr val="3333CC"/>
              </a:buClr>
              <a:tabLst>
                <a:tab pos="540000" algn="l"/>
              </a:tabLst>
              <a:defRPr/>
            </a:pPr>
            <a:r>
              <a:rPr lang="en-US" altLang="zh-TW" b="1" dirty="0">
                <a:solidFill>
                  <a:srgbClr val="FFFFFF"/>
                </a:solidFill>
              </a:rPr>
              <a:t>	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lvl="0" eaLnBrk="1" hangingPunct="1">
              <a:spcBef>
                <a:spcPts val="600"/>
              </a:spcBef>
              <a:buClr>
                <a:srgbClr val="3333CC"/>
              </a:buClr>
              <a:tabLst>
                <a:tab pos="540000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69000"/>
            <a:ext cx="4680000" cy="285335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3609000"/>
            <a:ext cx="4680000" cy="2875996"/>
          </a:xfrm>
          <a:prstGeom prst="rect">
            <a:avLst/>
          </a:prstGeom>
        </p:spPr>
      </p:pic>
      <p:sp>
        <p:nvSpPr>
          <p:cNvPr id="6" name="內容版面配置區 1"/>
          <p:cNvSpPr txBox="1">
            <a:spLocks/>
          </p:cNvSpPr>
          <p:nvPr/>
        </p:nvSpPr>
        <p:spPr bwMode="auto">
          <a:xfrm>
            <a:off x="565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sz="4400" i="1" kern="0" dirty="0">
                <a:solidFill>
                  <a:srgbClr val="0000FF"/>
                </a:solidFill>
              </a:rPr>
              <a:t>R</a:t>
            </a:r>
            <a:endParaRPr lang="en-US" altLang="zh-TW" sz="4400" i="1" kern="0" baseline="-25000" dirty="0">
              <a:solidFill>
                <a:srgbClr val="0000FF"/>
              </a:solidFill>
            </a:endParaRPr>
          </a:p>
        </p:txBody>
      </p:sp>
      <p:sp>
        <p:nvSpPr>
          <p:cNvPr id="7" name="內容版面配置區 1"/>
          <p:cNvSpPr txBox="1">
            <a:spLocks/>
          </p:cNvSpPr>
          <p:nvPr/>
        </p:nvSpPr>
        <p:spPr bwMode="auto">
          <a:xfrm>
            <a:off x="565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sz="4400" i="1" kern="0" dirty="0">
                <a:solidFill>
                  <a:srgbClr val="0000FF"/>
                </a:solidFill>
              </a:rPr>
              <a:t>G</a:t>
            </a:r>
            <a:endParaRPr lang="en-US" altLang="zh-TW" sz="4400" i="1" kern="0" baseline="-250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0989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hangingPunct="1">
              <a:spcBef>
                <a:spcPts val="600"/>
              </a:spcBef>
              <a:buClr>
                <a:srgbClr val="3333CC"/>
              </a:buClr>
              <a:tabLst>
                <a:tab pos="540000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G.E</a:t>
            </a:r>
            <a:endParaRPr lang="en-US" altLang="zh-TW" dirty="0">
              <a:solidFill>
                <a:srgbClr val="000000"/>
              </a:solidFill>
            </a:endParaRPr>
          </a:p>
          <a:p>
            <a:pPr lvl="0" eaLnBrk="1" hangingPunct="1">
              <a:spcBef>
                <a:spcPts val="600"/>
              </a:spcBef>
              <a:buClr>
                <a:srgbClr val="3333CC"/>
              </a:buClr>
              <a:tabLst>
                <a:tab pos="540000" algn="l"/>
              </a:tabLst>
              <a:defRPr/>
            </a:pPr>
            <a:r>
              <a:rPr lang="en-US" altLang="zh-TW" b="1" dirty="0">
                <a:solidFill>
                  <a:srgbClr val="FFFFFF"/>
                </a:solidFill>
              </a:rPr>
              <a:t>	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lvl="0" eaLnBrk="1" hangingPunct="1">
              <a:spcBef>
                <a:spcPts val="600"/>
              </a:spcBef>
              <a:buClr>
                <a:srgbClr val="3333CC"/>
              </a:buClr>
              <a:tabLst>
                <a:tab pos="540000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69000"/>
            <a:ext cx="4680000" cy="285335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3609000"/>
            <a:ext cx="4680000" cy="2875996"/>
          </a:xfrm>
          <a:prstGeom prst="rect">
            <a:avLst/>
          </a:prstGeom>
        </p:spPr>
      </p:pic>
      <p:sp>
        <p:nvSpPr>
          <p:cNvPr id="6" name="內容版面配置區 1"/>
          <p:cNvSpPr txBox="1">
            <a:spLocks/>
          </p:cNvSpPr>
          <p:nvPr/>
        </p:nvSpPr>
        <p:spPr bwMode="auto">
          <a:xfrm>
            <a:off x="565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sz="4400" i="1" kern="0" dirty="0">
                <a:solidFill>
                  <a:srgbClr val="0000FF"/>
                </a:solidFill>
              </a:rPr>
              <a:t>R</a:t>
            </a:r>
            <a:endParaRPr lang="en-US" altLang="zh-TW" sz="4400" i="1" kern="0" baseline="-25000" dirty="0">
              <a:solidFill>
                <a:srgbClr val="0000FF"/>
              </a:solidFill>
            </a:endParaRPr>
          </a:p>
        </p:txBody>
      </p:sp>
      <p:sp>
        <p:nvSpPr>
          <p:cNvPr id="7" name="內容版面配置區 1"/>
          <p:cNvSpPr txBox="1">
            <a:spLocks/>
          </p:cNvSpPr>
          <p:nvPr/>
        </p:nvSpPr>
        <p:spPr bwMode="auto">
          <a:xfrm>
            <a:off x="565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sz="4400" i="1" kern="0" dirty="0">
                <a:solidFill>
                  <a:srgbClr val="0000FF"/>
                </a:solidFill>
              </a:rPr>
              <a:t>G</a:t>
            </a:r>
            <a:endParaRPr lang="en-US" altLang="zh-TW" sz="4400" i="1" kern="0" baseline="-250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61045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hangingPunct="1">
              <a:spcBef>
                <a:spcPts val="600"/>
              </a:spcBef>
              <a:buClr>
                <a:srgbClr val="3333CC"/>
              </a:buClr>
              <a:tabLst>
                <a:tab pos="540000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G.E</a:t>
            </a:r>
            <a:endParaRPr lang="en-US" altLang="zh-TW" dirty="0">
              <a:solidFill>
                <a:srgbClr val="000000"/>
              </a:solidFill>
            </a:endParaRPr>
          </a:p>
          <a:p>
            <a:pPr lvl="0" eaLnBrk="1" hangingPunct="1">
              <a:spcBef>
                <a:spcPts val="600"/>
              </a:spcBef>
              <a:buClr>
                <a:srgbClr val="3333CC"/>
              </a:buClr>
              <a:tabLst>
                <a:tab pos="540000" algn="l"/>
              </a:tabLst>
              <a:defRPr/>
            </a:pPr>
            <a:r>
              <a:rPr lang="en-US" altLang="zh-TW" b="1" dirty="0">
                <a:solidFill>
                  <a:srgbClr val="FFFFFF"/>
                </a:solidFill>
              </a:rPr>
              <a:t>	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lvl="0" eaLnBrk="1" hangingPunct="1">
              <a:spcBef>
                <a:spcPts val="600"/>
              </a:spcBef>
              <a:buClr>
                <a:srgbClr val="3333CC"/>
              </a:buClr>
              <a:tabLst>
                <a:tab pos="540000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609000"/>
            <a:ext cx="4680000" cy="2875996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369000"/>
            <a:ext cx="4680000" cy="2853350"/>
          </a:xfrm>
          <a:prstGeom prst="rect">
            <a:avLst/>
          </a:prstGeom>
        </p:spPr>
      </p:pic>
      <p:sp>
        <p:nvSpPr>
          <p:cNvPr id="6" name="內容版面配置區 1"/>
          <p:cNvSpPr txBox="1">
            <a:spLocks/>
          </p:cNvSpPr>
          <p:nvPr/>
        </p:nvSpPr>
        <p:spPr bwMode="auto">
          <a:xfrm>
            <a:off x="565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sz="4400" i="1" kern="0" dirty="0">
                <a:solidFill>
                  <a:srgbClr val="0000FF"/>
                </a:solidFill>
              </a:rPr>
              <a:t>R</a:t>
            </a:r>
            <a:endParaRPr lang="en-US" altLang="zh-TW" sz="4400" i="1" kern="0" baseline="-25000" dirty="0">
              <a:solidFill>
                <a:srgbClr val="0000FF"/>
              </a:solidFill>
            </a:endParaRPr>
          </a:p>
        </p:txBody>
      </p:sp>
      <p:sp>
        <p:nvSpPr>
          <p:cNvPr id="7" name="內容版面配置區 1"/>
          <p:cNvSpPr txBox="1">
            <a:spLocks/>
          </p:cNvSpPr>
          <p:nvPr/>
        </p:nvSpPr>
        <p:spPr bwMode="auto">
          <a:xfrm>
            <a:off x="565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sz="4400" i="1" kern="0" dirty="0">
                <a:solidFill>
                  <a:srgbClr val="0000FF"/>
                </a:solidFill>
              </a:rPr>
              <a:t>G</a:t>
            </a:r>
            <a:endParaRPr lang="en-US" altLang="zh-TW" sz="4400" i="1" kern="0" baseline="-250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58343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hangingPunct="1">
              <a:spcBef>
                <a:spcPts val="600"/>
              </a:spcBef>
              <a:buClr>
                <a:srgbClr val="3333CC"/>
              </a:buClr>
              <a:tabLst>
                <a:tab pos="540000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G.E</a:t>
            </a:r>
            <a:endParaRPr lang="en-US" altLang="zh-TW" dirty="0">
              <a:solidFill>
                <a:srgbClr val="000000"/>
              </a:solidFill>
            </a:endParaRPr>
          </a:p>
          <a:p>
            <a:pPr lvl="0" eaLnBrk="1" hangingPunct="1">
              <a:spcBef>
                <a:spcPts val="600"/>
              </a:spcBef>
              <a:buClr>
                <a:srgbClr val="3333CC"/>
              </a:buClr>
              <a:tabLst>
                <a:tab pos="540000" algn="l"/>
              </a:tabLst>
              <a:defRPr/>
            </a:pPr>
            <a:r>
              <a:rPr lang="en-US" altLang="zh-TW" b="1" dirty="0">
                <a:solidFill>
                  <a:srgbClr val="FFFFFF"/>
                </a:solidFill>
              </a:rPr>
              <a:t>	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lvl="0" eaLnBrk="1" hangingPunct="1">
              <a:spcBef>
                <a:spcPts val="600"/>
              </a:spcBef>
              <a:buClr>
                <a:srgbClr val="3333CC"/>
              </a:buClr>
              <a:tabLst>
                <a:tab pos="540000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69000"/>
            <a:ext cx="4680000" cy="285335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3609000"/>
            <a:ext cx="4680000" cy="2875996"/>
          </a:xfrm>
          <a:prstGeom prst="rect">
            <a:avLst/>
          </a:prstGeom>
        </p:spPr>
      </p:pic>
      <p:sp>
        <p:nvSpPr>
          <p:cNvPr id="6" name="內容版面配置區 1"/>
          <p:cNvSpPr txBox="1">
            <a:spLocks/>
          </p:cNvSpPr>
          <p:nvPr/>
        </p:nvSpPr>
        <p:spPr bwMode="auto">
          <a:xfrm>
            <a:off x="565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sz="4400" i="1" kern="0" dirty="0">
                <a:solidFill>
                  <a:srgbClr val="0000FF"/>
                </a:solidFill>
              </a:rPr>
              <a:t>R</a:t>
            </a:r>
            <a:endParaRPr lang="en-US" altLang="zh-TW" sz="4400" i="1" kern="0" baseline="-25000" dirty="0">
              <a:solidFill>
                <a:srgbClr val="0000FF"/>
              </a:solidFill>
            </a:endParaRPr>
          </a:p>
        </p:txBody>
      </p:sp>
      <p:sp>
        <p:nvSpPr>
          <p:cNvPr id="7" name="內容版面配置區 1"/>
          <p:cNvSpPr txBox="1">
            <a:spLocks/>
          </p:cNvSpPr>
          <p:nvPr/>
        </p:nvSpPr>
        <p:spPr bwMode="auto">
          <a:xfrm>
            <a:off x="565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sz="4400" i="1" kern="0" dirty="0">
                <a:solidFill>
                  <a:srgbClr val="0000FF"/>
                </a:solidFill>
              </a:rPr>
              <a:t>G</a:t>
            </a:r>
            <a:endParaRPr lang="en-US" altLang="zh-TW" sz="4400" i="1" kern="0" baseline="-250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3104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hangingPunct="1">
              <a:spcBef>
                <a:spcPts val="600"/>
              </a:spcBef>
              <a:buClr>
                <a:srgbClr val="3333CC"/>
              </a:buClr>
              <a:tabLst>
                <a:tab pos="540000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G.E</a:t>
            </a:r>
            <a:endParaRPr lang="en-US" altLang="zh-TW" dirty="0">
              <a:solidFill>
                <a:srgbClr val="000000"/>
              </a:solidFill>
            </a:endParaRPr>
          </a:p>
          <a:p>
            <a:pPr lvl="0" eaLnBrk="1" hangingPunct="1">
              <a:spcBef>
                <a:spcPts val="600"/>
              </a:spcBef>
              <a:buClr>
                <a:srgbClr val="3333CC"/>
              </a:buClr>
              <a:tabLst>
                <a:tab pos="540000" algn="l"/>
              </a:tabLst>
              <a:defRPr/>
            </a:pPr>
            <a:r>
              <a:rPr lang="en-US" altLang="zh-TW" b="1" dirty="0">
                <a:solidFill>
                  <a:srgbClr val="FFFFFF"/>
                </a:solidFill>
              </a:rPr>
              <a:t>	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lvl="0" eaLnBrk="1" hangingPunct="1">
              <a:spcBef>
                <a:spcPts val="600"/>
              </a:spcBef>
              <a:buClr>
                <a:srgbClr val="3333CC"/>
              </a:buClr>
              <a:tabLst>
                <a:tab pos="540000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69000"/>
            <a:ext cx="4680000" cy="285335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3609000"/>
            <a:ext cx="4680000" cy="2875996"/>
          </a:xfrm>
          <a:prstGeom prst="rect">
            <a:avLst/>
          </a:prstGeom>
        </p:spPr>
      </p:pic>
      <p:sp>
        <p:nvSpPr>
          <p:cNvPr id="6" name="內容版面配置區 1"/>
          <p:cNvSpPr txBox="1">
            <a:spLocks/>
          </p:cNvSpPr>
          <p:nvPr/>
        </p:nvSpPr>
        <p:spPr bwMode="auto">
          <a:xfrm>
            <a:off x="565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sz="4400" i="1" kern="0" dirty="0">
                <a:solidFill>
                  <a:srgbClr val="0000FF"/>
                </a:solidFill>
              </a:rPr>
              <a:t>R</a:t>
            </a:r>
            <a:endParaRPr lang="en-US" altLang="zh-TW" sz="4400" i="1" kern="0" baseline="-25000" dirty="0">
              <a:solidFill>
                <a:srgbClr val="0000FF"/>
              </a:solidFill>
            </a:endParaRPr>
          </a:p>
        </p:txBody>
      </p:sp>
      <p:sp>
        <p:nvSpPr>
          <p:cNvPr id="7" name="內容版面配置區 1"/>
          <p:cNvSpPr txBox="1">
            <a:spLocks/>
          </p:cNvSpPr>
          <p:nvPr/>
        </p:nvSpPr>
        <p:spPr bwMode="auto">
          <a:xfrm>
            <a:off x="565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sz="4400" i="1" kern="0" dirty="0">
                <a:solidFill>
                  <a:srgbClr val="0000FF"/>
                </a:solidFill>
              </a:rPr>
              <a:t>G</a:t>
            </a:r>
            <a:endParaRPr lang="en-US" altLang="zh-TW" sz="4400" i="1" kern="0" baseline="-250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73932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hangingPunct="1">
              <a:spcBef>
                <a:spcPts val="600"/>
              </a:spcBef>
              <a:buClr>
                <a:srgbClr val="3333CC"/>
              </a:buClr>
              <a:tabLst>
                <a:tab pos="540000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G.E</a:t>
            </a:r>
            <a:endParaRPr lang="en-US" altLang="zh-TW" dirty="0">
              <a:solidFill>
                <a:srgbClr val="000000"/>
              </a:solidFill>
            </a:endParaRPr>
          </a:p>
          <a:p>
            <a:pPr lvl="0" eaLnBrk="1" hangingPunct="1">
              <a:spcBef>
                <a:spcPts val="600"/>
              </a:spcBef>
              <a:buClr>
                <a:srgbClr val="3333CC"/>
              </a:buClr>
              <a:tabLst>
                <a:tab pos="540000" algn="l"/>
              </a:tabLst>
              <a:defRPr/>
            </a:pPr>
            <a:r>
              <a:rPr lang="en-US" altLang="zh-TW" b="1" dirty="0">
                <a:solidFill>
                  <a:srgbClr val="FFFFFF"/>
                </a:solidFill>
              </a:rPr>
              <a:t>	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lvl="0" eaLnBrk="1" hangingPunct="1">
              <a:spcBef>
                <a:spcPts val="600"/>
              </a:spcBef>
              <a:buClr>
                <a:srgbClr val="3333CC"/>
              </a:buClr>
              <a:tabLst>
                <a:tab pos="540000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609000"/>
            <a:ext cx="4680000" cy="2875996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369000"/>
            <a:ext cx="4680000" cy="2853350"/>
          </a:xfrm>
          <a:prstGeom prst="rect">
            <a:avLst/>
          </a:prstGeom>
        </p:spPr>
      </p:pic>
      <p:sp>
        <p:nvSpPr>
          <p:cNvPr id="6" name="內容版面配置區 1"/>
          <p:cNvSpPr txBox="1">
            <a:spLocks/>
          </p:cNvSpPr>
          <p:nvPr/>
        </p:nvSpPr>
        <p:spPr bwMode="auto">
          <a:xfrm>
            <a:off x="565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sz="4400" i="1" kern="0" dirty="0">
                <a:solidFill>
                  <a:srgbClr val="0000FF"/>
                </a:solidFill>
              </a:rPr>
              <a:t>R</a:t>
            </a:r>
            <a:endParaRPr lang="en-US" altLang="zh-TW" sz="4400" i="1" kern="0" baseline="-25000" dirty="0">
              <a:solidFill>
                <a:srgbClr val="0000FF"/>
              </a:solidFill>
            </a:endParaRPr>
          </a:p>
        </p:txBody>
      </p:sp>
      <p:sp>
        <p:nvSpPr>
          <p:cNvPr id="7" name="內容版面配置區 1"/>
          <p:cNvSpPr txBox="1">
            <a:spLocks/>
          </p:cNvSpPr>
          <p:nvPr/>
        </p:nvSpPr>
        <p:spPr bwMode="auto">
          <a:xfrm>
            <a:off x="565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sz="4400" i="1" kern="0" dirty="0">
                <a:solidFill>
                  <a:srgbClr val="0000FF"/>
                </a:solidFill>
              </a:rPr>
              <a:t>G</a:t>
            </a:r>
            <a:endParaRPr lang="en-US" altLang="zh-TW" sz="4400" i="1" kern="0" baseline="-250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74058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hangingPunct="1">
              <a:spcBef>
                <a:spcPts val="600"/>
              </a:spcBef>
              <a:buClr>
                <a:srgbClr val="3333CC"/>
              </a:buClr>
              <a:tabLst>
                <a:tab pos="540000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G.E</a:t>
            </a:r>
            <a:endParaRPr lang="en-US" altLang="zh-TW" dirty="0">
              <a:solidFill>
                <a:srgbClr val="000000"/>
              </a:solidFill>
            </a:endParaRPr>
          </a:p>
          <a:p>
            <a:pPr lvl="0" eaLnBrk="1" hangingPunct="1">
              <a:spcBef>
                <a:spcPts val="600"/>
              </a:spcBef>
              <a:buClr>
                <a:srgbClr val="3333CC"/>
              </a:buClr>
              <a:tabLst>
                <a:tab pos="540000" algn="l"/>
              </a:tabLst>
              <a:defRPr/>
            </a:pPr>
            <a:r>
              <a:rPr lang="en-US" altLang="zh-TW" b="1" dirty="0">
                <a:solidFill>
                  <a:srgbClr val="FFFFFF"/>
                </a:solidFill>
              </a:rPr>
              <a:t>	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lvl="0" eaLnBrk="1" hangingPunct="1">
              <a:spcBef>
                <a:spcPts val="600"/>
              </a:spcBef>
              <a:buClr>
                <a:srgbClr val="3333CC"/>
              </a:buClr>
              <a:tabLst>
                <a:tab pos="540000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69000"/>
            <a:ext cx="4680000" cy="285335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3609000"/>
            <a:ext cx="4680000" cy="2875996"/>
          </a:xfrm>
          <a:prstGeom prst="rect">
            <a:avLst/>
          </a:prstGeom>
        </p:spPr>
      </p:pic>
      <p:sp>
        <p:nvSpPr>
          <p:cNvPr id="6" name="內容版面配置區 1"/>
          <p:cNvSpPr txBox="1">
            <a:spLocks/>
          </p:cNvSpPr>
          <p:nvPr/>
        </p:nvSpPr>
        <p:spPr bwMode="auto">
          <a:xfrm>
            <a:off x="565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sz="4400" i="1" kern="0" dirty="0">
                <a:solidFill>
                  <a:srgbClr val="0000FF"/>
                </a:solidFill>
              </a:rPr>
              <a:t>R</a:t>
            </a:r>
            <a:endParaRPr lang="en-US" altLang="zh-TW" sz="4400" i="1" kern="0" baseline="-25000" dirty="0">
              <a:solidFill>
                <a:srgbClr val="0000FF"/>
              </a:solidFill>
            </a:endParaRPr>
          </a:p>
        </p:txBody>
      </p:sp>
      <p:sp>
        <p:nvSpPr>
          <p:cNvPr id="7" name="內容版面配置區 1"/>
          <p:cNvSpPr txBox="1">
            <a:spLocks/>
          </p:cNvSpPr>
          <p:nvPr/>
        </p:nvSpPr>
        <p:spPr bwMode="auto">
          <a:xfrm>
            <a:off x="565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sz="4400" i="1" kern="0" dirty="0">
                <a:solidFill>
                  <a:srgbClr val="0000FF"/>
                </a:solidFill>
              </a:rPr>
              <a:t>G</a:t>
            </a:r>
            <a:endParaRPr lang="en-US" altLang="zh-TW" sz="4400" i="1" kern="0" baseline="-250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07677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Cuts of flow networks</a:t>
            </a:r>
            <a:endParaRPr lang="zh-TW" alt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6"/>
          <p:cNvSpPr>
            <a:spLocks noChangeShapeType="1"/>
          </p:cNvSpPr>
          <p:nvPr/>
        </p:nvSpPr>
        <p:spPr bwMode="auto">
          <a:xfrm flipH="1">
            <a:off x="4572000" y="1989000"/>
            <a:ext cx="0" cy="3600000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412000" y="28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72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16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2412000" y="41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36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6192000" y="28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20</a:t>
            </a: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43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3600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6192000" y="41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572000" y="36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21</a:t>
            </a:r>
          </a:p>
        </p:txBody>
      </p:sp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349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565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13" name="橢圓 12"/>
          <p:cNvSpPr/>
          <p:nvPr/>
        </p:nvSpPr>
        <p:spPr>
          <a:xfrm>
            <a:off x="3312000" y="252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1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3312000" y="468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2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5472000" y="252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3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6" name="橢圓 15"/>
          <p:cNvSpPr/>
          <p:nvPr/>
        </p:nvSpPr>
        <p:spPr>
          <a:xfrm>
            <a:off x="5472000" y="468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4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7" name="橢圓 16"/>
          <p:cNvSpPr/>
          <p:nvPr/>
        </p:nvSpPr>
        <p:spPr>
          <a:xfrm>
            <a:off x="2232000" y="3609000"/>
            <a:ext cx="360000" cy="360000"/>
          </a:xfrm>
          <a:prstGeom prst="ellipse">
            <a:avLst/>
          </a:prstGeom>
          <a:solidFill>
            <a:srgbClr val="FFFF0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s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18" name="直線單箭頭接點 17"/>
          <p:cNvCxnSpPr>
            <a:stCxn id="17" idx="7"/>
            <a:endCxn id="13" idx="3"/>
          </p:cNvCxnSpPr>
          <p:nvPr/>
        </p:nvCxnSpPr>
        <p:spPr>
          <a:xfrm flipV="1">
            <a:off x="2539279" y="283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stCxn id="13" idx="6"/>
            <a:endCxn id="15" idx="2"/>
          </p:cNvCxnSpPr>
          <p:nvPr/>
        </p:nvCxnSpPr>
        <p:spPr>
          <a:xfrm>
            <a:off x="3672000" y="270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15" idx="3"/>
            <a:endCxn id="14" idx="7"/>
          </p:cNvCxnSpPr>
          <p:nvPr/>
        </p:nvCxnSpPr>
        <p:spPr>
          <a:xfrm flipH="1">
            <a:off x="3619279" y="2836279"/>
            <a:ext cx="1905442" cy="190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14" idx="6"/>
            <a:endCxn id="16" idx="2"/>
          </p:cNvCxnSpPr>
          <p:nvPr/>
        </p:nvCxnSpPr>
        <p:spPr>
          <a:xfrm>
            <a:off x="3672000" y="486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14" idx="0"/>
            <a:endCxn id="13" idx="4"/>
          </p:cNvCxnSpPr>
          <p:nvPr/>
        </p:nvCxnSpPr>
        <p:spPr>
          <a:xfrm flipV="1">
            <a:off x="3492000" y="288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stCxn id="15" idx="5"/>
            <a:endCxn id="26" idx="1"/>
          </p:cNvCxnSpPr>
          <p:nvPr/>
        </p:nvCxnSpPr>
        <p:spPr>
          <a:xfrm>
            <a:off x="5779279" y="283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>
            <a:stCxn id="16" idx="0"/>
            <a:endCxn id="15" idx="4"/>
          </p:cNvCxnSpPr>
          <p:nvPr/>
        </p:nvCxnSpPr>
        <p:spPr>
          <a:xfrm flipV="1">
            <a:off x="5652000" y="288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stCxn id="17" idx="5"/>
            <a:endCxn id="14" idx="1"/>
          </p:cNvCxnSpPr>
          <p:nvPr/>
        </p:nvCxnSpPr>
        <p:spPr>
          <a:xfrm>
            <a:off x="2539279" y="391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橢圓 25"/>
          <p:cNvSpPr/>
          <p:nvPr/>
        </p:nvSpPr>
        <p:spPr>
          <a:xfrm>
            <a:off x="6552000" y="3609000"/>
            <a:ext cx="360000" cy="360000"/>
          </a:xfrm>
          <a:prstGeom prst="ellipse">
            <a:avLst/>
          </a:prstGeom>
          <a:solidFill>
            <a:srgbClr val="92D05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t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27" name="直線單箭頭接點 26"/>
          <p:cNvCxnSpPr>
            <a:stCxn id="16" idx="7"/>
            <a:endCxn id="26" idx="3"/>
          </p:cNvCxnSpPr>
          <p:nvPr/>
        </p:nvCxnSpPr>
        <p:spPr>
          <a:xfrm flipV="1">
            <a:off x="5779279" y="391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63880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2000" y="189000"/>
            <a:ext cx="8640000" cy="1080000"/>
          </a:xfrm>
        </p:spPr>
        <p:txBody>
          <a:bodyPr/>
          <a:lstStyle/>
          <a:p>
            <a:r>
              <a:rPr lang="en-US" altLang="zh-TW" sz="4400" dirty="0"/>
              <a:t>Partition</a:t>
            </a:r>
            <a:endParaRPr lang="zh-TW" altLang="en-US" sz="4400" dirty="0"/>
          </a:p>
        </p:txBody>
      </p:sp>
      <p:sp>
        <p:nvSpPr>
          <p:cNvPr id="63490" name="Rectangle 3"/>
          <p:cNvSpPr>
            <a:spLocks noGrp="1" noChangeArrowheads="1"/>
          </p:cNvSpPr>
          <p:nvPr>
            <p:ph idx="1"/>
          </p:nvPr>
        </p:nvSpPr>
        <p:spPr>
          <a:xfrm>
            <a:off x="972000" y="1269000"/>
            <a:ext cx="7200000" cy="2340000"/>
          </a:xfrm>
        </p:spPr>
        <p:txBody>
          <a:bodyPr/>
          <a:lstStyle/>
          <a:p>
            <a:pPr marL="357188" indent="-357188" eaLnBrk="1" hangingPunct="1">
              <a:spcBef>
                <a:spcPct val="50000"/>
              </a:spcBef>
              <a:buClr>
                <a:schemeClr val="tx1"/>
              </a:buClr>
              <a:buFontTx/>
              <a:buNone/>
            </a:pPr>
            <a:r>
              <a:rPr lang="en-US" altLang="zh-TW" dirty="0"/>
              <a:t>(</a:t>
            </a:r>
            <a:r>
              <a:rPr lang="en-US" altLang="zh-TW" i="1" dirty="0"/>
              <a:t>S</a:t>
            </a:r>
            <a:r>
              <a:rPr lang="en-US" altLang="zh-TW" dirty="0"/>
              <a:t>, </a:t>
            </a:r>
            <a:r>
              <a:rPr lang="en-US" altLang="zh-TW" i="1" spc="300" dirty="0"/>
              <a:t>T</a:t>
            </a:r>
            <a:r>
              <a:rPr lang="en-US" altLang="zh-TW" dirty="0"/>
              <a:t>) is a </a:t>
            </a:r>
            <a:r>
              <a:rPr lang="en-US" altLang="zh-TW" i="1" dirty="0">
                <a:solidFill>
                  <a:srgbClr val="0000FF"/>
                </a:solidFill>
              </a:rPr>
              <a:t>partition</a:t>
            </a:r>
            <a:r>
              <a:rPr lang="en-US" altLang="zh-TW" dirty="0"/>
              <a:t> of </a:t>
            </a:r>
            <a:r>
              <a:rPr lang="en-US" altLang="zh-TW" i="1" dirty="0"/>
              <a:t>V</a:t>
            </a:r>
            <a:r>
              <a:rPr lang="en-US" altLang="zh-TW" dirty="0"/>
              <a:t> if and only if</a:t>
            </a:r>
          </a:p>
          <a:p>
            <a:pPr marL="357188" indent="-357188" eaLnBrk="1" hangingPunct="1">
              <a:spcBef>
                <a:spcPct val="50000"/>
              </a:spcBef>
              <a:buClr>
                <a:schemeClr val="tx1"/>
              </a:buClr>
              <a:buFontTx/>
              <a:buNone/>
            </a:pPr>
            <a:r>
              <a:rPr lang="en-US" altLang="zh-TW" i="1" dirty="0"/>
              <a:t>S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sym typeface="MT Extra" pitchFamily="18" charset="2"/>
              </a:rPr>
              <a:t>⋂</a:t>
            </a:r>
            <a:r>
              <a:rPr lang="en-US" altLang="zh-TW" dirty="0">
                <a:sym typeface="MT Extra" pitchFamily="18" charset="2"/>
              </a:rPr>
              <a:t> </a:t>
            </a:r>
            <a:r>
              <a:rPr lang="en-US" altLang="zh-TW" i="1" dirty="0">
                <a:sym typeface="MT Extra" pitchFamily="18" charset="2"/>
              </a:rPr>
              <a:t>T</a:t>
            </a:r>
            <a:r>
              <a:rPr lang="en-US" altLang="zh-TW" dirty="0">
                <a:sym typeface="MT Extra" pitchFamily="18" charset="2"/>
              </a:rPr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sym typeface="MT Extra" pitchFamily="18" charset="2"/>
              </a:rPr>
              <a:t>=</a:t>
            </a:r>
            <a:r>
              <a:rPr lang="en-US" altLang="zh-TW" dirty="0">
                <a:sym typeface="MT Extra" pitchFamily="18" charset="2"/>
              </a:rPr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sym typeface="MT Extra" pitchFamily="18" charset="2"/>
              </a:rPr>
              <a:t>∅</a:t>
            </a:r>
            <a:r>
              <a:rPr lang="en-US" altLang="zh-TW" dirty="0">
                <a:sym typeface="Symbol" pitchFamily="18" charset="2"/>
              </a:rPr>
              <a:t>, and </a:t>
            </a:r>
            <a:r>
              <a:rPr lang="en-US" altLang="zh-TW" i="1" dirty="0"/>
              <a:t>S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sym typeface="MT Extra" pitchFamily="18" charset="2"/>
              </a:rPr>
              <a:t>⋃</a:t>
            </a:r>
            <a:r>
              <a:rPr lang="en-US" altLang="zh-TW" dirty="0">
                <a:sym typeface="MT Extra" pitchFamily="18" charset="2"/>
              </a:rPr>
              <a:t> </a:t>
            </a:r>
            <a:r>
              <a:rPr lang="en-US" altLang="zh-TW" i="1" dirty="0">
                <a:sym typeface="MT Extra" pitchFamily="18" charset="2"/>
              </a:rPr>
              <a:t>T</a:t>
            </a:r>
            <a:r>
              <a:rPr lang="en-US" altLang="zh-TW" dirty="0">
                <a:sym typeface="MT Extra" pitchFamily="18" charset="2"/>
              </a:rPr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sym typeface="MT Extra" pitchFamily="18" charset="2"/>
              </a:rPr>
              <a:t>=</a:t>
            </a:r>
            <a:r>
              <a:rPr lang="en-US" altLang="zh-TW" dirty="0">
                <a:sym typeface="MT Extra" pitchFamily="18" charset="2"/>
              </a:rPr>
              <a:t> </a:t>
            </a:r>
            <a:r>
              <a:rPr lang="en-US" altLang="zh-TW" i="1" dirty="0">
                <a:sym typeface="Symbol" pitchFamily="18" charset="2"/>
              </a:rPr>
              <a:t>V</a:t>
            </a:r>
            <a:r>
              <a:rPr lang="en-US" altLang="zh-TW" dirty="0">
                <a:sym typeface="Symbol" pitchFamily="18" charset="2"/>
              </a:rPr>
              <a:t>.</a:t>
            </a:r>
            <a:endParaRPr lang="en-US" altLang="zh-TW" dirty="0"/>
          </a:p>
          <a:p>
            <a:pPr marL="357188" indent="-357188" eaLnBrk="1" hangingPunct="1">
              <a:spcBef>
                <a:spcPct val="50000"/>
              </a:spcBef>
              <a:buClr>
                <a:schemeClr val="tx1"/>
              </a:buClr>
              <a:buFontTx/>
              <a:buNone/>
            </a:pPr>
            <a:endParaRPr lang="en-US" altLang="zh-TW" sz="1200" dirty="0"/>
          </a:p>
          <a:p>
            <a:pPr marL="357188" indent="-357188" eaLnBrk="1" hangingPunct="1">
              <a:spcBef>
                <a:spcPct val="50000"/>
              </a:spcBef>
              <a:buClr>
                <a:schemeClr val="tx1"/>
              </a:buClr>
              <a:buFontTx/>
              <a:buNone/>
            </a:pPr>
            <a:r>
              <a:rPr lang="en-US" altLang="zh-TW" dirty="0"/>
              <a:t>Let </a:t>
            </a:r>
            <a:r>
              <a:rPr lang="en-US" altLang="zh-TW" i="1" dirty="0"/>
              <a:t>V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/>
              <a:t> {</a:t>
            </a:r>
            <a:r>
              <a:rPr lang="en-US" altLang="zh-TW" i="1" dirty="0"/>
              <a:t>s</a:t>
            </a:r>
            <a:r>
              <a:rPr lang="en-US" altLang="zh-TW" dirty="0"/>
              <a:t>, </a:t>
            </a:r>
            <a:r>
              <a:rPr lang="en-US" altLang="zh-TW" i="1" dirty="0" err="1"/>
              <a:t>v</a:t>
            </a:r>
            <a:r>
              <a:rPr lang="en-US" altLang="zh-TW" baseline="-25000" dirty="0" err="1"/>
              <a:t>1</a:t>
            </a:r>
            <a:r>
              <a:rPr lang="en-US" altLang="zh-TW" dirty="0"/>
              <a:t>, </a:t>
            </a:r>
            <a:r>
              <a:rPr lang="en-US" altLang="zh-TW" i="1" dirty="0" err="1"/>
              <a:t>v</a:t>
            </a:r>
            <a:r>
              <a:rPr lang="en-US" altLang="zh-TW" baseline="-25000" dirty="0" err="1"/>
              <a:t>2</a:t>
            </a:r>
            <a:r>
              <a:rPr lang="en-US" altLang="zh-TW" dirty="0"/>
              <a:t>, </a:t>
            </a:r>
            <a:r>
              <a:rPr lang="en-US" altLang="zh-TW" i="1" dirty="0" err="1"/>
              <a:t>v</a:t>
            </a:r>
            <a:r>
              <a:rPr lang="en-US" altLang="zh-TW" baseline="-25000" dirty="0" err="1"/>
              <a:t>3</a:t>
            </a:r>
            <a:r>
              <a:rPr lang="en-US" altLang="zh-TW" dirty="0"/>
              <a:t>, </a:t>
            </a:r>
            <a:r>
              <a:rPr lang="en-US" altLang="zh-TW" i="1" dirty="0" err="1"/>
              <a:t>v</a:t>
            </a:r>
            <a:r>
              <a:rPr lang="en-US" altLang="zh-TW" baseline="-25000" dirty="0" err="1"/>
              <a:t>4</a:t>
            </a:r>
            <a:r>
              <a:rPr lang="en-US" altLang="zh-TW" dirty="0"/>
              <a:t>, </a:t>
            </a:r>
            <a:r>
              <a:rPr lang="en-US" altLang="zh-TW" i="1" dirty="0"/>
              <a:t>t</a:t>
            </a:r>
            <a:r>
              <a:rPr lang="en-US" altLang="zh-TW" dirty="0"/>
              <a:t>}.</a:t>
            </a:r>
          </a:p>
          <a:p>
            <a:pPr marL="357188" indent="-357188" eaLnBrk="1" hangingPunct="1">
              <a:spcBef>
                <a:spcPct val="50000"/>
              </a:spcBef>
              <a:buClr>
                <a:schemeClr val="tx1"/>
              </a:buClr>
              <a:buFontTx/>
              <a:buNone/>
            </a:pPr>
            <a:r>
              <a:rPr lang="en-US" altLang="zh-TW" dirty="0"/>
              <a:t>Then ({</a:t>
            </a:r>
            <a:r>
              <a:rPr lang="en-US" altLang="zh-TW" i="1" dirty="0"/>
              <a:t>s</a:t>
            </a:r>
            <a:r>
              <a:rPr lang="en-US" altLang="zh-TW" dirty="0"/>
              <a:t>, </a:t>
            </a:r>
            <a:r>
              <a:rPr lang="en-US" altLang="zh-TW" i="1" dirty="0" err="1"/>
              <a:t>v</a:t>
            </a:r>
            <a:r>
              <a:rPr lang="en-US" altLang="zh-TW" baseline="-25000" dirty="0" err="1"/>
              <a:t>1</a:t>
            </a:r>
            <a:r>
              <a:rPr lang="en-US" altLang="zh-TW" dirty="0"/>
              <a:t>, </a:t>
            </a:r>
            <a:r>
              <a:rPr lang="en-US" altLang="zh-TW" i="1" dirty="0" err="1"/>
              <a:t>v</a:t>
            </a:r>
            <a:r>
              <a:rPr lang="en-US" altLang="zh-TW" baseline="-25000" dirty="0" err="1"/>
              <a:t>2</a:t>
            </a:r>
            <a:r>
              <a:rPr lang="en-US" altLang="zh-TW" dirty="0"/>
              <a:t>}, {</a:t>
            </a:r>
            <a:r>
              <a:rPr lang="en-US" altLang="zh-TW" i="1" dirty="0" err="1"/>
              <a:t>v</a:t>
            </a:r>
            <a:r>
              <a:rPr lang="en-US" altLang="zh-TW" baseline="-25000" dirty="0" err="1"/>
              <a:t>3</a:t>
            </a:r>
            <a:r>
              <a:rPr lang="en-US" altLang="zh-TW" dirty="0"/>
              <a:t>, </a:t>
            </a:r>
            <a:r>
              <a:rPr lang="en-US" altLang="zh-TW" i="1" dirty="0" err="1"/>
              <a:t>v</a:t>
            </a:r>
            <a:r>
              <a:rPr lang="en-US" altLang="zh-TW" baseline="-25000" dirty="0" err="1"/>
              <a:t>4</a:t>
            </a:r>
            <a:r>
              <a:rPr lang="en-US" altLang="zh-TW" dirty="0"/>
              <a:t>, </a:t>
            </a:r>
            <a:r>
              <a:rPr lang="en-US" altLang="zh-TW" i="1" dirty="0"/>
              <a:t>t</a:t>
            </a:r>
            <a:r>
              <a:rPr lang="en-US" altLang="zh-TW" dirty="0"/>
              <a:t>}) is a partition of </a:t>
            </a:r>
            <a:r>
              <a:rPr lang="en-US" altLang="zh-TW" i="1" dirty="0"/>
              <a:t>V</a:t>
            </a:r>
            <a:r>
              <a:rPr lang="en-US" altLang="zh-TW" dirty="0"/>
              <a:t>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橢圓 2"/>
          <p:cNvSpPr/>
          <p:nvPr/>
        </p:nvSpPr>
        <p:spPr>
          <a:xfrm>
            <a:off x="2052000" y="1989000"/>
            <a:ext cx="1980000" cy="3600000"/>
          </a:xfrm>
          <a:prstGeom prst="ellipse">
            <a:avLst/>
          </a:prstGeom>
          <a:solidFill>
            <a:schemeClr val="accent5">
              <a:tint val="50000"/>
              <a:satMod val="300000"/>
            </a:schemeClr>
          </a:solidFill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橢圓 1"/>
          <p:cNvSpPr/>
          <p:nvPr/>
        </p:nvSpPr>
        <p:spPr>
          <a:xfrm>
            <a:off x="5112000" y="1989000"/>
            <a:ext cx="1980000" cy="3600000"/>
          </a:xfrm>
          <a:prstGeom prst="ellipse">
            <a:avLst/>
          </a:prstGeom>
          <a:solidFill>
            <a:schemeClr val="accent2">
              <a:tint val="50000"/>
              <a:satMod val="300000"/>
            </a:schemeClr>
          </a:solidFill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marL="0" indent="0" eaLnBrk="1" hangingPunct="1">
              <a:spcBef>
                <a:spcPct val="50000"/>
              </a:spcBef>
              <a:buClr>
                <a:schemeClr val="tx1"/>
              </a:buClr>
              <a:buFontTx/>
              <a:buNone/>
            </a:pPr>
            <a:r>
              <a:rPr lang="en-US" altLang="zh-TW" dirty="0"/>
              <a:t>A </a:t>
            </a:r>
            <a:r>
              <a:rPr lang="en-US" altLang="zh-TW" i="1" dirty="0">
                <a:solidFill>
                  <a:srgbClr val="0000FF"/>
                </a:solidFill>
              </a:rPr>
              <a:t>cut</a:t>
            </a:r>
            <a:r>
              <a:rPr lang="en-US" altLang="zh-TW" dirty="0"/>
              <a:t> (</a:t>
            </a:r>
            <a:r>
              <a:rPr lang="en-US" altLang="zh-TW" i="1" dirty="0"/>
              <a:t>S</a:t>
            </a:r>
            <a:r>
              <a:rPr lang="en-US" altLang="zh-TW" dirty="0"/>
              <a:t>, </a:t>
            </a:r>
            <a:r>
              <a:rPr lang="en-US" altLang="zh-TW" i="1" spc="300" dirty="0"/>
              <a:t>T</a:t>
            </a:r>
            <a:r>
              <a:rPr lang="en-US" altLang="zh-TW" dirty="0"/>
              <a:t>) of flow network </a:t>
            </a:r>
            <a:r>
              <a:rPr lang="en-US" altLang="zh-TW" i="1" dirty="0"/>
              <a:t>G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/>
              <a:t> (</a:t>
            </a:r>
            <a:r>
              <a:rPr lang="en-US" altLang="zh-TW" i="1" dirty="0"/>
              <a:t>V</a:t>
            </a:r>
            <a:r>
              <a:rPr lang="en-US" altLang="zh-TW" dirty="0"/>
              <a:t>, </a:t>
            </a:r>
            <a:r>
              <a:rPr lang="en-US" altLang="zh-TW" i="1" spc="300" dirty="0"/>
              <a:t>E</a:t>
            </a:r>
            <a:r>
              <a:rPr lang="en-US" altLang="zh-TW" dirty="0"/>
              <a:t>) is a partition of </a:t>
            </a:r>
            <a:r>
              <a:rPr lang="en-US" altLang="zh-TW" i="1" dirty="0"/>
              <a:t>V</a:t>
            </a:r>
            <a:r>
              <a:rPr lang="en-US" altLang="zh-TW" dirty="0"/>
              <a:t> into </a:t>
            </a:r>
            <a:r>
              <a:rPr lang="en-US" altLang="zh-TW" i="1" dirty="0"/>
              <a:t>S</a:t>
            </a:r>
            <a:r>
              <a:rPr lang="en-US" altLang="zh-TW" dirty="0"/>
              <a:t> and </a:t>
            </a:r>
            <a:r>
              <a:rPr lang="en-US" altLang="zh-TW" i="1" dirty="0"/>
              <a:t>T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/>
              <a:t> </a:t>
            </a:r>
            <a:r>
              <a:rPr lang="en-US" altLang="zh-TW" i="1" dirty="0"/>
              <a:t>V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/>
              <a:t> </a:t>
            </a:r>
            <a:r>
              <a:rPr lang="en-US" altLang="zh-TW" i="1" dirty="0"/>
              <a:t>S</a:t>
            </a:r>
            <a:r>
              <a:rPr lang="en-US" altLang="zh-TW" dirty="0"/>
              <a:t> such that </a:t>
            </a:r>
            <a:r>
              <a:rPr lang="en-US" altLang="zh-TW" i="1" dirty="0"/>
              <a:t>s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ym typeface="Symbol" pitchFamily="18" charset="2"/>
              </a:rPr>
              <a:t> </a:t>
            </a:r>
            <a:r>
              <a:rPr lang="en-US" altLang="zh-TW" i="1" dirty="0">
                <a:sym typeface="Symbol" pitchFamily="18" charset="2"/>
              </a:rPr>
              <a:t>S</a:t>
            </a:r>
            <a:r>
              <a:rPr lang="en-US" altLang="zh-TW" dirty="0"/>
              <a:t> and </a:t>
            </a:r>
            <a:r>
              <a:rPr lang="en-US" altLang="zh-TW" i="1" dirty="0"/>
              <a:t>t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ym typeface="Symbol" pitchFamily="18" charset="2"/>
              </a:rPr>
              <a:t> </a:t>
            </a:r>
            <a:r>
              <a:rPr lang="en-US" altLang="zh-TW" i="1" dirty="0">
                <a:sym typeface="Symbol" pitchFamily="18" charset="2"/>
              </a:rPr>
              <a:t>T</a:t>
            </a:r>
            <a:r>
              <a:rPr lang="en-US" altLang="zh-TW" dirty="0"/>
              <a:t>.</a:t>
            </a:r>
          </a:p>
        </p:txBody>
      </p:sp>
      <p:sp>
        <p:nvSpPr>
          <p:cNvPr id="44036" name="Rectangle 11"/>
          <p:cNvSpPr>
            <a:spLocks noGrp="1" noChangeArrowheads="1"/>
          </p:cNvSpPr>
          <p:nvPr>
            <p:ph sz="half" idx="2"/>
          </p:nvPr>
        </p:nvSpPr>
        <p:spPr>
          <a:xfrm>
            <a:off x="972000" y="5769000"/>
            <a:ext cx="7200000" cy="539724"/>
          </a:xfrm>
        </p:spPr>
        <p:txBody>
          <a:bodyPr/>
          <a:lstStyle/>
          <a:p>
            <a:pPr marL="0" indent="0" algn="ctr" eaLnBrk="1" hangingPunct="1"/>
            <a:r>
              <a:rPr lang="en-US" altLang="zh-TW" dirty="0"/>
              <a:t>({</a:t>
            </a:r>
            <a:r>
              <a:rPr lang="en-US" altLang="zh-TW" i="1" dirty="0"/>
              <a:t>s</a:t>
            </a:r>
            <a:r>
              <a:rPr lang="en-US" altLang="zh-TW" dirty="0"/>
              <a:t>, </a:t>
            </a:r>
            <a:r>
              <a:rPr lang="en-US" altLang="zh-TW" i="1" dirty="0" err="1"/>
              <a:t>v</a:t>
            </a:r>
            <a:r>
              <a:rPr lang="en-US" altLang="zh-TW" baseline="-25000" dirty="0" err="1"/>
              <a:t>1</a:t>
            </a:r>
            <a:r>
              <a:rPr lang="en-US" altLang="zh-TW" dirty="0"/>
              <a:t>, </a:t>
            </a:r>
            <a:r>
              <a:rPr lang="en-US" altLang="zh-TW" i="1" dirty="0" err="1"/>
              <a:t>v</a:t>
            </a:r>
            <a:r>
              <a:rPr lang="en-US" altLang="zh-TW" baseline="-25000" dirty="0" err="1"/>
              <a:t>2</a:t>
            </a:r>
            <a:r>
              <a:rPr lang="en-US" altLang="zh-TW" dirty="0"/>
              <a:t>}, {</a:t>
            </a:r>
            <a:r>
              <a:rPr lang="en-US" altLang="zh-TW" i="1" dirty="0" err="1"/>
              <a:t>v</a:t>
            </a:r>
            <a:r>
              <a:rPr lang="en-US" altLang="zh-TW" baseline="-25000" dirty="0" err="1"/>
              <a:t>3</a:t>
            </a:r>
            <a:r>
              <a:rPr lang="en-US" altLang="zh-TW" dirty="0"/>
              <a:t>, </a:t>
            </a:r>
            <a:r>
              <a:rPr lang="en-US" altLang="zh-TW" i="1" dirty="0" err="1"/>
              <a:t>v</a:t>
            </a:r>
            <a:r>
              <a:rPr lang="en-US" altLang="zh-TW" baseline="-25000" dirty="0" err="1"/>
              <a:t>4</a:t>
            </a:r>
            <a:r>
              <a:rPr lang="en-US" altLang="zh-TW" dirty="0"/>
              <a:t>, </a:t>
            </a:r>
            <a:r>
              <a:rPr lang="en-US" altLang="zh-TW" i="1" dirty="0"/>
              <a:t>t</a:t>
            </a:r>
            <a:r>
              <a:rPr lang="en-US" altLang="zh-TW" dirty="0"/>
              <a:t>}) is a cut of the above flow network.</a:t>
            </a:r>
            <a:endParaRPr lang="zh-TW" altLang="en-US" dirty="0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 flipH="1">
            <a:off x="4572000" y="1989000"/>
            <a:ext cx="0" cy="3600000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412000" y="28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72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16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2412000" y="41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36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6192000" y="28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20</a:t>
            </a: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43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3600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6192000" y="41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4572000" y="36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349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565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16" name="橢圓 15"/>
          <p:cNvSpPr/>
          <p:nvPr/>
        </p:nvSpPr>
        <p:spPr>
          <a:xfrm>
            <a:off x="3312000" y="252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1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7" name="橢圓 16"/>
          <p:cNvSpPr/>
          <p:nvPr/>
        </p:nvSpPr>
        <p:spPr>
          <a:xfrm>
            <a:off x="3312000" y="468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2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8" name="橢圓 17"/>
          <p:cNvSpPr/>
          <p:nvPr/>
        </p:nvSpPr>
        <p:spPr>
          <a:xfrm>
            <a:off x="5472000" y="252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3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5472000" y="468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4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0" name="橢圓 19"/>
          <p:cNvSpPr/>
          <p:nvPr/>
        </p:nvSpPr>
        <p:spPr>
          <a:xfrm>
            <a:off x="2232000" y="3609000"/>
            <a:ext cx="360000" cy="360000"/>
          </a:xfrm>
          <a:prstGeom prst="ellipse">
            <a:avLst/>
          </a:prstGeom>
          <a:solidFill>
            <a:srgbClr val="FFFF0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s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21" name="直線單箭頭接點 20"/>
          <p:cNvCxnSpPr>
            <a:stCxn id="20" idx="7"/>
            <a:endCxn id="16" idx="3"/>
          </p:cNvCxnSpPr>
          <p:nvPr/>
        </p:nvCxnSpPr>
        <p:spPr>
          <a:xfrm flipV="1">
            <a:off x="2539279" y="283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16" idx="6"/>
            <a:endCxn id="18" idx="2"/>
          </p:cNvCxnSpPr>
          <p:nvPr/>
        </p:nvCxnSpPr>
        <p:spPr>
          <a:xfrm>
            <a:off x="3672000" y="270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stCxn id="18" idx="3"/>
            <a:endCxn id="17" idx="7"/>
          </p:cNvCxnSpPr>
          <p:nvPr/>
        </p:nvCxnSpPr>
        <p:spPr>
          <a:xfrm flipH="1">
            <a:off x="3619279" y="2836279"/>
            <a:ext cx="1905442" cy="190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>
            <a:stCxn id="17" idx="6"/>
            <a:endCxn id="19" idx="2"/>
          </p:cNvCxnSpPr>
          <p:nvPr/>
        </p:nvCxnSpPr>
        <p:spPr>
          <a:xfrm>
            <a:off x="3672000" y="486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stCxn id="17" idx="0"/>
            <a:endCxn id="16" idx="4"/>
          </p:cNvCxnSpPr>
          <p:nvPr/>
        </p:nvCxnSpPr>
        <p:spPr>
          <a:xfrm flipV="1">
            <a:off x="3492000" y="288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>
            <a:stCxn id="18" idx="5"/>
            <a:endCxn id="29" idx="1"/>
          </p:cNvCxnSpPr>
          <p:nvPr/>
        </p:nvCxnSpPr>
        <p:spPr>
          <a:xfrm>
            <a:off x="5779279" y="283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stCxn id="19" idx="0"/>
            <a:endCxn id="18" idx="4"/>
          </p:cNvCxnSpPr>
          <p:nvPr/>
        </p:nvCxnSpPr>
        <p:spPr>
          <a:xfrm flipV="1">
            <a:off x="5652000" y="288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>
            <a:stCxn id="20" idx="5"/>
            <a:endCxn id="17" idx="1"/>
          </p:cNvCxnSpPr>
          <p:nvPr/>
        </p:nvCxnSpPr>
        <p:spPr>
          <a:xfrm>
            <a:off x="2539279" y="391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橢圓 28"/>
          <p:cNvSpPr/>
          <p:nvPr/>
        </p:nvSpPr>
        <p:spPr>
          <a:xfrm>
            <a:off x="6552000" y="3609000"/>
            <a:ext cx="360000" cy="360000"/>
          </a:xfrm>
          <a:prstGeom prst="ellipse">
            <a:avLst/>
          </a:prstGeom>
          <a:solidFill>
            <a:srgbClr val="92D05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t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30" name="直線單箭頭接點 29"/>
          <p:cNvCxnSpPr>
            <a:stCxn id="19" idx="7"/>
            <a:endCxn id="29" idx="3"/>
          </p:cNvCxnSpPr>
          <p:nvPr/>
        </p:nvCxnSpPr>
        <p:spPr>
          <a:xfrm flipV="1">
            <a:off x="5779279" y="391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橢圓 31"/>
          <p:cNvSpPr/>
          <p:nvPr/>
        </p:nvSpPr>
        <p:spPr>
          <a:xfrm>
            <a:off x="5112000" y="1989000"/>
            <a:ext cx="1980000" cy="3600000"/>
          </a:xfrm>
          <a:prstGeom prst="ellipse">
            <a:avLst/>
          </a:prstGeom>
          <a:solidFill>
            <a:schemeClr val="accent2">
              <a:tint val="50000"/>
              <a:satMod val="300000"/>
            </a:schemeClr>
          </a:solidFill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2052000" y="1989000"/>
            <a:ext cx="1980000" cy="3600000"/>
          </a:xfrm>
          <a:prstGeom prst="ellipse">
            <a:avLst/>
          </a:prstGeom>
          <a:solidFill>
            <a:schemeClr val="accent5">
              <a:tint val="50000"/>
              <a:satMod val="300000"/>
            </a:schemeClr>
          </a:solidFill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1512000" y="549000"/>
            <a:ext cx="3780000" cy="540000"/>
          </a:xfrm>
        </p:spPr>
        <p:txBody>
          <a:bodyPr lIns="36000"/>
          <a:lstStyle/>
          <a:p>
            <a:pPr marL="0" indent="0" eaLnBrk="1" hangingPunct="1">
              <a:spcBef>
                <a:spcPct val="50000"/>
              </a:spcBef>
              <a:buClr>
                <a:schemeClr val="tx1"/>
              </a:buClr>
              <a:buFontTx/>
              <a:buNone/>
            </a:pPr>
            <a:r>
              <a:rPr lang="en-US" altLang="zh-TW" dirty="0"/>
              <a:t>The </a:t>
            </a:r>
            <a:r>
              <a:rPr lang="en-US" altLang="zh-TW" i="1" dirty="0">
                <a:solidFill>
                  <a:srgbClr val="0000FF"/>
                </a:solidFill>
              </a:rPr>
              <a:t>capacity</a:t>
            </a:r>
            <a:r>
              <a:rPr lang="en-US" altLang="zh-TW" dirty="0"/>
              <a:t> of the cut (</a:t>
            </a:r>
            <a:r>
              <a:rPr lang="en-US" altLang="zh-TW" i="1" dirty="0"/>
              <a:t>S</a:t>
            </a:r>
            <a:r>
              <a:rPr lang="en-US" altLang="zh-TW" dirty="0"/>
              <a:t>, </a:t>
            </a:r>
            <a:r>
              <a:rPr lang="en-US" altLang="zh-TW" i="1" spc="300" dirty="0"/>
              <a:t>T</a:t>
            </a:r>
            <a:r>
              <a:rPr lang="en-US" altLang="zh-TW" dirty="0"/>
              <a:t>) is</a:t>
            </a:r>
          </a:p>
        </p:txBody>
      </p:sp>
      <p:sp>
        <p:nvSpPr>
          <p:cNvPr id="44036" name="Rectangle 11"/>
          <p:cNvSpPr>
            <a:spLocks noGrp="1" noChangeArrowheads="1"/>
          </p:cNvSpPr>
          <p:nvPr>
            <p:ph sz="half" idx="2"/>
          </p:nvPr>
        </p:nvSpPr>
        <p:spPr>
          <a:xfrm>
            <a:off x="1692000" y="5769000"/>
            <a:ext cx="5760000" cy="539724"/>
          </a:xfrm>
        </p:spPr>
        <p:txBody>
          <a:bodyPr/>
          <a:lstStyle/>
          <a:p>
            <a:pPr marL="0" lvl="0" indent="0" algn="ctr" eaLnBrk="1" hangingPunct="1">
              <a:buClr>
                <a:srgbClr val="3333CC"/>
              </a:buClr>
            </a:pP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baseline="-25000" dirty="0">
                <a:solidFill>
                  <a:srgbClr val="000000"/>
                </a:solidFill>
              </a:rPr>
              <a:t>1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spc="300" baseline="-25000" dirty="0">
                <a:solidFill>
                  <a:srgbClr val="000000"/>
                </a:solidFill>
              </a:rPr>
              <a:t>3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baseline="-25000" dirty="0">
                <a:solidFill>
                  <a:srgbClr val="000000"/>
                </a:solidFill>
              </a:rPr>
              <a:t>2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spc="300" baseline="-25000" dirty="0">
                <a:solidFill>
                  <a:srgbClr val="000000"/>
                </a:solidFill>
              </a:rPr>
              <a:t>4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12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14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26.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44037" name="Line 6"/>
          <p:cNvSpPr>
            <a:spLocks noChangeShapeType="1"/>
          </p:cNvSpPr>
          <p:nvPr/>
        </p:nvSpPr>
        <p:spPr bwMode="auto">
          <a:xfrm flipH="1">
            <a:off x="4572000" y="1989000"/>
            <a:ext cx="0" cy="3600000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2" name="物件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838328"/>
              </p:ext>
            </p:extLst>
          </p:nvPr>
        </p:nvGraphicFramePr>
        <p:xfrm>
          <a:off x="5219475" y="533234"/>
          <a:ext cx="2772000" cy="6817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方程式" r:id="rId3" imgW="1396800" imgH="342720" progId="Equation.3">
                  <p:embed/>
                </p:oleObj>
              </mc:Choice>
              <mc:Fallback>
                <p:oleObj name="方程式" r:id="rId3" imgW="1396800" imgH="342720" progId="Equation.3">
                  <p:embed/>
                  <p:pic>
                    <p:nvPicPr>
                      <p:cNvPr id="2" name="物件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475" y="533234"/>
                        <a:ext cx="2772000" cy="6817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412000" y="28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72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16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2412000" y="41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36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6192000" y="28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20</a:t>
            </a: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43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3600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6192000" y="41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4572000" y="36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349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565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16" name="橢圓 15"/>
          <p:cNvSpPr/>
          <p:nvPr/>
        </p:nvSpPr>
        <p:spPr>
          <a:xfrm>
            <a:off x="3312000" y="252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1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7" name="橢圓 16"/>
          <p:cNvSpPr/>
          <p:nvPr/>
        </p:nvSpPr>
        <p:spPr>
          <a:xfrm>
            <a:off x="3312000" y="468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2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8" name="橢圓 17"/>
          <p:cNvSpPr/>
          <p:nvPr/>
        </p:nvSpPr>
        <p:spPr>
          <a:xfrm>
            <a:off x="5472000" y="252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3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5472000" y="468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4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0" name="橢圓 19"/>
          <p:cNvSpPr/>
          <p:nvPr/>
        </p:nvSpPr>
        <p:spPr>
          <a:xfrm>
            <a:off x="2232000" y="3609000"/>
            <a:ext cx="360000" cy="360000"/>
          </a:xfrm>
          <a:prstGeom prst="ellipse">
            <a:avLst/>
          </a:prstGeom>
          <a:solidFill>
            <a:srgbClr val="FFFF0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s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21" name="直線單箭頭接點 20"/>
          <p:cNvCxnSpPr>
            <a:stCxn id="20" idx="7"/>
            <a:endCxn id="16" idx="3"/>
          </p:cNvCxnSpPr>
          <p:nvPr/>
        </p:nvCxnSpPr>
        <p:spPr>
          <a:xfrm flipV="1">
            <a:off x="2539279" y="283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16" idx="6"/>
            <a:endCxn id="18" idx="2"/>
          </p:cNvCxnSpPr>
          <p:nvPr/>
        </p:nvCxnSpPr>
        <p:spPr>
          <a:xfrm>
            <a:off x="3672000" y="270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stCxn id="18" idx="3"/>
            <a:endCxn id="17" idx="7"/>
          </p:cNvCxnSpPr>
          <p:nvPr/>
        </p:nvCxnSpPr>
        <p:spPr>
          <a:xfrm flipH="1">
            <a:off x="3619279" y="2836279"/>
            <a:ext cx="1905442" cy="190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>
            <a:stCxn id="17" idx="6"/>
            <a:endCxn id="19" idx="2"/>
          </p:cNvCxnSpPr>
          <p:nvPr/>
        </p:nvCxnSpPr>
        <p:spPr>
          <a:xfrm>
            <a:off x="3672000" y="486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stCxn id="17" idx="0"/>
            <a:endCxn id="16" idx="4"/>
          </p:cNvCxnSpPr>
          <p:nvPr/>
        </p:nvCxnSpPr>
        <p:spPr>
          <a:xfrm flipV="1">
            <a:off x="3492000" y="288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>
            <a:stCxn id="18" idx="5"/>
            <a:endCxn id="29" idx="1"/>
          </p:cNvCxnSpPr>
          <p:nvPr/>
        </p:nvCxnSpPr>
        <p:spPr>
          <a:xfrm>
            <a:off x="5779279" y="283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stCxn id="19" idx="0"/>
            <a:endCxn id="18" idx="4"/>
          </p:cNvCxnSpPr>
          <p:nvPr/>
        </p:nvCxnSpPr>
        <p:spPr>
          <a:xfrm flipV="1">
            <a:off x="5652000" y="288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>
            <a:stCxn id="20" idx="5"/>
            <a:endCxn id="17" idx="1"/>
          </p:cNvCxnSpPr>
          <p:nvPr/>
        </p:nvCxnSpPr>
        <p:spPr>
          <a:xfrm>
            <a:off x="2539279" y="391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橢圓 28"/>
          <p:cNvSpPr/>
          <p:nvPr/>
        </p:nvSpPr>
        <p:spPr>
          <a:xfrm>
            <a:off x="6552000" y="3609000"/>
            <a:ext cx="360000" cy="360000"/>
          </a:xfrm>
          <a:prstGeom prst="ellipse">
            <a:avLst/>
          </a:prstGeom>
          <a:solidFill>
            <a:srgbClr val="92D05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t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30" name="直線單箭頭接點 29"/>
          <p:cNvCxnSpPr>
            <a:stCxn id="19" idx="7"/>
            <a:endCxn id="29" idx="3"/>
          </p:cNvCxnSpPr>
          <p:nvPr/>
        </p:nvCxnSpPr>
        <p:spPr>
          <a:xfrm flipV="1">
            <a:off x="5779279" y="391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878937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橢圓 32"/>
          <p:cNvSpPr/>
          <p:nvPr/>
        </p:nvSpPr>
        <p:spPr>
          <a:xfrm>
            <a:off x="5112000" y="1989000"/>
            <a:ext cx="1980000" cy="3600000"/>
          </a:xfrm>
          <a:prstGeom prst="ellipse">
            <a:avLst/>
          </a:prstGeom>
          <a:solidFill>
            <a:schemeClr val="accent2">
              <a:tint val="50000"/>
              <a:satMod val="300000"/>
            </a:schemeClr>
          </a:solidFill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/>
          <p:cNvSpPr/>
          <p:nvPr/>
        </p:nvSpPr>
        <p:spPr>
          <a:xfrm>
            <a:off x="2052000" y="1989000"/>
            <a:ext cx="1980000" cy="3600000"/>
          </a:xfrm>
          <a:prstGeom prst="ellipse">
            <a:avLst/>
          </a:prstGeom>
          <a:solidFill>
            <a:schemeClr val="accent5">
              <a:tint val="50000"/>
              <a:satMod val="300000"/>
            </a:schemeClr>
          </a:solidFill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1152000" y="549000"/>
            <a:ext cx="6840000" cy="1080000"/>
          </a:xfrm>
        </p:spPr>
        <p:txBody>
          <a:bodyPr/>
          <a:lstStyle/>
          <a:p>
            <a:pPr marL="0" indent="0" eaLnBrk="1" hangingPunct="1">
              <a:spcBef>
                <a:spcPts val="0"/>
              </a:spcBef>
              <a:buClr>
                <a:schemeClr val="tx1"/>
              </a:buClr>
              <a:buFontTx/>
              <a:buNone/>
            </a:pPr>
            <a:r>
              <a:rPr lang="en-US" altLang="zh-TW" dirty="0"/>
              <a:t>If</a:t>
            </a:r>
            <a:r>
              <a:rPr lang="en-US" altLang="zh-TW" spc="300" dirty="0"/>
              <a:t> </a:t>
            </a:r>
            <a:r>
              <a:rPr lang="en-US" altLang="zh-TW" i="1" spc="300" dirty="0"/>
              <a:t>f</a:t>
            </a:r>
            <a:r>
              <a:rPr lang="en-US" altLang="zh-TW" dirty="0"/>
              <a:t> is a flow, then the </a:t>
            </a:r>
            <a:r>
              <a:rPr lang="en-US" altLang="zh-TW" i="1" dirty="0">
                <a:solidFill>
                  <a:srgbClr val="0000FF"/>
                </a:solidFill>
              </a:rPr>
              <a:t>net </a:t>
            </a:r>
            <a:r>
              <a:rPr lang="en-US" altLang="zh-TW" i="1" spc="300" dirty="0">
                <a:solidFill>
                  <a:srgbClr val="0000FF"/>
                </a:solidFill>
              </a:rPr>
              <a:t>f</a:t>
            </a:r>
            <a:r>
              <a:rPr lang="en-US" altLang="zh-TW" i="1" dirty="0">
                <a:solidFill>
                  <a:srgbClr val="0000FF"/>
                </a:solidFill>
              </a:rPr>
              <a:t>low</a:t>
            </a:r>
            <a:r>
              <a:rPr lang="en-US" altLang="zh-TW" dirty="0"/>
              <a:t> </a:t>
            </a:r>
            <a:r>
              <a:rPr lang="en-US" altLang="zh-TW" i="1" spc="3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) across the cut</a:t>
            </a:r>
            <a:r>
              <a:rPr lang="en-US" altLang="zh-TW" dirty="0"/>
              <a:t> (</a:t>
            </a:r>
            <a:r>
              <a:rPr lang="en-US" altLang="zh-TW" i="1" dirty="0"/>
              <a:t>S</a:t>
            </a:r>
            <a:r>
              <a:rPr lang="en-US" altLang="zh-TW" dirty="0"/>
              <a:t>, </a:t>
            </a:r>
            <a:r>
              <a:rPr lang="en-US" altLang="zh-TW" i="1" spc="300" dirty="0"/>
              <a:t>T</a:t>
            </a:r>
            <a:r>
              <a:rPr lang="en-US" altLang="zh-TW" dirty="0"/>
              <a:t>)</a:t>
            </a:r>
          </a:p>
          <a:p>
            <a:pPr marL="0" indent="0" eaLnBrk="1" hangingPunct="1">
              <a:spcBef>
                <a:spcPts val="600"/>
              </a:spcBef>
              <a:buClr>
                <a:schemeClr val="tx1"/>
              </a:buClr>
              <a:buFontTx/>
              <a:buNone/>
            </a:pPr>
            <a:r>
              <a:rPr lang="en-US" altLang="zh-TW" dirty="0"/>
              <a:t>is defined to be</a:t>
            </a:r>
          </a:p>
        </p:txBody>
      </p:sp>
      <p:sp>
        <p:nvSpPr>
          <p:cNvPr id="44036" name="Rectangle 11"/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pPr marL="0" indent="0" algn="ctr" eaLnBrk="1" hangingPunct="1"/>
            <a:r>
              <a:rPr lang="en-US" altLang="zh-TW" i="1" spc="3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300" dirty="0">
                <a:solidFill>
                  <a:srgbClr val="000000"/>
                </a:solidFill>
              </a:rPr>
              <a:t> </a:t>
            </a:r>
            <a:r>
              <a:rPr lang="en-US" altLang="zh-TW" i="1" spc="3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baseline="-25000" dirty="0">
                <a:solidFill>
                  <a:srgbClr val="000000"/>
                </a:solidFill>
              </a:rPr>
              <a:t>1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spc="300" baseline="-25000" dirty="0">
                <a:solidFill>
                  <a:srgbClr val="000000"/>
                </a:solidFill>
              </a:rPr>
              <a:t>3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3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baseline="-25000" dirty="0">
                <a:solidFill>
                  <a:srgbClr val="000000"/>
                </a:solidFill>
              </a:rPr>
              <a:t>2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spc="300" baseline="-25000" dirty="0">
                <a:solidFill>
                  <a:srgbClr val="000000"/>
                </a:solidFill>
              </a:rPr>
              <a:t>4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3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baseline="-25000" dirty="0">
                <a:solidFill>
                  <a:srgbClr val="000000"/>
                </a:solidFill>
              </a:rPr>
              <a:t>3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spc="300" baseline="-25000" dirty="0">
                <a:solidFill>
                  <a:srgbClr val="000000"/>
                </a:solidFill>
              </a:rPr>
              <a:t>2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12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11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4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19</a:t>
            </a:r>
            <a:r>
              <a:rPr lang="en-US" altLang="zh-TW" dirty="0"/>
              <a:t>.</a:t>
            </a:r>
            <a:endParaRPr lang="zh-TW" altLang="en-US" dirty="0"/>
          </a:p>
        </p:txBody>
      </p:sp>
      <p:graphicFrame>
        <p:nvGraphicFramePr>
          <p:cNvPr id="2" name="物件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6087797"/>
              </p:ext>
            </p:extLst>
          </p:nvPr>
        </p:nvGraphicFramePr>
        <p:xfrm>
          <a:off x="2952000" y="948414"/>
          <a:ext cx="4500000" cy="6394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方程式" r:id="rId3" imgW="2412720" imgH="342720" progId="Equation.3">
                  <p:embed/>
                </p:oleObj>
              </mc:Choice>
              <mc:Fallback>
                <p:oleObj name="方程式" r:id="rId3" imgW="2412720" imgH="342720" progId="Equation.3">
                  <p:embed/>
                  <p:pic>
                    <p:nvPicPr>
                      <p:cNvPr id="2" name="物件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52000" y="948414"/>
                        <a:ext cx="4500000" cy="6394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Line 6"/>
          <p:cNvSpPr>
            <a:spLocks noChangeShapeType="1"/>
          </p:cNvSpPr>
          <p:nvPr/>
        </p:nvSpPr>
        <p:spPr bwMode="auto">
          <a:xfrm flipH="1">
            <a:off x="4572000" y="1988999"/>
            <a:ext cx="0" cy="3600000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791999" y="3145002"/>
            <a:ext cx="720000" cy="1260000"/>
          </a:xfrm>
          <a:prstGeom prst="rect">
            <a:avLst/>
          </a:prstGeom>
        </p:spPr>
        <p:txBody>
          <a:bodyPr wrap="none" tIns="36000" bIns="72000" anchor="ctr" anchorCtr="1">
            <a:noAutofit/>
          </a:bodyPr>
          <a:lstStyle/>
          <a:p>
            <a:r>
              <a:rPr lang="en-US" altLang="zh-TW" sz="6600" i="1" kern="0" dirty="0">
                <a:solidFill>
                  <a:srgbClr val="0000FF"/>
                </a:solidFill>
                <a:latin typeface="Times New Roman"/>
                <a:ea typeface="新細明體"/>
              </a:rPr>
              <a:t>S</a:t>
            </a:r>
            <a:endParaRPr lang="zh-TW" altLang="en-US" sz="6600" dirty="0">
              <a:solidFill>
                <a:srgbClr val="0000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850965" y="3163037"/>
            <a:ext cx="720000" cy="1260000"/>
          </a:xfrm>
          <a:prstGeom prst="rect">
            <a:avLst/>
          </a:prstGeom>
        </p:spPr>
        <p:txBody>
          <a:bodyPr wrap="none" tIns="36000" anchor="ctr" anchorCtr="0">
            <a:noAutofit/>
          </a:bodyPr>
          <a:lstStyle/>
          <a:p>
            <a:r>
              <a:rPr lang="en-US" altLang="zh-TW" sz="6600" i="1" kern="0" dirty="0">
                <a:solidFill>
                  <a:srgbClr val="0000FF"/>
                </a:solidFill>
                <a:latin typeface="Times New Roman"/>
                <a:ea typeface="新細明體"/>
              </a:rPr>
              <a:t>T</a:t>
            </a:r>
            <a:endParaRPr lang="zh-TW" altLang="en-US" sz="6600" dirty="0">
              <a:solidFill>
                <a:srgbClr val="0000FF"/>
              </a:solidFill>
            </a:endParaRPr>
          </a:p>
        </p:txBody>
      </p:sp>
      <p:sp>
        <p:nvSpPr>
          <p:cNvPr id="35" name="Text Box 4"/>
          <p:cNvSpPr txBox="1">
            <a:spLocks noChangeArrowheads="1"/>
          </p:cNvSpPr>
          <p:nvPr/>
        </p:nvSpPr>
        <p:spPr bwMode="auto">
          <a:xfrm>
            <a:off x="2232000" y="288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72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12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16</a:t>
            </a:r>
          </a:p>
        </p:txBody>
      </p:sp>
      <p:sp>
        <p:nvSpPr>
          <p:cNvPr id="36" name="Text Box 6"/>
          <p:cNvSpPr txBox="1">
            <a:spLocks noChangeArrowheads="1"/>
          </p:cNvSpPr>
          <p:nvPr/>
        </p:nvSpPr>
        <p:spPr bwMode="auto">
          <a:xfrm>
            <a:off x="4212000" y="234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37" name="Text Box 7"/>
          <p:cNvSpPr txBox="1">
            <a:spLocks noChangeArrowheads="1"/>
          </p:cNvSpPr>
          <p:nvPr/>
        </p:nvSpPr>
        <p:spPr bwMode="auto">
          <a:xfrm>
            <a:off x="2232000" y="414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36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38" name="Text Box 8"/>
          <p:cNvSpPr txBox="1">
            <a:spLocks noChangeArrowheads="1"/>
          </p:cNvSpPr>
          <p:nvPr/>
        </p:nvSpPr>
        <p:spPr bwMode="auto">
          <a:xfrm>
            <a:off x="6192000" y="2889000"/>
            <a:ext cx="72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15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20</a:t>
            </a:r>
          </a:p>
        </p:txBody>
      </p:sp>
      <p:sp>
        <p:nvSpPr>
          <p:cNvPr id="39" name="Text Box 9"/>
          <p:cNvSpPr txBox="1">
            <a:spLocks noChangeArrowheads="1"/>
          </p:cNvSpPr>
          <p:nvPr/>
        </p:nvSpPr>
        <p:spPr bwMode="auto">
          <a:xfrm>
            <a:off x="4212000" y="486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3600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sp>
        <p:nvSpPr>
          <p:cNvPr id="40" name="Text Box 10"/>
          <p:cNvSpPr txBox="1">
            <a:spLocks noChangeArrowheads="1"/>
          </p:cNvSpPr>
          <p:nvPr/>
        </p:nvSpPr>
        <p:spPr bwMode="auto">
          <a:xfrm>
            <a:off x="6192000" y="41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1" name="Text Box 11"/>
          <p:cNvSpPr txBox="1">
            <a:spLocks noChangeArrowheads="1"/>
          </p:cNvSpPr>
          <p:nvPr/>
        </p:nvSpPr>
        <p:spPr bwMode="auto">
          <a:xfrm>
            <a:off x="4572000" y="36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2" name="Text Box 12"/>
          <p:cNvSpPr txBox="1">
            <a:spLocks noChangeArrowheads="1"/>
          </p:cNvSpPr>
          <p:nvPr/>
        </p:nvSpPr>
        <p:spPr bwMode="auto">
          <a:xfrm>
            <a:off x="3492000" y="360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13"/>
          <p:cNvSpPr txBox="1">
            <a:spLocks noChangeArrowheads="1"/>
          </p:cNvSpPr>
          <p:nvPr/>
        </p:nvSpPr>
        <p:spPr bwMode="auto">
          <a:xfrm>
            <a:off x="5652000" y="360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/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4" name="橢圓 43"/>
          <p:cNvSpPr/>
          <p:nvPr/>
        </p:nvSpPr>
        <p:spPr>
          <a:xfrm>
            <a:off x="3312000" y="252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1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45" name="橢圓 44"/>
          <p:cNvSpPr/>
          <p:nvPr/>
        </p:nvSpPr>
        <p:spPr>
          <a:xfrm>
            <a:off x="3312000" y="468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2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46" name="橢圓 45"/>
          <p:cNvSpPr/>
          <p:nvPr/>
        </p:nvSpPr>
        <p:spPr>
          <a:xfrm>
            <a:off x="5472000" y="252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3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47" name="橢圓 46"/>
          <p:cNvSpPr/>
          <p:nvPr/>
        </p:nvSpPr>
        <p:spPr>
          <a:xfrm>
            <a:off x="5472000" y="468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4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48" name="橢圓 47"/>
          <p:cNvSpPr/>
          <p:nvPr/>
        </p:nvSpPr>
        <p:spPr>
          <a:xfrm>
            <a:off x="2232000" y="3609000"/>
            <a:ext cx="360000" cy="360000"/>
          </a:xfrm>
          <a:prstGeom prst="ellipse">
            <a:avLst/>
          </a:prstGeom>
          <a:solidFill>
            <a:srgbClr val="FFFF0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s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49" name="直線單箭頭接點 48"/>
          <p:cNvCxnSpPr>
            <a:stCxn id="48" idx="7"/>
            <a:endCxn id="44" idx="3"/>
          </p:cNvCxnSpPr>
          <p:nvPr/>
        </p:nvCxnSpPr>
        <p:spPr>
          <a:xfrm flipV="1">
            <a:off x="2539279" y="283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>
            <a:stCxn id="44" idx="6"/>
            <a:endCxn id="46" idx="2"/>
          </p:cNvCxnSpPr>
          <p:nvPr/>
        </p:nvCxnSpPr>
        <p:spPr>
          <a:xfrm>
            <a:off x="3672000" y="270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>
            <a:stCxn id="46" idx="3"/>
            <a:endCxn id="45" idx="7"/>
          </p:cNvCxnSpPr>
          <p:nvPr/>
        </p:nvCxnSpPr>
        <p:spPr>
          <a:xfrm flipH="1">
            <a:off x="3619279" y="2836279"/>
            <a:ext cx="1905442" cy="190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>
            <a:stCxn id="45" idx="6"/>
            <a:endCxn id="47" idx="2"/>
          </p:cNvCxnSpPr>
          <p:nvPr/>
        </p:nvCxnSpPr>
        <p:spPr>
          <a:xfrm>
            <a:off x="3672000" y="4869000"/>
            <a:ext cx="1800000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>
            <a:stCxn id="45" idx="0"/>
            <a:endCxn id="44" idx="4"/>
          </p:cNvCxnSpPr>
          <p:nvPr/>
        </p:nvCxnSpPr>
        <p:spPr>
          <a:xfrm flipV="1">
            <a:off x="3492000" y="288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>
            <a:stCxn id="46" idx="5"/>
            <a:endCxn id="57" idx="1"/>
          </p:cNvCxnSpPr>
          <p:nvPr/>
        </p:nvCxnSpPr>
        <p:spPr>
          <a:xfrm>
            <a:off x="5779279" y="283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>
            <a:stCxn id="47" idx="0"/>
            <a:endCxn id="46" idx="4"/>
          </p:cNvCxnSpPr>
          <p:nvPr/>
        </p:nvCxnSpPr>
        <p:spPr>
          <a:xfrm flipV="1">
            <a:off x="5652000" y="2889000"/>
            <a:ext cx="0" cy="18000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>
            <a:stCxn id="48" idx="5"/>
            <a:endCxn id="45" idx="1"/>
          </p:cNvCxnSpPr>
          <p:nvPr/>
        </p:nvCxnSpPr>
        <p:spPr>
          <a:xfrm>
            <a:off x="2539279" y="391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橢圓 56"/>
          <p:cNvSpPr/>
          <p:nvPr/>
        </p:nvSpPr>
        <p:spPr>
          <a:xfrm>
            <a:off x="6552000" y="3609000"/>
            <a:ext cx="360000" cy="360000"/>
          </a:xfrm>
          <a:prstGeom prst="ellipse">
            <a:avLst/>
          </a:prstGeom>
          <a:solidFill>
            <a:srgbClr val="92D05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t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58" name="直線單箭頭接點 57"/>
          <p:cNvCxnSpPr>
            <a:stCxn id="47" idx="7"/>
            <a:endCxn id="57" idx="3"/>
          </p:cNvCxnSpPr>
          <p:nvPr/>
        </p:nvCxnSpPr>
        <p:spPr>
          <a:xfrm flipV="1">
            <a:off x="5779279" y="3916279"/>
            <a:ext cx="825442" cy="82544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05298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Maximum-flow Problem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52000" y="1269000"/>
                <a:ext cx="8640000" cy="3420000"/>
              </a:xfrm>
            </p:spPr>
            <p:txBody>
              <a:bodyPr/>
              <a:lstStyle/>
              <a:p>
                <a:pPr marL="0" lvl="0" indent="0" eaLnBrk="1" hangingPunct="1">
                  <a:buClr>
                    <a:srgbClr val="3333CC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We call the nonnegative quantity </a:t>
                </a:r>
                <a:r>
                  <a:rPr lang="en-US" altLang="zh-TW" i="1" spc="300" dirty="0">
                    <a:solidFill>
                      <a:srgbClr val="000000"/>
                    </a:solidFill>
                  </a:rPr>
                  <a:t>f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 the </a:t>
                </a:r>
                <a:r>
                  <a:rPr lang="en-US" altLang="zh-TW" i="1" spc="300" dirty="0">
                    <a:solidFill>
                      <a:srgbClr val="0000FF"/>
                    </a:solidFill>
                  </a:rPr>
                  <a:t>f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low</a:t>
                </a:r>
                <a:r>
                  <a:rPr lang="en-US" altLang="zh-TW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from node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to node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.  The 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value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b="1" spc="600" dirty="0">
                    <a:solidFill>
                      <a:srgbClr val="000000"/>
                    </a:solidFill>
                  </a:rPr>
                  <a:t>|</a:t>
                </a:r>
                <a:r>
                  <a:rPr lang="en-US" altLang="zh-TW" i="1" spc="600" dirty="0">
                    <a:solidFill>
                      <a:srgbClr val="000000"/>
                    </a:solidFill>
                  </a:rPr>
                  <a:t>f</a:t>
                </a:r>
                <a:r>
                  <a:rPr lang="en-US" altLang="zh-TW" b="1" dirty="0">
                    <a:solidFill>
                      <a:srgbClr val="000000"/>
                    </a:solidFill>
                  </a:rPr>
                  <a:t>|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of a flow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spc="300" dirty="0">
                    <a:solidFill>
                      <a:srgbClr val="000000"/>
                    </a:solidFill>
                  </a:rPr>
                  <a:t>f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is defined as,</a:t>
                </a:r>
                <a:endParaRPr lang="zh-TW" altLang="en-US" dirty="0">
                  <a:solidFill>
                    <a:srgbClr val="000000"/>
                  </a:solidFill>
                </a:endParaRPr>
              </a:p>
              <a:p>
                <a:pPr>
                  <a:spcBef>
                    <a:spcPts val="0"/>
                  </a:spcBef>
                </a:pPr>
                <a:endParaRPr lang="en-US" altLang="zh-TW" dirty="0"/>
              </a:p>
              <a:p>
                <a:pPr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b="1" spc="600" dirty="0">
                          <a:solidFill>
                            <a:srgbClr val="000000"/>
                          </a:solidFill>
                        </a:rPr>
                        <m:t>|</m:t>
                      </m:r>
                      <m:r>
                        <m:rPr>
                          <m:nor/>
                        </m:rPr>
                        <a:rPr lang="en-US" altLang="zh-TW" i="1" spc="600" dirty="0">
                          <a:solidFill>
                            <a:srgbClr val="000000"/>
                          </a:solidFill>
                        </a:rPr>
                        <m:t>f</m:t>
                      </m:r>
                      <m:r>
                        <m:rPr>
                          <m:nor/>
                        </m:rPr>
                        <a:rPr lang="en-US" altLang="zh-TW" b="1" dirty="0">
                          <a:solidFill>
                            <a:srgbClr val="000000"/>
                          </a:solidFill>
                        </a:rPr>
                        <m:t>|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600" i="1" spc="150" dirty="0">
                              <a:solidFill>
                                <a:srgbClr val="000000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sz="1600" spc="1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sym typeface="Symbol" pitchFamily="18" charset="2"/>
                            </a:rPr>
                            <m:t>V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zh-TW" i="1" spc="300" dirty="0">
                              <a:solidFill>
                                <a:srgbClr val="000000"/>
                              </a:solidFill>
                            </a:rPr>
                            <m:t>f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b="0" i="1" dirty="0" smtClean="0">
                              <a:solidFill>
                                <a:srgbClr val="000000"/>
                              </a:solidFill>
                            </a:rPr>
                            <m:t>s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US" altLang="zh-TW" i="1" dirty="0">
                              <a:solidFill>
                                <a:srgbClr val="000000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)</m:t>
                          </m:r>
                        </m:e>
                      </m:nary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600" i="1" spc="150" dirty="0">
                              <a:solidFill>
                                <a:srgbClr val="000000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sz="1600" spc="1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sym typeface="Symbol" pitchFamily="18" charset="2"/>
                            </a:rPr>
                            <m:t>V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zh-TW" i="1" spc="300" dirty="0">
                              <a:solidFill>
                                <a:srgbClr val="000000"/>
                              </a:solidFill>
                            </a:rPr>
                            <m:t>f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b="0" i="1" dirty="0" smtClean="0">
                              <a:solidFill>
                                <a:srgbClr val="000000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US" altLang="zh-TW" b="0" i="1" dirty="0" smtClean="0">
                              <a:solidFill>
                                <a:srgbClr val="000000"/>
                              </a:solidFill>
                            </a:rPr>
                            <m:t>s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)</m:t>
                          </m:r>
                        </m:e>
                      </m:nary>
                      <m:r>
                        <m:rPr>
                          <m:nor/>
                        </m:rPr>
                        <a:rPr lang="en-US" altLang="zh-TW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0"/>
                  </a:spcBef>
                </a:pPr>
                <a:endParaRPr lang="en-US" altLang="zh-TW" dirty="0"/>
              </a:p>
              <a:p>
                <a:pPr marL="0" lvl="0" indent="0" eaLnBrk="1" hangingPunct="1">
                  <a:spcBef>
                    <a:spcPts val="0"/>
                  </a:spcBef>
                  <a:buClr>
                    <a:srgbClr val="3333CC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that is, the total flow out of the source minus the flow into the source.</a:t>
                </a:r>
              </a:p>
              <a:p>
                <a:pPr marL="0" lvl="0" indent="0" eaLnBrk="1" hangingPunct="1">
                  <a:spcBef>
                    <a:spcPct val="50000"/>
                  </a:spcBef>
                  <a:buClr>
                    <a:srgbClr val="3333CC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In the 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maximum-</a:t>
                </a:r>
                <a:r>
                  <a:rPr lang="en-US" altLang="zh-TW" i="1" spc="300" dirty="0">
                    <a:solidFill>
                      <a:srgbClr val="0000FF"/>
                    </a:solidFill>
                  </a:rPr>
                  <a:t>f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low problem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the input is a flow network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with source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s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and sink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t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and the goal is to find a flow of maximum value.</a:t>
                </a:r>
                <a:endParaRPr lang="zh-TW" altLang="en-US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2000" y="1269000"/>
                <a:ext cx="8640000" cy="3420000"/>
              </a:xfrm>
              <a:blipFill>
                <a:blip r:embed="rId2"/>
                <a:stretch>
                  <a:fillRect l="-917" t="-1248" b="-37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918874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252000" y="548641"/>
            <a:ext cx="8640000" cy="5760084"/>
          </a:xfrm>
        </p:spPr>
        <p:txBody>
          <a:bodyPr/>
          <a:lstStyle/>
          <a:p>
            <a:pPr marL="0" indent="0" eaLnBrk="1" hangingPunct="1">
              <a:tabLst>
                <a:tab pos="1704975" algn="l"/>
              </a:tabLst>
            </a:pPr>
            <a:r>
              <a:rPr lang="en-US" altLang="zh-TW" b="1" i="1" dirty="0">
                <a:solidFill>
                  <a:srgbClr val="0000FF"/>
                </a:solidFill>
              </a:rPr>
              <a:t>Lemma 1</a:t>
            </a:r>
            <a:r>
              <a:rPr lang="en-US" altLang="zh-TW" dirty="0"/>
              <a:t>  Let</a:t>
            </a:r>
            <a:r>
              <a:rPr lang="en-US" altLang="zh-TW" spc="300" dirty="0"/>
              <a:t> </a:t>
            </a:r>
            <a:r>
              <a:rPr lang="en-US" altLang="zh-TW" i="1" spc="300" dirty="0"/>
              <a:t>f</a:t>
            </a:r>
            <a:r>
              <a:rPr lang="en-US" altLang="zh-TW" spc="300" dirty="0"/>
              <a:t> </a:t>
            </a:r>
            <a:r>
              <a:rPr lang="en-US" altLang="zh-TW" dirty="0"/>
              <a:t>be a flow in a flow network </a:t>
            </a:r>
            <a:r>
              <a:rPr lang="en-US" altLang="zh-TW" i="1" dirty="0"/>
              <a:t>G</a:t>
            </a:r>
            <a:r>
              <a:rPr lang="en-US" altLang="zh-TW" dirty="0"/>
              <a:t> with source </a:t>
            </a:r>
            <a:r>
              <a:rPr lang="en-US" altLang="zh-TW" i="1" dirty="0"/>
              <a:t>s</a:t>
            </a:r>
            <a:r>
              <a:rPr lang="en-US" altLang="zh-TW" dirty="0"/>
              <a:t> and sink </a:t>
            </a:r>
            <a:r>
              <a:rPr lang="en-US" altLang="zh-TW" i="1" dirty="0"/>
              <a:t>t</a:t>
            </a:r>
            <a:r>
              <a:rPr lang="en-US" altLang="zh-TW" dirty="0"/>
              <a:t>, and let (</a:t>
            </a:r>
            <a:r>
              <a:rPr lang="en-US" altLang="zh-TW" i="1" dirty="0"/>
              <a:t>S</a:t>
            </a:r>
            <a:r>
              <a:rPr lang="en-US" altLang="zh-TW" dirty="0"/>
              <a:t>, </a:t>
            </a:r>
            <a:r>
              <a:rPr lang="en-US" altLang="zh-TW" i="1" spc="300" dirty="0"/>
              <a:t>T</a:t>
            </a:r>
            <a:r>
              <a:rPr lang="en-US" altLang="zh-TW" dirty="0"/>
              <a:t>) be any cut of </a:t>
            </a:r>
            <a:r>
              <a:rPr lang="en-US" altLang="zh-TW" i="1" dirty="0"/>
              <a:t>G</a:t>
            </a:r>
            <a:r>
              <a:rPr lang="en-US" altLang="zh-TW" dirty="0"/>
              <a:t>. Then</a:t>
            </a:r>
            <a:r>
              <a:rPr lang="en-US" altLang="zh-TW" spc="300" dirty="0"/>
              <a:t> </a:t>
            </a:r>
            <a:r>
              <a:rPr lang="en-US" altLang="zh-TW" i="1" spc="300" dirty="0"/>
              <a:t>f</a:t>
            </a:r>
            <a:r>
              <a:rPr lang="en-US" altLang="zh-TW" dirty="0"/>
              <a:t>(</a:t>
            </a:r>
            <a:r>
              <a:rPr lang="en-US" altLang="zh-TW" i="1" dirty="0"/>
              <a:t>S</a:t>
            </a:r>
            <a:r>
              <a:rPr lang="en-US" altLang="zh-TW" dirty="0"/>
              <a:t>, </a:t>
            </a:r>
            <a:r>
              <a:rPr lang="en-US" altLang="zh-TW" i="1" spc="300" dirty="0"/>
              <a:t>T</a:t>
            </a:r>
            <a:r>
              <a:rPr lang="en-US" altLang="zh-TW" dirty="0"/>
              <a:t>)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/>
              <a:t> </a:t>
            </a:r>
            <a:r>
              <a:rPr lang="en-US" altLang="zh-TW" b="1" dirty="0"/>
              <a:t>|</a:t>
            </a:r>
            <a:r>
              <a:rPr lang="en-US" altLang="zh-TW" dirty="0"/>
              <a:t> </a:t>
            </a:r>
            <a:r>
              <a:rPr lang="en-US" altLang="zh-TW" i="1" dirty="0"/>
              <a:t>f </a:t>
            </a:r>
            <a:r>
              <a:rPr lang="en-US" altLang="zh-TW" b="1" dirty="0"/>
              <a:t>|</a:t>
            </a:r>
            <a:r>
              <a:rPr lang="en-US" altLang="zh-TW" dirty="0"/>
              <a:t>.</a:t>
            </a:r>
          </a:p>
          <a:p>
            <a:pPr marL="0" indent="0" eaLnBrk="1" hangingPunct="1">
              <a:tabLst>
                <a:tab pos="1704975" algn="l"/>
              </a:tabLst>
            </a:pPr>
            <a:endParaRPr lang="en-US" altLang="zh-TW" dirty="0"/>
          </a:p>
          <a:p>
            <a:pPr marL="0" lvl="0" indent="0" eaLnBrk="1" hangingPunct="1">
              <a:buClr>
                <a:srgbClr val="3333CC"/>
              </a:buClr>
            </a:pPr>
            <a:r>
              <a:rPr lang="en-US" altLang="zh-TW" b="1" i="1" dirty="0">
                <a:solidFill>
                  <a:srgbClr val="0000FF"/>
                </a:solidFill>
              </a:rPr>
              <a:t>Lemma 2</a:t>
            </a:r>
            <a:r>
              <a:rPr lang="en-US" altLang="zh-TW" dirty="0">
                <a:solidFill>
                  <a:srgbClr val="000000"/>
                </a:solidFill>
              </a:rPr>
              <a:t>  The value of any flow</a:t>
            </a:r>
            <a:r>
              <a:rPr lang="en-US" altLang="zh-TW" spc="300" dirty="0">
                <a:solidFill>
                  <a:srgbClr val="000000"/>
                </a:solidFill>
              </a:rPr>
              <a:t> </a:t>
            </a:r>
            <a:r>
              <a:rPr lang="en-US" altLang="zh-TW" i="1" spc="300" dirty="0">
                <a:solidFill>
                  <a:srgbClr val="000000"/>
                </a:solidFill>
              </a:rPr>
              <a:t>f</a:t>
            </a:r>
            <a:r>
              <a:rPr lang="en-US" altLang="zh-TW" spc="300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in a flow network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 is bounded from above by the capacity of any cut of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.</a:t>
            </a:r>
          </a:p>
          <a:p>
            <a:pPr marL="0" lvl="0" indent="0" eaLnBrk="1" hangingPunct="1">
              <a:buClr>
                <a:srgbClr val="3333CC"/>
              </a:buClr>
            </a:pP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600"/>
              </a:spcBef>
              <a:buClr>
                <a:srgbClr val="3333CC"/>
              </a:buClr>
              <a:tabLst>
                <a:tab pos="542925" algn="l"/>
              </a:tabLst>
            </a:pPr>
            <a:r>
              <a:rPr lang="en-US" altLang="zh-TW" b="1" i="1" dirty="0">
                <a:solidFill>
                  <a:srgbClr val="0000FF"/>
                </a:solidFill>
              </a:rPr>
              <a:t>Lemma 3</a:t>
            </a:r>
            <a:r>
              <a:rPr lang="en-US" altLang="zh-TW" dirty="0">
                <a:solidFill>
                  <a:srgbClr val="000000"/>
                </a:solidFill>
              </a:rPr>
              <a:t>  Let</a:t>
            </a:r>
            <a:r>
              <a:rPr lang="en-US" altLang="zh-TW" spc="300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  be a flow in a flow network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E</a:t>
            </a:r>
            <a:r>
              <a:rPr lang="en-US" altLang="zh-TW" dirty="0">
                <a:solidFill>
                  <a:srgbClr val="000000"/>
                </a:solidFill>
              </a:rPr>
              <a:t>) with source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and sink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. Define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{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: there is a path from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to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in the residual network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} and	</a:t>
            </a:r>
            <a:r>
              <a:rPr lang="en-US" altLang="zh-TW" i="1" dirty="0">
                <a:solidFill>
                  <a:srgbClr val="000000"/>
                </a:solidFill>
              </a:rPr>
              <a:t>T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-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. If the residual network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contains no paths from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s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to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, then (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45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) is a cut of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.</a:t>
            </a:r>
          </a:p>
          <a:p>
            <a:pPr marL="0" lvl="0" indent="0" eaLnBrk="1" hangingPunct="1">
              <a:spcBef>
                <a:spcPts val="600"/>
              </a:spcBef>
              <a:buClr>
                <a:srgbClr val="3333CC"/>
              </a:buClr>
              <a:tabLst>
                <a:tab pos="542925" algn="l"/>
              </a:tabLst>
            </a:pPr>
            <a:r>
              <a:rPr lang="en-US" altLang="zh-TW" b="1" i="1" dirty="0">
                <a:solidFill>
                  <a:srgbClr val="0000FF"/>
                </a:solidFill>
              </a:rPr>
              <a:t>Proof</a:t>
            </a:r>
            <a:r>
              <a:rPr lang="en-US" altLang="zh-TW" dirty="0">
                <a:solidFill>
                  <a:srgbClr val="000000"/>
                </a:solidFill>
              </a:rPr>
              <a:t>  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Since there is no path from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s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to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in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, we have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∉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S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. Hence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.</a:t>
            </a:r>
          </a:p>
          <a:p>
            <a:pPr marL="0" lvl="0" indent="0" eaLnBrk="1" hangingPunct="1">
              <a:spcBef>
                <a:spcPts val="600"/>
              </a:spcBef>
              <a:buClr>
                <a:srgbClr val="3333CC"/>
              </a:buClr>
              <a:tabLst>
                <a:tab pos="542925" algn="l"/>
              </a:tabLst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By the definition of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S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S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. It follows that t</a:t>
            </a:r>
            <a:r>
              <a:rPr lang="en-US" altLang="zh-TW" dirty="0">
                <a:solidFill>
                  <a:srgbClr val="000000"/>
                </a:solidFill>
              </a:rPr>
              <a:t>he partition (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45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) is a cut of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.</a:t>
            </a:r>
          </a:p>
          <a:p>
            <a:pPr marL="0" lvl="0" indent="0">
              <a:buClr>
                <a:srgbClr val="3333CC"/>
              </a:buClr>
            </a:pP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</a:rPr>
              <a:t>The cut (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45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) defined in Lemma 3 is called the </a:t>
            </a:r>
            <a:r>
              <a:rPr lang="en-US" altLang="zh-TW" i="1" dirty="0">
                <a:solidFill>
                  <a:srgbClr val="0000FF"/>
                </a:solidFill>
              </a:rPr>
              <a:t>critical cut</a:t>
            </a:r>
            <a:r>
              <a:rPr lang="en-US" altLang="zh-TW" dirty="0">
                <a:solidFill>
                  <a:srgbClr val="000000"/>
                </a:solidFill>
              </a:rPr>
              <a:t> with respect to </a:t>
            </a:r>
            <a:r>
              <a:rPr lang="en-US" altLang="zh-TW" i="1" spc="1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.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idx="1"/>
          </p:nvPr>
        </p:nvSpPr>
        <p:spPr>
          <a:xfrm>
            <a:off x="612000" y="548641"/>
            <a:ext cx="7920000" cy="3420359"/>
          </a:xfrm>
        </p:spPr>
        <p:txBody>
          <a:bodyPr/>
          <a:lstStyle/>
          <a:p>
            <a:pPr marL="0" indent="0" eaLnBrk="1" hangingPunct="1">
              <a:tabLst>
                <a:tab pos="542925" algn="l"/>
              </a:tabLst>
            </a:pPr>
            <a:r>
              <a:rPr lang="en-US" altLang="zh-TW" sz="2200" b="1" i="1" dirty="0">
                <a:solidFill>
                  <a:srgbClr val="0000FF"/>
                </a:solidFill>
              </a:rPr>
              <a:t>Theorem 4</a:t>
            </a:r>
            <a:r>
              <a:rPr lang="en-US" altLang="zh-TW" sz="2200" b="1" dirty="0">
                <a:solidFill>
                  <a:srgbClr val="0000FF"/>
                </a:solidFill>
              </a:rPr>
              <a:t> (</a:t>
            </a:r>
            <a:r>
              <a:rPr lang="en-US" altLang="zh-TW" sz="2200" b="1" i="1" dirty="0">
                <a:solidFill>
                  <a:srgbClr val="0000FF"/>
                </a:solidFill>
              </a:rPr>
              <a:t>Max-flow min-cut theorem</a:t>
            </a:r>
            <a:r>
              <a:rPr lang="en-US" altLang="zh-TW" sz="2200" b="1" dirty="0">
                <a:solidFill>
                  <a:srgbClr val="0000FF"/>
                </a:solidFill>
              </a:rPr>
              <a:t>)</a:t>
            </a:r>
          </a:p>
          <a:p>
            <a:pPr marL="0" indent="0" eaLnBrk="1" hangingPunct="1">
              <a:spcBef>
                <a:spcPts val="600"/>
              </a:spcBef>
              <a:tabLst>
                <a:tab pos="542925" algn="l"/>
              </a:tabLst>
            </a:pPr>
            <a:r>
              <a:rPr lang="en-US" altLang="zh-TW" sz="2200" dirty="0"/>
              <a:t>Let</a:t>
            </a:r>
            <a:r>
              <a:rPr lang="en-US" altLang="zh-TW" sz="2200" spc="300" dirty="0"/>
              <a:t> </a:t>
            </a:r>
            <a:r>
              <a:rPr lang="en-US" altLang="zh-TW" sz="2200" i="1" dirty="0"/>
              <a:t>f</a:t>
            </a:r>
            <a:r>
              <a:rPr lang="en-US" altLang="zh-TW" sz="2200" dirty="0"/>
              <a:t>  be a flow in a flow network </a:t>
            </a:r>
            <a:r>
              <a:rPr lang="en-US" altLang="zh-TW" sz="2200" i="1" dirty="0"/>
              <a:t>G</a:t>
            </a:r>
            <a:r>
              <a:rPr lang="en-US" altLang="zh-TW" sz="2200" dirty="0"/>
              <a:t> </a:t>
            </a:r>
            <a:r>
              <a:rPr lang="en-US" altLang="zh-TW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/>
              <a:t> (</a:t>
            </a:r>
            <a:r>
              <a:rPr lang="en-US" altLang="zh-TW" sz="2200" i="1" dirty="0"/>
              <a:t>V</a:t>
            </a:r>
            <a:r>
              <a:rPr lang="en-US" altLang="zh-TW" sz="2200" dirty="0"/>
              <a:t>, </a:t>
            </a:r>
            <a:r>
              <a:rPr lang="en-US" altLang="zh-TW" sz="2200" i="1" spc="300" dirty="0"/>
              <a:t>E</a:t>
            </a:r>
            <a:r>
              <a:rPr lang="en-US" altLang="zh-TW" sz="2200" dirty="0"/>
              <a:t>) with source </a:t>
            </a:r>
            <a:r>
              <a:rPr lang="en-US" altLang="zh-TW" sz="2200" i="1" dirty="0"/>
              <a:t>s</a:t>
            </a:r>
            <a:r>
              <a:rPr lang="en-US" altLang="zh-TW" sz="2200" dirty="0"/>
              <a:t> and sink </a:t>
            </a:r>
            <a:r>
              <a:rPr lang="en-US" altLang="zh-TW" sz="2200" i="1" dirty="0"/>
              <a:t>t</a:t>
            </a:r>
            <a:r>
              <a:rPr lang="en-US" altLang="zh-TW" sz="2200" dirty="0"/>
              <a:t>. If the residual network </a:t>
            </a:r>
            <a:r>
              <a:rPr lang="en-US" altLang="zh-TW" sz="2200" i="1" dirty="0"/>
              <a:t>R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100" dirty="0">
                <a:solidFill>
                  <a:srgbClr val="000000"/>
                </a:solidFill>
              </a:rPr>
              <a:t>E</a:t>
            </a:r>
            <a:r>
              <a:rPr lang="en-US" altLang="zh-TW" spc="1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sz="2200" i="1" dirty="0"/>
              <a:t> </a:t>
            </a:r>
            <a:r>
              <a:rPr lang="en-US" altLang="zh-TW" sz="2200" dirty="0">
                <a:sym typeface="Symbol" pitchFamily="18" charset="2"/>
              </a:rPr>
              <a:t>contains no paths from </a:t>
            </a:r>
            <a:r>
              <a:rPr lang="en-US" altLang="zh-TW" sz="2200" i="1" dirty="0">
                <a:sym typeface="Symbol" pitchFamily="18" charset="2"/>
              </a:rPr>
              <a:t>s</a:t>
            </a:r>
            <a:r>
              <a:rPr lang="en-US" altLang="zh-TW" sz="2200" dirty="0">
                <a:sym typeface="Symbol" pitchFamily="18" charset="2"/>
              </a:rPr>
              <a:t> to </a:t>
            </a:r>
            <a:r>
              <a:rPr lang="en-US" altLang="zh-TW" sz="2200" i="1" dirty="0">
                <a:sym typeface="Symbol" pitchFamily="18" charset="2"/>
              </a:rPr>
              <a:t>t</a:t>
            </a:r>
            <a:r>
              <a:rPr lang="en-US" altLang="zh-TW" sz="2200" dirty="0"/>
              <a:t>, and let 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) be the </a:t>
            </a:r>
            <a:r>
              <a:rPr lang="en-US" altLang="zh-TW" dirty="0"/>
              <a:t>critical cut</a:t>
            </a:r>
            <a:r>
              <a:rPr lang="en-US" altLang="zh-TW" dirty="0">
                <a:solidFill>
                  <a:srgbClr val="000000"/>
                </a:solidFill>
              </a:rPr>
              <a:t> with respect to </a:t>
            </a:r>
            <a:r>
              <a:rPr lang="en-US" altLang="zh-TW" i="1" spc="1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,</a:t>
            </a:r>
            <a:r>
              <a:rPr lang="en-US" altLang="zh-TW" sz="2200" dirty="0"/>
              <a:t> then</a:t>
            </a:r>
            <a:r>
              <a:rPr lang="en-US" altLang="zh-TW" sz="2200" spc="300" dirty="0"/>
              <a:t> </a:t>
            </a:r>
            <a:r>
              <a:rPr lang="en-US" altLang="zh-TW" sz="2200" i="1" dirty="0"/>
              <a:t>f</a:t>
            </a:r>
            <a:r>
              <a:rPr lang="en-US" altLang="zh-TW" sz="2200" dirty="0"/>
              <a:t>  is a maximum flow in </a:t>
            </a:r>
            <a:r>
              <a:rPr lang="en-US" altLang="zh-TW" sz="2200" i="1" dirty="0"/>
              <a:t>G</a:t>
            </a:r>
            <a:r>
              <a:rPr lang="en-US" altLang="zh-TW" dirty="0">
                <a:solidFill>
                  <a:srgbClr val="000000"/>
                </a:solidFill>
              </a:rPr>
              <a:t> and (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) is a minimum cut in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/>
              <a:t>.</a:t>
            </a:r>
          </a:p>
          <a:p>
            <a:pPr marL="0" indent="0" eaLnBrk="1" hangingPunct="1">
              <a:spcBef>
                <a:spcPts val="600"/>
              </a:spcBef>
              <a:tabLst>
                <a:tab pos="542925" algn="l"/>
              </a:tabLst>
            </a:pPr>
            <a:endParaRPr lang="en-US" altLang="zh-TW" dirty="0"/>
          </a:p>
          <a:p>
            <a:pPr marL="0" indent="0" eaLnBrk="1" hangingPunct="1">
              <a:spcBef>
                <a:spcPts val="600"/>
              </a:spcBef>
              <a:tabLst>
                <a:tab pos="542925" algn="l"/>
              </a:tabLst>
            </a:pPr>
            <a:endParaRPr lang="en-US" altLang="zh-TW" sz="2200" dirty="0"/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</a:rPr>
              <a:t>A </a:t>
            </a:r>
            <a:r>
              <a:rPr lang="en-US" altLang="zh-TW" i="1" dirty="0">
                <a:solidFill>
                  <a:srgbClr val="0000FF"/>
                </a:solidFill>
              </a:rPr>
              <a:t>minimum cut</a:t>
            </a:r>
            <a:r>
              <a:rPr lang="en-US" altLang="zh-TW" dirty="0">
                <a:solidFill>
                  <a:srgbClr val="000000"/>
                </a:solidFill>
              </a:rPr>
              <a:t> of a network is a cut whose capacity is minimum over all cuts of the network.</a:t>
            </a:r>
          </a:p>
        </p:txBody>
      </p:sp>
    </p:spTree>
    <p:extLst>
      <p:ext uri="{BB962C8B-B14F-4D97-AF65-F5344CB8AC3E}">
        <p14:creationId xmlns:p14="http://schemas.microsoft.com/office/powerpoint/2010/main" val="6693910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763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R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5" name="內容版面配置區 1"/>
          <p:cNvSpPr txBox="1">
            <a:spLocks/>
          </p:cNvSpPr>
          <p:nvPr/>
        </p:nvSpPr>
        <p:spPr bwMode="auto">
          <a:xfrm>
            <a:off x="763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G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000" y="369000"/>
            <a:ext cx="4680000" cy="2851822"/>
          </a:xfrm>
          <a:prstGeom prst="rect">
            <a:avLst/>
          </a:prstGeom>
        </p:spPr>
      </p:pic>
      <p:sp>
        <p:nvSpPr>
          <p:cNvPr id="8" name="Line 19"/>
          <p:cNvSpPr>
            <a:spLocks noChangeShapeType="1"/>
          </p:cNvSpPr>
          <p:nvPr/>
        </p:nvSpPr>
        <p:spPr bwMode="auto">
          <a:xfrm>
            <a:off x="3852000" y="3609000"/>
            <a:ext cx="2700000" cy="25200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4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" name="Line 19"/>
          <p:cNvSpPr>
            <a:spLocks noChangeShapeType="1"/>
          </p:cNvSpPr>
          <p:nvPr/>
        </p:nvSpPr>
        <p:spPr bwMode="auto">
          <a:xfrm>
            <a:off x="3852001" y="369000"/>
            <a:ext cx="2700000" cy="25200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4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000" y="3609000"/>
            <a:ext cx="4680000" cy="2875996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32000" y="3069000"/>
            <a:ext cx="2520000" cy="720000"/>
          </a:xfrm>
        </p:spPr>
        <p:txBody>
          <a:bodyPr/>
          <a:lstStyle/>
          <a:p>
            <a:r>
              <a:rPr lang="en-US" altLang="zh-TW" sz="3600" dirty="0"/>
              <a:t>Critical Cut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66674243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Flow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07" name="Rectangle 5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32000" y="1269000"/>
                <a:ext cx="8280000" cy="4860000"/>
              </a:xfrm>
            </p:spPr>
            <p:txBody>
              <a:bodyPr/>
              <a:lstStyle/>
              <a:p>
                <a:pPr marL="0" indent="0" eaLnBrk="1" hangingPunct="1">
                  <a:spcBef>
                    <a:spcPts val="0"/>
                  </a:spcBef>
                </a:pPr>
                <a:r>
                  <a:rPr lang="en-US" altLang="zh-TW" dirty="0"/>
                  <a:t>A</a:t>
                </a:r>
                <a:r>
                  <a:rPr lang="en-US" altLang="zh-TW" spc="300" dirty="0"/>
                  <a:t> </a:t>
                </a:r>
                <a:r>
                  <a:rPr lang="en-US" altLang="zh-TW" i="1" spc="300" dirty="0">
                    <a:solidFill>
                      <a:srgbClr val="0000FF"/>
                    </a:solidFill>
                  </a:rPr>
                  <a:t>f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low</a:t>
                </a:r>
                <a:r>
                  <a:rPr lang="en-US" altLang="zh-TW" dirty="0"/>
                  <a:t> in </a:t>
                </a:r>
                <a:r>
                  <a:rPr lang="en-US" altLang="zh-TW" i="1" dirty="0"/>
                  <a:t>G</a:t>
                </a:r>
                <a:r>
                  <a:rPr lang="en-US" altLang="zh-TW" dirty="0"/>
                  <a:t> is a real-valued function </a:t>
                </a:r>
                <a:r>
                  <a:rPr lang="en-US" altLang="zh-TW" i="1" dirty="0"/>
                  <a:t>f </a:t>
                </a:r>
                <a:r>
                  <a:rPr lang="en-US" altLang="zh-TW" dirty="0"/>
                  <a:t>: </a:t>
                </a:r>
                <a:r>
                  <a:rPr lang="en-US" altLang="zh-TW" i="1" spc="300" dirty="0" err="1">
                    <a:solidFill>
                      <a:srgbClr val="000000"/>
                    </a:solidFill>
                    <a:sym typeface="Symbol" pitchFamily="18" charset="2"/>
                  </a:rPr>
                  <a:t>V</a:t>
                </a:r>
                <a:r>
                  <a:rPr lang="en-US" altLang="zh-TW" spc="50" dirty="0" err="1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×</a:t>
                </a:r>
                <a:r>
                  <a:rPr lang="en-US" altLang="zh-TW" i="1" dirty="0" err="1">
                    <a:solidFill>
                      <a:srgbClr val="000000"/>
                    </a:solidFill>
                    <a:cs typeface="Times New Roman" pitchFamily="18" charset="0"/>
                    <a:sym typeface="Symbol" pitchFamily="18" charset="2"/>
                  </a:rPr>
                  <a:t>V</a:t>
                </a:r>
                <a:r>
                  <a:rPr lang="en-US" altLang="zh-TW" dirty="0">
                    <a:cs typeface="Times New Roman" pitchFamily="18" charset="0"/>
                    <a:sym typeface="Symbol" pitchFamily="18" charset="2"/>
                  </a:rPr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itchFamily="18" charset="0"/>
                    <a:sym typeface="Symbol" pitchFamily="18" charset="2"/>
                  </a:rPr>
                  <a:t>⟶</a:t>
                </a:r>
                <a:r>
                  <a:rPr lang="en-US" altLang="zh-TW" dirty="0">
                    <a:cs typeface="Times New Roman" pitchFamily="18" charset="0"/>
                    <a:sym typeface="Symbol" pitchFamily="18" charset="2"/>
                  </a:rPr>
                  <a:t> </a:t>
                </a:r>
                <a:r>
                  <a:rPr lang="en-US" altLang="zh-TW" b="1" i="1" dirty="0">
                    <a:cs typeface="Times New Roman" pitchFamily="18" charset="0"/>
                    <a:sym typeface="Symbol" pitchFamily="18" charset="2"/>
                  </a:rPr>
                  <a:t>R</a:t>
                </a:r>
                <a:r>
                  <a:rPr lang="en-US" altLang="zh-TW" dirty="0"/>
                  <a:t> that satisfies the following two properties:</a:t>
                </a:r>
                <a:endParaRPr lang="en-US" altLang="zh-TW" b="1" i="1" dirty="0"/>
              </a:p>
              <a:p>
                <a:pPr marL="0" indent="0" eaLnBrk="1" hangingPunct="1">
                  <a:spcBef>
                    <a:spcPts val="2400"/>
                  </a:spcBef>
                  <a:spcAft>
                    <a:spcPts val="1200"/>
                  </a:spcAft>
                </a:pPr>
                <a:r>
                  <a:rPr lang="en-US" altLang="zh-TW" dirty="0">
                    <a:solidFill>
                      <a:srgbClr val="0000FF"/>
                    </a:solidFill>
                  </a:rPr>
                  <a:t>Capacity constraint:</a:t>
                </a:r>
                <a:r>
                  <a:rPr lang="en-US" altLang="zh-TW" dirty="0"/>
                  <a:t> For all </a:t>
                </a:r>
                <a:r>
                  <a:rPr lang="en-US" altLang="zh-TW" i="1" dirty="0"/>
                  <a:t>u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v</a:t>
                </a:r>
                <a:r>
                  <a:rPr lang="en-US" altLang="zh-TW" dirty="0"/>
                  <a:t>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∈</a:t>
                </a:r>
                <a:r>
                  <a:rPr lang="en-US" altLang="zh-TW" dirty="0">
                    <a:sym typeface="Symbol" pitchFamily="18" charset="2"/>
                  </a:rPr>
                  <a:t> </a:t>
                </a:r>
                <a:r>
                  <a:rPr lang="en-US" altLang="zh-TW" i="1" dirty="0">
                    <a:sym typeface="Symbol" pitchFamily="18" charset="2"/>
                  </a:rPr>
                  <a:t>V</a:t>
                </a:r>
                <a:r>
                  <a:rPr lang="en-US" altLang="zh-TW" dirty="0"/>
                  <a:t>, 0 </a:t>
                </a:r>
                <a:r>
                  <a:rPr lang="en-US" altLang="zh-TW" sz="20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≤</a:t>
                </a:r>
                <a:r>
                  <a:rPr lang="en-US" altLang="zh-TW" dirty="0"/>
                  <a:t> </a:t>
                </a:r>
                <a:r>
                  <a:rPr lang="en-US" altLang="zh-TW" i="1" dirty="0"/>
                  <a:t>f</a:t>
                </a:r>
                <a:r>
                  <a:rPr lang="en-US" altLang="zh-TW" sz="1200" dirty="0"/>
                  <a:t> </a:t>
                </a:r>
                <a:r>
                  <a:rPr lang="en-US" altLang="zh-TW" dirty="0"/>
                  <a:t>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/>
                  <a:t>)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≤</a:t>
                </a:r>
                <a:r>
                  <a:rPr lang="en-US" altLang="zh-TW" dirty="0">
                    <a:sym typeface="Symbol" pitchFamily="18" charset="2"/>
                  </a:rPr>
                  <a:t> </a:t>
                </a:r>
                <a:r>
                  <a:rPr lang="en-US" altLang="zh-TW" i="1" dirty="0">
                    <a:sym typeface="Symbol" pitchFamily="18" charset="2"/>
                  </a:rPr>
                  <a:t>c</a:t>
                </a:r>
                <a:r>
                  <a:rPr lang="en-US" altLang="zh-TW" dirty="0"/>
                  <a:t>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/>
                  <a:t>).</a:t>
                </a:r>
                <a:endParaRPr lang="en-US" altLang="zh-TW" b="1" i="1" dirty="0"/>
              </a:p>
              <a:p>
                <a:pPr marL="0" indent="0" eaLnBrk="1" hangingPunct="1">
                  <a:spcBef>
                    <a:spcPts val="24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FF"/>
                          </a:solidFill>
                        </a:rPr>
                        <m:t>Flow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FF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FF"/>
                          </a:solidFill>
                        </a:rPr>
                        <m:t>conservation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FF"/>
                          </a:solidFill>
                        </a:rPr>
                        <m:t>: 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For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all</m:t>
                      </m:r>
                      <m:r>
                        <m:rPr>
                          <m:nor/>
                        </m:rPr>
                        <a:rPr lang="en-US" altLang="zh-TW" b="0" i="1" dirty="0" smtClean="0">
                          <a:solidFill>
                            <a:srgbClr val="0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i="1" dirty="0">
                          <a:solidFill>
                            <a:srgbClr val="000000"/>
                          </a:solidFill>
                        </a:rPr>
                        <m:t>u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00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  <a:sym typeface="Symbol" pitchFamily="18" charset="2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i="1" dirty="0">
                          <a:solidFill>
                            <a:srgbClr val="000000"/>
                          </a:solidFill>
                          <a:sym typeface="Symbol" pitchFamily="18" charset="2"/>
                        </a:rPr>
                        <m:t>V</m:t>
                      </m:r>
                      <m:r>
                        <m:rPr>
                          <m:nor/>
                        </m:rPr>
                        <a:rPr lang="en-US" altLang="zh-TW" b="0" i="1" dirty="0" smtClean="0">
                          <a:solidFill>
                            <a:srgbClr val="000000"/>
                          </a:solidFill>
                          <a:sym typeface="Symbol" pitchFamily="18" charset="2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 {</m:t>
                      </m:r>
                      <m:r>
                        <m:rPr>
                          <m:nor/>
                        </m:rPr>
                        <a:rPr lang="en-US" altLang="zh-TW" i="1" dirty="0">
                          <a:solidFill>
                            <a:srgbClr val="000000"/>
                          </a:solidFill>
                        </a:rPr>
                        <m:t>s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, </m:t>
                      </m:r>
                      <m:r>
                        <m:rPr>
                          <m:nor/>
                        </m:rPr>
                        <a:rPr lang="en-US" altLang="zh-TW" i="1" dirty="0">
                          <a:solidFill>
                            <a:srgbClr val="000000"/>
                          </a:solidFill>
                        </a:rPr>
                        <m:t>t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},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600" i="1" spc="150" dirty="0">
                              <a:solidFill>
                                <a:srgbClr val="000000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sz="1600" spc="1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sym typeface="Symbol" pitchFamily="18" charset="2"/>
                            </a:rPr>
                            <m:t>V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zh-TW" i="1" dirty="0">
                              <a:solidFill>
                                <a:srgbClr val="000000"/>
                              </a:solidFill>
                            </a:rPr>
                            <m:t>f</m:t>
                          </m:r>
                          <m:r>
                            <m:rPr>
                              <m:nor/>
                            </m:rPr>
                            <a:rPr lang="en-US" altLang="zh-TW" sz="1200" dirty="0">
                              <a:solidFill>
                                <a:srgbClr val="000000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b="0" i="1" dirty="0" smtClean="0">
                              <a:solidFill>
                                <a:srgbClr val="000000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US" altLang="zh-TW" b="0" i="1" dirty="0" smtClean="0">
                              <a:solidFill>
                                <a:srgbClr val="000000"/>
                              </a:solidFill>
                            </a:rPr>
                            <m:t>u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)</m:t>
                          </m:r>
                        </m:e>
                      </m:nary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600" i="1" spc="150" dirty="0">
                              <a:solidFill>
                                <a:srgbClr val="000000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sz="1600" spc="1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sym typeface="Symbol" pitchFamily="18" charset="2"/>
                            </a:rPr>
                            <m:t>V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zh-TW" i="1" dirty="0">
                              <a:solidFill>
                                <a:srgbClr val="000000"/>
                              </a:solidFill>
                            </a:rPr>
                            <m:t>f</m:t>
                          </m:r>
                          <m:r>
                            <m:rPr>
                              <m:nor/>
                            </m:rPr>
                            <a:rPr lang="en-US" altLang="zh-TW" sz="1200" dirty="0">
                              <a:solidFill>
                                <a:srgbClr val="000000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i="1" dirty="0">
                              <a:solidFill>
                                <a:srgbClr val="000000"/>
                              </a:solidFill>
                            </a:rPr>
                            <m:t>u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US" altLang="zh-TW" i="1" dirty="0">
                              <a:solidFill>
                                <a:srgbClr val="000000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)</m:t>
                          </m:r>
                        </m:e>
                      </m:nary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TW" dirty="0"/>
              </a:p>
              <a:p>
                <a:pPr marL="0" indent="0" eaLnBrk="1" hangingPunct="1">
                  <a:spcBef>
                    <a:spcPts val="3000"/>
                  </a:spcBef>
                </a:pPr>
                <a:r>
                  <a:rPr lang="en-US" altLang="zh-TW" dirty="0"/>
                  <a:t>When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 </a:t>
                </a:r>
                <a:r>
                  <a:rPr lang="en-US" altLang="zh-TW" sz="2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∉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E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there can be no flow from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to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and </a:t>
                </a:r>
                <a:r>
                  <a:rPr lang="en-US" altLang="zh-TW" i="1" dirty="0"/>
                  <a:t>f</a:t>
                </a:r>
                <a:r>
                  <a:rPr lang="en-US" altLang="zh-TW" sz="1200" dirty="0"/>
                  <a:t> </a:t>
                </a:r>
                <a:r>
                  <a:rPr lang="en-US" altLang="zh-TW" dirty="0"/>
                  <a:t>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/>
                  <a:t>)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0.</a:t>
                </a:r>
              </a:p>
              <a:p>
                <a:pPr marL="0" lvl="0" indent="0" eaLnBrk="1" hangingPunct="1">
                  <a:spcBef>
                    <a:spcPct val="40000"/>
                  </a:spcBef>
                  <a:buClr>
                    <a:srgbClr val="3333CC"/>
                  </a:buClr>
                  <a:defRPr/>
                </a:pPr>
                <a:endParaRPr lang="en-US" altLang="zh-TW" dirty="0">
                  <a:solidFill>
                    <a:srgbClr val="000000"/>
                  </a:solidFill>
                </a:endParaRPr>
              </a:p>
              <a:p>
                <a:pPr marL="0" lvl="0" indent="0" eaLnBrk="1" hangingPunct="1">
                  <a:buClr>
                    <a:srgbClr val="3333CC"/>
                  </a:buClr>
                  <a:tabLst>
                    <a:tab pos="1163638" algn="l"/>
                  </a:tabLst>
                  <a:defRPr/>
                </a:pP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Let </a:t>
                </a:r>
                <a:r>
                  <a:rPr lang="en-US" altLang="zh-TW" i="1" spc="300" dirty="0" err="1">
                    <a:solidFill>
                      <a:srgbClr val="000000"/>
                    </a:solidFill>
                    <a:sym typeface="Symbol" pitchFamily="18" charset="2"/>
                  </a:rPr>
                  <a:t>V</a:t>
                </a:r>
                <a:r>
                  <a:rPr lang="en-US" altLang="zh-TW" spc="50" dirty="0" err="1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×</a:t>
                </a:r>
                <a:r>
                  <a:rPr lang="en-US" altLang="zh-TW" i="1" dirty="0" err="1">
                    <a:solidFill>
                      <a:srgbClr val="000000"/>
                    </a:solidFill>
                    <a:cs typeface="Times New Roman" pitchFamily="18" charset="0"/>
                    <a:sym typeface="Symbol" pitchFamily="18" charset="2"/>
                  </a:rPr>
                  <a:t>V</a:t>
                </a:r>
                <a:r>
                  <a:rPr lang="zh-TW" altLang="en-US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{(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x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y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 </a:t>
                </a:r>
                <a:r>
                  <a:rPr lang="en-US" altLang="zh-TW" b="1" dirty="0">
                    <a:solidFill>
                      <a:srgbClr val="000000"/>
                    </a:solidFill>
                  </a:rPr>
                  <a:t>|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x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y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∈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 </a:t>
                </a:r>
                <a:r>
                  <a:rPr lang="en-US" altLang="zh-TW" i="1" spc="300" dirty="0">
                    <a:solidFill>
                      <a:srgbClr val="000000"/>
                    </a:solidFill>
                    <a:sym typeface="Symbol" pitchFamily="18" charset="2"/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}.</a:t>
                </a:r>
              </a:p>
              <a:p>
                <a:pPr marL="0" lvl="0" indent="0" eaLnBrk="1" hangingPunct="1">
                  <a:buClr>
                    <a:srgbClr val="3333CC"/>
                  </a:buClr>
                  <a:tabLst>
                    <a:tab pos="1163638" algn="l"/>
                  </a:tabLst>
                  <a:defRPr/>
                </a:pP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If </a:t>
                </a:r>
                <a:r>
                  <a:rPr lang="en-US" altLang="zh-TW" i="1" dirty="0">
                    <a:solidFill>
                      <a:srgbClr val="000000"/>
                    </a:solidFill>
                    <a:sym typeface="Symbol" pitchFamily="18" charset="2"/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 {</a:t>
                </a:r>
                <a:r>
                  <a:rPr lang="en-US" altLang="zh-TW" i="1" dirty="0">
                    <a:solidFill>
                      <a:srgbClr val="000000"/>
                    </a:solidFill>
                    <a:sym typeface="Symbol" pitchFamily="18" charset="2"/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  <a:sym typeface="Symbol" pitchFamily="18" charset="2"/>
                  </a:rPr>
                  <a:t>b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  <a:sym typeface="Symbol" pitchFamily="18" charset="2"/>
                  </a:rPr>
                  <a:t>c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}, then</a:t>
                </a:r>
              </a:p>
              <a:p>
                <a:pPr marL="0" lvl="0" indent="0" eaLnBrk="1" hangingPunct="1">
                  <a:buClr>
                    <a:srgbClr val="3333CC"/>
                  </a:buClr>
                  <a:tabLst>
                    <a:tab pos="1163638" algn="l"/>
                  </a:tabLst>
                  <a:defRPr/>
                </a:pPr>
                <a:r>
                  <a:rPr lang="en-US" altLang="zh-TW" i="1" spc="300" dirty="0" err="1">
                    <a:solidFill>
                      <a:srgbClr val="000000"/>
                    </a:solidFill>
                    <a:sym typeface="Symbol" pitchFamily="18" charset="2"/>
                  </a:rPr>
                  <a:t>V</a:t>
                </a:r>
                <a:r>
                  <a:rPr lang="en-US" altLang="zh-TW" spc="50" dirty="0" err="1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×</a:t>
                </a:r>
                <a:r>
                  <a:rPr lang="en-US" altLang="zh-TW" i="1" dirty="0" err="1">
                    <a:solidFill>
                      <a:srgbClr val="000000"/>
                    </a:solidFill>
                    <a:cs typeface="Times New Roman" pitchFamily="18" charset="0"/>
                    <a:sym typeface="Symbol" pitchFamily="18" charset="2"/>
                  </a:rPr>
                  <a:t>V</a:t>
                </a:r>
                <a:r>
                  <a:rPr lang="zh-TW" altLang="en-US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{(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), 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b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), 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c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), 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b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), 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b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b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), 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b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c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), 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c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), 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c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b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), 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c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c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)}.</a:t>
                </a:r>
                <a:endParaRPr lang="zh-TW" altLang="en-US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1507" name="Rectangle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2000" y="1269000"/>
                <a:ext cx="8280000" cy="4860000"/>
              </a:xfrm>
              <a:blipFill>
                <a:blip r:embed="rId2"/>
                <a:stretch>
                  <a:fillRect l="-957" t="-1004" b="-6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354275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idx="1"/>
          </p:nvPr>
        </p:nvSpPr>
        <p:spPr>
          <a:xfrm>
            <a:off x="432000" y="548641"/>
            <a:ext cx="8280000" cy="5760359"/>
          </a:xfrm>
        </p:spPr>
        <p:txBody>
          <a:bodyPr lIns="90000" rIns="90000"/>
          <a:lstStyle/>
          <a:p>
            <a:pPr marL="541338" indent="-541338" eaLnBrk="1" hangingPunct="1">
              <a:defRPr/>
            </a:pPr>
            <a:r>
              <a:rPr lang="en-US" altLang="zh-TW" sz="2200" dirty="0" err="1"/>
              <a:t>FordFulkerson</a:t>
            </a:r>
            <a:r>
              <a:rPr lang="en-US" altLang="zh-TW" sz="2200" dirty="0"/>
              <a:t>(</a:t>
            </a:r>
            <a:r>
              <a:rPr lang="en-US" altLang="zh-TW" sz="2200" i="1" dirty="0"/>
              <a:t>G</a:t>
            </a:r>
            <a:r>
              <a:rPr lang="en-US" altLang="zh-TW" sz="2200" dirty="0"/>
              <a:t>, </a:t>
            </a:r>
            <a:r>
              <a:rPr lang="en-US" altLang="zh-TW" sz="2200" i="1" dirty="0"/>
              <a:t>s</a:t>
            </a:r>
            <a:r>
              <a:rPr lang="en-US" altLang="zh-TW" sz="2200" dirty="0"/>
              <a:t>, </a:t>
            </a:r>
            <a:r>
              <a:rPr lang="en-US" altLang="zh-TW" sz="2200" i="1" dirty="0"/>
              <a:t>t</a:t>
            </a:r>
            <a:r>
              <a:rPr lang="en-US" altLang="zh-TW" sz="2200" dirty="0"/>
              <a:t>)</a:t>
            </a:r>
            <a:endParaRPr lang="en-US" altLang="zh-TW" sz="2200" b="1" dirty="0"/>
          </a:p>
          <a:p>
            <a:pPr marL="0" lvl="0" indent="0" eaLnBrk="1" hangingPunct="1">
              <a:spcBef>
                <a:spcPts val="528"/>
              </a:spcBef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</a:t>
            </a:r>
            <a:r>
              <a:rPr lang="en-US" altLang="zh-TW" dirty="0" err="1">
                <a:solidFill>
                  <a:srgbClr val="000000"/>
                </a:solidFill>
                <a:sym typeface="Symbol" pitchFamily="18" charset="2"/>
              </a:rPr>
              <a:t>.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E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 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528"/>
              </a:spcBef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0</a:t>
            </a:r>
          </a:p>
          <a:p>
            <a:pPr marL="0" indent="0" eaLnBrk="1" hangingPunct="1">
              <a:spcBef>
                <a:spcPts val="528"/>
              </a:spcBef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sz="2200" dirty="0"/>
              <a:t>	3	</a:t>
            </a:r>
            <a:r>
              <a:rPr lang="en-US" altLang="zh-TW" sz="2200" b="1" dirty="0"/>
              <a:t>while</a:t>
            </a:r>
            <a:r>
              <a:rPr lang="en-US" altLang="zh-TW" sz="2200" dirty="0"/>
              <a:t>	there exists a path </a:t>
            </a:r>
            <a:r>
              <a:rPr lang="en-US" altLang="zh-TW" sz="2200" i="1" dirty="0"/>
              <a:t>p</a:t>
            </a:r>
            <a:r>
              <a:rPr lang="en-US" altLang="zh-TW" sz="2200" dirty="0"/>
              <a:t> from </a:t>
            </a:r>
            <a:r>
              <a:rPr lang="en-US" altLang="zh-TW" sz="2200" i="1" dirty="0"/>
              <a:t>s</a:t>
            </a:r>
            <a:r>
              <a:rPr lang="en-US" altLang="zh-TW" sz="2200" dirty="0"/>
              <a:t> to </a:t>
            </a:r>
            <a:r>
              <a:rPr lang="en-US" altLang="zh-TW" sz="2200" i="1" dirty="0"/>
              <a:t>t</a:t>
            </a:r>
            <a:r>
              <a:rPr lang="en-US" altLang="zh-TW" sz="2200" dirty="0"/>
              <a:t> in the residual network </a:t>
            </a:r>
            <a:r>
              <a:rPr lang="en-US" altLang="zh-TW" sz="2200" i="1" dirty="0"/>
              <a:t>R</a:t>
            </a:r>
            <a:endParaRPr lang="en-US" altLang="zh-TW" sz="2200" dirty="0"/>
          </a:p>
          <a:p>
            <a:pPr marL="0" indent="0" eaLnBrk="1" hangingPunct="1">
              <a:spcBef>
                <a:spcPts val="528"/>
              </a:spcBef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sz="2200" dirty="0"/>
              <a:t>	4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z="2200" spc="400" dirty="0"/>
              <a:t>(</a:t>
            </a:r>
            <a:r>
              <a:rPr lang="en-US" altLang="zh-TW" sz="2200" i="1" dirty="0"/>
              <a:t>p</a:t>
            </a:r>
            <a:r>
              <a:rPr lang="en-US" altLang="zh-TW" sz="2200" dirty="0"/>
              <a:t>)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ym typeface="Symbol" pitchFamily="18" charset="2"/>
              </a:rPr>
              <a:t> min{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sz="2200" i="1" dirty="0"/>
              <a:t>u</a:t>
            </a:r>
            <a:r>
              <a:rPr lang="en-US" altLang="zh-TW" sz="2200" dirty="0"/>
              <a:t>, </a:t>
            </a:r>
            <a:r>
              <a:rPr lang="en-US" altLang="zh-TW" sz="2200" i="1" dirty="0"/>
              <a:t>v</a:t>
            </a:r>
            <a:r>
              <a:rPr lang="en-US" altLang="zh-TW" sz="2200" dirty="0"/>
              <a:t>) </a:t>
            </a:r>
            <a:r>
              <a:rPr lang="en-US" altLang="zh-TW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en-US" altLang="zh-TW" sz="2200" dirty="0"/>
              <a:t> (</a:t>
            </a:r>
            <a:r>
              <a:rPr lang="en-US" altLang="zh-TW" sz="2200" i="1" dirty="0"/>
              <a:t>u</a:t>
            </a:r>
            <a:r>
              <a:rPr lang="en-US" altLang="zh-TW" sz="2200" dirty="0"/>
              <a:t>, </a:t>
            </a:r>
            <a:r>
              <a:rPr lang="en-US" altLang="zh-TW" sz="2200" i="1" dirty="0"/>
              <a:t>v</a:t>
            </a:r>
            <a:r>
              <a:rPr lang="en-US" altLang="zh-TW" sz="2200" dirty="0"/>
              <a:t>) is in </a:t>
            </a:r>
            <a:r>
              <a:rPr lang="en-US" altLang="zh-TW" sz="2200" i="1" dirty="0"/>
              <a:t>p</a:t>
            </a:r>
            <a:r>
              <a:rPr lang="en-US" altLang="zh-TW" sz="2200" dirty="0"/>
              <a:t>}</a:t>
            </a:r>
            <a:endParaRPr lang="en-US" altLang="zh-TW" sz="2200" b="1" dirty="0">
              <a:sym typeface="Symbol" pitchFamily="18" charset="2"/>
            </a:endParaRPr>
          </a:p>
          <a:p>
            <a:pPr marL="0" indent="0" eaLnBrk="1" hangingPunct="1">
              <a:spcBef>
                <a:spcPts val="528"/>
              </a:spcBef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sz="2200" dirty="0"/>
              <a:t>	5		</a:t>
            </a:r>
            <a:r>
              <a:rPr lang="en-US" altLang="zh-TW" sz="2200" b="1" dirty="0"/>
              <a:t>for</a:t>
            </a:r>
            <a:r>
              <a:rPr lang="en-US" altLang="zh-TW" sz="2200" dirty="0"/>
              <a:t>	each edge (</a:t>
            </a:r>
            <a:r>
              <a:rPr lang="en-US" altLang="zh-TW" sz="2200" i="1" dirty="0"/>
              <a:t>u</a:t>
            </a:r>
            <a:r>
              <a:rPr lang="en-US" altLang="zh-TW" sz="2200" dirty="0"/>
              <a:t>, </a:t>
            </a:r>
            <a:r>
              <a:rPr lang="en-US" altLang="zh-TW" sz="2200" i="1" dirty="0"/>
              <a:t>v</a:t>
            </a:r>
            <a:r>
              <a:rPr lang="en-US" altLang="zh-TW" sz="2200" dirty="0"/>
              <a:t>) in </a:t>
            </a:r>
            <a:r>
              <a:rPr lang="en-US" altLang="zh-TW" sz="2200" i="1" dirty="0"/>
              <a:t>p</a:t>
            </a:r>
            <a:endParaRPr lang="en-US" altLang="zh-TW" sz="2200" b="1" dirty="0"/>
          </a:p>
          <a:p>
            <a:pPr marL="0" indent="0" eaLnBrk="1" hangingPunct="1">
              <a:spcBef>
                <a:spcPts val="528"/>
              </a:spcBef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sz="2200" dirty="0"/>
              <a:t>	6			</a:t>
            </a:r>
            <a:r>
              <a:rPr lang="en-US" altLang="zh-TW" sz="2200" b="1" dirty="0"/>
              <a:t>if</a:t>
            </a:r>
            <a:r>
              <a:rPr lang="en-US" altLang="zh-TW" sz="2200" dirty="0"/>
              <a:t> (</a:t>
            </a:r>
            <a:r>
              <a:rPr lang="en-US" altLang="zh-TW" sz="2200" i="1" dirty="0"/>
              <a:t>u</a:t>
            </a:r>
            <a:r>
              <a:rPr lang="en-US" altLang="zh-TW" sz="2200" dirty="0"/>
              <a:t>, </a:t>
            </a:r>
            <a:r>
              <a:rPr lang="en-US" altLang="zh-TW" sz="2200" i="1" dirty="0"/>
              <a:t>v</a:t>
            </a:r>
            <a:r>
              <a:rPr lang="en-US" altLang="zh-TW" sz="2200" dirty="0"/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sz="2200" dirty="0">
                <a:sym typeface="Symbol" pitchFamily="18" charset="2"/>
              </a:rPr>
              <a:t> </a:t>
            </a:r>
            <a:r>
              <a:rPr lang="en-US" altLang="zh-TW" sz="2200" i="1" dirty="0">
                <a:sym typeface="Symbol" pitchFamily="18" charset="2"/>
              </a:rPr>
              <a:t>G.E</a:t>
            </a:r>
            <a:endParaRPr lang="en-US" altLang="zh-TW" sz="2200" dirty="0"/>
          </a:p>
          <a:p>
            <a:pPr marL="0" indent="0" eaLnBrk="1" hangingPunct="1">
              <a:spcBef>
                <a:spcPts val="528"/>
              </a:spcBef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sz="2200" dirty="0"/>
              <a:t>	7				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  <a:r>
              <a:rPr lang="en-US" altLang="zh-TW" sz="2200" dirty="0"/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spc="100" dirty="0"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  <a:r>
              <a:rPr lang="en-US" altLang="zh-TW" sz="2200" dirty="0"/>
              <a:t> </a:t>
            </a:r>
            <a:r>
              <a:rPr lang="en-US" altLang="zh-TW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sz="2200" dirty="0"/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sz="2200" i="1" dirty="0"/>
              <a:t>p</a:t>
            </a:r>
            <a:r>
              <a:rPr lang="en-US" altLang="zh-TW" sz="2200" dirty="0"/>
              <a:t>) </a:t>
            </a:r>
          </a:p>
          <a:p>
            <a:pPr marL="0" indent="0" eaLnBrk="1" hangingPunct="1">
              <a:spcBef>
                <a:spcPts val="528"/>
              </a:spcBef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sz="2200" dirty="0"/>
              <a:t>	8			</a:t>
            </a:r>
            <a:r>
              <a:rPr lang="en-US" altLang="zh-TW" sz="2200" b="1" dirty="0"/>
              <a:t>else</a:t>
            </a:r>
            <a:r>
              <a:rPr lang="en-US" altLang="zh-TW" sz="2200" dirty="0"/>
              <a:t>	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  <a:r>
              <a:rPr lang="en-US" altLang="zh-TW" sz="2200" dirty="0"/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spc="100" dirty="0"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  <a:r>
              <a:rPr lang="en-US" altLang="zh-TW" sz="2200" dirty="0"/>
              <a:t> </a:t>
            </a:r>
            <a:r>
              <a:rPr lang="en-US" altLang="zh-TW" sz="2000" dirty="0"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sz="2200" dirty="0"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sz="2200" i="1" dirty="0"/>
              <a:t>p</a:t>
            </a:r>
            <a:r>
              <a:rPr lang="en-US" altLang="zh-TW" sz="2200" dirty="0"/>
              <a:t>)</a:t>
            </a:r>
            <a:endParaRPr lang="en-US" altLang="zh-TW" sz="2200" i="1" dirty="0"/>
          </a:p>
          <a:p>
            <a:pPr marL="0" indent="0" eaLnBrk="1" hangingPunct="1">
              <a:spcBef>
                <a:spcPts val="0"/>
              </a:spcBef>
              <a:tabLst>
                <a:tab pos="361950" algn="l"/>
                <a:tab pos="808038" algn="l"/>
                <a:tab pos="1252538" algn="l"/>
                <a:tab pos="1524000" algn="l"/>
              </a:tabLst>
              <a:defRPr/>
            </a:pPr>
            <a:endParaRPr lang="en-US" altLang="zh-TW" sz="2200" dirty="0"/>
          </a:p>
          <a:p>
            <a:pPr marL="0" indent="0" eaLnBrk="1" hangingPunct="1">
              <a:spcBef>
                <a:spcPts val="0"/>
              </a:spcBef>
              <a:tabLst>
                <a:tab pos="361950" algn="l"/>
                <a:tab pos="808038" algn="l"/>
                <a:tab pos="1252538" algn="l"/>
                <a:tab pos="1524000" algn="l"/>
              </a:tabLst>
              <a:defRPr/>
            </a:pPr>
            <a:endParaRPr lang="en-US" altLang="zh-TW" dirty="0"/>
          </a:p>
          <a:p>
            <a:pPr marL="0" indent="0" eaLnBrk="1" hangingPunct="1">
              <a:spcBef>
                <a:spcPts val="0"/>
              </a:spcBef>
              <a:tabLst>
                <a:tab pos="361950" algn="l"/>
                <a:tab pos="808038" algn="l"/>
                <a:tab pos="1252538" algn="l"/>
                <a:tab pos="1524000" algn="l"/>
              </a:tabLst>
              <a:defRPr/>
            </a:pPr>
            <a:endParaRPr lang="en-US" altLang="zh-TW" dirty="0"/>
          </a:p>
          <a:p>
            <a:pPr marL="0" indent="0" eaLnBrk="1" hangingPunct="1">
              <a:spcBef>
                <a:spcPts val="0"/>
              </a:spcBef>
              <a:tabLst>
                <a:tab pos="361950" algn="l"/>
                <a:tab pos="808038" algn="l"/>
                <a:tab pos="1252538" algn="l"/>
                <a:tab pos="1524000" algn="l"/>
              </a:tabLst>
              <a:defRPr/>
            </a:pPr>
            <a:endParaRPr lang="en-US" altLang="zh-TW" sz="2200" dirty="0"/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sz="2200" dirty="0" err="1">
                <a:solidFill>
                  <a:srgbClr val="0000FF"/>
                </a:solidFill>
              </a:rPr>
              <a:t>Lestor</a:t>
            </a:r>
            <a:r>
              <a:rPr lang="en-US" altLang="zh-TW" sz="2200" dirty="0">
                <a:solidFill>
                  <a:srgbClr val="0000FF"/>
                </a:solidFill>
              </a:rPr>
              <a:t> R. Ford, Jr. and D. R. Fulkerson. Flows in Networks.	 Princeton University Press, 1962.</a:t>
            </a:r>
            <a:endParaRPr lang="en-US" altLang="zh-TW" sz="2200" dirty="0"/>
          </a:p>
        </p:txBody>
      </p:sp>
    </p:spTree>
    <p:extLst>
      <p:ext uri="{BB962C8B-B14F-4D97-AF65-F5344CB8AC3E}">
        <p14:creationId xmlns:p14="http://schemas.microsoft.com/office/powerpoint/2010/main" val="247065781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High Implementation Overhead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12000" y="1269000"/>
            <a:ext cx="7920000" cy="5040000"/>
          </a:xfrm>
        </p:spPr>
        <p:txBody>
          <a:bodyPr/>
          <a:lstStyle/>
          <a:p>
            <a:pPr marL="541338" lvl="0" indent="-541338" eaLnBrk="1" hangingPunct="1">
              <a:buClr>
                <a:srgbClr val="3333CC"/>
              </a:buClr>
              <a:defRPr/>
            </a:pPr>
            <a:r>
              <a:rPr lang="en-US" altLang="zh-TW" dirty="0" err="1">
                <a:solidFill>
                  <a:srgbClr val="000000"/>
                </a:solidFill>
              </a:rPr>
              <a:t>FordFulkerson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b="1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528"/>
              </a:spcBef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</a:t>
            </a:r>
            <a:r>
              <a:rPr lang="en-US" altLang="zh-TW" dirty="0" err="1">
                <a:solidFill>
                  <a:srgbClr val="000000"/>
                </a:solidFill>
                <a:sym typeface="Symbol" pitchFamily="18" charset="2"/>
              </a:rPr>
              <a:t>.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E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 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528"/>
              </a:spcBef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0</a:t>
            </a:r>
          </a:p>
          <a:p>
            <a:pPr marL="0" lvl="0" indent="0" eaLnBrk="1" hangingPunct="1">
              <a:spcBef>
                <a:spcPts val="528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	there exists a path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 from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to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 in the residual network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528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min{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is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}</a:t>
            </a:r>
            <a:endParaRPr lang="en-US" altLang="zh-TW" b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528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5	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endParaRPr lang="en-US" altLang="zh-TW" b="1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528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6	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528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7				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0" lvl="0" indent="0" eaLnBrk="1" hangingPunct="1">
              <a:spcBef>
                <a:spcPts val="528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361950" algn="l"/>
                <a:tab pos="808038" algn="l"/>
                <a:tab pos="1252538" algn="l"/>
                <a:tab pos="1524000" algn="l"/>
              </a:tabLst>
              <a:defRPr/>
            </a:pP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361950" algn="l"/>
                <a:tab pos="808038" algn="l"/>
                <a:tab pos="1252538" algn="l"/>
                <a:tab pos="1524000" algn="l"/>
              </a:tabLst>
              <a:defRPr/>
            </a:pP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361950" algn="l"/>
                <a:tab pos="808038" algn="l"/>
                <a:tab pos="1252538" algn="l"/>
                <a:tab pos="1524000" algn="l"/>
              </a:tabLst>
              <a:defRPr/>
            </a:pPr>
            <a:r>
              <a:rPr lang="en-US" altLang="zh-TW" dirty="0">
                <a:solidFill>
                  <a:srgbClr val="FF0000"/>
                </a:solidFill>
              </a:rPr>
              <a:t>The topology of the residual network </a:t>
            </a:r>
            <a:r>
              <a:rPr lang="en-US" altLang="zh-TW" i="1" dirty="0">
                <a:solidFill>
                  <a:srgbClr val="FF0000"/>
                </a:solidFill>
              </a:rPr>
              <a:t>R</a:t>
            </a:r>
            <a:r>
              <a:rPr lang="en-US" altLang="zh-TW" dirty="0">
                <a:solidFill>
                  <a:srgbClr val="FF0000"/>
                </a:solidFill>
              </a:rPr>
              <a:t> changes for each iteration of the </a:t>
            </a:r>
            <a:r>
              <a:rPr lang="en-US" altLang="zh-TW" b="1" dirty="0">
                <a:solidFill>
                  <a:srgbClr val="FF0000"/>
                </a:solidFill>
              </a:rPr>
              <a:t>while</a:t>
            </a:r>
            <a:r>
              <a:rPr lang="en-US" altLang="zh-TW" dirty="0">
                <a:solidFill>
                  <a:srgbClr val="FF0000"/>
                </a:solidFill>
              </a:rPr>
              <a:t> loop.</a:t>
            </a:r>
          </a:p>
        </p:txBody>
      </p:sp>
    </p:spTree>
    <p:extLst>
      <p:ext uri="{BB962C8B-B14F-4D97-AF65-F5344CB8AC3E}">
        <p14:creationId xmlns:p14="http://schemas.microsoft.com/office/powerpoint/2010/main" val="343124474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500149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Flow Networks</a:t>
            </a:r>
            <a:endParaRPr lang="zh-TW" altLang="en-US" dirty="0"/>
          </a:p>
        </p:txBody>
      </p:sp>
      <p:sp>
        <p:nvSpPr>
          <p:cNvPr id="57347" name="Rectangle 6"/>
          <p:cNvSpPr>
            <a:spLocks noGrp="1" noChangeArrowheads="1"/>
          </p:cNvSpPr>
          <p:nvPr>
            <p:ph idx="1"/>
          </p:nvPr>
        </p:nvSpPr>
        <p:spPr>
          <a:xfrm>
            <a:off x="432001" y="1268729"/>
            <a:ext cx="8280000" cy="5040271"/>
          </a:xfrm>
        </p:spPr>
        <p:txBody>
          <a:bodyPr lIns="90000" rIns="90000"/>
          <a:lstStyle/>
          <a:p>
            <a:pPr marL="0" indent="0" eaLnBrk="1" hangingPunct="1">
              <a:spcBef>
                <a:spcPct val="40000"/>
              </a:spcBef>
              <a:defRPr/>
            </a:pPr>
            <a:r>
              <a:rPr lang="en-US" altLang="zh-TW" sz="2200" dirty="0"/>
              <a:t>A </a:t>
            </a:r>
            <a:r>
              <a:rPr lang="en-US" altLang="zh-TW" sz="2200" i="1" spc="300" dirty="0">
                <a:solidFill>
                  <a:srgbClr val="0000FF"/>
                </a:solidFill>
              </a:rPr>
              <a:t>f</a:t>
            </a:r>
            <a:r>
              <a:rPr lang="en-US" altLang="zh-TW" sz="2200" i="1" dirty="0">
                <a:solidFill>
                  <a:srgbClr val="0000FF"/>
                </a:solidFill>
              </a:rPr>
              <a:t>low network</a:t>
            </a:r>
            <a:r>
              <a:rPr lang="en-US" altLang="zh-TW" sz="2200" dirty="0"/>
              <a:t> </a:t>
            </a:r>
            <a:r>
              <a:rPr lang="en-US" altLang="zh-TW" sz="2200" i="1" dirty="0"/>
              <a:t>G</a:t>
            </a:r>
            <a:r>
              <a:rPr lang="en-US" altLang="zh-TW" sz="2200" dirty="0"/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/>
              <a:t> (</a:t>
            </a:r>
            <a:r>
              <a:rPr lang="en-US" altLang="zh-TW" sz="2200" i="1" dirty="0"/>
              <a:t>V</a:t>
            </a:r>
            <a:r>
              <a:rPr lang="en-US" altLang="zh-TW" sz="2200" dirty="0"/>
              <a:t>, </a:t>
            </a:r>
            <a:r>
              <a:rPr lang="en-US" altLang="zh-TW" sz="2200" i="1" spc="300" dirty="0"/>
              <a:t>E</a:t>
            </a:r>
            <a:r>
              <a:rPr lang="en-US" altLang="zh-TW" sz="2200" dirty="0"/>
              <a:t>) is a </a:t>
            </a:r>
            <a:r>
              <a:rPr lang="en-US" altLang="zh-TW" sz="2200" dirty="0">
                <a:solidFill>
                  <a:schemeClr val="hlink"/>
                </a:solidFill>
              </a:rPr>
              <a:t>directed</a:t>
            </a:r>
            <a:r>
              <a:rPr lang="en-US" altLang="zh-TW" sz="2200" dirty="0"/>
              <a:t> graph in which each edge         (</a:t>
            </a:r>
            <a:r>
              <a:rPr lang="en-US" altLang="zh-TW" sz="2200" i="1" dirty="0"/>
              <a:t>u</a:t>
            </a:r>
            <a:r>
              <a:rPr lang="en-US" altLang="zh-TW" sz="2200" dirty="0"/>
              <a:t>, </a:t>
            </a:r>
            <a:r>
              <a:rPr lang="en-US" altLang="zh-TW" sz="2200" i="1" dirty="0"/>
              <a:t>v</a:t>
            </a:r>
            <a:r>
              <a:rPr lang="en-US" altLang="zh-TW" sz="2200" dirty="0"/>
              <a:t>) </a:t>
            </a:r>
            <a:r>
              <a:rPr lang="en-US" altLang="zh-TW" sz="2200" dirty="0"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sz="2200" dirty="0">
                <a:sym typeface="Symbol" pitchFamily="18" charset="2"/>
              </a:rPr>
              <a:t> </a:t>
            </a:r>
            <a:r>
              <a:rPr lang="en-US" altLang="zh-TW" sz="2200" i="1" dirty="0"/>
              <a:t>E</a:t>
            </a:r>
            <a:r>
              <a:rPr lang="en-US" altLang="zh-TW" sz="2200" dirty="0">
                <a:sym typeface="Symbol" pitchFamily="18" charset="2"/>
              </a:rPr>
              <a:t> has a positive</a:t>
            </a:r>
            <a:r>
              <a:rPr lang="en-US" altLang="zh-TW" sz="2200" dirty="0"/>
              <a:t> </a:t>
            </a:r>
            <a:r>
              <a:rPr lang="en-US" altLang="zh-TW" sz="2200" i="1" dirty="0">
                <a:solidFill>
                  <a:srgbClr val="0000FF"/>
                </a:solidFill>
              </a:rPr>
              <a:t>capacity </a:t>
            </a:r>
            <a:r>
              <a:rPr lang="en-US" altLang="zh-TW" sz="2200" i="1" dirty="0"/>
              <a:t>c</a:t>
            </a:r>
            <a:r>
              <a:rPr lang="en-US" altLang="zh-TW" sz="2200" dirty="0"/>
              <a:t>(</a:t>
            </a:r>
            <a:r>
              <a:rPr lang="en-US" altLang="zh-TW" sz="2200" i="1" dirty="0"/>
              <a:t>u</a:t>
            </a:r>
            <a:r>
              <a:rPr lang="en-US" altLang="zh-TW" sz="2200" dirty="0"/>
              <a:t>, </a:t>
            </a:r>
            <a:r>
              <a:rPr lang="en-US" altLang="zh-TW" sz="2200" i="1" dirty="0"/>
              <a:t>v</a:t>
            </a:r>
            <a:r>
              <a:rPr lang="en-US" altLang="zh-TW" sz="2200" dirty="0"/>
              <a:t>) </a:t>
            </a:r>
            <a:r>
              <a:rPr lang="en-US" altLang="zh-TW" sz="2000" dirty="0"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&gt;</a:t>
            </a:r>
            <a:r>
              <a:rPr lang="en-US" altLang="zh-TW" sz="2200" dirty="0">
                <a:sym typeface="Symbol" pitchFamily="18" charset="2"/>
              </a:rPr>
              <a:t> 0.</a:t>
            </a:r>
          </a:p>
          <a:p>
            <a:pPr marL="0" lvl="0" indent="0" eaLnBrk="1" hangingPunct="1">
              <a:spcBef>
                <a:spcPct val="40000"/>
              </a:spcBef>
              <a:buClr>
                <a:srgbClr val="3333CC"/>
              </a:buClr>
              <a:defRPr/>
            </a:pPr>
            <a:r>
              <a:rPr lang="en-US" altLang="zh-TW" dirty="0">
                <a:solidFill>
                  <a:srgbClr val="000000"/>
                </a:solidFill>
              </a:rPr>
              <a:t>We further require that if </a:t>
            </a:r>
            <a:r>
              <a:rPr lang="en-US" altLang="zh-TW" i="1" dirty="0">
                <a:solidFill>
                  <a:srgbClr val="000000"/>
                </a:solidFill>
              </a:rPr>
              <a:t>E</a:t>
            </a:r>
            <a:r>
              <a:rPr lang="en-US" altLang="zh-TW" dirty="0">
                <a:solidFill>
                  <a:srgbClr val="000000"/>
                </a:solidFill>
              </a:rPr>
              <a:t> contains an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), then there is no edge (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 in the reverse direction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, and we disallow self-loops</a:t>
            </a:r>
            <a:r>
              <a:rPr lang="en-US" altLang="zh-TW" dirty="0">
                <a:solidFill>
                  <a:srgbClr val="000000"/>
                </a:solidFill>
              </a:rPr>
              <a:t>.</a:t>
            </a:r>
          </a:p>
          <a:p>
            <a:pPr marL="0" indent="0" eaLnBrk="1" hangingPunct="1">
              <a:spcBef>
                <a:spcPct val="40000"/>
              </a:spcBef>
              <a:defRPr/>
            </a:pPr>
            <a:r>
              <a:rPr lang="en-US" altLang="zh-TW" sz="2200" dirty="0"/>
              <a:t>If (</a:t>
            </a:r>
            <a:r>
              <a:rPr lang="en-US" altLang="zh-TW" sz="2200" i="1" dirty="0"/>
              <a:t>u</a:t>
            </a:r>
            <a:r>
              <a:rPr lang="en-US" altLang="zh-TW" sz="2200" dirty="0"/>
              <a:t>, </a:t>
            </a:r>
            <a:r>
              <a:rPr lang="en-US" altLang="zh-TW" sz="2200" i="1" dirty="0"/>
              <a:t>v</a:t>
            </a:r>
            <a:r>
              <a:rPr lang="en-US" altLang="zh-TW" sz="2200" dirty="0"/>
              <a:t>)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∉</a:t>
            </a:r>
            <a:r>
              <a:rPr lang="en-US" altLang="zh-TW" sz="2200" dirty="0">
                <a:sym typeface="Symbol" pitchFamily="18" charset="2"/>
              </a:rPr>
              <a:t> </a:t>
            </a:r>
            <a:r>
              <a:rPr lang="en-US" altLang="zh-TW" sz="2200" i="1" dirty="0"/>
              <a:t>E</a:t>
            </a:r>
            <a:r>
              <a:rPr lang="en-US" altLang="zh-TW" sz="2200" dirty="0">
                <a:sym typeface="Symbol" pitchFamily="18" charset="2"/>
              </a:rPr>
              <a:t>, then we define </a:t>
            </a:r>
            <a:r>
              <a:rPr lang="en-US" altLang="zh-TW" sz="2200" i="1" dirty="0"/>
              <a:t>c</a:t>
            </a:r>
            <a:r>
              <a:rPr lang="en-US" altLang="zh-TW" sz="2200" dirty="0"/>
              <a:t>(</a:t>
            </a:r>
            <a:r>
              <a:rPr lang="en-US" altLang="zh-TW" sz="2200" i="1" dirty="0"/>
              <a:t>u</a:t>
            </a:r>
            <a:r>
              <a:rPr lang="en-US" altLang="zh-TW" sz="2200" dirty="0"/>
              <a:t>, </a:t>
            </a:r>
            <a:r>
              <a:rPr lang="en-US" altLang="zh-TW" sz="2200" i="1" dirty="0"/>
              <a:t>v</a:t>
            </a:r>
            <a:r>
              <a:rPr lang="en-US" altLang="zh-TW" sz="2200" dirty="0"/>
              <a:t>) </a:t>
            </a:r>
            <a:r>
              <a:rPr lang="en-US" altLang="zh-TW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/>
              <a:t> </a:t>
            </a:r>
            <a:r>
              <a:rPr lang="en-US" altLang="zh-TW" sz="2200" dirty="0">
                <a:sym typeface="Symbol" pitchFamily="18" charset="2"/>
              </a:rPr>
              <a:t>0</a:t>
            </a:r>
            <a:r>
              <a:rPr lang="en-US" altLang="zh-TW" sz="2200" dirty="0"/>
              <a:t>.</a:t>
            </a:r>
          </a:p>
          <a:p>
            <a:pPr marL="0" lvl="0" indent="0" eaLnBrk="1" hangingPunct="1">
              <a:spcBef>
                <a:spcPct val="40000"/>
              </a:spcBef>
              <a:buClr>
                <a:srgbClr val="3333CC"/>
              </a:buClr>
              <a:defRPr/>
            </a:pPr>
            <a:r>
              <a:rPr lang="en-US" altLang="zh-TW" dirty="0">
                <a:solidFill>
                  <a:srgbClr val="000000"/>
                </a:solidFill>
              </a:rPr>
              <a:t>Each flow network contains two distinguished nodes: a </a:t>
            </a:r>
            <a:r>
              <a:rPr lang="en-US" altLang="zh-TW" i="1" dirty="0">
                <a:solidFill>
                  <a:srgbClr val="0000FF"/>
                </a:solidFill>
              </a:rPr>
              <a:t>source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and a </a:t>
            </a:r>
            <a:r>
              <a:rPr lang="en-US" altLang="zh-TW" i="1" dirty="0">
                <a:solidFill>
                  <a:srgbClr val="0000FF"/>
                </a:solidFill>
              </a:rPr>
              <a:t>sink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.</a:t>
            </a:r>
          </a:p>
          <a:p>
            <a:pPr marL="0" indent="0" eaLnBrk="1" hangingPunct="1">
              <a:spcBef>
                <a:spcPct val="40000"/>
              </a:spcBef>
              <a:defRPr/>
            </a:pPr>
            <a:r>
              <a:rPr lang="en-US" altLang="zh-TW" sz="2200" dirty="0"/>
              <a:t>For convenience, we assume that </a:t>
            </a:r>
            <a:r>
              <a:rPr lang="en-US" altLang="zh-TW" sz="2200" dirty="0">
                <a:solidFill>
                  <a:schemeClr val="hlink"/>
                </a:solidFill>
              </a:rPr>
              <a:t>each node lies on some path from the source to the sink</a:t>
            </a:r>
            <a:r>
              <a:rPr lang="en-US" altLang="zh-TW" sz="2200" dirty="0"/>
              <a:t>.</a:t>
            </a:r>
          </a:p>
          <a:p>
            <a:pPr marL="0" indent="0" eaLnBrk="1" hangingPunct="1">
              <a:spcBef>
                <a:spcPts val="0"/>
              </a:spcBef>
              <a:defRPr/>
            </a:pPr>
            <a:endParaRPr lang="en-US" altLang="zh-TW" sz="2200" dirty="0"/>
          </a:p>
          <a:p>
            <a:pPr marL="0" indent="0" eaLnBrk="1" hangingPunct="1">
              <a:spcBef>
                <a:spcPts val="0"/>
              </a:spcBef>
              <a:tabLst>
                <a:tab pos="1163638" algn="l"/>
              </a:tabLst>
              <a:defRPr/>
            </a:pPr>
            <a:r>
              <a:rPr lang="en-US" altLang="zh-TW" sz="2200" dirty="0">
                <a:sym typeface="Symbol" pitchFamily="18" charset="2"/>
              </a:rPr>
              <a:t>Let </a:t>
            </a:r>
            <a:r>
              <a:rPr lang="en-US" altLang="zh-TW" i="1" spc="300" dirty="0" err="1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spc="50" dirty="0" err="1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×</a:t>
            </a:r>
            <a:r>
              <a:rPr lang="en-US" altLang="zh-TW" i="1" dirty="0" err="1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V</a:t>
            </a:r>
            <a:r>
              <a:rPr lang="zh-TW" altLang="en-US" sz="2200" dirty="0"/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/>
              <a:t> {(</a:t>
            </a:r>
            <a:r>
              <a:rPr lang="en-US" altLang="zh-TW" sz="2200" i="1" dirty="0"/>
              <a:t>x</a:t>
            </a:r>
            <a:r>
              <a:rPr lang="en-US" altLang="zh-TW" sz="2200" dirty="0"/>
              <a:t>, </a:t>
            </a:r>
            <a:r>
              <a:rPr lang="en-US" altLang="zh-TW" sz="2200" i="1" dirty="0"/>
              <a:t>y</a:t>
            </a:r>
            <a:r>
              <a:rPr lang="en-US" altLang="zh-TW" sz="2200" dirty="0"/>
              <a:t>) </a:t>
            </a:r>
            <a:r>
              <a:rPr lang="en-US" altLang="zh-TW" sz="2200" b="1" dirty="0"/>
              <a:t>|</a:t>
            </a:r>
            <a:r>
              <a:rPr lang="en-US" altLang="zh-TW" sz="2200" dirty="0"/>
              <a:t> </a:t>
            </a:r>
            <a:r>
              <a:rPr lang="en-US" altLang="zh-TW" sz="2200" i="1" dirty="0"/>
              <a:t>x</a:t>
            </a:r>
            <a:r>
              <a:rPr lang="en-US" altLang="zh-TW" sz="2200" dirty="0"/>
              <a:t>, </a:t>
            </a:r>
            <a:r>
              <a:rPr lang="en-US" altLang="zh-TW" sz="2200" i="1" dirty="0"/>
              <a:t>y</a:t>
            </a:r>
            <a:r>
              <a:rPr lang="en-US" altLang="zh-TW" sz="2200" dirty="0"/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sz="2200" dirty="0">
                <a:sym typeface="Symbol" pitchFamily="18" charset="2"/>
              </a:rPr>
              <a:t> </a:t>
            </a:r>
            <a:r>
              <a:rPr lang="en-US" altLang="zh-TW" sz="2200" i="1" spc="300" dirty="0">
                <a:sym typeface="Symbol" pitchFamily="18" charset="2"/>
              </a:rPr>
              <a:t>V</a:t>
            </a:r>
            <a:r>
              <a:rPr lang="en-US" altLang="zh-TW" sz="2200" dirty="0">
                <a:sym typeface="Symbol" pitchFamily="18" charset="2"/>
              </a:rPr>
              <a:t>}.</a:t>
            </a:r>
          </a:p>
          <a:p>
            <a:pPr marL="0" indent="0" eaLnBrk="1" hangingPunct="1">
              <a:tabLst>
                <a:tab pos="1163638" algn="l"/>
              </a:tabLst>
              <a:defRPr/>
            </a:pPr>
            <a:r>
              <a:rPr lang="en-US" altLang="zh-TW" sz="2200" dirty="0">
                <a:sym typeface="Symbol" pitchFamily="18" charset="2"/>
              </a:rPr>
              <a:t>If </a:t>
            </a:r>
            <a:r>
              <a:rPr lang="en-US" altLang="zh-TW" sz="2200" i="1" dirty="0">
                <a:sym typeface="Symbol" pitchFamily="18" charset="2"/>
              </a:rPr>
              <a:t>V</a:t>
            </a:r>
            <a:r>
              <a:rPr lang="en-US" altLang="zh-TW" sz="2200" dirty="0">
                <a:sym typeface="Symbol" pitchFamily="18" charset="2"/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ym typeface="Symbol" pitchFamily="18" charset="2"/>
              </a:rPr>
              <a:t> {</a:t>
            </a:r>
            <a:r>
              <a:rPr lang="en-US" altLang="zh-TW" sz="2200" i="1" dirty="0">
                <a:sym typeface="Symbol" pitchFamily="18" charset="2"/>
              </a:rPr>
              <a:t>a</a:t>
            </a:r>
            <a:r>
              <a:rPr lang="en-US" altLang="zh-TW" sz="2200" dirty="0">
                <a:sym typeface="Symbol" pitchFamily="18" charset="2"/>
              </a:rPr>
              <a:t>, </a:t>
            </a:r>
            <a:r>
              <a:rPr lang="en-US" altLang="zh-TW" sz="2200" i="1" dirty="0">
                <a:sym typeface="Symbol" pitchFamily="18" charset="2"/>
              </a:rPr>
              <a:t>b</a:t>
            </a:r>
            <a:r>
              <a:rPr lang="en-US" altLang="zh-TW" sz="2200" dirty="0">
                <a:sym typeface="Symbol" pitchFamily="18" charset="2"/>
              </a:rPr>
              <a:t>, </a:t>
            </a:r>
            <a:r>
              <a:rPr lang="en-US" altLang="zh-TW" sz="2200" i="1" dirty="0">
                <a:sym typeface="Symbol" pitchFamily="18" charset="2"/>
              </a:rPr>
              <a:t>c</a:t>
            </a:r>
            <a:r>
              <a:rPr lang="en-US" altLang="zh-TW" sz="2200" dirty="0">
                <a:sym typeface="Symbol" pitchFamily="18" charset="2"/>
              </a:rPr>
              <a:t>}, then</a:t>
            </a:r>
          </a:p>
          <a:p>
            <a:pPr marL="0" indent="0" eaLnBrk="1" hangingPunct="1">
              <a:tabLst>
                <a:tab pos="1163638" algn="l"/>
              </a:tabLst>
              <a:defRPr/>
            </a:pPr>
            <a:r>
              <a:rPr lang="en-US" altLang="zh-TW" i="1" spc="300" dirty="0" err="1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spc="50" dirty="0" err="1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×</a:t>
            </a:r>
            <a:r>
              <a:rPr lang="en-US" altLang="zh-TW" i="1" dirty="0" err="1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V</a:t>
            </a:r>
            <a:r>
              <a:rPr lang="zh-TW" altLang="en-US" sz="2200" dirty="0"/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/>
              <a:t> {(</a:t>
            </a:r>
            <a:r>
              <a:rPr lang="en-US" altLang="zh-TW" sz="2200" i="1" dirty="0"/>
              <a:t>a</a:t>
            </a:r>
            <a:r>
              <a:rPr lang="en-US" altLang="zh-TW" sz="2200" dirty="0"/>
              <a:t>, </a:t>
            </a:r>
            <a:r>
              <a:rPr lang="en-US" altLang="zh-TW" sz="2200" i="1" dirty="0"/>
              <a:t>a</a:t>
            </a:r>
            <a:r>
              <a:rPr lang="en-US" altLang="zh-TW" sz="2200" dirty="0"/>
              <a:t>), (</a:t>
            </a:r>
            <a:r>
              <a:rPr lang="en-US" altLang="zh-TW" sz="2200" i="1" dirty="0"/>
              <a:t>a</a:t>
            </a:r>
            <a:r>
              <a:rPr lang="en-US" altLang="zh-TW" sz="2200" dirty="0"/>
              <a:t>, </a:t>
            </a:r>
            <a:r>
              <a:rPr lang="en-US" altLang="zh-TW" sz="2200" i="1" dirty="0"/>
              <a:t>b</a:t>
            </a:r>
            <a:r>
              <a:rPr lang="en-US" altLang="zh-TW" sz="2200" dirty="0"/>
              <a:t>), (</a:t>
            </a:r>
            <a:r>
              <a:rPr lang="en-US" altLang="zh-TW" sz="2200" i="1" dirty="0"/>
              <a:t>a</a:t>
            </a:r>
            <a:r>
              <a:rPr lang="en-US" altLang="zh-TW" sz="2200" dirty="0"/>
              <a:t>, </a:t>
            </a:r>
            <a:r>
              <a:rPr lang="en-US" altLang="zh-TW" sz="2200" i="1" dirty="0"/>
              <a:t>c</a:t>
            </a:r>
            <a:r>
              <a:rPr lang="en-US" altLang="zh-TW" sz="2200" dirty="0"/>
              <a:t>), (</a:t>
            </a:r>
            <a:r>
              <a:rPr lang="en-US" altLang="zh-TW" sz="2200" i="1" dirty="0"/>
              <a:t>b</a:t>
            </a:r>
            <a:r>
              <a:rPr lang="en-US" altLang="zh-TW" sz="2200" dirty="0"/>
              <a:t>, </a:t>
            </a:r>
            <a:r>
              <a:rPr lang="en-US" altLang="zh-TW" sz="2200" i="1" dirty="0"/>
              <a:t>a</a:t>
            </a:r>
            <a:r>
              <a:rPr lang="en-US" altLang="zh-TW" sz="2200" dirty="0"/>
              <a:t>), (</a:t>
            </a:r>
            <a:r>
              <a:rPr lang="en-US" altLang="zh-TW" sz="2200" i="1" dirty="0"/>
              <a:t>b</a:t>
            </a:r>
            <a:r>
              <a:rPr lang="en-US" altLang="zh-TW" sz="2200" dirty="0"/>
              <a:t>, </a:t>
            </a:r>
            <a:r>
              <a:rPr lang="en-US" altLang="zh-TW" sz="2200" i="1" dirty="0"/>
              <a:t>b</a:t>
            </a:r>
            <a:r>
              <a:rPr lang="en-US" altLang="zh-TW" sz="2200" dirty="0"/>
              <a:t>), (</a:t>
            </a:r>
            <a:r>
              <a:rPr lang="en-US" altLang="zh-TW" sz="2200" i="1" dirty="0"/>
              <a:t>b</a:t>
            </a:r>
            <a:r>
              <a:rPr lang="en-US" altLang="zh-TW" sz="2200" dirty="0"/>
              <a:t>, </a:t>
            </a:r>
            <a:r>
              <a:rPr lang="en-US" altLang="zh-TW" sz="2200" i="1" dirty="0"/>
              <a:t>c</a:t>
            </a:r>
            <a:r>
              <a:rPr lang="en-US" altLang="zh-TW" sz="2200" dirty="0"/>
              <a:t>), (</a:t>
            </a:r>
            <a:r>
              <a:rPr lang="en-US" altLang="zh-TW" sz="2200" i="1" dirty="0"/>
              <a:t>c</a:t>
            </a:r>
            <a:r>
              <a:rPr lang="en-US" altLang="zh-TW" sz="2200" dirty="0"/>
              <a:t>, </a:t>
            </a:r>
            <a:r>
              <a:rPr lang="en-US" altLang="zh-TW" sz="2200" i="1" dirty="0"/>
              <a:t>a</a:t>
            </a:r>
            <a:r>
              <a:rPr lang="en-US" altLang="zh-TW" sz="2200" dirty="0"/>
              <a:t>), (</a:t>
            </a:r>
            <a:r>
              <a:rPr lang="en-US" altLang="zh-TW" sz="2200" i="1" dirty="0"/>
              <a:t>c</a:t>
            </a:r>
            <a:r>
              <a:rPr lang="en-US" altLang="zh-TW" sz="2200" dirty="0"/>
              <a:t>, </a:t>
            </a:r>
            <a:r>
              <a:rPr lang="en-US" altLang="zh-TW" sz="2200" i="1" dirty="0"/>
              <a:t>b</a:t>
            </a:r>
            <a:r>
              <a:rPr lang="en-US" altLang="zh-TW" sz="2200" dirty="0"/>
              <a:t>), (</a:t>
            </a:r>
            <a:r>
              <a:rPr lang="en-US" altLang="zh-TW" sz="2200" i="1" dirty="0"/>
              <a:t>c</a:t>
            </a:r>
            <a:r>
              <a:rPr lang="en-US" altLang="zh-TW" sz="2200" dirty="0"/>
              <a:t>, </a:t>
            </a:r>
            <a:r>
              <a:rPr lang="en-US" altLang="zh-TW" sz="2200" i="1" dirty="0"/>
              <a:t>c</a:t>
            </a:r>
            <a:r>
              <a:rPr lang="en-US" altLang="zh-TW" sz="2200" dirty="0"/>
              <a:t>)}.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88080922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Residual Networks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/>
              <a:t> Modified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37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32000" y="1449000"/>
                <a:ext cx="8280000" cy="4860000"/>
              </a:xfrm>
            </p:spPr>
            <p:txBody>
              <a:bodyPr/>
              <a:lstStyle/>
              <a:p>
                <a:pPr marL="0" indent="0" eaLnBrk="1" hangingPunct="1">
                  <a:spcBef>
                    <a:spcPct val="50000"/>
                  </a:spcBef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For a flow network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E</a:t>
                </a:r>
                <a:r>
                  <a:rPr lang="en-US" altLang="zh-TW" sz="12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 with source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s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sink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t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and a flow </a:t>
                </a:r>
                <a:r>
                  <a:rPr lang="en-US" altLang="zh-TW" sz="12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spc="300" dirty="0">
                    <a:solidFill>
                      <a:srgbClr val="000000"/>
                    </a:solidFill>
                  </a:rPr>
                  <a:t>f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consider a pair of nodes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∈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  <a:sym typeface="Symbol" pitchFamily="18" charset="2"/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. </a:t>
                </a:r>
                <a:r>
                  <a:rPr lang="en-US" altLang="zh-TW" dirty="0"/>
                  <a:t>We define the 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residual capacity</a:t>
                </a:r>
                <a:r>
                  <a:rPr lang="en-US" altLang="zh-TW" dirty="0"/>
                  <a:t>     </a:t>
                </a:r>
                <a:r>
                  <a:rPr lang="en-US" altLang="zh-TW" i="1" dirty="0" err="1">
                    <a:solidFill>
                      <a:srgbClr val="000000"/>
                    </a:solidFill>
                  </a:rPr>
                  <a:t>r</a:t>
                </a:r>
                <a:r>
                  <a:rPr lang="en-US" altLang="zh-TW" i="1" spc="100" dirty="0" err="1">
                    <a:solidFill>
                      <a:srgbClr val="000000"/>
                    </a:solidFill>
                  </a:rPr>
                  <a:t>c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dirty="0"/>
                  <a:t>u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v</a:t>
                </a:r>
                <a:r>
                  <a:rPr lang="en-US" altLang="zh-TW" dirty="0"/>
                  <a:t>) by</a:t>
                </a:r>
              </a:p>
              <a:p>
                <a:pPr marL="0" indent="0" eaLnBrk="1" hangingPunct="1">
                  <a:spcBef>
                    <a:spcPts val="0"/>
                  </a:spcBef>
                </a:pPr>
                <a:endParaRPr lang="en-US" altLang="zh-TW" dirty="0"/>
              </a:p>
              <a:p>
                <a:pPr marL="0" indent="0" eaLnBrk="1" hangingPunct="1"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b="0" i="1" dirty="0" smtClean="0">
                          <a:solidFill>
                            <a:srgbClr val="000000"/>
                          </a:solidFill>
                        </a:rPr>
                        <m:t>r</m:t>
                      </m:r>
                      <m:r>
                        <m:rPr>
                          <m:nor/>
                        </m:rPr>
                        <a:rPr lang="en-US" altLang="zh-TW" i="1" dirty="0">
                          <a:solidFill>
                            <a:srgbClr val="000000"/>
                          </a:solidFill>
                        </a:rPr>
                        <m:t>c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TW" i="1" dirty="0">
                          <a:solidFill>
                            <a:srgbClr val="000000"/>
                          </a:solidFill>
                        </a:rPr>
                        <m:t>u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, </m:t>
                      </m:r>
                      <m:r>
                        <m:rPr>
                          <m:nor/>
                        </m:rPr>
                        <a:rPr lang="en-US" altLang="zh-TW" i="1" dirty="0">
                          <a:solidFill>
                            <a:srgbClr val="000000"/>
                          </a:solidFill>
                        </a:rPr>
                        <m:t>v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)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)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200" dirty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dirty="0" smtClean="0">
                                    <a:solidFill>
                                      <a:srgbClr val="000000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dirty="0" smtClean="0">
                                    <a:solidFill>
                                      <a:srgbClr val="000000"/>
                                    </a:solidFill>
                                  </a:rPr>
                                  <m:t>)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itchFamily="18" charset="2"/>
                                  </a:rPr>
                                  <m:t>∈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  <a:sym typeface="Symbol" pitchFamily="18" charset="2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200" dirty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1" dirty="0" smtClean="0">
                                    <a:solidFill>
                                      <a:srgbClr val="000000"/>
                                    </a:solidFill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1" dirty="0" smtClean="0">
                                    <a:solidFill>
                                      <a:srgbClr val="000000"/>
                                    </a:solidFill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)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dirty="0" smtClean="0">
                                    <a:solidFill>
                                      <a:srgbClr val="000000"/>
                                    </a:solidFill>
                                  </a:rPr>
                                  <m:t>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1" dirty="0" smtClean="0">
                                    <a:solidFill>
                                      <a:srgbClr val="000000"/>
                                    </a:solidFill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1" dirty="0" smtClean="0">
                                    <a:solidFill>
                                      <a:srgbClr val="000000"/>
                                    </a:solidFill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)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itchFamily="18" charset="2"/>
                                  </a:rPr>
                                  <m:t>∈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  <a:sym typeface="Symbol" pitchFamily="18" charset="2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0                       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otherwise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. 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dirty="0"/>
              </a:p>
              <a:p>
                <a:pPr marL="0" indent="0" eaLnBrk="1" hangingPunct="1">
                  <a:spcBef>
                    <a:spcPts val="0"/>
                  </a:spcBef>
                </a:pPr>
                <a:endParaRPr lang="en-US" altLang="zh-TW" dirty="0"/>
              </a:p>
              <a:p>
                <a:pPr marL="0" indent="0" eaLnBrk="1" hangingPunct="1">
                  <a:spcBef>
                    <a:spcPts val="0"/>
                  </a:spcBef>
                </a:pPr>
                <a:r>
                  <a:rPr lang="en-US" altLang="zh-TW" dirty="0"/>
                  <a:t>The 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residual network</a:t>
                </a:r>
                <a:r>
                  <a:rPr lang="en-US" altLang="zh-TW" dirty="0"/>
                  <a:t> of </a:t>
                </a:r>
                <a:r>
                  <a:rPr lang="en-US" altLang="zh-TW" i="1" dirty="0"/>
                  <a:t>G</a:t>
                </a:r>
                <a:r>
                  <a:rPr lang="en-US" altLang="zh-TW" dirty="0"/>
                  <a:t> induced by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/>
                  <a:t>f</a:t>
                </a:r>
                <a:r>
                  <a:rPr lang="en-US" altLang="zh-TW" dirty="0"/>
                  <a:t> </a:t>
                </a:r>
                <a:r>
                  <a:rPr lang="en-US" altLang="zh-TW" sz="1200" dirty="0"/>
                  <a:t> </a:t>
                </a:r>
                <a:r>
                  <a:rPr lang="en-US" altLang="zh-TW" dirty="0"/>
                  <a:t>is </a:t>
                </a:r>
                <a:r>
                  <a:rPr lang="en-US" altLang="zh-TW" i="1" dirty="0"/>
                  <a:t>R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(</a:t>
                </a:r>
                <a:r>
                  <a:rPr lang="en-US" altLang="zh-TW" i="1" dirty="0"/>
                  <a:t>V</a:t>
                </a:r>
                <a:r>
                  <a:rPr lang="en-US" altLang="zh-TW" dirty="0"/>
                  <a:t>, </a:t>
                </a:r>
                <a:r>
                  <a:rPr lang="en-US" altLang="zh-TW" i="1" spc="100" dirty="0">
                    <a:solidFill>
                      <a:srgbClr val="000000"/>
                    </a:solidFill>
                  </a:rPr>
                  <a:t>E</a:t>
                </a:r>
                <a:r>
                  <a:rPr lang="en-US" altLang="zh-TW" spc="1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′</a:t>
                </a:r>
                <a:r>
                  <a:rPr lang="en-US" altLang="zh-TW" dirty="0"/>
                  <a:t>), where</a:t>
                </a:r>
              </a:p>
              <a:p>
                <a:pPr marL="0" indent="0" eaLnBrk="1" hangingPunct="1">
                  <a:spcBef>
                    <a:spcPts val="0"/>
                  </a:spcBef>
                </a:pPr>
                <a:r>
                  <a:rPr lang="en-US" altLang="zh-TW" i="1" spc="100" dirty="0">
                    <a:solidFill>
                      <a:srgbClr val="000000"/>
                    </a:solidFill>
                  </a:rPr>
                  <a:t>E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′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{(</a:t>
                </a:r>
                <a:r>
                  <a:rPr lang="en-US" altLang="zh-TW" i="1" dirty="0"/>
                  <a:t>u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v</a:t>
                </a:r>
                <a:r>
                  <a:rPr lang="en-US" altLang="zh-TW" dirty="0"/>
                  <a:t>)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∈</a:t>
                </a:r>
                <a:r>
                  <a:rPr lang="en-US" altLang="zh-TW" dirty="0">
                    <a:sym typeface="Symbol" pitchFamily="18" charset="2"/>
                  </a:rPr>
                  <a:t> </a:t>
                </a:r>
                <a:r>
                  <a:rPr lang="en-US" altLang="zh-TW" i="1" spc="300" dirty="0" err="1">
                    <a:solidFill>
                      <a:srgbClr val="000000"/>
                    </a:solidFill>
                    <a:sym typeface="Symbol" pitchFamily="18" charset="2"/>
                  </a:rPr>
                  <a:t>V</a:t>
                </a:r>
                <a:r>
                  <a:rPr lang="en-US" altLang="zh-TW" spc="50" dirty="0" err="1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×</a:t>
                </a:r>
                <a:r>
                  <a:rPr lang="en-US" altLang="zh-TW" i="1" dirty="0" err="1">
                    <a:solidFill>
                      <a:srgbClr val="000000"/>
                    </a:solidFill>
                    <a:cs typeface="Times New Roman" pitchFamily="18" charset="0"/>
                    <a:sym typeface="Symbol" pitchFamily="18" charset="2"/>
                  </a:rPr>
                  <a:t>V</a:t>
                </a:r>
                <a:r>
                  <a:rPr lang="en-US" altLang="zh-TW" dirty="0">
                    <a:sym typeface="Symbol" pitchFamily="18" charset="2"/>
                  </a:rPr>
                  <a:t> :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(</a:t>
                </a:r>
                <a:r>
                  <a:rPr lang="en-US" altLang="zh-TW" i="1" dirty="0">
                    <a:solidFill>
                      <a:srgbClr val="FF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FF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) </a:t>
                </a:r>
                <a:r>
                  <a:rPr lang="en-US" altLang="zh-TW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∈</a:t>
                </a:r>
                <a:r>
                  <a:rPr lang="en-US" altLang="zh-TW" dirty="0">
                    <a:solidFill>
                      <a:srgbClr val="FF0000"/>
                    </a:solidFill>
                    <a:sym typeface="Symbol" pitchFamily="18" charset="2"/>
                  </a:rPr>
                  <a:t> </a:t>
                </a:r>
                <a:r>
                  <a:rPr lang="en-US" altLang="zh-TW" i="1" dirty="0">
                    <a:solidFill>
                      <a:srgbClr val="FF0000"/>
                    </a:solidFill>
                  </a:rPr>
                  <a:t>E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 or (</a:t>
                </a:r>
                <a:r>
                  <a:rPr lang="en-US" altLang="zh-TW" i="1" dirty="0">
                    <a:solidFill>
                      <a:srgbClr val="FF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FF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) </a:t>
                </a:r>
                <a:r>
                  <a:rPr lang="en-US" altLang="zh-TW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∈</a:t>
                </a:r>
                <a:r>
                  <a:rPr lang="en-US" altLang="zh-TW" dirty="0">
                    <a:solidFill>
                      <a:srgbClr val="FF0000"/>
                    </a:solidFill>
                    <a:sym typeface="Symbol" pitchFamily="18" charset="2"/>
                  </a:rPr>
                  <a:t> </a:t>
                </a:r>
                <a:r>
                  <a:rPr lang="en-US" altLang="zh-TW" i="1" dirty="0">
                    <a:solidFill>
                      <a:srgbClr val="FF0000"/>
                    </a:solidFill>
                  </a:rPr>
                  <a:t>E</a:t>
                </a:r>
                <a:r>
                  <a:rPr lang="en-US" altLang="zh-TW" dirty="0"/>
                  <a:t>},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in which each edge         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∈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 </a:t>
                </a:r>
                <a:r>
                  <a:rPr lang="en-US" altLang="zh-TW" i="1" spc="100" dirty="0">
                    <a:solidFill>
                      <a:srgbClr val="000000"/>
                    </a:solidFill>
                  </a:rPr>
                  <a:t>E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′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 is assigned the</a:t>
                </a:r>
                <a:r>
                  <a:rPr lang="en-US" altLang="zh-TW" dirty="0">
                    <a:sym typeface="Symbol" pitchFamily="18" charset="2"/>
                  </a:rPr>
                  <a:t> </a:t>
                </a:r>
                <a:r>
                  <a:rPr lang="en-US" altLang="zh-TW" dirty="0"/>
                  <a:t>residual capacity </a:t>
                </a:r>
                <a:r>
                  <a:rPr lang="en-US" altLang="zh-TW" i="1" dirty="0" err="1">
                    <a:solidFill>
                      <a:srgbClr val="000000"/>
                    </a:solidFill>
                  </a:rPr>
                  <a:t>r</a:t>
                </a:r>
                <a:r>
                  <a:rPr lang="en-US" altLang="zh-TW" i="1" spc="100" dirty="0" err="1">
                    <a:solidFill>
                      <a:srgbClr val="000000"/>
                    </a:solidFill>
                  </a:rPr>
                  <a:t>c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.</a:t>
                </a:r>
                <a:endParaRPr lang="en-US" altLang="zh-TW" dirty="0"/>
              </a:p>
              <a:p>
                <a:pPr marL="0" indent="0" eaLnBrk="1" hangingPunct="1">
                  <a:spcBef>
                    <a:spcPts val="0"/>
                  </a:spcBef>
                </a:pPr>
                <a:endParaRPr lang="en-US" altLang="zh-TW" dirty="0"/>
              </a:p>
              <a:p>
                <a:pPr marL="0" indent="0" eaLnBrk="1" hangingPunct="1">
                  <a:spcBef>
                    <a:spcPts val="0"/>
                  </a:spcBef>
                </a:pPr>
                <a:r>
                  <a:rPr lang="en-US" altLang="zh-TW" dirty="0"/>
                  <a:t>The topology of the residual network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R</a:t>
                </a:r>
                <a:r>
                  <a:rPr lang="en-US" altLang="zh-TW" dirty="0"/>
                  <a:t> depends only on the topology of the flow network, and is independent of the residual capacity.</a:t>
                </a:r>
              </a:p>
            </p:txBody>
          </p:sp>
        </mc:Choice>
        <mc:Fallback xmlns="">
          <p:sp>
            <p:nvSpPr>
              <p:cNvPr id="583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2000" y="1449000"/>
                <a:ext cx="8280000" cy="4860000"/>
              </a:xfrm>
              <a:blipFill>
                <a:blip r:embed="rId2"/>
                <a:stretch>
                  <a:fillRect l="-957" t="-1004" r="-1546" b="-238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708140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Rectangle 8"/>
          <p:cNvSpPr>
            <a:spLocks noGrp="1" noChangeArrowheads="1"/>
          </p:cNvSpPr>
          <p:nvPr>
            <p:ph type="body" sz="half" idx="2"/>
          </p:nvPr>
        </p:nvSpPr>
        <p:spPr>
          <a:xfrm>
            <a:off x="5472113" y="728663"/>
            <a:ext cx="3240087" cy="539750"/>
          </a:xfrm>
        </p:spPr>
        <p:txBody>
          <a:bodyPr/>
          <a:lstStyle/>
          <a:p>
            <a:pPr marL="0" indent="0" eaLnBrk="1" hangingPunct="1"/>
            <a:r>
              <a:rPr lang="en-US" altLang="zh-TW" sz="3200" dirty="0">
                <a:solidFill>
                  <a:srgbClr val="0000FF"/>
                </a:solidFill>
              </a:rPr>
              <a:t>A flow network </a:t>
            </a:r>
            <a:r>
              <a:rPr lang="en-US" altLang="zh-TW" sz="3200" i="1" dirty="0">
                <a:solidFill>
                  <a:srgbClr val="0000FF"/>
                </a:solidFill>
              </a:rPr>
              <a:t>G</a:t>
            </a:r>
            <a:endParaRPr lang="zh-TW" altLang="en-US" sz="3200" i="1" dirty="0">
              <a:solidFill>
                <a:srgbClr val="0000FF"/>
              </a:solidFill>
            </a:endParaRPr>
          </a:p>
        </p:txBody>
      </p:sp>
      <p:sp>
        <p:nvSpPr>
          <p:cNvPr id="24580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5652000" y="4329000"/>
            <a:ext cx="2880360" cy="1081087"/>
          </a:xfrm>
        </p:spPr>
        <p:txBody>
          <a:bodyPr/>
          <a:lstStyle/>
          <a:p>
            <a:pPr marL="0" indent="0" eaLnBrk="1" hangingPunct="1"/>
            <a:r>
              <a:rPr lang="en-US" altLang="zh-TW" sz="3200" dirty="0">
                <a:solidFill>
                  <a:srgbClr val="0000FF"/>
                </a:solidFill>
              </a:rPr>
              <a:t>The residual network </a:t>
            </a:r>
            <a:r>
              <a:rPr lang="en-US" altLang="zh-TW" sz="3200" i="1" dirty="0">
                <a:solidFill>
                  <a:srgbClr val="0000FF"/>
                </a:solidFill>
              </a:rPr>
              <a:t>R</a:t>
            </a:r>
            <a:r>
              <a:rPr lang="en-US" altLang="zh-TW" sz="3200" dirty="0">
                <a:solidFill>
                  <a:srgbClr val="0000FF"/>
                </a:solidFill>
              </a:rPr>
              <a:t> of </a:t>
            </a:r>
            <a:r>
              <a:rPr lang="en-US" altLang="zh-TW" sz="3200" i="1" dirty="0">
                <a:solidFill>
                  <a:srgbClr val="0000FF"/>
                </a:solidFill>
              </a:rPr>
              <a:t>G</a:t>
            </a:r>
            <a:endParaRPr lang="zh-TW" altLang="en-US" sz="3200" i="1" dirty="0">
              <a:solidFill>
                <a:srgbClr val="0000F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52000" y="5949000"/>
            <a:ext cx="4140000" cy="54000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lvl="0">
              <a:tabLst>
                <a:tab pos="810000" algn="l"/>
              </a:tabLst>
              <a:defRPr/>
            </a:pPr>
            <a:r>
              <a:rPr lang="en-US" altLang="zh-TW" sz="2200" i="1" kern="0" spc="100" dirty="0">
                <a:solidFill>
                  <a:srgbClr val="000000"/>
                </a:solidFill>
                <a:latin typeface="Times New Roman"/>
                <a:ea typeface="新細明體"/>
              </a:rPr>
              <a:t>E</a:t>
            </a:r>
            <a:r>
              <a:rPr lang="en-US" altLang="zh-TW" sz="22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22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kumimoji="1" lang="en-US" altLang="zh-TW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 {	(</a:t>
            </a:r>
            <a:r>
              <a:rPr kumimoji="1" lang="en-US" altLang="zh-TW" sz="2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u</a:t>
            </a:r>
            <a:r>
              <a:rPr kumimoji="1" lang="en-US" altLang="zh-TW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, </a:t>
            </a:r>
            <a:r>
              <a:rPr kumimoji="1" lang="en-US" altLang="zh-TW" sz="2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) </a:t>
            </a:r>
            <a:r>
              <a:rPr kumimoji="1" lang="en-US" altLang="zh-TW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∈</a:t>
            </a:r>
            <a:r>
              <a:rPr kumimoji="1" lang="en-US" altLang="zh-TW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  <a:sym typeface="Symbol" pitchFamily="18" charset="2"/>
              </a:rPr>
              <a:t> </a:t>
            </a:r>
            <a:r>
              <a:rPr kumimoji="1" lang="en-US" altLang="zh-TW" sz="2200" b="0" i="1" u="none" strike="noStrike" kern="0" cap="none" spc="30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  <a:sym typeface="Symbol" pitchFamily="18" charset="2"/>
              </a:rPr>
              <a:t>V</a:t>
            </a:r>
            <a:r>
              <a:rPr kumimoji="1" lang="en-US" altLang="zh-TW" sz="2200" b="0" i="0" u="none" strike="noStrike" kern="0" cap="none" spc="5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×</a:t>
            </a:r>
            <a:r>
              <a:rPr kumimoji="1" lang="en-US" altLang="zh-TW" sz="22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Times New Roman" pitchFamily="18" charset="0"/>
                <a:sym typeface="Symbol" pitchFamily="18" charset="2"/>
              </a:rPr>
              <a:t>V</a:t>
            </a:r>
            <a:r>
              <a:rPr kumimoji="1" lang="en-US" altLang="zh-TW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  <a:sym typeface="Symbol" pitchFamily="18" charset="2"/>
              </a:rPr>
              <a:t> : </a:t>
            </a:r>
            <a:r>
              <a:rPr lang="en-US" altLang="zh-TW" sz="2400" i="1" dirty="0" err="1">
                <a:solidFill>
                  <a:srgbClr val="FF0000"/>
                </a:solidFill>
              </a:rPr>
              <a:t>r</a:t>
            </a:r>
            <a:r>
              <a:rPr lang="en-US" altLang="zh-TW" sz="2400" i="1" spc="100" dirty="0" err="1">
                <a:solidFill>
                  <a:srgbClr val="FF0000"/>
                </a:solidFill>
              </a:rPr>
              <a:t>c</a:t>
            </a:r>
            <a:r>
              <a:rPr lang="en-US" altLang="zh-TW" sz="2400" dirty="0">
                <a:solidFill>
                  <a:srgbClr val="FF0000"/>
                </a:solidFill>
              </a:rPr>
              <a:t>(</a:t>
            </a:r>
            <a:r>
              <a:rPr kumimoji="1" lang="en-US" altLang="zh-TW" sz="22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u</a:t>
            </a:r>
            <a:r>
              <a:rPr kumimoji="1" lang="en-US" altLang="zh-TW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, </a:t>
            </a:r>
            <a:r>
              <a:rPr kumimoji="1" lang="en-US" altLang="zh-TW" sz="22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) 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&gt;</a:t>
            </a:r>
            <a:r>
              <a:rPr kumimoji="1" lang="en-US" altLang="zh-TW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 0</a:t>
            </a:r>
            <a:r>
              <a:rPr kumimoji="1" lang="en-US" altLang="zh-TW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}</a:t>
            </a:r>
            <a:endParaRPr kumimoji="1" lang="zh-TW" altLang="en-US" sz="4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00" y="3609000"/>
            <a:ext cx="4680000" cy="28759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3852000" y="2889000"/>
                <a:ext cx="5040000" cy="1080000"/>
              </a:xfrm>
              <a:prstGeom prst="rect">
                <a:avLst/>
              </a:prstGeom>
            </p:spPr>
            <p:txBody>
              <a:bodyPr wrap="square" tIns="0" bIns="0" anchor="t" anchorCtr="0">
                <a:no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200" i="1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rc</m:t>
                      </m:r>
                      <m:r>
                        <m:rPr>
                          <m:nor/>
                        </m:rPr>
                        <a:rPr lang="en-US" altLang="zh-TW" sz="2200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TW" sz="2200" i="1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u</m:t>
                      </m:r>
                      <m:r>
                        <m:rPr>
                          <m:nor/>
                        </m:rPr>
                        <a:rPr lang="en-US" altLang="zh-TW" sz="2200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, </m:t>
                      </m:r>
                      <m:r>
                        <m:rPr>
                          <m:nor/>
                        </m:rPr>
                        <a:rPr lang="en-US" altLang="zh-TW" sz="2200" i="1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v</m:t>
                      </m:r>
                      <m:r>
                        <m:rPr>
                          <m:nor/>
                        </m:rPr>
                        <a:rPr lang="en-US" altLang="zh-TW" sz="2200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)</m:t>
                      </m:r>
                      <m:r>
                        <a:rPr lang="en-US" altLang="zh-TW" sz="22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2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2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)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altLang="zh-TW" sz="22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)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itchFamily="18" charset="2"/>
                                  </a:rPr>
                                  <m:t>∈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  <a:sym typeface="Symbol" pitchFamily="18" charset="2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)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)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itchFamily="18" charset="2"/>
                                  </a:rPr>
                                  <m:t>∈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  <a:sym typeface="Symbol" pitchFamily="18" charset="2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0                       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otherwise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. 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TW" alt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新細明體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2000" y="2889000"/>
                <a:ext cx="5040000" cy="1080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圖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000" y="369000"/>
            <a:ext cx="4680000" cy="2851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82241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Rectangle 8"/>
          <p:cNvSpPr>
            <a:spLocks noGrp="1" noChangeArrowheads="1"/>
          </p:cNvSpPr>
          <p:nvPr>
            <p:ph type="body" sz="half" idx="2"/>
          </p:nvPr>
        </p:nvSpPr>
        <p:spPr>
          <a:xfrm>
            <a:off x="5472113" y="728663"/>
            <a:ext cx="3240087" cy="539750"/>
          </a:xfrm>
        </p:spPr>
        <p:txBody>
          <a:bodyPr/>
          <a:lstStyle/>
          <a:p>
            <a:pPr marL="0" indent="0" eaLnBrk="1" hangingPunct="1"/>
            <a:r>
              <a:rPr lang="en-US" altLang="zh-TW" sz="3200" dirty="0">
                <a:solidFill>
                  <a:srgbClr val="0000FF"/>
                </a:solidFill>
              </a:rPr>
              <a:t>A flow network </a:t>
            </a:r>
            <a:r>
              <a:rPr lang="en-US" altLang="zh-TW" sz="3200" i="1" dirty="0">
                <a:solidFill>
                  <a:srgbClr val="0000FF"/>
                </a:solidFill>
              </a:rPr>
              <a:t>G</a:t>
            </a:r>
            <a:endParaRPr lang="zh-TW" altLang="en-US" sz="3200" i="1" dirty="0">
              <a:solidFill>
                <a:srgbClr val="0000FF"/>
              </a:solidFill>
            </a:endParaRPr>
          </a:p>
        </p:txBody>
      </p:sp>
      <p:sp>
        <p:nvSpPr>
          <p:cNvPr id="24580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5652000" y="4329000"/>
            <a:ext cx="2880360" cy="1081087"/>
          </a:xfrm>
        </p:spPr>
        <p:txBody>
          <a:bodyPr/>
          <a:lstStyle/>
          <a:p>
            <a:pPr marL="0" indent="0" eaLnBrk="1" hangingPunct="1"/>
            <a:r>
              <a:rPr lang="en-US" altLang="zh-TW" sz="3200" dirty="0">
                <a:solidFill>
                  <a:srgbClr val="0000FF"/>
                </a:solidFill>
              </a:rPr>
              <a:t>The residual network </a:t>
            </a:r>
            <a:r>
              <a:rPr lang="en-US" altLang="zh-TW" sz="3200" i="1" dirty="0">
                <a:solidFill>
                  <a:srgbClr val="0000FF"/>
                </a:solidFill>
              </a:rPr>
              <a:t>R</a:t>
            </a:r>
            <a:r>
              <a:rPr lang="en-US" altLang="zh-TW" sz="3200" dirty="0">
                <a:solidFill>
                  <a:srgbClr val="0000FF"/>
                </a:solidFill>
              </a:rPr>
              <a:t> of </a:t>
            </a:r>
            <a:r>
              <a:rPr lang="en-US" altLang="zh-TW" sz="3200" i="1" dirty="0">
                <a:solidFill>
                  <a:srgbClr val="0000FF"/>
                </a:solidFill>
              </a:rPr>
              <a:t>G</a:t>
            </a:r>
            <a:endParaRPr lang="zh-TW" altLang="en-US" sz="3200" i="1" dirty="0">
              <a:solidFill>
                <a:srgbClr val="0000F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52000" y="5589000"/>
            <a:ext cx="4140000" cy="90000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lvl="0">
              <a:tabLst>
                <a:tab pos="810000" algn="l"/>
              </a:tabLst>
              <a:defRPr/>
            </a:pPr>
            <a:r>
              <a:rPr lang="en-US" altLang="zh-TW" sz="2200" i="1" kern="0" spc="100" dirty="0">
                <a:solidFill>
                  <a:srgbClr val="000000"/>
                </a:solidFill>
                <a:latin typeface="Times New Roman"/>
                <a:ea typeface="新細明體"/>
              </a:rPr>
              <a:t>E</a:t>
            </a:r>
            <a:r>
              <a:rPr lang="en-US" altLang="zh-TW" sz="22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22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kumimoji="1" lang="en-US" altLang="zh-TW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 {	(</a:t>
            </a:r>
            <a:r>
              <a:rPr kumimoji="1" lang="en-US" altLang="zh-TW" sz="2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u</a:t>
            </a:r>
            <a:r>
              <a:rPr kumimoji="1" lang="en-US" altLang="zh-TW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, </a:t>
            </a:r>
            <a:r>
              <a:rPr kumimoji="1" lang="en-US" altLang="zh-TW" sz="2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) </a:t>
            </a:r>
            <a:r>
              <a:rPr kumimoji="1" lang="en-US" altLang="zh-TW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∈</a:t>
            </a:r>
            <a:r>
              <a:rPr kumimoji="1" lang="en-US" altLang="zh-TW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  <a:sym typeface="Symbol" pitchFamily="18" charset="2"/>
              </a:rPr>
              <a:t> </a:t>
            </a:r>
            <a:r>
              <a:rPr kumimoji="1" lang="en-US" altLang="zh-TW" sz="2200" b="0" i="1" u="none" strike="noStrike" kern="0" cap="none" spc="30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  <a:sym typeface="Symbol" pitchFamily="18" charset="2"/>
              </a:rPr>
              <a:t>V</a:t>
            </a:r>
            <a:r>
              <a:rPr kumimoji="1" lang="en-US" altLang="zh-TW" sz="2200" b="0" i="0" u="none" strike="noStrike" kern="0" cap="none" spc="5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×</a:t>
            </a:r>
            <a:r>
              <a:rPr kumimoji="1" lang="en-US" altLang="zh-TW" sz="22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Times New Roman" pitchFamily="18" charset="0"/>
                <a:sym typeface="Symbol" pitchFamily="18" charset="2"/>
              </a:rPr>
              <a:t>V</a:t>
            </a:r>
            <a:r>
              <a:rPr kumimoji="1" lang="en-US" altLang="zh-TW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  <a:sym typeface="Symbol" pitchFamily="18" charset="2"/>
              </a:rPr>
              <a:t> : </a:t>
            </a:r>
          </a:p>
          <a:p>
            <a:pPr lvl="0">
              <a:tabLst>
                <a:tab pos="810000" algn="l"/>
              </a:tabLst>
              <a:defRPr/>
            </a:pPr>
            <a:r>
              <a:rPr kumimoji="1" lang="en-US" altLang="zh-TW" sz="2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	</a:t>
            </a:r>
            <a:r>
              <a:rPr lang="en-US" altLang="zh-TW" sz="2200" kern="0" dirty="0">
                <a:solidFill>
                  <a:srgbClr val="FF0000"/>
                </a:solidFill>
                <a:latin typeface="Times New Roman"/>
                <a:ea typeface="新細明體"/>
              </a:rPr>
              <a:t>(</a:t>
            </a:r>
            <a:r>
              <a:rPr lang="en-US" altLang="zh-TW" sz="2200" i="1" kern="0" dirty="0">
                <a:solidFill>
                  <a:srgbClr val="FF0000"/>
                </a:solidFill>
                <a:latin typeface="Times New Roman"/>
                <a:ea typeface="新細明體"/>
              </a:rPr>
              <a:t>u</a:t>
            </a:r>
            <a:r>
              <a:rPr lang="en-US" altLang="zh-TW" sz="2200" kern="0" dirty="0">
                <a:solidFill>
                  <a:srgbClr val="FF0000"/>
                </a:solidFill>
                <a:latin typeface="Times New Roman"/>
                <a:ea typeface="新細明體"/>
              </a:rPr>
              <a:t>, </a:t>
            </a:r>
            <a:r>
              <a:rPr lang="en-US" altLang="zh-TW" sz="2200" i="1" kern="0" dirty="0">
                <a:solidFill>
                  <a:srgbClr val="FF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2200" kern="0" dirty="0">
                <a:solidFill>
                  <a:srgbClr val="FF0000"/>
                </a:solidFill>
                <a:latin typeface="Times New Roman"/>
                <a:ea typeface="新細明體"/>
              </a:rPr>
              <a:t>) </a:t>
            </a:r>
            <a:r>
              <a:rPr lang="en-US" altLang="zh-TW" sz="2200" kern="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sz="2200" kern="0" dirty="0">
                <a:solidFill>
                  <a:srgbClr val="FF0000"/>
                </a:solidFill>
                <a:latin typeface="Times New Roman"/>
                <a:ea typeface="新細明體"/>
                <a:sym typeface="Symbol" pitchFamily="18" charset="2"/>
              </a:rPr>
              <a:t> </a:t>
            </a:r>
            <a:r>
              <a:rPr lang="en-US" altLang="zh-TW" sz="2200" i="1" kern="0" dirty="0">
                <a:solidFill>
                  <a:srgbClr val="FF0000"/>
                </a:solidFill>
                <a:latin typeface="Times New Roman"/>
                <a:ea typeface="新細明體"/>
              </a:rPr>
              <a:t>E</a:t>
            </a:r>
            <a:r>
              <a:rPr lang="en-US" altLang="zh-TW" sz="2200" kern="0" dirty="0">
                <a:solidFill>
                  <a:srgbClr val="FF0000"/>
                </a:solidFill>
                <a:latin typeface="Times New Roman"/>
                <a:ea typeface="新細明體"/>
              </a:rPr>
              <a:t> or (</a:t>
            </a:r>
            <a:r>
              <a:rPr lang="en-US" altLang="zh-TW" sz="2200" i="1" kern="0" dirty="0">
                <a:solidFill>
                  <a:srgbClr val="FF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2200" kern="0" dirty="0">
                <a:solidFill>
                  <a:srgbClr val="FF0000"/>
                </a:solidFill>
                <a:latin typeface="Times New Roman"/>
                <a:ea typeface="新細明體"/>
              </a:rPr>
              <a:t>, </a:t>
            </a:r>
            <a:r>
              <a:rPr lang="en-US" altLang="zh-TW" sz="2200" i="1" kern="0" dirty="0">
                <a:solidFill>
                  <a:srgbClr val="FF0000"/>
                </a:solidFill>
                <a:latin typeface="Times New Roman"/>
                <a:ea typeface="新細明體"/>
              </a:rPr>
              <a:t>u</a:t>
            </a:r>
            <a:r>
              <a:rPr lang="en-US" altLang="zh-TW" sz="2200" kern="0" dirty="0">
                <a:solidFill>
                  <a:srgbClr val="FF0000"/>
                </a:solidFill>
                <a:latin typeface="Times New Roman"/>
                <a:ea typeface="新細明體"/>
              </a:rPr>
              <a:t>) </a:t>
            </a:r>
            <a:r>
              <a:rPr lang="en-US" altLang="zh-TW" sz="2200" kern="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sz="2200" kern="0" dirty="0">
                <a:solidFill>
                  <a:srgbClr val="FF0000"/>
                </a:solidFill>
                <a:latin typeface="Times New Roman"/>
                <a:ea typeface="新細明體"/>
                <a:sym typeface="Symbol" pitchFamily="18" charset="2"/>
              </a:rPr>
              <a:t> </a:t>
            </a:r>
            <a:r>
              <a:rPr lang="en-US" altLang="zh-TW" sz="2200" i="1" kern="0" dirty="0">
                <a:solidFill>
                  <a:srgbClr val="FF0000"/>
                </a:solidFill>
                <a:latin typeface="Times New Roman"/>
                <a:ea typeface="新細明體"/>
              </a:rPr>
              <a:t>E</a:t>
            </a:r>
            <a:r>
              <a:rPr kumimoji="1" lang="en-US" altLang="zh-TW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}</a:t>
            </a:r>
            <a:endParaRPr kumimoji="1" lang="zh-TW" altLang="en-US" sz="4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3852000" y="2889000"/>
                <a:ext cx="5040000" cy="1080000"/>
              </a:xfrm>
              <a:prstGeom prst="rect">
                <a:avLst/>
              </a:prstGeom>
            </p:spPr>
            <p:txBody>
              <a:bodyPr wrap="square" tIns="0" bIns="0" anchor="t" anchorCtr="0">
                <a:no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200" i="1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rc</m:t>
                      </m:r>
                      <m:r>
                        <m:rPr>
                          <m:nor/>
                        </m:rPr>
                        <a:rPr lang="en-US" altLang="zh-TW" sz="2200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TW" sz="2200" i="1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u</m:t>
                      </m:r>
                      <m:r>
                        <m:rPr>
                          <m:nor/>
                        </m:rPr>
                        <a:rPr lang="en-US" altLang="zh-TW" sz="2200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, </m:t>
                      </m:r>
                      <m:r>
                        <m:rPr>
                          <m:nor/>
                        </m:rPr>
                        <a:rPr lang="en-US" altLang="zh-TW" sz="2200" i="1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v</m:t>
                      </m:r>
                      <m:r>
                        <m:rPr>
                          <m:nor/>
                        </m:rPr>
                        <a:rPr lang="en-US" altLang="zh-TW" sz="2200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m:t>)</m:t>
                      </m:r>
                      <m:r>
                        <a:rPr lang="en-US" altLang="zh-TW" sz="22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2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2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)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altLang="zh-TW" sz="22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)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itchFamily="18" charset="2"/>
                                  </a:rPr>
                                  <m:t>∈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  <a:sym typeface="Symbol" pitchFamily="18" charset="2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)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)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itchFamily="18" charset="2"/>
                                  </a:rPr>
                                  <m:t>∈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  <a:sym typeface="Symbol" pitchFamily="18" charset="2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0                       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otherwise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. 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TW" alt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新細明體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2000" y="2889000"/>
                <a:ext cx="5040000" cy="108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圖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00" y="369000"/>
            <a:ext cx="4680000" cy="2851822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000" y="3609000"/>
            <a:ext cx="4680000" cy="296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28605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High Implementation Overhead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12000" y="1269000"/>
            <a:ext cx="7920000" cy="5040000"/>
          </a:xfrm>
        </p:spPr>
        <p:txBody>
          <a:bodyPr/>
          <a:lstStyle/>
          <a:p>
            <a:pPr marL="541338" lvl="0" indent="-541338" eaLnBrk="1" hangingPunct="1">
              <a:buClr>
                <a:srgbClr val="3333CC"/>
              </a:buClr>
              <a:defRPr/>
            </a:pPr>
            <a:r>
              <a:rPr lang="en-US" altLang="zh-TW" dirty="0" err="1">
                <a:solidFill>
                  <a:srgbClr val="000000"/>
                </a:solidFill>
              </a:rPr>
              <a:t>FordFulkerson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b="1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528"/>
              </a:spcBef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</a:t>
            </a:r>
            <a:r>
              <a:rPr lang="en-US" altLang="zh-TW" dirty="0" err="1">
                <a:solidFill>
                  <a:srgbClr val="000000"/>
                </a:solidFill>
                <a:sym typeface="Symbol" pitchFamily="18" charset="2"/>
              </a:rPr>
              <a:t>.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E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 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528"/>
              </a:spcBef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0</a:t>
            </a:r>
          </a:p>
          <a:p>
            <a:pPr marL="0" lvl="0" indent="0" eaLnBrk="1" hangingPunct="1">
              <a:spcBef>
                <a:spcPts val="528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	there exists a path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 from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to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 in the residual network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528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min{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is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}</a:t>
            </a:r>
            <a:endParaRPr lang="en-US" altLang="zh-TW" b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528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5	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endParaRPr lang="en-US" altLang="zh-TW" b="1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528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6	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528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7				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0" lvl="0" indent="0" eaLnBrk="1" hangingPunct="1">
              <a:spcBef>
                <a:spcPts val="528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361950" algn="l"/>
                <a:tab pos="808038" algn="l"/>
                <a:tab pos="1252538" algn="l"/>
                <a:tab pos="1524000" algn="l"/>
              </a:tabLst>
              <a:defRPr/>
            </a:pP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361950" algn="l"/>
                <a:tab pos="808038" algn="l"/>
                <a:tab pos="1252538" algn="l"/>
                <a:tab pos="1524000" algn="l"/>
              </a:tabLst>
              <a:defRPr/>
            </a:pP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361950" algn="l"/>
                <a:tab pos="808038" algn="l"/>
                <a:tab pos="1252538" algn="l"/>
                <a:tab pos="1524000" algn="l"/>
              </a:tabLst>
              <a:defRPr/>
            </a:pPr>
            <a:r>
              <a:rPr lang="en-US" altLang="zh-TW" dirty="0">
                <a:solidFill>
                  <a:srgbClr val="FF0000"/>
                </a:solidFill>
              </a:rPr>
              <a:t>The topology of the residual network </a:t>
            </a:r>
            <a:r>
              <a:rPr lang="en-US" altLang="zh-TW" i="1" dirty="0">
                <a:solidFill>
                  <a:srgbClr val="FF0000"/>
                </a:solidFill>
              </a:rPr>
              <a:t>R</a:t>
            </a:r>
            <a:r>
              <a:rPr lang="en-US" altLang="zh-TW" dirty="0">
                <a:solidFill>
                  <a:srgbClr val="FF0000"/>
                </a:solidFill>
              </a:rPr>
              <a:t> changes for each iteration of the </a:t>
            </a:r>
            <a:r>
              <a:rPr lang="en-US" altLang="zh-TW" b="1" dirty="0">
                <a:solidFill>
                  <a:srgbClr val="FF0000"/>
                </a:solidFill>
              </a:rPr>
              <a:t>while</a:t>
            </a:r>
            <a:r>
              <a:rPr lang="en-US" altLang="zh-TW" dirty="0">
                <a:solidFill>
                  <a:srgbClr val="FF0000"/>
                </a:solidFill>
              </a:rPr>
              <a:t> loop.</a:t>
            </a:r>
          </a:p>
        </p:txBody>
      </p:sp>
    </p:spTree>
    <p:extLst>
      <p:ext uri="{BB962C8B-B14F-4D97-AF65-F5344CB8AC3E}">
        <p14:creationId xmlns:p14="http://schemas.microsoft.com/office/powerpoint/2010/main" val="240492736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idx="1"/>
          </p:nvPr>
        </p:nvSpPr>
        <p:spPr>
          <a:xfrm>
            <a:off x="252000" y="729000"/>
            <a:ext cx="7920000" cy="5760084"/>
          </a:xfrm>
        </p:spPr>
        <p:txBody>
          <a:bodyPr lIns="90000" rIns="90000"/>
          <a:lstStyle/>
          <a:p>
            <a:pPr marL="541338" indent="-541338" eaLnBrk="1" hangingPunct="1">
              <a:spcBef>
                <a:spcPts val="0"/>
              </a:spcBef>
              <a:defRPr/>
            </a:pPr>
            <a:r>
              <a:rPr lang="en-US" altLang="zh-TW" dirty="0">
                <a:solidFill>
                  <a:srgbClr val="000000"/>
                </a:solidFill>
              </a:rPr>
              <a:t>FordFulkerson</a:t>
            </a:r>
            <a:r>
              <a:rPr lang="en-US" altLang="zh-TW" spc="150" dirty="0">
                <a:solidFill>
                  <a:srgbClr val="000000"/>
                </a:solidFill>
              </a:rPr>
              <a:t>2</a:t>
            </a:r>
            <a:r>
              <a:rPr lang="en-US" altLang="zh-TW" sz="2200" dirty="0"/>
              <a:t>(</a:t>
            </a:r>
            <a:r>
              <a:rPr lang="en-US" altLang="zh-TW" sz="2200" i="1" dirty="0"/>
              <a:t>G</a:t>
            </a:r>
            <a:r>
              <a:rPr lang="en-US" altLang="zh-TW" sz="2200" dirty="0"/>
              <a:t>, </a:t>
            </a:r>
            <a:r>
              <a:rPr lang="en-US" altLang="zh-TW" sz="2200" i="1" dirty="0"/>
              <a:t>s</a:t>
            </a:r>
            <a:r>
              <a:rPr lang="en-US" altLang="zh-TW" sz="2200" dirty="0"/>
              <a:t>, </a:t>
            </a:r>
            <a:r>
              <a:rPr lang="en-US" altLang="zh-TW" i="1" spc="150" dirty="0">
                <a:solidFill>
                  <a:srgbClr val="000000"/>
                </a:solidFill>
              </a:rPr>
              <a:t>t</a:t>
            </a:r>
            <a:r>
              <a:rPr lang="en-US" altLang="zh-TW" sz="2200" dirty="0"/>
              <a:t>)</a:t>
            </a:r>
            <a:endParaRPr lang="en-US" altLang="zh-TW" sz="2200" b="1" dirty="0"/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node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</a:t>
            </a:r>
            <a:r>
              <a:rPr lang="en-US" altLang="zh-TW" dirty="0" err="1">
                <a:solidFill>
                  <a:srgbClr val="000000"/>
                </a:solidFill>
                <a:sym typeface="Symbol" pitchFamily="18" charset="2"/>
              </a:rPr>
              <a:t>.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 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node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</a:t>
            </a:r>
            <a:r>
              <a:rPr lang="en-US" altLang="zh-TW" dirty="0" err="1">
                <a:solidFill>
                  <a:srgbClr val="000000"/>
                </a:solidFill>
                <a:sym typeface="Symbol" pitchFamily="18" charset="2"/>
              </a:rPr>
              <a:t>.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 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		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0,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indent="0" eaLnBrk="1" hangingPunct="1">
              <a:spcBef>
                <a:spcPts val="0"/>
              </a:spcBef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sz="2200" dirty="0"/>
              <a:t>	5	</a:t>
            </a:r>
            <a:r>
              <a:rPr lang="en-US" altLang="zh-TW" sz="2200" b="1" dirty="0"/>
              <a:t>while</a:t>
            </a:r>
            <a:r>
              <a:rPr lang="en-US" altLang="zh-TW" sz="2200" dirty="0"/>
              <a:t>	there exists a path </a:t>
            </a:r>
            <a:r>
              <a:rPr lang="en-US" altLang="zh-TW" sz="2200" i="1" dirty="0"/>
              <a:t>p</a:t>
            </a:r>
            <a:r>
              <a:rPr lang="en-US" altLang="zh-TW" sz="2200" dirty="0"/>
              <a:t> from </a:t>
            </a:r>
            <a:r>
              <a:rPr lang="en-US" altLang="zh-TW" sz="2200" i="1" dirty="0"/>
              <a:t>s</a:t>
            </a:r>
            <a:r>
              <a:rPr lang="en-US" altLang="zh-TW" sz="2200" dirty="0"/>
              <a:t> to </a:t>
            </a:r>
            <a:r>
              <a:rPr lang="en-US" altLang="zh-TW" sz="2200" i="1" dirty="0"/>
              <a:t>t</a:t>
            </a:r>
            <a:r>
              <a:rPr lang="en-US" altLang="zh-TW" sz="2200" dirty="0"/>
              <a:t> in the residual network </a:t>
            </a:r>
            <a:r>
              <a:rPr lang="en-US" altLang="zh-TW" sz="2200" i="1" dirty="0"/>
              <a:t>R</a:t>
            </a:r>
            <a:endParaRPr lang="en-US" altLang="zh-TW" sz="2200" i="1" baseline="-25000" dirty="0"/>
          </a:p>
          <a:p>
            <a:pPr marL="0" indent="0" eaLnBrk="1" hangingPunct="1">
              <a:spcBef>
                <a:spcPts val="0"/>
              </a:spcBef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sz="2200" dirty="0"/>
              <a:t>			such that </a:t>
            </a:r>
            <a:r>
              <a:rPr lang="en-US" altLang="zh-TW" dirty="0">
                <a:solidFill>
                  <a:srgbClr val="000000"/>
                </a:solidFill>
              </a:rPr>
              <a:t>for 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sz="2200" dirty="0"/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0</a:t>
            </a:r>
            <a:endParaRPr lang="en-US" altLang="zh-TW" sz="2200" dirty="0"/>
          </a:p>
          <a:p>
            <a:pPr marL="0" indent="0" eaLnBrk="1" hangingPunct="1">
              <a:spcBef>
                <a:spcPts val="0"/>
              </a:spcBef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sz="2200" dirty="0"/>
              <a:t>	6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sz="2200" dirty="0"/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ym typeface="Symbol" pitchFamily="18" charset="2"/>
              </a:rPr>
              <a:t> min{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  <a:r>
              <a:rPr lang="en-US" altLang="zh-TW" sz="2200" dirty="0"/>
              <a:t> </a:t>
            </a:r>
            <a:r>
              <a:rPr lang="en-US" altLang="zh-TW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en-US" altLang="zh-TW" sz="2200" dirty="0"/>
              <a:t> (</a:t>
            </a:r>
            <a:r>
              <a:rPr lang="en-US" altLang="zh-TW" sz="2200" i="1" dirty="0"/>
              <a:t>u</a:t>
            </a:r>
            <a:r>
              <a:rPr lang="en-US" altLang="zh-TW" sz="2200" dirty="0"/>
              <a:t>, </a:t>
            </a:r>
            <a:r>
              <a:rPr lang="en-US" altLang="zh-TW" sz="2200" i="1" dirty="0"/>
              <a:t>v</a:t>
            </a:r>
            <a:r>
              <a:rPr lang="en-US" altLang="zh-TW" sz="2200" dirty="0"/>
              <a:t>) is in </a:t>
            </a:r>
            <a:r>
              <a:rPr lang="en-US" altLang="zh-TW" sz="2200" i="1" dirty="0"/>
              <a:t>p</a:t>
            </a:r>
            <a:r>
              <a:rPr lang="en-US" altLang="zh-TW" sz="2200" dirty="0"/>
              <a:t>}</a:t>
            </a:r>
            <a:endParaRPr lang="en-US" altLang="zh-TW" sz="2200" b="1" dirty="0">
              <a:sym typeface="Symbol" pitchFamily="18" charset="2"/>
            </a:endParaRPr>
          </a:p>
          <a:p>
            <a:pPr marL="0" indent="0" eaLnBrk="1" hangingPunct="1">
              <a:spcBef>
                <a:spcPts val="0"/>
              </a:spcBef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sz="2200" dirty="0"/>
              <a:t>	7	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sz="2200" dirty="0"/>
          </a:p>
          <a:p>
            <a:pPr marL="0" indent="0" eaLnBrk="1" hangingPunct="1">
              <a:spcBef>
                <a:spcPts val="0"/>
              </a:spcBef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sz="2200" dirty="0"/>
              <a:t>	8		</a:t>
            </a:r>
            <a:r>
              <a:rPr lang="en-US" altLang="zh-TW" sz="2200" b="1" dirty="0"/>
              <a:t>for</a:t>
            </a:r>
            <a:r>
              <a:rPr lang="en-US" altLang="zh-TW" sz="2200" dirty="0"/>
              <a:t>	each edge (</a:t>
            </a:r>
            <a:r>
              <a:rPr lang="en-US" altLang="zh-TW" sz="2200" i="1" dirty="0"/>
              <a:t>u</a:t>
            </a:r>
            <a:r>
              <a:rPr lang="en-US" altLang="zh-TW" sz="2200" dirty="0"/>
              <a:t>, </a:t>
            </a:r>
            <a:r>
              <a:rPr lang="en-US" altLang="zh-TW" sz="2200" i="1" dirty="0"/>
              <a:t>v</a:t>
            </a:r>
            <a:r>
              <a:rPr lang="en-US" altLang="zh-TW" sz="2200" dirty="0"/>
              <a:t>) in </a:t>
            </a:r>
            <a:r>
              <a:rPr lang="en-US" altLang="zh-TW" sz="2200" i="1" dirty="0"/>
              <a:t>p</a:t>
            </a:r>
            <a:endParaRPr lang="en-US" altLang="zh-TW" sz="2200" b="1" dirty="0"/>
          </a:p>
          <a:p>
            <a:pPr marL="0" indent="0" eaLnBrk="1" hangingPunct="1">
              <a:spcBef>
                <a:spcPts val="0"/>
              </a:spcBef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sz="2200" dirty="0"/>
              <a:t>	9			</a:t>
            </a:r>
            <a:r>
              <a:rPr lang="en-US" altLang="zh-TW" sz="2200" b="1" dirty="0"/>
              <a:t>if</a:t>
            </a:r>
            <a:r>
              <a:rPr lang="en-US" altLang="zh-TW" sz="2200" dirty="0"/>
              <a:t> (</a:t>
            </a:r>
            <a:r>
              <a:rPr lang="en-US" altLang="zh-TW" sz="2200" i="1" dirty="0"/>
              <a:t>u</a:t>
            </a:r>
            <a:r>
              <a:rPr lang="en-US" altLang="zh-TW" sz="2200" dirty="0"/>
              <a:t>, </a:t>
            </a:r>
            <a:r>
              <a:rPr lang="en-US" altLang="zh-TW" sz="2200" i="1" dirty="0"/>
              <a:t>v</a:t>
            </a:r>
            <a:r>
              <a:rPr lang="en-US" altLang="zh-TW" sz="2200" dirty="0"/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sz="2200" dirty="0">
                <a:sym typeface="Symbol" pitchFamily="18" charset="2"/>
              </a:rPr>
              <a:t> </a:t>
            </a:r>
            <a:r>
              <a:rPr lang="en-US" altLang="zh-TW" sz="2200" i="1" dirty="0">
                <a:sym typeface="Symbol" pitchFamily="18" charset="2"/>
              </a:rPr>
              <a:t>G.E</a:t>
            </a:r>
            <a:endParaRPr lang="en-US" altLang="zh-TW" sz="2200" dirty="0"/>
          </a:p>
          <a:p>
            <a:pPr marL="0" indent="0" eaLnBrk="1" hangingPunct="1">
              <a:spcBef>
                <a:spcPts val="0"/>
              </a:spcBef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sz="2200" dirty="0"/>
              <a:t>	10				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  <a:r>
              <a:rPr lang="en-US" altLang="zh-TW" sz="2200" dirty="0"/>
              <a:t> </a:t>
            </a:r>
            <a:r>
              <a:rPr lang="en-US" altLang="zh-TW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sz="2200" dirty="0"/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sz="2200" dirty="0"/>
              <a:t> </a:t>
            </a:r>
          </a:p>
          <a:p>
            <a:pPr marL="0" indent="0" eaLnBrk="1" hangingPunct="1">
              <a:spcBef>
                <a:spcPts val="0"/>
              </a:spcBef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sz="2200" dirty="0"/>
              <a:t>	11			</a:t>
            </a:r>
            <a:r>
              <a:rPr lang="en-US" altLang="zh-TW" sz="2200" b="1" dirty="0"/>
              <a:t>else</a:t>
            </a:r>
            <a:r>
              <a:rPr lang="en-US" altLang="zh-TW" sz="2200" dirty="0"/>
              <a:t>	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  <a:r>
              <a:rPr lang="en-US" altLang="zh-TW" sz="2200" dirty="0"/>
              <a:t> </a:t>
            </a:r>
            <a:r>
              <a:rPr lang="en-US" altLang="zh-TW" sz="2000" dirty="0"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sz="2200" dirty="0"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sz="2200" dirty="0"/>
          </a:p>
          <a:p>
            <a:pPr marL="0" indent="0" eaLnBrk="1" hangingPunct="1">
              <a:spcBef>
                <a:spcPts val="0"/>
              </a:spcBef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sz="2200" dirty="0"/>
              <a:t>	12	</a:t>
            </a:r>
            <a:r>
              <a:rPr lang="en-US" altLang="zh-TW" sz="2200" b="1" dirty="0"/>
              <a:t>return</a:t>
            </a:r>
            <a:r>
              <a:rPr lang="en-US" altLang="zh-TW" sz="2200" dirty="0"/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indent="0" eaLnBrk="1" hangingPunct="1">
              <a:spcBef>
                <a:spcPts val="0"/>
              </a:spcBef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endParaRPr lang="en-US" altLang="zh-TW" sz="2200" i="1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defRPr/>
            </a:pPr>
            <a:r>
              <a:rPr lang="en-US" altLang="zh-TW" dirty="0">
                <a:solidFill>
                  <a:srgbClr val="000000"/>
                </a:solidFill>
              </a:rPr>
              <a:t>We assume that the nodes of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E</a:t>
            </a:r>
            <a:r>
              <a:rPr lang="en-US" altLang="zh-TW" dirty="0">
                <a:solidFill>
                  <a:srgbClr val="000000"/>
                </a:solidFill>
              </a:rPr>
              <a:t>) are numbered 1, 2, ...,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, where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i="1" spc="300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, and let (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]) and (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]) be </a:t>
            </a:r>
            <a:r>
              <a:rPr lang="en-US" altLang="zh-TW" i="1" spc="150" dirty="0" err="1">
                <a:solidFill>
                  <a:srgbClr val="000000"/>
                </a:solidFill>
              </a:rPr>
              <a:t>n</a:t>
            </a:r>
            <a:r>
              <a:rPr lang="en-US" altLang="zh-TW" sz="1800" spc="150" dirty="0" err="1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×</a:t>
            </a:r>
            <a:r>
              <a:rPr lang="en-US" altLang="zh-TW" i="1" dirty="0" err="1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 2</a:t>
            </a:r>
            <a:r>
              <a:rPr lang="en-US" altLang="zh-TW" spc="100" dirty="0">
                <a:solidFill>
                  <a:srgbClr val="000000"/>
                </a:solidFill>
              </a:rPr>
              <a:t>-</a:t>
            </a:r>
            <a:r>
              <a:rPr lang="en-US" altLang="zh-TW" dirty="0">
                <a:solidFill>
                  <a:srgbClr val="000000"/>
                </a:solidFill>
              </a:rPr>
              <a:t>d arrays.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672000" y="369000"/>
                <a:ext cx="5220000" cy="1080000"/>
              </a:xfrm>
              <a:prstGeom prst="rect">
                <a:avLst/>
              </a:prstGeom>
            </p:spPr>
            <p:txBody>
              <a:bodyPr wrap="square" tIns="0" bIns="0" anchor="t" anchorCtr="0">
                <a:no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400" i="1" dirty="0">
                          <a:solidFill>
                            <a:srgbClr val="000000"/>
                          </a:solidFill>
                        </a:rPr>
                        <m:t>r</m:t>
                      </m:r>
                      <m:r>
                        <m:rPr>
                          <m:nor/>
                        </m:rPr>
                        <a:rPr lang="en-US" altLang="zh-TW" sz="2400" i="1" spc="100" dirty="0">
                          <a:solidFill>
                            <a:srgbClr val="000000"/>
                          </a:solidFill>
                        </a:rPr>
                        <m:t>c</m:t>
                      </m:r>
                      <m:r>
                        <m:rPr>
                          <m:nor/>
                        </m:rPr>
                        <a:rPr lang="en-US" altLang="zh-TW" sz="2400" dirty="0">
                          <a:solidFill>
                            <a:srgbClr val="000000"/>
                          </a:solidFill>
                        </a:rPr>
                        <m:t>[</m:t>
                      </m:r>
                      <m:r>
                        <m:rPr>
                          <m:nor/>
                        </m:rPr>
                        <a:rPr lang="en-US" altLang="zh-TW" sz="2400" i="1" dirty="0">
                          <a:solidFill>
                            <a:srgbClr val="000000"/>
                          </a:solidFill>
                        </a:rPr>
                        <m:t>u</m:t>
                      </m:r>
                      <m:r>
                        <m:rPr>
                          <m:nor/>
                        </m:rPr>
                        <a:rPr lang="en-US" altLang="zh-TW" sz="2400" dirty="0">
                          <a:solidFill>
                            <a:srgbClr val="000000"/>
                          </a:solidFill>
                        </a:rPr>
                        <m:t>][</m:t>
                      </m:r>
                      <m:r>
                        <m:rPr>
                          <m:nor/>
                        </m:rPr>
                        <a:rPr lang="en-US" altLang="zh-TW" sz="2400" i="1" dirty="0">
                          <a:solidFill>
                            <a:srgbClr val="000000"/>
                          </a:solidFill>
                        </a:rPr>
                        <m:t>v</m:t>
                      </m:r>
                      <m:r>
                        <m:rPr>
                          <m:nor/>
                        </m:rPr>
                        <a:rPr lang="en-US" altLang="zh-TW" sz="2400" dirty="0">
                          <a:solidFill>
                            <a:srgbClr val="000000"/>
                          </a:solidFill>
                        </a:rPr>
                        <m:t>]</m:t>
                      </m:r>
                      <m:r>
                        <a:rPr kumimoji="1" lang="en-US" altLang="zh-TW" sz="22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en-US" altLang="zh-TW" sz="22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TW" sz="22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kumimoji="1" lang="en-US" altLang="zh-TW" sz="2200" b="0" i="1" u="none" strike="noStrike" kern="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Times New Roman"/>
                                    <a:ea typeface="新細明體"/>
                                    <a:cs typeface="+mn-cs"/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zh-TW" sz="2200" b="0" i="0" u="none" strike="noStrike" kern="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Times New Roman"/>
                                    <a:ea typeface="新細明體"/>
                                    <a:cs typeface="+mn-cs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zh-TW" sz="2200" b="0" i="1" u="none" strike="noStrike" kern="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Times New Roman"/>
                                    <a:ea typeface="新細明體"/>
                                    <a:cs typeface="+mn-cs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zh-TW" sz="2200" b="0" i="0" u="none" strike="noStrike" kern="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Times New Roman"/>
                                    <a:ea typeface="新細明體"/>
                                    <a:cs typeface="+mn-cs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zh-TW" sz="2200" b="0" i="1" u="none" strike="noStrike" kern="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Times New Roman"/>
                                    <a:ea typeface="新細明體"/>
                                    <a:cs typeface="+mn-cs"/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zh-TW" sz="2200" b="0" i="0" u="none" strike="noStrike" kern="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Times New Roman"/>
                                    <a:ea typeface="新細明體"/>
                                    <a:cs typeface="+mn-cs"/>
                                  </a:rPr>
                                  <m:t>)</m:t>
                                </m:r>
                                <m:r>
                                  <m:rPr>
                                    <m:brk m:alnAt="7"/>
                                  </m:rPr>
                                  <a:rPr kumimoji="1" lang="en-US" altLang="zh-TW" sz="22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spc="50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[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][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]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1" lang="en-US" altLang="zh-TW" sz="22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Times New Roman" pitchFamily="18" charset="0"/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zh-TW" sz="22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Times New Roman" pitchFamily="18" charset="0"/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 (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zh-TW" sz="2200" b="0" i="1" u="none" strike="noStrike" kern="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Times New Roman"/>
                                    <a:ea typeface="新細明體"/>
                                    <a:cs typeface="+mn-cs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zh-TW" sz="2200" b="0" i="0" u="none" strike="noStrike" kern="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Times New Roman"/>
                                    <a:ea typeface="新細明體"/>
                                    <a:cs typeface="+mn-cs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zh-TW" sz="2200" b="0" i="1" u="none" strike="noStrike" kern="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Times New Roman"/>
                                    <a:ea typeface="新細明體"/>
                                    <a:cs typeface="+mn-cs"/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zh-TW" sz="2200" b="0" i="0" u="none" strike="noStrike" kern="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Times New Roman"/>
                                    <a:ea typeface="新細明體"/>
                                    <a:cs typeface="+mn-cs"/>
                                  </a:rPr>
                                  <m:t>) 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zh-TW" sz="2200" b="0" i="0" u="none" strike="noStrike" kern="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  <a:sym typeface="Symbol" pitchFamily="18" charset="2"/>
                                  </a:rPr>
                                  <m:t>∈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zh-TW" sz="2200" b="0" i="0" u="none" strike="noStrike" kern="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Times New Roman"/>
                                    <a:ea typeface="新細明體"/>
                                    <a:cs typeface="+mn-cs"/>
                                    <a:sym typeface="Symbol" pitchFamily="18" charset="2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zh-TW" sz="2200" b="0" i="1" u="none" strike="noStrike" kern="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Times New Roman"/>
                                    <a:ea typeface="新細明體"/>
                                    <a:cs typeface="+mn-cs"/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zh-TW" sz="2200" b="0" i="0" u="none" strike="noStrike" kern="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Times New Roman"/>
                                    <a:ea typeface="新細明體"/>
                                    <a:cs typeface="+mn-cs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400" i="1" spc="500" dirty="0">
                                    <a:solidFill>
                                      <a:srgbClr val="000000"/>
                                    </a:solidFill>
                                  </a:rPr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400" dirty="0">
                                    <a:solidFill>
                                      <a:srgbClr val="000000"/>
                                    </a:solidFill>
                                  </a:rPr>
                                  <m:t>[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400" i="1" dirty="0">
                                    <a:solidFill>
                                      <a:srgbClr val="000000"/>
                                    </a:solidFill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400" dirty="0">
                                    <a:solidFill>
                                      <a:srgbClr val="000000"/>
                                    </a:solidFill>
                                  </a:rPr>
                                  <m:t>][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400" i="1" dirty="0">
                                    <a:solidFill>
                                      <a:srgbClr val="000000"/>
                                    </a:solidFill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400" dirty="0">
                                    <a:solidFill>
                                      <a:srgbClr val="000000"/>
                                    </a:solidFill>
                                  </a:rPr>
                                  <m:t>]</m:t>
                                </m:r>
                                <m:r>
                                  <a:rPr lang="en-US" altLang="zh-TW" sz="2400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1" lang="en-US" altLang="zh-TW" sz="22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Times New Roman" pitchFamily="18" charset="0"/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zh-TW" sz="22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Times New Roman" pitchFamily="18" charset="0"/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 (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zh-TW" sz="2200" b="0" i="1" u="none" strike="noStrike" kern="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Times New Roman"/>
                                    <a:ea typeface="新細明體"/>
                                    <a:cs typeface="+mn-cs"/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zh-TW" sz="2200" b="0" i="0" u="none" strike="noStrike" kern="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Times New Roman"/>
                                    <a:ea typeface="新細明體"/>
                                    <a:cs typeface="+mn-cs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zh-TW" sz="2200" b="0" i="1" u="none" strike="noStrike" kern="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Times New Roman"/>
                                    <a:ea typeface="新細明體"/>
                                    <a:cs typeface="+mn-cs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zh-TW" sz="2200" b="0" i="0" u="none" strike="noStrike" kern="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Times New Roman"/>
                                    <a:ea typeface="新細明體"/>
                                    <a:cs typeface="+mn-cs"/>
                                  </a:rPr>
                                  <m:t>) 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zh-TW" sz="2200" b="0" i="0" u="none" strike="noStrike" kern="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  <a:sym typeface="Symbol" pitchFamily="18" charset="2"/>
                                  </a:rPr>
                                  <m:t>∈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zh-TW" sz="2200" b="0" i="0" u="none" strike="noStrike" kern="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Times New Roman"/>
                                    <a:ea typeface="新細明體"/>
                                    <a:cs typeface="+mn-cs"/>
                                    <a:sym typeface="Symbol" pitchFamily="18" charset="2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zh-TW" sz="2200" b="0" i="1" u="none" strike="noStrike" kern="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Times New Roman"/>
                                    <a:ea typeface="新細明體"/>
                                    <a:cs typeface="+mn-cs"/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zh-TW" sz="2200" b="0" i="0" u="none" strike="noStrike" kern="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Times New Roman"/>
                                    <a:ea typeface="新細明體"/>
                                    <a:cs typeface="+mn-cs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kumimoji="1" lang="en-US" altLang="zh-TW" sz="22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Times New Roman" pitchFamily="18" charset="0"/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zh-TW" sz="2200" b="0" i="0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Times New Roman" pitchFamily="18" charset="0"/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       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zh-TW" sz="22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Times New Roman" pitchFamily="18" charset="0"/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   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1" lang="en-US" altLang="zh-TW" sz="22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Times New Roman" pitchFamily="18" charset="0"/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otherwise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zh-TW" sz="22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Times New Roman" pitchFamily="18" charset="0"/>
                                    <a:ea typeface="新細明體"/>
                                    <a:cs typeface="Times New Roman" panose="02020603050405020304" pitchFamily="18" charset="0"/>
                                  </a:rPr>
                                  <m:t>. 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TW" alt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新細明體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2000" y="369000"/>
                <a:ext cx="5220000" cy="108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21774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Residual Networks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/>
              <a:t> Modified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37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32000" y="1449000"/>
                <a:ext cx="8280000" cy="4860000"/>
              </a:xfrm>
            </p:spPr>
            <p:txBody>
              <a:bodyPr/>
              <a:lstStyle/>
              <a:p>
                <a:pPr marL="0" indent="0" eaLnBrk="1" hangingPunct="1">
                  <a:spcBef>
                    <a:spcPct val="50000"/>
                  </a:spcBef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For a flow network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E</a:t>
                </a:r>
                <a:r>
                  <a:rPr lang="en-US" altLang="zh-TW" sz="12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 with source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s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sink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t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and a flow </a:t>
                </a:r>
                <a:r>
                  <a:rPr lang="en-US" altLang="zh-TW" sz="12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spc="300" dirty="0">
                    <a:solidFill>
                      <a:srgbClr val="000000"/>
                    </a:solidFill>
                  </a:rPr>
                  <a:t>f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consider a pair of nodes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∈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  <a:sym typeface="Symbol" pitchFamily="18" charset="2"/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. </a:t>
                </a:r>
                <a:r>
                  <a:rPr lang="en-US" altLang="zh-TW" dirty="0"/>
                  <a:t>We define the 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residual capacity</a:t>
                </a:r>
                <a:r>
                  <a:rPr lang="en-US" altLang="zh-TW" dirty="0"/>
                  <a:t>     </a:t>
                </a:r>
                <a:r>
                  <a:rPr lang="en-US" altLang="zh-TW" i="1" dirty="0" err="1">
                    <a:solidFill>
                      <a:srgbClr val="000000"/>
                    </a:solidFill>
                  </a:rPr>
                  <a:t>r</a:t>
                </a:r>
                <a:r>
                  <a:rPr lang="en-US" altLang="zh-TW" i="1" spc="100" dirty="0" err="1">
                    <a:solidFill>
                      <a:srgbClr val="000000"/>
                    </a:solidFill>
                  </a:rPr>
                  <a:t>c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dirty="0"/>
                  <a:t>u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v</a:t>
                </a:r>
                <a:r>
                  <a:rPr lang="en-US" altLang="zh-TW" dirty="0"/>
                  <a:t>) by</a:t>
                </a:r>
              </a:p>
              <a:p>
                <a:pPr marL="0" indent="0" eaLnBrk="1" hangingPunct="1">
                  <a:spcBef>
                    <a:spcPts val="0"/>
                  </a:spcBef>
                </a:pPr>
                <a:endParaRPr lang="en-US" altLang="zh-TW" dirty="0"/>
              </a:p>
              <a:p>
                <a:pPr marL="0" indent="0" eaLnBrk="1" hangingPunct="1"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b="0" i="1" dirty="0" smtClean="0">
                          <a:solidFill>
                            <a:srgbClr val="000000"/>
                          </a:solidFill>
                        </a:rPr>
                        <m:t>r</m:t>
                      </m:r>
                      <m:r>
                        <m:rPr>
                          <m:nor/>
                        </m:rPr>
                        <a:rPr lang="en-US" altLang="zh-TW" i="1" dirty="0">
                          <a:solidFill>
                            <a:srgbClr val="000000"/>
                          </a:solidFill>
                        </a:rPr>
                        <m:t>c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TW" i="1" dirty="0">
                          <a:solidFill>
                            <a:srgbClr val="000000"/>
                          </a:solidFill>
                        </a:rPr>
                        <m:t>u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, </m:t>
                      </m:r>
                      <m:r>
                        <m:rPr>
                          <m:nor/>
                        </m:rPr>
                        <a:rPr lang="en-US" altLang="zh-TW" i="1" dirty="0">
                          <a:solidFill>
                            <a:srgbClr val="000000"/>
                          </a:solidFill>
                        </a:rPr>
                        <m:t>v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)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)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200" dirty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dirty="0" smtClean="0">
                                    <a:solidFill>
                                      <a:srgbClr val="000000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dirty="0" smtClean="0">
                                    <a:solidFill>
                                      <a:srgbClr val="000000"/>
                                    </a:solidFill>
                                  </a:rPr>
                                  <m:t>)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itchFamily="18" charset="2"/>
                                  </a:rPr>
                                  <m:t>∈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  <a:sym typeface="Symbol" pitchFamily="18" charset="2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200" dirty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1" dirty="0" smtClean="0">
                                    <a:solidFill>
                                      <a:srgbClr val="000000"/>
                                    </a:solidFill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1" dirty="0" smtClean="0">
                                    <a:solidFill>
                                      <a:srgbClr val="000000"/>
                                    </a:solidFill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)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dirty="0" smtClean="0">
                                    <a:solidFill>
                                      <a:srgbClr val="000000"/>
                                    </a:solidFill>
                                  </a:rPr>
                                  <m:t>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1" dirty="0" smtClean="0">
                                    <a:solidFill>
                                      <a:srgbClr val="000000"/>
                                    </a:solidFill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1" dirty="0" smtClean="0">
                                    <a:solidFill>
                                      <a:srgbClr val="000000"/>
                                    </a:solidFill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)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itchFamily="18" charset="2"/>
                                  </a:rPr>
                                  <m:t>∈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  <a:sym typeface="Symbol" pitchFamily="18" charset="2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0                       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otherwise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. 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dirty="0"/>
              </a:p>
              <a:p>
                <a:pPr marL="0" indent="0" eaLnBrk="1" hangingPunct="1">
                  <a:spcBef>
                    <a:spcPts val="0"/>
                  </a:spcBef>
                </a:pPr>
                <a:endParaRPr lang="en-US" altLang="zh-TW" dirty="0"/>
              </a:p>
              <a:p>
                <a:pPr marL="0" indent="0" eaLnBrk="1" hangingPunct="1">
                  <a:spcBef>
                    <a:spcPts val="0"/>
                  </a:spcBef>
                </a:pPr>
                <a:r>
                  <a:rPr lang="en-US" altLang="zh-TW" dirty="0"/>
                  <a:t>The 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residual network</a:t>
                </a:r>
                <a:r>
                  <a:rPr lang="en-US" altLang="zh-TW" dirty="0"/>
                  <a:t> of </a:t>
                </a:r>
                <a:r>
                  <a:rPr lang="en-US" altLang="zh-TW" i="1" dirty="0"/>
                  <a:t>G</a:t>
                </a:r>
                <a:r>
                  <a:rPr lang="en-US" altLang="zh-TW" dirty="0"/>
                  <a:t> induced by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/>
                  <a:t>f</a:t>
                </a:r>
                <a:r>
                  <a:rPr lang="en-US" altLang="zh-TW" dirty="0"/>
                  <a:t> </a:t>
                </a:r>
                <a:r>
                  <a:rPr lang="en-US" altLang="zh-TW" sz="1200" dirty="0"/>
                  <a:t> </a:t>
                </a:r>
                <a:r>
                  <a:rPr lang="en-US" altLang="zh-TW" dirty="0"/>
                  <a:t>is </a:t>
                </a:r>
                <a:r>
                  <a:rPr lang="en-US" altLang="zh-TW" i="1" dirty="0"/>
                  <a:t>R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(</a:t>
                </a:r>
                <a:r>
                  <a:rPr lang="en-US" altLang="zh-TW" i="1" dirty="0"/>
                  <a:t>V</a:t>
                </a:r>
                <a:r>
                  <a:rPr lang="en-US" altLang="zh-TW" dirty="0"/>
                  <a:t>, </a:t>
                </a:r>
                <a:r>
                  <a:rPr lang="en-US" altLang="zh-TW" i="1" spc="100" dirty="0">
                    <a:solidFill>
                      <a:srgbClr val="000000"/>
                    </a:solidFill>
                  </a:rPr>
                  <a:t>E</a:t>
                </a:r>
                <a:r>
                  <a:rPr lang="en-US" altLang="zh-TW" spc="1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′</a:t>
                </a:r>
                <a:r>
                  <a:rPr lang="en-US" altLang="zh-TW" dirty="0"/>
                  <a:t>), where</a:t>
                </a:r>
              </a:p>
              <a:p>
                <a:pPr marL="0" indent="0" eaLnBrk="1" hangingPunct="1">
                  <a:spcBef>
                    <a:spcPts val="0"/>
                  </a:spcBef>
                </a:pPr>
                <a:r>
                  <a:rPr lang="en-US" altLang="zh-TW" i="1" spc="100" dirty="0">
                    <a:solidFill>
                      <a:srgbClr val="000000"/>
                    </a:solidFill>
                  </a:rPr>
                  <a:t>E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′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{(</a:t>
                </a:r>
                <a:r>
                  <a:rPr lang="en-US" altLang="zh-TW" i="1" dirty="0"/>
                  <a:t>u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v</a:t>
                </a:r>
                <a:r>
                  <a:rPr lang="en-US" altLang="zh-TW" dirty="0"/>
                  <a:t>)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∈</a:t>
                </a:r>
                <a:r>
                  <a:rPr lang="en-US" altLang="zh-TW" dirty="0">
                    <a:sym typeface="Symbol" pitchFamily="18" charset="2"/>
                  </a:rPr>
                  <a:t> </a:t>
                </a:r>
                <a:r>
                  <a:rPr lang="en-US" altLang="zh-TW" i="1" spc="300" dirty="0" err="1">
                    <a:solidFill>
                      <a:srgbClr val="000000"/>
                    </a:solidFill>
                    <a:sym typeface="Symbol" pitchFamily="18" charset="2"/>
                  </a:rPr>
                  <a:t>V</a:t>
                </a:r>
                <a:r>
                  <a:rPr lang="en-US" altLang="zh-TW" spc="50" dirty="0" err="1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×</a:t>
                </a:r>
                <a:r>
                  <a:rPr lang="en-US" altLang="zh-TW" i="1" dirty="0" err="1">
                    <a:solidFill>
                      <a:srgbClr val="000000"/>
                    </a:solidFill>
                    <a:cs typeface="Times New Roman" pitchFamily="18" charset="0"/>
                    <a:sym typeface="Symbol" pitchFamily="18" charset="2"/>
                  </a:rPr>
                  <a:t>V</a:t>
                </a:r>
                <a:r>
                  <a:rPr lang="en-US" altLang="zh-TW" dirty="0">
                    <a:sym typeface="Symbol" pitchFamily="18" charset="2"/>
                  </a:rPr>
                  <a:t> :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(</a:t>
                </a:r>
                <a:r>
                  <a:rPr lang="en-US" altLang="zh-TW" i="1" dirty="0">
                    <a:solidFill>
                      <a:srgbClr val="FF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FF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) </a:t>
                </a:r>
                <a:r>
                  <a:rPr lang="en-US" altLang="zh-TW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∈</a:t>
                </a:r>
                <a:r>
                  <a:rPr lang="en-US" altLang="zh-TW" dirty="0">
                    <a:solidFill>
                      <a:srgbClr val="FF0000"/>
                    </a:solidFill>
                    <a:sym typeface="Symbol" pitchFamily="18" charset="2"/>
                  </a:rPr>
                  <a:t> </a:t>
                </a:r>
                <a:r>
                  <a:rPr lang="en-US" altLang="zh-TW" i="1" dirty="0">
                    <a:solidFill>
                      <a:srgbClr val="FF0000"/>
                    </a:solidFill>
                  </a:rPr>
                  <a:t>E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 or (</a:t>
                </a:r>
                <a:r>
                  <a:rPr lang="en-US" altLang="zh-TW" i="1" dirty="0">
                    <a:solidFill>
                      <a:srgbClr val="FF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FF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) </a:t>
                </a:r>
                <a:r>
                  <a:rPr lang="en-US" altLang="zh-TW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∈</a:t>
                </a:r>
                <a:r>
                  <a:rPr lang="en-US" altLang="zh-TW" dirty="0">
                    <a:solidFill>
                      <a:srgbClr val="FF0000"/>
                    </a:solidFill>
                    <a:sym typeface="Symbol" pitchFamily="18" charset="2"/>
                  </a:rPr>
                  <a:t> </a:t>
                </a:r>
                <a:r>
                  <a:rPr lang="en-US" altLang="zh-TW" i="1" dirty="0">
                    <a:solidFill>
                      <a:srgbClr val="FF0000"/>
                    </a:solidFill>
                  </a:rPr>
                  <a:t>E</a:t>
                </a:r>
                <a:r>
                  <a:rPr lang="en-US" altLang="zh-TW" dirty="0"/>
                  <a:t>},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in which each edge         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∈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 </a:t>
                </a:r>
                <a:r>
                  <a:rPr lang="en-US" altLang="zh-TW" i="1" spc="100" dirty="0">
                    <a:solidFill>
                      <a:srgbClr val="000000"/>
                    </a:solidFill>
                  </a:rPr>
                  <a:t>E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′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 is assigned the</a:t>
                </a:r>
                <a:r>
                  <a:rPr lang="en-US" altLang="zh-TW" dirty="0">
                    <a:sym typeface="Symbol" pitchFamily="18" charset="2"/>
                  </a:rPr>
                  <a:t> </a:t>
                </a:r>
                <a:r>
                  <a:rPr lang="en-US" altLang="zh-TW" dirty="0"/>
                  <a:t>residual capacity </a:t>
                </a:r>
                <a:r>
                  <a:rPr lang="en-US" altLang="zh-TW" i="1" dirty="0" err="1">
                    <a:solidFill>
                      <a:srgbClr val="000000"/>
                    </a:solidFill>
                  </a:rPr>
                  <a:t>r</a:t>
                </a:r>
                <a:r>
                  <a:rPr lang="en-US" altLang="zh-TW" i="1" spc="100" dirty="0" err="1">
                    <a:solidFill>
                      <a:srgbClr val="000000"/>
                    </a:solidFill>
                  </a:rPr>
                  <a:t>c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.</a:t>
                </a:r>
                <a:endParaRPr lang="en-US" altLang="zh-TW" dirty="0"/>
              </a:p>
              <a:p>
                <a:pPr marL="0" indent="0" eaLnBrk="1" hangingPunct="1">
                  <a:spcBef>
                    <a:spcPts val="0"/>
                  </a:spcBef>
                </a:pPr>
                <a:endParaRPr lang="en-US" altLang="zh-TW" dirty="0"/>
              </a:p>
              <a:p>
                <a:pPr marL="0" indent="0" eaLnBrk="1" hangingPunct="1">
                  <a:spcBef>
                    <a:spcPts val="0"/>
                  </a:spcBef>
                </a:pPr>
                <a:r>
                  <a:rPr lang="en-US" altLang="zh-TW" dirty="0"/>
                  <a:t>The topology of the residual network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R</a:t>
                </a:r>
                <a:r>
                  <a:rPr lang="en-US" altLang="zh-TW" dirty="0"/>
                  <a:t> depends only on the topology of the flow network, and is independent of the residual capacity.</a:t>
                </a:r>
              </a:p>
            </p:txBody>
          </p:sp>
        </mc:Choice>
        <mc:Fallback xmlns="">
          <p:sp>
            <p:nvSpPr>
              <p:cNvPr id="583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2000" y="1449000"/>
                <a:ext cx="8280000" cy="4860000"/>
              </a:xfrm>
              <a:blipFill>
                <a:blip r:embed="rId2"/>
                <a:stretch>
                  <a:fillRect l="-957" t="-1004" r="-1546" b="-238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725801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583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R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5" name="內容版面配置區 1"/>
          <p:cNvSpPr txBox="1">
            <a:spLocks/>
          </p:cNvSpPr>
          <p:nvPr/>
        </p:nvSpPr>
        <p:spPr bwMode="auto">
          <a:xfrm>
            <a:off x="583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G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G.E</a:t>
            </a:r>
            <a:endParaRPr lang="en-US" altLang="zh-TW" dirty="0">
              <a:solidFill>
                <a:srgbClr val="000000"/>
              </a:solidFill>
            </a:endParaRP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FFFFFF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endParaRPr lang="en-US" altLang="zh-TW" dirty="0">
              <a:solidFill>
                <a:srgbClr val="000000"/>
              </a:solidFill>
            </a:endParaRPr>
          </a:p>
          <a:p>
            <a:pPr lvl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lvl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" y="369000"/>
            <a:ext cx="4680000" cy="2851822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" y="3609000"/>
            <a:ext cx="4680000" cy="296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00752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583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R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5" name="內容版面配置區 1"/>
          <p:cNvSpPr txBox="1">
            <a:spLocks/>
          </p:cNvSpPr>
          <p:nvPr/>
        </p:nvSpPr>
        <p:spPr bwMode="auto">
          <a:xfrm>
            <a:off x="583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G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G.E</a:t>
            </a:r>
            <a:endParaRPr lang="en-US" altLang="zh-TW" dirty="0">
              <a:solidFill>
                <a:srgbClr val="000000"/>
              </a:solidFill>
            </a:endParaRP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FFFFFF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endParaRPr lang="en-US" altLang="zh-TW" dirty="0">
              <a:solidFill>
                <a:srgbClr val="000000"/>
              </a:solidFill>
            </a:endParaRPr>
          </a:p>
          <a:p>
            <a:pPr lvl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lvl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" y="369000"/>
            <a:ext cx="4680000" cy="2851822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" y="3609000"/>
            <a:ext cx="4680000" cy="296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64462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583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R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5" name="內容版面配置區 1"/>
          <p:cNvSpPr txBox="1">
            <a:spLocks/>
          </p:cNvSpPr>
          <p:nvPr/>
        </p:nvSpPr>
        <p:spPr bwMode="auto">
          <a:xfrm>
            <a:off x="583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G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G.E</a:t>
            </a:r>
            <a:endParaRPr lang="en-US" altLang="zh-TW" dirty="0">
              <a:solidFill>
                <a:srgbClr val="000000"/>
              </a:solidFill>
            </a:endParaRP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FFFFFF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endParaRPr lang="en-US" altLang="zh-TW" dirty="0">
              <a:solidFill>
                <a:srgbClr val="000000"/>
              </a:solidFill>
            </a:endParaRPr>
          </a:p>
          <a:p>
            <a:pPr lvl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lvl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" y="369000"/>
            <a:ext cx="4680000" cy="2851822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" y="3609000"/>
            <a:ext cx="4680000" cy="296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74154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583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R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5" name="內容版面配置區 1"/>
          <p:cNvSpPr txBox="1">
            <a:spLocks/>
          </p:cNvSpPr>
          <p:nvPr/>
        </p:nvSpPr>
        <p:spPr bwMode="auto">
          <a:xfrm>
            <a:off x="583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G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G.E</a:t>
            </a:r>
            <a:endParaRPr lang="en-US" altLang="zh-TW" dirty="0">
              <a:solidFill>
                <a:srgbClr val="000000"/>
              </a:solidFill>
            </a:endParaRP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FFFFFF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endParaRPr lang="en-US" altLang="zh-TW" dirty="0">
              <a:solidFill>
                <a:srgbClr val="000000"/>
              </a:solidFill>
            </a:endParaRPr>
          </a:p>
          <a:p>
            <a:pPr lvl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lvl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" y="369000"/>
            <a:ext cx="4680000" cy="2851822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" y="3609000"/>
            <a:ext cx="4680000" cy="296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83562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583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R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5" name="內容版面配置區 1"/>
          <p:cNvSpPr txBox="1">
            <a:spLocks/>
          </p:cNvSpPr>
          <p:nvPr/>
        </p:nvSpPr>
        <p:spPr bwMode="auto">
          <a:xfrm>
            <a:off x="583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G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G.E</a:t>
            </a:r>
            <a:endParaRPr lang="en-US" altLang="zh-TW" dirty="0">
              <a:solidFill>
                <a:srgbClr val="000000"/>
              </a:solidFill>
            </a:endParaRP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FFFFFF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endParaRPr lang="en-US" altLang="zh-TW" dirty="0">
              <a:solidFill>
                <a:srgbClr val="000000"/>
              </a:solidFill>
            </a:endParaRPr>
          </a:p>
          <a:p>
            <a:pPr lvl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lvl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" y="369000"/>
            <a:ext cx="4680000" cy="2851822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" y="3609000"/>
            <a:ext cx="4680000" cy="296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16517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583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R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5" name="內容版面配置區 1"/>
          <p:cNvSpPr txBox="1">
            <a:spLocks/>
          </p:cNvSpPr>
          <p:nvPr/>
        </p:nvSpPr>
        <p:spPr bwMode="auto">
          <a:xfrm>
            <a:off x="583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G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G.E</a:t>
            </a:r>
            <a:endParaRPr lang="en-US" altLang="zh-TW" dirty="0">
              <a:solidFill>
                <a:srgbClr val="000000"/>
              </a:solidFill>
            </a:endParaRP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FFFFFF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endParaRPr lang="en-US" altLang="zh-TW" dirty="0">
              <a:solidFill>
                <a:srgbClr val="000000"/>
              </a:solidFill>
            </a:endParaRPr>
          </a:p>
          <a:p>
            <a:pPr lvl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lvl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" y="369000"/>
            <a:ext cx="4680000" cy="2851822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" y="3609000"/>
            <a:ext cx="4680000" cy="296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56954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583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R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5" name="內容版面配置區 1"/>
          <p:cNvSpPr txBox="1">
            <a:spLocks/>
          </p:cNvSpPr>
          <p:nvPr/>
        </p:nvSpPr>
        <p:spPr bwMode="auto">
          <a:xfrm>
            <a:off x="583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G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G.E</a:t>
            </a:r>
            <a:endParaRPr lang="en-US" altLang="zh-TW" dirty="0">
              <a:solidFill>
                <a:srgbClr val="000000"/>
              </a:solidFill>
            </a:endParaRP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FFFFFF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endParaRPr lang="en-US" altLang="zh-TW" dirty="0">
              <a:solidFill>
                <a:srgbClr val="000000"/>
              </a:solidFill>
            </a:endParaRPr>
          </a:p>
          <a:p>
            <a:pPr lvl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lvl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" y="369000"/>
            <a:ext cx="4680000" cy="2851822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" y="3609000"/>
            <a:ext cx="4680000" cy="296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25750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583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R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5" name="內容版面配置區 1"/>
          <p:cNvSpPr txBox="1">
            <a:spLocks/>
          </p:cNvSpPr>
          <p:nvPr/>
        </p:nvSpPr>
        <p:spPr bwMode="auto">
          <a:xfrm>
            <a:off x="583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G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G.E</a:t>
            </a:r>
            <a:endParaRPr lang="en-US" altLang="zh-TW" dirty="0">
              <a:solidFill>
                <a:srgbClr val="000000"/>
              </a:solidFill>
            </a:endParaRP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FFFFFF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endParaRPr lang="en-US" altLang="zh-TW" dirty="0">
              <a:solidFill>
                <a:srgbClr val="000000"/>
              </a:solidFill>
            </a:endParaRPr>
          </a:p>
          <a:p>
            <a:pPr lvl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lvl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" y="369000"/>
            <a:ext cx="4680000" cy="2851822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" y="3609000"/>
            <a:ext cx="4680000" cy="296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20808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583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R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5" name="內容版面配置區 1"/>
          <p:cNvSpPr txBox="1">
            <a:spLocks/>
          </p:cNvSpPr>
          <p:nvPr/>
        </p:nvSpPr>
        <p:spPr bwMode="auto">
          <a:xfrm>
            <a:off x="583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G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G.E</a:t>
            </a:r>
            <a:endParaRPr lang="en-US" altLang="zh-TW" dirty="0">
              <a:solidFill>
                <a:srgbClr val="000000"/>
              </a:solidFill>
            </a:endParaRP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FFFFFF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endParaRPr lang="en-US" altLang="zh-TW" dirty="0">
              <a:solidFill>
                <a:srgbClr val="000000"/>
              </a:solidFill>
            </a:endParaRPr>
          </a:p>
          <a:p>
            <a:pPr lvl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lvl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" y="3609000"/>
            <a:ext cx="4680000" cy="2965105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" y="369000"/>
            <a:ext cx="4680000" cy="2851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85987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idx="1"/>
          </p:nvPr>
        </p:nvSpPr>
        <p:spPr>
          <a:xfrm>
            <a:off x="432000" y="369000"/>
            <a:ext cx="8099999" cy="5400000"/>
          </a:xfrm>
        </p:spPr>
        <p:txBody>
          <a:bodyPr lIns="90000" rIns="90000"/>
          <a:lstStyle/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defRPr/>
            </a:pPr>
            <a:r>
              <a:rPr lang="en-US" altLang="zh-TW" dirty="0">
                <a:solidFill>
                  <a:srgbClr val="000000"/>
                </a:solidFill>
              </a:rPr>
              <a:t>We assume that the nodes of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100" dirty="0">
                <a:solidFill>
                  <a:srgbClr val="000000"/>
                </a:solidFill>
              </a:rPr>
              <a:t>E</a:t>
            </a:r>
            <a:r>
              <a:rPr lang="en-US" altLang="zh-TW" spc="1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>
                <a:solidFill>
                  <a:srgbClr val="000000"/>
                </a:solidFill>
              </a:rPr>
              <a:t>) are numbered 1, 2, ...,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, where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i="1" spc="300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, and let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]) be an </a:t>
            </a:r>
            <a:r>
              <a:rPr lang="en-US" altLang="zh-TW" i="1" spc="150" dirty="0" err="1">
                <a:solidFill>
                  <a:srgbClr val="000000"/>
                </a:solidFill>
              </a:rPr>
              <a:t>n</a:t>
            </a:r>
            <a:r>
              <a:rPr lang="en-US" altLang="zh-TW" sz="1800" spc="150" dirty="0" err="1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×</a:t>
            </a:r>
            <a:r>
              <a:rPr lang="en-US" altLang="zh-TW" i="1" dirty="0" err="1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 2</a:t>
            </a:r>
            <a:r>
              <a:rPr lang="en-US" altLang="zh-TW" spc="100" dirty="0">
                <a:solidFill>
                  <a:srgbClr val="000000"/>
                </a:solidFill>
              </a:rPr>
              <a:t>-</a:t>
            </a:r>
            <a:r>
              <a:rPr lang="en-US" altLang="zh-TW" dirty="0">
                <a:solidFill>
                  <a:srgbClr val="000000"/>
                </a:solidFill>
              </a:rPr>
              <a:t>d array.</a:t>
            </a:r>
          </a:p>
          <a:p>
            <a:pPr marL="0" indent="0" eaLnBrk="1" hangingPunct="1">
              <a:spcBef>
                <a:spcPts val="1200"/>
              </a:spcBef>
              <a:defRPr/>
            </a:pPr>
            <a:r>
              <a:rPr lang="en-US" altLang="zh-TW" sz="2200" dirty="0" err="1"/>
              <a:t>FordFulkerson3</a:t>
            </a:r>
            <a:r>
              <a:rPr lang="en-US" altLang="zh-TW" sz="2200" dirty="0"/>
              <a:t>(</a:t>
            </a:r>
            <a:r>
              <a:rPr lang="en-US" altLang="zh-TW" sz="2200" i="1" dirty="0"/>
              <a:t>R</a:t>
            </a:r>
            <a:r>
              <a:rPr lang="en-US" altLang="zh-TW" sz="2200" dirty="0"/>
              <a:t>, </a:t>
            </a:r>
            <a:r>
              <a:rPr lang="en-US" altLang="zh-TW" sz="2200" i="1" dirty="0"/>
              <a:t>s</a:t>
            </a:r>
            <a:r>
              <a:rPr lang="en-US" altLang="zh-TW" sz="2200" dirty="0"/>
              <a:t>, </a:t>
            </a:r>
            <a:r>
              <a:rPr lang="en-US" altLang="zh-TW" sz="2200" i="1" spc="100" dirty="0"/>
              <a:t>t</a:t>
            </a:r>
            <a:r>
              <a:rPr lang="en-US" altLang="zh-TW" sz="2200" dirty="0"/>
              <a:t>)</a:t>
            </a:r>
            <a:endParaRPr lang="en-US" altLang="zh-TW" sz="2200" b="1" dirty="0"/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node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R.V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 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node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R.V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 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5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	there	exists a path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 from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to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 in the residual network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endParaRPr lang="en-US" altLang="zh-TW" i="1" baseline="-250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		such that for 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0</a:t>
            </a:r>
          </a:p>
          <a:p>
            <a:pPr marL="0" indent="0" eaLnBrk="1" hangingPunct="1">
              <a:spcBef>
                <a:spcPts val="0"/>
              </a:spcBef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sz="2200" dirty="0"/>
              <a:t>	6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ym typeface="Symbol" pitchFamily="18" charset="2"/>
              </a:rPr>
              <a:t> min{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en-US" altLang="zh-TW" dirty="0"/>
              <a:t> (</a:t>
            </a:r>
            <a:r>
              <a:rPr lang="en-US" altLang="zh-TW" i="1" dirty="0"/>
              <a:t>u</a:t>
            </a:r>
            <a:r>
              <a:rPr lang="en-US" altLang="zh-TW" dirty="0"/>
              <a:t>, </a:t>
            </a:r>
            <a:r>
              <a:rPr lang="en-US" altLang="zh-TW" i="1" dirty="0"/>
              <a:t>v</a:t>
            </a:r>
            <a:r>
              <a:rPr lang="en-US" altLang="zh-TW" dirty="0"/>
              <a:t>) is in </a:t>
            </a:r>
            <a:r>
              <a:rPr lang="en-US" altLang="zh-TW" i="1" dirty="0"/>
              <a:t>p</a:t>
            </a:r>
            <a:r>
              <a:rPr lang="en-US" altLang="zh-TW" dirty="0"/>
              <a:t>}</a:t>
            </a:r>
            <a:endParaRPr lang="en-US" altLang="zh-TW" sz="2200" b="1" dirty="0">
              <a:sym typeface="Symbol" pitchFamily="18" charset="2"/>
            </a:endParaRPr>
          </a:p>
          <a:p>
            <a:pPr marL="0" indent="0" eaLnBrk="1" hangingPunct="1">
              <a:spcBef>
                <a:spcPts val="0"/>
              </a:spcBef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indent="0" eaLnBrk="1" hangingPunct="1">
              <a:spcBef>
                <a:spcPts val="0"/>
              </a:spcBef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sz="2200" dirty="0"/>
              <a:t>	8		</a:t>
            </a:r>
            <a:r>
              <a:rPr lang="en-US" altLang="zh-TW" sz="2200" b="1" dirty="0"/>
              <a:t>for</a:t>
            </a:r>
            <a:r>
              <a:rPr lang="en-US" altLang="zh-TW" sz="2200" dirty="0"/>
              <a:t>	each edge (</a:t>
            </a:r>
            <a:r>
              <a:rPr lang="en-US" altLang="zh-TW" sz="2200" i="1" dirty="0"/>
              <a:t>u</a:t>
            </a:r>
            <a:r>
              <a:rPr lang="en-US" altLang="zh-TW" sz="2200" dirty="0"/>
              <a:t>, </a:t>
            </a:r>
            <a:r>
              <a:rPr lang="en-US" altLang="zh-TW" sz="2200" i="1" dirty="0"/>
              <a:t>v</a:t>
            </a:r>
            <a:r>
              <a:rPr lang="en-US" altLang="zh-TW" sz="2200" dirty="0"/>
              <a:t>) in </a:t>
            </a:r>
            <a:r>
              <a:rPr lang="en-US" altLang="zh-TW" sz="2200" i="1" dirty="0"/>
              <a:t>p</a:t>
            </a:r>
            <a:endParaRPr lang="en-US" altLang="zh-TW" sz="2200" b="1" dirty="0"/>
          </a:p>
          <a:p>
            <a:pPr marL="0" indent="0" eaLnBrk="1" hangingPunct="1">
              <a:spcBef>
                <a:spcPts val="0"/>
              </a:spcBef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sz="2200" dirty="0"/>
              <a:t>	9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sz="2200" dirty="0"/>
              <a:t> </a:t>
            </a:r>
          </a:p>
          <a:p>
            <a:pPr marL="0" indent="0" eaLnBrk="1" hangingPunct="1">
              <a:spcBef>
                <a:spcPts val="0"/>
              </a:spcBef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sz="2200" dirty="0"/>
              <a:t>	10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sz="2200" dirty="0"/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return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endParaRPr lang="en-US" altLang="zh-TW" i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924442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idx="1"/>
          </p:nvPr>
        </p:nvSpPr>
        <p:spPr/>
        <p:txBody>
          <a:bodyPr lIns="90000" rIns="90000"/>
          <a:lstStyle/>
          <a:p>
            <a:pPr marL="0" indent="0" eaLnBrk="1" hangingPunct="1">
              <a:defRPr/>
            </a:pPr>
            <a:r>
              <a:rPr lang="en-US" altLang="zh-TW" sz="2200" dirty="0" err="1"/>
              <a:t>FordFulkerson3</a:t>
            </a:r>
            <a:r>
              <a:rPr lang="en-US" altLang="zh-TW" sz="2200" dirty="0"/>
              <a:t>(</a:t>
            </a:r>
            <a:r>
              <a:rPr lang="en-US" altLang="zh-TW" sz="2200" i="1" dirty="0"/>
              <a:t>R</a:t>
            </a:r>
            <a:r>
              <a:rPr lang="en-US" altLang="zh-TW" sz="2200" dirty="0"/>
              <a:t>, </a:t>
            </a:r>
            <a:r>
              <a:rPr lang="en-US" altLang="zh-TW" sz="2200" i="1" dirty="0"/>
              <a:t>s</a:t>
            </a:r>
            <a:r>
              <a:rPr lang="en-US" altLang="zh-TW" sz="2200" dirty="0"/>
              <a:t>, </a:t>
            </a:r>
            <a:r>
              <a:rPr lang="en-US" altLang="zh-TW" sz="2200" i="1" spc="100" dirty="0"/>
              <a:t>t</a:t>
            </a:r>
            <a:r>
              <a:rPr lang="en-US" altLang="zh-TW" sz="2200" dirty="0"/>
              <a:t>)</a:t>
            </a:r>
            <a:endParaRPr lang="en-US" altLang="zh-TW" sz="2200" b="1" dirty="0"/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5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	there	exists a path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 from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to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 in the residual network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endParaRPr lang="en-US" altLang="zh-TW" i="1" baseline="-25000" dirty="0">
              <a:solidFill>
                <a:srgbClr val="000000"/>
              </a:solidFill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69875" algn="r"/>
                <a:tab pos="539750" algn="l"/>
                <a:tab pos="12588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		such that for 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0</a:t>
            </a:r>
          </a:p>
          <a:p>
            <a:pPr marL="0" indent="0" eaLnBrk="1" hangingPunct="1"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/>
              <a:t>	6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ym typeface="Symbol" pitchFamily="18" charset="2"/>
              </a:rPr>
              <a:t> min{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en-US" altLang="zh-TW" dirty="0"/>
              <a:t> (</a:t>
            </a:r>
            <a:r>
              <a:rPr lang="en-US" altLang="zh-TW" i="1" dirty="0"/>
              <a:t>u</a:t>
            </a:r>
            <a:r>
              <a:rPr lang="en-US" altLang="zh-TW" dirty="0"/>
              <a:t>, </a:t>
            </a:r>
            <a:r>
              <a:rPr lang="en-US" altLang="zh-TW" i="1" dirty="0"/>
              <a:t>v</a:t>
            </a:r>
            <a:r>
              <a:rPr lang="en-US" altLang="zh-TW" dirty="0"/>
              <a:t>) is in </a:t>
            </a:r>
            <a:r>
              <a:rPr lang="en-US" altLang="zh-TW" i="1" dirty="0"/>
              <a:t>p</a:t>
            </a:r>
            <a:r>
              <a:rPr lang="en-US" altLang="zh-TW" dirty="0"/>
              <a:t>}</a:t>
            </a:r>
            <a:endParaRPr lang="en-US" altLang="zh-TW" b="1" dirty="0">
              <a:sym typeface="Symbol" pitchFamily="18" charset="2"/>
            </a:endParaRPr>
          </a:p>
          <a:p>
            <a:pPr marL="0" indent="0" eaLnBrk="1" hangingPunct="1"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/>
              <a:t>	8		</a:t>
            </a:r>
            <a:r>
              <a:rPr lang="en-US" altLang="zh-TW" b="1" dirty="0"/>
              <a:t>for</a:t>
            </a:r>
            <a:r>
              <a:rPr lang="en-US" altLang="zh-TW" dirty="0"/>
              <a:t>	each edge (</a:t>
            </a:r>
            <a:r>
              <a:rPr lang="en-US" altLang="zh-TW" i="1" dirty="0"/>
              <a:t>u</a:t>
            </a:r>
            <a:r>
              <a:rPr lang="en-US" altLang="zh-TW" dirty="0"/>
              <a:t>, </a:t>
            </a:r>
            <a:r>
              <a:rPr lang="en-US" altLang="zh-TW" i="1" dirty="0"/>
              <a:t>v</a:t>
            </a:r>
            <a:r>
              <a:rPr lang="en-US" altLang="zh-TW" dirty="0"/>
              <a:t>) in </a:t>
            </a:r>
            <a:r>
              <a:rPr lang="en-US" altLang="zh-TW" i="1" dirty="0"/>
              <a:t>p</a:t>
            </a:r>
            <a:endParaRPr lang="en-US" altLang="zh-TW" b="1" dirty="0"/>
          </a:p>
          <a:p>
            <a:pPr marL="0" indent="0" eaLnBrk="1" hangingPunct="1"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/>
              <a:t>	9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dirty="0"/>
              <a:t> </a:t>
            </a:r>
          </a:p>
          <a:p>
            <a:pPr marL="0" indent="0" eaLnBrk="1" hangingPunct="1"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/>
              <a:t>	10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3429000"/>
            <a:ext cx="4680000" cy="2965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28279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idx="1"/>
          </p:nvPr>
        </p:nvSpPr>
        <p:spPr/>
        <p:txBody>
          <a:bodyPr lIns="90000" rIns="90000"/>
          <a:lstStyle/>
          <a:p>
            <a:pPr marL="0" indent="0" eaLnBrk="1" hangingPunct="1">
              <a:defRPr/>
            </a:pPr>
            <a:r>
              <a:rPr lang="en-US" altLang="zh-TW" dirty="0" err="1"/>
              <a:t>FordFulkerson3</a:t>
            </a:r>
            <a:r>
              <a:rPr lang="en-US" altLang="zh-TW" dirty="0"/>
              <a:t>(</a:t>
            </a:r>
            <a:r>
              <a:rPr lang="en-US" altLang="zh-TW" i="1" dirty="0"/>
              <a:t>R</a:t>
            </a:r>
            <a:r>
              <a:rPr lang="en-US" altLang="zh-TW" dirty="0"/>
              <a:t>, </a:t>
            </a:r>
            <a:r>
              <a:rPr lang="en-US" altLang="zh-TW" i="1" dirty="0"/>
              <a:t>s</a:t>
            </a:r>
            <a:r>
              <a:rPr lang="en-US" altLang="zh-TW" dirty="0"/>
              <a:t>, </a:t>
            </a:r>
            <a:r>
              <a:rPr lang="en-US" altLang="zh-TW" i="1" spc="100" dirty="0"/>
              <a:t>t</a:t>
            </a:r>
            <a:r>
              <a:rPr lang="en-US" altLang="zh-TW" dirty="0"/>
              <a:t>)</a:t>
            </a:r>
            <a:endParaRPr lang="en-US" altLang="zh-TW" b="1" dirty="0"/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5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	there	exists a path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 from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to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 in the residual network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endParaRPr lang="en-US" altLang="zh-TW" i="1" baseline="-25000" dirty="0">
              <a:solidFill>
                <a:srgbClr val="000000"/>
              </a:solidFill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69875" algn="r"/>
                <a:tab pos="539750" algn="l"/>
                <a:tab pos="12588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		such that for 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0</a:t>
            </a:r>
          </a:p>
          <a:p>
            <a:pPr marL="0" indent="0" eaLnBrk="1" hangingPunct="1"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/>
              <a:t>	6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ym typeface="Symbol" pitchFamily="18" charset="2"/>
              </a:rPr>
              <a:t> min{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en-US" altLang="zh-TW" dirty="0"/>
              <a:t> (</a:t>
            </a:r>
            <a:r>
              <a:rPr lang="en-US" altLang="zh-TW" i="1" dirty="0"/>
              <a:t>u</a:t>
            </a:r>
            <a:r>
              <a:rPr lang="en-US" altLang="zh-TW" dirty="0"/>
              <a:t>, </a:t>
            </a:r>
            <a:r>
              <a:rPr lang="en-US" altLang="zh-TW" i="1" dirty="0"/>
              <a:t>v</a:t>
            </a:r>
            <a:r>
              <a:rPr lang="en-US" altLang="zh-TW" dirty="0"/>
              <a:t>) is in </a:t>
            </a:r>
            <a:r>
              <a:rPr lang="en-US" altLang="zh-TW" i="1" dirty="0"/>
              <a:t>p</a:t>
            </a:r>
            <a:r>
              <a:rPr lang="en-US" altLang="zh-TW" dirty="0"/>
              <a:t>}</a:t>
            </a:r>
            <a:endParaRPr lang="en-US" altLang="zh-TW" b="1" dirty="0">
              <a:sym typeface="Symbol" pitchFamily="18" charset="2"/>
            </a:endParaRPr>
          </a:p>
          <a:p>
            <a:pPr marL="0" indent="0" eaLnBrk="1" hangingPunct="1"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/>
              <a:t>	8		</a:t>
            </a:r>
            <a:r>
              <a:rPr lang="en-US" altLang="zh-TW" b="1" dirty="0"/>
              <a:t>for</a:t>
            </a:r>
            <a:r>
              <a:rPr lang="en-US" altLang="zh-TW" dirty="0"/>
              <a:t>	each edge (</a:t>
            </a:r>
            <a:r>
              <a:rPr lang="en-US" altLang="zh-TW" i="1" dirty="0"/>
              <a:t>u</a:t>
            </a:r>
            <a:r>
              <a:rPr lang="en-US" altLang="zh-TW" dirty="0"/>
              <a:t>, </a:t>
            </a:r>
            <a:r>
              <a:rPr lang="en-US" altLang="zh-TW" i="1" dirty="0"/>
              <a:t>v</a:t>
            </a:r>
            <a:r>
              <a:rPr lang="en-US" altLang="zh-TW" dirty="0"/>
              <a:t>) in </a:t>
            </a:r>
            <a:r>
              <a:rPr lang="en-US" altLang="zh-TW" i="1" dirty="0"/>
              <a:t>p</a:t>
            </a:r>
            <a:endParaRPr lang="en-US" altLang="zh-TW" b="1" dirty="0"/>
          </a:p>
          <a:p>
            <a:pPr marL="0" indent="0" eaLnBrk="1" hangingPunct="1"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/>
              <a:t>	9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dirty="0"/>
              <a:t> </a:t>
            </a:r>
          </a:p>
          <a:p>
            <a:pPr marL="0" indent="0" eaLnBrk="1" hangingPunct="1"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/>
              <a:t>	10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3429000"/>
            <a:ext cx="4680000" cy="296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30056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idx="1"/>
          </p:nvPr>
        </p:nvSpPr>
        <p:spPr/>
        <p:txBody>
          <a:bodyPr lIns="90000" rIns="90000"/>
          <a:lstStyle/>
          <a:p>
            <a:pPr marL="0" indent="0" eaLnBrk="1" hangingPunct="1">
              <a:defRPr/>
            </a:pPr>
            <a:r>
              <a:rPr lang="en-US" altLang="zh-TW" dirty="0" err="1"/>
              <a:t>FordFulkerson3</a:t>
            </a:r>
            <a:r>
              <a:rPr lang="en-US" altLang="zh-TW" dirty="0"/>
              <a:t>(</a:t>
            </a:r>
            <a:r>
              <a:rPr lang="en-US" altLang="zh-TW" i="1" dirty="0"/>
              <a:t>R</a:t>
            </a:r>
            <a:r>
              <a:rPr lang="en-US" altLang="zh-TW" dirty="0"/>
              <a:t>, </a:t>
            </a:r>
            <a:r>
              <a:rPr lang="en-US" altLang="zh-TW" i="1" dirty="0"/>
              <a:t>s</a:t>
            </a:r>
            <a:r>
              <a:rPr lang="en-US" altLang="zh-TW" dirty="0"/>
              <a:t>, </a:t>
            </a:r>
            <a:r>
              <a:rPr lang="en-US" altLang="zh-TW" i="1" spc="100" dirty="0"/>
              <a:t>t</a:t>
            </a:r>
            <a:r>
              <a:rPr lang="en-US" altLang="zh-TW" dirty="0"/>
              <a:t>)</a:t>
            </a:r>
            <a:endParaRPr lang="en-US" altLang="zh-TW" b="1" dirty="0"/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5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	there	exists a path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 from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to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 in the residual network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endParaRPr lang="en-US" altLang="zh-TW" i="1" baseline="-25000" dirty="0">
              <a:solidFill>
                <a:srgbClr val="000000"/>
              </a:solidFill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69875" algn="r"/>
                <a:tab pos="539750" algn="l"/>
                <a:tab pos="12588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		such that for 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0</a:t>
            </a:r>
          </a:p>
          <a:p>
            <a:pPr marL="0" indent="0" eaLnBrk="1" hangingPunct="1"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/>
              <a:t>	6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ym typeface="Symbol" pitchFamily="18" charset="2"/>
              </a:rPr>
              <a:t> min{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en-US" altLang="zh-TW" dirty="0"/>
              <a:t> (</a:t>
            </a:r>
            <a:r>
              <a:rPr lang="en-US" altLang="zh-TW" i="1" dirty="0"/>
              <a:t>u</a:t>
            </a:r>
            <a:r>
              <a:rPr lang="en-US" altLang="zh-TW" dirty="0"/>
              <a:t>, </a:t>
            </a:r>
            <a:r>
              <a:rPr lang="en-US" altLang="zh-TW" i="1" dirty="0"/>
              <a:t>v</a:t>
            </a:r>
            <a:r>
              <a:rPr lang="en-US" altLang="zh-TW" dirty="0"/>
              <a:t>) is in </a:t>
            </a:r>
            <a:r>
              <a:rPr lang="en-US" altLang="zh-TW" i="1" dirty="0"/>
              <a:t>p</a:t>
            </a:r>
            <a:r>
              <a:rPr lang="en-US" altLang="zh-TW" dirty="0"/>
              <a:t>}</a:t>
            </a:r>
            <a:endParaRPr lang="en-US" altLang="zh-TW" b="1" dirty="0">
              <a:sym typeface="Symbol" pitchFamily="18" charset="2"/>
            </a:endParaRPr>
          </a:p>
          <a:p>
            <a:pPr marL="0" indent="0" eaLnBrk="1" hangingPunct="1"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/>
              <a:t>	8		</a:t>
            </a:r>
            <a:r>
              <a:rPr lang="en-US" altLang="zh-TW" b="1" dirty="0"/>
              <a:t>for</a:t>
            </a:r>
            <a:r>
              <a:rPr lang="en-US" altLang="zh-TW" dirty="0"/>
              <a:t>	each edge (</a:t>
            </a:r>
            <a:r>
              <a:rPr lang="en-US" altLang="zh-TW" i="1" dirty="0"/>
              <a:t>u</a:t>
            </a:r>
            <a:r>
              <a:rPr lang="en-US" altLang="zh-TW" dirty="0"/>
              <a:t>, </a:t>
            </a:r>
            <a:r>
              <a:rPr lang="en-US" altLang="zh-TW" i="1" dirty="0"/>
              <a:t>v</a:t>
            </a:r>
            <a:r>
              <a:rPr lang="en-US" altLang="zh-TW" dirty="0"/>
              <a:t>) in </a:t>
            </a:r>
            <a:r>
              <a:rPr lang="en-US" altLang="zh-TW" i="1" dirty="0"/>
              <a:t>p</a:t>
            </a:r>
            <a:endParaRPr lang="en-US" altLang="zh-TW" b="1" dirty="0"/>
          </a:p>
          <a:p>
            <a:pPr marL="0" indent="0" eaLnBrk="1" hangingPunct="1"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/>
              <a:t>	9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dirty="0"/>
              <a:t> </a:t>
            </a:r>
          </a:p>
          <a:p>
            <a:pPr marL="0" indent="0" eaLnBrk="1" hangingPunct="1"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/>
              <a:t>	10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3429000"/>
            <a:ext cx="4680000" cy="296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89261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idx="1"/>
          </p:nvPr>
        </p:nvSpPr>
        <p:spPr/>
        <p:txBody>
          <a:bodyPr lIns="90000" rIns="90000"/>
          <a:lstStyle/>
          <a:p>
            <a:pPr marL="0" indent="0" eaLnBrk="1" hangingPunct="1">
              <a:defRPr/>
            </a:pPr>
            <a:r>
              <a:rPr lang="en-US" altLang="zh-TW" dirty="0" err="1"/>
              <a:t>FordFulkerson3</a:t>
            </a:r>
            <a:r>
              <a:rPr lang="en-US" altLang="zh-TW" dirty="0"/>
              <a:t>(</a:t>
            </a:r>
            <a:r>
              <a:rPr lang="en-US" altLang="zh-TW" i="1" dirty="0"/>
              <a:t>R</a:t>
            </a:r>
            <a:r>
              <a:rPr lang="en-US" altLang="zh-TW" dirty="0"/>
              <a:t>, </a:t>
            </a:r>
            <a:r>
              <a:rPr lang="en-US" altLang="zh-TW" i="1" dirty="0"/>
              <a:t>s</a:t>
            </a:r>
            <a:r>
              <a:rPr lang="en-US" altLang="zh-TW" dirty="0"/>
              <a:t>, </a:t>
            </a:r>
            <a:r>
              <a:rPr lang="en-US" altLang="zh-TW" i="1" spc="100" dirty="0"/>
              <a:t>t</a:t>
            </a:r>
            <a:r>
              <a:rPr lang="en-US" altLang="zh-TW" dirty="0"/>
              <a:t>)</a:t>
            </a:r>
            <a:endParaRPr lang="en-US" altLang="zh-TW" b="1" dirty="0"/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5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	there	exists a path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 from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to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 in the residual network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endParaRPr lang="en-US" altLang="zh-TW" i="1" baseline="-25000" dirty="0">
              <a:solidFill>
                <a:srgbClr val="000000"/>
              </a:solidFill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69875" algn="r"/>
                <a:tab pos="539750" algn="l"/>
                <a:tab pos="12588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		such that for 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0</a:t>
            </a:r>
          </a:p>
          <a:p>
            <a:pPr marL="0" indent="0" eaLnBrk="1" hangingPunct="1"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/>
              <a:t>	6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ym typeface="Symbol" pitchFamily="18" charset="2"/>
              </a:rPr>
              <a:t> min{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en-US" altLang="zh-TW" dirty="0"/>
              <a:t> (</a:t>
            </a:r>
            <a:r>
              <a:rPr lang="en-US" altLang="zh-TW" i="1" dirty="0"/>
              <a:t>u</a:t>
            </a:r>
            <a:r>
              <a:rPr lang="en-US" altLang="zh-TW" dirty="0"/>
              <a:t>, </a:t>
            </a:r>
            <a:r>
              <a:rPr lang="en-US" altLang="zh-TW" i="1" dirty="0"/>
              <a:t>v</a:t>
            </a:r>
            <a:r>
              <a:rPr lang="en-US" altLang="zh-TW" dirty="0"/>
              <a:t>) is in </a:t>
            </a:r>
            <a:r>
              <a:rPr lang="en-US" altLang="zh-TW" i="1" dirty="0"/>
              <a:t>p</a:t>
            </a:r>
            <a:r>
              <a:rPr lang="en-US" altLang="zh-TW" dirty="0"/>
              <a:t>}</a:t>
            </a:r>
            <a:endParaRPr lang="en-US" altLang="zh-TW" b="1" dirty="0">
              <a:sym typeface="Symbol" pitchFamily="18" charset="2"/>
            </a:endParaRPr>
          </a:p>
          <a:p>
            <a:pPr marL="0" indent="0" eaLnBrk="1" hangingPunct="1"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/>
              <a:t>	8		</a:t>
            </a:r>
            <a:r>
              <a:rPr lang="en-US" altLang="zh-TW" b="1" dirty="0"/>
              <a:t>for</a:t>
            </a:r>
            <a:r>
              <a:rPr lang="en-US" altLang="zh-TW" dirty="0"/>
              <a:t>	each edge (</a:t>
            </a:r>
            <a:r>
              <a:rPr lang="en-US" altLang="zh-TW" i="1" dirty="0"/>
              <a:t>u</a:t>
            </a:r>
            <a:r>
              <a:rPr lang="en-US" altLang="zh-TW" dirty="0"/>
              <a:t>, </a:t>
            </a:r>
            <a:r>
              <a:rPr lang="en-US" altLang="zh-TW" i="1" dirty="0"/>
              <a:t>v</a:t>
            </a:r>
            <a:r>
              <a:rPr lang="en-US" altLang="zh-TW" dirty="0"/>
              <a:t>) in </a:t>
            </a:r>
            <a:r>
              <a:rPr lang="en-US" altLang="zh-TW" i="1" dirty="0"/>
              <a:t>p</a:t>
            </a:r>
            <a:endParaRPr lang="en-US" altLang="zh-TW" b="1" dirty="0"/>
          </a:p>
          <a:p>
            <a:pPr marL="0" indent="0" eaLnBrk="1" hangingPunct="1"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/>
              <a:t>	9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dirty="0"/>
              <a:t> </a:t>
            </a:r>
          </a:p>
          <a:p>
            <a:pPr marL="0" indent="0" eaLnBrk="1" hangingPunct="1"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/>
              <a:t>	10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3429000"/>
            <a:ext cx="4680000" cy="296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29549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idx="1"/>
          </p:nvPr>
        </p:nvSpPr>
        <p:spPr/>
        <p:txBody>
          <a:bodyPr lIns="90000" rIns="90000"/>
          <a:lstStyle/>
          <a:p>
            <a:pPr marL="0" indent="0" eaLnBrk="1" hangingPunct="1">
              <a:defRPr/>
            </a:pPr>
            <a:r>
              <a:rPr lang="en-US" altLang="zh-TW" dirty="0" err="1"/>
              <a:t>FordFulkerson3</a:t>
            </a:r>
            <a:r>
              <a:rPr lang="en-US" altLang="zh-TW" dirty="0"/>
              <a:t>(</a:t>
            </a:r>
            <a:r>
              <a:rPr lang="en-US" altLang="zh-TW" i="1" dirty="0"/>
              <a:t>R</a:t>
            </a:r>
            <a:r>
              <a:rPr lang="en-US" altLang="zh-TW" dirty="0"/>
              <a:t>, </a:t>
            </a:r>
            <a:r>
              <a:rPr lang="en-US" altLang="zh-TW" i="1" dirty="0"/>
              <a:t>s</a:t>
            </a:r>
            <a:r>
              <a:rPr lang="en-US" altLang="zh-TW" dirty="0"/>
              <a:t>, </a:t>
            </a:r>
            <a:r>
              <a:rPr lang="en-US" altLang="zh-TW" i="1" spc="100" dirty="0"/>
              <a:t>t</a:t>
            </a:r>
            <a:r>
              <a:rPr lang="en-US" altLang="zh-TW" dirty="0"/>
              <a:t>)</a:t>
            </a:r>
            <a:endParaRPr lang="en-US" altLang="zh-TW" b="1" dirty="0"/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5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	there	exists a path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 from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to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 in the residual network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endParaRPr lang="en-US" altLang="zh-TW" i="1" baseline="-25000" dirty="0">
              <a:solidFill>
                <a:srgbClr val="000000"/>
              </a:solidFill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69875" algn="r"/>
                <a:tab pos="539750" algn="l"/>
                <a:tab pos="12588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		such that for 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0</a:t>
            </a:r>
          </a:p>
          <a:p>
            <a:pPr marL="0" indent="0" eaLnBrk="1" hangingPunct="1"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/>
              <a:t>	6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ym typeface="Symbol" pitchFamily="18" charset="2"/>
              </a:rPr>
              <a:t> min{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en-US" altLang="zh-TW" dirty="0"/>
              <a:t> (</a:t>
            </a:r>
            <a:r>
              <a:rPr lang="en-US" altLang="zh-TW" i="1" dirty="0"/>
              <a:t>u</a:t>
            </a:r>
            <a:r>
              <a:rPr lang="en-US" altLang="zh-TW" dirty="0"/>
              <a:t>, </a:t>
            </a:r>
            <a:r>
              <a:rPr lang="en-US" altLang="zh-TW" i="1" dirty="0"/>
              <a:t>v</a:t>
            </a:r>
            <a:r>
              <a:rPr lang="en-US" altLang="zh-TW" dirty="0"/>
              <a:t>) is in </a:t>
            </a:r>
            <a:r>
              <a:rPr lang="en-US" altLang="zh-TW" i="1" dirty="0"/>
              <a:t>p</a:t>
            </a:r>
            <a:r>
              <a:rPr lang="en-US" altLang="zh-TW" dirty="0"/>
              <a:t>}</a:t>
            </a:r>
            <a:endParaRPr lang="en-US" altLang="zh-TW" b="1" dirty="0">
              <a:sym typeface="Symbol" pitchFamily="18" charset="2"/>
            </a:endParaRPr>
          </a:p>
          <a:p>
            <a:pPr marL="0" indent="0" eaLnBrk="1" hangingPunct="1"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/>
              <a:t>	8		</a:t>
            </a:r>
            <a:r>
              <a:rPr lang="en-US" altLang="zh-TW" b="1" dirty="0"/>
              <a:t>for</a:t>
            </a:r>
            <a:r>
              <a:rPr lang="en-US" altLang="zh-TW" dirty="0"/>
              <a:t>	each edge (</a:t>
            </a:r>
            <a:r>
              <a:rPr lang="en-US" altLang="zh-TW" i="1" dirty="0"/>
              <a:t>u</a:t>
            </a:r>
            <a:r>
              <a:rPr lang="en-US" altLang="zh-TW" dirty="0"/>
              <a:t>, </a:t>
            </a:r>
            <a:r>
              <a:rPr lang="en-US" altLang="zh-TW" i="1" dirty="0"/>
              <a:t>v</a:t>
            </a:r>
            <a:r>
              <a:rPr lang="en-US" altLang="zh-TW" dirty="0"/>
              <a:t>) in </a:t>
            </a:r>
            <a:r>
              <a:rPr lang="en-US" altLang="zh-TW" i="1" dirty="0"/>
              <a:t>p</a:t>
            </a:r>
            <a:endParaRPr lang="en-US" altLang="zh-TW" b="1" dirty="0"/>
          </a:p>
          <a:p>
            <a:pPr marL="0" indent="0" eaLnBrk="1" hangingPunct="1"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/>
              <a:t>	9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dirty="0"/>
              <a:t> </a:t>
            </a:r>
          </a:p>
          <a:p>
            <a:pPr marL="0" indent="0" eaLnBrk="1" hangingPunct="1"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/>
              <a:t>	10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3429000"/>
            <a:ext cx="4680000" cy="296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24974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idx="1"/>
          </p:nvPr>
        </p:nvSpPr>
        <p:spPr/>
        <p:txBody>
          <a:bodyPr lIns="90000" rIns="90000"/>
          <a:lstStyle/>
          <a:p>
            <a:pPr marL="0" indent="0" eaLnBrk="1" hangingPunct="1">
              <a:defRPr/>
            </a:pPr>
            <a:r>
              <a:rPr lang="en-US" altLang="zh-TW" dirty="0" err="1"/>
              <a:t>FordFulkerson3</a:t>
            </a:r>
            <a:r>
              <a:rPr lang="en-US" altLang="zh-TW" dirty="0"/>
              <a:t>(</a:t>
            </a:r>
            <a:r>
              <a:rPr lang="en-US" altLang="zh-TW" i="1" dirty="0"/>
              <a:t>R</a:t>
            </a:r>
            <a:r>
              <a:rPr lang="en-US" altLang="zh-TW" dirty="0"/>
              <a:t>, </a:t>
            </a:r>
            <a:r>
              <a:rPr lang="en-US" altLang="zh-TW" i="1" dirty="0"/>
              <a:t>s</a:t>
            </a:r>
            <a:r>
              <a:rPr lang="en-US" altLang="zh-TW" dirty="0"/>
              <a:t>, </a:t>
            </a:r>
            <a:r>
              <a:rPr lang="en-US" altLang="zh-TW" i="1" spc="100" dirty="0"/>
              <a:t>t</a:t>
            </a:r>
            <a:r>
              <a:rPr lang="en-US" altLang="zh-TW" dirty="0"/>
              <a:t>)</a:t>
            </a:r>
            <a:endParaRPr lang="en-US" altLang="zh-TW" b="1" dirty="0"/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5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	there	exists a path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 from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to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 in the residual network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endParaRPr lang="en-US" altLang="zh-TW" i="1" baseline="-25000" dirty="0">
              <a:solidFill>
                <a:srgbClr val="000000"/>
              </a:solidFill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69875" algn="r"/>
                <a:tab pos="539750" algn="l"/>
                <a:tab pos="12588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		such that for 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0</a:t>
            </a:r>
          </a:p>
          <a:p>
            <a:pPr marL="0" indent="0" eaLnBrk="1" hangingPunct="1"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/>
              <a:t>	6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ym typeface="Symbol" pitchFamily="18" charset="2"/>
              </a:rPr>
              <a:t> min{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en-US" altLang="zh-TW" dirty="0"/>
              <a:t> (</a:t>
            </a:r>
            <a:r>
              <a:rPr lang="en-US" altLang="zh-TW" i="1" dirty="0"/>
              <a:t>u</a:t>
            </a:r>
            <a:r>
              <a:rPr lang="en-US" altLang="zh-TW" dirty="0"/>
              <a:t>, </a:t>
            </a:r>
            <a:r>
              <a:rPr lang="en-US" altLang="zh-TW" i="1" dirty="0"/>
              <a:t>v</a:t>
            </a:r>
            <a:r>
              <a:rPr lang="en-US" altLang="zh-TW" dirty="0"/>
              <a:t>) is in </a:t>
            </a:r>
            <a:r>
              <a:rPr lang="en-US" altLang="zh-TW" i="1" dirty="0"/>
              <a:t>p</a:t>
            </a:r>
            <a:r>
              <a:rPr lang="en-US" altLang="zh-TW" dirty="0"/>
              <a:t>}</a:t>
            </a:r>
            <a:endParaRPr lang="en-US" altLang="zh-TW" b="1" dirty="0">
              <a:sym typeface="Symbol" pitchFamily="18" charset="2"/>
            </a:endParaRPr>
          </a:p>
          <a:p>
            <a:pPr marL="0" indent="0" eaLnBrk="1" hangingPunct="1"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/>
              <a:t>	8		</a:t>
            </a:r>
            <a:r>
              <a:rPr lang="en-US" altLang="zh-TW" b="1" dirty="0"/>
              <a:t>for</a:t>
            </a:r>
            <a:r>
              <a:rPr lang="en-US" altLang="zh-TW" dirty="0"/>
              <a:t>	each edge (</a:t>
            </a:r>
            <a:r>
              <a:rPr lang="en-US" altLang="zh-TW" i="1" dirty="0"/>
              <a:t>u</a:t>
            </a:r>
            <a:r>
              <a:rPr lang="en-US" altLang="zh-TW" dirty="0"/>
              <a:t>, </a:t>
            </a:r>
            <a:r>
              <a:rPr lang="en-US" altLang="zh-TW" i="1" dirty="0"/>
              <a:t>v</a:t>
            </a:r>
            <a:r>
              <a:rPr lang="en-US" altLang="zh-TW" dirty="0"/>
              <a:t>) in </a:t>
            </a:r>
            <a:r>
              <a:rPr lang="en-US" altLang="zh-TW" i="1" dirty="0"/>
              <a:t>p</a:t>
            </a:r>
            <a:endParaRPr lang="en-US" altLang="zh-TW" b="1" dirty="0"/>
          </a:p>
          <a:p>
            <a:pPr marL="0" indent="0" eaLnBrk="1" hangingPunct="1"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/>
              <a:t>	9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dirty="0"/>
              <a:t> </a:t>
            </a:r>
          </a:p>
          <a:p>
            <a:pPr marL="0" indent="0" eaLnBrk="1" hangingPunct="1"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/>
              <a:t>	10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3429000"/>
            <a:ext cx="4680000" cy="296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68624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idx="1"/>
          </p:nvPr>
        </p:nvSpPr>
        <p:spPr/>
        <p:txBody>
          <a:bodyPr lIns="90000" rIns="90000"/>
          <a:lstStyle/>
          <a:p>
            <a:pPr marL="0" indent="0" eaLnBrk="1" hangingPunct="1">
              <a:defRPr/>
            </a:pPr>
            <a:r>
              <a:rPr lang="en-US" altLang="zh-TW" dirty="0" err="1"/>
              <a:t>FordFulkerson3</a:t>
            </a:r>
            <a:r>
              <a:rPr lang="en-US" altLang="zh-TW" dirty="0"/>
              <a:t>(</a:t>
            </a:r>
            <a:r>
              <a:rPr lang="en-US" altLang="zh-TW" i="1" dirty="0"/>
              <a:t>R</a:t>
            </a:r>
            <a:r>
              <a:rPr lang="en-US" altLang="zh-TW" dirty="0"/>
              <a:t>, </a:t>
            </a:r>
            <a:r>
              <a:rPr lang="en-US" altLang="zh-TW" i="1" dirty="0"/>
              <a:t>s</a:t>
            </a:r>
            <a:r>
              <a:rPr lang="en-US" altLang="zh-TW" dirty="0"/>
              <a:t>, </a:t>
            </a:r>
            <a:r>
              <a:rPr lang="en-US" altLang="zh-TW" i="1" spc="100" dirty="0"/>
              <a:t>t</a:t>
            </a:r>
            <a:r>
              <a:rPr lang="en-US" altLang="zh-TW" dirty="0"/>
              <a:t>)</a:t>
            </a:r>
            <a:endParaRPr lang="en-US" altLang="zh-TW" b="1" dirty="0"/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5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	there	exists a path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 from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to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 in the residual network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endParaRPr lang="en-US" altLang="zh-TW" i="1" baseline="-25000" dirty="0">
              <a:solidFill>
                <a:srgbClr val="000000"/>
              </a:solidFill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69875" algn="r"/>
                <a:tab pos="539750" algn="l"/>
                <a:tab pos="12588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		such that for 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0</a:t>
            </a:r>
          </a:p>
          <a:p>
            <a:pPr marL="0" indent="0" eaLnBrk="1" hangingPunct="1"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/>
              <a:t>	6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ym typeface="Symbol" pitchFamily="18" charset="2"/>
              </a:rPr>
              <a:t> min{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en-US" altLang="zh-TW" dirty="0"/>
              <a:t> (</a:t>
            </a:r>
            <a:r>
              <a:rPr lang="en-US" altLang="zh-TW" i="1" dirty="0"/>
              <a:t>u</a:t>
            </a:r>
            <a:r>
              <a:rPr lang="en-US" altLang="zh-TW" dirty="0"/>
              <a:t>, </a:t>
            </a:r>
            <a:r>
              <a:rPr lang="en-US" altLang="zh-TW" i="1" dirty="0"/>
              <a:t>v</a:t>
            </a:r>
            <a:r>
              <a:rPr lang="en-US" altLang="zh-TW" dirty="0"/>
              <a:t>) is in </a:t>
            </a:r>
            <a:r>
              <a:rPr lang="en-US" altLang="zh-TW" i="1" dirty="0"/>
              <a:t>p</a:t>
            </a:r>
            <a:r>
              <a:rPr lang="en-US" altLang="zh-TW" dirty="0"/>
              <a:t>}</a:t>
            </a:r>
            <a:endParaRPr lang="en-US" altLang="zh-TW" b="1" dirty="0">
              <a:sym typeface="Symbol" pitchFamily="18" charset="2"/>
            </a:endParaRPr>
          </a:p>
          <a:p>
            <a:pPr marL="0" indent="0" eaLnBrk="1" hangingPunct="1"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/>
              <a:t>	8		</a:t>
            </a:r>
            <a:r>
              <a:rPr lang="en-US" altLang="zh-TW" b="1" dirty="0"/>
              <a:t>for</a:t>
            </a:r>
            <a:r>
              <a:rPr lang="en-US" altLang="zh-TW" dirty="0"/>
              <a:t>	each edge (</a:t>
            </a:r>
            <a:r>
              <a:rPr lang="en-US" altLang="zh-TW" i="1" dirty="0"/>
              <a:t>u</a:t>
            </a:r>
            <a:r>
              <a:rPr lang="en-US" altLang="zh-TW" dirty="0"/>
              <a:t>, </a:t>
            </a:r>
            <a:r>
              <a:rPr lang="en-US" altLang="zh-TW" i="1" dirty="0"/>
              <a:t>v</a:t>
            </a:r>
            <a:r>
              <a:rPr lang="en-US" altLang="zh-TW" dirty="0"/>
              <a:t>) in </a:t>
            </a:r>
            <a:r>
              <a:rPr lang="en-US" altLang="zh-TW" i="1" dirty="0"/>
              <a:t>p</a:t>
            </a:r>
            <a:endParaRPr lang="en-US" altLang="zh-TW" b="1" dirty="0"/>
          </a:p>
          <a:p>
            <a:pPr marL="0" indent="0" eaLnBrk="1" hangingPunct="1"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/>
              <a:t>	9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dirty="0"/>
              <a:t> </a:t>
            </a:r>
          </a:p>
          <a:p>
            <a:pPr marL="0" indent="0" eaLnBrk="1" hangingPunct="1"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/>
              <a:t>	10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3429000"/>
            <a:ext cx="4680000" cy="296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54598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idx="1"/>
          </p:nvPr>
        </p:nvSpPr>
        <p:spPr/>
        <p:txBody>
          <a:bodyPr lIns="90000" rIns="90000"/>
          <a:lstStyle/>
          <a:p>
            <a:pPr marL="0" indent="0" eaLnBrk="1" hangingPunct="1">
              <a:defRPr/>
            </a:pPr>
            <a:r>
              <a:rPr lang="en-US" altLang="zh-TW" dirty="0" err="1"/>
              <a:t>FordFulkerson3</a:t>
            </a:r>
            <a:r>
              <a:rPr lang="en-US" altLang="zh-TW" dirty="0"/>
              <a:t>(</a:t>
            </a:r>
            <a:r>
              <a:rPr lang="en-US" altLang="zh-TW" i="1" dirty="0"/>
              <a:t>R</a:t>
            </a:r>
            <a:r>
              <a:rPr lang="en-US" altLang="zh-TW" dirty="0"/>
              <a:t>, </a:t>
            </a:r>
            <a:r>
              <a:rPr lang="en-US" altLang="zh-TW" i="1" dirty="0"/>
              <a:t>s</a:t>
            </a:r>
            <a:r>
              <a:rPr lang="en-US" altLang="zh-TW" dirty="0"/>
              <a:t>, </a:t>
            </a:r>
            <a:r>
              <a:rPr lang="en-US" altLang="zh-TW" i="1" spc="100" dirty="0"/>
              <a:t>t</a:t>
            </a:r>
            <a:r>
              <a:rPr lang="en-US" altLang="zh-TW" dirty="0"/>
              <a:t>)</a:t>
            </a:r>
            <a:endParaRPr lang="en-US" altLang="zh-TW" b="1" dirty="0"/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5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	there	exists a path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 from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to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 in the residual network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endParaRPr lang="en-US" altLang="zh-TW" i="1" baseline="-25000" dirty="0">
              <a:solidFill>
                <a:srgbClr val="000000"/>
              </a:solidFill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69875" algn="r"/>
                <a:tab pos="539750" algn="l"/>
                <a:tab pos="12588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		such that for 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0</a:t>
            </a:r>
          </a:p>
          <a:p>
            <a:pPr marL="0" indent="0" eaLnBrk="1" hangingPunct="1"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/>
              <a:t>	6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ym typeface="Symbol" pitchFamily="18" charset="2"/>
              </a:rPr>
              <a:t> min{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en-US" altLang="zh-TW" dirty="0"/>
              <a:t> (</a:t>
            </a:r>
            <a:r>
              <a:rPr lang="en-US" altLang="zh-TW" i="1" dirty="0"/>
              <a:t>u</a:t>
            </a:r>
            <a:r>
              <a:rPr lang="en-US" altLang="zh-TW" dirty="0"/>
              <a:t>, </a:t>
            </a:r>
            <a:r>
              <a:rPr lang="en-US" altLang="zh-TW" i="1" dirty="0"/>
              <a:t>v</a:t>
            </a:r>
            <a:r>
              <a:rPr lang="en-US" altLang="zh-TW" dirty="0"/>
              <a:t>) is in </a:t>
            </a:r>
            <a:r>
              <a:rPr lang="en-US" altLang="zh-TW" i="1" dirty="0"/>
              <a:t>p</a:t>
            </a:r>
            <a:r>
              <a:rPr lang="en-US" altLang="zh-TW" dirty="0"/>
              <a:t>}</a:t>
            </a:r>
            <a:endParaRPr lang="en-US" altLang="zh-TW" b="1" dirty="0">
              <a:sym typeface="Symbol" pitchFamily="18" charset="2"/>
            </a:endParaRPr>
          </a:p>
          <a:p>
            <a:pPr marL="0" indent="0" eaLnBrk="1" hangingPunct="1"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/>
              <a:t>	8		</a:t>
            </a:r>
            <a:r>
              <a:rPr lang="en-US" altLang="zh-TW" b="1" dirty="0"/>
              <a:t>for</a:t>
            </a:r>
            <a:r>
              <a:rPr lang="en-US" altLang="zh-TW" dirty="0"/>
              <a:t>	each edge (</a:t>
            </a:r>
            <a:r>
              <a:rPr lang="en-US" altLang="zh-TW" i="1" dirty="0"/>
              <a:t>u</a:t>
            </a:r>
            <a:r>
              <a:rPr lang="en-US" altLang="zh-TW" dirty="0"/>
              <a:t>, </a:t>
            </a:r>
            <a:r>
              <a:rPr lang="en-US" altLang="zh-TW" i="1" dirty="0"/>
              <a:t>v</a:t>
            </a:r>
            <a:r>
              <a:rPr lang="en-US" altLang="zh-TW" dirty="0"/>
              <a:t>) in </a:t>
            </a:r>
            <a:r>
              <a:rPr lang="en-US" altLang="zh-TW" i="1" dirty="0"/>
              <a:t>p</a:t>
            </a:r>
            <a:endParaRPr lang="en-US" altLang="zh-TW" b="1" dirty="0"/>
          </a:p>
          <a:p>
            <a:pPr marL="0" indent="0" eaLnBrk="1" hangingPunct="1"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/>
              <a:t>	9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dirty="0"/>
              <a:t> </a:t>
            </a:r>
          </a:p>
          <a:p>
            <a:pPr marL="0" indent="0" eaLnBrk="1" hangingPunct="1"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/>
              <a:t>	10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3429000"/>
            <a:ext cx="4680000" cy="296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19245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idx="1"/>
          </p:nvPr>
        </p:nvSpPr>
        <p:spPr/>
        <p:txBody>
          <a:bodyPr lIns="90000" rIns="90000"/>
          <a:lstStyle/>
          <a:p>
            <a:pPr marL="0" indent="0" eaLnBrk="1" hangingPunct="1">
              <a:defRPr/>
            </a:pPr>
            <a:r>
              <a:rPr lang="en-US" altLang="zh-TW" dirty="0" err="1"/>
              <a:t>FordFulkerson3</a:t>
            </a:r>
            <a:r>
              <a:rPr lang="en-US" altLang="zh-TW" dirty="0"/>
              <a:t>(</a:t>
            </a:r>
            <a:r>
              <a:rPr lang="en-US" altLang="zh-TW" i="1" dirty="0"/>
              <a:t>R</a:t>
            </a:r>
            <a:r>
              <a:rPr lang="en-US" altLang="zh-TW" dirty="0"/>
              <a:t>, </a:t>
            </a:r>
            <a:r>
              <a:rPr lang="en-US" altLang="zh-TW" i="1" dirty="0"/>
              <a:t>s</a:t>
            </a:r>
            <a:r>
              <a:rPr lang="en-US" altLang="zh-TW" dirty="0"/>
              <a:t>, </a:t>
            </a:r>
            <a:r>
              <a:rPr lang="en-US" altLang="zh-TW" i="1" spc="100" dirty="0"/>
              <a:t>t</a:t>
            </a:r>
            <a:r>
              <a:rPr lang="en-US" altLang="zh-TW" dirty="0"/>
              <a:t>)</a:t>
            </a:r>
            <a:endParaRPr lang="en-US" altLang="zh-TW" b="1" dirty="0"/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5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	there	exists a path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 from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to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 in the residual network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endParaRPr lang="en-US" altLang="zh-TW" i="1" baseline="-25000" dirty="0">
              <a:solidFill>
                <a:srgbClr val="000000"/>
              </a:solidFill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69875" algn="r"/>
                <a:tab pos="539750" algn="l"/>
                <a:tab pos="12588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		such that for 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0</a:t>
            </a:r>
          </a:p>
          <a:p>
            <a:pPr marL="0" indent="0" eaLnBrk="1" hangingPunct="1"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/>
              <a:t>	6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ym typeface="Symbol" pitchFamily="18" charset="2"/>
              </a:rPr>
              <a:t> min{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en-US" altLang="zh-TW" dirty="0"/>
              <a:t> (</a:t>
            </a:r>
            <a:r>
              <a:rPr lang="en-US" altLang="zh-TW" i="1" dirty="0"/>
              <a:t>u</a:t>
            </a:r>
            <a:r>
              <a:rPr lang="en-US" altLang="zh-TW" dirty="0"/>
              <a:t>, </a:t>
            </a:r>
            <a:r>
              <a:rPr lang="en-US" altLang="zh-TW" i="1" dirty="0"/>
              <a:t>v</a:t>
            </a:r>
            <a:r>
              <a:rPr lang="en-US" altLang="zh-TW" dirty="0"/>
              <a:t>) is in </a:t>
            </a:r>
            <a:r>
              <a:rPr lang="en-US" altLang="zh-TW" i="1" dirty="0"/>
              <a:t>p</a:t>
            </a:r>
            <a:r>
              <a:rPr lang="en-US" altLang="zh-TW" dirty="0"/>
              <a:t>}</a:t>
            </a:r>
            <a:endParaRPr lang="en-US" altLang="zh-TW" b="1" dirty="0">
              <a:sym typeface="Symbol" pitchFamily="18" charset="2"/>
            </a:endParaRPr>
          </a:p>
          <a:p>
            <a:pPr marL="0" indent="0" eaLnBrk="1" hangingPunct="1"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/>
              <a:t>	8		</a:t>
            </a:r>
            <a:r>
              <a:rPr lang="en-US" altLang="zh-TW" b="1" dirty="0"/>
              <a:t>for</a:t>
            </a:r>
            <a:r>
              <a:rPr lang="en-US" altLang="zh-TW" dirty="0"/>
              <a:t>	each edge (</a:t>
            </a:r>
            <a:r>
              <a:rPr lang="en-US" altLang="zh-TW" i="1" dirty="0"/>
              <a:t>u</a:t>
            </a:r>
            <a:r>
              <a:rPr lang="en-US" altLang="zh-TW" dirty="0"/>
              <a:t>, </a:t>
            </a:r>
            <a:r>
              <a:rPr lang="en-US" altLang="zh-TW" i="1" dirty="0"/>
              <a:t>v</a:t>
            </a:r>
            <a:r>
              <a:rPr lang="en-US" altLang="zh-TW" dirty="0"/>
              <a:t>) in </a:t>
            </a:r>
            <a:r>
              <a:rPr lang="en-US" altLang="zh-TW" i="1" dirty="0"/>
              <a:t>p</a:t>
            </a:r>
            <a:endParaRPr lang="en-US" altLang="zh-TW" b="1" dirty="0"/>
          </a:p>
          <a:p>
            <a:pPr marL="0" indent="0" eaLnBrk="1" hangingPunct="1"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/>
              <a:t>	9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dirty="0"/>
              <a:t> </a:t>
            </a:r>
          </a:p>
          <a:p>
            <a:pPr marL="0" indent="0" eaLnBrk="1" hangingPunct="1"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/>
              <a:t>	10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3429000"/>
            <a:ext cx="4680000" cy="296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62942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Analysis of </a:t>
            </a:r>
            <a:r>
              <a:rPr lang="en-US" altLang="zh-TW" dirty="0" err="1"/>
              <a:t>FordFulkerson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6242296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Analysis of </a:t>
            </a:r>
            <a:r>
              <a:rPr lang="en-US" altLang="zh-TW" dirty="0" err="1"/>
              <a:t>FordFulkerson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TW" dirty="0"/>
              <a:t>If </a:t>
            </a:r>
            <a:r>
              <a:rPr lang="en-US" altLang="zh-TW" i="1" spc="600" dirty="0"/>
              <a:t>f</a:t>
            </a:r>
            <a:r>
              <a:rPr lang="en-US" altLang="zh-TW" sz="2800" baseline="6000" dirty="0"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US" altLang="zh-TW" dirty="0"/>
              <a:t> denotes a maximum flow in the a flow network with </a:t>
            </a:r>
            <a:r>
              <a:rPr lang="en-US" altLang="zh-TW" dirty="0">
                <a:solidFill>
                  <a:srgbClr val="FF0000"/>
                </a:solidFill>
              </a:rPr>
              <a:t>integral capacities</a:t>
            </a:r>
            <a:r>
              <a:rPr lang="en-US" altLang="zh-TW" dirty="0"/>
              <a:t>, then a straightforward implementation of </a:t>
            </a:r>
            <a:r>
              <a:rPr lang="en-US" altLang="zh-TW" dirty="0" err="1"/>
              <a:t>FordFulkerson</a:t>
            </a:r>
            <a:r>
              <a:rPr lang="en-US" altLang="zh-TW" dirty="0"/>
              <a:t> executes the while loop of lines 3–8 at most 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600" dirty="0">
                <a:solidFill>
                  <a:srgbClr val="000000"/>
                </a:solidFill>
              </a:rPr>
              <a:t>f</a:t>
            </a:r>
            <a:r>
              <a:rPr lang="en-US" altLang="zh-TW" sz="2800" spc="100" baseline="6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dirty="0"/>
              <a:t> times, since the flow value increases by at least one unit in each iteration.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TW" dirty="0"/>
              <a:t>Let </a:t>
            </a:r>
            <a:r>
              <a:rPr lang="en-US" altLang="zh-TW" i="1" dirty="0"/>
              <a:t>m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/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i="1" spc="200" dirty="0"/>
              <a:t>E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dirty="0"/>
              <a:t>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TW" dirty="0"/>
              <a:t>The time to find a path in a residual network is </a:t>
            </a:r>
            <a:r>
              <a:rPr lang="en-US" altLang="zh-TW" i="1" dirty="0"/>
              <a:t>O</a:t>
            </a:r>
            <a:r>
              <a:rPr lang="en-US" altLang="zh-TW" dirty="0"/>
              <a:t>(</a:t>
            </a:r>
            <a:r>
              <a:rPr lang="en-US" altLang="zh-TW" i="1" spc="200" dirty="0"/>
              <a:t>m</a:t>
            </a:r>
            <a:r>
              <a:rPr lang="en-US" altLang="zh-TW" dirty="0"/>
              <a:t>) if we use either depth-first search or breadth-first search.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TW" dirty="0"/>
              <a:t>Each iteration of the while loop thus takes </a:t>
            </a:r>
            <a:r>
              <a:rPr lang="en-US" altLang="zh-TW" i="1" dirty="0">
                <a:solidFill>
                  <a:srgbClr val="000000"/>
                </a:solidFill>
              </a:rPr>
              <a:t>O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200" dirty="0">
                <a:solidFill>
                  <a:srgbClr val="000000"/>
                </a:solidFill>
              </a:rPr>
              <a:t>m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/>
              <a:t>time, as does the initialization in lines 1–2, making the total running time of the </a:t>
            </a:r>
            <a:r>
              <a:rPr lang="en-US" altLang="zh-TW" dirty="0" err="1">
                <a:solidFill>
                  <a:srgbClr val="000000"/>
                </a:solidFill>
              </a:rPr>
              <a:t>FordFulkerson</a:t>
            </a:r>
            <a:r>
              <a:rPr lang="en-US" altLang="zh-TW" dirty="0"/>
              <a:t> algorithm </a:t>
            </a:r>
            <a:r>
              <a:rPr lang="en-US" altLang="zh-TW" i="1" dirty="0">
                <a:solidFill>
                  <a:srgbClr val="000000"/>
                </a:solidFill>
              </a:rPr>
              <a:t>O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200" dirty="0">
                <a:solidFill>
                  <a:srgbClr val="000000"/>
                </a:solidFill>
              </a:rPr>
              <a:t>m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600" dirty="0">
                <a:solidFill>
                  <a:srgbClr val="000000"/>
                </a:solidFill>
              </a:rPr>
              <a:t>f</a:t>
            </a:r>
            <a:r>
              <a:rPr lang="en-US" altLang="zh-TW" sz="2800" spc="100" baseline="6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dirty="0"/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8642949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000" y="1629000"/>
            <a:ext cx="3600000" cy="372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52852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000" y="1629000"/>
            <a:ext cx="3600000" cy="372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47391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000" y="1629000"/>
            <a:ext cx="3600000" cy="372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96912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000" y="1629000"/>
            <a:ext cx="3600000" cy="372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64930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000" y="1629000"/>
            <a:ext cx="3600000" cy="372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81521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000" y="1629000"/>
            <a:ext cx="3600000" cy="372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77660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000" y="1629000"/>
            <a:ext cx="3600000" cy="372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81881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000" y="1629000"/>
            <a:ext cx="3600000" cy="372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63495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000" y="1629000"/>
            <a:ext cx="3600000" cy="372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86542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000" y="1629000"/>
            <a:ext cx="3600000" cy="3728760"/>
          </a:xfrm>
          <a:prstGeom prst="rect">
            <a:avLst/>
          </a:prstGeom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</a:rPr>
              <a:t>In this example, we would perform a total of 2,000,000 augmentations, increasing the flow value by only 1 unit in each.</a:t>
            </a:r>
          </a:p>
        </p:txBody>
      </p:sp>
    </p:spTree>
    <p:extLst>
      <p:ext uri="{BB962C8B-B14F-4D97-AF65-F5344CB8AC3E}">
        <p14:creationId xmlns:p14="http://schemas.microsoft.com/office/powerpoint/2010/main" val="58384901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Analysis of </a:t>
            </a:r>
            <a:r>
              <a:rPr lang="en-US" altLang="zh-TW" dirty="0" err="1"/>
              <a:t>FordFulkerson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TW" dirty="0"/>
              <a:t>If </a:t>
            </a:r>
            <a:r>
              <a:rPr lang="en-US" altLang="zh-TW" i="1" spc="600" dirty="0"/>
              <a:t>f</a:t>
            </a:r>
            <a:r>
              <a:rPr lang="en-US" altLang="zh-TW" sz="2800" baseline="6000" dirty="0"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US" altLang="zh-TW" dirty="0"/>
              <a:t> denotes a maximum flow in the a flow network with </a:t>
            </a:r>
            <a:r>
              <a:rPr lang="en-US" altLang="zh-TW" dirty="0">
                <a:solidFill>
                  <a:srgbClr val="FF0000"/>
                </a:solidFill>
              </a:rPr>
              <a:t>integral capacities</a:t>
            </a:r>
            <a:r>
              <a:rPr lang="en-US" altLang="zh-TW" dirty="0"/>
              <a:t>, then a straightforward implementation of </a:t>
            </a:r>
            <a:r>
              <a:rPr lang="en-US" altLang="zh-TW" dirty="0" err="1"/>
              <a:t>FordFulkerson</a:t>
            </a:r>
            <a:r>
              <a:rPr lang="en-US" altLang="zh-TW" dirty="0"/>
              <a:t> executes the while loop of lines </a:t>
            </a:r>
            <a:r>
              <a:rPr lang="en-US" altLang="zh-TW" spc="300" dirty="0"/>
              <a:t>3</a:t>
            </a:r>
            <a:r>
              <a:rPr lang="en-US" altLang="zh-TW" b="1" spc="300" dirty="0"/>
              <a:t>–</a:t>
            </a:r>
            <a:r>
              <a:rPr lang="en-US" altLang="zh-TW" dirty="0"/>
              <a:t>8 at most 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600" dirty="0">
                <a:solidFill>
                  <a:srgbClr val="000000"/>
                </a:solidFill>
              </a:rPr>
              <a:t>f</a:t>
            </a:r>
            <a:r>
              <a:rPr lang="en-US" altLang="zh-TW" sz="2800" spc="100" baseline="6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dirty="0"/>
              <a:t> times, since the flow value increases by at least one unit in each iteration.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TW" dirty="0"/>
              <a:t>Let </a:t>
            </a:r>
            <a:r>
              <a:rPr lang="en-US" altLang="zh-TW" i="1" dirty="0"/>
              <a:t>m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/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i="1" spc="200" dirty="0"/>
              <a:t>E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dirty="0"/>
              <a:t>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TW" dirty="0"/>
              <a:t>The time to find a path in a residual network is </a:t>
            </a:r>
            <a:r>
              <a:rPr lang="en-US" altLang="zh-TW" i="1" dirty="0"/>
              <a:t>O</a:t>
            </a:r>
            <a:r>
              <a:rPr lang="en-US" altLang="zh-TW" dirty="0"/>
              <a:t>(</a:t>
            </a:r>
            <a:r>
              <a:rPr lang="en-US" altLang="zh-TW" i="1" spc="200" dirty="0"/>
              <a:t>m</a:t>
            </a:r>
            <a:r>
              <a:rPr lang="en-US" altLang="zh-TW" dirty="0"/>
              <a:t>) if we use either depth-first search or breadth-first search.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TW" dirty="0"/>
              <a:t>Each iteration of the while loop thus takes </a:t>
            </a:r>
            <a:r>
              <a:rPr lang="en-US" altLang="zh-TW" i="1" dirty="0">
                <a:solidFill>
                  <a:srgbClr val="000000"/>
                </a:solidFill>
              </a:rPr>
              <a:t>O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200" dirty="0">
                <a:solidFill>
                  <a:srgbClr val="000000"/>
                </a:solidFill>
              </a:rPr>
              <a:t>m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/>
              <a:t>time, as does the initialization in lines </a:t>
            </a:r>
            <a:r>
              <a:rPr lang="en-US" altLang="zh-TW" spc="150" dirty="0"/>
              <a:t>1</a:t>
            </a:r>
            <a:r>
              <a:rPr lang="en-US" altLang="zh-TW" b="1" spc="300" dirty="0"/>
              <a:t>–</a:t>
            </a:r>
            <a:r>
              <a:rPr lang="en-US" altLang="zh-TW" dirty="0"/>
              <a:t>2, making the total running time of the </a:t>
            </a:r>
            <a:r>
              <a:rPr lang="en-US" altLang="zh-TW" dirty="0" err="1">
                <a:solidFill>
                  <a:srgbClr val="000000"/>
                </a:solidFill>
              </a:rPr>
              <a:t>FordFulkerson</a:t>
            </a:r>
            <a:r>
              <a:rPr lang="en-US" altLang="zh-TW" dirty="0"/>
              <a:t> algorithm </a:t>
            </a:r>
            <a:r>
              <a:rPr lang="en-US" altLang="zh-TW" i="1" dirty="0">
                <a:solidFill>
                  <a:srgbClr val="000000"/>
                </a:solidFill>
              </a:rPr>
              <a:t>O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200" dirty="0">
                <a:solidFill>
                  <a:srgbClr val="000000"/>
                </a:solidFill>
              </a:rPr>
              <a:t>m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600" dirty="0">
                <a:solidFill>
                  <a:srgbClr val="000000"/>
                </a:solidFill>
              </a:rPr>
              <a:t>f</a:t>
            </a:r>
            <a:r>
              <a:rPr lang="en-US" altLang="zh-TW" sz="2800" spc="100" baseline="6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dirty="0"/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1135135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Edmonds-Karp algorithm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251460" y="1268729"/>
            <a:ext cx="8641080" cy="5040291"/>
          </a:xfrm>
        </p:spPr>
        <p:txBody>
          <a:bodyPr rIns="0"/>
          <a:lstStyle/>
          <a:p>
            <a:pPr marL="0" indent="0"/>
            <a:r>
              <a:rPr lang="en-US" altLang="zh-TW" dirty="0"/>
              <a:t>We can implement </a:t>
            </a:r>
            <a:r>
              <a:rPr lang="en-US" altLang="zh-TW" dirty="0" err="1"/>
              <a:t>FordFulkerson</a:t>
            </a:r>
            <a:r>
              <a:rPr lang="en-US" altLang="zh-TW" dirty="0"/>
              <a:t> by finding the augmenting path </a:t>
            </a:r>
            <a:r>
              <a:rPr lang="en-US" altLang="zh-TW" i="1" dirty="0"/>
              <a:t>p</a:t>
            </a:r>
            <a:r>
              <a:rPr lang="en-US" altLang="zh-TW" dirty="0"/>
              <a:t> in line 3 with a </a:t>
            </a:r>
            <a:r>
              <a:rPr lang="en-US" altLang="zh-TW" dirty="0">
                <a:solidFill>
                  <a:srgbClr val="FF0000"/>
                </a:solidFill>
              </a:rPr>
              <a:t>breadth-first search</a:t>
            </a:r>
            <a:r>
              <a:rPr lang="en-US" altLang="zh-TW" dirty="0"/>
              <a:t>. That is, we choose the augmenting path as a shortest path from </a:t>
            </a:r>
            <a:r>
              <a:rPr lang="en-US" altLang="zh-TW" i="1" dirty="0"/>
              <a:t>s</a:t>
            </a:r>
            <a:r>
              <a:rPr lang="en-US" altLang="zh-TW" dirty="0"/>
              <a:t> to </a:t>
            </a:r>
            <a:r>
              <a:rPr lang="en-US" altLang="zh-TW" i="1" dirty="0"/>
              <a:t>t</a:t>
            </a:r>
            <a:r>
              <a:rPr lang="en-US" altLang="zh-TW" dirty="0"/>
              <a:t> in the residual network, where each edge has unit distance (weight). We call the </a:t>
            </a:r>
            <a:r>
              <a:rPr lang="en-US" altLang="zh-TW" dirty="0" err="1"/>
              <a:t>FordFulkerson</a:t>
            </a:r>
            <a:r>
              <a:rPr lang="en-US" altLang="zh-TW" dirty="0"/>
              <a:t> method so implemented the </a:t>
            </a:r>
            <a:r>
              <a:rPr lang="en-US" altLang="zh-TW" i="1" dirty="0">
                <a:solidFill>
                  <a:srgbClr val="0000FF"/>
                </a:solidFill>
              </a:rPr>
              <a:t>Edmonds-Karp algorithm</a:t>
            </a:r>
            <a:r>
              <a:rPr lang="en-US" altLang="zh-TW" dirty="0"/>
              <a:t>. We can prove that the Edmonds-Karp algorithm runs</a:t>
            </a:r>
            <a:r>
              <a:rPr lang="zh-TW" altLang="en-US" dirty="0"/>
              <a:t> </a:t>
            </a:r>
            <a:r>
              <a:rPr lang="en-US" altLang="zh-TW" dirty="0"/>
              <a:t>in </a:t>
            </a:r>
            <a:r>
              <a:rPr lang="en-US" altLang="zh-TW" i="1" dirty="0"/>
              <a:t>O</a:t>
            </a:r>
            <a:r>
              <a:rPr lang="en-US" altLang="zh-TW" dirty="0"/>
              <a:t>(</a:t>
            </a:r>
            <a:r>
              <a:rPr lang="en-US" altLang="zh-TW" i="1" spc="150" dirty="0" err="1"/>
              <a:t>n</a:t>
            </a:r>
            <a:r>
              <a:rPr lang="en-US" altLang="zh-TW" i="1" spc="200" dirty="0" err="1"/>
              <a:t>m</a:t>
            </a:r>
            <a:r>
              <a:rPr lang="en-US" altLang="zh-TW" baseline="30000" dirty="0" err="1"/>
              <a:t>2</a:t>
            </a:r>
            <a:r>
              <a:rPr lang="en-US" altLang="zh-TW" dirty="0"/>
              <a:t>) time, where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i="1" spc="200" dirty="0">
                <a:solidFill>
                  <a:srgbClr val="000000"/>
                </a:solidFill>
              </a:rPr>
              <a:t>V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dirty="0"/>
              <a:t> and </a:t>
            </a:r>
            <a:r>
              <a:rPr lang="en-US" altLang="zh-TW" i="1" dirty="0">
                <a:solidFill>
                  <a:srgbClr val="000000"/>
                </a:solidFill>
              </a:rPr>
              <a:t>m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i="1" spc="200" dirty="0">
                <a:solidFill>
                  <a:srgbClr val="000000"/>
                </a:solidFill>
              </a:rPr>
              <a:t>E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dirty="0"/>
              <a:t>.</a:t>
            </a:r>
          </a:p>
          <a:p>
            <a:pPr marL="0" indent="0"/>
            <a:endParaRPr lang="en-US" altLang="zh-TW" dirty="0"/>
          </a:p>
          <a:p>
            <a:pPr marL="0" indent="0"/>
            <a:r>
              <a:rPr lang="en-US" altLang="zh-TW" dirty="0">
                <a:solidFill>
                  <a:srgbClr val="0000FF"/>
                </a:solidFill>
              </a:rPr>
              <a:t>Jack Edmonds and Richard M. Karp. Theoretical improvements in the algorithmic efficiency for network flow problems. Journal of the ACM, 19(2):248–264, 1972.</a:t>
            </a:r>
            <a:endParaRPr lang="zh-TW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640027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583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R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5" name="內容版面配置區 1"/>
          <p:cNvSpPr txBox="1">
            <a:spLocks/>
          </p:cNvSpPr>
          <p:nvPr/>
        </p:nvSpPr>
        <p:spPr bwMode="auto">
          <a:xfrm>
            <a:off x="583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G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G.E</a:t>
            </a:r>
            <a:endParaRPr lang="en-US" altLang="zh-TW" dirty="0">
              <a:solidFill>
                <a:srgbClr val="000000"/>
              </a:solidFill>
            </a:endParaRP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FFFFFF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endParaRPr lang="en-US" altLang="zh-TW" dirty="0">
              <a:solidFill>
                <a:srgbClr val="000000"/>
              </a:solidFill>
            </a:endParaRPr>
          </a:p>
          <a:p>
            <a:pPr lvl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lvl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" y="369000"/>
            <a:ext cx="4680000" cy="2965105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" y="3609000"/>
            <a:ext cx="4680000" cy="296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67964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583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R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5" name="內容版面配置區 1"/>
          <p:cNvSpPr txBox="1">
            <a:spLocks/>
          </p:cNvSpPr>
          <p:nvPr/>
        </p:nvSpPr>
        <p:spPr bwMode="auto">
          <a:xfrm>
            <a:off x="583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G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G.E</a:t>
            </a:r>
            <a:endParaRPr lang="en-US" altLang="zh-TW" dirty="0">
              <a:solidFill>
                <a:srgbClr val="000000"/>
              </a:solidFill>
            </a:endParaRP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FFFFFF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endParaRPr lang="en-US" altLang="zh-TW" dirty="0">
              <a:solidFill>
                <a:srgbClr val="000000"/>
              </a:solidFill>
            </a:endParaRPr>
          </a:p>
          <a:p>
            <a:pPr lvl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lvl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" y="369000"/>
            <a:ext cx="4680000" cy="2965105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" y="3609000"/>
            <a:ext cx="4680000" cy="296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3637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583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R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5" name="內容版面配置區 1"/>
          <p:cNvSpPr txBox="1">
            <a:spLocks/>
          </p:cNvSpPr>
          <p:nvPr/>
        </p:nvSpPr>
        <p:spPr bwMode="auto">
          <a:xfrm>
            <a:off x="583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G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G.E</a:t>
            </a:r>
            <a:endParaRPr lang="en-US" altLang="zh-TW" dirty="0">
              <a:solidFill>
                <a:srgbClr val="000000"/>
              </a:solidFill>
            </a:endParaRP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FFFFFF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endParaRPr lang="en-US" altLang="zh-TW" dirty="0">
              <a:solidFill>
                <a:srgbClr val="000000"/>
              </a:solidFill>
            </a:endParaRPr>
          </a:p>
          <a:p>
            <a:pPr lvl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lvl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" y="3609000"/>
            <a:ext cx="4680000" cy="2965105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" y="369000"/>
            <a:ext cx="4680000" cy="296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31900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583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R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5" name="內容版面配置區 1"/>
          <p:cNvSpPr txBox="1">
            <a:spLocks/>
          </p:cNvSpPr>
          <p:nvPr/>
        </p:nvSpPr>
        <p:spPr bwMode="auto">
          <a:xfrm>
            <a:off x="583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G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G.E</a:t>
            </a:r>
            <a:endParaRPr lang="en-US" altLang="zh-TW" dirty="0">
              <a:solidFill>
                <a:srgbClr val="000000"/>
              </a:solidFill>
            </a:endParaRP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FFFFFF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endParaRPr lang="en-US" altLang="zh-TW" dirty="0">
              <a:solidFill>
                <a:srgbClr val="000000"/>
              </a:solidFill>
            </a:endParaRPr>
          </a:p>
          <a:p>
            <a:pPr lvl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lvl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" y="369000"/>
            <a:ext cx="4680000" cy="296510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" y="3609000"/>
            <a:ext cx="4680000" cy="296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481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583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R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5" name="內容版面配置區 1"/>
          <p:cNvSpPr txBox="1">
            <a:spLocks/>
          </p:cNvSpPr>
          <p:nvPr/>
        </p:nvSpPr>
        <p:spPr bwMode="auto">
          <a:xfrm>
            <a:off x="583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G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G.E</a:t>
            </a:r>
            <a:endParaRPr lang="en-US" altLang="zh-TW" dirty="0">
              <a:solidFill>
                <a:srgbClr val="000000"/>
              </a:solidFill>
            </a:endParaRP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FFFFFF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endParaRPr lang="en-US" altLang="zh-TW" dirty="0">
              <a:solidFill>
                <a:srgbClr val="000000"/>
              </a:solidFill>
            </a:endParaRPr>
          </a:p>
          <a:p>
            <a:pPr lvl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lvl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" y="369000"/>
            <a:ext cx="4680000" cy="2965105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" y="3609000"/>
            <a:ext cx="4680000" cy="296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98498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583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R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5" name="內容版面配置區 1"/>
          <p:cNvSpPr txBox="1">
            <a:spLocks/>
          </p:cNvSpPr>
          <p:nvPr/>
        </p:nvSpPr>
        <p:spPr bwMode="auto">
          <a:xfrm>
            <a:off x="583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G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G.E</a:t>
            </a:r>
            <a:endParaRPr lang="en-US" altLang="zh-TW" dirty="0">
              <a:solidFill>
                <a:srgbClr val="000000"/>
              </a:solidFill>
            </a:endParaRP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FFFFFF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endParaRPr lang="en-US" altLang="zh-TW" dirty="0">
              <a:solidFill>
                <a:srgbClr val="000000"/>
              </a:solidFill>
            </a:endParaRPr>
          </a:p>
          <a:p>
            <a:pPr lvl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lvl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" y="3609000"/>
            <a:ext cx="4680000" cy="296510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" y="369000"/>
            <a:ext cx="4680000" cy="296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49761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583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R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5" name="內容版面配置區 1"/>
          <p:cNvSpPr txBox="1">
            <a:spLocks/>
          </p:cNvSpPr>
          <p:nvPr/>
        </p:nvSpPr>
        <p:spPr bwMode="auto">
          <a:xfrm>
            <a:off x="583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G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G.E</a:t>
            </a:r>
            <a:endParaRPr lang="en-US" altLang="zh-TW" dirty="0">
              <a:solidFill>
                <a:srgbClr val="000000"/>
              </a:solidFill>
            </a:endParaRP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FFFFFF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endParaRPr lang="en-US" altLang="zh-TW" dirty="0">
              <a:solidFill>
                <a:srgbClr val="000000"/>
              </a:solidFill>
            </a:endParaRPr>
          </a:p>
          <a:p>
            <a:pPr lvl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lvl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" y="369000"/>
            <a:ext cx="4680000" cy="2965105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" y="3609000"/>
            <a:ext cx="4680000" cy="296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91145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583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R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5" name="內容版面配置區 1"/>
          <p:cNvSpPr txBox="1">
            <a:spLocks/>
          </p:cNvSpPr>
          <p:nvPr/>
        </p:nvSpPr>
        <p:spPr bwMode="auto">
          <a:xfrm>
            <a:off x="583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G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G.E</a:t>
            </a:r>
            <a:endParaRPr lang="en-US" altLang="zh-TW" dirty="0">
              <a:solidFill>
                <a:srgbClr val="000000"/>
              </a:solidFill>
            </a:endParaRP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FFFFFF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endParaRPr lang="en-US" altLang="zh-TW" dirty="0">
              <a:solidFill>
                <a:srgbClr val="000000"/>
              </a:solidFill>
            </a:endParaRPr>
          </a:p>
          <a:p>
            <a:pPr lvl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lvl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" y="369000"/>
            <a:ext cx="4680000" cy="2965105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" y="3609000"/>
            <a:ext cx="4680000" cy="296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80515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583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R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5" name="內容版面配置區 1"/>
          <p:cNvSpPr txBox="1">
            <a:spLocks/>
          </p:cNvSpPr>
          <p:nvPr/>
        </p:nvSpPr>
        <p:spPr bwMode="auto">
          <a:xfrm>
            <a:off x="583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G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G.E</a:t>
            </a:r>
            <a:endParaRPr lang="en-US" altLang="zh-TW" dirty="0">
              <a:solidFill>
                <a:srgbClr val="000000"/>
              </a:solidFill>
            </a:endParaRP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FFFFFF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endParaRPr lang="en-US" altLang="zh-TW" dirty="0">
              <a:solidFill>
                <a:srgbClr val="000000"/>
              </a:solidFill>
            </a:endParaRPr>
          </a:p>
          <a:p>
            <a:pPr lvl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lvl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" y="3609000"/>
            <a:ext cx="4680000" cy="2965105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" y="369000"/>
            <a:ext cx="4680000" cy="296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64688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583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R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5" name="內容版面配置區 1"/>
          <p:cNvSpPr txBox="1">
            <a:spLocks/>
          </p:cNvSpPr>
          <p:nvPr/>
        </p:nvSpPr>
        <p:spPr bwMode="auto">
          <a:xfrm>
            <a:off x="583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G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G.E</a:t>
            </a:r>
            <a:endParaRPr lang="en-US" altLang="zh-TW" dirty="0">
              <a:solidFill>
                <a:srgbClr val="000000"/>
              </a:solidFill>
            </a:endParaRP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FFFFFF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541338" lvl="0" indent="-541338" eaLnBrk="1" hangingPunct="1">
              <a:spcBef>
                <a:spcPts val="60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endParaRPr lang="en-US" altLang="zh-TW" dirty="0">
              <a:solidFill>
                <a:srgbClr val="000000"/>
              </a:solidFill>
            </a:endParaRPr>
          </a:p>
          <a:p>
            <a:pPr lvl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lvl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" y="369000"/>
            <a:ext cx="4680000" cy="296510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" y="3609000"/>
            <a:ext cx="4680000" cy="296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1526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Edmonds-Karp algorithm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539971" y="1268729"/>
            <a:ext cx="8064057" cy="3420271"/>
          </a:xfrm>
        </p:spPr>
        <p:txBody>
          <a:bodyPr/>
          <a:lstStyle/>
          <a:p>
            <a:pPr marL="0" indent="0">
              <a:spcBef>
                <a:spcPts val="2400"/>
              </a:spcBef>
            </a:pPr>
            <a:r>
              <a:rPr lang="en-US" altLang="zh-TW" sz="2200" b="1" i="1" dirty="0">
                <a:solidFill>
                  <a:srgbClr val="0000FF"/>
                </a:solidFill>
              </a:rPr>
              <a:t>Theorem 24.8</a:t>
            </a:r>
          </a:p>
          <a:p>
            <a:pPr marL="0" indent="0"/>
            <a:r>
              <a:rPr lang="en-US" altLang="zh-TW" sz="2200" dirty="0"/>
              <a:t>If the Edmonds-Karp algorithm is run on a flow network </a:t>
            </a:r>
            <a:r>
              <a:rPr lang="en-US" altLang="zh-TW" sz="2200" i="1" dirty="0">
                <a:solidFill>
                  <a:srgbClr val="000000"/>
                </a:solidFill>
              </a:rPr>
              <a:t>G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</a:rPr>
              <a:t> (</a:t>
            </a:r>
            <a:r>
              <a:rPr lang="en-US" altLang="zh-TW" sz="2200" i="1" dirty="0">
                <a:solidFill>
                  <a:srgbClr val="000000"/>
                </a:solidFill>
              </a:rPr>
              <a:t>V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spc="300" dirty="0">
                <a:solidFill>
                  <a:srgbClr val="000000"/>
                </a:solidFill>
              </a:rPr>
              <a:t>E</a:t>
            </a:r>
            <a:r>
              <a:rPr lang="en-US" altLang="zh-TW" sz="2200" dirty="0">
                <a:solidFill>
                  <a:srgbClr val="000000"/>
                </a:solidFill>
              </a:rPr>
              <a:t>)</a:t>
            </a:r>
            <a:r>
              <a:rPr lang="en-US" altLang="zh-TW" sz="2200" dirty="0"/>
              <a:t> with source </a:t>
            </a:r>
            <a:r>
              <a:rPr lang="en-US" altLang="zh-TW" sz="2200" i="1" dirty="0"/>
              <a:t>s</a:t>
            </a:r>
            <a:r>
              <a:rPr lang="en-US" altLang="zh-TW" sz="2200" dirty="0"/>
              <a:t> and sink </a:t>
            </a:r>
            <a:r>
              <a:rPr lang="en-US" altLang="zh-TW" sz="2200" i="1" dirty="0"/>
              <a:t>t</a:t>
            </a:r>
            <a:r>
              <a:rPr lang="en-US" altLang="zh-TW" sz="2200" dirty="0"/>
              <a:t>, then the total number of flow augmentations performed by the algorithm is </a:t>
            </a:r>
            <a:r>
              <a:rPr lang="en-US" altLang="zh-TW" sz="2200" i="1" dirty="0">
                <a:solidFill>
                  <a:srgbClr val="000000"/>
                </a:solidFill>
              </a:rPr>
              <a:t>O</a:t>
            </a:r>
            <a:r>
              <a:rPr lang="en-US" altLang="zh-TW" sz="2200" dirty="0">
                <a:solidFill>
                  <a:srgbClr val="000000"/>
                </a:solidFill>
              </a:rPr>
              <a:t>(</a:t>
            </a:r>
            <a:r>
              <a:rPr lang="en-US" altLang="zh-TW" sz="2200" i="1" spc="150" dirty="0">
                <a:solidFill>
                  <a:srgbClr val="000000"/>
                </a:solidFill>
              </a:rPr>
              <a:t>n</a:t>
            </a:r>
            <a:r>
              <a:rPr lang="en-US" altLang="zh-TW" sz="2200" i="1" dirty="0">
                <a:solidFill>
                  <a:srgbClr val="000000"/>
                </a:solidFill>
              </a:rPr>
              <a:t>m</a:t>
            </a:r>
            <a:r>
              <a:rPr lang="en-US" altLang="zh-TW" sz="2200" dirty="0">
                <a:solidFill>
                  <a:srgbClr val="000000"/>
                </a:solidFill>
              </a:rPr>
              <a:t>)</a:t>
            </a:r>
            <a:r>
              <a:rPr lang="en-US" altLang="zh-TW" dirty="0">
                <a:solidFill>
                  <a:srgbClr val="000000"/>
                </a:solidFill>
              </a:rPr>
              <a:t>, where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i="1" spc="300" dirty="0">
                <a:solidFill>
                  <a:srgbClr val="000000"/>
                </a:solidFill>
              </a:rPr>
              <a:t>V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 and </a:t>
            </a:r>
            <a:r>
              <a:rPr lang="en-US" altLang="zh-TW" i="1" dirty="0">
                <a:solidFill>
                  <a:srgbClr val="000000"/>
                </a:solidFill>
              </a:rPr>
              <a:t>m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i="1" spc="200" dirty="0">
                <a:solidFill>
                  <a:srgbClr val="000000"/>
                </a:solidFill>
              </a:rPr>
              <a:t>E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sz="2200" dirty="0"/>
              <a:t>.</a:t>
            </a:r>
          </a:p>
          <a:p>
            <a:pPr marL="0" indent="0"/>
            <a:endParaRPr lang="en-US" altLang="zh-TW" sz="2200" dirty="0"/>
          </a:p>
          <a:p>
            <a:pPr marL="0" lvl="0" indent="361950">
              <a:buClr>
                <a:srgbClr val="3333CC"/>
              </a:buClr>
            </a:pPr>
            <a:r>
              <a:rPr lang="en-US" altLang="zh-TW" sz="2200" dirty="0">
                <a:solidFill>
                  <a:srgbClr val="000000"/>
                </a:solidFill>
              </a:rPr>
              <a:t>Because we can implement each iteration of </a:t>
            </a:r>
            <a:r>
              <a:rPr lang="en-US" altLang="zh-TW" sz="2200" dirty="0" err="1">
                <a:solidFill>
                  <a:srgbClr val="000000"/>
                </a:solidFill>
              </a:rPr>
              <a:t>FordFulkerson</a:t>
            </a:r>
            <a:r>
              <a:rPr lang="en-US" altLang="zh-TW" sz="2200" dirty="0">
                <a:solidFill>
                  <a:srgbClr val="000000"/>
                </a:solidFill>
              </a:rPr>
              <a:t> in </a:t>
            </a:r>
            <a:r>
              <a:rPr lang="en-US" altLang="zh-TW" sz="2200" i="1" dirty="0">
                <a:solidFill>
                  <a:srgbClr val="000000"/>
                </a:solidFill>
              </a:rPr>
              <a:t>O</a:t>
            </a:r>
            <a:r>
              <a:rPr lang="en-US" altLang="zh-TW" sz="2200" dirty="0">
                <a:solidFill>
                  <a:srgbClr val="000000"/>
                </a:solidFill>
              </a:rPr>
              <a:t>(</a:t>
            </a:r>
            <a:r>
              <a:rPr lang="en-US" altLang="zh-TW" sz="2200" i="1" dirty="0">
                <a:solidFill>
                  <a:srgbClr val="000000"/>
                </a:solidFill>
              </a:rPr>
              <a:t>m</a:t>
            </a:r>
            <a:r>
              <a:rPr lang="en-US" altLang="zh-TW" sz="2200" dirty="0">
                <a:solidFill>
                  <a:srgbClr val="000000"/>
                </a:solidFill>
              </a:rPr>
              <a:t>) time when we find the augmenting path by breadth-first search, the total running time of the Edmonds-Karp algorithm is </a:t>
            </a:r>
            <a:r>
              <a:rPr lang="en-US" altLang="zh-TW" sz="2200" i="1" dirty="0">
                <a:solidFill>
                  <a:srgbClr val="000000"/>
                </a:solidFill>
              </a:rPr>
              <a:t>O</a:t>
            </a:r>
            <a:r>
              <a:rPr lang="en-US" altLang="zh-TW" sz="2200" dirty="0">
                <a:solidFill>
                  <a:srgbClr val="000000"/>
                </a:solidFill>
              </a:rPr>
              <a:t>(</a:t>
            </a:r>
            <a:r>
              <a:rPr lang="en-US" altLang="zh-TW" sz="2200" i="1" spc="150" dirty="0" err="1">
                <a:solidFill>
                  <a:srgbClr val="000000"/>
                </a:solidFill>
              </a:rPr>
              <a:t>n</a:t>
            </a:r>
            <a:r>
              <a:rPr lang="en-US" altLang="zh-TW" sz="2200" i="1" spc="100" dirty="0" err="1">
                <a:solidFill>
                  <a:srgbClr val="000000"/>
                </a:solidFill>
              </a:rPr>
              <a:t>m</a:t>
            </a:r>
            <a:r>
              <a:rPr lang="en-US" altLang="zh-TW" sz="2200" spc="300" baseline="30000" dirty="0" err="1">
                <a:solidFill>
                  <a:srgbClr val="000000"/>
                </a:solidFill>
              </a:rPr>
              <a:t>2</a:t>
            </a:r>
            <a:r>
              <a:rPr lang="en-US" altLang="zh-TW" sz="2200" dirty="0">
                <a:solidFill>
                  <a:srgbClr val="000000"/>
                </a:solidFill>
              </a:rPr>
              <a:t>)</a:t>
            </a:r>
            <a:r>
              <a:rPr lang="en-US" altLang="zh-TW" dirty="0">
                <a:solidFill>
                  <a:srgbClr val="000000"/>
                </a:solidFill>
              </a:rPr>
              <a:t>, where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i="1" spc="300" dirty="0">
                <a:solidFill>
                  <a:srgbClr val="000000"/>
                </a:solidFill>
              </a:rPr>
              <a:t>V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 and </a:t>
            </a:r>
            <a:r>
              <a:rPr lang="en-US" altLang="zh-TW" i="1" dirty="0">
                <a:solidFill>
                  <a:srgbClr val="000000"/>
                </a:solidFill>
              </a:rPr>
              <a:t>m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i="1" spc="200" dirty="0">
                <a:solidFill>
                  <a:srgbClr val="000000"/>
                </a:solidFill>
              </a:rPr>
              <a:t>E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sz="2200" dirty="0">
                <a:solidFill>
                  <a:srgbClr val="000000"/>
                </a:solidFill>
              </a:rPr>
              <a:t>.</a:t>
            </a:r>
            <a:endParaRPr lang="zh-TW" altLang="en-US" sz="2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585815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idx="1"/>
          </p:nvPr>
        </p:nvSpPr>
        <p:spPr/>
        <p:txBody>
          <a:bodyPr lIns="90000" rIns="90000"/>
          <a:lstStyle/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defRPr/>
            </a:pPr>
            <a:r>
              <a:rPr lang="en-US" altLang="zh-TW" dirty="0">
                <a:solidFill>
                  <a:srgbClr val="000000"/>
                </a:solidFill>
              </a:rPr>
              <a:t>We assume that the nodes of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100" dirty="0">
                <a:solidFill>
                  <a:srgbClr val="000000"/>
                </a:solidFill>
              </a:rPr>
              <a:t>E</a:t>
            </a:r>
            <a:r>
              <a:rPr lang="en-US" altLang="zh-TW" spc="1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>
                <a:solidFill>
                  <a:srgbClr val="000000"/>
                </a:solidFill>
              </a:rPr>
              <a:t>) are numbered 1, 2, ...,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, where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i="1" spc="300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, and let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]) be an </a:t>
            </a:r>
            <a:r>
              <a:rPr lang="en-US" altLang="zh-TW" i="1" spc="150" dirty="0" err="1">
                <a:solidFill>
                  <a:srgbClr val="000000"/>
                </a:solidFill>
              </a:rPr>
              <a:t>n</a:t>
            </a:r>
            <a:r>
              <a:rPr lang="en-US" altLang="zh-TW" sz="1800" spc="150" dirty="0" err="1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×</a:t>
            </a:r>
            <a:r>
              <a:rPr lang="en-US" altLang="zh-TW" i="1" dirty="0" err="1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 2</a:t>
            </a:r>
            <a:r>
              <a:rPr lang="en-US" altLang="zh-TW" spc="100" dirty="0">
                <a:solidFill>
                  <a:srgbClr val="000000"/>
                </a:solidFill>
              </a:rPr>
              <a:t>-</a:t>
            </a:r>
            <a:r>
              <a:rPr lang="en-US" altLang="zh-TW" dirty="0">
                <a:solidFill>
                  <a:srgbClr val="000000"/>
                </a:solidFill>
              </a:rPr>
              <a:t>d array.</a:t>
            </a:r>
          </a:p>
          <a:p>
            <a:pPr marL="0" indent="0" eaLnBrk="1" hangingPunct="1">
              <a:spcBef>
                <a:spcPts val="1200"/>
              </a:spcBef>
              <a:defRPr/>
            </a:pPr>
            <a:r>
              <a:rPr lang="en-US" altLang="zh-TW" sz="2200" dirty="0" err="1"/>
              <a:t>FordFulkerson3</a:t>
            </a:r>
            <a:r>
              <a:rPr lang="en-US" altLang="zh-TW" sz="2200" dirty="0"/>
              <a:t>(</a:t>
            </a:r>
            <a:r>
              <a:rPr lang="en-US" altLang="zh-TW" sz="2200" i="1" dirty="0"/>
              <a:t>R</a:t>
            </a:r>
            <a:r>
              <a:rPr lang="en-US" altLang="zh-TW" sz="2200" dirty="0"/>
              <a:t>, </a:t>
            </a:r>
            <a:r>
              <a:rPr lang="en-US" altLang="zh-TW" sz="2200" i="1" dirty="0"/>
              <a:t>s</a:t>
            </a:r>
            <a:r>
              <a:rPr lang="en-US" altLang="zh-TW" sz="2200" dirty="0"/>
              <a:t>, </a:t>
            </a:r>
            <a:r>
              <a:rPr lang="en-US" altLang="zh-TW" sz="2200" i="1" spc="100" dirty="0"/>
              <a:t>t</a:t>
            </a:r>
            <a:r>
              <a:rPr lang="en-US" altLang="zh-TW" sz="2200" dirty="0"/>
              <a:t>)</a:t>
            </a:r>
            <a:endParaRPr lang="en-US" altLang="zh-TW" sz="2200" b="1" dirty="0"/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node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R.V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 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node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R.V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 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5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	there	exists a path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 from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to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 in the residual network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endParaRPr lang="en-US" altLang="zh-TW" i="1" baseline="-250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		such that for 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0</a:t>
            </a:r>
          </a:p>
          <a:p>
            <a:pPr marL="0" indent="0" eaLnBrk="1" hangingPunct="1">
              <a:spcBef>
                <a:spcPts val="0"/>
              </a:spcBef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sz="2200" dirty="0"/>
              <a:t>	6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ym typeface="Symbol" pitchFamily="18" charset="2"/>
              </a:rPr>
              <a:t> min{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en-US" altLang="zh-TW" dirty="0"/>
              <a:t> (</a:t>
            </a:r>
            <a:r>
              <a:rPr lang="en-US" altLang="zh-TW" i="1" dirty="0"/>
              <a:t>u</a:t>
            </a:r>
            <a:r>
              <a:rPr lang="en-US" altLang="zh-TW" dirty="0"/>
              <a:t>, </a:t>
            </a:r>
            <a:r>
              <a:rPr lang="en-US" altLang="zh-TW" i="1" dirty="0"/>
              <a:t>v</a:t>
            </a:r>
            <a:r>
              <a:rPr lang="en-US" altLang="zh-TW" dirty="0"/>
              <a:t>) is in </a:t>
            </a:r>
            <a:r>
              <a:rPr lang="en-US" altLang="zh-TW" i="1" dirty="0"/>
              <a:t>p</a:t>
            </a:r>
            <a:r>
              <a:rPr lang="en-US" altLang="zh-TW" dirty="0"/>
              <a:t>}</a:t>
            </a:r>
            <a:endParaRPr lang="en-US" altLang="zh-TW" sz="2200" b="1" dirty="0">
              <a:sym typeface="Symbol" pitchFamily="18" charset="2"/>
            </a:endParaRPr>
          </a:p>
          <a:p>
            <a:pPr marL="0" indent="0" eaLnBrk="1" hangingPunct="1">
              <a:spcBef>
                <a:spcPts val="0"/>
              </a:spcBef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indent="0" eaLnBrk="1" hangingPunct="1">
              <a:spcBef>
                <a:spcPts val="0"/>
              </a:spcBef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sz="2200" dirty="0"/>
              <a:t>	8		</a:t>
            </a:r>
            <a:r>
              <a:rPr lang="en-US" altLang="zh-TW" sz="2200" b="1" dirty="0"/>
              <a:t>for</a:t>
            </a:r>
            <a:r>
              <a:rPr lang="en-US" altLang="zh-TW" sz="2200" dirty="0"/>
              <a:t>	each edge (</a:t>
            </a:r>
            <a:r>
              <a:rPr lang="en-US" altLang="zh-TW" sz="2200" i="1" dirty="0"/>
              <a:t>u</a:t>
            </a:r>
            <a:r>
              <a:rPr lang="en-US" altLang="zh-TW" sz="2200" dirty="0"/>
              <a:t>, </a:t>
            </a:r>
            <a:r>
              <a:rPr lang="en-US" altLang="zh-TW" sz="2200" i="1" dirty="0"/>
              <a:t>v</a:t>
            </a:r>
            <a:r>
              <a:rPr lang="en-US" altLang="zh-TW" sz="2200" dirty="0"/>
              <a:t>) in </a:t>
            </a:r>
            <a:r>
              <a:rPr lang="en-US" altLang="zh-TW" sz="2200" i="1" dirty="0"/>
              <a:t>p</a:t>
            </a:r>
            <a:endParaRPr lang="en-US" altLang="zh-TW" sz="2200" b="1" dirty="0"/>
          </a:p>
          <a:p>
            <a:pPr marL="0" indent="0" eaLnBrk="1" hangingPunct="1">
              <a:spcBef>
                <a:spcPts val="0"/>
              </a:spcBef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sz="2200" dirty="0"/>
              <a:t>	9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sz="2200" dirty="0"/>
              <a:t> </a:t>
            </a:r>
          </a:p>
          <a:p>
            <a:pPr marL="0" indent="0" eaLnBrk="1" hangingPunct="1">
              <a:spcBef>
                <a:spcPts val="0"/>
              </a:spcBef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sz="2200" dirty="0"/>
              <a:t>	10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sz="2200" dirty="0"/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return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endParaRPr lang="en-US" altLang="zh-TW" i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47566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memset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parent, -1,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sizeof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parent ) );</a:t>
            </a: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numNodes; i++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i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d[ s ]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q.front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v 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v ] = d[ u ] + 1;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v ] = u;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v );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404015821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memset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parent, -1,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sizeof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parent )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parent[ s ] = s;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q.front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u == t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[ u ][ v ] &gt; 0 &amp;&amp; parent[ v ] == 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v ] = u;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v );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2143501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memset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parent, -1,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sizeof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parent )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parent[ s ] = s;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q.front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u == t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][ v ] &gt; 0 &amp;&amp; parent[ v ] == -1 )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v ] = u;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v );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1292732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edmondsKarp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endParaRPr lang="en-US" altLang="zh-TW" dirty="0">
              <a:solidFill>
                <a:schemeClr val="bg1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if( parent[ t ] == -1 )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   return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;</a:t>
            </a:r>
          </a:p>
          <a:p>
            <a:endParaRPr lang="en-US" altLang="zh-TW" dirty="0">
              <a:solidFill>
                <a:schemeClr val="bg1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int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for( int v = t; v != s; v = parent[ v ] )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= min(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[ parent[ v ] ][ v ] );</a:t>
            </a:r>
          </a:p>
          <a:p>
            <a:endParaRPr lang="en-US" altLang="zh-TW" dirty="0">
              <a:solidFill>
                <a:schemeClr val="bg1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for( int v = t; v != s; v = parent[ v ] )</a:t>
            </a:r>
          </a:p>
          <a:p>
            <a:r>
              <a:rPr lang="zh-TW" altLang="en-US" dirty="0">
                <a:solidFill>
                  <a:schemeClr val="bg1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[ parent[ v ] ][ v ] -=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[ v ][ parent[ v ] ] +=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chemeClr val="bg1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9439447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edmondsKarp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if( parent[ t ] == -1 )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   return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;</a:t>
            </a: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= t; v != s; v = parent[ v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min(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parent[ v ] ][ v ] );</a:t>
            </a: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for( int v = t; v != s; v = parent[ v ] )</a:t>
            </a:r>
          </a:p>
          <a:p>
            <a:r>
              <a:rPr lang="zh-TW" altLang="en-US" dirty="0">
                <a:solidFill>
                  <a:schemeClr val="bg1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[ parent[ v ] ][ v ] -=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[ v ][ parent[ v ] ] +=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chemeClr val="bg1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21654480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edmondsKarp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parent[ t ] == -1 )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= t; v != s; v = parent[ v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min(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parent[ v ] ][ v ] );</a:t>
            </a: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for( int v = t; v != s; v = parent[ v ] )</a:t>
            </a:r>
          </a:p>
          <a:p>
            <a:r>
              <a:rPr lang="zh-TW" altLang="en-US" dirty="0">
                <a:solidFill>
                  <a:schemeClr val="bg1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[ parent[ v ] ][ v ] -=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[ v ][ parent[ v ] ] +=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chemeClr val="bg1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8427562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edmondsKarp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parent[ t ] == -1 )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= t; v != s; v = parent[ v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min(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parent[ v ] ][ v ] );</a:t>
            </a: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= t; v != s; v = parent[ v ]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parent[ v ] ][ v ] -=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v ][ parent[ v ] ]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4696795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n, m;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cin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&gt;&gt;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&gt;&gt;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t = n - 1;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memset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0,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sizeof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s; i &lt;= t; i++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].clear();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u, v, c;</a:t>
            </a: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m; ++i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cin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&gt;&gt;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&gt;&gt;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&gt;&gt;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c;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][ v ] = c;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].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push_back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v );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edmondsKarp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s, t )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5674488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parent[ t ] == -1 )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= t; v != s; v = parent[ v ]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min(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parent[ v ] ][ v ] );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= t; v != s; v = parent[ v ]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parent[ v ] ][ v ] -=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v ][ parent[ v ] ]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3609000"/>
            <a:ext cx="4680000" cy="296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917138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3609000"/>
            <a:ext cx="4680000" cy="2965107"/>
          </a:xfrm>
          <a:prstGeom prst="rect">
            <a:avLst/>
          </a:prstGeom>
        </p:spPr>
      </p:pic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parent[ t ] == -1 )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= t; v != s; v = parent[ v ]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min(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parent[ v ] ][ v ] );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= t; v != s; v = parent[ v ]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parent[ v ] ][ v ] -=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v ][ parent[ v ] ]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230470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3609000"/>
            <a:ext cx="4680000" cy="2965105"/>
          </a:xfrm>
          <a:prstGeom prst="rect">
            <a:avLst/>
          </a:prstGeom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parent[ t ] == -1 )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= t; v != s; v = parent[ v ]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min(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parent[ v ] ][ v ] );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= t; v != s; v = parent[ v ]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parent[ v ] ][ v ] -=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v ][ parent[ v ] ]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2246550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3609000"/>
            <a:ext cx="4680000" cy="2965105"/>
          </a:xfrm>
          <a:prstGeom prst="rect">
            <a:avLst/>
          </a:prstGeom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parent[ t ] == -1 )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= t; v != s; v = parent[ v ]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min(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parent[ v ] ][ v ] );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= t; v != s; v = parent[ v ]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parent[ v ] ][ v ] -=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v ][ parent[ v ] ]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6054691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3609000"/>
            <a:ext cx="4680000" cy="2965105"/>
          </a:xfrm>
          <a:prstGeom prst="rect">
            <a:avLst/>
          </a:prstGeom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parent[ t ] == -1 )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= t; v != s; v = parent[ v ]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min(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parent[ v ] ][ v ] );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= t; v != s; v = parent[ v ]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parent[ v ] ][ v ] -=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v ][ parent[ v ] ]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9566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3609000"/>
            <a:ext cx="4680000" cy="2965105"/>
          </a:xfrm>
          <a:prstGeom prst="rect">
            <a:avLst/>
          </a:prstGeom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parent[ t ] == -1 )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= t; v != s; v = parent[ v ]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min(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parent[ v ] ][ v ] );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= t; v != s; v = parent[ v ]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parent[ v ] ][ v ] -=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v ][ parent[ v ] ]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7871013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3609000"/>
            <a:ext cx="4680000" cy="2965106"/>
          </a:xfrm>
          <a:prstGeom prst="rect">
            <a:avLst/>
          </a:prstGeom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parent[ t ] == -1 )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= t; v != s; v = parent[ v ]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min(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parent[ v ] ][ v ] );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= t; v != s; v = parent[ v ]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parent[ v ] ][ v ] -=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v ][ parent[ v ] ]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998972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3609000"/>
            <a:ext cx="4680000" cy="2965105"/>
          </a:xfrm>
          <a:prstGeom prst="rect">
            <a:avLst/>
          </a:prstGeom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parent[ t ] == -1 )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= t; v != s; v = parent[ v ]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min(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parent[ v ] ][ v ] );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= t; v != s; v = parent[ v ]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parent[ v ] ][ v ] -=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v ][ parent[ v ] ]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2220622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3609000"/>
            <a:ext cx="4680000" cy="2965105"/>
          </a:xfrm>
          <a:prstGeom prst="rect">
            <a:avLst/>
          </a:prstGeom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parent[ t ] == -1 )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= t; v != s; v = parent[ v ]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min(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parent[ v ] ][ v ] );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= t; v != s; v = parent[ v ]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parent[ v ] ][ v ] -=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v ][ parent[ v ] ]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3830839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3609000"/>
            <a:ext cx="4680000" cy="2965105"/>
          </a:xfrm>
          <a:prstGeom prst="rect">
            <a:avLst/>
          </a:prstGeom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parent[ t ] == -1 )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= t; v != s; v = parent[ v ]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min(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parent[ v ] ][ v ] );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= t; v != s; v = parent[ v ]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parent[ v ] ][ v ] -=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v ][ parent[ v ] ]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255797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3609000"/>
            <a:ext cx="4680000" cy="2965105"/>
          </a:xfrm>
          <a:prstGeom prst="rect">
            <a:avLst/>
          </a:prstGeom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parent[ t ] == -1 )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= t; v != s; v = parent[ v ]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min(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parent[ v ] ][ v ] );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= t; v != s; v = parent[ v ]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parent[ v ] ][ v ] -=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v ][ parent[ v ] ]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2053779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3609000"/>
            <a:ext cx="4680000" cy="2965105"/>
          </a:xfrm>
          <a:prstGeom prst="rect">
            <a:avLst/>
          </a:prstGeom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parent[ t ] == -1 )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= t; v != s; v = parent[ v ]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min(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parent[ v ] ][ v ] );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= t; v != s; v = parent[ v ]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parent[ v ] ][ v ] -=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v ][ parent[ v ] ]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074911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memset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parent, -1,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sizeof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parent )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parent[ s ] = s;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q.front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u == t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][ v ] &gt; 0 &amp;&amp; parent[ v ] == -1 )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v ] = u;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v );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3563872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edmondsKarp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parent[ t ] == -1 )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= t; v != s; v = parent[ v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min(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parent[ v ] ][ v ] );</a:t>
            </a: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= t; v != s; v = parent[ v ]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parent[ v ] ][ v ] -=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v ][ parent[ v ] ]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63007756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Dinic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zh-TW"/>
              <a:t>s</a:t>
            </a:r>
            <a:r>
              <a:rPr lang="en-US" altLang="zh-TW" dirty="0"/>
              <a:t> Algorithm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13907342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12000" y="548640"/>
            <a:ext cx="7920000" cy="5940359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1; i &lt; n; i++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i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d[ s ]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q.front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][ v ] &gt; 0 &amp;&amp; d[ v 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v ] = d[ u ] + 1;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v );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marL="0" lvl="0" indent="0">
              <a:buClr>
                <a:srgbClr val="3333CC"/>
              </a:buClr>
            </a:pPr>
            <a:r>
              <a:rPr lang="en-US" altLang="zh-TW" sz="2200" dirty="0">
                <a:solidFill>
                  <a:srgbClr val="0000FF"/>
                </a:solidFill>
                <a:latin typeface="Times New Roman"/>
              </a:rPr>
              <a:t>E. A. </a:t>
            </a:r>
            <a:r>
              <a:rPr lang="en-US" altLang="zh-TW" sz="2200" dirty="0" err="1">
                <a:solidFill>
                  <a:srgbClr val="0000FF"/>
                </a:solidFill>
                <a:latin typeface="Times New Roman"/>
              </a:rPr>
              <a:t>Dinic</a:t>
            </a:r>
            <a:r>
              <a:rPr lang="en-US" altLang="zh-TW" sz="2200" dirty="0">
                <a:solidFill>
                  <a:srgbClr val="0000FF"/>
                </a:solidFill>
                <a:latin typeface="Times New Roman"/>
              </a:rPr>
              <a:t>. Algorithm for solution of a problem of maximum flow in a network with power estimation. Soviet Mathematics </a:t>
            </a:r>
            <a:r>
              <a:rPr lang="en-US" altLang="zh-TW" sz="2200" dirty="0" err="1">
                <a:solidFill>
                  <a:srgbClr val="0000FF"/>
                </a:solidFill>
                <a:latin typeface="Times New Roman"/>
              </a:rPr>
              <a:t>Doklady</a:t>
            </a:r>
            <a:r>
              <a:rPr lang="en-US" altLang="zh-TW" sz="2200" dirty="0">
                <a:solidFill>
                  <a:srgbClr val="0000FF"/>
                </a:solidFill>
                <a:latin typeface="Times New Roman"/>
              </a:rPr>
              <a:t>, 11(5):1277–1280, 1970.</a:t>
            </a:r>
          </a:p>
        </p:txBody>
      </p:sp>
    </p:spTree>
    <p:extLst>
      <p:ext uri="{BB962C8B-B14F-4D97-AF65-F5344CB8AC3E}">
        <p14:creationId xmlns:p14="http://schemas.microsoft.com/office/powerpoint/2010/main" val="585106082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partMinResCap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t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partMinResCap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s-E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resCap[ 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][ v ] &gt; 0 &amp;&amp; d[ v ] == d[ 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+ 1 )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v,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          min(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partMinResCap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][ v ] ) );</a:t>
            </a: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][ v ] -=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v ][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16963929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dinic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t 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break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00521775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500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500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500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== t )</a:t>
            </a:r>
          </a:p>
          <a:p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500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5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z="1500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r>
              <a:rPr lang="es-E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s-ES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s-E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( rc[</a:t>
            </a:r>
            <a:r>
              <a:rPr lang="es-ES" altLang="zh-TW" sz="1500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][v] &gt; 0 &amp;&amp; d[v] == d[</a:t>
            </a:r>
            <a:r>
              <a:rPr lang="es-ES" altLang="zh-TW" sz="1500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] + 1 )</a:t>
            </a:r>
          </a:p>
          <a:p>
            <a:r>
              <a:rPr lang="zh-TW" altLang="en-US" sz="15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( v, min( </a:t>
            </a:r>
            <a:r>
              <a:rPr lang="en-US" altLang="zh-TW" sz="1500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z="1500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][v] ) );</a:t>
            </a:r>
          </a:p>
          <a:p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&gt; 0 )</a:t>
            </a:r>
          </a:p>
          <a:p>
            <a:r>
              <a:rPr lang="zh-TW" altLang="en-US" sz="15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z="1500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][v] -=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[v][</a:t>
            </a:r>
            <a:r>
              <a:rPr lang="en-US" altLang="zh-TW" sz="1500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] +=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>
              <a:lnSpc>
                <a:spcPct val="50000"/>
              </a:lnSpc>
            </a:pPr>
            <a:r>
              <a:rPr lang="zh-TW" altLang="en-US" sz="15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>
              <a:lnSpc>
                <a:spcPct val="50000"/>
              </a:lnSpc>
            </a:pPr>
            <a:r>
              <a:rPr lang="zh-TW" altLang="en-US" sz="15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0;</a:t>
            </a:r>
          </a:p>
          <a:p>
            <a:pPr>
              <a:lnSpc>
                <a:spcPct val="50000"/>
              </a:lnSpc>
            </a:pP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500" dirty="0"/>
          </a:p>
        </p:txBody>
      </p:sp>
    </p:spTree>
    <p:extLst>
      <p:ext uri="{BB962C8B-B14F-4D97-AF65-F5344CB8AC3E}">
        <p14:creationId xmlns:p14="http://schemas.microsoft.com/office/powerpoint/2010/main" val="2123997377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dinic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= 0;</a:t>
            </a:r>
          </a:p>
          <a:p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sz="15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  <a:endParaRPr lang="zh-TW" altLang="en-US" sz="15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( d[t] ==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5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sz="15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( s,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break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5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>
              <a:lnSpc>
                <a:spcPct val="50000"/>
              </a:lnSpc>
            </a:pPr>
            <a:r>
              <a:rPr lang="zh-TW" altLang="en-US" sz="15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>
              <a:lnSpc>
                <a:spcPct val="50000"/>
              </a:lnSpc>
            </a:pPr>
            <a:r>
              <a:rPr lang="zh-TW" altLang="en-US" sz="15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>
              <a:lnSpc>
                <a:spcPct val="50000"/>
              </a:lnSpc>
            </a:pP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500" dirty="0"/>
          </a:p>
        </p:txBody>
      </p:sp>
    </p:spTree>
    <p:extLst>
      <p:ext uri="{BB962C8B-B14F-4D97-AF65-F5344CB8AC3E}">
        <p14:creationId xmlns:p14="http://schemas.microsoft.com/office/powerpoint/2010/main" val="4273110260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dinic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d[t]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break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000" y="3609000"/>
            <a:ext cx="4680000" cy="2965105"/>
          </a:xfrm>
          <a:prstGeom prst="rect">
            <a:avLst/>
          </a:prstGeom>
        </p:spPr>
      </p:pic>
      <p:sp>
        <p:nvSpPr>
          <p:cNvPr id="5" name="內容版面配置區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t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s-E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rc[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]&gt;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0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]+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])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][v] -=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[v][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7176778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dinic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d[t]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break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000" y="3609000"/>
            <a:ext cx="4680000" cy="2965105"/>
          </a:xfrm>
          <a:prstGeom prst="rect">
            <a:avLst/>
          </a:prstGeom>
        </p:spPr>
      </p:pic>
      <p:sp>
        <p:nvSpPr>
          <p:cNvPr id="5" name="內容版面配置區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t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s-E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rc[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]&gt;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0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]+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])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][v] -=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[v][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4535434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dinic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d[t]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break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000" y="3609000"/>
            <a:ext cx="4680000" cy="2965105"/>
          </a:xfrm>
          <a:prstGeom prst="rect">
            <a:avLst/>
          </a:prstGeom>
        </p:spPr>
      </p:pic>
      <p:sp>
        <p:nvSpPr>
          <p:cNvPr id="5" name="內容版面配置區 3"/>
          <p:cNvSpPr txBox="1">
            <a:spLocks/>
          </p:cNvSpPr>
          <p:nvPr/>
        </p:nvSpPr>
        <p:spPr bwMode="auto">
          <a:xfrm>
            <a:off x="432000" y="4689000"/>
            <a:ext cx="2880000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000" tIns="0" rIns="90000" bIns="72000" numCol="1" anchor="ctr" anchorCtr="1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/>
            <a:r>
              <a:rPr lang="en-US" altLang="zh-TW" sz="2800" kern="0" dirty="0">
                <a:solidFill>
                  <a:srgbClr val="0000FF"/>
                </a:solidFill>
              </a:rPr>
              <a:t>Layered Network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t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s-E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rc[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]&gt;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0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]+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])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][v] -=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[v][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6683861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dinic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d[t]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break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1692000" y="378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>
                <a:solidFill>
                  <a:srgbClr val="000000"/>
                </a:solidFill>
                <a:latin typeface="Times New Roman"/>
                <a:ea typeface="新細明體"/>
              </a:rPr>
              <a:t>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7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" name="Line 19"/>
          <p:cNvSpPr>
            <a:spLocks noChangeShapeType="1"/>
          </p:cNvSpPr>
          <p:nvPr/>
        </p:nvSpPr>
        <p:spPr bwMode="auto">
          <a:xfrm>
            <a:off x="2412000" y="414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1692000" y="450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1800" kern="0" baseline="-25000" dirty="0" err="1">
                <a:solidFill>
                  <a:srgbClr val="000000"/>
                </a:solidFill>
                <a:latin typeface="Times New Roman"/>
                <a:ea typeface="新細明體"/>
              </a:rPr>
              <a:t>1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16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" name="Line 19"/>
          <p:cNvSpPr>
            <a:spLocks noChangeShapeType="1"/>
          </p:cNvSpPr>
          <p:nvPr/>
        </p:nvSpPr>
        <p:spPr bwMode="auto">
          <a:xfrm>
            <a:off x="2412000" y="486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1692000" y="522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1800" kern="0" baseline="-25000" dirty="0" err="1">
                <a:solidFill>
                  <a:srgbClr val="000000"/>
                </a:solidFill>
                <a:latin typeface="Times New Roman"/>
                <a:ea typeface="新細明體"/>
              </a:rPr>
              <a:t>3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12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" name="Line 19"/>
          <p:cNvSpPr>
            <a:spLocks noChangeShapeType="1"/>
          </p:cNvSpPr>
          <p:nvPr/>
        </p:nvSpPr>
        <p:spPr bwMode="auto">
          <a:xfrm>
            <a:off x="2412000" y="558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1692000" y="594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>
                <a:solidFill>
                  <a:srgbClr val="000000"/>
                </a:solidFill>
                <a:latin typeface="Times New Roman"/>
                <a:ea typeface="新細明體"/>
              </a:rPr>
              <a:t>t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12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000" y="3609000"/>
            <a:ext cx="4680000" cy="2965105"/>
          </a:xfrm>
          <a:prstGeom prst="rect">
            <a:avLst/>
          </a:prstGeom>
        </p:spPr>
      </p:pic>
      <p:sp>
        <p:nvSpPr>
          <p:cNvPr id="12" name="內容版面配置區 1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t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s-E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rc[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]&gt;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0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]+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])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][v] -=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[v][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0274809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dinic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d[t]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break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1692000" y="378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>
                <a:solidFill>
                  <a:srgbClr val="000000"/>
                </a:solidFill>
                <a:latin typeface="Times New Roman"/>
                <a:ea typeface="新細明體"/>
              </a:rPr>
              <a:t>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7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" name="Line 19"/>
          <p:cNvSpPr>
            <a:spLocks noChangeShapeType="1"/>
          </p:cNvSpPr>
          <p:nvPr/>
        </p:nvSpPr>
        <p:spPr bwMode="auto">
          <a:xfrm>
            <a:off x="2412000" y="414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1692000" y="450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1800" kern="0" baseline="-25000" dirty="0" err="1">
                <a:solidFill>
                  <a:srgbClr val="000000"/>
                </a:solidFill>
                <a:latin typeface="Times New Roman"/>
                <a:ea typeface="新細明體"/>
              </a:rPr>
              <a:t>1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16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" name="Line 19"/>
          <p:cNvSpPr>
            <a:spLocks noChangeShapeType="1"/>
          </p:cNvSpPr>
          <p:nvPr/>
        </p:nvSpPr>
        <p:spPr bwMode="auto">
          <a:xfrm>
            <a:off x="2412000" y="486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1692000" y="522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1800" kern="0" baseline="-25000" dirty="0" err="1">
                <a:solidFill>
                  <a:srgbClr val="000000"/>
                </a:solidFill>
                <a:latin typeface="Times New Roman"/>
                <a:ea typeface="新細明體"/>
              </a:rPr>
              <a:t>3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12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" name="Line 19"/>
          <p:cNvSpPr>
            <a:spLocks noChangeShapeType="1"/>
          </p:cNvSpPr>
          <p:nvPr/>
        </p:nvSpPr>
        <p:spPr bwMode="auto">
          <a:xfrm>
            <a:off x="2412000" y="558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1692000" y="594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>
                <a:solidFill>
                  <a:srgbClr val="000000"/>
                </a:solidFill>
                <a:latin typeface="Times New Roman"/>
                <a:ea typeface="新細明體"/>
              </a:rPr>
              <a:t>t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12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000" y="3609000"/>
            <a:ext cx="4680000" cy="2965105"/>
          </a:xfrm>
          <a:prstGeom prst="rect">
            <a:avLst/>
          </a:prstGeom>
        </p:spPr>
      </p:pic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2772000" y="55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14" name="Line 19"/>
          <p:cNvSpPr>
            <a:spLocks noChangeShapeType="1"/>
          </p:cNvSpPr>
          <p:nvPr/>
        </p:nvSpPr>
        <p:spPr bwMode="auto">
          <a:xfrm flipV="1">
            <a:off x="2772000" y="5589000"/>
            <a:ext cx="0" cy="36000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" name="內容版面配置區 1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t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s-E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rc[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]&gt;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0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]+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])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][v] -=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[v][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311756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dinic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d[t]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break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1692000" y="378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>
                <a:solidFill>
                  <a:srgbClr val="000000"/>
                </a:solidFill>
                <a:latin typeface="Times New Roman"/>
                <a:ea typeface="新細明體"/>
              </a:rPr>
              <a:t>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7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" name="Line 19"/>
          <p:cNvSpPr>
            <a:spLocks noChangeShapeType="1"/>
          </p:cNvSpPr>
          <p:nvPr/>
        </p:nvSpPr>
        <p:spPr bwMode="auto">
          <a:xfrm>
            <a:off x="2411999" y="414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1692000" y="450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1800" kern="0" baseline="-25000" dirty="0" err="1">
                <a:solidFill>
                  <a:srgbClr val="000000"/>
                </a:solidFill>
                <a:latin typeface="Times New Roman"/>
                <a:ea typeface="新細明體"/>
              </a:rPr>
              <a:t>1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16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" name="Line 19"/>
          <p:cNvSpPr>
            <a:spLocks noChangeShapeType="1"/>
          </p:cNvSpPr>
          <p:nvPr/>
        </p:nvSpPr>
        <p:spPr bwMode="auto">
          <a:xfrm>
            <a:off x="2411999" y="486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1692000" y="522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1800" kern="0" baseline="-25000" dirty="0" err="1">
                <a:solidFill>
                  <a:srgbClr val="000000"/>
                </a:solidFill>
                <a:latin typeface="Times New Roman"/>
                <a:ea typeface="新細明體"/>
              </a:rPr>
              <a:t>3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12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" name="Line 19"/>
          <p:cNvSpPr>
            <a:spLocks noChangeShapeType="1"/>
          </p:cNvSpPr>
          <p:nvPr/>
        </p:nvSpPr>
        <p:spPr bwMode="auto">
          <a:xfrm>
            <a:off x="2411999" y="558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1692000" y="594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>
                <a:solidFill>
                  <a:srgbClr val="000000"/>
                </a:solidFill>
                <a:latin typeface="Times New Roman"/>
                <a:ea typeface="新細明體"/>
              </a:rPr>
              <a:t>t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12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2772000" y="55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14" name="Line 19"/>
          <p:cNvSpPr>
            <a:spLocks noChangeShapeType="1"/>
          </p:cNvSpPr>
          <p:nvPr/>
        </p:nvSpPr>
        <p:spPr bwMode="auto">
          <a:xfrm flipV="1">
            <a:off x="2772000" y="5589000"/>
            <a:ext cx="0" cy="36000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277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16" name="Line 19"/>
          <p:cNvSpPr>
            <a:spLocks noChangeShapeType="1"/>
          </p:cNvSpPr>
          <p:nvPr/>
        </p:nvSpPr>
        <p:spPr bwMode="auto">
          <a:xfrm flipV="1">
            <a:off x="2772000" y="4869000"/>
            <a:ext cx="0" cy="36000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000" y="3609000"/>
            <a:ext cx="4680000" cy="2965105"/>
          </a:xfrm>
          <a:prstGeom prst="rect">
            <a:avLst/>
          </a:prstGeom>
        </p:spPr>
      </p:pic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t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s-E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rc[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]&gt;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0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]+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])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][v] -=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[v][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6804574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dinic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d[t]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break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1692000" y="378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>
                <a:solidFill>
                  <a:srgbClr val="000000"/>
                </a:solidFill>
                <a:latin typeface="Times New Roman"/>
                <a:ea typeface="新細明體"/>
              </a:rPr>
              <a:t>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7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" name="Line 19"/>
          <p:cNvSpPr>
            <a:spLocks noChangeShapeType="1"/>
          </p:cNvSpPr>
          <p:nvPr/>
        </p:nvSpPr>
        <p:spPr bwMode="auto">
          <a:xfrm>
            <a:off x="2411999" y="414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1692000" y="450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1800" kern="0" baseline="-25000" dirty="0" err="1">
                <a:solidFill>
                  <a:srgbClr val="000000"/>
                </a:solidFill>
                <a:latin typeface="Times New Roman"/>
                <a:ea typeface="新細明體"/>
              </a:rPr>
              <a:t>1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16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" name="Line 19"/>
          <p:cNvSpPr>
            <a:spLocks noChangeShapeType="1"/>
          </p:cNvSpPr>
          <p:nvPr/>
        </p:nvSpPr>
        <p:spPr bwMode="auto">
          <a:xfrm>
            <a:off x="2411999" y="486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1692000" y="522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1800" kern="0" baseline="-25000" dirty="0" err="1">
                <a:solidFill>
                  <a:srgbClr val="000000"/>
                </a:solidFill>
                <a:latin typeface="Times New Roman"/>
                <a:ea typeface="新細明體"/>
              </a:rPr>
              <a:t>3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12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" name="Line 19"/>
          <p:cNvSpPr>
            <a:spLocks noChangeShapeType="1"/>
          </p:cNvSpPr>
          <p:nvPr/>
        </p:nvSpPr>
        <p:spPr bwMode="auto">
          <a:xfrm>
            <a:off x="2411999" y="558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1692000" y="594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>
                <a:solidFill>
                  <a:srgbClr val="000000"/>
                </a:solidFill>
                <a:latin typeface="Times New Roman"/>
                <a:ea typeface="新細明體"/>
              </a:rPr>
              <a:t>t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12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2772000" y="55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14" name="Line 19"/>
          <p:cNvSpPr>
            <a:spLocks noChangeShapeType="1"/>
          </p:cNvSpPr>
          <p:nvPr/>
        </p:nvSpPr>
        <p:spPr bwMode="auto">
          <a:xfrm flipV="1">
            <a:off x="2772000" y="5589000"/>
            <a:ext cx="0" cy="36000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277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16" name="Line 19"/>
          <p:cNvSpPr>
            <a:spLocks noChangeShapeType="1"/>
          </p:cNvSpPr>
          <p:nvPr/>
        </p:nvSpPr>
        <p:spPr bwMode="auto">
          <a:xfrm flipV="1">
            <a:off x="2772000" y="4869000"/>
            <a:ext cx="0" cy="36000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27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18" name="Line 19"/>
          <p:cNvSpPr>
            <a:spLocks noChangeShapeType="1"/>
          </p:cNvSpPr>
          <p:nvPr/>
        </p:nvSpPr>
        <p:spPr bwMode="auto">
          <a:xfrm flipV="1">
            <a:off x="2772000" y="4149000"/>
            <a:ext cx="0" cy="36000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000" y="3609000"/>
            <a:ext cx="4680000" cy="2965105"/>
          </a:xfrm>
          <a:prstGeom prst="rect">
            <a:avLst/>
          </a:prstGeom>
        </p:spPr>
      </p:pic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t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s-E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rc[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]&gt;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0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]+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])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][v] -=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[v][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1869591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dinic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d[t]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break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1692000" y="378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>
                <a:solidFill>
                  <a:srgbClr val="000000"/>
                </a:solidFill>
                <a:latin typeface="Times New Roman"/>
                <a:ea typeface="新細明體"/>
              </a:rPr>
              <a:t>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7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" name="Line 19"/>
          <p:cNvSpPr>
            <a:spLocks noChangeShapeType="1"/>
          </p:cNvSpPr>
          <p:nvPr/>
        </p:nvSpPr>
        <p:spPr bwMode="auto">
          <a:xfrm>
            <a:off x="2412000" y="414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1692000" y="450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1800" kern="0" baseline="-25000" dirty="0" err="1">
                <a:solidFill>
                  <a:srgbClr val="000000"/>
                </a:solidFill>
                <a:latin typeface="Times New Roman"/>
                <a:ea typeface="新細明體"/>
              </a:rPr>
              <a:t>2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13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" name="Line 19"/>
          <p:cNvSpPr>
            <a:spLocks noChangeShapeType="1"/>
          </p:cNvSpPr>
          <p:nvPr/>
        </p:nvSpPr>
        <p:spPr bwMode="auto">
          <a:xfrm>
            <a:off x="2412000" y="486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1692000" y="522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1800" kern="0" baseline="-25000" dirty="0" err="1">
                <a:solidFill>
                  <a:srgbClr val="000000"/>
                </a:solidFill>
                <a:latin typeface="Times New Roman"/>
                <a:ea typeface="新細明體"/>
              </a:rPr>
              <a:t>4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13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" name="Line 19"/>
          <p:cNvSpPr>
            <a:spLocks noChangeShapeType="1"/>
          </p:cNvSpPr>
          <p:nvPr/>
        </p:nvSpPr>
        <p:spPr bwMode="auto">
          <a:xfrm>
            <a:off x="2412000" y="558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1692000" y="594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>
                <a:solidFill>
                  <a:srgbClr val="000000"/>
                </a:solidFill>
                <a:latin typeface="Times New Roman"/>
                <a:ea typeface="新細明體"/>
              </a:rPr>
              <a:t>t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4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000" y="3609000"/>
            <a:ext cx="4680000" cy="2965109"/>
          </a:xfrm>
          <a:prstGeom prst="rect">
            <a:avLst/>
          </a:prstGeom>
        </p:spPr>
      </p:pic>
      <p:sp>
        <p:nvSpPr>
          <p:cNvPr id="12" name="內容版面配置區 1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t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s-E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rc[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]&gt;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0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]+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])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][v] -=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[v][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3756099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dinic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d[t]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break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1692000" y="378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>
                <a:solidFill>
                  <a:srgbClr val="000000"/>
                </a:solidFill>
                <a:latin typeface="Times New Roman"/>
                <a:ea typeface="新細明體"/>
              </a:rPr>
              <a:t>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7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" name="Line 19"/>
          <p:cNvSpPr>
            <a:spLocks noChangeShapeType="1"/>
          </p:cNvSpPr>
          <p:nvPr/>
        </p:nvSpPr>
        <p:spPr bwMode="auto">
          <a:xfrm>
            <a:off x="2411999" y="414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1692000" y="450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1800" kern="0" baseline="-25000" dirty="0" err="1">
                <a:solidFill>
                  <a:srgbClr val="000000"/>
                </a:solidFill>
                <a:latin typeface="Times New Roman"/>
                <a:ea typeface="新細明體"/>
              </a:rPr>
              <a:t>2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13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" name="Line 19"/>
          <p:cNvSpPr>
            <a:spLocks noChangeShapeType="1"/>
          </p:cNvSpPr>
          <p:nvPr/>
        </p:nvSpPr>
        <p:spPr bwMode="auto">
          <a:xfrm>
            <a:off x="2411999" y="486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1692000" y="522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1800" kern="0" baseline="-25000" dirty="0" err="1">
                <a:solidFill>
                  <a:srgbClr val="000000"/>
                </a:solidFill>
                <a:latin typeface="Times New Roman"/>
                <a:ea typeface="新細明體"/>
              </a:rPr>
              <a:t>4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13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" name="Line 19"/>
          <p:cNvSpPr>
            <a:spLocks noChangeShapeType="1"/>
          </p:cNvSpPr>
          <p:nvPr/>
        </p:nvSpPr>
        <p:spPr bwMode="auto">
          <a:xfrm>
            <a:off x="2411999" y="558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1692000" y="594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>
                <a:solidFill>
                  <a:srgbClr val="000000"/>
                </a:solidFill>
                <a:latin typeface="Times New Roman"/>
                <a:ea typeface="新細明體"/>
              </a:rPr>
              <a:t>t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4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2772000" y="55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4" name="Line 19"/>
          <p:cNvSpPr>
            <a:spLocks noChangeShapeType="1"/>
          </p:cNvSpPr>
          <p:nvPr/>
        </p:nvSpPr>
        <p:spPr bwMode="auto">
          <a:xfrm flipV="1">
            <a:off x="2772000" y="5589000"/>
            <a:ext cx="0" cy="36000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000" y="3609000"/>
            <a:ext cx="4680000" cy="2965105"/>
          </a:xfrm>
          <a:prstGeom prst="rect">
            <a:avLst/>
          </a:prstGeom>
        </p:spPr>
      </p:pic>
      <p:sp>
        <p:nvSpPr>
          <p:cNvPr id="12" name="內容版面配置區 1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t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s-E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rc[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]&gt;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0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]+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])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][v] -=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[v][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6882071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dinic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d[t]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break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1692000" y="378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>
                <a:solidFill>
                  <a:srgbClr val="000000"/>
                </a:solidFill>
                <a:latin typeface="Times New Roman"/>
                <a:ea typeface="新細明體"/>
              </a:rPr>
              <a:t>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7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" name="Line 19"/>
          <p:cNvSpPr>
            <a:spLocks noChangeShapeType="1"/>
          </p:cNvSpPr>
          <p:nvPr/>
        </p:nvSpPr>
        <p:spPr bwMode="auto">
          <a:xfrm>
            <a:off x="2411999" y="414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1692000" y="450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1800" kern="0" baseline="-25000" dirty="0" err="1">
                <a:solidFill>
                  <a:srgbClr val="000000"/>
                </a:solidFill>
                <a:latin typeface="Times New Roman"/>
                <a:ea typeface="新細明體"/>
              </a:rPr>
              <a:t>2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13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" name="Line 19"/>
          <p:cNvSpPr>
            <a:spLocks noChangeShapeType="1"/>
          </p:cNvSpPr>
          <p:nvPr/>
        </p:nvSpPr>
        <p:spPr bwMode="auto">
          <a:xfrm>
            <a:off x="2411999" y="486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1692000" y="522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1800" kern="0" baseline="-25000" dirty="0" err="1">
                <a:solidFill>
                  <a:srgbClr val="000000"/>
                </a:solidFill>
                <a:latin typeface="Times New Roman"/>
                <a:ea typeface="新細明體"/>
              </a:rPr>
              <a:t>4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13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" name="Line 19"/>
          <p:cNvSpPr>
            <a:spLocks noChangeShapeType="1"/>
          </p:cNvSpPr>
          <p:nvPr/>
        </p:nvSpPr>
        <p:spPr bwMode="auto">
          <a:xfrm>
            <a:off x="2411999" y="558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1692000" y="594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>
                <a:solidFill>
                  <a:srgbClr val="000000"/>
                </a:solidFill>
                <a:latin typeface="Times New Roman"/>
                <a:ea typeface="新細明體"/>
              </a:rPr>
              <a:t>t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4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2772000" y="55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4" name="Line 19"/>
          <p:cNvSpPr>
            <a:spLocks noChangeShapeType="1"/>
          </p:cNvSpPr>
          <p:nvPr/>
        </p:nvSpPr>
        <p:spPr bwMode="auto">
          <a:xfrm flipV="1">
            <a:off x="2772000" y="5589000"/>
            <a:ext cx="0" cy="36000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277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8" name="Line 19"/>
          <p:cNvSpPr>
            <a:spLocks noChangeShapeType="1"/>
          </p:cNvSpPr>
          <p:nvPr/>
        </p:nvSpPr>
        <p:spPr bwMode="auto">
          <a:xfrm flipV="1">
            <a:off x="2772000" y="4869000"/>
            <a:ext cx="0" cy="36000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000" y="3609000"/>
            <a:ext cx="4680000" cy="2965105"/>
          </a:xfrm>
          <a:prstGeom prst="rect">
            <a:avLst/>
          </a:prstGeom>
        </p:spPr>
      </p:pic>
      <p:sp>
        <p:nvSpPr>
          <p:cNvPr id="12" name="內容版面配置區 1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t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s-E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rc[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]&gt;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0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]+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])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][v] -=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[v][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691890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dinic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d[t]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break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1692000" y="378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>
                <a:solidFill>
                  <a:srgbClr val="000000"/>
                </a:solidFill>
                <a:latin typeface="Times New Roman"/>
                <a:ea typeface="新細明體"/>
              </a:rPr>
              <a:t>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7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" name="Line 19"/>
          <p:cNvSpPr>
            <a:spLocks noChangeShapeType="1"/>
          </p:cNvSpPr>
          <p:nvPr/>
        </p:nvSpPr>
        <p:spPr bwMode="auto">
          <a:xfrm>
            <a:off x="2412000" y="414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1692000" y="450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1800" kern="0" baseline="-25000" dirty="0" err="1">
                <a:solidFill>
                  <a:srgbClr val="000000"/>
                </a:solidFill>
                <a:latin typeface="Times New Roman"/>
                <a:ea typeface="新細明體"/>
              </a:rPr>
              <a:t>2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13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" name="Line 19"/>
          <p:cNvSpPr>
            <a:spLocks noChangeShapeType="1"/>
          </p:cNvSpPr>
          <p:nvPr/>
        </p:nvSpPr>
        <p:spPr bwMode="auto">
          <a:xfrm>
            <a:off x="2412000" y="486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1692000" y="522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1800" kern="0" baseline="-25000" dirty="0" err="1">
                <a:solidFill>
                  <a:srgbClr val="000000"/>
                </a:solidFill>
                <a:latin typeface="Times New Roman"/>
                <a:ea typeface="新細明體"/>
              </a:rPr>
              <a:t>4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13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" name="Line 19"/>
          <p:cNvSpPr>
            <a:spLocks noChangeShapeType="1"/>
          </p:cNvSpPr>
          <p:nvPr/>
        </p:nvSpPr>
        <p:spPr bwMode="auto">
          <a:xfrm>
            <a:off x="2412000" y="558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1692000" y="594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>
                <a:solidFill>
                  <a:srgbClr val="000000"/>
                </a:solidFill>
                <a:latin typeface="Times New Roman"/>
                <a:ea typeface="新細明體"/>
              </a:rPr>
              <a:t>t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4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2772000" y="55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4" name="Line 19"/>
          <p:cNvSpPr>
            <a:spLocks noChangeShapeType="1"/>
          </p:cNvSpPr>
          <p:nvPr/>
        </p:nvSpPr>
        <p:spPr bwMode="auto">
          <a:xfrm flipV="1">
            <a:off x="2772000" y="5589000"/>
            <a:ext cx="0" cy="36000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277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8" name="Line 19"/>
          <p:cNvSpPr>
            <a:spLocks noChangeShapeType="1"/>
          </p:cNvSpPr>
          <p:nvPr/>
        </p:nvSpPr>
        <p:spPr bwMode="auto">
          <a:xfrm flipV="1">
            <a:off x="2772000" y="4869000"/>
            <a:ext cx="0" cy="36000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9" name="Text Box 12"/>
          <p:cNvSpPr txBox="1">
            <a:spLocks noChangeArrowheads="1"/>
          </p:cNvSpPr>
          <p:nvPr/>
        </p:nvSpPr>
        <p:spPr bwMode="auto">
          <a:xfrm>
            <a:off x="27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20" name="Line 19"/>
          <p:cNvSpPr>
            <a:spLocks noChangeShapeType="1"/>
          </p:cNvSpPr>
          <p:nvPr/>
        </p:nvSpPr>
        <p:spPr bwMode="auto">
          <a:xfrm flipV="1">
            <a:off x="2772000" y="4149000"/>
            <a:ext cx="0" cy="36000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000" y="3609000"/>
            <a:ext cx="4680000" cy="2965105"/>
          </a:xfrm>
          <a:prstGeom prst="rect">
            <a:avLst/>
          </a:prstGeom>
        </p:spPr>
      </p:pic>
      <p:sp>
        <p:nvSpPr>
          <p:cNvPr id="12" name="內容版面配置區 1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t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s-E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rc[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]&gt;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0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]+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])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][v] -=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[v][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0713970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dinic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d[t]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break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1692000" y="378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>
                <a:solidFill>
                  <a:srgbClr val="000000"/>
                </a:solidFill>
                <a:latin typeface="Times New Roman"/>
                <a:ea typeface="新細明體"/>
              </a:rPr>
              <a:t>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7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" name="Line 19"/>
          <p:cNvSpPr>
            <a:spLocks noChangeShapeType="1"/>
          </p:cNvSpPr>
          <p:nvPr/>
        </p:nvSpPr>
        <p:spPr bwMode="auto">
          <a:xfrm>
            <a:off x="2412000" y="414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1692000" y="450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1800" kern="0" baseline="-25000" dirty="0" err="1">
                <a:solidFill>
                  <a:srgbClr val="000000"/>
                </a:solidFill>
                <a:latin typeface="Times New Roman"/>
                <a:ea typeface="新細明體"/>
              </a:rPr>
              <a:t>1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4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9" name="Text Box 12"/>
          <p:cNvSpPr txBox="1">
            <a:spLocks noChangeArrowheads="1"/>
          </p:cNvSpPr>
          <p:nvPr/>
        </p:nvSpPr>
        <p:spPr bwMode="auto">
          <a:xfrm>
            <a:off x="27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20" name="Line 19"/>
          <p:cNvSpPr>
            <a:spLocks noChangeShapeType="1"/>
          </p:cNvSpPr>
          <p:nvPr/>
        </p:nvSpPr>
        <p:spPr bwMode="auto">
          <a:xfrm flipV="1">
            <a:off x="2772000" y="4149000"/>
            <a:ext cx="0" cy="36000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000" y="3609000"/>
            <a:ext cx="4680000" cy="2965107"/>
          </a:xfrm>
          <a:prstGeom prst="rect">
            <a:avLst/>
          </a:prstGeom>
        </p:spPr>
      </p:pic>
      <p:sp>
        <p:nvSpPr>
          <p:cNvPr id="8" name="內容版面配置區 7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t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s-E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rc[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]&gt;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0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]+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])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][v] -=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[v][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83736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dinic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d[t]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break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1692000" y="378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>
                <a:solidFill>
                  <a:srgbClr val="000000"/>
                </a:solidFill>
                <a:latin typeface="Times New Roman"/>
                <a:ea typeface="新細明體"/>
              </a:rPr>
              <a:t>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7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" name="Line 19"/>
          <p:cNvSpPr>
            <a:spLocks noChangeShapeType="1"/>
          </p:cNvSpPr>
          <p:nvPr/>
        </p:nvSpPr>
        <p:spPr bwMode="auto">
          <a:xfrm>
            <a:off x="2412000" y="414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1692000" y="450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1800" kern="0" baseline="-25000" dirty="0" err="1">
                <a:solidFill>
                  <a:srgbClr val="000000"/>
                </a:solidFill>
                <a:latin typeface="Times New Roman"/>
                <a:ea typeface="新細明體"/>
              </a:rPr>
              <a:t>2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9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" name="Line 19"/>
          <p:cNvSpPr>
            <a:spLocks noChangeShapeType="1"/>
          </p:cNvSpPr>
          <p:nvPr/>
        </p:nvSpPr>
        <p:spPr bwMode="auto">
          <a:xfrm>
            <a:off x="2412000" y="486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1692000" y="522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1800" kern="0" baseline="-25000" dirty="0" err="1">
                <a:solidFill>
                  <a:srgbClr val="000000"/>
                </a:solidFill>
                <a:latin typeface="Times New Roman"/>
                <a:ea typeface="新細明體"/>
              </a:rPr>
              <a:t>4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9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277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18" name="Line 19"/>
          <p:cNvSpPr>
            <a:spLocks noChangeShapeType="1"/>
          </p:cNvSpPr>
          <p:nvPr/>
        </p:nvSpPr>
        <p:spPr bwMode="auto">
          <a:xfrm flipV="1">
            <a:off x="2772000" y="4869000"/>
            <a:ext cx="0" cy="36000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9" name="Text Box 12"/>
          <p:cNvSpPr txBox="1">
            <a:spLocks noChangeArrowheads="1"/>
          </p:cNvSpPr>
          <p:nvPr/>
        </p:nvSpPr>
        <p:spPr bwMode="auto">
          <a:xfrm>
            <a:off x="27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20" name="Line 19"/>
          <p:cNvSpPr>
            <a:spLocks noChangeShapeType="1"/>
          </p:cNvSpPr>
          <p:nvPr/>
        </p:nvSpPr>
        <p:spPr bwMode="auto">
          <a:xfrm flipV="1">
            <a:off x="2772000" y="4149000"/>
            <a:ext cx="0" cy="36000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000" y="3609000"/>
            <a:ext cx="4680000" cy="2965107"/>
          </a:xfrm>
          <a:prstGeom prst="rect">
            <a:avLst/>
          </a:prstGeom>
        </p:spPr>
      </p:pic>
      <p:sp>
        <p:nvSpPr>
          <p:cNvPr id="10" name="內容版面配置區 9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t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s-E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rc[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]&gt;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0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]+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])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][v] -=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[v][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9196105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dinic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d[t]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break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000" y="3609000"/>
            <a:ext cx="4680000" cy="2965105"/>
          </a:xfrm>
          <a:prstGeom prst="rect">
            <a:avLst/>
          </a:prstGeom>
        </p:spPr>
      </p:pic>
      <p:sp>
        <p:nvSpPr>
          <p:cNvPr id="5" name="內容版面配置區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t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s-E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rc[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]&gt;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0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]+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])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][v] -=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[v][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535781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dinic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d[t]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break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000" y="3609000"/>
            <a:ext cx="4680000" cy="2965105"/>
          </a:xfrm>
          <a:prstGeom prst="rect">
            <a:avLst/>
          </a:prstGeom>
        </p:spPr>
      </p:pic>
      <p:sp>
        <p:nvSpPr>
          <p:cNvPr id="5" name="內容版面配置區 3"/>
          <p:cNvSpPr txBox="1">
            <a:spLocks/>
          </p:cNvSpPr>
          <p:nvPr/>
        </p:nvSpPr>
        <p:spPr bwMode="auto">
          <a:xfrm>
            <a:off x="432000" y="4689000"/>
            <a:ext cx="2880000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000" tIns="0" rIns="90000" bIns="72000" numCol="1" anchor="ctr" anchorCtr="1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/>
            <a:r>
              <a:rPr lang="en-US" altLang="zh-TW" sz="2800" kern="0" dirty="0">
                <a:solidFill>
                  <a:srgbClr val="0000FF"/>
                </a:solidFill>
              </a:rPr>
              <a:t>Layered Network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t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s-E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rc[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]&gt;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0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]+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])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][v] -=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[v][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355944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dinic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d[t]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break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000" y="3609000"/>
            <a:ext cx="4680000" cy="2965105"/>
          </a:xfrm>
          <a:prstGeom prst="rect">
            <a:avLst/>
          </a:prstGeom>
        </p:spPr>
      </p:pic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1692000" y="342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>
                <a:solidFill>
                  <a:srgbClr val="000000"/>
                </a:solidFill>
                <a:latin typeface="Times New Roman"/>
                <a:ea typeface="新細明體"/>
              </a:rPr>
              <a:t>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7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" name="Line 19"/>
          <p:cNvSpPr>
            <a:spLocks noChangeShapeType="1"/>
          </p:cNvSpPr>
          <p:nvPr/>
        </p:nvSpPr>
        <p:spPr bwMode="auto">
          <a:xfrm>
            <a:off x="2412000" y="378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1692000" y="414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1800" kern="0" baseline="-25000" dirty="0" err="1">
                <a:solidFill>
                  <a:srgbClr val="000000"/>
                </a:solidFill>
                <a:latin typeface="Times New Roman"/>
                <a:ea typeface="新細明體"/>
              </a:rPr>
              <a:t>2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9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" name="Line 19"/>
          <p:cNvSpPr>
            <a:spLocks noChangeShapeType="1"/>
          </p:cNvSpPr>
          <p:nvPr/>
        </p:nvSpPr>
        <p:spPr bwMode="auto">
          <a:xfrm>
            <a:off x="2412000" y="450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1692000" y="486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1800" kern="0" baseline="-25000" dirty="0" err="1">
                <a:solidFill>
                  <a:srgbClr val="000000"/>
                </a:solidFill>
                <a:latin typeface="Times New Roman"/>
                <a:ea typeface="新細明體"/>
              </a:rPr>
              <a:t>4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9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" name="Line 19"/>
          <p:cNvSpPr>
            <a:spLocks noChangeShapeType="1"/>
          </p:cNvSpPr>
          <p:nvPr/>
        </p:nvSpPr>
        <p:spPr bwMode="auto">
          <a:xfrm>
            <a:off x="2412000" y="522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1692000" y="558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1800" kern="0" baseline="-25000" dirty="0" err="1">
                <a:solidFill>
                  <a:srgbClr val="000000"/>
                </a:solidFill>
                <a:latin typeface="Times New Roman"/>
                <a:ea typeface="新細明體"/>
              </a:rPr>
              <a:t>3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7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" name="Line 19"/>
          <p:cNvSpPr>
            <a:spLocks noChangeShapeType="1"/>
          </p:cNvSpPr>
          <p:nvPr/>
        </p:nvSpPr>
        <p:spPr bwMode="auto">
          <a:xfrm>
            <a:off x="2412000" y="594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" name="Text Box 17"/>
          <p:cNvSpPr txBox="1">
            <a:spLocks noChangeArrowheads="1"/>
          </p:cNvSpPr>
          <p:nvPr/>
        </p:nvSpPr>
        <p:spPr bwMode="auto">
          <a:xfrm>
            <a:off x="1692000" y="630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>
                <a:solidFill>
                  <a:srgbClr val="000000"/>
                </a:solidFill>
                <a:latin typeface="Times New Roman"/>
                <a:ea typeface="新細明體"/>
              </a:rPr>
              <a:t>t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7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4" name="內容版面配置區 1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t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s-E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rc[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]&gt;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0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]+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])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][v] -=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[v][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9282502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dinic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d[t]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break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1692000" y="342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>
                <a:solidFill>
                  <a:srgbClr val="000000"/>
                </a:solidFill>
                <a:latin typeface="Times New Roman"/>
                <a:ea typeface="新細明體"/>
              </a:rPr>
              <a:t>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7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" name="Line 19"/>
          <p:cNvSpPr>
            <a:spLocks noChangeShapeType="1"/>
          </p:cNvSpPr>
          <p:nvPr/>
        </p:nvSpPr>
        <p:spPr bwMode="auto">
          <a:xfrm>
            <a:off x="2411999" y="378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1692000" y="414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1800" kern="0" baseline="-25000" dirty="0" err="1">
                <a:solidFill>
                  <a:srgbClr val="000000"/>
                </a:solidFill>
                <a:latin typeface="Times New Roman"/>
                <a:ea typeface="新細明體"/>
              </a:rPr>
              <a:t>2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9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" name="Line 19"/>
          <p:cNvSpPr>
            <a:spLocks noChangeShapeType="1"/>
          </p:cNvSpPr>
          <p:nvPr/>
        </p:nvSpPr>
        <p:spPr bwMode="auto">
          <a:xfrm>
            <a:off x="2411999" y="450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1692000" y="486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1800" kern="0" baseline="-25000" dirty="0" err="1">
                <a:solidFill>
                  <a:srgbClr val="000000"/>
                </a:solidFill>
                <a:latin typeface="Times New Roman"/>
                <a:ea typeface="新細明體"/>
              </a:rPr>
              <a:t>4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9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" name="Line 19"/>
          <p:cNvSpPr>
            <a:spLocks noChangeShapeType="1"/>
          </p:cNvSpPr>
          <p:nvPr/>
        </p:nvSpPr>
        <p:spPr bwMode="auto">
          <a:xfrm>
            <a:off x="2411999" y="522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1692000" y="558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1800" kern="0" baseline="-25000" dirty="0" err="1">
                <a:solidFill>
                  <a:srgbClr val="000000"/>
                </a:solidFill>
                <a:latin typeface="Times New Roman"/>
                <a:ea typeface="新細明體"/>
              </a:rPr>
              <a:t>3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7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" name="Line 19"/>
          <p:cNvSpPr>
            <a:spLocks noChangeShapeType="1"/>
          </p:cNvSpPr>
          <p:nvPr/>
        </p:nvSpPr>
        <p:spPr bwMode="auto">
          <a:xfrm>
            <a:off x="2412000" y="594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" name="Text Box 17"/>
          <p:cNvSpPr txBox="1">
            <a:spLocks noChangeArrowheads="1"/>
          </p:cNvSpPr>
          <p:nvPr/>
        </p:nvSpPr>
        <p:spPr bwMode="auto">
          <a:xfrm>
            <a:off x="1692000" y="630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>
                <a:solidFill>
                  <a:srgbClr val="000000"/>
                </a:solidFill>
                <a:latin typeface="Times New Roman"/>
                <a:ea typeface="新細明體"/>
              </a:rPr>
              <a:t>t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7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000" y="3609000"/>
            <a:ext cx="4680000" cy="2965106"/>
          </a:xfrm>
          <a:prstGeom prst="rect">
            <a:avLst/>
          </a:prstGeom>
        </p:spPr>
      </p:pic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277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16" name="Line 19"/>
          <p:cNvSpPr>
            <a:spLocks noChangeShapeType="1"/>
          </p:cNvSpPr>
          <p:nvPr/>
        </p:nvSpPr>
        <p:spPr bwMode="auto">
          <a:xfrm flipV="1">
            <a:off x="2772000" y="5949000"/>
            <a:ext cx="0" cy="36000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4" name="內容版面配置區 1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t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s-E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rc[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]&gt;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0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]+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])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][v] -=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[v][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9295274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dinic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d[t]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break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1692000" y="342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>
                <a:solidFill>
                  <a:srgbClr val="000000"/>
                </a:solidFill>
                <a:latin typeface="Times New Roman"/>
                <a:ea typeface="新細明體"/>
              </a:rPr>
              <a:t>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7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" name="Line 19"/>
          <p:cNvSpPr>
            <a:spLocks noChangeShapeType="1"/>
          </p:cNvSpPr>
          <p:nvPr/>
        </p:nvSpPr>
        <p:spPr bwMode="auto">
          <a:xfrm>
            <a:off x="2411999" y="378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1692000" y="414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1800" kern="0" baseline="-25000" dirty="0" err="1">
                <a:solidFill>
                  <a:srgbClr val="000000"/>
                </a:solidFill>
                <a:latin typeface="Times New Roman"/>
                <a:ea typeface="新細明體"/>
              </a:rPr>
              <a:t>2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9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" name="Line 19"/>
          <p:cNvSpPr>
            <a:spLocks noChangeShapeType="1"/>
          </p:cNvSpPr>
          <p:nvPr/>
        </p:nvSpPr>
        <p:spPr bwMode="auto">
          <a:xfrm>
            <a:off x="2411999" y="450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1692000" y="486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1800" kern="0" baseline="-25000" dirty="0" err="1">
                <a:solidFill>
                  <a:srgbClr val="000000"/>
                </a:solidFill>
                <a:latin typeface="Times New Roman"/>
                <a:ea typeface="新細明體"/>
              </a:rPr>
              <a:t>4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9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" name="Line 19"/>
          <p:cNvSpPr>
            <a:spLocks noChangeShapeType="1"/>
          </p:cNvSpPr>
          <p:nvPr/>
        </p:nvSpPr>
        <p:spPr bwMode="auto">
          <a:xfrm>
            <a:off x="2411999" y="522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1692000" y="558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1800" kern="0" baseline="-25000" dirty="0" err="1">
                <a:solidFill>
                  <a:srgbClr val="000000"/>
                </a:solidFill>
                <a:latin typeface="Times New Roman"/>
                <a:ea typeface="新細明體"/>
              </a:rPr>
              <a:t>3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7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" name="Line 19"/>
          <p:cNvSpPr>
            <a:spLocks noChangeShapeType="1"/>
          </p:cNvSpPr>
          <p:nvPr/>
        </p:nvSpPr>
        <p:spPr bwMode="auto">
          <a:xfrm>
            <a:off x="2411999" y="594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" name="Text Box 17"/>
          <p:cNvSpPr txBox="1">
            <a:spLocks noChangeArrowheads="1"/>
          </p:cNvSpPr>
          <p:nvPr/>
        </p:nvSpPr>
        <p:spPr bwMode="auto">
          <a:xfrm>
            <a:off x="1692000" y="630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>
                <a:solidFill>
                  <a:srgbClr val="000000"/>
                </a:solidFill>
                <a:latin typeface="Times New Roman"/>
                <a:ea typeface="新細明體"/>
              </a:rPr>
              <a:t>t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7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277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16" name="Line 19"/>
          <p:cNvSpPr>
            <a:spLocks noChangeShapeType="1"/>
          </p:cNvSpPr>
          <p:nvPr/>
        </p:nvSpPr>
        <p:spPr bwMode="auto">
          <a:xfrm flipV="1">
            <a:off x="2772000" y="5949000"/>
            <a:ext cx="0" cy="36000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27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18" name="Line 19"/>
          <p:cNvSpPr>
            <a:spLocks noChangeShapeType="1"/>
          </p:cNvSpPr>
          <p:nvPr/>
        </p:nvSpPr>
        <p:spPr bwMode="auto">
          <a:xfrm flipV="1">
            <a:off x="2772000" y="5229000"/>
            <a:ext cx="0" cy="36000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000" y="3609000"/>
            <a:ext cx="4680000" cy="2965105"/>
          </a:xfrm>
          <a:prstGeom prst="rect">
            <a:avLst/>
          </a:prstGeom>
        </p:spPr>
      </p:pic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t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s-E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rc[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]&gt;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0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]+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])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][v] -=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[v][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5216862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dinic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d[t]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break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1692000" y="342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>
                <a:solidFill>
                  <a:srgbClr val="000000"/>
                </a:solidFill>
                <a:latin typeface="Times New Roman"/>
                <a:ea typeface="新細明體"/>
              </a:rPr>
              <a:t>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7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" name="Line 19"/>
          <p:cNvSpPr>
            <a:spLocks noChangeShapeType="1"/>
          </p:cNvSpPr>
          <p:nvPr/>
        </p:nvSpPr>
        <p:spPr bwMode="auto">
          <a:xfrm>
            <a:off x="2411999" y="378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1692000" y="414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1800" kern="0" baseline="-25000" dirty="0" err="1">
                <a:solidFill>
                  <a:srgbClr val="000000"/>
                </a:solidFill>
                <a:latin typeface="Times New Roman"/>
                <a:ea typeface="新細明體"/>
              </a:rPr>
              <a:t>2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9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" name="Line 19"/>
          <p:cNvSpPr>
            <a:spLocks noChangeShapeType="1"/>
          </p:cNvSpPr>
          <p:nvPr/>
        </p:nvSpPr>
        <p:spPr bwMode="auto">
          <a:xfrm>
            <a:off x="2411999" y="450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1692000" y="486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1800" kern="0" baseline="-25000" dirty="0" err="1">
                <a:solidFill>
                  <a:srgbClr val="000000"/>
                </a:solidFill>
                <a:latin typeface="Times New Roman"/>
                <a:ea typeface="新細明體"/>
              </a:rPr>
              <a:t>4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9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" name="Line 19"/>
          <p:cNvSpPr>
            <a:spLocks noChangeShapeType="1"/>
          </p:cNvSpPr>
          <p:nvPr/>
        </p:nvSpPr>
        <p:spPr bwMode="auto">
          <a:xfrm>
            <a:off x="2411999" y="522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1692000" y="558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1800" kern="0" baseline="-25000" dirty="0" err="1">
                <a:solidFill>
                  <a:srgbClr val="000000"/>
                </a:solidFill>
                <a:latin typeface="Times New Roman"/>
                <a:ea typeface="新細明體"/>
              </a:rPr>
              <a:t>3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7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" name="Line 19"/>
          <p:cNvSpPr>
            <a:spLocks noChangeShapeType="1"/>
          </p:cNvSpPr>
          <p:nvPr/>
        </p:nvSpPr>
        <p:spPr bwMode="auto">
          <a:xfrm>
            <a:off x="2411999" y="594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" name="Text Box 17"/>
          <p:cNvSpPr txBox="1">
            <a:spLocks noChangeArrowheads="1"/>
          </p:cNvSpPr>
          <p:nvPr/>
        </p:nvSpPr>
        <p:spPr bwMode="auto">
          <a:xfrm>
            <a:off x="1692000" y="630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>
                <a:solidFill>
                  <a:srgbClr val="000000"/>
                </a:solidFill>
                <a:latin typeface="Times New Roman"/>
                <a:ea typeface="新細明體"/>
              </a:rPr>
              <a:t>t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7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277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16" name="Line 19"/>
          <p:cNvSpPr>
            <a:spLocks noChangeShapeType="1"/>
          </p:cNvSpPr>
          <p:nvPr/>
        </p:nvSpPr>
        <p:spPr bwMode="auto">
          <a:xfrm flipV="1">
            <a:off x="2772000" y="5949000"/>
            <a:ext cx="0" cy="36000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27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18" name="Line 19"/>
          <p:cNvSpPr>
            <a:spLocks noChangeShapeType="1"/>
          </p:cNvSpPr>
          <p:nvPr/>
        </p:nvSpPr>
        <p:spPr bwMode="auto">
          <a:xfrm flipV="1">
            <a:off x="2772000" y="5229000"/>
            <a:ext cx="0" cy="36000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9" name="Text Box 12"/>
          <p:cNvSpPr txBox="1">
            <a:spLocks noChangeArrowheads="1"/>
          </p:cNvSpPr>
          <p:nvPr/>
        </p:nvSpPr>
        <p:spPr bwMode="auto">
          <a:xfrm>
            <a:off x="277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20" name="Line 19"/>
          <p:cNvSpPr>
            <a:spLocks noChangeShapeType="1"/>
          </p:cNvSpPr>
          <p:nvPr/>
        </p:nvSpPr>
        <p:spPr bwMode="auto">
          <a:xfrm flipV="1">
            <a:off x="2772000" y="4509000"/>
            <a:ext cx="0" cy="36000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pic>
        <p:nvPicPr>
          <p:cNvPr id="21" name="圖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000" y="3609000"/>
            <a:ext cx="4680000" cy="2965106"/>
          </a:xfrm>
          <a:prstGeom prst="rect">
            <a:avLst/>
          </a:prstGeom>
        </p:spPr>
      </p:pic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t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s-E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rc[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]&gt;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0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]+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])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][v] -=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[v][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10627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dinic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d[t]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break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1692000" y="342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>
                <a:solidFill>
                  <a:srgbClr val="000000"/>
                </a:solidFill>
                <a:latin typeface="Times New Roman"/>
                <a:ea typeface="新細明體"/>
              </a:rPr>
              <a:t>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7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" name="Line 19"/>
          <p:cNvSpPr>
            <a:spLocks noChangeShapeType="1"/>
          </p:cNvSpPr>
          <p:nvPr/>
        </p:nvSpPr>
        <p:spPr bwMode="auto">
          <a:xfrm>
            <a:off x="2411999" y="378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1692000" y="414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1800" kern="0" baseline="-25000" dirty="0" err="1">
                <a:solidFill>
                  <a:srgbClr val="000000"/>
                </a:solidFill>
                <a:latin typeface="Times New Roman"/>
                <a:ea typeface="新細明體"/>
              </a:rPr>
              <a:t>2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9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" name="Line 19"/>
          <p:cNvSpPr>
            <a:spLocks noChangeShapeType="1"/>
          </p:cNvSpPr>
          <p:nvPr/>
        </p:nvSpPr>
        <p:spPr bwMode="auto">
          <a:xfrm>
            <a:off x="2411999" y="450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1692000" y="486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1800" kern="0" baseline="-25000" dirty="0" err="1">
                <a:solidFill>
                  <a:srgbClr val="000000"/>
                </a:solidFill>
                <a:latin typeface="Times New Roman"/>
                <a:ea typeface="新細明體"/>
              </a:rPr>
              <a:t>4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9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" name="Line 19"/>
          <p:cNvSpPr>
            <a:spLocks noChangeShapeType="1"/>
          </p:cNvSpPr>
          <p:nvPr/>
        </p:nvSpPr>
        <p:spPr bwMode="auto">
          <a:xfrm>
            <a:off x="2411999" y="522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1692000" y="558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1800" kern="0" baseline="-25000" dirty="0" err="1">
                <a:solidFill>
                  <a:srgbClr val="000000"/>
                </a:solidFill>
                <a:latin typeface="Times New Roman"/>
                <a:ea typeface="新細明體"/>
              </a:rPr>
              <a:t>3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7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" name="Line 19"/>
          <p:cNvSpPr>
            <a:spLocks noChangeShapeType="1"/>
          </p:cNvSpPr>
          <p:nvPr/>
        </p:nvSpPr>
        <p:spPr bwMode="auto">
          <a:xfrm>
            <a:off x="2411999" y="5949000"/>
            <a:ext cx="1" cy="36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" name="Text Box 17"/>
          <p:cNvSpPr txBox="1">
            <a:spLocks noChangeArrowheads="1"/>
          </p:cNvSpPr>
          <p:nvPr/>
        </p:nvSpPr>
        <p:spPr bwMode="auto">
          <a:xfrm>
            <a:off x="1692000" y="630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1800" i="1" kern="0" dirty="0">
                <a:solidFill>
                  <a:srgbClr val="000000"/>
                </a:solidFill>
                <a:latin typeface="Times New Roman"/>
                <a:ea typeface="新細明體"/>
              </a:rPr>
              <a:t>t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7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277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16" name="Line 19"/>
          <p:cNvSpPr>
            <a:spLocks noChangeShapeType="1"/>
          </p:cNvSpPr>
          <p:nvPr/>
        </p:nvSpPr>
        <p:spPr bwMode="auto">
          <a:xfrm flipV="1">
            <a:off x="2772000" y="5949000"/>
            <a:ext cx="0" cy="36000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27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18" name="Line 19"/>
          <p:cNvSpPr>
            <a:spLocks noChangeShapeType="1"/>
          </p:cNvSpPr>
          <p:nvPr/>
        </p:nvSpPr>
        <p:spPr bwMode="auto">
          <a:xfrm flipV="1">
            <a:off x="2772000" y="5229000"/>
            <a:ext cx="0" cy="36000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9" name="Text Box 12"/>
          <p:cNvSpPr txBox="1">
            <a:spLocks noChangeArrowheads="1"/>
          </p:cNvSpPr>
          <p:nvPr/>
        </p:nvSpPr>
        <p:spPr bwMode="auto">
          <a:xfrm>
            <a:off x="277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20" name="Line 19"/>
          <p:cNvSpPr>
            <a:spLocks noChangeShapeType="1"/>
          </p:cNvSpPr>
          <p:nvPr/>
        </p:nvSpPr>
        <p:spPr bwMode="auto">
          <a:xfrm flipV="1">
            <a:off x="2772000" y="4509000"/>
            <a:ext cx="0" cy="36000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1" name="Text Box 12"/>
          <p:cNvSpPr txBox="1">
            <a:spLocks noChangeArrowheads="1"/>
          </p:cNvSpPr>
          <p:nvPr/>
        </p:nvSpPr>
        <p:spPr bwMode="auto">
          <a:xfrm>
            <a:off x="277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22" name="Line 19"/>
          <p:cNvSpPr>
            <a:spLocks noChangeShapeType="1"/>
          </p:cNvSpPr>
          <p:nvPr/>
        </p:nvSpPr>
        <p:spPr bwMode="auto">
          <a:xfrm flipV="1">
            <a:off x="2772000" y="3789000"/>
            <a:ext cx="0" cy="36000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pic>
        <p:nvPicPr>
          <p:cNvPr id="23" name="圖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000" y="3609000"/>
            <a:ext cx="4680000" cy="2965105"/>
          </a:xfrm>
          <a:prstGeom prst="rect">
            <a:avLst/>
          </a:prstGeom>
        </p:spPr>
      </p:pic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t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s-E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rc[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]&gt;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0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]+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])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][v] -=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[v][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3307777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dinic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d[t]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break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000" y="3609000"/>
            <a:ext cx="4680000" cy="2965105"/>
          </a:xfrm>
          <a:prstGeom prst="rect">
            <a:avLst/>
          </a:prstGeom>
        </p:spPr>
      </p:pic>
      <p:sp>
        <p:nvSpPr>
          <p:cNvPr id="5" name="內容版面配置區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t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s-E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rc[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]&gt;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0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]+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])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][v] -=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[v][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274870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000" y="3609000"/>
            <a:ext cx="4680000" cy="2965105"/>
          </a:xfrm>
          <a:prstGeom prst="rect">
            <a:avLst/>
          </a:prstGeom>
        </p:spPr>
      </p:pic>
      <p:sp>
        <p:nvSpPr>
          <p:cNvPr id="5" name="內容版面配置區 3"/>
          <p:cNvSpPr txBox="1">
            <a:spLocks/>
          </p:cNvSpPr>
          <p:nvPr/>
        </p:nvSpPr>
        <p:spPr bwMode="auto">
          <a:xfrm>
            <a:off x="432000" y="4689000"/>
            <a:ext cx="2880000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000" tIns="0" rIns="90000" bIns="72000" numCol="1" anchor="ctr" anchorCtr="1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/>
            <a:r>
              <a:rPr lang="en-US" altLang="zh-TW" sz="2800" kern="0" dirty="0">
                <a:solidFill>
                  <a:srgbClr val="0000FF"/>
                </a:solidFill>
              </a:rPr>
              <a:t>Layered Network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t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s-E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rc[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]&gt;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0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d[v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s-E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]+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pmrc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])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][v] -=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[v][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dinic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d[t]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</a:t>
            </a:r>
            <a:r>
              <a:rPr lang="en-US" altLang="zh-TW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c</a:t>
            </a:r>
            <a:r>
              <a:rPr lang="en-US" altLang="zh-TW" spc="600" dirty="0">
                <a:solidFill>
                  <a:srgbClr val="00000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break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mrc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94584254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7"/>
          <p:cNvSpPr txBox="1">
            <a:spLocks noChangeArrowheads="1"/>
          </p:cNvSpPr>
          <p:nvPr/>
        </p:nvSpPr>
        <p:spPr bwMode="auto">
          <a:xfrm>
            <a:off x="3852000" y="126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i="1" kern="0" dirty="0">
                <a:solidFill>
                  <a:srgbClr val="000000"/>
                </a:solidFill>
                <a:latin typeface="Times New Roman"/>
                <a:ea typeface="新細明體"/>
              </a:rPr>
              <a:t>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 </a:t>
            </a:r>
            <a:r>
              <a:rPr lang="en-US" altLang="zh-TW" sz="17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" name="Line 19"/>
          <p:cNvSpPr>
            <a:spLocks noChangeShapeType="1"/>
          </p:cNvSpPr>
          <p:nvPr/>
        </p:nvSpPr>
        <p:spPr bwMode="auto">
          <a:xfrm flipH="1">
            <a:off x="3671999" y="1629000"/>
            <a:ext cx="900000" cy="72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2952000" y="234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1800" kern="0" baseline="-25000" dirty="0" err="1">
                <a:solidFill>
                  <a:srgbClr val="000000"/>
                </a:solidFill>
                <a:latin typeface="Times New Roman"/>
                <a:ea typeface="新細明體"/>
              </a:rPr>
              <a:t>1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16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" name="Line 19"/>
          <p:cNvSpPr>
            <a:spLocks noChangeShapeType="1"/>
          </p:cNvSpPr>
          <p:nvPr/>
        </p:nvSpPr>
        <p:spPr bwMode="auto">
          <a:xfrm>
            <a:off x="3672001" y="2709000"/>
            <a:ext cx="0" cy="54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2952000" y="324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1800" kern="0" baseline="-25000" dirty="0" err="1">
                <a:solidFill>
                  <a:srgbClr val="000000"/>
                </a:solidFill>
                <a:latin typeface="Times New Roman"/>
                <a:ea typeface="新細明體"/>
              </a:rPr>
              <a:t>3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12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" name="Line 19"/>
          <p:cNvSpPr>
            <a:spLocks noChangeShapeType="1"/>
          </p:cNvSpPr>
          <p:nvPr/>
        </p:nvSpPr>
        <p:spPr bwMode="auto">
          <a:xfrm>
            <a:off x="3672001" y="3609000"/>
            <a:ext cx="0" cy="54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2952000" y="414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i="1" kern="0" dirty="0">
                <a:solidFill>
                  <a:srgbClr val="000000"/>
                </a:solidFill>
                <a:latin typeface="Times New Roman"/>
                <a:ea typeface="新細明體"/>
              </a:rPr>
              <a:t>t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12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" name="Line 19"/>
          <p:cNvSpPr>
            <a:spLocks noChangeShapeType="1"/>
          </p:cNvSpPr>
          <p:nvPr/>
        </p:nvSpPr>
        <p:spPr bwMode="auto">
          <a:xfrm>
            <a:off x="4572001" y="1629000"/>
            <a:ext cx="899999" cy="72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4752000" y="234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1800" kern="0" baseline="-25000" dirty="0" err="1">
                <a:solidFill>
                  <a:srgbClr val="000000"/>
                </a:solidFill>
                <a:latin typeface="Times New Roman"/>
                <a:ea typeface="新細明體"/>
              </a:rPr>
              <a:t>2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13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" name="Line 19"/>
          <p:cNvSpPr>
            <a:spLocks noChangeShapeType="1"/>
          </p:cNvSpPr>
          <p:nvPr/>
        </p:nvSpPr>
        <p:spPr bwMode="auto">
          <a:xfrm flipH="1">
            <a:off x="5472000" y="2709000"/>
            <a:ext cx="1" cy="54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" name="Text Box 17"/>
          <p:cNvSpPr txBox="1">
            <a:spLocks noChangeArrowheads="1"/>
          </p:cNvSpPr>
          <p:nvPr/>
        </p:nvSpPr>
        <p:spPr bwMode="auto">
          <a:xfrm>
            <a:off x="4752000" y="324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sz="1800" kern="0" baseline="-25000" dirty="0" err="1">
                <a:solidFill>
                  <a:srgbClr val="000000"/>
                </a:solidFill>
                <a:latin typeface="Times New Roman"/>
                <a:ea typeface="新細明體"/>
              </a:rPr>
              <a:t>4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13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4" name="Line 19"/>
          <p:cNvSpPr>
            <a:spLocks noChangeShapeType="1"/>
          </p:cNvSpPr>
          <p:nvPr/>
        </p:nvSpPr>
        <p:spPr bwMode="auto">
          <a:xfrm>
            <a:off x="5472001" y="3609000"/>
            <a:ext cx="0" cy="54000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4752000" y="4149000"/>
            <a:ext cx="1440000" cy="3600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kern="0" dirty="0" err="1">
                <a:solidFill>
                  <a:srgbClr val="000000"/>
                </a:solidFill>
                <a:latin typeface="Times New Roman"/>
                <a:ea typeface="標楷體"/>
              </a:rPr>
              <a:t>dfs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(</a:t>
            </a:r>
            <a:r>
              <a:rPr lang="en-US" altLang="zh-TW" sz="1800" i="1" kern="0" dirty="0">
                <a:solidFill>
                  <a:srgbClr val="000000"/>
                </a:solidFill>
                <a:latin typeface="Times New Roman"/>
                <a:ea typeface="新細明體"/>
              </a:rPr>
              <a:t>t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新細明體"/>
              </a:rPr>
              <a:t>, </a:t>
            </a:r>
            <a:r>
              <a:rPr lang="en-US" altLang="zh-TW" sz="18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4</a:t>
            </a:r>
            <a:r>
              <a:rPr lang="en-US" altLang="zh-TW" sz="1800" kern="0" dirty="0">
                <a:solidFill>
                  <a:srgbClr val="000000"/>
                </a:solidFill>
                <a:latin typeface="Times New Roman"/>
                <a:ea typeface="標楷體"/>
              </a:rPr>
              <a:t>)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178618335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/>
              <a:t>The time complexity of </a:t>
            </a:r>
            <a:r>
              <a:rPr lang="en-US" altLang="zh-TW" sz="4000" dirty="0" err="1"/>
              <a:t>Dinic's</a:t>
            </a:r>
            <a:r>
              <a:rPr lang="en-US" altLang="zh-TW" sz="4000" dirty="0"/>
              <a:t> algorithm</a:t>
            </a:r>
            <a:endParaRPr lang="zh-TW" altLang="en-US" sz="4000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32000" y="1269000"/>
            <a:ext cx="8280000" cy="1260000"/>
          </a:xfrm>
        </p:spPr>
        <p:txBody>
          <a:bodyPr/>
          <a:lstStyle/>
          <a:p>
            <a:pPr marL="0" indent="0">
              <a:spcBef>
                <a:spcPts val="2400"/>
              </a:spcBef>
            </a:pPr>
            <a:r>
              <a:rPr lang="en-US" altLang="zh-TW" sz="2200" b="1" i="1" dirty="0">
                <a:solidFill>
                  <a:srgbClr val="0000FF"/>
                </a:solidFill>
              </a:rPr>
              <a:t>Theorem</a:t>
            </a:r>
          </a:p>
          <a:p>
            <a:pPr marL="0" indent="0"/>
            <a:r>
              <a:rPr lang="en-US" altLang="zh-TW" dirty="0"/>
              <a:t>The worst-case time complexity of </a:t>
            </a:r>
            <a:r>
              <a:rPr lang="en-US" altLang="zh-TW" dirty="0" err="1"/>
              <a:t>Dinic's</a:t>
            </a:r>
            <a:r>
              <a:rPr lang="en-US" altLang="zh-TW" dirty="0"/>
              <a:t> </a:t>
            </a:r>
            <a:r>
              <a:rPr lang="en-US" altLang="zh-TW" sz="2200" dirty="0"/>
              <a:t>algorithm is </a:t>
            </a:r>
            <a:r>
              <a:rPr lang="en-US" altLang="zh-TW" sz="2200" i="1" dirty="0">
                <a:solidFill>
                  <a:srgbClr val="000000"/>
                </a:solidFill>
              </a:rPr>
              <a:t>O</a:t>
            </a:r>
            <a:r>
              <a:rPr lang="en-US" altLang="zh-TW" sz="2200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m</a:t>
            </a:r>
            <a:r>
              <a:rPr lang="en-US" altLang="zh-TW" sz="2200" i="1" dirty="0" err="1">
                <a:solidFill>
                  <a:srgbClr val="000000"/>
                </a:solidFill>
              </a:rPr>
              <a:t>n</a:t>
            </a:r>
            <a:r>
              <a:rPr lang="en-US" altLang="zh-TW" sz="2200" spc="300" baseline="30000" dirty="0" err="1">
                <a:solidFill>
                  <a:srgbClr val="000000"/>
                </a:solidFill>
              </a:rPr>
              <a:t>2</a:t>
            </a:r>
            <a:r>
              <a:rPr lang="en-US" altLang="zh-TW" sz="2200" dirty="0">
                <a:solidFill>
                  <a:srgbClr val="000000"/>
                </a:solidFill>
              </a:rPr>
              <a:t>)</a:t>
            </a:r>
            <a:r>
              <a:rPr lang="en-US" altLang="zh-TW" dirty="0">
                <a:solidFill>
                  <a:srgbClr val="000000"/>
                </a:solidFill>
              </a:rPr>
              <a:t>, where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i="1" spc="200" dirty="0">
                <a:solidFill>
                  <a:srgbClr val="000000"/>
                </a:solidFill>
              </a:rPr>
              <a:t>V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 and </a:t>
            </a:r>
            <a:r>
              <a:rPr lang="en-US" altLang="zh-TW" i="1" dirty="0">
                <a:solidFill>
                  <a:srgbClr val="000000"/>
                </a:solidFill>
              </a:rPr>
              <a:t>m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i="1" spc="200" dirty="0">
                <a:solidFill>
                  <a:srgbClr val="000000"/>
                </a:solidFill>
              </a:rPr>
              <a:t>E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sz="2200" dirty="0">
                <a:solidFill>
                  <a:srgbClr val="000000"/>
                </a:solidFill>
              </a:rPr>
              <a:t>.</a:t>
            </a:r>
            <a:endParaRPr lang="zh-TW" altLang="en-US" sz="2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9033322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2067117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Minimum Cut 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2000" y="1269000"/>
            <a:ext cx="8640000" cy="3780000"/>
          </a:xfrm>
        </p:spPr>
        <p:txBody>
          <a:bodyPr/>
          <a:lstStyle/>
          <a:p>
            <a:pPr marL="0" indent="0"/>
            <a:r>
              <a:rPr lang="en-US" altLang="zh-TW" dirty="0"/>
              <a:t>A </a:t>
            </a:r>
            <a:r>
              <a:rPr lang="en-US" altLang="zh-TW" i="1" dirty="0">
                <a:solidFill>
                  <a:srgbClr val="0000FF"/>
                </a:solidFill>
              </a:rPr>
              <a:t>minimum cut</a:t>
            </a:r>
            <a:r>
              <a:rPr lang="en-US" altLang="zh-TW" dirty="0"/>
              <a:t> of a network is a cut whose capacity is minimum over all cuts of the network.</a:t>
            </a:r>
          </a:p>
          <a:p>
            <a:pPr marL="0" indent="0"/>
            <a:endParaRPr lang="en-US" altLang="zh-TW" dirty="0"/>
          </a:p>
          <a:p>
            <a:pPr marL="0" indent="0"/>
            <a:r>
              <a:rPr lang="en-US" altLang="zh-TW" dirty="0">
                <a:solidFill>
                  <a:srgbClr val="000000"/>
                </a:solidFill>
              </a:rPr>
              <a:t>In the </a:t>
            </a:r>
            <a:r>
              <a:rPr lang="en-US" altLang="zh-TW" i="1" dirty="0">
                <a:solidFill>
                  <a:srgbClr val="0000FF"/>
                </a:solidFill>
              </a:rPr>
              <a:t>minimum cut problem</a:t>
            </a:r>
            <a:r>
              <a:rPr lang="en-US" altLang="zh-TW" dirty="0">
                <a:solidFill>
                  <a:srgbClr val="000000"/>
                </a:solidFill>
              </a:rPr>
              <a:t>, we are given a flow network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 with source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and sink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, and we wish to find a minimum cut in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.</a:t>
            </a:r>
          </a:p>
          <a:p>
            <a:pPr marL="0" indent="0">
              <a:spcBef>
                <a:spcPts val="500"/>
              </a:spcBef>
            </a:pPr>
            <a:endParaRPr lang="en-US" altLang="zh-TW" dirty="0">
              <a:solidFill>
                <a:srgbClr val="000000"/>
              </a:solidFill>
            </a:endParaRPr>
          </a:p>
          <a:p>
            <a:pPr marL="0" indent="0">
              <a:spcBef>
                <a:spcPts val="500"/>
              </a:spcBef>
            </a:pPr>
            <a:endParaRPr lang="en-US" altLang="zh-TW" dirty="0">
              <a:solidFill>
                <a:srgbClr val="000000"/>
              </a:solidFill>
            </a:endParaRPr>
          </a:p>
          <a:p>
            <a:pPr marL="0" indent="0">
              <a:spcBef>
                <a:spcPts val="400"/>
              </a:spcBef>
            </a:pPr>
            <a:endParaRPr lang="en-US" altLang="zh-TW" dirty="0">
              <a:solidFill>
                <a:srgbClr val="000000"/>
              </a:solidFill>
            </a:endParaRPr>
          </a:p>
          <a:p>
            <a:pPr marL="88900" lvl="0" indent="0" eaLnBrk="1" hangingPunct="1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The </a:t>
            </a:r>
            <a:r>
              <a:rPr lang="en-US" altLang="zh-TW" i="1" dirty="0">
                <a:solidFill>
                  <a:srgbClr val="0000FF"/>
                </a:solidFill>
                <a:latin typeface="Times New Roman" pitchFamily="18" charset="0"/>
                <a:ea typeface="新細明體" pitchFamily="18" charset="-120"/>
              </a:rPr>
              <a:t>capacity</a:t>
            </a:r>
            <a:r>
              <a:rPr lang="en-US" altLang="zh-TW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of the cut (</a:t>
            </a:r>
            <a:r>
              <a:rPr lang="en-US" altLang="zh-TW" i="1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T</a:t>
            </a:r>
            <a:r>
              <a:rPr lang="en-US" altLang="zh-TW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) is</a:t>
            </a:r>
          </a:p>
        </p:txBody>
      </p:sp>
      <p:graphicFrame>
        <p:nvGraphicFramePr>
          <p:cNvPr id="5" name="物件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9092738"/>
              </p:ext>
            </p:extLst>
          </p:nvPr>
        </p:nvGraphicFramePr>
        <p:xfrm>
          <a:off x="4032000" y="4329000"/>
          <a:ext cx="2772000" cy="6817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方程式" r:id="rId3" imgW="1396800" imgH="342720" progId="Equation.3">
                  <p:embed/>
                </p:oleObj>
              </mc:Choice>
              <mc:Fallback>
                <p:oleObj name="方程式" r:id="rId3" imgW="1396800" imgH="342720" progId="Equation.3">
                  <p:embed/>
                  <p:pic>
                    <p:nvPicPr>
                      <p:cNvPr id="2" name="物件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000" y="4329000"/>
                        <a:ext cx="2772000" cy="6817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17875036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idx="1"/>
          </p:nvPr>
        </p:nvSpPr>
        <p:spPr>
          <a:xfrm>
            <a:off x="612000" y="549000"/>
            <a:ext cx="7920000" cy="1800000"/>
          </a:xfrm>
        </p:spPr>
        <p:txBody>
          <a:bodyPr/>
          <a:lstStyle/>
          <a:p>
            <a:pPr marL="0" indent="0" eaLnBrk="1" hangingPunct="1">
              <a:tabLst>
                <a:tab pos="542925" algn="l"/>
              </a:tabLst>
            </a:pPr>
            <a:r>
              <a:rPr lang="en-US" altLang="zh-TW" sz="2200" b="1" i="1" dirty="0">
                <a:solidFill>
                  <a:srgbClr val="0000FF"/>
                </a:solidFill>
              </a:rPr>
              <a:t>Theorem 4</a:t>
            </a:r>
            <a:r>
              <a:rPr lang="en-US" altLang="zh-TW" sz="2200" b="1" dirty="0">
                <a:solidFill>
                  <a:srgbClr val="0000FF"/>
                </a:solidFill>
              </a:rPr>
              <a:t> (</a:t>
            </a:r>
            <a:r>
              <a:rPr lang="en-US" altLang="zh-TW" sz="2200" b="1" i="1" dirty="0">
                <a:solidFill>
                  <a:srgbClr val="0000FF"/>
                </a:solidFill>
              </a:rPr>
              <a:t>Max-flow min-cut theorem</a:t>
            </a:r>
            <a:r>
              <a:rPr lang="en-US" altLang="zh-TW" sz="2200" b="1" dirty="0">
                <a:solidFill>
                  <a:srgbClr val="0000FF"/>
                </a:solidFill>
              </a:rPr>
              <a:t>)</a:t>
            </a:r>
          </a:p>
          <a:p>
            <a:pPr marL="0" indent="0" eaLnBrk="1" hangingPunct="1">
              <a:spcBef>
                <a:spcPts val="600"/>
              </a:spcBef>
              <a:tabLst>
                <a:tab pos="542925" algn="l"/>
              </a:tabLst>
            </a:pPr>
            <a:r>
              <a:rPr lang="en-US" altLang="zh-TW" sz="2200" dirty="0"/>
              <a:t>Let</a:t>
            </a:r>
            <a:r>
              <a:rPr lang="en-US" altLang="zh-TW" sz="2200" spc="300" dirty="0"/>
              <a:t> </a:t>
            </a:r>
            <a:r>
              <a:rPr lang="en-US" altLang="zh-TW" sz="2200" i="1" dirty="0"/>
              <a:t>f</a:t>
            </a:r>
            <a:r>
              <a:rPr lang="en-US" altLang="zh-TW" sz="2200" spc="300" dirty="0"/>
              <a:t> </a:t>
            </a:r>
            <a:r>
              <a:rPr lang="en-US" altLang="zh-TW" sz="2200" dirty="0"/>
              <a:t>be a flow in a flow network </a:t>
            </a:r>
            <a:r>
              <a:rPr lang="en-US" altLang="zh-TW" sz="2200" i="1" dirty="0"/>
              <a:t>G</a:t>
            </a:r>
            <a:r>
              <a:rPr lang="en-US" altLang="zh-TW" sz="2200" dirty="0"/>
              <a:t> </a:t>
            </a:r>
            <a:r>
              <a:rPr lang="en-US" altLang="zh-TW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/>
              <a:t> (</a:t>
            </a:r>
            <a:r>
              <a:rPr lang="en-US" altLang="zh-TW" sz="2200" i="1" dirty="0"/>
              <a:t>V</a:t>
            </a:r>
            <a:r>
              <a:rPr lang="en-US" altLang="zh-TW" sz="2200" dirty="0"/>
              <a:t>, </a:t>
            </a:r>
            <a:r>
              <a:rPr lang="en-US" altLang="zh-TW" sz="2200" i="1" spc="300" dirty="0"/>
              <a:t>E</a:t>
            </a:r>
            <a:r>
              <a:rPr lang="en-US" altLang="zh-TW" sz="2200" dirty="0"/>
              <a:t>) with source </a:t>
            </a:r>
            <a:r>
              <a:rPr lang="en-US" altLang="zh-TW" sz="2200" i="1" dirty="0"/>
              <a:t>s</a:t>
            </a:r>
            <a:r>
              <a:rPr lang="en-US" altLang="zh-TW" sz="2200" dirty="0"/>
              <a:t> and sink </a:t>
            </a:r>
            <a:r>
              <a:rPr lang="en-US" altLang="zh-TW" sz="2200" i="1" dirty="0"/>
              <a:t>t</a:t>
            </a:r>
            <a:r>
              <a:rPr lang="en-US" altLang="zh-TW" sz="2200" dirty="0"/>
              <a:t>. If the residual network </a:t>
            </a:r>
            <a:r>
              <a:rPr lang="en-US" altLang="zh-TW" sz="2200" i="1" dirty="0"/>
              <a:t>R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100" dirty="0">
                <a:solidFill>
                  <a:srgbClr val="000000"/>
                </a:solidFill>
              </a:rPr>
              <a:t>E</a:t>
            </a:r>
            <a:r>
              <a:rPr lang="en-US" altLang="zh-TW" spc="1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sz="2200" i="1" dirty="0"/>
              <a:t> </a:t>
            </a:r>
            <a:r>
              <a:rPr lang="en-US" altLang="zh-TW" sz="2200" dirty="0">
                <a:sym typeface="Symbol" pitchFamily="18" charset="2"/>
              </a:rPr>
              <a:t>contains no paths from </a:t>
            </a:r>
            <a:r>
              <a:rPr lang="en-US" altLang="zh-TW" sz="2200" i="1" dirty="0">
                <a:sym typeface="Symbol" pitchFamily="18" charset="2"/>
              </a:rPr>
              <a:t>s</a:t>
            </a:r>
            <a:r>
              <a:rPr lang="en-US" altLang="zh-TW" sz="2200" dirty="0">
                <a:sym typeface="Symbol" pitchFamily="18" charset="2"/>
              </a:rPr>
              <a:t> to </a:t>
            </a:r>
            <a:r>
              <a:rPr lang="en-US" altLang="zh-TW" sz="2200" i="1" dirty="0">
                <a:sym typeface="Symbol" pitchFamily="18" charset="2"/>
              </a:rPr>
              <a:t>t</a:t>
            </a:r>
            <a:r>
              <a:rPr lang="en-US" altLang="zh-TW" sz="2200" dirty="0"/>
              <a:t>, and let 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) be the </a:t>
            </a:r>
            <a:r>
              <a:rPr lang="en-US" altLang="zh-TW" dirty="0"/>
              <a:t>critical cut</a:t>
            </a:r>
            <a:r>
              <a:rPr lang="en-US" altLang="zh-TW" dirty="0">
                <a:solidFill>
                  <a:srgbClr val="000000"/>
                </a:solidFill>
              </a:rPr>
              <a:t> with respect to </a:t>
            </a:r>
            <a:r>
              <a:rPr lang="en-US" altLang="zh-TW" i="1" spc="1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,</a:t>
            </a:r>
            <a:r>
              <a:rPr lang="en-US" altLang="zh-TW" sz="2200" dirty="0"/>
              <a:t> then</a:t>
            </a:r>
            <a:r>
              <a:rPr lang="en-US" altLang="zh-TW" sz="2200" spc="300" dirty="0"/>
              <a:t> </a:t>
            </a:r>
            <a:r>
              <a:rPr lang="en-US" altLang="zh-TW" sz="2200" i="1" dirty="0"/>
              <a:t>f</a:t>
            </a:r>
            <a:r>
              <a:rPr lang="en-US" altLang="zh-TW" sz="2200" dirty="0"/>
              <a:t>  is a maximum flow in </a:t>
            </a:r>
            <a:r>
              <a:rPr lang="en-US" altLang="zh-TW" sz="2200" i="1" dirty="0"/>
              <a:t>G</a:t>
            </a:r>
            <a:r>
              <a:rPr lang="en-US" altLang="zh-TW" dirty="0">
                <a:solidFill>
                  <a:srgbClr val="000000"/>
                </a:solidFill>
              </a:rPr>
              <a:t> and (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) is a minimum cut in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/>
              <a:t>.</a:t>
            </a:r>
            <a:endParaRPr lang="en-US" altLang="zh-TW" sz="2200" dirty="0"/>
          </a:p>
        </p:txBody>
      </p:sp>
    </p:spTree>
    <p:extLst>
      <p:ext uri="{BB962C8B-B14F-4D97-AF65-F5344CB8AC3E}">
        <p14:creationId xmlns:p14="http://schemas.microsoft.com/office/powerpoint/2010/main" val="2019657881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idx="1"/>
          </p:nvPr>
        </p:nvSpPr>
        <p:spPr>
          <a:xfrm>
            <a:off x="432000" y="548641"/>
            <a:ext cx="8280000" cy="5760359"/>
          </a:xfrm>
        </p:spPr>
        <p:txBody>
          <a:bodyPr lIns="90000" tIns="0" rIns="90000"/>
          <a:lstStyle/>
          <a:p>
            <a:pPr marL="0" lvl="0" indent="0" eaLnBrk="1" hangingPunct="1">
              <a:spcBef>
                <a:spcPts val="600"/>
              </a:spcBef>
              <a:spcAft>
                <a:spcPts val="0"/>
              </a:spcAft>
              <a:buClr>
                <a:srgbClr val="3333CC"/>
              </a:buClr>
              <a:tabLst>
                <a:tab pos="753745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Hence</a:t>
            </a:r>
            <a:r>
              <a:rPr lang="en-US" altLang="zh-TW" spc="300" dirty="0">
                <a:solidFill>
                  <a:srgbClr val="000000"/>
                </a:solidFill>
              </a:rPr>
              <a:t> </a:t>
            </a:r>
            <a:r>
              <a:rPr lang="en-US" altLang="zh-TW" i="1" spc="3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i="1" dirty="0">
                <a:solidFill>
                  <a:srgbClr val="000000"/>
                </a:solidFill>
              </a:rPr>
              <a:t> 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).</a:t>
            </a:r>
          </a:p>
          <a:p>
            <a:pPr marL="0" indent="0" eaLnBrk="1" hangingPunct="1">
              <a:spcBef>
                <a:spcPts val="600"/>
              </a:spcBef>
              <a:spcAft>
                <a:spcPts val="0"/>
              </a:spcAft>
              <a:buClr>
                <a:srgbClr val="3333CC"/>
              </a:buClr>
              <a:tabLst>
                <a:tab pos="7537450" algn="l"/>
              </a:tabLst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By </a:t>
            </a:r>
            <a:r>
              <a:rPr lang="en-US" altLang="zh-TW" dirty="0">
                <a:solidFill>
                  <a:srgbClr val="000000"/>
                </a:solidFill>
              </a:rPr>
              <a:t>Lemma 1, </a:t>
            </a:r>
            <a:r>
              <a:rPr lang="en-US" altLang="zh-TW" i="1" spc="3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f 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, it follows that 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f 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i="1" dirty="0">
                <a:solidFill>
                  <a:srgbClr val="000000"/>
                </a:solidFill>
              </a:rPr>
              <a:t> 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).</a:t>
            </a:r>
          </a:p>
          <a:p>
            <a:pPr marL="0" lvl="0" indent="0" eaLnBrk="1" hangingPunct="1">
              <a:spcBef>
                <a:spcPts val="600"/>
              </a:spcBef>
              <a:spcAft>
                <a:spcPts val="0"/>
              </a:spcAft>
              <a:buClr>
                <a:srgbClr val="3333CC"/>
              </a:buClr>
              <a:tabLst>
                <a:tab pos="753745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Let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 be any flow in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.</a:t>
            </a:r>
          </a:p>
          <a:p>
            <a:pPr marL="0" lvl="0" indent="0" eaLnBrk="1" hangingPunct="1">
              <a:spcBef>
                <a:spcPts val="600"/>
              </a:spcBef>
              <a:spcAft>
                <a:spcPts val="0"/>
              </a:spcAft>
              <a:buClr>
                <a:srgbClr val="3333CC"/>
              </a:buClr>
              <a:tabLst>
                <a:tab pos="7537450" algn="l"/>
              </a:tabLst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By Lemma 2, </a:t>
            </a:r>
            <a:r>
              <a:rPr lang="en-US" altLang="zh-TW" b="1" spc="300" dirty="0">
                <a:solidFill>
                  <a:srgbClr val="000000"/>
                </a:solidFill>
              </a:rPr>
              <a:t>|</a:t>
            </a:r>
            <a:r>
              <a:rPr lang="en-US" altLang="zh-TW" i="1" spc="300" dirty="0">
                <a:solidFill>
                  <a:srgbClr val="000000"/>
                </a:solidFill>
              </a:rPr>
              <a:t>g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≤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), and t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hus </a:t>
            </a:r>
            <a:r>
              <a:rPr lang="en-US" altLang="zh-TW" b="1" spc="300" dirty="0">
                <a:solidFill>
                  <a:srgbClr val="000000"/>
                </a:solidFill>
              </a:rPr>
              <a:t>|</a:t>
            </a:r>
            <a:r>
              <a:rPr lang="en-US" altLang="zh-TW" i="1" spc="300" dirty="0">
                <a:solidFill>
                  <a:srgbClr val="000000"/>
                </a:solidFill>
              </a:rPr>
              <a:t>g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≤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f 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.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600"/>
              </a:spcBef>
              <a:spcAft>
                <a:spcPts val="0"/>
              </a:spcAft>
              <a:buClr>
                <a:srgbClr val="3333CC"/>
              </a:buClr>
              <a:tabLst>
                <a:tab pos="7537450" algn="l"/>
              </a:tabLst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Therefore</a:t>
            </a:r>
            <a:r>
              <a:rPr lang="en-US" altLang="zh-TW" spc="3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  is a maximum flow in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.</a:t>
            </a:r>
          </a:p>
          <a:p>
            <a:pPr marL="0" lvl="0" indent="0" eaLnBrk="1" hangingPunct="1">
              <a:spcBef>
                <a:spcPts val="600"/>
              </a:spcBef>
              <a:spcAft>
                <a:spcPts val="0"/>
              </a:spcAft>
              <a:buClr>
                <a:srgbClr val="3333CC"/>
              </a:buClr>
              <a:tabLst>
                <a:tab pos="7537450" algn="l"/>
              </a:tabLst>
            </a:pP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600"/>
              </a:spcBef>
              <a:spcAft>
                <a:spcPts val="0"/>
              </a:spcAft>
              <a:buClr>
                <a:srgbClr val="3333CC"/>
              </a:buClr>
              <a:tabLst>
                <a:tab pos="753745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Let (</a:t>
            </a:r>
            <a:r>
              <a:rPr lang="en-US" altLang="zh-TW" i="1" spc="1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2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>
                <a:solidFill>
                  <a:srgbClr val="000000"/>
                </a:solidFill>
              </a:rPr>
              <a:t>) be any cut of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.</a:t>
            </a:r>
          </a:p>
          <a:p>
            <a:pPr marL="0" lvl="0" indent="0" eaLnBrk="1" hangingPunct="1">
              <a:spcBef>
                <a:spcPts val="600"/>
              </a:spcBef>
              <a:spcAft>
                <a:spcPts val="0"/>
              </a:spcAft>
              <a:buClr>
                <a:srgbClr val="3333CC"/>
              </a:buClr>
              <a:tabLst>
                <a:tab pos="7537450" algn="l"/>
              </a:tabLst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By Lemma 2, 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f 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≤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1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2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>
                <a:solidFill>
                  <a:srgbClr val="000000"/>
                </a:solidFill>
              </a:rPr>
              <a:t>), and t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hus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≤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1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2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>
                <a:solidFill>
                  <a:srgbClr val="000000"/>
                </a:solidFill>
              </a:rPr>
              <a:t>).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600"/>
              </a:spcBef>
              <a:spcAft>
                <a:spcPts val="0"/>
              </a:spcAft>
              <a:buClr>
                <a:srgbClr val="3333CC"/>
              </a:buClr>
              <a:tabLst>
                <a:tab pos="7537450" algn="l"/>
              </a:tabLst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Therefore 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) is a minimum cut in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.</a:t>
            </a:r>
          </a:p>
          <a:p>
            <a:pPr marL="0" lvl="0" indent="0" eaLnBrk="1" hangingPunct="1">
              <a:spcBef>
                <a:spcPts val="600"/>
              </a:spcBef>
              <a:spcAft>
                <a:spcPts val="0"/>
              </a:spcAft>
              <a:buClr>
                <a:srgbClr val="3333CC"/>
              </a:buClr>
              <a:tabLst>
                <a:tab pos="7537450" algn="l"/>
              </a:tabLst>
            </a:pP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tabLst>
                <a:tab pos="1704975" algn="l"/>
              </a:tabLst>
            </a:pPr>
            <a:r>
              <a:rPr lang="en-US" altLang="zh-TW" b="1" i="1" dirty="0">
                <a:solidFill>
                  <a:srgbClr val="0000FF"/>
                </a:solidFill>
              </a:rPr>
              <a:t>Lemma 1</a:t>
            </a:r>
            <a:r>
              <a:rPr lang="en-US" altLang="zh-TW" dirty="0">
                <a:solidFill>
                  <a:srgbClr val="000000"/>
                </a:solidFill>
              </a:rPr>
              <a:t>  Let</a:t>
            </a:r>
            <a:r>
              <a:rPr lang="en-US" altLang="zh-TW" spc="300" dirty="0">
                <a:solidFill>
                  <a:srgbClr val="000000"/>
                </a:solidFill>
              </a:rPr>
              <a:t> </a:t>
            </a:r>
            <a:r>
              <a:rPr lang="en-US" altLang="zh-TW" i="1" spc="300" dirty="0">
                <a:solidFill>
                  <a:srgbClr val="000000"/>
                </a:solidFill>
              </a:rPr>
              <a:t>f</a:t>
            </a:r>
            <a:r>
              <a:rPr lang="en-US" altLang="zh-TW" spc="300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be a flow in a flow network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 with source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and sink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, and let (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) be any cut of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. Then, </a:t>
            </a:r>
            <a:r>
              <a:rPr lang="en-US" altLang="zh-TW" i="1" spc="3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f 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.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</a:pP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</a:pPr>
            <a:r>
              <a:rPr lang="en-US" altLang="zh-TW" b="1" i="1" dirty="0">
                <a:solidFill>
                  <a:srgbClr val="0000FF"/>
                </a:solidFill>
              </a:rPr>
              <a:t>Lemma 2</a:t>
            </a:r>
            <a:r>
              <a:rPr lang="en-US" altLang="zh-TW" dirty="0">
                <a:solidFill>
                  <a:srgbClr val="000000"/>
                </a:solidFill>
              </a:rPr>
              <a:t>  Let</a:t>
            </a:r>
            <a:r>
              <a:rPr lang="en-US" altLang="zh-TW" spc="300" dirty="0">
                <a:solidFill>
                  <a:srgbClr val="000000"/>
                </a:solidFill>
              </a:rPr>
              <a:t> </a:t>
            </a:r>
            <a:r>
              <a:rPr lang="en-US" altLang="zh-TW" i="1" spc="300" dirty="0">
                <a:solidFill>
                  <a:srgbClr val="000000"/>
                </a:solidFill>
              </a:rPr>
              <a:t>f</a:t>
            </a:r>
            <a:r>
              <a:rPr lang="en-US" altLang="zh-TW" spc="300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be a flow in a flow network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 with source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and sink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, and let (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) be any cut of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. Then, 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f 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≤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891368389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1074" name="Rectangle 2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32000" y="548641"/>
                <a:ext cx="8280000" cy="5760359"/>
              </a:xfrm>
            </p:spPr>
            <p:txBody>
              <a:bodyPr lIns="90000" tIns="0" rIns="90000"/>
              <a:lstStyle/>
              <a:p>
                <a:pPr marL="1079500" lvl="0" indent="0" eaLnBrk="1" hangingPunct="1">
                  <a:spcBef>
                    <a:spcPts val="600"/>
                  </a:spcBef>
                  <a:buClr>
                    <a:srgbClr val="3333CC"/>
                  </a:buClr>
                  <a:tabLst>
                    <a:tab pos="7537450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i="1" spc="300" dirty="0">
                          <a:solidFill>
                            <a:srgbClr val="000000"/>
                          </a:solidFill>
                        </a:rPr>
                        <m:t>f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TW" i="1" dirty="0">
                          <a:solidFill>
                            <a:srgbClr val="000000"/>
                          </a:solidFill>
                        </a:rPr>
                        <m:t>S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, </m:t>
                      </m:r>
                      <m:r>
                        <m:rPr>
                          <m:nor/>
                        </m:rPr>
                        <a:rPr lang="en-US" altLang="zh-TW" i="1" spc="300" dirty="0">
                          <a:solidFill>
                            <a:srgbClr val="000000"/>
                          </a:solidFill>
                        </a:rPr>
                        <m:t>T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)</m:t>
                      </m:r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400" i="1" spc="100" dirty="0">
                              <a:solidFill>
                                <a:srgbClr val="000000"/>
                              </a:solidFill>
                            </a:rPr>
                            <m:t>u</m:t>
                          </m:r>
                          <m:r>
                            <m:rPr>
                              <m:nor/>
                            </m:rPr>
                            <a:rPr lang="en-US" altLang="zh-TW" sz="1400" spc="1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en-US" altLang="zh-TW" sz="1400" i="1" dirty="0">
                              <a:solidFill>
                                <a:srgbClr val="000000"/>
                              </a:solidFill>
                              <a:sym typeface="Symbol" pitchFamily="18" charset="2"/>
                            </a:rPr>
                            <m:t>S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altLang="zh-TW" sz="1400" i="1" spc="100" dirty="0">
                                  <a:solidFill>
                                    <a:srgbClr val="000000"/>
                                  </a:solidFill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en-US" altLang="zh-TW" sz="1400" spc="1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nor/>
                                </m:rPr>
                                <a:rPr lang="en-US" altLang="zh-TW" sz="1400" i="1" dirty="0">
                                  <a:solidFill>
                                    <a:srgbClr val="000000"/>
                                  </a:solidFill>
                                  <a:sym typeface="Symbol" pitchFamily="18" charset="2"/>
                                </a:rPr>
                                <m:t>T</m:t>
                              </m:r>
                            </m:sub>
                            <m:sup/>
                            <m:e>
                              <m:r>
                                <m:rPr>
                                  <m:nor/>
                                </m:rPr>
                                <a:rPr lang="en-US" altLang="zh-TW" i="1" spc="300" dirty="0">
                                  <a:solidFill>
                                    <a:srgbClr val="000000"/>
                                  </a:solidFill>
                                </a:rPr>
                                <m:t>f</m:t>
                              </m:r>
                              <m:r>
                                <m:rPr>
                                  <m:nor/>
                                </m:rPr>
                                <a:rPr lang="en-US" altLang="zh-TW" dirty="0">
                                  <a:solidFill>
                                    <a:srgbClr val="000000"/>
                                  </a:solidFill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i="1" dirty="0">
                                  <a:solidFill>
                                    <a:srgbClr val="000000"/>
                                  </a:solidFill>
                                </a:rPr>
                                <m:t>u</m:t>
                              </m:r>
                              <m:r>
                                <m:rPr>
                                  <m:nor/>
                                </m:rPr>
                                <a:rPr lang="en-US" altLang="zh-TW" dirty="0">
                                  <a:solidFill>
                                    <a:srgbClr val="000000"/>
                                  </a:solidFill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en-US" altLang="zh-TW" i="1" dirty="0">
                                  <a:solidFill>
                                    <a:srgbClr val="000000"/>
                                  </a:solidFill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en-US" altLang="zh-TW" dirty="0">
                                  <a:solidFill>
                                    <a:srgbClr val="000000"/>
                                  </a:solidFill>
                                </a:rPr>
                                <m:t>)</m:t>
                              </m:r>
                            </m:e>
                          </m:nary>
                        </m:e>
                      </m:nary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400" i="1" spc="100" dirty="0">
                              <a:solidFill>
                                <a:srgbClr val="000000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sz="1400" spc="1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en-US" altLang="zh-TW" sz="1400" i="1" dirty="0">
                              <a:solidFill>
                                <a:srgbClr val="000000"/>
                              </a:solidFill>
                              <a:sym typeface="Symbol" pitchFamily="18" charset="2"/>
                            </a:rPr>
                            <m:t>T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altLang="zh-TW" sz="1400" i="1" spc="100" dirty="0">
                                  <a:solidFill>
                                    <a:srgbClr val="000000"/>
                                  </a:solidFill>
                                </a:rPr>
                                <m:t>u</m:t>
                              </m:r>
                              <m:r>
                                <m:rPr>
                                  <m:nor/>
                                </m:rPr>
                                <a:rPr lang="en-US" altLang="zh-TW" sz="1400" spc="1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nor/>
                                </m:rPr>
                                <a:rPr lang="en-US" altLang="zh-TW" sz="1400" i="1" dirty="0">
                                  <a:solidFill>
                                    <a:srgbClr val="000000"/>
                                  </a:solidFill>
                                  <a:sym typeface="Symbol" pitchFamily="18" charset="2"/>
                                </a:rPr>
                                <m:t>S</m:t>
                              </m:r>
                            </m:sub>
                            <m:sup/>
                            <m:e>
                              <m:r>
                                <m:rPr>
                                  <m:nor/>
                                </m:rPr>
                                <a:rPr lang="en-US" altLang="zh-TW" i="1" spc="300" dirty="0">
                                  <a:solidFill>
                                    <a:srgbClr val="000000"/>
                                  </a:solidFill>
                                </a:rPr>
                                <m:t>f</m:t>
                              </m:r>
                              <m:r>
                                <m:rPr>
                                  <m:nor/>
                                </m:rPr>
                                <a:rPr lang="en-US" altLang="zh-TW" dirty="0">
                                  <a:solidFill>
                                    <a:srgbClr val="000000"/>
                                  </a:solidFill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i="1" dirty="0">
                                  <a:solidFill>
                                    <a:srgbClr val="000000"/>
                                  </a:solidFill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en-US" altLang="zh-TW" dirty="0">
                                  <a:solidFill>
                                    <a:srgbClr val="000000"/>
                                  </a:solidFill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en-US" altLang="zh-TW" i="1" dirty="0">
                                  <a:solidFill>
                                    <a:srgbClr val="000000"/>
                                  </a:solidFill>
                                </a:rPr>
                                <m:t>u</m:t>
                              </m:r>
                              <m:r>
                                <m:rPr>
                                  <m:nor/>
                                </m:rPr>
                                <a:rPr lang="en-US" altLang="zh-TW" dirty="0">
                                  <a:solidFill>
                                    <a:srgbClr val="000000"/>
                                  </a:solidFill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TW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1885950" lvl="0" indent="0" eaLnBrk="1" hangingPunct="1">
                  <a:spcBef>
                    <a:spcPts val="600"/>
                  </a:spcBef>
                  <a:buClr>
                    <a:srgbClr val="3333CC"/>
                  </a:buClr>
                  <a:tabLst>
                    <a:tab pos="7537450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400" i="1" spc="100" dirty="0">
                              <a:solidFill>
                                <a:srgbClr val="000000"/>
                              </a:solidFill>
                            </a:rPr>
                            <m:t>u</m:t>
                          </m:r>
                          <m:r>
                            <m:rPr>
                              <m:nor/>
                            </m:rPr>
                            <a:rPr lang="en-US" altLang="zh-TW" sz="1400" spc="1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en-US" altLang="zh-TW" sz="1400" i="1" dirty="0">
                              <a:solidFill>
                                <a:srgbClr val="000000"/>
                              </a:solidFill>
                              <a:sym typeface="Symbol" pitchFamily="18" charset="2"/>
                            </a:rPr>
                            <m:t>S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altLang="zh-TW" sz="1400" i="1" spc="100" dirty="0">
                                  <a:solidFill>
                                    <a:srgbClr val="000000"/>
                                  </a:solidFill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en-US" altLang="zh-TW" sz="1400" spc="1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nor/>
                                </m:rPr>
                                <a:rPr lang="en-US" altLang="zh-TW" sz="1400" i="1" dirty="0">
                                  <a:solidFill>
                                    <a:srgbClr val="000000"/>
                                  </a:solidFill>
                                  <a:sym typeface="Symbol" pitchFamily="18" charset="2"/>
                                </a:rPr>
                                <m:t>T</m:t>
                              </m:r>
                            </m:sub>
                            <m:sup/>
                            <m:e>
                              <m:r>
                                <m:rPr>
                                  <m:nor/>
                                </m:rPr>
                                <a:rPr lang="en-US" altLang="zh-TW" i="1" dirty="0">
                                  <a:solidFill>
                                    <a:srgbClr val="000000"/>
                                  </a:solidFill>
                                </a:rPr>
                                <m:t>c</m:t>
                              </m:r>
                              <m:r>
                                <m:rPr>
                                  <m:nor/>
                                </m:rPr>
                                <a:rPr lang="en-US" altLang="zh-TW" dirty="0">
                                  <a:solidFill>
                                    <a:srgbClr val="000000"/>
                                  </a:solidFill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i="1" dirty="0">
                                  <a:solidFill>
                                    <a:srgbClr val="000000"/>
                                  </a:solidFill>
                                </a:rPr>
                                <m:t>u</m:t>
                              </m:r>
                              <m:r>
                                <m:rPr>
                                  <m:nor/>
                                </m:rPr>
                                <a:rPr lang="en-US" altLang="zh-TW" dirty="0">
                                  <a:solidFill>
                                    <a:srgbClr val="000000"/>
                                  </a:solidFill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en-US" altLang="zh-TW" i="1" dirty="0">
                                  <a:solidFill>
                                    <a:srgbClr val="000000"/>
                                  </a:solidFill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en-US" altLang="zh-TW" dirty="0">
                                  <a:solidFill>
                                    <a:srgbClr val="000000"/>
                                  </a:solidFill>
                                </a:rPr>
                                <m:t>)</m:t>
                              </m:r>
                            </m:e>
                          </m:nary>
                        </m:e>
                      </m:nary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400" i="1" spc="100" dirty="0">
                              <a:solidFill>
                                <a:srgbClr val="000000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sz="1400" spc="1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en-US" altLang="zh-TW" sz="1400" i="1" dirty="0">
                              <a:solidFill>
                                <a:srgbClr val="000000"/>
                              </a:solidFill>
                              <a:sym typeface="Symbol" pitchFamily="18" charset="2"/>
                            </a:rPr>
                            <m:t>T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altLang="zh-TW" sz="1400" i="1" spc="100" dirty="0">
                                  <a:solidFill>
                                    <a:srgbClr val="000000"/>
                                  </a:solidFill>
                                </a:rPr>
                                <m:t>u</m:t>
                              </m:r>
                              <m:r>
                                <m:rPr>
                                  <m:nor/>
                                </m:rPr>
                                <a:rPr lang="en-US" altLang="zh-TW" sz="1400" spc="1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nor/>
                                </m:rPr>
                                <a:rPr lang="en-US" altLang="zh-TW" sz="1400" i="1" dirty="0">
                                  <a:solidFill>
                                    <a:srgbClr val="000000"/>
                                  </a:solidFill>
                                  <a:sym typeface="Symbol" pitchFamily="18" charset="2"/>
                                </a:rPr>
                                <m:t>S</m:t>
                              </m:r>
                            </m:sub>
                            <m:sup/>
                            <m:e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</a:rPr>
                                <m:t>0</m:t>
                              </m:r>
                            </m:e>
                          </m:nary>
                        </m:e>
                      </m:nary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i="1" dirty="0">
                          <a:solidFill>
                            <a:srgbClr val="000000"/>
                          </a:solidFill>
                        </a:rPr>
                        <m:t>c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TW" i="1" dirty="0">
                          <a:solidFill>
                            <a:srgbClr val="000000"/>
                          </a:solidFill>
                        </a:rPr>
                        <m:t>S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, </m:t>
                      </m:r>
                      <m:r>
                        <m:rPr>
                          <m:nor/>
                        </m:rPr>
                        <a:rPr lang="en-US" altLang="zh-TW" i="1" spc="300" dirty="0">
                          <a:solidFill>
                            <a:srgbClr val="000000"/>
                          </a:solidFill>
                        </a:rPr>
                        <m:t>T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)</m:t>
                      </m:r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31074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2000" y="548641"/>
                <a:ext cx="8280000" cy="576035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2216420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691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R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5" name="內容版面配置區 1"/>
          <p:cNvSpPr txBox="1">
            <a:spLocks/>
          </p:cNvSpPr>
          <p:nvPr/>
        </p:nvSpPr>
        <p:spPr bwMode="auto">
          <a:xfrm>
            <a:off x="691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G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000" y="369000"/>
            <a:ext cx="4680000" cy="2851822"/>
          </a:xfrm>
          <a:prstGeom prst="rect">
            <a:avLst/>
          </a:prstGeom>
        </p:spPr>
      </p:pic>
      <p:sp>
        <p:nvSpPr>
          <p:cNvPr id="8" name="Line 19"/>
          <p:cNvSpPr>
            <a:spLocks noChangeShapeType="1"/>
          </p:cNvSpPr>
          <p:nvPr/>
        </p:nvSpPr>
        <p:spPr bwMode="auto">
          <a:xfrm>
            <a:off x="3132000" y="3609000"/>
            <a:ext cx="2700000" cy="25200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4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" name="Line 19"/>
          <p:cNvSpPr>
            <a:spLocks noChangeShapeType="1"/>
          </p:cNvSpPr>
          <p:nvPr/>
        </p:nvSpPr>
        <p:spPr bwMode="auto">
          <a:xfrm>
            <a:off x="3132001" y="369000"/>
            <a:ext cx="2700000" cy="25200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4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000" y="3609000"/>
            <a:ext cx="4680000" cy="2875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36728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Minimum Cut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2000" y="1269000"/>
            <a:ext cx="8640000" cy="5220000"/>
          </a:xfrm>
        </p:spPr>
        <p:txBody>
          <a:bodyPr rIns="72000"/>
          <a:lstStyle/>
          <a:p>
            <a:pPr marL="270000" indent="-270000">
              <a:buFont typeface="Arial" panose="020B0604020202020204" pitchFamily="34" charset="0"/>
              <a:buChar char="•"/>
            </a:pPr>
            <a:r>
              <a:rPr lang="en-US" altLang="zh-TW" dirty="0"/>
              <a:t>After maximum flow algorithm stops, we run graph traversal (DFS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/</a:t>
            </a:r>
            <a:r>
              <a:rPr lang="en-US" altLang="zh-TW" dirty="0" err="1"/>
              <a:t>BFS</a:t>
            </a:r>
            <a:r>
              <a:rPr lang="en-US" altLang="zh-TW" dirty="0"/>
              <a:t>) from source </a:t>
            </a:r>
            <a:r>
              <a:rPr lang="en-US" altLang="zh-TW" i="1" dirty="0"/>
              <a:t>s</a:t>
            </a:r>
            <a:r>
              <a:rPr lang="en-US" altLang="zh-TW" dirty="0"/>
              <a:t> again.</a:t>
            </a:r>
          </a:p>
          <a:p>
            <a:pPr marL="270000" indent="-270000">
              <a:buFont typeface="Arial" panose="020B0604020202020204" pitchFamily="34" charset="0"/>
              <a:buChar char="•"/>
            </a:pPr>
            <a:r>
              <a:rPr lang="en-US" altLang="zh-TW" i="1" dirty="0"/>
              <a:t>S</a:t>
            </a:r>
            <a:r>
              <a:rPr lang="en-US" altLang="zh-TW" dirty="0"/>
              <a:t> be the set of all reachable nodes from source </a:t>
            </a:r>
            <a:r>
              <a:rPr lang="en-US" altLang="zh-TW" i="1" dirty="0"/>
              <a:t>s</a:t>
            </a:r>
            <a:r>
              <a:rPr lang="en-US" altLang="zh-TW" dirty="0"/>
              <a:t> using positive residual capacity edges in the residual graph.</a:t>
            </a:r>
          </a:p>
          <a:p>
            <a:pPr marL="270000" indent="-270000">
              <a:buFont typeface="Arial" panose="020B0604020202020204" pitchFamily="34" charset="0"/>
              <a:buChar char="•"/>
            </a:pPr>
            <a:r>
              <a:rPr lang="en-US" altLang="zh-TW" i="1" dirty="0"/>
              <a:t>T</a:t>
            </a:r>
            <a:r>
              <a:rPr lang="en-US" altLang="zh-TW" dirty="0"/>
              <a:t> be the set of all unreachable nodes.</a:t>
            </a:r>
          </a:p>
          <a:p>
            <a:pPr marL="270000" indent="-270000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) is a minimum cut in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/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57383015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4976678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/>
              <a:t>Networks with Multiple Sources and Sinks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2000" y="1269000"/>
            <a:ext cx="8640000" cy="3420000"/>
          </a:xfrm>
        </p:spPr>
        <p:txBody>
          <a:bodyPr lIns="36000" tIns="46800" rIns="0" bIns="46800"/>
          <a:lstStyle/>
          <a:p>
            <a:pPr marL="252000" indent="-252000">
              <a:buFont typeface="Arial" panose="020B0604020202020204" pitchFamily="34" charset="0"/>
              <a:buChar char="•"/>
            </a:pPr>
            <a:r>
              <a:rPr lang="en-US" altLang="zh-TW" dirty="0"/>
              <a:t>Sometimes, we can have more than one source and</a:t>
            </a:r>
            <a:r>
              <a:rPr lang="en-US" altLang="zh-TW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/</a:t>
            </a:r>
            <a:r>
              <a:rPr lang="en-US" altLang="zh-TW" dirty="0"/>
              <a:t>or more than one sink.</a:t>
            </a:r>
          </a:p>
          <a:p>
            <a:pPr marL="252000" indent="-252000">
              <a:buFont typeface="Arial" panose="020B0604020202020204" pitchFamily="34" charset="0"/>
              <a:buChar char="•"/>
            </a:pPr>
            <a:r>
              <a:rPr lang="en-US" altLang="zh-TW" dirty="0"/>
              <a:t>Create a super source </a:t>
            </a:r>
            <a:r>
              <a:rPr lang="en-US" altLang="zh-TW" i="1" dirty="0" err="1"/>
              <a:t>ss</a:t>
            </a:r>
            <a:r>
              <a:rPr lang="en-US" altLang="zh-TW" dirty="0"/>
              <a:t> and a super sink </a:t>
            </a:r>
            <a:r>
              <a:rPr lang="en-US" altLang="zh-TW" i="1" dirty="0" err="1"/>
              <a:t>st</a:t>
            </a:r>
            <a:r>
              <a:rPr lang="en-US" altLang="zh-TW" dirty="0" err="1"/>
              <a:t>.</a:t>
            </a:r>
            <a:endParaRPr lang="en-US" altLang="zh-TW" dirty="0"/>
          </a:p>
          <a:p>
            <a:pPr marL="252000" indent="-252000">
              <a:buFont typeface="Arial" panose="020B0604020202020204" pitchFamily="34" charset="0"/>
              <a:buChar char="•"/>
            </a:pPr>
            <a:r>
              <a:rPr lang="en-US" altLang="zh-TW" dirty="0"/>
              <a:t>Connect </a:t>
            </a:r>
            <a:r>
              <a:rPr lang="en-US" altLang="zh-TW" i="1" dirty="0" err="1"/>
              <a:t>ss</a:t>
            </a:r>
            <a:r>
              <a:rPr lang="en-US" altLang="zh-TW" dirty="0"/>
              <a:t> with all </a:t>
            </a:r>
            <a:r>
              <a:rPr lang="en-US" altLang="zh-TW" i="1" dirty="0"/>
              <a:t>s</a:t>
            </a:r>
            <a:r>
              <a:rPr lang="en-US" altLang="zh-TW" dirty="0"/>
              <a:t> with infinite capacity and also connect all </a:t>
            </a:r>
            <a:r>
              <a:rPr lang="en-US" altLang="zh-TW" i="1" dirty="0"/>
              <a:t>t</a:t>
            </a:r>
            <a:r>
              <a:rPr lang="en-US" altLang="zh-TW" dirty="0"/>
              <a:t> with </a:t>
            </a:r>
            <a:r>
              <a:rPr lang="en-US" altLang="zh-TW" i="1" dirty="0" err="1"/>
              <a:t>st</a:t>
            </a:r>
            <a:r>
              <a:rPr lang="en-US" altLang="zh-TW" dirty="0"/>
              <a:t> with infinite capacity, then run Edmonds Karp’s as per normal.</a:t>
            </a:r>
          </a:p>
          <a:p>
            <a:pPr lvl="0">
              <a:buClr>
                <a:srgbClr val="3333CC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000000"/>
                </a:solidFill>
              </a:rPr>
              <a:t>The Lucky Puck Company, for example, might actually have a set of </a:t>
            </a:r>
            <a:r>
              <a:rPr lang="en-US" altLang="zh-TW" i="1" dirty="0">
                <a:solidFill>
                  <a:srgbClr val="000000"/>
                </a:solidFill>
              </a:rPr>
              <a:t>m</a:t>
            </a:r>
            <a:r>
              <a:rPr lang="en-US" altLang="zh-TW" dirty="0">
                <a:solidFill>
                  <a:srgbClr val="000000"/>
                </a:solidFill>
              </a:rPr>
              <a:t> factories {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baseline="-25000" dirty="0">
                <a:solidFill>
                  <a:srgbClr val="000000"/>
                </a:solidFill>
              </a:rPr>
              <a:t>1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baseline="-25000" dirty="0">
                <a:solidFill>
                  <a:srgbClr val="000000"/>
                </a:solidFill>
              </a:rPr>
              <a:t>2</a:t>
            </a:r>
            <a:r>
              <a:rPr lang="en-US" altLang="zh-TW" dirty="0">
                <a:solidFill>
                  <a:srgbClr val="000000"/>
                </a:solidFill>
              </a:rPr>
              <a:t>, . . . , </a:t>
            </a:r>
            <a:r>
              <a:rPr lang="en-US" altLang="zh-TW" i="1" dirty="0" err="1">
                <a:solidFill>
                  <a:srgbClr val="000000"/>
                </a:solidFill>
              </a:rPr>
              <a:t>s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m</a:t>
            </a:r>
            <a:r>
              <a:rPr lang="en-US" altLang="zh-TW" dirty="0">
                <a:solidFill>
                  <a:srgbClr val="000000"/>
                </a:solidFill>
              </a:rPr>
              <a:t>} and a set of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 warehouses {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baseline="-25000" dirty="0">
                <a:solidFill>
                  <a:srgbClr val="000000"/>
                </a:solidFill>
              </a:rPr>
              <a:t>1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baseline="-25000" dirty="0">
                <a:solidFill>
                  <a:srgbClr val="000000"/>
                </a:solidFill>
              </a:rPr>
              <a:t>2</a:t>
            </a:r>
            <a:r>
              <a:rPr lang="en-US" altLang="zh-TW" dirty="0">
                <a:solidFill>
                  <a:srgbClr val="000000"/>
                </a:solidFill>
              </a:rPr>
              <a:t>, . . . , </a:t>
            </a:r>
            <a:r>
              <a:rPr lang="en-US" altLang="zh-TW" i="1" dirty="0" err="1">
                <a:solidFill>
                  <a:srgbClr val="000000"/>
                </a:solidFill>
              </a:rPr>
              <a:t>t</a:t>
            </a:r>
            <a:r>
              <a:rPr lang="en-US" altLang="zh-TW" i="1" baseline="-25000" dirty="0" err="1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}, as shown in Figure (a).</a:t>
            </a:r>
          </a:p>
          <a:p>
            <a:pPr lvl="0">
              <a:buClr>
                <a:srgbClr val="3333CC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000000"/>
                </a:solidFill>
              </a:rPr>
              <a:t>Figure (b) shows how to convert the network from Figure (a) to an ordinary flow network with only a single source and a single sink.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880282899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/>
              <a:t>Networks with Multiple Sources and Sinks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2000" y="1269000"/>
            <a:ext cx="8640000" cy="34200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TW" dirty="0"/>
              <a:t>We add a </a:t>
            </a:r>
            <a:r>
              <a:rPr lang="en-US" altLang="zh-TW" b="1" i="1" dirty="0" err="1">
                <a:solidFill>
                  <a:srgbClr val="0000FF"/>
                </a:solidFill>
              </a:rPr>
              <a:t>supersource</a:t>
            </a:r>
            <a:r>
              <a:rPr lang="en-US" altLang="zh-TW" dirty="0"/>
              <a:t> </a:t>
            </a:r>
            <a:r>
              <a:rPr lang="en-US" altLang="zh-TW" i="1" dirty="0"/>
              <a:t>s</a:t>
            </a:r>
            <a:r>
              <a:rPr lang="en-US" altLang="zh-TW" dirty="0"/>
              <a:t> and add a directed edge (</a:t>
            </a:r>
            <a:r>
              <a:rPr lang="en-US" altLang="zh-TW" i="1" dirty="0"/>
              <a:t>s</a:t>
            </a:r>
            <a:r>
              <a:rPr lang="en-US" altLang="zh-TW" dirty="0"/>
              <a:t>, </a:t>
            </a:r>
            <a:r>
              <a:rPr lang="en-US" altLang="zh-TW" i="1" dirty="0" err="1"/>
              <a:t>s</a:t>
            </a:r>
            <a:r>
              <a:rPr lang="en-US" altLang="zh-TW" i="1" baseline="-25000" dirty="0" err="1"/>
              <a:t>i</a:t>
            </a:r>
            <a:r>
              <a:rPr lang="en-US" altLang="zh-TW" dirty="0"/>
              <a:t>) with capacity  </a:t>
            </a:r>
            <a:r>
              <a:rPr lang="en-US" altLang="zh-TW" i="1" dirty="0">
                <a:solidFill>
                  <a:srgbClr val="FF0000"/>
                </a:solidFill>
              </a:rPr>
              <a:t>c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en-US" altLang="zh-TW" i="1" dirty="0">
                <a:solidFill>
                  <a:srgbClr val="FF0000"/>
                </a:solidFill>
              </a:rPr>
              <a:t>s</a:t>
            </a:r>
            <a:r>
              <a:rPr lang="en-US" altLang="zh-TW" dirty="0">
                <a:solidFill>
                  <a:srgbClr val="FF0000"/>
                </a:solidFill>
              </a:rPr>
              <a:t>, </a:t>
            </a:r>
            <a:r>
              <a:rPr lang="en-US" altLang="zh-TW" i="1" dirty="0" err="1">
                <a:solidFill>
                  <a:srgbClr val="FF0000"/>
                </a:solidFill>
              </a:rPr>
              <a:t>s</a:t>
            </a:r>
            <a:r>
              <a:rPr lang="en-US" altLang="zh-TW" i="1" baseline="-25000" dirty="0" err="1">
                <a:solidFill>
                  <a:srgbClr val="FF0000"/>
                </a:solidFill>
              </a:rPr>
              <a:t>i</a:t>
            </a:r>
            <a:r>
              <a:rPr lang="en-US" altLang="zh-TW" dirty="0">
                <a:solidFill>
                  <a:srgbClr val="FF0000"/>
                </a:solidFill>
              </a:rPr>
              <a:t>) </a:t>
            </a:r>
            <a:r>
              <a:rPr lang="en-US" altLang="zh-TW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lang="en-US" altLang="zh-TW" dirty="0"/>
              <a:t> for each </a:t>
            </a:r>
            <a:r>
              <a:rPr lang="en-US" altLang="zh-TW" i="1" dirty="0"/>
              <a:t>i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/>
              <a:t> 1, 2, </a:t>
            </a:r>
            <a:r>
              <a:rPr lang="en-US" altLang="zh-TW" dirty="0">
                <a:solidFill>
                  <a:srgbClr val="000000"/>
                </a:solidFill>
              </a:rPr>
              <a:t>. . .</a:t>
            </a:r>
            <a:r>
              <a:rPr lang="en-US" altLang="zh-TW" dirty="0"/>
              <a:t> , </a:t>
            </a:r>
            <a:r>
              <a:rPr lang="en-US" altLang="zh-TW" i="1" dirty="0"/>
              <a:t>m</a:t>
            </a:r>
            <a:r>
              <a:rPr lang="en-US" altLang="zh-TW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/>
              <a:t>We also create a new </a:t>
            </a:r>
            <a:r>
              <a:rPr lang="en-US" altLang="zh-TW" b="1" i="1" dirty="0" err="1">
                <a:solidFill>
                  <a:srgbClr val="0000FF"/>
                </a:solidFill>
              </a:rPr>
              <a:t>supersink</a:t>
            </a:r>
            <a:r>
              <a:rPr lang="en-US" altLang="zh-TW" dirty="0"/>
              <a:t> </a:t>
            </a:r>
            <a:r>
              <a:rPr lang="en-US" altLang="zh-TW" i="1" dirty="0"/>
              <a:t>t</a:t>
            </a:r>
            <a:r>
              <a:rPr lang="en-US" altLang="zh-TW" dirty="0"/>
              <a:t> and add a directed edge (</a:t>
            </a:r>
            <a:r>
              <a:rPr lang="en-US" altLang="zh-TW" i="1" dirty="0" err="1"/>
              <a:t>t</a:t>
            </a:r>
            <a:r>
              <a:rPr lang="en-US" altLang="zh-TW" i="1" baseline="-25000" dirty="0" err="1"/>
              <a:t>i</a:t>
            </a:r>
            <a:r>
              <a:rPr lang="en-US" altLang="zh-TW" dirty="0"/>
              <a:t>, </a:t>
            </a:r>
            <a:r>
              <a:rPr lang="en-US" altLang="zh-TW" i="1" dirty="0"/>
              <a:t>t</a:t>
            </a:r>
            <a:r>
              <a:rPr lang="en-US" altLang="zh-TW" dirty="0"/>
              <a:t>) with capacity </a:t>
            </a:r>
            <a:r>
              <a:rPr lang="en-US" altLang="zh-TW" i="1" dirty="0">
                <a:solidFill>
                  <a:srgbClr val="FF0000"/>
                </a:solidFill>
              </a:rPr>
              <a:t>c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en-US" altLang="zh-TW" i="1" dirty="0" err="1">
                <a:solidFill>
                  <a:srgbClr val="FF0000"/>
                </a:solidFill>
              </a:rPr>
              <a:t>t</a:t>
            </a:r>
            <a:r>
              <a:rPr lang="en-US" altLang="zh-TW" i="1" baseline="-25000" dirty="0" err="1">
                <a:solidFill>
                  <a:srgbClr val="FF0000"/>
                </a:solidFill>
              </a:rPr>
              <a:t>i</a:t>
            </a:r>
            <a:r>
              <a:rPr lang="en-US" altLang="zh-TW" dirty="0">
                <a:solidFill>
                  <a:srgbClr val="FF0000"/>
                </a:solidFill>
              </a:rPr>
              <a:t>, </a:t>
            </a:r>
            <a:r>
              <a:rPr lang="en-US" altLang="zh-TW" i="1" dirty="0">
                <a:solidFill>
                  <a:srgbClr val="FF0000"/>
                </a:solidFill>
              </a:rPr>
              <a:t>t</a:t>
            </a:r>
            <a:r>
              <a:rPr lang="en-US" altLang="zh-TW" dirty="0">
                <a:solidFill>
                  <a:srgbClr val="FF0000"/>
                </a:solidFill>
              </a:rPr>
              <a:t>) </a:t>
            </a:r>
            <a:r>
              <a:rPr lang="en-US" altLang="zh-TW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/>
              <a:t>for each </a:t>
            </a:r>
            <a:r>
              <a:rPr lang="en-US" altLang="zh-TW" i="1" dirty="0"/>
              <a:t>i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/>
              <a:t> 1, 2, </a:t>
            </a:r>
            <a:r>
              <a:rPr lang="en-US" altLang="zh-TW" dirty="0">
                <a:solidFill>
                  <a:srgbClr val="000000"/>
                </a:solidFill>
              </a:rPr>
              <a:t>. . .</a:t>
            </a:r>
            <a:r>
              <a:rPr lang="en-US" altLang="zh-TW" dirty="0"/>
              <a:t> , </a:t>
            </a:r>
            <a:r>
              <a:rPr lang="en-US" altLang="zh-TW" i="1" dirty="0"/>
              <a:t>n</a:t>
            </a:r>
            <a:r>
              <a:rPr lang="en-US" altLang="zh-TW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/>
              <a:t>Intuitively, any flow in the network in Figure (a) corresponds to a flow in the network in Figure (b), and vice versa.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/>
              <a:t>The single source </a:t>
            </a:r>
            <a:r>
              <a:rPr lang="en-US" altLang="zh-TW" i="1" dirty="0"/>
              <a:t>s</a:t>
            </a:r>
            <a:r>
              <a:rPr lang="en-US" altLang="zh-TW" dirty="0"/>
              <a:t> simply provides as much flow as desired for the multiple sources </a:t>
            </a:r>
            <a:r>
              <a:rPr lang="en-US" altLang="zh-TW" i="1" dirty="0" err="1"/>
              <a:t>s</a:t>
            </a:r>
            <a:r>
              <a:rPr lang="en-US" altLang="zh-TW" i="1" baseline="-25000" dirty="0" err="1"/>
              <a:t>i</a:t>
            </a:r>
            <a:r>
              <a:rPr lang="en-US" altLang="zh-TW" dirty="0"/>
              <a:t>, and the single sink </a:t>
            </a:r>
            <a:r>
              <a:rPr lang="en-US" altLang="zh-TW" i="1" dirty="0"/>
              <a:t>t</a:t>
            </a:r>
            <a:r>
              <a:rPr lang="en-US" altLang="zh-TW" dirty="0"/>
              <a:t> likewise consumes as much flow as desired for the multiple sinks </a:t>
            </a:r>
            <a:r>
              <a:rPr lang="en-US" altLang="zh-TW" i="1" dirty="0" err="1"/>
              <a:t>t</a:t>
            </a:r>
            <a:r>
              <a:rPr lang="en-US" altLang="zh-TW" i="1" baseline="-25000" dirty="0" err="1"/>
              <a:t>i</a:t>
            </a:r>
            <a:r>
              <a:rPr lang="en-US" altLang="zh-TW" dirty="0"/>
              <a:t> 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12928538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內容版面配置區 81"/>
          <p:cNvSpPr txBox="1">
            <a:spLocks/>
          </p:cNvSpPr>
          <p:nvPr/>
        </p:nvSpPr>
        <p:spPr>
          <a:xfrm>
            <a:off x="5292000" y="2349000"/>
            <a:ext cx="360000" cy="360000"/>
          </a:xfrm>
          <a:prstGeom prst="rect">
            <a:avLst/>
          </a:prstGeom>
          <a:ln>
            <a:solidFill>
              <a:sysClr val="window" lastClr="FFFFFF"/>
            </a:solidFill>
          </a:ln>
        </p:spPr>
        <p:txBody>
          <a:bodyPr vert="horz" wrap="none" lIns="91440" tIns="0" rIns="91440" bIns="1080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41" name="內容版面配置區 81"/>
          <p:cNvSpPr txBox="1">
            <a:spLocks/>
          </p:cNvSpPr>
          <p:nvPr/>
        </p:nvSpPr>
        <p:spPr>
          <a:xfrm>
            <a:off x="5292000" y="4149000"/>
            <a:ext cx="360000" cy="360000"/>
          </a:xfrm>
          <a:prstGeom prst="rect">
            <a:avLst/>
          </a:prstGeom>
          <a:ln>
            <a:solidFill>
              <a:sysClr val="window" lastClr="FFFFFF"/>
            </a:solidFill>
          </a:ln>
        </p:spPr>
        <p:txBody>
          <a:bodyPr vert="horz" wrap="none" lIns="91440" tIns="180000" rIns="9144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142" name="內容版面配置區 81"/>
          <p:cNvSpPr txBox="1">
            <a:spLocks/>
          </p:cNvSpPr>
          <p:nvPr/>
        </p:nvSpPr>
        <p:spPr>
          <a:xfrm>
            <a:off x="5292000" y="4689000"/>
            <a:ext cx="360000" cy="360000"/>
          </a:xfrm>
          <a:prstGeom prst="rect">
            <a:avLst/>
          </a:prstGeom>
          <a:ln>
            <a:solidFill>
              <a:sysClr val="window" lastClr="FFFFFF"/>
            </a:solidFill>
          </a:ln>
        </p:spPr>
        <p:txBody>
          <a:bodyPr vert="horz" wrap="none" lIns="91440" tIns="180000" rIns="9144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13</a:t>
            </a:r>
          </a:p>
        </p:txBody>
      </p:sp>
      <p:sp>
        <p:nvSpPr>
          <p:cNvPr id="143" name="內容版面配置區 81"/>
          <p:cNvSpPr txBox="1">
            <a:spLocks/>
          </p:cNvSpPr>
          <p:nvPr/>
        </p:nvSpPr>
        <p:spPr>
          <a:xfrm>
            <a:off x="5292000" y="5409000"/>
            <a:ext cx="360000" cy="360000"/>
          </a:xfrm>
          <a:prstGeom prst="rect">
            <a:avLst/>
          </a:prstGeom>
          <a:ln>
            <a:solidFill>
              <a:sysClr val="window" lastClr="FFFFFF"/>
            </a:solidFill>
          </a:ln>
        </p:spPr>
        <p:txBody>
          <a:bodyPr vert="horz" wrap="none" lIns="91440" tIns="0" rIns="91440" bIns="1440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18</a:t>
            </a:r>
          </a:p>
        </p:txBody>
      </p:sp>
      <p:sp>
        <p:nvSpPr>
          <p:cNvPr id="146" name="內容版面配置區 81"/>
          <p:cNvSpPr txBox="1">
            <a:spLocks/>
          </p:cNvSpPr>
          <p:nvPr/>
        </p:nvSpPr>
        <p:spPr>
          <a:xfrm>
            <a:off x="5292000" y="3429000"/>
            <a:ext cx="360000" cy="360000"/>
          </a:xfrm>
          <a:prstGeom prst="rect">
            <a:avLst/>
          </a:prstGeom>
          <a:ln>
            <a:solidFill>
              <a:sysClr val="window" lastClr="FFFFFF"/>
            </a:solidFill>
          </a:ln>
        </p:spPr>
        <p:txBody>
          <a:bodyPr vert="horz" wrap="none" lIns="91440" tIns="0" rIns="91440" bIns="720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47" name="內容版面配置區 81"/>
          <p:cNvSpPr txBox="1">
            <a:spLocks/>
          </p:cNvSpPr>
          <p:nvPr/>
        </p:nvSpPr>
        <p:spPr>
          <a:xfrm>
            <a:off x="5292000" y="2889000"/>
            <a:ext cx="360000" cy="360000"/>
          </a:xfrm>
          <a:prstGeom prst="rect">
            <a:avLst/>
          </a:prstGeom>
          <a:ln>
            <a:solidFill>
              <a:sysClr val="window" lastClr="FFFFFF"/>
            </a:solidFill>
          </a:ln>
        </p:spPr>
        <p:txBody>
          <a:bodyPr vert="horz" wrap="none" lIns="91440" tIns="0" rIns="91440" bIns="1080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15</a:t>
            </a:r>
          </a:p>
        </p:txBody>
      </p:sp>
      <p:sp>
        <p:nvSpPr>
          <p:cNvPr id="55" name="內容版面配置區 81"/>
          <p:cNvSpPr txBox="1">
            <a:spLocks/>
          </p:cNvSpPr>
          <p:nvPr/>
        </p:nvSpPr>
        <p:spPr>
          <a:xfrm>
            <a:off x="3492000" y="1629000"/>
            <a:ext cx="324000" cy="360000"/>
          </a:xfrm>
          <a:prstGeom prst="rect">
            <a:avLst/>
          </a:prstGeom>
          <a:ln>
            <a:solidFill>
              <a:sysClr val="window" lastClr="FFFFFF"/>
            </a:solidFill>
          </a:ln>
        </p:spPr>
        <p:txBody>
          <a:bodyPr vert="horz" wrap="none" lIns="91440" tIns="180000" rIns="9144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133" name="內容版面配置區 81"/>
          <p:cNvSpPr txBox="1">
            <a:spLocks/>
          </p:cNvSpPr>
          <p:nvPr/>
        </p:nvSpPr>
        <p:spPr>
          <a:xfrm>
            <a:off x="3492000" y="3429000"/>
            <a:ext cx="324000" cy="360000"/>
          </a:xfrm>
          <a:prstGeom prst="rect">
            <a:avLst/>
          </a:prstGeom>
          <a:ln>
            <a:solidFill>
              <a:sysClr val="window" lastClr="FFFFFF"/>
            </a:solidFill>
          </a:ln>
        </p:spPr>
        <p:txBody>
          <a:bodyPr vert="horz" wrap="none" lIns="91440" tIns="0" rIns="91440" bIns="720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134" name="內容版面配置區 81"/>
          <p:cNvSpPr txBox="1">
            <a:spLocks/>
          </p:cNvSpPr>
          <p:nvPr/>
        </p:nvSpPr>
        <p:spPr>
          <a:xfrm>
            <a:off x="3492000" y="4149000"/>
            <a:ext cx="324000" cy="360000"/>
          </a:xfrm>
          <a:prstGeom prst="rect">
            <a:avLst/>
          </a:prstGeom>
          <a:ln>
            <a:solidFill>
              <a:sysClr val="window" lastClr="FFFFFF"/>
            </a:solidFill>
          </a:ln>
        </p:spPr>
        <p:txBody>
          <a:bodyPr vert="horz" wrap="none" lIns="91440" tIns="180000" rIns="9144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14</a:t>
            </a:r>
          </a:p>
        </p:txBody>
      </p:sp>
      <p:sp>
        <p:nvSpPr>
          <p:cNvPr id="135" name="內容版面配置區 81"/>
          <p:cNvSpPr txBox="1">
            <a:spLocks/>
          </p:cNvSpPr>
          <p:nvPr/>
        </p:nvSpPr>
        <p:spPr>
          <a:xfrm>
            <a:off x="3492000" y="4689000"/>
            <a:ext cx="324000" cy="360000"/>
          </a:xfrm>
          <a:prstGeom prst="rect">
            <a:avLst/>
          </a:prstGeom>
          <a:ln>
            <a:solidFill>
              <a:sysClr val="window" lastClr="FFFFFF"/>
            </a:solidFill>
          </a:ln>
        </p:spPr>
        <p:txBody>
          <a:bodyPr vert="horz" wrap="none" lIns="91440" tIns="180000" rIns="9144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36" name="內容版面配置區 81"/>
          <p:cNvSpPr txBox="1">
            <a:spLocks/>
          </p:cNvSpPr>
          <p:nvPr/>
        </p:nvSpPr>
        <p:spPr>
          <a:xfrm>
            <a:off x="3492000" y="5229000"/>
            <a:ext cx="324000" cy="360000"/>
          </a:xfrm>
          <a:prstGeom prst="rect">
            <a:avLst/>
          </a:prstGeom>
          <a:ln>
            <a:solidFill>
              <a:sysClr val="window" lastClr="FFFFFF"/>
            </a:solidFill>
          </a:ln>
        </p:spPr>
        <p:txBody>
          <a:bodyPr vert="horz" wrap="none" lIns="91440" tIns="180000" rIns="9144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137" name="內容版面配置區 81"/>
          <p:cNvSpPr txBox="1">
            <a:spLocks/>
          </p:cNvSpPr>
          <p:nvPr/>
        </p:nvSpPr>
        <p:spPr>
          <a:xfrm>
            <a:off x="3492000" y="5769000"/>
            <a:ext cx="324000" cy="360000"/>
          </a:xfrm>
          <a:prstGeom prst="rect">
            <a:avLst/>
          </a:prstGeom>
          <a:ln>
            <a:solidFill>
              <a:sysClr val="window" lastClr="FFFFFF"/>
            </a:solidFill>
          </a:ln>
        </p:spPr>
        <p:txBody>
          <a:bodyPr vert="horz" wrap="none" lIns="91440" tIns="180000" rIns="9144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38" name="內容版面配置區 81"/>
          <p:cNvSpPr txBox="1">
            <a:spLocks/>
          </p:cNvSpPr>
          <p:nvPr/>
        </p:nvSpPr>
        <p:spPr>
          <a:xfrm>
            <a:off x="3492000" y="2889000"/>
            <a:ext cx="324000" cy="360000"/>
          </a:xfrm>
          <a:prstGeom prst="rect">
            <a:avLst/>
          </a:prstGeom>
          <a:ln>
            <a:solidFill>
              <a:sysClr val="window" lastClr="FFFFFF"/>
            </a:solidFill>
          </a:ln>
        </p:spPr>
        <p:txBody>
          <a:bodyPr vert="horz" wrap="none" lIns="91440" tIns="0" rIns="91440" bIns="1080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39" name="內容版面配置區 81"/>
          <p:cNvSpPr txBox="1">
            <a:spLocks/>
          </p:cNvSpPr>
          <p:nvPr/>
        </p:nvSpPr>
        <p:spPr>
          <a:xfrm>
            <a:off x="3492000" y="2349000"/>
            <a:ext cx="324000" cy="360000"/>
          </a:xfrm>
          <a:prstGeom prst="rect">
            <a:avLst/>
          </a:prstGeom>
          <a:ln>
            <a:solidFill>
              <a:sysClr val="window" lastClr="FFFFFF"/>
            </a:solidFill>
          </a:ln>
        </p:spPr>
        <p:txBody>
          <a:bodyPr vert="horz" wrap="none" lIns="91440" tIns="0" rIns="91440" bIns="1440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" name="橢圓 11"/>
          <p:cNvSpPr/>
          <p:nvPr/>
        </p:nvSpPr>
        <p:spPr>
          <a:xfrm>
            <a:off x="2592000" y="270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36000" tIns="0" rIns="0" bIns="108000" rtlCol="0" anchor="ctr" anchorCtr="0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s</a:t>
            </a:r>
            <a:r>
              <a:rPr kumimoji="0" lang="en-US" altLang="zh-TW" sz="1800" b="0" i="0" u="none" strike="noStrike" kern="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2</a:t>
            </a:r>
            <a:endParaRPr kumimoji="0" lang="zh-TW" altLang="en-US" sz="18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2592000" y="378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36000" tIns="0" rIns="0" bIns="108000" rtlCol="0" anchor="ctr" anchorCtr="0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s</a:t>
            </a:r>
            <a:r>
              <a:rPr kumimoji="0" lang="en-US" altLang="zh-TW" sz="1800" b="0" i="0" u="none" strike="noStrike" kern="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3</a:t>
            </a:r>
            <a:endParaRPr kumimoji="0" lang="zh-TW" altLang="en-US" sz="18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2592000" y="486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36000" tIns="0" rIns="0" bIns="108000" rtlCol="0" anchor="ctr" anchorCtr="0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s</a:t>
            </a:r>
            <a:r>
              <a:rPr kumimoji="0" lang="en-US" altLang="zh-TW" sz="1800" b="0" i="0" u="none" strike="noStrike" kern="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4</a:t>
            </a:r>
            <a:endParaRPr kumimoji="0" lang="zh-TW" altLang="en-US" sz="18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5" name="直線單箭頭接點 14"/>
          <p:cNvCxnSpPr>
            <a:stCxn id="14" idx="6"/>
            <a:endCxn id="25" idx="2"/>
          </p:cNvCxnSpPr>
          <p:nvPr/>
        </p:nvCxnSpPr>
        <p:spPr>
          <a:xfrm flipV="1">
            <a:off x="2952000" y="4509000"/>
            <a:ext cx="1440000" cy="54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8" idx="6"/>
            <a:endCxn id="26" idx="2"/>
          </p:cNvCxnSpPr>
          <p:nvPr/>
        </p:nvCxnSpPr>
        <p:spPr>
          <a:xfrm flipV="1">
            <a:off x="2952000" y="5589000"/>
            <a:ext cx="1440000" cy="54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sp>
        <p:nvSpPr>
          <p:cNvPr id="17" name="橢圓 16"/>
          <p:cNvSpPr/>
          <p:nvPr/>
        </p:nvSpPr>
        <p:spPr>
          <a:xfrm>
            <a:off x="2592000" y="16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36000" tIns="0" rIns="0" bIns="108000" rtlCol="0" anchor="ctr" anchorCtr="0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s</a:t>
            </a:r>
            <a:r>
              <a:rPr kumimoji="0" lang="en-US" altLang="zh-TW" sz="18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1</a:t>
            </a:r>
            <a:endParaRPr kumimoji="0" lang="zh-TW" altLang="en-US" sz="18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8" name="橢圓 17"/>
          <p:cNvSpPr/>
          <p:nvPr/>
        </p:nvSpPr>
        <p:spPr>
          <a:xfrm>
            <a:off x="259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36000" tIns="0" rIns="0" bIns="108000" rtlCol="0" anchor="ctr" anchorCtr="0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s</a:t>
            </a:r>
            <a:r>
              <a:rPr kumimoji="0" lang="en-US" altLang="zh-TW" sz="1800" b="0" i="0" u="none" strike="noStrike" kern="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5</a:t>
            </a:r>
            <a:endParaRPr kumimoji="0" lang="zh-TW" altLang="en-US" sz="18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4392000" y="216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/>
          <p:cNvCxnSpPr>
            <a:stCxn id="17" idx="6"/>
            <a:endCxn id="19" idx="2"/>
          </p:cNvCxnSpPr>
          <p:nvPr/>
        </p:nvCxnSpPr>
        <p:spPr>
          <a:xfrm>
            <a:off x="2952000" y="1809000"/>
            <a:ext cx="1440000" cy="54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sp>
        <p:nvSpPr>
          <p:cNvPr id="23" name="橢圓 22"/>
          <p:cNvSpPr/>
          <p:nvPr/>
        </p:nvSpPr>
        <p:spPr>
          <a:xfrm>
            <a:off x="4392000" y="32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5" name="橢圓 24"/>
          <p:cNvSpPr/>
          <p:nvPr/>
        </p:nvSpPr>
        <p:spPr>
          <a:xfrm>
            <a:off x="4392000" y="43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6" name="橢圓 25"/>
          <p:cNvSpPr/>
          <p:nvPr/>
        </p:nvSpPr>
        <p:spPr>
          <a:xfrm>
            <a:off x="4392000" y="540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29" name="直線單箭頭接點 28"/>
          <p:cNvCxnSpPr>
            <a:stCxn id="12" idx="6"/>
            <a:endCxn id="19" idx="2"/>
          </p:cNvCxnSpPr>
          <p:nvPr/>
        </p:nvCxnSpPr>
        <p:spPr>
          <a:xfrm flipV="1">
            <a:off x="2952000" y="2349000"/>
            <a:ext cx="1440000" cy="54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30" name="直線單箭頭接點 29"/>
          <p:cNvCxnSpPr>
            <a:stCxn id="12" idx="6"/>
            <a:endCxn id="23" idx="2"/>
          </p:cNvCxnSpPr>
          <p:nvPr/>
        </p:nvCxnSpPr>
        <p:spPr>
          <a:xfrm>
            <a:off x="2952000" y="2889000"/>
            <a:ext cx="1440000" cy="54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31" name="直線單箭頭接點 30"/>
          <p:cNvCxnSpPr>
            <a:stCxn id="13" idx="6"/>
            <a:endCxn id="23" idx="2"/>
          </p:cNvCxnSpPr>
          <p:nvPr/>
        </p:nvCxnSpPr>
        <p:spPr>
          <a:xfrm flipV="1">
            <a:off x="2952000" y="3429000"/>
            <a:ext cx="1440000" cy="54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32" name="直線單箭頭接點 31"/>
          <p:cNvCxnSpPr>
            <a:stCxn id="13" idx="6"/>
            <a:endCxn id="25" idx="2"/>
          </p:cNvCxnSpPr>
          <p:nvPr/>
        </p:nvCxnSpPr>
        <p:spPr>
          <a:xfrm>
            <a:off x="2952000" y="3969000"/>
            <a:ext cx="1440000" cy="54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37" name="直線單箭頭接點 36"/>
          <p:cNvCxnSpPr>
            <a:stCxn id="19" idx="6"/>
            <a:endCxn id="81" idx="2"/>
          </p:cNvCxnSpPr>
          <p:nvPr/>
        </p:nvCxnSpPr>
        <p:spPr>
          <a:xfrm>
            <a:off x="4752000" y="2349000"/>
            <a:ext cx="1440000" cy="54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38" name="直線單箭頭接點 37"/>
          <p:cNvCxnSpPr>
            <a:stCxn id="23" idx="6"/>
            <a:endCxn id="79" idx="2"/>
          </p:cNvCxnSpPr>
          <p:nvPr/>
        </p:nvCxnSpPr>
        <p:spPr>
          <a:xfrm>
            <a:off x="4752000" y="3429000"/>
            <a:ext cx="1440000" cy="54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39" name="直線單箭頭接點 38"/>
          <p:cNvCxnSpPr>
            <a:stCxn id="23" idx="6"/>
            <a:endCxn id="81" idx="2"/>
          </p:cNvCxnSpPr>
          <p:nvPr/>
        </p:nvCxnSpPr>
        <p:spPr>
          <a:xfrm flipV="1">
            <a:off x="4752000" y="2889000"/>
            <a:ext cx="1440000" cy="54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40" name="直線單箭頭接點 39"/>
          <p:cNvCxnSpPr>
            <a:stCxn id="25" idx="6"/>
            <a:endCxn id="79" idx="2"/>
          </p:cNvCxnSpPr>
          <p:nvPr/>
        </p:nvCxnSpPr>
        <p:spPr>
          <a:xfrm flipV="1">
            <a:off x="4752000" y="3969000"/>
            <a:ext cx="1440000" cy="54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41" name="直線單箭頭接點 40"/>
          <p:cNvCxnSpPr>
            <a:stCxn id="25" idx="6"/>
            <a:endCxn id="80" idx="2"/>
          </p:cNvCxnSpPr>
          <p:nvPr/>
        </p:nvCxnSpPr>
        <p:spPr>
          <a:xfrm>
            <a:off x="4752000" y="4509000"/>
            <a:ext cx="1440000" cy="54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42" name="直線單箭頭接點 41"/>
          <p:cNvCxnSpPr>
            <a:stCxn id="26" idx="6"/>
            <a:endCxn id="80" idx="2"/>
          </p:cNvCxnSpPr>
          <p:nvPr/>
        </p:nvCxnSpPr>
        <p:spPr>
          <a:xfrm flipV="1">
            <a:off x="4752000" y="5049000"/>
            <a:ext cx="1440000" cy="54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sp>
        <p:nvSpPr>
          <p:cNvPr id="79" name="橢圓 78"/>
          <p:cNvSpPr/>
          <p:nvPr/>
        </p:nvSpPr>
        <p:spPr>
          <a:xfrm>
            <a:off x="6192000" y="378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36000" tIns="0" rIns="0" bIns="90000" rtlCol="0" anchor="ctr" anchorCtr="0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t</a:t>
            </a:r>
            <a:r>
              <a:rPr kumimoji="0" lang="en-US" altLang="zh-TW" sz="1800" b="0" i="0" u="none" strike="noStrike" kern="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2</a:t>
            </a:r>
            <a:endParaRPr kumimoji="0" lang="zh-TW" altLang="en-US" sz="18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80" name="橢圓 79"/>
          <p:cNvSpPr/>
          <p:nvPr/>
        </p:nvSpPr>
        <p:spPr>
          <a:xfrm>
            <a:off x="6192000" y="486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36000" tIns="0" rIns="0" bIns="90000" rtlCol="0" anchor="ctr" anchorCtr="0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t</a:t>
            </a:r>
            <a:r>
              <a:rPr kumimoji="0" lang="en-US" altLang="zh-TW" sz="1800" b="0" i="0" u="none" strike="noStrike" kern="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3</a:t>
            </a:r>
            <a:endParaRPr kumimoji="0" lang="zh-TW" altLang="en-US" sz="18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81" name="橢圓 80"/>
          <p:cNvSpPr/>
          <p:nvPr/>
        </p:nvSpPr>
        <p:spPr>
          <a:xfrm>
            <a:off x="6192000" y="270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36000" tIns="0" rIns="0" bIns="90000" rtlCol="0" anchor="ctr" anchorCtr="0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t</a:t>
            </a:r>
            <a:r>
              <a:rPr kumimoji="0" lang="en-US" altLang="zh-TW" sz="1800" b="0" i="0" u="none" strike="noStrike" kern="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1</a:t>
            </a:r>
            <a:endParaRPr kumimoji="0" lang="zh-TW" altLang="en-US" sz="18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01" name="直線單箭頭接點 100"/>
          <p:cNvCxnSpPr>
            <a:stCxn id="14" idx="6"/>
            <a:endCxn id="26" idx="2"/>
          </p:cNvCxnSpPr>
          <p:nvPr/>
        </p:nvCxnSpPr>
        <p:spPr>
          <a:xfrm>
            <a:off x="2952000" y="5049000"/>
            <a:ext cx="1440000" cy="54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/>
              <a:t>Networks with Multiple Sources and Sinks</a:t>
            </a:r>
            <a:endParaRPr lang="zh-TW" altLang="en-US" dirty="0"/>
          </a:p>
        </p:txBody>
      </p:sp>
      <p:sp>
        <p:nvSpPr>
          <p:cNvPr id="43" name="Text Box 6"/>
          <p:cNvSpPr txBox="1">
            <a:spLocks noChangeArrowheads="1"/>
          </p:cNvSpPr>
          <p:nvPr/>
        </p:nvSpPr>
        <p:spPr bwMode="auto">
          <a:xfrm>
            <a:off x="79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(a)</a:t>
            </a:r>
          </a:p>
        </p:txBody>
      </p:sp>
    </p:spTree>
    <p:extLst>
      <p:ext uri="{BB962C8B-B14F-4D97-AF65-F5344CB8AC3E}">
        <p14:creationId xmlns:p14="http://schemas.microsoft.com/office/powerpoint/2010/main" val="229405164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內容版面配置區 81"/>
          <p:cNvSpPr txBox="1">
            <a:spLocks/>
          </p:cNvSpPr>
          <p:nvPr/>
        </p:nvSpPr>
        <p:spPr>
          <a:xfrm>
            <a:off x="1692000" y="4509000"/>
            <a:ext cx="360000" cy="360000"/>
          </a:xfrm>
          <a:prstGeom prst="rect">
            <a:avLst/>
          </a:prstGeom>
          <a:ln>
            <a:solidFill>
              <a:sysClr val="window" lastClr="FFFFFF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∞</a:t>
            </a:r>
          </a:p>
        </p:txBody>
      </p:sp>
      <p:sp>
        <p:nvSpPr>
          <p:cNvPr id="149" name="內容版面配置區 81"/>
          <p:cNvSpPr txBox="1">
            <a:spLocks/>
          </p:cNvSpPr>
          <p:nvPr/>
        </p:nvSpPr>
        <p:spPr>
          <a:xfrm>
            <a:off x="1692000" y="3069000"/>
            <a:ext cx="360000" cy="360000"/>
          </a:xfrm>
          <a:prstGeom prst="rect">
            <a:avLst/>
          </a:prstGeom>
          <a:ln>
            <a:solidFill>
              <a:sysClr val="window" lastClr="FFFFFF"/>
            </a:solidFill>
          </a:ln>
        </p:spPr>
        <p:txBody>
          <a:bodyPr vert="horz" lIns="91440" tIns="144000" rIns="9144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∞</a:t>
            </a:r>
          </a:p>
        </p:txBody>
      </p:sp>
      <p:sp>
        <p:nvSpPr>
          <p:cNvPr id="150" name="內容版面配置區 81"/>
          <p:cNvSpPr txBox="1">
            <a:spLocks/>
          </p:cNvSpPr>
          <p:nvPr/>
        </p:nvSpPr>
        <p:spPr>
          <a:xfrm>
            <a:off x="1692000" y="3609000"/>
            <a:ext cx="360000" cy="360000"/>
          </a:xfrm>
          <a:prstGeom prst="rect">
            <a:avLst/>
          </a:prstGeom>
          <a:ln>
            <a:solidFill>
              <a:sysClr val="window" lastClr="FFFFFF"/>
            </a:solidFill>
          </a:ln>
        </p:spPr>
        <p:txBody>
          <a:bodyPr vert="horz" lIns="91440" tIns="108000" rIns="9144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∞</a:t>
            </a:r>
          </a:p>
        </p:txBody>
      </p:sp>
      <p:sp>
        <p:nvSpPr>
          <p:cNvPr id="151" name="內容版面配置區 81"/>
          <p:cNvSpPr txBox="1">
            <a:spLocks/>
          </p:cNvSpPr>
          <p:nvPr/>
        </p:nvSpPr>
        <p:spPr>
          <a:xfrm>
            <a:off x="1692000" y="2529000"/>
            <a:ext cx="360000" cy="360000"/>
          </a:xfrm>
          <a:prstGeom prst="rect">
            <a:avLst/>
          </a:prstGeom>
          <a:ln>
            <a:solidFill>
              <a:sysClr val="window" lastClr="FFFFFF"/>
            </a:solidFill>
          </a:ln>
        </p:spPr>
        <p:txBody>
          <a:bodyPr vert="horz" lIns="91440" tIns="0" rIns="91440" bIns="1440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∞</a:t>
            </a:r>
          </a:p>
        </p:txBody>
      </p:sp>
      <p:sp>
        <p:nvSpPr>
          <p:cNvPr id="152" name="內容版面配置區 81"/>
          <p:cNvSpPr txBox="1">
            <a:spLocks/>
          </p:cNvSpPr>
          <p:nvPr/>
        </p:nvSpPr>
        <p:spPr>
          <a:xfrm>
            <a:off x="1692000" y="5049000"/>
            <a:ext cx="360000" cy="360000"/>
          </a:xfrm>
          <a:prstGeom prst="rect">
            <a:avLst/>
          </a:prstGeom>
          <a:ln>
            <a:solidFill>
              <a:sysClr val="window" lastClr="FFFFFF"/>
            </a:solidFill>
          </a:ln>
        </p:spPr>
        <p:txBody>
          <a:bodyPr vert="horz" lIns="91440" tIns="72000" rIns="9144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∞</a:t>
            </a:r>
          </a:p>
        </p:txBody>
      </p:sp>
      <p:sp>
        <p:nvSpPr>
          <p:cNvPr id="140" name="內容版面配置區 81"/>
          <p:cNvSpPr txBox="1">
            <a:spLocks/>
          </p:cNvSpPr>
          <p:nvPr/>
        </p:nvSpPr>
        <p:spPr>
          <a:xfrm>
            <a:off x="5292000" y="2349000"/>
            <a:ext cx="360000" cy="360000"/>
          </a:xfrm>
          <a:prstGeom prst="rect">
            <a:avLst/>
          </a:prstGeom>
          <a:ln>
            <a:solidFill>
              <a:sysClr val="window" lastClr="FFFFFF"/>
            </a:solidFill>
          </a:ln>
        </p:spPr>
        <p:txBody>
          <a:bodyPr vert="horz" wrap="none" lIns="91440" tIns="0" rIns="91440" bIns="1080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41" name="內容版面配置區 81"/>
          <p:cNvSpPr txBox="1">
            <a:spLocks/>
          </p:cNvSpPr>
          <p:nvPr/>
        </p:nvSpPr>
        <p:spPr>
          <a:xfrm>
            <a:off x="5292000" y="4149000"/>
            <a:ext cx="360000" cy="360000"/>
          </a:xfrm>
          <a:prstGeom prst="rect">
            <a:avLst/>
          </a:prstGeom>
          <a:ln>
            <a:solidFill>
              <a:sysClr val="window" lastClr="FFFFFF"/>
            </a:solidFill>
          </a:ln>
        </p:spPr>
        <p:txBody>
          <a:bodyPr vert="horz" wrap="none" lIns="91440" tIns="180000" rIns="9144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142" name="內容版面配置區 81"/>
          <p:cNvSpPr txBox="1">
            <a:spLocks/>
          </p:cNvSpPr>
          <p:nvPr/>
        </p:nvSpPr>
        <p:spPr>
          <a:xfrm>
            <a:off x="5292000" y="4689000"/>
            <a:ext cx="360000" cy="360000"/>
          </a:xfrm>
          <a:prstGeom prst="rect">
            <a:avLst/>
          </a:prstGeom>
          <a:ln>
            <a:solidFill>
              <a:sysClr val="window" lastClr="FFFFFF"/>
            </a:solidFill>
          </a:ln>
        </p:spPr>
        <p:txBody>
          <a:bodyPr vert="horz" wrap="none" lIns="91440" tIns="180000" rIns="9144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13</a:t>
            </a:r>
          </a:p>
        </p:txBody>
      </p:sp>
      <p:sp>
        <p:nvSpPr>
          <p:cNvPr id="143" name="內容版面配置區 81"/>
          <p:cNvSpPr txBox="1">
            <a:spLocks/>
          </p:cNvSpPr>
          <p:nvPr/>
        </p:nvSpPr>
        <p:spPr>
          <a:xfrm>
            <a:off x="5292000" y="5409000"/>
            <a:ext cx="360000" cy="360000"/>
          </a:xfrm>
          <a:prstGeom prst="rect">
            <a:avLst/>
          </a:prstGeom>
          <a:ln>
            <a:solidFill>
              <a:sysClr val="window" lastClr="FFFFFF"/>
            </a:solidFill>
          </a:ln>
        </p:spPr>
        <p:txBody>
          <a:bodyPr vert="horz" wrap="none" lIns="91440" tIns="0" rIns="91440" bIns="1440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18</a:t>
            </a:r>
          </a:p>
        </p:txBody>
      </p:sp>
      <p:sp>
        <p:nvSpPr>
          <p:cNvPr id="146" name="內容版面配置區 81"/>
          <p:cNvSpPr txBox="1">
            <a:spLocks/>
          </p:cNvSpPr>
          <p:nvPr/>
        </p:nvSpPr>
        <p:spPr>
          <a:xfrm>
            <a:off x="5292000" y="3429000"/>
            <a:ext cx="360000" cy="360000"/>
          </a:xfrm>
          <a:prstGeom prst="rect">
            <a:avLst/>
          </a:prstGeom>
          <a:ln>
            <a:solidFill>
              <a:sysClr val="window" lastClr="FFFFFF"/>
            </a:solidFill>
          </a:ln>
        </p:spPr>
        <p:txBody>
          <a:bodyPr vert="horz" wrap="none" lIns="91440" tIns="0" rIns="91440" bIns="720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47" name="內容版面配置區 81"/>
          <p:cNvSpPr txBox="1">
            <a:spLocks/>
          </p:cNvSpPr>
          <p:nvPr/>
        </p:nvSpPr>
        <p:spPr>
          <a:xfrm>
            <a:off x="5292000" y="2889000"/>
            <a:ext cx="360000" cy="360000"/>
          </a:xfrm>
          <a:prstGeom prst="rect">
            <a:avLst/>
          </a:prstGeom>
          <a:ln>
            <a:solidFill>
              <a:sysClr val="window" lastClr="FFFFFF"/>
            </a:solidFill>
          </a:ln>
        </p:spPr>
        <p:txBody>
          <a:bodyPr vert="horz" wrap="none" lIns="91440" tIns="0" rIns="91440" bIns="1080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15</a:t>
            </a:r>
          </a:p>
        </p:txBody>
      </p:sp>
      <p:sp>
        <p:nvSpPr>
          <p:cNvPr id="55" name="內容版面配置區 81"/>
          <p:cNvSpPr txBox="1">
            <a:spLocks/>
          </p:cNvSpPr>
          <p:nvPr/>
        </p:nvSpPr>
        <p:spPr>
          <a:xfrm>
            <a:off x="3492000" y="1629000"/>
            <a:ext cx="324000" cy="360000"/>
          </a:xfrm>
          <a:prstGeom prst="rect">
            <a:avLst/>
          </a:prstGeom>
          <a:ln>
            <a:solidFill>
              <a:sysClr val="window" lastClr="FFFFFF"/>
            </a:solidFill>
          </a:ln>
        </p:spPr>
        <p:txBody>
          <a:bodyPr vert="horz" wrap="none" lIns="91440" tIns="180000" rIns="9144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133" name="內容版面配置區 81"/>
          <p:cNvSpPr txBox="1">
            <a:spLocks/>
          </p:cNvSpPr>
          <p:nvPr/>
        </p:nvSpPr>
        <p:spPr>
          <a:xfrm>
            <a:off x="3492000" y="3429000"/>
            <a:ext cx="324000" cy="360000"/>
          </a:xfrm>
          <a:prstGeom prst="rect">
            <a:avLst/>
          </a:prstGeom>
          <a:ln>
            <a:solidFill>
              <a:sysClr val="window" lastClr="FFFFFF"/>
            </a:solidFill>
          </a:ln>
        </p:spPr>
        <p:txBody>
          <a:bodyPr vert="horz" wrap="none" lIns="91440" tIns="0" rIns="91440" bIns="720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134" name="內容版面配置區 81"/>
          <p:cNvSpPr txBox="1">
            <a:spLocks/>
          </p:cNvSpPr>
          <p:nvPr/>
        </p:nvSpPr>
        <p:spPr>
          <a:xfrm>
            <a:off x="3492000" y="4149000"/>
            <a:ext cx="324000" cy="360000"/>
          </a:xfrm>
          <a:prstGeom prst="rect">
            <a:avLst/>
          </a:prstGeom>
          <a:ln>
            <a:solidFill>
              <a:sysClr val="window" lastClr="FFFFFF"/>
            </a:solidFill>
          </a:ln>
        </p:spPr>
        <p:txBody>
          <a:bodyPr vert="horz" wrap="none" lIns="91440" tIns="180000" rIns="9144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14</a:t>
            </a:r>
          </a:p>
        </p:txBody>
      </p:sp>
      <p:sp>
        <p:nvSpPr>
          <p:cNvPr id="135" name="內容版面配置區 81"/>
          <p:cNvSpPr txBox="1">
            <a:spLocks/>
          </p:cNvSpPr>
          <p:nvPr/>
        </p:nvSpPr>
        <p:spPr>
          <a:xfrm>
            <a:off x="3492000" y="4689000"/>
            <a:ext cx="324000" cy="360000"/>
          </a:xfrm>
          <a:prstGeom prst="rect">
            <a:avLst/>
          </a:prstGeom>
          <a:ln>
            <a:solidFill>
              <a:sysClr val="window" lastClr="FFFFFF"/>
            </a:solidFill>
          </a:ln>
        </p:spPr>
        <p:txBody>
          <a:bodyPr vert="horz" wrap="none" lIns="91440" tIns="180000" rIns="9144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36" name="內容版面配置區 81"/>
          <p:cNvSpPr txBox="1">
            <a:spLocks/>
          </p:cNvSpPr>
          <p:nvPr/>
        </p:nvSpPr>
        <p:spPr>
          <a:xfrm>
            <a:off x="3492000" y="5229000"/>
            <a:ext cx="324000" cy="360000"/>
          </a:xfrm>
          <a:prstGeom prst="rect">
            <a:avLst/>
          </a:prstGeom>
          <a:ln>
            <a:solidFill>
              <a:sysClr val="window" lastClr="FFFFFF"/>
            </a:solidFill>
          </a:ln>
        </p:spPr>
        <p:txBody>
          <a:bodyPr vert="horz" wrap="none" lIns="91440" tIns="180000" rIns="9144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137" name="內容版面配置區 81"/>
          <p:cNvSpPr txBox="1">
            <a:spLocks/>
          </p:cNvSpPr>
          <p:nvPr/>
        </p:nvSpPr>
        <p:spPr>
          <a:xfrm>
            <a:off x="3492000" y="5769000"/>
            <a:ext cx="324000" cy="360000"/>
          </a:xfrm>
          <a:prstGeom prst="rect">
            <a:avLst/>
          </a:prstGeom>
          <a:ln>
            <a:solidFill>
              <a:sysClr val="window" lastClr="FFFFFF"/>
            </a:solidFill>
          </a:ln>
        </p:spPr>
        <p:txBody>
          <a:bodyPr vert="horz" wrap="none" lIns="91440" tIns="180000" rIns="9144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38" name="內容版面配置區 81"/>
          <p:cNvSpPr txBox="1">
            <a:spLocks/>
          </p:cNvSpPr>
          <p:nvPr/>
        </p:nvSpPr>
        <p:spPr>
          <a:xfrm>
            <a:off x="3492000" y="2889000"/>
            <a:ext cx="324000" cy="360000"/>
          </a:xfrm>
          <a:prstGeom prst="rect">
            <a:avLst/>
          </a:prstGeom>
          <a:ln>
            <a:solidFill>
              <a:sysClr val="window" lastClr="FFFFFF"/>
            </a:solidFill>
          </a:ln>
        </p:spPr>
        <p:txBody>
          <a:bodyPr vert="horz" wrap="none" lIns="91440" tIns="0" rIns="91440" bIns="1080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39" name="內容版面配置區 81"/>
          <p:cNvSpPr txBox="1">
            <a:spLocks/>
          </p:cNvSpPr>
          <p:nvPr/>
        </p:nvSpPr>
        <p:spPr>
          <a:xfrm>
            <a:off x="3492000" y="2349000"/>
            <a:ext cx="324000" cy="360000"/>
          </a:xfrm>
          <a:prstGeom prst="rect">
            <a:avLst/>
          </a:prstGeom>
          <a:ln>
            <a:solidFill>
              <a:sysClr val="window" lastClr="FFFFFF"/>
            </a:solidFill>
          </a:ln>
        </p:spPr>
        <p:txBody>
          <a:bodyPr vert="horz" wrap="none" lIns="91440" tIns="0" rIns="91440" bIns="1440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" name="內容版面配置區 81"/>
          <p:cNvSpPr txBox="1">
            <a:spLocks/>
          </p:cNvSpPr>
          <p:nvPr/>
        </p:nvSpPr>
        <p:spPr>
          <a:xfrm>
            <a:off x="7092000" y="4509000"/>
            <a:ext cx="360000" cy="360000"/>
          </a:xfrm>
          <a:prstGeom prst="rect">
            <a:avLst/>
          </a:prstGeom>
          <a:ln>
            <a:solidFill>
              <a:sysClr val="window" lastClr="FFFFFF"/>
            </a:solidFill>
          </a:ln>
        </p:spPr>
        <p:txBody>
          <a:bodyPr vert="horz" lIns="91440" tIns="0" rIns="91440" bIns="360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∞</a:t>
            </a:r>
          </a:p>
        </p:txBody>
      </p:sp>
      <p:sp>
        <p:nvSpPr>
          <p:cNvPr id="6" name="內容版面配置區 81"/>
          <p:cNvSpPr txBox="1">
            <a:spLocks/>
          </p:cNvSpPr>
          <p:nvPr/>
        </p:nvSpPr>
        <p:spPr>
          <a:xfrm>
            <a:off x="7092000" y="3609000"/>
            <a:ext cx="360000" cy="360000"/>
          </a:xfrm>
          <a:prstGeom prst="rect">
            <a:avLst/>
          </a:prstGeom>
          <a:ln>
            <a:solidFill>
              <a:sysClr val="window" lastClr="FFFFFF"/>
            </a:solidFill>
          </a:ln>
        </p:spPr>
        <p:txBody>
          <a:bodyPr vert="horz" lIns="91440" tIns="72000" rIns="9144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∞</a:t>
            </a:r>
          </a:p>
        </p:txBody>
      </p:sp>
      <p:sp>
        <p:nvSpPr>
          <p:cNvPr id="7" name="內容版面配置區 81"/>
          <p:cNvSpPr txBox="1">
            <a:spLocks/>
          </p:cNvSpPr>
          <p:nvPr/>
        </p:nvSpPr>
        <p:spPr>
          <a:xfrm>
            <a:off x="7092000" y="3069000"/>
            <a:ext cx="360000" cy="360000"/>
          </a:xfrm>
          <a:prstGeom prst="rect">
            <a:avLst/>
          </a:prstGeom>
          <a:ln>
            <a:solidFill>
              <a:sysClr val="window" lastClr="FFFFFF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∞</a:t>
            </a:r>
          </a:p>
        </p:txBody>
      </p:sp>
      <p:sp>
        <p:nvSpPr>
          <p:cNvPr id="11" name="橢圓 10"/>
          <p:cNvSpPr/>
          <p:nvPr/>
        </p:nvSpPr>
        <p:spPr>
          <a:xfrm>
            <a:off x="792000" y="378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108000" rtlCol="0" anchor="ctr" anchorCtr="0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s</a:t>
            </a:r>
            <a:endParaRPr kumimoji="0" lang="zh-TW" altLang="en-US" sz="24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2592000" y="270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36000" tIns="0" rIns="0" bIns="108000" rtlCol="0" anchor="ctr" anchorCtr="0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s</a:t>
            </a:r>
            <a:r>
              <a:rPr kumimoji="0" lang="en-US" altLang="zh-TW" sz="1800" b="0" i="0" u="none" strike="noStrike" kern="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2</a:t>
            </a:r>
            <a:endParaRPr kumimoji="0" lang="zh-TW" altLang="en-US" sz="18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2592000" y="378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36000" tIns="0" rIns="0" bIns="108000" rtlCol="0" anchor="ctr" anchorCtr="0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s</a:t>
            </a:r>
            <a:r>
              <a:rPr kumimoji="0" lang="en-US" altLang="zh-TW" sz="1800" b="0" i="0" u="none" strike="noStrike" kern="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3</a:t>
            </a:r>
            <a:endParaRPr kumimoji="0" lang="zh-TW" altLang="en-US" sz="18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2592000" y="486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36000" tIns="0" rIns="0" bIns="108000" rtlCol="0" anchor="ctr" anchorCtr="0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s</a:t>
            </a:r>
            <a:r>
              <a:rPr kumimoji="0" lang="en-US" altLang="zh-TW" sz="1800" b="0" i="0" u="none" strike="noStrike" kern="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4</a:t>
            </a:r>
            <a:endParaRPr kumimoji="0" lang="zh-TW" altLang="en-US" sz="18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5" name="直線單箭頭接點 14"/>
          <p:cNvCxnSpPr>
            <a:stCxn id="14" idx="6"/>
            <a:endCxn id="25" idx="2"/>
          </p:cNvCxnSpPr>
          <p:nvPr/>
        </p:nvCxnSpPr>
        <p:spPr>
          <a:xfrm flipV="1">
            <a:off x="2952000" y="4509000"/>
            <a:ext cx="1440000" cy="54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8" idx="6"/>
            <a:endCxn id="26" idx="2"/>
          </p:cNvCxnSpPr>
          <p:nvPr/>
        </p:nvCxnSpPr>
        <p:spPr>
          <a:xfrm flipV="1">
            <a:off x="2952000" y="5589000"/>
            <a:ext cx="1440000" cy="54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sp>
        <p:nvSpPr>
          <p:cNvPr id="17" name="橢圓 16"/>
          <p:cNvSpPr/>
          <p:nvPr/>
        </p:nvSpPr>
        <p:spPr>
          <a:xfrm>
            <a:off x="2592000" y="16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36000" tIns="0" rIns="0" bIns="108000" rtlCol="0" anchor="ctr" anchorCtr="0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s</a:t>
            </a:r>
            <a:r>
              <a:rPr kumimoji="0" lang="en-US" altLang="zh-TW" sz="18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1</a:t>
            </a:r>
            <a:endParaRPr kumimoji="0" lang="zh-TW" altLang="en-US" sz="18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8" name="橢圓 17"/>
          <p:cNvSpPr/>
          <p:nvPr/>
        </p:nvSpPr>
        <p:spPr>
          <a:xfrm>
            <a:off x="259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36000" tIns="0" rIns="0" bIns="108000" rtlCol="0" anchor="ctr" anchorCtr="0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s</a:t>
            </a:r>
            <a:r>
              <a:rPr kumimoji="0" lang="en-US" altLang="zh-TW" sz="1800" b="0" i="0" u="none" strike="noStrike" kern="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5</a:t>
            </a:r>
            <a:endParaRPr kumimoji="0" lang="zh-TW" altLang="en-US" sz="18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4392000" y="216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/>
          <p:cNvCxnSpPr>
            <a:stCxn id="17" idx="6"/>
            <a:endCxn id="19" idx="2"/>
          </p:cNvCxnSpPr>
          <p:nvPr/>
        </p:nvCxnSpPr>
        <p:spPr>
          <a:xfrm>
            <a:off x="2952000" y="1809000"/>
            <a:ext cx="1440000" cy="54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sp>
        <p:nvSpPr>
          <p:cNvPr id="23" name="橢圓 22"/>
          <p:cNvSpPr/>
          <p:nvPr/>
        </p:nvSpPr>
        <p:spPr>
          <a:xfrm>
            <a:off x="4392000" y="32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5" name="橢圓 24"/>
          <p:cNvSpPr/>
          <p:nvPr/>
        </p:nvSpPr>
        <p:spPr>
          <a:xfrm>
            <a:off x="4392000" y="43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6" name="橢圓 25"/>
          <p:cNvSpPr/>
          <p:nvPr/>
        </p:nvSpPr>
        <p:spPr>
          <a:xfrm>
            <a:off x="4392000" y="540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28" name="直線單箭頭接點 27"/>
          <p:cNvCxnSpPr>
            <a:stCxn id="11" idx="6"/>
            <a:endCxn id="12" idx="3"/>
          </p:cNvCxnSpPr>
          <p:nvPr/>
        </p:nvCxnSpPr>
        <p:spPr>
          <a:xfrm flipV="1">
            <a:off x="1152000" y="3016279"/>
            <a:ext cx="1492721" cy="95272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29" name="直線單箭頭接點 28"/>
          <p:cNvCxnSpPr>
            <a:stCxn id="12" idx="6"/>
            <a:endCxn id="19" idx="2"/>
          </p:cNvCxnSpPr>
          <p:nvPr/>
        </p:nvCxnSpPr>
        <p:spPr>
          <a:xfrm flipV="1">
            <a:off x="2952000" y="2349000"/>
            <a:ext cx="1440000" cy="54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30" name="直線單箭頭接點 29"/>
          <p:cNvCxnSpPr>
            <a:stCxn id="12" idx="6"/>
            <a:endCxn id="23" idx="2"/>
          </p:cNvCxnSpPr>
          <p:nvPr/>
        </p:nvCxnSpPr>
        <p:spPr>
          <a:xfrm>
            <a:off x="2952000" y="2889000"/>
            <a:ext cx="1440000" cy="54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31" name="直線單箭頭接點 30"/>
          <p:cNvCxnSpPr>
            <a:stCxn id="13" idx="6"/>
            <a:endCxn id="23" idx="2"/>
          </p:cNvCxnSpPr>
          <p:nvPr/>
        </p:nvCxnSpPr>
        <p:spPr>
          <a:xfrm flipV="1">
            <a:off x="2952000" y="3429000"/>
            <a:ext cx="1440000" cy="54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32" name="直線單箭頭接點 31"/>
          <p:cNvCxnSpPr>
            <a:stCxn id="13" idx="6"/>
            <a:endCxn id="25" idx="2"/>
          </p:cNvCxnSpPr>
          <p:nvPr/>
        </p:nvCxnSpPr>
        <p:spPr>
          <a:xfrm>
            <a:off x="2952000" y="3969000"/>
            <a:ext cx="1440000" cy="54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33" name="直線單箭頭接點 32"/>
          <p:cNvCxnSpPr>
            <a:stCxn id="11" idx="7"/>
            <a:endCxn id="17" idx="3"/>
          </p:cNvCxnSpPr>
          <p:nvPr/>
        </p:nvCxnSpPr>
        <p:spPr>
          <a:xfrm flipV="1">
            <a:off x="1099279" y="1936279"/>
            <a:ext cx="1545442" cy="190544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34" name="直線單箭頭接點 33"/>
          <p:cNvCxnSpPr>
            <a:stCxn id="11" idx="5"/>
            <a:endCxn id="18" idx="1"/>
          </p:cNvCxnSpPr>
          <p:nvPr/>
        </p:nvCxnSpPr>
        <p:spPr>
          <a:xfrm>
            <a:off x="1099279" y="4096279"/>
            <a:ext cx="1545442" cy="190544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35" name="直線單箭頭接點 34"/>
          <p:cNvCxnSpPr>
            <a:stCxn id="11" idx="6"/>
            <a:endCxn id="14" idx="2"/>
          </p:cNvCxnSpPr>
          <p:nvPr/>
        </p:nvCxnSpPr>
        <p:spPr>
          <a:xfrm>
            <a:off x="1152000" y="3969000"/>
            <a:ext cx="1440000" cy="108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37" name="直線單箭頭接點 36"/>
          <p:cNvCxnSpPr>
            <a:stCxn id="19" idx="6"/>
            <a:endCxn id="81" idx="2"/>
          </p:cNvCxnSpPr>
          <p:nvPr/>
        </p:nvCxnSpPr>
        <p:spPr>
          <a:xfrm>
            <a:off x="4752000" y="2349000"/>
            <a:ext cx="1440000" cy="54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38" name="直線單箭頭接點 37"/>
          <p:cNvCxnSpPr>
            <a:stCxn id="23" idx="6"/>
            <a:endCxn id="79" idx="2"/>
          </p:cNvCxnSpPr>
          <p:nvPr/>
        </p:nvCxnSpPr>
        <p:spPr>
          <a:xfrm>
            <a:off x="4752000" y="3429000"/>
            <a:ext cx="1440000" cy="54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39" name="直線單箭頭接點 38"/>
          <p:cNvCxnSpPr>
            <a:stCxn id="23" idx="6"/>
            <a:endCxn id="81" idx="2"/>
          </p:cNvCxnSpPr>
          <p:nvPr/>
        </p:nvCxnSpPr>
        <p:spPr>
          <a:xfrm flipV="1">
            <a:off x="4752000" y="2889000"/>
            <a:ext cx="1440000" cy="54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40" name="直線單箭頭接點 39"/>
          <p:cNvCxnSpPr>
            <a:stCxn id="25" idx="6"/>
            <a:endCxn id="79" idx="2"/>
          </p:cNvCxnSpPr>
          <p:nvPr/>
        </p:nvCxnSpPr>
        <p:spPr>
          <a:xfrm flipV="1">
            <a:off x="4752000" y="3969000"/>
            <a:ext cx="1440000" cy="54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41" name="直線單箭頭接點 40"/>
          <p:cNvCxnSpPr>
            <a:stCxn id="25" idx="6"/>
            <a:endCxn id="80" idx="2"/>
          </p:cNvCxnSpPr>
          <p:nvPr/>
        </p:nvCxnSpPr>
        <p:spPr>
          <a:xfrm>
            <a:off x="4752000" y="4509000"/>
            <a:ext cx="1440000" cy="54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42" name="直線單箭頭接點 41"/>
          <p:cNvCxnSpPr>
            <a:stCxn id="26" idx="6"/>
            <a:endCxn id="80" idx="2"/>
          </p:cNvCxnSpPr>
          <p:nvPr/>
        </p:nvCxnSpPr>
        <p:spPr>
          <a:xfrm flipV="1">
            <a:off x="4752000" y="5049000"/>
            <a:ext cx="1440000" cy="54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43" name="直線單箭頭接點 42"/>
          <p:cNvCxnSpPr>
            <a:stCxn id="11" idx="6"/>
            <a:endCxn id="13" idx="2"/>
          </p:cNvCxnSpPr>
          <p:nvPr/>
        </p:nvCxnSpPr>
        <p:spPr>
          <a:xfrm>
            <a:off x="1152000" y="3969000"/>
            <a:ext cx="1440000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sp>
        <p:nvSpPr>
          <p:cNvPr id="59" name="橢圓 58"/>
          <p:cNvSpPr/>
          <p:nvPr/>
        </p:nvSpPr>
        <p:spPr>
          <a:xfrm>
            <a:off x="7992000" y="378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72000" rtlCol="0" anchor="ctr" anchorCtr="0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t</a:t>
            </a:r>
            <a:endParaRPr kumimoji="0" lang="zh-TW" altLang="en-US" sz="24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61" name="直線單箭頭接點 60"/>
          <p:cNvCxnSpPr>
            <a:stCxn id="81" idx="6"/>
            <a:endCxn id="59" idx="2"/>
          </p:cNvCxnSpPr>
          <p:nvPr/>
        </p:nvCxnSpPr>
        <p:spPr>
          <a:xfrm>
            <a:off x="6552000" y="2889000"/>
            <a:ext cx="1440000" cy="108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62" name="直線單箭頭接點 61"/>
          <p:cNvCxnSpPr>
            <a:stCxn id="79" idx="6"/>
            <a:endCxn id="59" idx="2"/>
          </p:cNvCxnSpPr>
          <p:nvPr/>
        </p:nvCxnSpPr>
        <p:spPr>
          <a:xfrm>
            <a:off x="6552000" y="3969000"/>
            <a:ext cx="1440000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64" name="直線單箭頭接點 63"/>
          <p:cNvCxnSpPr>
            <a:stCxn id="80" idx="6"/>
            <a:endCxn id="59" idx="2"/>
          </p:cNvCxnSpPr>
          <p:nvPr/>
        </p:nvCxnSpPr>
        <p:spPr>
          <a:xfrm flipV="1">
            <a:off x="6552000" y="3969000"/>
            <a:ext cx="1440000" cy="108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sp>
        <p:nvSpPr>
          <p:cNvPr id="79" name="橢圓 78"/>
          <p:cNvSpPr/>
          <p:nvPr/>
        </p:nvSpPr>
        <p:spPr>
          <a:xfrm>
            <a:off x="6192000" y="378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36000" tIns="0" rIns="0" bIns="90000" rtlCol="0" anchor="ctr" anchorCtr="0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t</a:t>
            </a:r>
            <a:r>
              <a:rPr kumimoji="0" lang="en-US" altLang="zh-TW" sz="1800" b="0" i="0" u="none" strike="noStrike" kern="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2</a:t>
            </a:r>
            <a:endParaRPr kumimoji="0" lang="zh-TW" altLang="en-US" sz="18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80" name="橢圓 79"/>
          <p:cNvSpPr/>
          <p:nvPr/>
        </p:nvSpPr>
        <p:spPr>
          <a:xfrm>
            <a:off x="6192000" y="486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36000" tIns="0" rIns="0" bIns="90000" rtlCol="0" anchor="ctr" anchorCtr="0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t</a:t>
            </a:r>
            <a:r>
              <a:rPr kumimoji="0" lang="en-US" altLang="zh-TW" sz="1800" b="0" i="0" u="none" strike="noStrike" kern="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3</a:t>
            </a:r>
            <a:endParaRPr kumimoji="0" lang="zh-TW" altLang="en-US" sz="18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81" name="橢圓 80"/>
          <p:cNvSpPr/>
          <p:nvPr/>
        </p:nvSpPr>
        <p:spPr>
          <a:xfrm>
            <a:off x="6192000" y="270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36000" tIns="0" rIns="0" bIns="90000" rtlCol="0" anchor="ctr" anchorCtr="0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t</a:t>
            </a:r>
            <a:r>
              <a:rPr kumimoji="0" lang="en-US" altLang="zh-TW" sz="1800" b="0" i="0" u="none" strike="noStrike" kern="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1</a:t>
            </a:r>
            <a:endParaRPr kumimoji="0" lang="zh-TW" altLang="en-US" sz="18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01" name="直線單箭頭接點 100"/>
          <p:cNvCxnSpPr>
            <a:stCxn id="14" idx="6"/>
            <a:endCxn id="26" idx="2"/>
          </p:cNvCxnSpPr>
          <p:nvPr/>
        </p:nvCxnSpPr>
        <p:spPr>
          <a:xfrm>
            <a:off x="2952000" y="5049000"/>
            <a:ext cx="1440000" cy="54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/>
              <a:t>Networks with Multiple Sources and Sinks</a:t>
            </a:r>
            <a:endParaRPr lang="zh-TW" altLang="en-US" dirty="0"/>
          </a:p>
        </p:txBody>
      </p:sp>
      <p:sp>
        <p:nvSpPr>
          <p:cNvPr id="63" name="Text Box 6"/>
          <p:cNvSpPr txBox="1">
            <a:spLocks noChangeArrowheads="1"/>
          </p:cNvSpPr>
          <p:nvPr/>
        </p:nvSpPr>
        <p:spPr bwMode="auto">
          <a:xfrm>
            <a:off x="61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1267937861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5356000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Maximum Bipartite Matching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/>
            <a:r>
              <a:rPr lang="en-US" altLang="zh-TW" sz="2100" dirty="0"/>
              <a:t>Given an </a:t>
            </a:r>
            <a:r>
              <a:rPr lang="en-US" altLang="zh-TW" sz="2100" dirty="0">
                <a:solidFill>
                  <a:srgbClr val="FF0000"/>
                </a:solidFill>
              </a:rPr>
              <a:t>undirected</a:t>
            </a:r>
            <a:r>
              <a:rPr lang="en-US" altLang="zh-TW" sz="2100" dirty="0"/>
              <a:t> graph </a:t>
            </a:r>
            <a:r>
              <a:rPr lang="en-US" altLang="zh-TW" sz="2100" i="1" dirty="0">
                <a:solidFill>
                  <a:srgbClr val="000000"/>
                </a:solidFill>
              </a:rPr>
              <a:t>G</a:t>
            </a:r>
            <a:r>
              <a:rPr lang="en-US" altLang="zh-TW" sz="2100" dirty="0">
                <a:solidFill>
                  <a:srgbClr val="000000"/>
                </a:solidFill>
              </a:rPr>
              <a:t> </a:t>
            </a:r>
            <a:r>
              <a:rPr lang="en-US" altLang="zh-TW" sz="21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100" dirty="0">
                <a:solidFill>
                  <a:srgbClr val="000000"/>
                </a:solidFill>
              </a:rPr>
              <a:t> (</a:t>
            </a:r>
            <a:r>
              <a:rPr lang="en-US" altLang="zh-TW" sz="2100" i="1" dirty="0">
                <a:solidFill>
                  <a:srgbClr val="000000"/>
                </a:solidFill>
              </a:rPr>
              <a:t>V</a:t>
            </a:r>
            <a:r>
              <a:rPr lang="en-US" altLang="zh-TW" sz="2100" dirty="0">
                <a:solidFill>
                  <a:srgbClr val="000000"/>
                </a:solidFill>
              </a:rPr>
              <a:t>, </a:t>
            </a:r>
            <a:r>
              <a:rPr lang="en-US" altLang="zh-TW" sz="2100" i="1" spc="300" dirty="0">
                <a:solidFill>
                  <a:srgbClr val="000000"/>
                </a:solidFill>
              </a:rPr>
              <a:t>E</a:t>
            </a:r>
            <a:r>
              <a:rPr lang="en-US" altLang="zh-TW" sz="2100" dirty="0">
                <a:solidFill>
                  <a:srgbClr val="000000"/>
                </a:solidFill>
              </a:rPr>
              <a:t>)</a:t>
            </a:r>
            <a:r>
              <a:rPr lang="en-US" altLang="zh-TW" sz="2100" dirty="0"/>
              <a:t>, a </a:t>
            </a:r>
            <a:r>
              <a:rPr lang="en-US" altLang="zh-TW" sz="2100" i="1" dirty="0">
                <a:solidFill>
                  <a:srgbClr val="0000FF"/>
                </a:solidFill>
              </a:rPr>
              <a:t>matching</a:t>
            </a:r>
            <a:r>
              <a:rPr lang="en-US" altLang="zh-TW" sz="2100" dirty="0"/>
              <a:t> is a subset of edges </a:t>
            </a:r>
            <a:r>
              <a:rPr lang="en-US" altLang="zh-TW" sz="2100" i="1" dirty="0"/>
              <a:t>M</a:t>
            </a:r>
            <a:r>
              <a:rPr lang="en-US" altLang="zh-TW" sz="2100" dirty="0"/>
              <a:t> </a:t>
            </a:r>
            <a:r>
              <a:rPr lang="en-US" altLang="zh-TW" sz="2100" dirty="0">
                <a:latin typeface="Cambria Math" panose="02040503050406030204" pitchFamily="18" charset="0"/>
                <a:ea typeface="Cambria Math" panose="02040503050406030204" pitchFamily="18" charset="0"/>
              </a:rPr>
              <a:t>⊆</a:t>
            </a:r>
            <a:r>
              <a:rPr lang="en-US" altLang="zh-TW" sz="2100" dirty="0"/>
              <a:t> </a:t>
            </a:r>
            <a:r>
              <a:rPr lang="en-US" altLang="zh-TW" sz="2100" i="1" dirty="0"/>
              <a:t>E</a:t>
            </a:r>
            <a:r>
              <a:rPr lang="en-US" altLang="zh-TW" sz="2100" dirty="0"/>
              <a:t> such that for all nodes </a:t>
            </a:r>
            <a:r>
              <a:rPr lang="en-US" altLang="zh-TW" sz="2100" i="1" dirty="0"/>
              <a:t>v</a:t>
            </a:r>
            <a:r>
              <a:rPr lang="en-US" altLang="zh-TW" sz="2100" dirty="0"/>
              <a:t> </a:t>
            </a:r>
            <a:r>
              <a:rPr lang="en-US" altLang="zh-TW" sz="2100" dirty="0">
                <a:latin typeface="Cambria Math" panose="02040503050406030204" pitchFamily="18" charset="0"/>
                <a:ea typeface="Cambria Math" panose="02040503050406030204" pitchFamily="18" charset="0"/>
              </a:rPr>
              <a:t>∈</a:t>
            </a:r>
            <a:r>
              <a:rPr lang="en-US" altLang="zh-TW" sz="2100" dirty="0"/>
              <a:t> </a:t>
            </a:r>
            <a:r>
              <a:rPr lang="en-US" altLang="zh-TW" sz="2100" i="1" dirty="0"/>
              <a:t>V</a:t>
            </a:r>
            <a:r>
              <a:rPr lang="en-US" altLang="zh-TW" sz="2100" dirty="0"/>
              <a:t>, at most one edge of </a:t>
            </a:r>
            <a:r>
              <a:rPr lang="en-US" altLang="zh-TW" sz="2100" i="1" dirty="0"/>
              <a:t>M</a:t>
            </a:r>
            <a:r>
              <a:rPr lang="en-US" altLang="zh-TW" sz="2100" dirty="0"/>
              <a:t> is incident on </a:t>
            </a:r>
            <a:r>
              <a:rPr lang="en-US" altLang="zh-TW" sz="2100" i="1" dirty="0"/>
              <a:t>v</a:t>
            </a:r>
            <a:r>
              <a:rPr lang="en-US" altLang="zh-TW" sz="2100" dirty="0"/>
              <a:t>. We say that a node </a:t>
            </a:r>
            <a:r>
              <a:rPr lang="en-US" altLang="zh-TW" sz="2100" i="1" dirty="0">
                <a:solidFill>
                  <a:srgbClr val="000000"/>
                </a:solidFill>
              </a:rPr>
              <a:t>v</a:t>
            </a:r>
            <a:r>
              <a:rPr lang="en-US" altLang="zh-TW" sz="2100" dirty="0">
                <a:solidFill>
                  <a:srgbClr val="000000"/>
                </a:solidFill>
              </a:rPr>
              <a:t> </a:t>
            </a:r>
            <a:r>
              <a:rPr lang="en-US" altLang="zh-TW" sz="21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∈</a:t>
            </a:r>
            <a:r>
              <a:rPr lang="en-US" altLang="zh-TW" sz="2100" dirty="0">
                <a:solidFill>
                  <a:srgbClr val="000000"/>
                </a:solidFill>
              </a:rPr>
              <a:t> </a:t>
            </a:r>
            <a:r>
              <a:rPr lang="en-US" altLang="zh-TW" sz="2100" i="1" dirty="0">
                <a:solidFill>
                  <a:srgbClr val="000000"/>
                </a:solidFill>
              </a:rPr>
              <a:t>V</a:t>
            </a:r>
            <a:r>
              <a:rPr lang="en-US" altLang="zh-TW" sz="2100" dirty="0"/>
              <a:t> is </a:t>
            </a:r>
            <a:r>
              <a:rPr lang="en-US" altLang="zh-TW" sz="2100" i="1" dirty="0">
                <a:solidFill>
                  <a:srgbClr val="0000FF"/>
                </a:solidFill>
              </a:rPr>
              <a:t>matched</a:t>
            </a:r>
            <a:r>
              <a:rPr lang="en-US" altLang="zh-TW" sz="2100" dirty="0"/>
              <a:t> by the matching </a:t>
            </a:r>
            <a:r>
              <a:rPr lang="en-US" altLang="zh-TW" sz="2100" i="1" dirty="0"/>
              <a:t>M</a:t>
            </a:r>
            <a:r>
              <a:rPr lang="en-US" altLang="zh-TW" sz="2100" dirty="0"/>
              <a:t> if some edge in </a:t>
            </a:r>
            <a:r>
              <a:rPr lang="en-US" altLang="zh-TW" sz="2100" i="1" dirty="0"/>
              <a:t>M</a:t>
            </a:r>
            <a:r>
              <a:rPr lang="en-US" altLang="zh-TW" sz="2100" dirty="0"/>
              <a:t> is incident on </a:t>
            </a:r>
            <a:r>
              <a:rPr lang="en-US" altLang="zh-TW" sz="2100" i="1" dirty="0"/>
              <a:t>v</a:t>
            </a:r>
            <a:r>
              <a:rPr lang="en-US" altLang="zh-TW" sz="2100" dirty="0"/>
              <a:t>; otherwise, </a:t>
            </a:r>
            <a:r>
              <a:rPr lang="en-US" altLang="zh-TW" sz="2100" i="1" dirty="0"/>
              <a:t>v</a:t>
            </a:r>
            <a:r>
              <a:rPr lang="en-US" altLang="zh-TW" sz="2100" dirty="0"/>
              <a:t> is </a:t>
            </a:r>
            <a:r>
              <a:rPr lang="en-US" altLang="zh-TW" sz="2100" i="1" dirty="0">
                <a:solidFill>
                  <a:srgbClr val="0000FF"/>
                </a:solidFill>
              </a:rPr>
              <a:t>unmatched</a:t>
            </a:r>
            <a:r>
              <a:rPr lang="en-US" altLang="zh-TW" sz="2100" dirty="0"/>
              <a:t>. A </a:t>
            </a:r>
            <a:r>
              <a:rPr lang="en-US" altLang="zh-TW" sz="2100" i="1" dirty="0">
                <a:solidFill>
                  <a:srgbClr val="0000FF"/>
                </a:solidFill>
              </a:rPr>
              <a:t>maximum matching</a:t>
            </a:r>
            <a:r>
              <a:rPr lang="en-US" altLang="zh-TW" sz="2100" dirty="0"/>
              <a:t> is a matching of maximum cardinality, that is, a matching </a:t>
            </a:r>
            <a:r>
              <a:rPr lang="en-US" altLang="zh-TW" sz="2100" i="1" dirty="0"/>
              <a:t>M</a:t>
            </a:r>
            <a:r>
              <a:rPr lang="en-US" altLang="zh-TW" sz="2100" dirty="0"/>
              <a:t> such that for any matching </a:t>
            </a:r>
            <a:r>
              <a:rPr lang="en-US" altLang="zh-TW" sz="2100" i="1" spc="300" dirty="0">
                <a:solidFill>
                  <a:srgbClr val="000000"/>
                </a:solidFill>
              </a:rPr>
              <a:t>M</a:t>
            </a:r>
            <a:r>
              <a:rPr lang="en-US" altLang="zh-TW" sz="21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sz="2100" dirty="0"/>
              <a:t>, we have </a:t>
            </a:r>
            <a:r>
              <a:rPr lang="en-US" altLang="zh-TW" sz="2100" dirty="0"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sz="2100" i="1" spc="150" dirty="0"/>
              <a:t>M</a:t>
            </a:r>
            <a:r>
              <a:rPr lang="en-US" altLang="zh-TW" sz="21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sz="2100" dirty="0"/>
              <a:t> </a:t>
            </a:r>
            <a:r>
              <a:rPr lang="en-US" altLang="zh-TW" sz="2100" dirty="0">
                <a:latin typeface="Cambria Math" panose="02040503050406030204" pitchFamily="18" charset="0"/>
                <a:ea typeface="Cambria Math" panose="02040503050406030204" pitchFamily="18" charset="0"/>
              </a:rPr>
              <a:t>≥</a:t>
            </a:r>
            <a:r>
              <a:rPr lang="en-US" altLang="zh-TW" sz="2100" dirty="0"/>
              <a:t> </a:t>
            </a:r>
            <a:r>
              <a:rPr lang="en-US" altLang="zh-TW" sz="21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sz="2100" i="1" spc="200" dirty="0">
                <a:solidFill>
                  <a:srgbClr val="000000"/>
                </a:solidFill>
              </a:rPr>
              <a:t>M</a:t>
            </a:r>
            <a:r>
              <a:rPr lang="en-US" altLang="zh-TW" sz="21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′|</a:t>
            </a:r>
            <a:r>
              <a:rPr lang="en-US" altLang="zh-TW" sz="2100" dirty="0"/>
              <a:t>.</a:t>
            </a:r>
          </a:p>
          <a:p>
            <a:pPr marL="0" indent="0"/>
            <a:endParaRPr lang="en-US" altLang="zh-TW" sz="2100" dirty="0"/>
          </a:p>
          <a:p>
            <a:pPr marL="0" indent="0"/>
            <a:r>
              <a:rPr lang="en-US" altLang="zh-TW" sz="2100" i="1" dirty="0">
                <a:solidFill>
                  <a:srgbClr val="0000FF"/>
                </a:solidFill>
              </a:rPr>
              <a:t>Bipartite graphs</a:t>
            </a:r>
            <a:r>
              <a:rPr lang="en-US" altLang="zh-TW" sz="2100" dirty="0"/>
              <a:t> are graphs in which the node set can be partitioned into         </a:t>
            </a:r>
            <a:r>
              <a:rPr lang="en-US" altLang="zh-TW" sz="2100" i="1" dirty="0"/>
              <a:t>V</a:t>
            </a:r>
            <a:r>
              <a:rPr lang="en-US" altLang="zh-TW" sz="2100" dirty="0"/>
              <a:t> </a:t>
            </a:r>
            <a:r>
              <a:rPr lang="en-US" altLang="zh-TW" sz="2100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100" dirty="0"/>
              <a:t> </a:t>
            </a:r>
            <a:r>
              <a:rPr lang="en-US" altLang="zh-TW" sz="2100" i="1" dirty="0"/>
              <a:t>L</a:t>
            </a:r>
            <a:r>
              <a:rPr lang="en-US" altLang="zh-TW" sz="2100" dirty="0"/>
              <a:t> </a:t>
            </a:r>
            <a:r>
              <a:rPr lang="en-US" altLang="zh-TW" sz="2100" dirty="0">
                <a:latin typeface="Cambria Math" panose="02040503050406030204" pitchFamily="18" charset="0"/>
                <a:ea typeface="Cambria Math" panose="02040503050406030204" pitchFamily="18" charset="0"/>
              </a:rPr>
              <a:t>⋃</a:t>
            </a:r>
            <a:r>
              <a:rPr lang="en-US" altLang="zh-TW" sz="2100" dirty="0"/>
              <a:t> </a:t>
            </a:r>
            <a:r>
              <a:rPr lang="en-US" altLang="zh-TW" sz="2100" i="1" dirty="0"/>
              <a:t>R</a:t>
            </a:r>
            <a:r>
              <a:rPr lang="en-US" altLang="zh-TW" sz="2100" dirty="0"/>
              <a:t>, where </a:t>
            </a:r>
            <a:r>
              <a:rPr lang="en-US" altLang="zh-TW" sz="2100" i="1" dirty="0"/>
              <a:t>L</a:t>
            </a:r>
            <a:r>
              <a:rPr lang="en-US" altLang="zh-TW" sz="2100" dirty="0"/>
              <a:t> and </a:t>
            </a:r>
            <a:r>
              <a:rPr lang="en-US" altLang="zh-TW" sz="2100" i="1" dirty="0"/>
              <a:t>R</a:t>
            </a:r>
            <a:r>
              <a:rPr lang="en-US" altLang="zh-TW" sz="2100" dirty="0"/>
              <a:t> are disjoint and all edges in </a:t>
            </a:r>
            <a:r>
              <a:rPr lang="en-US" altLang="zh-TW" sz="2100" i="1" dirty="0"/>
              <a:t>E</a:t>
            </a:r>
            <a:r>
              <a:rPr lang="en-US" altLang="zh-TW" sz="2100" dirty="0"/>
              <a:t> go between </a:t>
            </a:r>
            <a:r>
              <a:rPr lang="en-US" altLang="zh-TW" sz="2100" i="1" dirty="0"/>
              <a:t>L</a:t>
            </a:r>
            <a:r>
              <a:rPr lang="en-US" altLang="zh-TW" sz="2100" dirty="0"/>
              <a:t> and </a:t>
            </a:r>
            <a:r>
              <a:rPr lang="en-US" altLang="zh-TW" sz="2100" i="1" dirty="0"/>
              <a:t>R</a:t>
            </a:r>
            <a:r>
              <a:rPr lang="en-US" altLang="zh-TW" sz="2100" dirty="0"/>
              <a:t>. We assume that every vertex in </a:t>
            </a:r>
            <a:r>
              <a:rPr lang="en-US" altLang="zh-TW" sz="2100" i="1" dirty="0"/>
              <a:t>V</a:t>
            </a:r>
            <a:r>
              <a:rPr lang="en-US" altLang="zh-TW" sz="2100" dirty="0"/>
              <a:t> has at least one incident edge.</a:t>
            </a:r>
          </a:p>
          <a:p>
            <a:pPr marL="0" indent="0"/>
            <a:endParaRPr lang="en-US" altLang="zh-TW" sz="2100" dirty="0"/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</a:rPr>
              <a:t>In the </a:t>
            </a:r>
            <a:r>
              <a:rPr lang="en-US" altLang="zh-TW" i="1" dirty="0">
                <a:solidFill>
                  <a:srgbClr val="0000FF"/>
                </a:solidFill>
              </a:rPr>
              <a:t>maximum matching problem</a:t>
            </a:r>
            <a:r>
              <a:rPr lang="en-US" altLang="zh-TW" dirty="0">
                <a:solidFill>
                  <a:srgbClr val="000000"/>
                </a:solidFill>
              </a:rPr>
              <a:t>, we are given a bipartite graph, and we wish to find a maximum matching.</a:t>
            </a:r>
          </a:p>
          <a:p>
            <a:pPr marL="0" indent="0"/>
            <a:endParaRPr lang="zh-TW" altLang="en-US" sz="2100" dirty="0"/>
          </a:p>
        </p:txBody>
      </p:sp>
    </p:spTree>
    <p:extLst>
      <p:ext uri="{BB962C8B-B14F-4D97-AF65-F5344CB8AC3E}">
        <p14:creationId xmlns:p14="http://schemas.microsoft.com/office/powerpoint/2010/main" val="225638926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橢圓 112"/>
          <p:cNvSpPr/>
          <p:nvPr/>
        </p:nvSpPr>
        <p:spPr>
          <a:xfrm>
            <a:off x="2052000" y="198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rtlCol="0" anchor="b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1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14" name="橢圓 113"/>
          <p:cNvSpPr/>
          <p:nvPr/>
        </p:nvSpPr>
        <p:spPr>
          <a:xfrm>
            <a:off x="2052000" y="270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rtlCol="0" anchor="b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1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15" name="橢圓 114"/>
          <p:cNvSpPr/>
          <p:nvPr/>
        </p:nvSpPr>
        <p:spPr>
          <a:xfrm>
            <a:off x="2052000" y="34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rtlCol="0" anchor="b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1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16" name="直線單箭頭接點 115"/>
          <p:cNvCxnSpPr>
            <a:stCxn id="115" idx="6"/>
            <a:endCxn id="123" idx="2"/>
          </p:cNvCxnSpPr>
          <p:nvPr/>
        </p:nvCxnSpPr>
        <p:spPr>
          <a:xfrm flipV="1">
            <a:off x="2412000" y="3249000"/>
            <a:ext cx="1080000" cy="36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17" name="直線單箭頭接點 116"/>
          <p:cNvCxnSpPr>
            <a:stCxn id="119" idx="6"/>
            <a:endCxn id="123" idx="3"/>
          </p:cNvCxnSpPr>
          <p:nvPr/>
        </p:nvCxnSpPr>
        <p:spPr>
          <a:xfrm flipV="1">
            <a:off x="2412000" y="3376279"/>
            <a:ext cx="1132721" cy="95272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18" name="橢圓 117"/>
          <p:cNvSpPr/>
          <p:nvPr/>
        </p:nvSpPr>
        <p:spPr>
          <a:xfrm>
            <a:off x="2052000" y="126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rtlCol="0" anchor="b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1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19" name="橢圓 118"/>
          <p:cNvSpPr/>
          <p:nvPr/>
        </p:nvSpPr>
        <p:spPr>
          <a:xfrm>
            <a:off x="2052000" y="41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rtlCol="0" anchor="b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1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0" name="橢圓 119"/>
          <p:cNvSpPr/>
          <p:nvPr/>
        </p:nvSpPr>
        <p:spPr>
          <a:xfrm>
            <a:off x="3492000" y="16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21" name="直線單箭頭接點 120"/>
          <p:cNvCxnSpPr>
            <a:stCxn id="118" idx="6"/>
            <a:endCxn id="120" idx="2"/>
          </p:cNvCxnSpPr>
          <p:nvPr/>
        </p:nvCxnSpPr>
        <p:spPr>
          <a:xfrm>
            <a:off x="2412000" y="1449000"/>
            <a:ext cx="1080000" cy="360000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22" name="橢圓 121"/>
          <p:cNvSpPr/>
          <p:nvPr/>
        </p:nvSpPr>
        <p:spPr>
          <a:xfrm>
            <a:off x="3492000" y="23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3" name="橢圓 122"/>
          <p:cNvSpPr/>
          <p:nvPr/>
        </p:nvSpPr>
        <p:spPr>
          <a:xfrm>
            <a:off x="3492000" y="306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4" name="橢圓 123"/>
          <p:cNvSpPr/>
          <p:nvPr/>
        </p:nvSpPr>
        <p:spPr>
          <a:xfrm>
            <a:off x="3492000" y="378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25" name="直線單箭頭接點 124"/>
          <p:cNvCxnSpPr>
            <a:stCxn id="113" idx="6"/>
            <a:endCxn id="120" idx="2"/>
          </p:cNvCxnSpPr>
          <p:nvPr/>
        </p:nvCxnSpPr>
        <p:spPr>
          <a:xfrm flipV="1">
            <a:off x="2412000" y="1809000"/>
            <a:ext cx="1080000" cy="36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26" name="直線單箭頭接點 125"/>
          <p:cNvCxnSpPr>
            <a:stCxn id="113" idx="6"/>
            <a:endCxn id="123" idx="1"/>
          </p:cNvCxnSpPr>
          <p:nvPr/>
        </p:nvCxnSpPr>
        <p:spPr>
          <a:xfrm>
            <a:off x="2412000" y="2169000"/>
            <a:ext cx="1132721" cy="95272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27" name="直線單箭頭接點 126"/>
          <p:cNvCxnSpPr>
            <a:stCxn id="114" idx="6"/>
            <a:endCxn id="122" idx="2"/>
          </p:cNvCxnSpPr>
          <p:nvPr/>
        </p:nvCxnSpPr>
        <p:spPr>
          <a:xfrm flipV="1">
            <a:off x="2412000" y="2529000"/>
            <a:ext cx="1080000" cy="36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28" name="直線單箭頭接點 127"/>
          <p:cNvCxnSpPr>
            <a:stCxn id="114" idx="6"/>
            <a:endCxn id="123" idx="2"/>
          </p:cNvCxnSpPr>
          <p:nvPr/>
        </p:nvCxnSpPr>
        <p:spPr>
          <a:xfrm>
            <a:off x="2412000" y="2889000"/>
            <a:ext cx="1080000" cy="360000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30" name="橢圓 129"/>
          <p:cNvSpPr/>
          <p:nvPr/>
        </p:nvSpPr>
        <p:spPr>
          <a:xfrm>
            <a:off x="5292000" y="198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rtlCol="0" anchor="b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1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31" name="橢圓 130"/>
          <p:cNvSpPr/>
          <p:nvPr/>
        </p:nvSpPr>
        <p:spPr>
          <a:xfrm>
            <a:off x="5292000" y="270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rtlCol="0" anchor="b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1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32" name="橢圓 131"/>
          <p:cNvSpPr/>
          <p:nvPr/>
        </p:nvSpPr>
        <p:spPr>
          <a:xfrm>
            <a:off x="5292000" y="34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rtlCol="0" anchor="b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1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33" name="直線單箭頭接點 132"/>
          <p:cNvCxnSpPr>
            <a:stCxn id="132" idx="6"/>
            <a:endCxn id="140" idx="2"/>
          </p:cNvCxnSpPr>
          <p:nvPr/>
        </p:nvCxnSpPr>
        <p:spPr>
          <a:xfrm flipV="1">
            <a:off x="5652000" y="3249000"/>
            <a:ext cx="1080000" cy="36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34" name="直線單箭頭接點 133"/>
          <p:cNvCxnSpPr>
            <a:stCxn id="136" idx="6"/>
            <a:endCxn id="140" idx="3"/>
          </p:cNvCxnSpPr>
          <p:nvPr/>
        </p:nvCxnSpPr>
        <p:spPr>
          <a:xfrm flipV="1">
            <a:off x="5652000" y="3376279"/>
            <a:ext cx="1132721" cy="952721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35" name="橢圓 134"/>
          <p:cNvSpPr/>
          <p:nvPr/>
        </p:nvSpPr>
        <p:spPr>
          <a:xfrm>
            <a:off x="5292000" y="126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rtlCol="0" anchor="b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1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36" name="橢圓 135"/>
          <p:cNvSpPr/>
          <p:nvPr/>
        </p:nvSpPr>
        <p:spPr>
          <a:xfrm>
            <a:off x="5292000" y="41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rtlCol="0" anchor="b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1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37" name="橢圓 136"/>
          <p:cNvSpPr/>
          <p:nvPr/>
        </p:nvSpPr>
        <p:spPr>
          <a:xfrm>
            <a:off x="6732000" y="16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38" name="直線單箭頭接點 137"/>
          <p:cNvCxnSpPr>
            <a:stCxn id="135" idx="6"/>
            <a:endCxn id="137" idx="2"/>
          </p:cNvCxnSpPr>
          <p:nvPr/>
        </p:nvCxnSpPr>
        <p:spPr>
          <a:xfrm>
            <a:off x="5652000" y="1449000"/>
            <a:ext cx="1080000" cy="36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39" name="橢圓 138"/>
          <p:cNvSpPr/>
          <p:nvPr/>
        </p:nvSpPr>
        <p:spPr>
          <a:xfrm>
            <a:off x="6732000" y="23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40" name="橢圓 139"/>
          <p:cNvSpPr/>
          <p:nvPr/>
        </p:nvSpPr>
        <p:spPr>
          <a:xfrm>
            <a:off x="6732000" y="306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41" name="橢圓 140"/>
          <p:cNvSpPr/>
          <p:nvPr/>
        </p:nvSpPr>
        <p:spPr>
          <a:xfrm>
            <a:off x="6732000" y="378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42" name="直線單箭頭接點 141"/>
          <p:cNvCxnSpPr>
            <a:stCxn id="130" idx="6"/>
            <a:endCxn id="137" idx="2"/>
          </p:cNvCxnSpPr>
          <p:nvPr/>
        </p:nvCxnSpPr>
        <p:spPr>
          <a:xfrm flipV="1">
            <a:off x="5652000" y="1809000"/>
            <a:ext cx="1080000" cy="360000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43" name="直線單箭頭接點 142"/>
          <p:cNvCxnSpPr>
            <a:stCxn id="130" idx="6"/>
            <a:endCxn id="140" idx="1"/>
          </p:cNvCxnSpPr>
          <p:nvPr/>
        </p:nvCxnSpPr>
        <p:spPr>
          <a:xfrm>
            <a:off x="5652000" y="2169000"/>
            <a:ext cx="1132721" cy="95272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44" name="直線單箭頭接點 143"/>
          <p:cNvCxnSpPr>
            <a:stCxn id="131" idx="6"/>
            <a:endCxn id="139" idx="2"/>
          </p:cNvCxnSpPr>
          <p:nvPr/>
        </p:nvCxnSpPr>
        <p:spPr>
          <a:xfrm flipV="1">
            <a:off x="5652000" y="2529000"/>
            <a:ext cx="1080000" cy="360000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45" name="直線單箭頭接點 144"/>
          <p:cNvCxnSpPr>
            <a:stCxn id="131" idx="6"/>
            <a:endCxn id="140" idx="2"/>
          </p:cNvCxnSpPr>
          <p:nvPr/>
        </p:nvCxnSpPr>
        <p:spPr>
          <a:xfrm>
            <a:off x="5652000" y="2889000"/>
            <a:ext cx="1080000" cy="36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50" name="直線單箭頭接點 149"/>
          <p:cNvCxnSpPr>
            <a:stCxn id="131" idx="6"/>
            <a:endCxn id="141" idx="2"/>
          </p:cNvCxnSpPr>
          <p:nvPr/>
        </p:nvCxnSpPr>
        <p:spPr>
          <a:xfrm>
            <a:off x="5652000" y="2889000"/>
            <a:ext cx="1080000" cy="108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53" name="直線單箭頭接點 152"/>
          <p:cNvCxnSpPr>
            <a:stCxn id="114" idx="6"/>
          </p:cNvCxnSpPr>
          <p:nvPr/>
        </p:nvCxnSpPr>
        <p:spPr>
          <a:xfrm>
            <a:off x="2412000" y="2889000"/>
            <a:ext cx="1080000" cy="108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69" name="Text Box 6"/>
          <p:cNvSpPr txBox="1">
            <a:spLocks noChangeArrowheads="1"/>
          </p:cNvSpPr>
          <p:nvPr/>
        </p:nvSpPr>
        <p:spPr bwMode="auto">
          <a:xfrm>
            <a:off x="205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</a:t>
            </a:r>
          </a:p>
        </p:txBody>
      </p:sp>
      <p:sp>
        <p:nvSpPr>
          <p:cNvPr id="170" name="Text Box 6"/>
          <p:cNvSpPr txBox="1">
            <a:spLocks noChangeArrowheads="1"/>
          </p:cNvSpPr>
          <p:nvPr/>
        </p:nvSpPr>
        <p:spPr bwMode="auto">
          <a:xfrm>
            <a:off x="34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R</a:t>
            </a:r>
          </a:p>
        </p:txBody>
      </p:sp>
      <p:sp>
        <p:nvSpPr>
          <p:cNvPr id="171" name="Text Box 6"/>
          <p:cNvSpPr txBox="1">
            <a:spLocks noChangeArrowheads="1"/>
          </p:cNvSpPr>
          <p:nvPr/>
        </p:nvSpPr>
        <p:spPr bwMode="auto">
          <a:xfrm>
            <a:off x="52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</a:t>
            </a:r>
          </a:p>
        </p:txBody>
      </p:sp>
      <p:sp>
        <p:nvSpPr>
          <p:cNvPr id="172" name="Text Box 6"/>
          <p:cNvSpPr txBox="1">
            <a:spLocks noChangeArrowheads="1"/>
          </p:cNvSpPr>
          <p:nvPr/>
        </p:nvSpPr>
        <p:spPr bwMode="auto">
          <a:xfrm>
            <a:off x="67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R</a:t>
            </a:r>
          </a:p>
        </p:txBody>
      </p:sp>
      <p:sp>
        <p:nvSpPr>
          <p:cNvPr id="173" name="Text Box 6"/>
          <p:cNvSpPr txBox="1">
            <a:spLocks noChangeArrowheads="1"/>
          </p:cNvSpPr>
          <p:nvPr/>
        </p:nvSpPr>
        <p:spPr bwMode="auto">
          <a:xfrm>
            <a:off x="27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(a)</a:t>
            </a:r>
          </a:p>
        </p:txBody>
      </p:sp>
      <p:sp>
        <p:nvSpPr>
          <p:cNvPr id="174" name="Text Box 6"/>
          <p:cNvSpPr txBox="1">
            <a:spLocks noChangeArrowheads="1"/>
          </p:cNvSpPr>
          <p:nvPr/>
        </p:nvSpPr>
        <p:spPr bwMode="auto">
          <a:xfrm>
            <a:off x="601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1834638579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/>
              <a:t>Finding a Maximum Bipartite Matching</a:t>
            </a:r>
            <a:endParaRPr lang="zh-TW" altLang="en-US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1200"/>
              </a:spcBef>
            </a:pPr>
            <a:r>
              <a:rPr lang="en-US" altLang="zh-TW" dirty="0"/>
              <a:t>We define the </a:t>
            </a:r>
            <a:r>
              <a:rPr lang="en-US" altLang="zh-TW" i="1" dirty="0">
                <a:solidFill>
                  <a:srgbClr val="0000FF"/>
                </a:solidFill>
              </a:rPr>
              <a:t>corresponding flow network</a:t>
            </a:r>
            <a:r>
              <a:rPr lang="en-US" altLang="zh-TW" dirty="0"/>
              <a:t> </a:t>
            </a:r>
            <a:r>
              <a:rPr lang="en-US" altLang="zh-TW" i="1" spc="100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spc="300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150" dirty="0">
                <a:solidFill>
                  <a:srgbClr val="000000"/>
                </a:solidFill>
              </a:rPr>
              <a:t>E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dirty="0"/>
              <a:t> for the</a:t>
            </a:r>
            <a:r>
              <a:rPr lang="zh-TW" altLang="en-US" dirty="0"/>
              <a:t> </a:t>
            </a:r>
            <a:r>
              <a:rPr lang="en-US" altLang="zh-TW" dirty="0"/>
              <a:t>bipartite graph </a:t>
            </a:r>
            <a:r>
              <a:rPr lang="en-US" altLang="zh-TW" i="1" dirty="0"/>
              <a:t>G</a:t>
            </a:r>
            <a:r>
              <a:rPr lang="en-US" altLang="zh-TW" dirty="0"/>
              <a:t> as follows. We let the source </a:t>
            </a:r>
            <a:r>
              <a:rPr lang="en-US" altLang="zh-TW" i="1" dirty="0"/>
              <a:t>s</a:t>
            </a:r>
            <a:r>
              <a:rPr lang="en-US" altLang="zh-TW" dirty="0"/>
              <a:t> and sink </a:t>
            </a:r>
            <a:r>
              <a:rPr lang="en-US" altLang="zh-TW" i="1" dirty="0"/>
              <a:t>t</a:t>
            </a:r>
            <a:r>
              <a:rPr lang="en-US" altLang="zh-TW" dirty="0"/>
              <a:t> be new nodes not</a:t>
            </a:r>
            <a:r>
              <a:rPr lang="zh-TW" altLang="en-US" dirty="0"/>
              <a:t> </a:t>
            </a:r>
            <a:r>
              <a:rPr lang="en-US" altLang="zh-TW" dirty="0"/>
              <a:t>in </a:t>
            </a:r>
            <a:r>
              <a:rPr lang="en-US" altLang="zh-TW" i="1" dirty="0"/>
              <a:t>V</a:t>
            </a:r>
            <a:r>
              <a:rPr lang="en-US" altLang="zh-TW" dirty="0"/>
              <a:t>, and we let </a:t>
            </a:r>
            <a:r>
              <a:rPr lang="en-US" altLang="zh-TW" i="1" spc="300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/>
              <a:t> </a:t>
            </a:r>
            <a:r>
              <a:rPr lang="en-US" altLang="zh-TW" i="1" dirty="0"/>
              <a:t>V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⋃</a:t>
            </a:r>
            <a:r>
              <a:rPr lang="en-US" altLang="zh-TW" dirty="0"/>
              <a:t> {</a:t>
            </a:r>
            <a:r>
              <a:rPr lang="en-US" altLang="zh-TW" i="1" dirty="0"/>
              <a:t>s</a:t>
            </a:r>
            <a:r>
              <a:rPr lang="en-US" altLang="zh-TW" dirty="0"/>
              <a:t>, </a:t>
            </a:r>
            <a:r>
              <a:rPr lang="en-US" altLang="zh-TW" i="1" dirty="0"/>
              <a:t>t</a:t>
            </a:r>
            <a:r>
              <a:rPr lang="en-US" altLang="zh-TW" dirty="0"/>
              <a:t>}. If the node partition of </a:t>
            </a:r>
            <a:r>
              <a:rPr lang="en-US" altLang="zh-TW" i="1" dirty="0"/>
              <a:t>G</a:t>
            </a:r>
            <a:r>
              <a:rPr lang="en-US" altLang="zh-TW" dirty="0"/>
              <a:t> is </a:t>
            </a:r>
            <a:r>
              <a:rPr lang="en-US" altLang="zh-TW" i="1" dirty="0"/>
              <a:t>V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/>
              <a:t> </a:t>
            </a:r>
            <a:r>
              <a:rPr lang="en-US" altLang="zh-TW" i="1" dirty="0"/>
              <a:t>L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⋃</a:t>
            </a:r>
            <a:r>
              <a:rPr lang="en-US" altLang="zh-TW" dirty="0"/>
              <a:t> </a:t>
            </a:r>
            <a:r>
              <a:rPr lang="en-US" altLang="zh-TW" i="1" dirty="0"/>
              <a:t>R</a:t>
            </a:r>
            <a:r>
              <a:rPr lang="en-US" altLang="zh-TW" dirty="0"/>
              <a:t>, the directed edges of </a:t>
            </a:r>
            <a:r>
              <a:rPr lang="en-US" altLang="zh-TW" i="1" spc="100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/>
              <a:t> are the edges of </a:t>
            </a:r>
            <a:r>
              <a:rPr lang="en-US" altLang="zh-TW" i="1" dirty="0"/>
              <a:t>E</a:t>
            </a:r>
            <a:r>
              <a:rPr lang="en-US" altLang="zh-TW" dirty="0"/>
              <a:t>, directed from </a:t>
            </a:r>
            <a:r>
              <a:rPr lang="en-US" altLang="zh-TW" i="1" dirty="0"/>
              <a:t>L</a:t>
            </a:r>
            <a:r>
              <a:rPr lang="en-US" altLang="zh-TW" dirty="0"/>
              <a:t> to </a:t>
            </a:r>
            <a:r>
              <a:rPr lang="en-US" altLang="zh-TW" i="1" dirty="0"/>
              <a:t>R</a:t>
            </a:r>
            <a:r>
              <a:rPr lang="en-US" altLang="zh-TW" dirty="0"/>
              <a:t>, along with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i="1" spc="300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dirty="0"/>
              <a:t> new directed edges:</a:t>
            </a:r>
          </a:p>
          <a:p>
            <a:pPr marL="542925" indent="0">
              <a:spcBef>
                <a:spcPts val="1200"/>
              </a:spcBef>
            </a:pPr>
            <a:r>
              <a:rPr lang="en-US" altLang="zh-TW" i="1" spc="150" dirty="0">
                <a:solidFill>
                  <a:srgbClr val="000000"/>
                </a:solidFill>
              </a:rPr>
              <a:t>E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pl-PL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pl-PL" altLang="zh-TW" dirty="0"/>
              <a:t> </a:t>
            </a:r>
            <a:r>
              <a:rPr lang="en-US" altLang="zh-TW" dirty="0"/>
              <a:t>{(</a:t>
            </a:r>
            <a:r>
              <a:rPr lang="pl-PL" altLang="zh-TW" i="1" dirty="0"/>
              <a:t>s</a:t>
            </a:r>
            <a:r>
              <a:rPr lang="en-US" altLang="zh-TW" dirty="0"/>
              <a:t>,</a:t>
            </a:r>
            <a:r>
              <a:rPr lang="pl-PL" altLang="zh-TW" dirty="0"/>
              <a:t> </a:t>
            </a:r>
            <a:r>
              <a:rPr lang="pl-PL" altLang="zh-TW" i="1" dirty="0"/>
              <a:t>u</a:t>
            </a:r>
            <a:r>
              <a:rPr lang="en-US" altLang="zh-TW" dirty="0"/>
              <a:t>)</a:t>
            </a:r>
            <a:r>
              <a:rPr lang="pl-PL" altLang="zh-TW" dirty="0"/>
              <a:t> </a:t>
            </a:r>
            <a:r>
              <a:rPr lang="en-US" altLang="zh-TW" dirty="0"/>
              <a:t>:</a:t>
            </a:r>
            <a:r>
              <a:rPr lang="pl-PL" altLang="zh-TW" dirty="0"/>
              <a:t> </a:t>
            </a:r>
            <a:r>
              <a:rPr lang="pl-PL" altLang="zh-TW" i="1" dirty="0"/>
              <a:t>u</a:t>
            </a:r>
            <a:r>
              <a:rPr lang="pl-PL" altLang="zh-TW" dirty="0"/>
              <a:t> </a:t>
            </a:r>
            <a:r>
              <a:rPr lang="pl-PL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∈</a:t>
            </a:r>
            <a:r>
              <a:rPr lang="pl-PL" altLang="zh-TW" dirty="0"/>
              <a:t> </a:t>
            </a:r>
            <a:r>
              <a:rPr lang="pl-PL" altLang="zh-TW" i="1" dirty="0"/>
              <a:t>L</a:t>
            </a:r>
            <a:r>
              <a:rPr lang="en-US" altLang="zh-TW" dirty="0"/>
              <a:t>}</a:t>
            </a:r>
            <a:r>
              <a:rPr lang="pl-PL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⋃</a:t>
            </a:r>
            <a:r>
              <a:rPr lang="pl-PL" altLang="zh-TW" dirty="0"/>
              <a:t> </a:t>
            </a:r>
            <a:r>
              <a:rPr lang="en-US" altLang="zh-TW" dirty="0"/>
              <a:t>{(</a:t>
            </a:r>
            <a:r>
              <a:rPr lang="pl-PL" altLang="zh-TW" i="1" dirty="0"/>
              <a:t>u</a:t>
            </a:r>
            <a:r>
              <a:rPr lang="en-US" altLang="zh-TW" dirty="0"/>
              <a:t>,</a:t>
            </a:r>
            <a:r>
              <a:rPr lang="pl-PL" altLang="zh-TW" dirty="0"/>
              <a:t> </a:t>
            </a:r>
            <a:r>
              <a:rPr lang="en-US" altLang="zh-TW" i="1" dirty="0"/>
              <a:t>v</a:t>
            </a:r>
            <a:r>
              <a:rPr lang="en-US" altLang="zh-TW" dirty="0"/>
              <a:t>) :</a:t>
            </a:r>
            <a:r>
              <a:rPr lang="pl-PL" altLang="zh-TW" dirty="0"/>
              <a:t> </a:t>
            </a:r>
            <a:r>
              <a:rPr lang="en-US" altLang="zh-TW" dirty="0"/>
              <a:t>{</a:t>
            </a:r>
            <a:r>
              <a:rPr lang="pl-PL" altLang="zh-TW" i="1" dirty="0"/>
              <a:t>u</a:t>
            </a:r>
            <a:r>
              <a:rPr lang="en-US" altLang="zh-TW" dirty="0"/>
              <a:t>,</a:t>
            </a:r>
            <a:r>
              <a:rPr lang="pl-PL" altLang="zh-TW" dirty="0"/>
              <a:t> </a:t>
            </a:r>
            <a:r>
              <a:rPr lang="en-US" altLang="zh-TW" i="1" dirty="0"/>
              <a:t>v</a:t>
            </a:r>
            <a:r>
              <a:rPr lang="en-US" altLang="zh-TW" dirty="0"/>
              <a:t>}</a:t>
            </a:r>
            <a:r>
              <a:rPr lang="pl-PL" altLang="zh-TW" dirty="0"/>
              <a:t> </a:t>
            </a:r>
            <a:r>
              <a:rPr lang="pl-PL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∈</a:t>
            </a:r>
            <a:r>
              <a:rPr lang="pl-PL" altLang="zh-TW" dirty="0"/>
              <a:t> </a:t>
            </a:r>
            <a:r>
              <a:rPr lang="pl-PL" altLang="zh-TW" i="1" dirty="0"/>
              <a:t>E</a:t>
            </a:r>
            <a:r>
              <a:rPr lang="en-US" altLang="zh-TW" dirty="0"/>
              <a:t>}</a:t>
            </a:r>
            <a:r>
              <a:rPr lang="pl-PL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⋃</a:t>
            </a:r>
            <a:r>
              <a:rPr lang="pl-PL" altLang="zh-TW" dirty="0"/>
              <a:t> </a:t>
            </a:r>
            <a:r>
              <a:rPr lang="en-US" altLang="zh-TW" dirty="0"/>
              <a:t>{(</a:t>
            </a:r>
            <a:r>
              <a:rPr lang="en-US" altLang="zh-TW" i="1" dirty="0"/>
              <a:t>v</a:t>
            </a:r>
            <a:r>
              <a:rPr lang="en-US" altLang="zh-TW" dirty="0"/>
              <a:t>,</a:t>
            </a:r>
            <a:r>
              <a:rPr lang="pl-PL" altLang="zh-TW" dirty="0"/>
              <a:t> </a:t>
            </a:r>
            <a:r>
              <a:rPr lang="pl-PL" altLang="zh-TW" i="1" dirty="0"/>
              <a:t>t</a:t>
            </a:r>
            <a:r>
              <a:rPr lang="en-US" altLang="zh-TW" dirty="0"/>
              <a:t>)</a:t>
            </a:r>
            <a:r>
              <a:rPr lang="pl-PL" altLang="zh-TW" dirty="0"/>
              <a:t> </a:t>
            </a:r>
            <a:r>
              <a:rPr lang="en-US" altLang="zh-TW" dirty="0"/>
              <a:t>:</a:t>
            </a:r>
            <a:r>
              <a:rPr lang="pl-PL" altLang="zh-TW" dirty="0"/>
              <a:t> </a:t>
            </a:r>
            <a:r>
              <a:rPr lang="en-US" altLang="zh-TW" i="1" dirty="0"/>
              <a:t>v</a:t>
            </a:r>
            <a:r>
              <a:rPr lang="pl-PL" altLang="zh-TW" dirty="0"/>
              <a:t> </a:t>
            </a:r>
            <a:r>
              <a:rPr lang="pl-PL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∈</a:t>
            </a:r>
            <a:r>
              <a:rPr lang="pl-PL" altLang="zh-TW" dirty="0"/>
              <a:t> </a:t>
            </a:r>
            <a:r>
              <a:rPr lang="pl-PL" altLang="zh-TW" i="1" dirty="0"/>
              <a:t>R</a:t>
            </a:r>
            <a:r>
              <a:rPr lang="en-US" altLang="zh-TW" dirty="0"/>
              <a:t>}.</a:t>
            </a:r>
          </a:p>
          <a:p>
            <a:pPr marL="0" indent="0">
              <a:spcBef>
                <a:spcPts val="1200"/>
              </a:spcBef>
            </a:pPr>
            <a:r>
              <a:rPr lang="en-US" altLang="zh-TW" dirty="0"/>
              <a:t>To complete the construction, </a:t>
            </a:r>
            <a:r>
              <a:rPr lang="en-US" altLang="zh-TW" dirty="0">
                <a:solidFill>
                  <a:srgbClr val="FF0000"/>
                </a:solidFill>
              </a:rPr>
              <a:t>we assign unit capacity to each edge in </a:t>
            </a:r>
            <a:r>
              <a:rPr lang="en-US" altLang="zh-TW" i="1" spc="200" dirty="0">
                <a:solidFill>
                  <a:srgbClr val="FF0000"/>
                </a:solidFill>
              </a:rPr>
              <a:t>E</a:t>
            </a:r>
            <a:r>
              <a:rPr lang="en-US" altLang="zh-TW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/>
              <a:t>. Since each node in </a:t>
            </a:r>
            <a:r>
              <a:rPr lang="en-US" altLang="zh-TW" i="1" spc="300" dirty="0"/>
              <a:t>V</a:t>
            </a:r>
            <a:r>
              <a:rPr lang="en-US" altLang="zh-TW" dirty="0"/>
              <a:t> has at least one incident edge,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i="1" spc="150" dirty="0">
                <a:solidFill>
                  <a:srgbClr val="000000"/>
                </a:solidFill>
              </a:rPr>
              <a:t>E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≥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i="1" spc="300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/</a:t>
            </a:r>
            <a:r>
              <a:rPr lang="en-US" altLang="zh-TW" dirty="0"/>
              <a:t> 2. Thus,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i="1" spc="150" dirty="0">
                <a:solidFill>
                  <a:srgbClr val="000000"/>
                </a:solidFill>
              </a:rPr>
              <a:t>E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≤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i="1" spc="150" dirty="0">
                <a:solidFill>
                  <a:srgbClr val="000000"/>
                </a:solidFill>
              </a:rPr>
              <a:t>E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′|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i="1" spc="150" dirty="0">
                <a:solidFill>
                  <a:srgbClr val="000000"/>
                </a:solidFill>
              </a:rPr>
              <a:t>E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i="1" spc="300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≤</a:t>
            </a:r>
            <a:r>
              <a:rPr lang="en-US" altLang="zh-TW" dirty="0"/>
              <a:t> 3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i="1" spc="150" dirty="0">
                <a:solidFill>
                  <a:srgbClr val="000000"/>
                </a:solidFill>
              </a:rPr>
              <a:t>E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dirty="0"/>
              <a:t>, and so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i="1" spc="150" dirty="0">
                <a:solidFill>
                  <a:srgbClr val="000000"/>
                </a:solidFill>
              </a:rPr>
              <a:t>E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′|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/>
              <a:t> 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altLang="zh-TW" dirty="0"/>
              <a:t>(</a:t>
            </a:r>
            <a:r>
              <a:rPr lang="en-US" altLang="zh-TW" i="1" spc="200" dirty="0"/>
              <a:t>E</a:t>
            </a:r>
            <a:r>
              <a:rPr lang="en-US" altLang="zh-TW" dirty="0"/>
              <a:t>).</a:t>
            </a:r>
          </a:p>
          <a:p>
            <a:pPr marL="0" indent="0">
              <a:spcBef>
                <a:spcPts val="1200"/>
              </a:spcBef>
            </a:pPr>
            <a:r>
              <a:rPr lang="en-US" altLang="zh-TW" dirty="0"/>
              <a:t>The following lemma shows that a matching in </a:t>
            </a:r>
            <a:r>
              <a:rPr lang="en-US" altLang="zh-TW" i="1" dirty="0"/>
              <a:t>G</a:t>
            </a:r>
            <a:r>
              <a:rPr lang="en-US" altLang="zh-TW" dirty="0"/>
              <a:t> corresponds directly to a flow in </a:t>
            </a:r>
            <a:r>
              <a:rPr lang="en-US" altLang="zh-TW" i="1" spc="100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/>
              <a:t>s corresponding flow network </a:t>
            </a:r>
            <a:r>
              <a:rPr lang="en-US" altLang="zh-TW" i="1" spc="100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/>
              <a:t>. We say that a flow </a:t>
            </a:r>
            <a:r>
              <a:rPr lang="en-US" altLang="zh-TW" i="1" dirty="0"/>
              <a:t>f</a:t>
            </a:r>
            <a:r>
              <a:rPr lang="en-US" altLang="zh-TW" dirty="0"/>
              <a:t> on a flow network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E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dirty="0"/>
              <a:t> is </a:t>
            </a:r>
            <a:r>
              <a:rPr lang="en-US" altLang="zh-TW" i="1" dirty="0">
                <a:solidFill>
                  <a:srgbClr val="0000FF"/>
                </a:solidFill>
              </a:rPr>
              <a:t>integer-valued</a:t>
            </a:r>
            <a:r>
              <a:rPr lang="en-US" altLang="zh-TW" dirty="0"/>
              <a:t> if </a:t>
            </a:r>
            <a:r>
              <a:rPr lang="en-US" altLang="zh-TW" i="1" spc="300" dirty="0"/>
              <a:t>f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pl-PL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</a:t>
            </a:r>
            <a:r>
              <a:rPr lang="pl-PL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/>
              <a:t>is an integer for all	 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pl-PL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</a:t>
            </a:r>
            <a:r>
              <a:rPr lang="pl-PL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∈</a:t>
            </a:r>
            <a:r>
              <a:rPr lang="en-US" altLang="zh-TW" dirty="0"/>
              <a:t> </a:t>
            </a:r>
            <a:r>
              <a:rPr lang="en-US" altLang="zh-TW" i="1" dirty="0"/>
              <a:t>V</a:t>
            </a:r>
            <a:r>
              <a:rPr lang="en-US" altLang="zh-TW" dirty="0"/>
              <a:t> </a:t>
            </a:r>
            <a:r>
              <a:rPr lang="en-US" altLang="zh-TW" sz="2000" spc="300" dirty="0">
                <a:latin typeface="Cambria Math" panose="02040503050406030204" pitchFamily="18" charset="0"/>
                <a:ea typeface="Cambria Math" panose="02040503050406030204" pitchFamily="18" charset="0"/>
              </a:rPr>
              <a:t>⨉</a:t>
            </a:r>
            <a:r>
              <a:rPr lang="en-US" altLang="zh-TW" i="1" dirty="0"/>
              <a:t>V</a:t>
            </a:r>
            <a:r>
              <a:rPr lang="en-US" altLang="zh-TW" dirty="0"/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48379956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橢圓 25"/>
          <p:cNvSpPr/>
          <p:nvPr/>
        </p:nvSpPr>
        <p:spPr>
          <a:xfrm>
            <a:off x="2232000" y="270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9000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新細明體" panose="02020500000000000000" pitchFamily="18" charset="-120"/>
                <a:cs typeface="Times New Roman" panose="02020603050405020304" pitchFamily="18" charset="0"/>
              </a:rPr>
              <a:t>s</a:t>
            </a:r>
            <a:endParaRPr kumimoji="0" lang="zh-TW" altLang="en-US" sz="24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7" name="橢圓 26"/>
          <p:cNvSpPr/>
          <p:nvPr/>
        </p:nvSpPr>
        <p:spPr>
          <a:xfrm>
            <a:off x="3672000" y="198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rtlCol="0" anchor="b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1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8" name="橢圓 27"/>
          <p:cNvSpPr/>
          <p:nvPr/>
        </p:nvSpPr>
        <p:spPr>
          <a:xfrm>
            <a:off x="3672000" y="270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tIns="0" rIns="0" rtlCol="0" anchor="b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1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9" name="橢圓 28"/>
          <p:cNvSpPr/>
          <p:nvPr/>
        </p:nvSpPr>
        <p:spPr>
          <a:xfrm>
            <a:off x="3672000" y="34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tIns="0" rIns="0" rtlCol="0" anchor="b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1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30" name="直線單箭頭接點 29"/>
          <p:cNvCxnSpPr>
            <a:stCxn id="29" idx="6"/>
            <a:endCxn id="37" idx="2"/>
          </p:cNvCxnSpPr>
          <p:nvPr/>
        </p:nvCxnSpPr>
        <p:spPr>
          <a:xfrm flipV="1">
            <a:off x="4032000" y="3249000"/>
            <a:ext cx="1080000" cy="36000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31" name="直線單箭頭接點 30"/>
          <p:cNvCxnSpPr>
            <a:stCxn id="33" idx="6"/>
            <a:endCxn id="37" idx="3"/>
          </p:cNvCxnSpPr>
          <p:nvPr/>
        </p:nvCxnSpPr>
        <p:spPr>
          <a:xfrm flipV="1">
            <a:off x="4032000" y="3376279"/>
            <a:ext cx="1132721" cy="952721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  <a:tailEnd type="arrow" w="lg" len="lg"/>
          </a:ln>
          <a:effectLst/>
        </p:spPr>
      </p:cxnSp>
      <p:sp>
        <p:nvSpPr>
          <p:cNvPr id="32" name="橢圓 31"/>
          <p:cNvSpPr/>
          <p:nvPr/>
        </p:nvSpPr>
        <p:spPr>
          <a:xfrm>
            <a:off x="3672000" y="126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rtlCol="0" anchor="b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1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33" name="橢圓 32"/>
          <p:cNvSpPr/>
          <p:nvPr/>
        </p:nvSpPr>
        <p:spPr>
          <a:xfrm>
            <a:off x="3672000" y="41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tIns="0" rIns="0" rtlCol="0" anchor="b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1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34" name="橢圓 33"/>
          <p:cNvSpPr/>
          <p:nvPr/>
        </p:nvSpPr>
        <p:spPr>
          <a:xfrm>
            <a:off x="5112000" y="16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35" name="直線單箭頭接點 34"/>
          <p:cNvCxnSpPr>
            <a:stCxn id="32" idx="6"/>
            <a:endCxn id="34" idx="2"/>
          </p:cNvCxnSpPr>
          <p:nvPr/>
        </p:nvCxnSpPr>
        <p:spPr>
          <a:xfrm>
            <a:off x="4032000" y="1449000"/>
            <a:ext cx="1080000" cy="36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sp>
        <p:nvSpPr>
          <p:cNvPr id="36" name="橢圓 35"/>
          <p:cNvSpPr/>
          <p:nvPr/>
        </p:nvSpPr>
        <p:spPr>
          <a:xfrm>
            <a:off x="5112000" y="23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37" name="橢圓 36"/>
          <p:cNvSpPr/>
          <p:nvPr/>
        </p:nvSpPr>
        <p:spPr>
          <a:xfrm>
            <a:off x="5112000" y="306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38" name="橢圓 37"/>
          <p:cNvSpPr/>
          <p:nvPr/>
        </p:nvSpPr>
        <p:spPr>
          <a:xfrm>
            <a:off x="5112000" y="378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39" name="直線單箭頭接點 38"/>
          <p:cNvCxnSpPr>
            <a:stCxn id="26" idx="6"/>
            <a:endCxn id="27" idx="3"/>
          </p:cNvCxnSpPr>
          <p:nvPr/>
        </p:nvCxnSpPr>
        <p:spPr>
          <a:xfrm flipV="1">
            <a:off x="2592000" y="2296279"/>
            <a:ext cx="1132721" cy="592721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40" name="直線單箭頭接點 39"/>
          <p:cNvCxnSpPr>
            <a:stCxn id="27" idx="6"/>
            <a:endCxn id="34" idx="2"/>
          </p:cNvCxnSpPr>
          <p:nvPr/>
        </p:nvCxnSpPr>
        <p:spPr>
          <a:xfrm flipV="1">
            <a:off x="4032000" y="1809000"/>
            <a:ext cx="1080000" cy="36000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41" name="直線單箭頭接點 40"/>
          <p:cNvCxnSpPr>
            <a:stCxn id="27" idx="6"/>
            <a:endCxn id="37" idx="1"/>
          </p:cNvCxnSpPr>
          <p:nvPr/>
        </p:nvCxnSpPr>
        <p:spPr>
          <a:xfrm>
            <a:off x="4032000" y="2169000"/>
            <a:ext cx="1132721" cy="952721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42" name="直線單箭頭接點 41"/>
          <p:cNvCxnSpPr>
            <a:stCxn id="28" idx="6"/>
            <a:endCxn id="36" idx="2"/>
          </p:cNvCxnSpPr>
          <p:nvPr/>
        </p:nvCxnSpPr>
        <p:spPr>
          <a:xfrm flipV="1">
            <a:off x="4032000" y="2529000"/>
            <a:ext cx="1080000" cy="36000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43" name="直線單箭頭接點 42"/>
          <p:cNvCxnSpPr>
            <a:stCxn id="28" idx="6"/>
            <a:endCxn id="37" idx="2"/>
          </p:cNvCxnSpPr>
          <p:nvPr/>
        </p:nvCxnSpPr>
        <p:spPr>
          <a:xfrm>
            <a:off x="4032000" y="2889000"/>
            <a:ext cx="1080000" cy="36000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44" name="直線單箭頭接點 43"/>
          <p:cNvCxnSpPr>
            <a:stCxn id="26" idx="7"/>
            <a:endCxn id="32" idx="3"/>
          </p:cNvCxnSpPr>
          <p:nvPr/>
        </p:nvCxnSpPr>
        <p:spPr>
          <a:xfrm flipV="1">
            <a:off x="2539279" y="1576279"/>
            <a:ext cx="1185442" cy="118544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45" name="直線單箭頭接點 44"/>
          <p:cNvCxnSpPr>
            <a:stCxn id="26" idx="5"/>
            <a:endCxn id="33" idx="1"/>
          </p:cNvCxnSpPr>
          <p:nvPr/>
        </p:nvCxnSpPr>
        <p:spPr>
          <a:xfrm>
            <a:off x="2539279" y="3016279"/>
            <a:ext cx="1185442" cy="1185442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46" name="直線單箭頭接點 45"/>
          <p:cNvCxnSpPr>
            <a:stCxn id="26" idx="6"/>
            <a:endCxn id="29" idx="2"/>
          </p:cNvCxnSpPr>
          <p:nvPr/>
        </p:nvCxnSpPr>
        <p:spPr>
          <a:xfrm>
            <a:off x="2592000" y="2889000"/>
            <a:ext cx="1080000" cy="72000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47" name="直線單箭頭接點 46"/>
          <p:cNvCxnSpPr>
            <a:stCxn id="34" idx="6"/>
            <a:endCxn id="54" idx="1"/>
          </p:cNvCxnSpPr>
          <p:nvPr/>
        </p:nvCxnSpPr>
        <p:spPr>
          <a:xfrm>
            <a:off x="5472000" y="1809000"/>
            <a:ext cx="1132721" cy="952721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48" name="直線單箭頭接點 47"/>
          <p:cNvCxnSpPr>
            <a:stCxn id="36" idx="6"/>
            <a:endCxn id="54" idx="2"/>
          </p:cNvCxnSpPr>
          <p:nvPr/>
        </p:nvCxnSpPr>
        <p:spPr>
          <a:xfrm>
            <a:off x="5472000" y="2529000"/>
            <a:ext cx="1080000" cy="36000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50" name="直線單箭頭接點 49"/>
          <p:cNvCxnSpPr>
            <a:stCxn id="37" idx="6"/>
            <a:endCxn id="54" idx="2"/>
          </p:cNvCxnSpPr>
          <p:nvPr/>
        </p:nvCxnSpPr>
        <p:spPr>
          <a:xfrm flipV="1">
            <a:off x="5472000" y="2889000"/>
            <a:ext cx="1080000" cy="36000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52" name="直線單箭頭接點 51"/>
          <p:cNvCxnSpPr>
            <a:stCxn id="38" idx="6"/>
            <a:endCxn id="54" idx="3"/>
          </p:cNvCxnSpPr>
          <p:nvPr/>
        </p:nvCxnSpPr>
        <p:spPr>
          <a:xfrm flipV="1">
            <a:off x="5472000" y="3016279"/>
            <a:ext cx="1132721" cy="952721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53" name="直線單箭頭接點 52"/>
          <p:cNvCxnSpPr>
            <a:stCxn id="26" idx="6"/>
            <a:endCxn id="28" idx="2"/>
          </p:cNvCxnSpPr>
          <p:nvPr/>
        </p:nvCxnSpPr>
        <p:spPr>
          <a:xfrm>
            <a:off x="2592000" y="2889000"/>
            <a:ext cx="1080000" cy="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  <a:tailEnd type="arrow" w="lg" len="lg"/>
          </a:ln>
          <a:effectLst/>
        </p:spPr>
      </p:cxnSp>
      <p:sp>
        <p:nvSpPr>
          <p:cNvPr id="54" name="橢圓 53"/>
          <p:cNvSpPr/>
          <p:nvPr/>
        </p:nvSpPr>
        <p:spPr>
          <a:xfrm>
            <a:off x="6552000" y="270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tIns="0" rIns="0" bIns="5400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新細明體" panose="02020500000000000000" pitchFamily="18" charset="-120"/>
                <a:cs typeface="Times New Roman" panose="02020603050405020304" pitchFamily="18" charset="0"/>
              </a:rPr>
              <a:t>t</a:t>
            </a:r>
            <a:endParaRPr kumimoji="0" lang="zh-TW" altLang="en-US" sz="24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61" name="直線單箭頭接點 60"/>
          <p:cNvCxnSpPr>
            <a:stCxn id="28" idx="6"/>
            <a:endCxn id="38" idx="2"/>
          </p:cNvCxnSpPr>
          <p:nvPr/>
        </p:nvCxnSpPr>
        <p:spPr>
          <a:xfrm>
            <a:off x="4032000" y="2889000"/>
            <a:ext cx="1080000" cy="108000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  <a:tailEnd type="arrow" w="lg" len="lg"/>
          </a:ln>
          <a:effectLst/>
        </p:spPr>
      </p:cxnSp>
      <p:sp>
        <p:nvSpPr>
          <p:cNvPr id="64" name="Text Box 6"/>
          <p:cNvSpPr txBox="1">
            <a:spLocks noChangeArrowheads="1"/>
          </p:cNvSpPr>
          <p:nvPr/>
        </p:nvSpPr>
        <p:spPr bwMode="auto">
          <a:xfrm>
            <a:off x="36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</a:t>
            </a:r>
          </a:p>
        </p:txBody>
      </p:sp>
      <p:sp>
        <p:nvSpPr>
          <p:cNvPr id="65" name="Text Box 6"/>
          <p:cNvSpPr txBox="1">
            <a:spLocks noChangeArrowheads="1"/>
          </p:cNvSpPr>
          <p:nvPr/>
        </p:nvSpPr>
        <p:spPr bwMode="auto">
          <a:xfrm>
            <a:off x="511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R</a:t>
            </a:r>
          </a:p>
        </p:txBody>
      </p:sp>
      <p:sp>
        <p:nvSpPr>
          <p:cNvPr id="66" name="Text Box 6"/>
          <p:cNvSpPr txBox="1">
            <a:spLocks noChangeArrowheads="1"/>
          </p:cNvSpPr>
          <p:nvPr/>
        </p:nvSpPr>
        <p:spPr bwMode="auto">
          <a:xfrm>
            <a:off x="439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(c)</a:t>
            </a:r>
          </a:p>
        </p:txBody>
      </p:sp>
      <p:sp>
        <p:nvSpPr>
          <p:cNvPr id="49" name="內容版面配置區 81"/>
          <p:cNvSpPr txBox="1">
            <a:spLocks/>
          </p:cNvSpPr>
          <p:nvPr/>
        </p:nvSpPr>
        <p:spPr>
          <a:xfrm>
            <a:off x="2772000" y="1809000"/>
            <a:ext cx="540000" cy="360000"/>
          </a:xfrm>
          <a:prstGeom prst="rect">
            <a:avLst/>
          </a:prstGeom>
          <a:ln>
            <a:noFill/>
          </a:ln>
        </p:spPr>
        <p:txBody>
          <a:bodyPr vert="horz" lIns="91440" tIns="144000" rIns="9144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1" name="內容版面配置區 81"/>
          <p:cNvSpPr txBox="1">
            <a:spLocks/>
          </p:cNvSpPr>
          <p:nvPr/>
        </p:nvSpPr>
        <p:spPr>
          <a:xfrm>
            <a:off x="4392000" y="1269000"/>
            <a:ext cx="360000" cy="360000"/>
          </a:xfrm>
          <a:prstGeom prst="rect">
            <a:avLst/>
          </a:prstGeom>
          <a:ln>
            <a:noFill/>
          </a:ln>
        </p:spPr>
        <p:txBody>
          <a:bodyPr vert="horz" lIns="91440" tIns="36000" rIns="9144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5" name="內容版面配置區 81"/>
          <p:cNvSpPr txBox="1">
            <a:spLocks/>
          </p:cNvSpPr>
          <p:nvPr/>
        </p:nvSpPr>
        <p:spPr>
          <a:xfrm>
            <a:off x="5832000" y="1989000"/>
            <a:ext cx="540000" cy="360000"/>
          </a:xfrm>
          <a:prstGeom prst="rect">
            <a:avLst/>
          </a:prstGeom>
          <a:ln>
            <a:noFill/>
          </a:ln>
        </p:spPr>
        <p:txBody>
          <a:bodyPr vert="horz" lIns="91440" tIns="36000" rIns="3600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04292650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橢圓 25"/>
          <p:cNvSpPr/>
          <p:nvPr/>
        </p:nvSpPr>
        <p:spPr>
          <a:xfrm>
            <a:off x="2232000" y="270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9000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新細明體" panose="02020500000000000000" pitchFamily="18" charset="-120"/>
                <a:cs typeface="Times New Roman" panose="02020603050405020304" pitchFamily="18" charset="0"/>
              </a:rPr>
              <a:t>s</a:t>
            </a:r>
            <a:endParaRPr kumimoji="0" lang="zh-TW" altLang="en-US" sz="24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7" name="橢圓 26"/>
          <p:cNvSpPr/>
          <p:nvPr/>
        </p:nvSpPr>
        <p:spPr>
          <a:xfrm>
            <a:off x="3672000" y="198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rtlCol="0" anchor="b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1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8" name="橢圓 27"/>
          <p:cNvSpPr/>
          <p:nvPr/>
        </p:nvSpPr>
        <p:spPr>
          <a:xfrm>
            <a:off x="3672000" y="270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rtlCol="0" anchor="b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1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9" name="橢圓 28"/>
          <p:cNvSpPr/>
          <p:nvPr/>
        </p:nvSpPr>
        <p:spPr>
          <a:xfrm>
            <a:off x="3672000" y="34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rtlCol="0" anchor="b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1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30" name="直線單箭頭接點 29"/>
          <p:cNvCxnSpPr>
            <a:stCxn id="29" idx="6"/>
            <a:endCxn id="37" idx="2"/>
          </p:cNvCxnSpPr>
          <p:nvPr/>
        </p:nvCxnSpPr>
        <p:spPr>
          <a:xfrm flipV="1">
            <a:off x="4032000" y="3249000"/>
            <a:ext cx="1080000" cy="36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31" name="直線單箭頭接點 30"/>
          <p:cNvCxnSpPr>
            <a:stCxn id="33" idx="6"/>
            <a:endCxn id="37" idx="3"/>
          </p:cNvCxnSpPr>
          <p:nvPr/>
        </p:nvCxnSpPr>
        <p:spPr>
          <a:xfrm flipV="1">
            <a:off x="4032000" y="3376279"/>
            <a:ext cx="1132721" cy="952721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tailEnd type="arrow" w="lg" len="lg"/>
          </a:ln>
          <a:effectLst/>
        </p:spPr>
      </p:cxnSp>
      <p:sp>
        <p:nvSpPr>
          <p:cNvPr id="32" name="橢圓 31"/>
          <p:cNvSpPr/>
          <p:nvPr/>
        </p:nvSpPr>
        <p:spPr>
          <a:xfrm>
            <a:off x="3672000" y="126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rtlCol="0" anchor="b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1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33" name="橢圓 32"/>
          <p:cNvSpPr/>
          <p:nvPr/>
        </p:nvSpPr>
        <p:spPr>
          <a:xfrm>
            <a:off x="3672000" y="41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rtlCol="0" anchor="b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1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34" name="橢圓 33"/>
          <p:cNvSpPr/>
          <p:nvPr/>
        </p:nvSpPr>
        <p:spPr>
          <a:xfrm>
            <a:off x="5112000" y="16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35" name="直線單箭頭接點 34"/>
          <p:cNvCxnSpPr>
            <a:stCxn id="32" idx="6"/>
            <a:endCxn id="34" idx="2"/>
          </p:cNvCxnSpPr>
          <p:nvPr/>
        </p:nvCxnSpPr>
        <p:spPr>
          <a:xfrm>
            <a:off x="4032000" y="1449000"/>
            <a:ext cx="1080000" cy="36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sp>
        <p:nvSpPr>
          <p:cNvPr id="36" name="橢圓 35"/>
          <p:cNvSpPr/>
          <p:nvPr/>
        </p:nvSpPr>
        <p:spPr>
          <a:xfrm>
            <a:off x="5112000" y="23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37" name="橢圓 36"/>
          <p:cNvSpPr/>
          <p:nvPr/>
        </p:nvSpPr>
        <p:spPr>
          <a:xfrm>
            <a:off x="5112000" y="306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38" name="橢圓 37"/>
          <p:cNvSpPr/>
          <p:nvPr/>
        </p:nvSpPr>
        <p:spPr>
          <a:xfrm>
            <a:off x="5112000" y="378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39" name="直線單箭頭接點 38"/>
          <p:cNvCxnSpPr>
            <a:stCxn id="26" idx="6"/>
            <a:endCxn id="27" idx="3"/>
          </p:cNvCxnSpPr>
          <p:nvPr/>
        </p:nvCxnSpPr>
        <p:spPr>
          <a:xfrm flipV="1">
            <a:off x="2592000" y="2296279"/>
            <a:ext cx="1132721" cy="592721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40" name="直線單箭頭接點 39"/>
          <p:cNvCxnSpPr>
            <a:stCxn id="27" idx="6"/>
            <a:endCxn id="34" idx="2"/>
          </p:cNvCxnSpPr>
          <p:nvPr/>
        </p:nvCxnSpPr>
        <p:spPr>
          <a:xfrm flipV="1">
            <a:off x="4032000" y="1809000"/>
            <a:ext cx="1080000" cy="360000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41" name="直線單箭頭接點 40"/>
          <p:cNvCxnSpPr>
            <a:stCxn id="27" idx="6"/>
            <a:endCxn id="37" idx="1"/>
          </p:cNvCxnSpPr>
          <p:nvPr/>
        </p:nvCxnSpPr>
        <p:spPr>
          <a:xfrm>
            <a:off x="4032000" y="2169000"/>
            <a:ext cx="1132721" cy="95272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42" name="直線單箭頭接點 41"/>
          <p:cNvCxnSpPr>
            <a:stCxn id="28" idx="6"/>
            <a:endCxn id="36" idx="2"/>
          </p:cNvCxnSpPr>
          <p:nvPr/>
        </p:nvCxnSpPr>
        <p:spPr>
          <a:xfrm flipV="1">
            <a:off x="4032000" y="2529000"/>
            <a:ext cx="1080000" cy="360000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43" name="直線單箭頭接點 42"/>
          <p:cNvCxnSpPr>
            <a:stCxn id="28" idx="6"/>
            <a:endCxn id="37" idx="2"/>
          </p:cNvCxnSpPr>
          <p:nvPr/>
        </p:nvCxnSpPr>
        <p:spPr>
          <a:xfrm>
            <a:off x="4032000" y="2889000"/>
            <a:ext cx="1080000" cy="36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44" name="直線單箭頭接點 43"/>
          <p:cNvCxnSpPr>
            <a:stCxn id="26" idx="7"/>
            <a:endCxn id="32" idx="3"/>
          </p:cNvCxnSpPr>
          <p:nvPr/>
        </p:nvCxnSpPr>
        <p:spPr>
          <a:xfrm flipV="1">
            <a:off x="2539279" y="1576279"/>
            <a:ext cx="1185442" cy="118544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45" name="直線單箭頭接點 44"/>
          <p:cNvCxnSpPr>
            <a:stCxn id="26" idx="5"/>
            <a:endCxn id="33" idx="1"/>
          </p:cNvCxnSpPr>
          <p:nvPr/>
        </p:nvCxnSpPr>
        <p:spPr>
          <a:xfrm>
            <a:off x="2539279" y="3016279"/>
            <a:ext cx="1185442" cy="1185442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46" name="直線單箭頭接點 45"/>
          <p:cNvCxnSpPr>
            <a:stCxn id="26" idx="6"/>
            <a:endCxn id="29" idx="2"/>
          </p:cNvCxnSpPr>
          <p:nvPr/>
        </p:nvCxnSpPr>
        <p:spPr>
          <a:xfrm>
            <a:off x="2592000" y="2889000"/>
            <a:ext cx="1080000" cy="72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47" name="直線單箭頭接點 46"/>
          <p:cNvCxnSpPr>
            <a:stCxn id="34" idx="6"/>
            <a:endCxn id="54" idx="1"/>
          </p:cNvCxnSpPr>
          <p:nvPr/>
        </p:nvCxnSpPr>
        <p:spPr>
          <a:xfrm>
            <a:off x="5472000" y="1809000"/>
            <a:ext cx="1132721" cy="952721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48" name="直線單箭頭接點 47"/>
          <p:cNvCxnSpPr>
            <a:stCxn id="36" idx="6"/>
            <a:endCxn id="54" idx="2"/>
          </p:cNvCxnSpPr>
          <p:nvPr/>
        </p:nvCxnSpPr>
        <p:spPr>
          <a:xfrm>
            <a:off x="5472000" y="2529000"/>
            <a:ext cx="1080000" cy="360000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50" name="直線單箭頭接點 49"/>
          <p:cNvCxnSpPr>
            <a:stCxn id="37" idx="6"/>
            <a:endCxn id="54" idx="2"/>
          </p:cNvCxnSpPr>
          <p:nvPr/>
        </p:nvCxnSpPr>
        <p:spPr>
          <a:xfrm flipV="1">
            <a:off x="5472000" y="2889000"/>
            <a:ext cx="1080000" cy="360000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52" name="直線單箭頭接點 51"/>
          <p:cNvCxnSpPr>
            <a:stCxn id="38" idx="6"/>
            <a:endCxn id="54" idx="3"/>
          </p:cNvCxnSpPr>
          <p:nvPr/>
        </p:nvCxnSpPr>
        <p:spPr>
          <a:xfrm flipV="1">
            <a:off x="5472000" y="3016279"/>
            <a:ext cx="1132721" cy="95272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cxnSp>
        <p:nvCxnSpPr>
          <p:cNvPr id="53" name="直線單箭頭接點 52"/>
          <p:cNvCxnSpPr>
            <a:stCxn id="26" idx="6"/>
            <a:endCxn id="28" idx="2"/>
          </p:cNvCxnSpPr>
          <p:nvPr/>
        </p:nvCxnSpPr>
        <p:spPr>
          <a:xfrm>
            <a:off x="2592000" y="2889000"/>
            <a:ext cx="1080000" cy="0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tailEnd type="arrow" w="lg" len="lg"/>
          </a:ln>
          <a:effectLst/>
        </p:spPr>
      </p:cxnSp>
      <p:sp>
        <p:nvSpPr>
          <p:cNvPr id="54" name="橢圓 53"/>
          <p:cNvSpPr/>
          <p:nvPr/>
        </p:nvSpPr>
        <p:spPr>
          <a:xfrm>
            <a:off x="6552000" y="270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5400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新細明體" panose="02020500000000000000" pitchFamily="18" charset="-120"/>
                <a:cs typeface="Times New Roman" panose="02020603050405020304" pitchFamily="18" charset="0"/>
              </a:rPr>
              <a:t>t</a:t>
            </a:r>
            <a:endParaRPr kumimoji="0" lang="zh-TW" altLang="en-US" sz="24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61" name="直線單箭頭接點 60"/>
          <p:cNvCxnSpPr>
            <a:stCxn id="28" idx="6"/>
            <a:endCxn id="38" idx="2"/>
          </p:cNvCxnSpPr>
          <p:nvPr/>
        </p:nvCxnSpPr>
        <p:spPr>
          <a:xfrm>
            <a:off x="4032000" y="2889000"/>
            <a:ext cx="1080000" cy="108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arrow" w="lg" len="lg"/>
          </a:ln>
          <a:effectLst/>
        </p:spPr>
      </p:cxnSp>
      <p:sp>
        <p:nvSpPr>
          <p:cNvPr id="64" name="Text Box 6"/>
          <p:cNvSpPr txBox="1">
            <a:spLocks noChangeArrowheads="1"/>
          </p:cNvSpPr>
          <p:nvPr/>
        </p:nvSpPr>
        <p:spPr bwMode="auto">
          <a:xfrm>
            <a:off x="36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</a:t>
            </a:r>
          </a:p>
        </p:txBody>
      </p:sp>
      <p:sp>
        <p:nvSpPr>
          <p:cNvPr id="65" name="Text Box 6"/>
          <p:cNvSpPr txBox="1">
            <a:spLocks noChangeArrowheads="1"/>
          </p:cNvSpPr>
          <p:nvPr/>
        </p:nvSpPr>
        <p:spPr bwMode="auto">
          <a:xfrm>
            <a:off x="511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R</a:t>
            </a:r>
          </a:p>
        </p:txBody>
      </p:sp>
      <p:sp>
        <p:nvSpPr>
          <p:cNvPr id="66" name="Text Box 6"/>
          <p:cNvSpPr txBox="1">
            <a:spLocks noChangeArrowheads="1"/>
          </p:cNvSpPr>
          <p:nvPr/>
        </p:nvSpPr>
        <p:spPr bwMode="auto">
          <a:xfrm>
            <a:off x="439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(c)</a:t>
            </a:r>
          </a:p>
        </p:txBody>
      </p:sp>
      <p:sp>
        <p:nvSpPr>
          <p:cNvPr id="49" name="內容版面配置區 81"/>
          <p:cNvSpPr txBox="1">
            <a:spLocks/>
          </p:cNvSpPr>
          <p:nvPr/>
        </p:nvSpPr>
        <p:spPr>
          <a:xfrm>
            <a:off x="2772000" y="1809000"/>
            <a:ext cx="540000" cy="360000"/>
          </a:xfrm>
          <a:prstGeom prst="rect">
            <a:avLst/>
          </a:prstGeom>
          <a:ln>
            <a:noFill/>
          </a:ln>
        </p:spPr>
        <p:txBody>
          <a:bodyPr vert="horz" lIns="91440" tIns="144000" rIns="9144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1" name="內容版面配置區 81"/>
          <p:cNvSpPr txBox="1">
            <a:spLocks/>
          </p:cNvSpPr>
          <p:nvPr/>
        </p:nvSpPr>
        <p:spPr>
          <a:xfrm>
            <a:off x="4392000" y="1269000"/>
            <a:ext cx="360000" cy="360000"/>
          </a:xfrm>
          <a:prstGeom prst="rect">
            <a:avLst/>
          </a:prstGeom>
          <a:ln>
            <a:noFill/>
          </a:ln>
        </p:spPr>
        <p:txBody>
          <a:bodyPr vert="horz" lIns="91440" tIns="36000" rIns="9144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5" name="內容版面配置區 81"/>
          <p:cNvSpPr txBox="1">
            <a:spLocks/>
          </p:cNvSpPr>
          <p:nvPr/>
        </p:nvSpPr>
        <p:spPr>
          <a:xfrm>
            <a:off x="5832000" y="1989000"/>
            <a:ext cx="540000" cy="360000"/>
          </a:xfrm>
          <a:prstGeom prst="rect">
            <a:avLst/>
          </a:prstGeom>
          <a:ln>
            <a:noFill/>
          </a:ln>
        </p:spPr>
        <p:txBody>
          <a:bodyPr vert="horz" lIns="91440" tIns="36000" rIns="3600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01584740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/>
              <a:t>Finding a Maximum Bipartite Matching</a:t>
            </a:r>
            <a:endParaRPr lang="zh-TW" altLang="en-US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2000" y="1269000"/>
            <a:ext cx="8640000" cy="5220000"/>
          </a:xfrm>
        </p:spPr>
        <p:txBody>
          <a:bodyPr/>
          <a:lstStyle/>
          <a:p>
            <a:pPr marL="0" indent="0"/>
            <a:r>
              <a:rPr lang="en-US" altLang="zh-TW" b="1" i="1" dirty="0">
                <a:solidFill>
                  <a:srgbClr val="0000FF"/>
                </a:solidFill>
              </a:rPr>
              <a:t>Lemma 5</a:t>
            </a:r>
          </a:p>
          <a:p>
            <a:pPr marL="0" indent="0"/>
            <a:r>
              <a:rPr lang="en-US" altLang="zh-TW" dirty="0"/>
              <a:t>Let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E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dirty="0"/>
              <a:t> be a bipartite graph with node partition </a:t>
            </a:r>
            <a:r>
              <a:rPr lang="en-US" altLang="zh-TW" i="1" dirty="0"/>
              <a:t>V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/>
              <a:t> </a:t>
            </a:r>
            <a:r>
              <a:rPr lang="en-US" altLang="zh-TW" i="1" dirty="0"/>
              <a:t>L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⋃</a:t>
            </a:r>
            <a:r>
              <a:rPr lang="en-US" altLang="zh-TW" dirty="0"/>
              <a:t> </a:t>
            </a:r>
            <a:r>
              <a:rPr lang="en-US" altLang="zh-TW" i="1" dirty="0"/>
              <a:t>R</a:t>
            </a:r>
            <a:r>
              <a:rPr lang="en-US" altLang="zh-TW" dirty="0"/>
              <a:t>, and let </a:t>
            </a:r>
            <a:r>
              <a:rPr lang="en-US" altLang="zh-TW" i="1" spc="100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spc="300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150" dirty="0">
                <a:solidFill>
                  <a:srgbClr val="000000"/>
                </a:solidFill>
              </a:rPr>
              <a:t>E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dirty="0"/>
              <a:t> be its corresponding flow network. If </a:t>
            </a:r>
            <a:r>
              <a:rPr lang="en-US" altLang="zh-TW" i="1" dirty="0"/>
              <a:t>M</a:t>
            </a:r>
            <a:r>
              <a:rPr lang="en-US" altLang="zh-TW" dirty="0"/>
              <a:t> is a matching in </a:t>
            </a:r>
            <a:r>
              <a:rPr lang="en-US" altLang="zh-TW" i="1" dirty="0"/>
              <a:t>G</a:t>
            </a:r>
            <a:r>
              <a:rPr lang="en-US" altLang="zh-TW" dirty="0"/>
              <a:t>, then there is an integer-valued flow </a:t>
            </a:r>
            <a:r>
              <a:rPr lang="en-US" altLang="zh-TW" i="1" dirty="0"/>
              <a:t>f</a:t>
            </a:r>
            <a:r>
              <a:rPr lang="en-US" altLang="zh-TW" dirty="0"/>
              <a:t> in </a:t>
            </a:r>
            <a:r>
              <a:rPr lang="en-US" altLang="zh-TW" i="1" spc="100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/>
              <a:t> with value </a:t>
            </a:r>
            <a:r>
              <a:rPr lang="en-US" altLang="zh-TW" spc="4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i="1" spc="4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i="1" spc="150" dirty="0">
                <a:solidFill>
                  <a:srgbClr val="000000"/>
                </a:solidFill>
              </a:rPr>
              <a:t>M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dirty="0"/>
              <a:t>. Conversely, if</a:t>
            </a:r>
            <a:r>
              <a:rPr lang="en-US" altLang="zh-TW" spc="300" dirty="0"/>
              <a:t> </a:t>
            </a:r>
            <a:r>
              <a:rPr lang="en-US" altLang="zh-TW" i="1" spc="300" dirty="0"/>
              <a:t>f</a:t>
            </a:r>
            <a:r>
              <a:rPr lang="en-US" altLang="zh-TW" dirty="0"/>
              <a:t> is an integer-valued flow in </a:t>
            </a:r>
            <a:r>
              <a:rPr lang="en-US" altLang="zh-TW" i="1" spc="100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/>
              <a:t>, then there is a matching </a:t>
            </a:r>
            <a:r>
              <a:rPr lang="en-US" altLang="zh-TW" i="1" dirty="0"/>
              <a:t>M</a:t>
            </a:r>
            <a:r>
              <a:rPr lang="en-US" altLang="zh-TW" dirty="0"/>
              <a:t> in </a:t>
            </a:r>
            <a:r>
              <a:rPr lang="en-US" altLang="zh-TW" i="1" dirty="0"/>
              <a:t>G</a:t>
            </a:r>
            <a:r>
              <a:rPr lang="en-US" altLang="zh-TW" dirty="0"/>
              <a:t> with cardinality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i="1" spc="150" dirty="0">
                <a:solidFill>
                  <a:srgbClr val="000000"/>
                </a:solidFill>
              </a:rPr>
              <a:t>M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pc="4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i="1" spc="4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.</a:t>
            </a:r>
          </a:p>
          <a:p>
            <a:pPr marL="0" indent="0">
              <a:spcBef>
                <a:spcPts val="0"/>
              </a:spcBef>
            </a:pPr>
            <a:endParaRPr lang="en-US" altLang="zh-TW" dirty="0">
              <a:solidFill>
                <a:srgbClr val="000000"/>
              </a:solidFill>
            </a:endParaRPr>
          </a:p>
          <a:p>
            <a:pPr marL="0" indent="360363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</a:rPr>
              <a:t>Based on Lemma 5, we would like to conclude that a maximum matching in a bipartite graph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 corresponds to a maximum flow in its corresponding flow network </a:t>
            </a:r>
            <a:r>
              <a:rPr lang="en-US" altLang="zh-TW" i="1" spc="100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>
                <a:solidFill>
                  <a:srgbClr val="000000"/>
                </a:solidFill>
              </a:rPr>
              <a:t>, and we can therefore compute a maximum matching in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 by running a maximum-flow algorithm on </a:t>
            </a:r>
            <a:r>
              <a:rPr lang="en-US" altLang="zh-TW" i="1" spc="100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>
                <a:solidFill>
                  <a:srgbClr val="000000"/>
                </a:solidFill>
              </a:rPr>
              <a:t>. The only hitch in this reasoning is that the maximum-flow algorithm might return a flow in </a:t>
            </a:r>
            <a:r>
              <a:rPr lang="en-US" altLang="zh-TW" i="1" spc="100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>
                <a:solidFill>
                  <a:srgbClr val="000000"/>
                </a:solidFill>
              </a:rPr>
              <a:t> for which some </a:t>
            </a:r>
            <a:r>
              <a:rPr lang="en-US" altLang="zh-TW" i="1" spc="3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pl-PL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</a:t>
            </a:r>
            <a:r>
              <a:rPr lang="pl-PL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is not an integer, even though the flow value </a:t>
            </a:r>
            <a:r>
              <a:rPr lang="en-US" altLang="zh-TW" spc="4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i="1" spc="4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 must be an integer. The following theorem shows that if we use the </a:t>
            </a:r>
            <a:r>
              <a:rPr lang="en-US" altLang="zh-TW" dirty="0" err="1">
                <a:solidFill>
                  <a:srgbClr val="000000"/>
                </a:solidFill>
              </a:rPr>
              <a:t>FordFulkerson</a:t>
            </a:r>
            <a:r>
              <a:rPr lang="en-US" altLang="zh-TW" dirty="0">
                <a:solidFill>
                  <a:srgbClr val="000000"/>
                </a:solidFill>
              </a:rPr>
              <a:t> method, this difficulty cannot arise.</a:t>
            </a:r>
          </a:p>
        </p:txBody>
      </p:sp>
    </p:spTree>
    <p:extLst>
      <p:ext uri="{BB962C8B-B14F-4D97-AF65-F5344CB8AC3E}">
        <p14:creationId xmlns:p14="http://schemas.microsoft.com/office/powerpoint/2010/main" val="4271079227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/>
              <a:t>Finding a Maximum Bipartite Matching</a:t>
            </a:r>
            <a:endParaRPr lang="zh-TW" altLang="en-US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/>
            <a:r>
              <a:rPr lang="en-US" altLang="zh-TW" b="1" i="1" dirty="0">
                <a:solidFill>
                  <a:srgbClr val="0000FF"/>
                </a:solidFill>
              </a:rPr>
              <a:t>Theorem 6 (Integrality theorem)</a:t>
            </a:r>
          </a:p>
          <a:p>
            <a:pPr marL="0" indent="0"/>
            <a:r>
              <a:rPr lang="en-US" altLang="zh-TW" dirty="0"/>
              <a:t>If the capacity function </a:t>
            </a:r>
            <a:r>
              <a:rPr lang="en-US" altLang="zh-TW" i="1" dirty="0"/>
              <a:t>c</a:t>
            </a:r>
            <a:r>
              <a:rPr lang="en-US" altLang="zh-TW" dirty="0"/>
              <a:t> takes on only integral values, then the maximum flow </a:t>
            </a:r>
            <a:r>
              <a:rPr lang="en-US" altLang="zh-TW" i="1" dirty="0"/>
              <a:t>f</a:t>
            </a:r>
            <a:r>
              <a:rPr lang="en-US" altLang="zh-TW" dirty="0"/>
              <a:t> produced by the </a:t>
            </a:r>
            <a:r>
              <a:rPr lang="en-US" altLang="zh-TW" dirty="0" err="1"/>
              <a:t>FordFulkerson</a:t>
            </a:r>
            <a:r>
              <a:rPr lang="en-US" altLang="zh-TW" dirty="0"/>
              <a:t> method has the property that </a:t>
            </a:r>
            <a:r>
              <a:rPr lang="en-US" altLang="zh-TW" spc="4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i="1" spc="4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dirty="0"/>
              <a:t> is an integer. Moreover, for all nodes </a:t>
            </a:r>
            <a:r>
              <a:rPr lang="en-US" altLang="zh-TW" i="1" dirty="0"/>
              <a:t>u</a:t>
            </a:r>
            <a:r>
              <a:rPr lang="en-US" altLang="zh-TW" dirty="0"/>
              <a:t> and </a:t>
            </a:r>
            <a:r>
              <a:rPr lang="en-US" altLang="zh-TW" i="1" dirty="0"/>
              <a:t>v</a:t>
            </a:r>
            <a:r>
              <a:rPr lang="en-US" altLang="zh-TW" dirty="0"/>
              <a:t>, the value of </a:t>
            </a:r>
            <a:r>
              <a:rPr lang="en-US" altLang="zh-TW" i="1" spc="3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pl-PL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</a:t>
            </a:r>
            <a:r>
              <a:rPr lang="pl-PL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dirty="0"/>
              <a:t> is an integer.</a:t>
            </a:r>
          </a:p>
          <a:p>
            <a:pPr marL="0" indent="0"/>
            <a:endParaRPr lang="en-US" altLang="zh-TW" dirty="0"/>
          </a:p>
          <a:p>
            <a:pPr marL="0" indent="0"/>
            <a:r>
              <a:rPr lang="en-US" altLang="zh-TW" b="1" i="1" dirty="0">
                <a:solidFill>
                  <a:srgbClr val="0000FF"/>
                </a:solidFill>
              </a:rPr>
              <a:t>Corollary 7</a:t>
            </a:r>
          </a:p>
          <a:p>
            <a:pPr marL="0" indent="0"/>
            <a:r>
              <a:rPr lang="en-US" altLang="zh-TW" dirty="0"/>
              <a:t>The cardinality of a maximum matching </a:t>
            </a:r>
            <a:r>
              <a:rPr lang="en-US" altLang="zh-TW" i="1" dirty="0"/>
              <a:t>M</a:t>
            </a:r>
            <a:r>
              <a:rPr lang="en-US" altLang="zh-TW" dirty="0"/>
              <a:t> in a bipartite graph </a:t>
            </a:r>
            <a:r>
              <a:rPr lang="en-US" altLang="zh-TW" i="1" dirty="0"/>
              <a:t>G</a:t>
            </a:r>
            <a:r>
              <a:rPr lang="en-US" altLang="zh-TW" dirty="0"/>
              <a:t> equals the value of a maximum flow </a:t>
            </a:r>
            <a:r>
              <a:rPr lang="en-US" altLang="zh-TW" i="1" spc="300" dirty="0"/>
              <a:t>f</a:t>
            </a:r>
            <a:r>
              <a:rPr lang="en-US" altLang="zh-TW" dirty="0"/>
              <a:t> in its corresponding flow network </a:t>
            </a:r>
            <a:r>
              <a:rPr lang="en-US" altLang="zh-TW" i="1" spc="100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/>
              <a:t>.</a:t>
            </a:r>
          </a:p>
          <a:p>
            <a:pPr marL="0" indent="0"/>
            <a:endParaRPr lang="en-US" altLang="zh-TW" dirty="0"/>
          </a:p>
          <a:p>
            <a:pPr marL="0" indent="0"/>
            <a:endParaRPr lang="en-US" altLang="zh-TW" dirty="0"/>
          </a:p>
          <a:p>
            <a:pPr marL="0" indent="0"/>
            <a:r>
              <a:rPr lang="fi-FI" altLang="zh-TW" dirty="0">
                <a:solidFill>
                  <a:srgbClr val="000000"/>
                </a:solidFill>
                <a:cs typeface="Arial" panose="020B0604020202020204" pitchFamily="34" charset="0"/>
              </a:rPr>
              <a:t>UVa </a:t>
            </a:r>
            <a:r>
              <a:rPr lang="fi-FI" altLang="zh-TW" u="sng" dirty="0">
                <a:solidFill>
                  <a:srgbClr val="A52A2A"/>
                </a:solidFill>
                <a:cs typeface="Arial" panose="020B0604020202020204" pitchFamily="34" charset="0"/>
                <a:hlinkClick r:id="rId2"/>
              </a:rPr>
              <a:t>259</a:t>
            </a:r>
            <a:r>
              <a:rPr lang="fi-FI" altLang="zh-TW" dirty="0">
                <a:solidFill>
                  <a:srgbClr val="000000"/>
                </a:solidFill>
                <a:cs typeface="Arial" panose="020B0604020202020204" pitchFamily="34" charset="0"/>
              </a:rPr>
              <a:t> </a:t>
            </a:r>
            <a:r>
              <a:rPr lang="fi-FI" altLang="zh-TW" u="sng" dirty="0">
                <a:solidFill>
                  <a:srgbClr val="A52A2A"/>
                </a:solidFill>
                <a:cs typeface="Arial" panose="020B0604020202020204" pitchFamily="34" charset="0"/>
                <a:hlinkClick r:id="rId3"/>
              </a:rPr>
              <a:t>670</a:t>
            </a:r>
            <a:r>
              <a:rPr lang="fi-FI" altLang="zh-TW" dirty="0">
                <a:solidFill>
                  <a:srgbClr val="000000"/>
                </a:solidFill>
                <a:cs typeface="Arial" panose="020B0604020202020204" pitchFamily="34" charset="0"/>
              </a:rPr>
              <a:t> </a:t>
            </a:r>
            <a:r>
              <a:rPr lang="fi-FI" altLang="zh-TW" u="sng" dirty="0">
                <a:solidFill>
                  <a:srgbClr val="A52A2A"/>
                </a:solidFill>
                <a:cs typeface="Arial" panose="020B0604020202020204" pitchFamily="34" charset="0"/>
                <a:hlinkClick r:id="rId4"/>
              </a:rPr>
              <a:t>753</a:t>
            </a:r>
            <a:r>
              <a:rPr lang="fi-FI" altLang="zh-TW" dirty="0">
                <a:solidFill>
                  <a:srgbClr val="000000"/>
                </a:solidFill>
                <a:cs typeface="Arial" panose="020B0604020202020204" pitchFamily="34" charset="0"/>
              </a:rPr>
              <a:t> </a:t>
            </a:r>
            <a:r>
              <a:rPr lang="fi-FI" altLang="zh-TW" u="sng" dirty="0">
                <a:solidFill>
                  <a:srgbClr val="A52A2A"/>
                </a:solidFill>
                <a:cs typeface="Arial" panose="020B0604020202020204" pitchFamily="34" charset="0"/>
                <a:hlinkClick r:id="rId5"/>
              </a:rPr>
              <a:t>10080</a:t>
            </a:r>
            <a:r>
              <a:rPr lang="fi-FI" altLang="zh-TW" dirty="0">
                <a:solidFill>
                  <a:srgbClr val="000000"/>
                </a:solidFill>
                <a:cs typeface="Arial" panose="020B0604020202020204" pitchFamily="34" charset="0"/>
              </a:rPr>
              <a:t> </a:t>
            </a:r>
            <a:r>
              <a:rPr lang="fi-FI" altLang="zh-TW" u="sng" dirty="0">
                <a:solidFill>
                  <a:srgbClr val="A52A2A"/>
                </a:solidFill>
                <a:cs typeface="Arial" panose="020B0604020202020204" pitchFamily="34" charset="0"/>
                <a:hlinkClick r:id="rId6"/>
              </a:rPr>
              <a:t>10092</a:t>
            </a:r>
            <a:r>
              <a:rPr lang="fi-FI" altLang="zh-TW" dirty="0">
                <a:solidFill>
                  <a:srgbClr val="000000"/>
                </a:solidFill>
                <a:cs typeface="Arial" panose="020B0604020202020204" pitchFamily="34" charset="0"/>
              </a:rPr>
              <a:t> </a:t>
            </a:r>
            <a:r>
              <a:rPr lang="fi-FI" altLang="zh-TW" u="sng" dirty="0">
                <a:solidFill>
                  <a:srgbClr val="A52A2A"/>
                </a:solidFill>
                <a:cs typeface="Arial" panose="020B0604020202020204" pitchFamily="34" charset="0"/>
                <a:hlinkClick r:id="rId7"/>
              </a:rPr>
              <a:t>10243</a:t>
            </a:r>
            <a:r>
              <a:rPr lang="fi-FI" altLang="zh-TW" dirty="0">
                <a:solidFill>
                  <a:srgbClr val="000000"/>
                </a:solidFill>
                <a:cs typeface="Arial" panose="020B0604020202020204" pitchFamily="34" charset="0"/>
              </a:rPr>
              <a:t> </a:t>
            </a:r>
            <a:r>
              <a:rPr lang="fi-FI" altLang="zh-TW" u="sng" dirty="0">
                <a:solidFill>
                  <a:srgbClr val="A52A2A"/>
                </a:solidFill>
                <a:cs typeface="Arial" panose="020B0604020202020204" pitchFamily="34" charset="0"/>
                <a:hlinkClick r:id="rId8"/>
              </a:rPr>
              <a:t>10418</a:t>
            </a:r>
            <a:r>
              <a:rPr lang="fi-FI" altLang="zh-TW" dirty="0">
                <a:solidFill>
                  <a:srgbClr val="000000"/>
                </a:solidFill>
                <a:cs typeface="Arial" panose="020B0604020202020204" pitchFamily="34" charset="0"/>
              </a:rPr>
              <a:t> </a:t>
            </a:r>
            <a:r>
              <a:rPr lang="fi-FI" altLang="zh-TW" u="sng" dirty="0">
                <a:solidFill>
                  <a:srgbClr val="A52A2A"/>
                </a:solidFill>
                <a:cs typeface="Arial" panose="020B0604020202020204" pitchFamily="34" charset="0"/>
                <a:hlinkClick r:id="rId9"/>
              </a:rPr>
              <a:t>10984</a:t>
            </a:r>
            <a:r>
              <a:rPr lang="fi-FI" altLang="zh-TW" dirty="0">
                <a:solidFill>
                  <a:srgbClr val="000000"/>
                </a:solidFill>
                <a:cs typeface="Arial" panose="020B0604020202020204" pitchFamily="34" charset="0"/>
              </a:rPr>
              <a:t> </a:t>
            </a:r>
            <a:r>
              <a:rPr lang="fi-FI" altLang="zh-TW" u="sng" dirty="0">
                <a:solidFill>
                  <a:srgbClr val="A52A2A"/>
                </a:solidFill>
                <a:cs typeface="Arial" panose="020B0604020202020204" pitchFamily="34" charset="0"/>
                <a:hlinkClick r:id="rId10"/>
              </a:rPr>
              <a:t>663</a:t>
            </a:r>
            <a:r>
              <a:rPr lang="fi-FI" altLang="zh-TW" dirty="0">
                <a:solidFill>
                  <a:srgbClr val="000000"/>
                </a:solidFill>
                <a:cs typeface="Arial" panose="020B0604020202020204" pitchFamily="34" charset="0"/>
              </a:rPr>
              <a:t> </a:t>
            </a:r>
            <a:r>
              <a:rPr lang="fi-FI" altLang="zh-TW" u="sng" dirty="0">
                <a:solidFill>
                  <a:srgbClr val="A52A2A"/>
                </a:solidFill>
                <a:cs typeface="Arial" panose="020B0604020202020204" pitchFamily="34" charset="0"/>
                <a:hlinkClick r:id="rId11"/>
              </a:rPr>
              <a:t>11148</a:t>
            </a:r>
            <a:endParaRPr lang="en-US" altLang="zh-TW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863865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/>
              <a:t>Finding a Maximum Bipartite Matching</a:t>
            </a:r>
            <a:endParaRPr lang="zh-TW" altLang="en-US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2000" y="1269000"/>
            <a:ext cx="8640000" cy="2880000"/>
          </a:xfrm>
        </p:spPr>
        <p:txBody>
          <a:bodyPr/>
          <a:lstStyle/>
          <a:p>
            <a:pPr marL="0" indent="360363"/>
            <a:r>
              <a:rPr lang="en-US" altLang="zh-TW" dirty="0"/>
              <a:t>Thus, given a bipartite undirected graph </a:t>
            </a:r>
            <a:r>
              <a:rPr lang="en-US" altLang="zh-TW" i="1" dirty="0"/>
              <a:t>G</a:t>
            </a:r>
            <a:r>
              <a:rPr lang="en-US" altLang="zh-TW" dirty="0"/>
              <a:t>, we can find a maximum matching by creating the flow network </a:t>
            </a:r>
            <a:r>
              <a:rPr lang="en-US" altLang="zh-TW" i="1" spc="100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/>
              <a:t>, running the </a:t>
            </a:r>
            <a:r>
              <a:rPr lang="en-US" altLang="zh-TW" dirty="0" err="1"/>
              <a:t>FordFulkerson</a:t>
            </a:r>
            <a:r>
              <a:rPr lang="en-US" altLang="zh-TW" dirty="0"/>
              <a:t> method, and directly obtaining a maximum matching </a:t>
            </a:r>
            <a:r>
              <a:rPr lang="en-US" altLang="zh-TW" i="1" dirty="0"/>
              <a:t>M</a:t>
            </a:r>
            <a:r>
              <a:rPr lang="en-US" altLang="zh-TW" dirty="0"/>
              <a:t> from the integer-valued maximum flow </a:t>
            </a:r>
            <a:r>
              <a:rPr lang="en-US" altLang="zh-TW" i="1" dirty="0"/>
              <a:t>f</a:t>
            </a:r>
            <a:r>
              <a:rPr lang="en-US" altLang="zh-TW" dirty="0"/>
              <a:t> found. Since any matching in a bipartite graph has cardinality at most min(</a:t>
            </a:r>
            <a:r>
              <a:rPr lang="en-US" altLang="zh-TW" i="1" dirty="0"/>
              <a:t>L</a:t>
            </a:r>
            <a:r>
              <a:rPr lang="en-US" altLang="zh-TW" dirty="0"/>
              <a:t>, </a:t>
            </a:r>
            <a:r>
              <a:rPr lang="en-US" altLang="zh-TW" i="1" dirty="0"/>
              <a:t>R</a:t>
            </a:r>
            <a:r>
              <a:rPr lang="en-US" altLang="zh-TW" dirty="0"/>
              <a:t>)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/>
              <a:t> </a:t>
            </a:r>
            <a:r>
              <a:rPr lang="en-US" altLang="zh-TW" i="1" dirty="0"/>
              <a:t>O</a:t>
            </a:r>
            <a:r>
              <a:rPr lang="en-US" altLang="zh-TW" dirty="0"/>
              <a:t>(</a:t>
            </a:r>
            <a:r>
              <a:rPr lang="en-US" altLang="zh-TW" i="1" dirty="0"/>
              <a:t>n</a:t>
            </a:r>
            <a:r>
              <a:rPr lang="en-US" altLang="zh-TW" dirty="0"/>
              <a:t>), </a:t>
            </a:r>
            <a:r>
              <a:rPr lang="en-US" altLang="zh-TW" dirty="0">
                <a:solidFill>
                  <a:srgbClr val="FF0000"/>
                </a:solidFill>
              </a:rPr>
              <a:t>the value of the maximum flow in </a:t>
            </a:r>
            <a:r>
              <a:rPr lang="en-US" altLang="zh-TW" i="1" spc="100" dirty="0">
                <a:solidFill>
                  <a:srgbClr val="FF0000"/>
                </a:solidFill>
              </a:rPr>
              <a:t>G</a:t>
            </a:r>
            <a:r>
              <a:rPr lang="en-US" altLang="zh-TW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>
                <a:solidFill>
                  <a:srgbClr val="FF0000"/>
                </a:solidFill>
              </a:rPr>
              <a:t> is </a:t>
            </a:r>
            <a:r>
              <a:rPr lang="en-US" altLang="zh-TW" i="1" dirty="0">
                <a:solidFill>
                  <a:srgbClr val="FF0000"/>
                </a:solidFill>
              </a:rPr>
              <a:t>O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en-US" altLang="zh-TW" i="1" dirty="0">
                <a:solidFill>
                  <a:srgbClr val="FF0000"/>
                </a:solidFill>
              </a:rPr>
              <a:t>n</a:t>
            </a:r>
            <a:r>
              <a:rPr lang="en-US" altLang="zh-TW" dirty="0">
                <a:solidFill>
                  <a:srgbClr val="FF0000"/>
                </a:solidFill>
              </a:rPr>
              <a:t>)</a:t>
            </a:r>
            <a:r>
              <a:rPr lang="en-US" altLang="zh-TW" dirty="0"/>
              <a:t>. We can therefore find a maximum matching in a bipartite graph in time </a:t>
            </a:r>
            <a:r>
              <a:rPr lang="en-US" altLang="zh-TW" i="1" dirty="0">
                <a:solidFill>
                  <a:srgbClr val="FF0000"/>
                </a:solidFill>
              </a:rPr>
              <a:t>O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en-US" altLang="zh-TW" i="1" dirty="0">
                <a:solidFill>
                  <a:srgbClr val="FF0000"/>
                </a:solidFill>
              </a:rPr>
              <a:t>nm</a:t>
            </a:r>
            <a:r>
              <a:rPr lang="en-US" altLang="zh-TW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>
                <a:solidFill>
                  <a:srgbClr val="FF0000"/>
                </a:solidFill>
              </a:rPr>
              <a:t>) </a:t>
            </a:r>
            <a:r>
              <a:rPr lang="en-US" altLang="zh-TW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i="1" dirty="0">
                <a:solidFill>
                  <a:srgbClr val="FF0000"/>
                </a:solidFill>
              </a:rPr>
              <a:t>O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en-US" altLang="zh-TW" i="1" dirty="0">
                <a:solidFill>
                  <a:srgbClr val="FF0000"/>
                </a:solidFill>
              </a:rPr>
              <a:t>n</a:t>
            </a:r>
            <a:r>
              <a:rPr lang="en-US" altLang="zh-TW" i="1" spc="200" dirty="0">
                <a:solidFill>
                  <a:srgbClr val="FF0000"/>
                </a:solidFill>
              </a:rPr>
              <a:t>m</a:t>
            </a:r>
            <a:r>
              <a:rPr lang="en-US" altLang="zh-TW" dirty="0">
                <a:solidFill>
                  <a:srgbClr val="FF0000"/>
                </a:solidFill>
              </a:rPr>
              <a:t>)</a:t>
            </a:r>
            <a:r>
              <a:rPr lang="en-US" altLang="zh-TW" dirty="0"/>
              <a:t>, since </a:t>
            </a:r>
            <a:r>
              <a:rPr lang="en-US" altLang="zh-TW" i="1" dirty="0">
                <a:solidFill>
                  <a:srgbClr val="000000"/>
                </a:solidFill>
              </a:rPr>
              <a:t>m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l-GR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m</a:t>
            </a:r>
            <a:r>
              <a:rPr lang="en-US" altLang="zh-TW" dirty="0">
                <a:solidFill>
                  <a:srgbClr val="000000"/>
                </a:solidFill>
              </a:rPr>
              <a:t>), where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i="1" spc="200" dirty="0">
                <a:solidFill>
                  <a:srgbClr val="000000"/>
                </a:solidFill>
              </a:rPr>
              <a:t>V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m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i="1" spc="200" dirty="0">
                <a:solidFill>
                  <a:srgbClr val="000000"/>
                </a:solidFill>
              </a:rPr>
              <a:t>E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 and </a:t>
            </a:r>
            <a:r>
              <a:rPr lang="en-US" altLang="zh-TW" i="1" dirty="0">
                <a:solidFill>
                  <a:srgbClr val="000000"/>
                </a:solidFill>
              </a:rPr>
              <a:t>m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i="1" spc="200" dirty="0">
                <a:solidFill>
                  <a:srgbClr val="000000"/>
                </a:solidFill>
              </a:rPr>
              <a:t>E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b="1" dirty="0">
                <a:solidFill>
                  <a:srgbClr val="000000"/>
                </a:solidFill>
              </a:rPr>
              <a:t>|</a:t>
            </a:r>
            <a:r>
              <a:rPr lang="en-US" altLang="zh-TW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3523217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63513</TotalTime>
  <Words>17609</Words>
  <Application>Microsoft Office PowerPoint</Application>
  <PresentationFormat>如螢幕大小 (4:3)</PresentationFormat>
  <Paragraphs>2474</Paragraphs>
  <Slides>189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189</vt:i4>
      </vt:variant>
    </vt:vector>
  </HeadingPairs>
  <TitlesOfParts>
    <vt:vector size="201" baseType="lpstr">
      <vt:lpstr>細明體</vt:lpstr>
      <vt:lpstr>新細明體</vt:lpstr>
      <vt:lpstr>標楷體</vt:lpstr>
      <vt:lpstr>Arial</vt:lpstr>
      <vt:lpstr>Cambria Math</vt:lpstr>
      <vt:lpstr>Lucida Console</vt:lpstr>
      <vt:lpstr>MT Extra</vt:lpstr>
      <vt:lpstr>Symbol</vt:lpstr>
      <vt:lpstr>Times New Roman</vt:lpstr>
      <vt:lpstr>Wingdings</vt:lpstr>
      <vt:lpstr>Blends</vt:lpstr>
      <vt:lpstr>方程式</vt:lpstr>
      <vt:lpstr>Maximum Flow</vt:lpstr>
      <vt:lpstr>The trucking problem of the Lucky Puck Company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Flow Networks</vt:lpstr>
      <vt:lpstr>PowerPoint 簡報</vt:lpstr>
      <vt:lpstr>PowerPoint 簡報</vt:lpstr>
      <vt:lpstr>Flow Networks</vt:lpstr>
      <vt:lpstr>An Example of Flow Network</vt:lpstr>
      <vt:lpstr>The Maximum-flow Problem</vt:lpstr>
      <vt:lpstr>Flow</vt:lpstr>
      <vt:lpstr>Flow</vt:lpstr>
      <vt:lpstr>Flow</vt:lpstr>
      <vt:lpstr>An Example of Flow</vt:lpstr>
      <vt:lpstr>The Maximum-flow Problem</vt:lpstr>
      <vt:lpstr>The Maximum-flow Problem</vt:lpstr>
      <vt:lpstr>The Maximum-flow Problem</vt:lpstr>
      <vt:lpstr>The Maximum-flow Problem</vt:lpstr>
      <vt:lpstr>The Maximum-flow Problem</vt:lpstr>
      <vt:lpstr>Residual Networks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Cuts of flow networks</vt:lpstr>
      <vt:lpstr>PowerPoint 簡報</vt:lpstr>
      <vt:lpstr>Partition</vt:lpstr>
      <vt:lpstr>PowerPoint 簡報</vt:lpstr>
      <vt:lpstr>PowerPoint 簡報</vt:lpstr>
      <vt:lpstr>PowerPoint 簡報</vt:lpstr>
      <vt:lpstr>The Maximum-flow Problem</vt:lpstr>
      <vt:lpstr>PowerPoint 簡報</vt:lpstr>
      <vt:lpstr>PowerPoint 簡報</vt:lpstr>
      <vt:lpstr>Critical Cut</vt:lpstr>
      <vt:lpstr>Flow</vt:lpstr>
      <vt:lpstr>PowerPoint 簡報</vt:lpstr>
      <vt:lpstr>High Implementation Overhead</vt:lpstr>
      <vt:lpstr>PowerPoint 簡報</vt:lpstr>
      <vt:lpstr>Flow Networks</vt:lpstr>
      <vt:lpstr>Residual Networks − Modified</vt:lpstr>
      <vt:lpstr>PowerPoint 簡報</vt:lpstr>
      <vt:lpstr>PowerPoint 簡報</vt:lpstr>
      <vt:lpstr>High Implementation Overhead</vt:lpstr>
      <vt:lpstr>PowerPoint 簡報</vt:lpstr>
      <vt:lpstr>Residual Networks − Modified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Analysis of FordFulkerson</vt:lpstr>
      <vt:lpstr>Analysis of FordFulkerson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Analysis of FordFulkerson</vt:lpstr>
      <vt:lpstr>The Edmonds-Karp algorithm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The Edmonds-Karp algorithm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Dinic’s Algorithm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The time complexity of Dinic's algorithm</vt:lpstr>
      <vt:lpstr>PowerPoint 簡報</vt:lpstr>
      <vt:lpstr>The Minimum Cut Problem</vt:lpstr>
      <vt:lpstr>PowerPoint 簡報</vt:lpstr>
      <vt:lpstr>PowerPoint 簡報</vt:lpstr>
      <vt:lpstr>PowerPoint 簡報</vt:lpstr>
      <vt:lpstr>PowerPoint 簡報</vt:lpstr>
      <vt:lpstr>Minimum Cut Algorithm</vt:lpstr>
      <vt:lpstr>PowerPoint 簡報</vt:lpstr>
      <vt:lpstr>Networks with Multiple Sources and Sinks</vt:lpstr>
      <vt:lpstr>Networks with Multiple Sources and Sinks</vt:lpstr>
      <vt:lpstr>Networks with Multiple Sources and Sinks</vt:lpstr>
      <vt:lpstr>Networks with Multiple Sources and Sinks</vt:lpstr>
      <vt:lpstr>PowerPoint 簡報</vt:lpstr>
      <vt:lpstr>Maximum Bipartite Matching</vt:lpstr>
      <vt:lpstr>PowerPoint 簡報</vt:lpstr>
      <vt:lpstr>Finding a Maximum Bipartite Matching</vt:lpstr>
      <vt:lpstr>PowerPoint 簡報</vt:lpstr>
      <vt:lpstr>PowerPoint 簡報</vt:lpstr>
      <vt:lpstr>Finding a Maximum Bipartite Matching</vt:lpstr>
      <vt:lpstr>Finding a Maximum Bipartite Matching</vt:lpstr>
      <vt:lpstr>Finding a Maximum Bipartite Matching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james</cp:lastModifiedBy>
  <cp:revision>1944</cp:revision>
  <dcterms:created xsi:type="dcterms:W3CDTF">1601-01-01T00:00:00Z</dcterms:created>
  <dcterms:modified xsi:type="dcterms:W3CDTF">2025-12-24T12:00:47Z</dcterms:modified>
</cp:coreProperties>
</file>