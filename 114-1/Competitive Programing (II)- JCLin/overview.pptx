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8"/>
  </p:handoutMasterIdLst>
  <p:sldIdLst>
    <p:sldId id="270" r:id="rId2"/>
    <p:sldId id="271" r:id="rId3"/>
    <p:sldId id="272" r:id="rId4"/>
    <p:sldId id="268" r:id="rId5"/>
    <p:sldId id="269" r:id="rId6"/>
    <p:sldId id="273" r:id="rId7"/>
  </p:sldIdLst>
  <p:sldSz cx="9144000" cy="6858000" type="screen4x3"/>
  <p:notesSz cx="6797675" cy="9874250"/>
  <p:defaultTextStyle>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p:defaultTextStyle>
  <p:extLst>
    <p:ext uri="{EFAFB233-063F-42B5-8137-9DF3F51BA10A}">
      <p15:sldGuideLst xmlns:p15="http://schemas.microsoft.com/office/powerpoint/2012/main">
        <p15:guide id="1" orient="horz" pos="2727">
          <p15:clr>
            <a:srgbClr val="A4A3A4"/>
          </p15:clr>
        </p15:guide>
        <p15:guide id="2" pos="6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92" d="100"/>
          <a:sy n="92" d="100"/>
        </p:scale>
        <p:origin x="134" y="82"/>
      </p:cViewPr>
      <p:guideLst>
        <p:guide orient="horz" pos="2727"/>
        <p:guide pos="612"/>
      </p:guideLst>
    </p:cSldViewPr>
  </p:slideViewPr>
  <p:notesTextViewPr>
    <p:cViewPr>
      <p:scale>
        <a:sx n="100" d="100"/>
        <a:sy n="100" d="100"/>
      </p:scale>
      <p:origin x="0" y="0"/>
    </p:cViewPr>
  </p:notesTextViewPr>
  <p:gridSpacing cx="180023" cy="180023"/>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TW"/>
          </a:p>
        </p:txBody>
      </p:sp>
      <p:sp>
        <p:nvSpPr>
          <p:cNvPr id="17411" name="Rectangle 3"/>
          <p:cNvSpPr>
            <a:spLocks noGrp="1" noChangeArrowheads="1"/>
          </p:cNvSpPr>
          <p:nvPr>
            <p:ph type="dt" sz="quarter" idx="1"/>
          </p:nvPr>
        </p:nvSpPr>
        <p:spPr bwMode="auto">
          <a:xfrm>
            <a:off x="3849688"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TW"/>
          </a:p>
        </p:txBody>
      </p:sp>
      <p:sp>
        <p:nvSpPr>
          <p:cNvPr id="17412" name="Rectangle 4"/>
          <p:cNvSpPr>
            <a:spLocks noGrp="1" noChangeArrowheads="1"/>
          </p:cNvSpPr>
          <p:nvPr>
            <p:ph type="ftr" sz="quarter" idx="2"/>
          </p:nvPr>
        </p:nvSpPr>
        <p:spPr bwMode="auto">
          <a:xfrm>
            <a:off x="0"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TW"/>
          </a:p>
        </p:txBody>
      </p:sp>
      <p:sp>
        <p:nvSpPr>
          <p:cNvPr id="17413" name="Rectangle 5"/>
          <p:cNvSpPr>
            <a:spLocks noGrp="1" noChangeArrowheads="1"/>
          </p:cNvSpPr>
          <p:nvPr>
            <p:ph type="sldNum" sz="quarter" idx="3"/>
          </p:nvPr>
        </p:nvSpPr>
        <p:spPr bwMode="auto">
          <a:xfrm>
            <a:off x="3849688"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725467CB-9C3F-4E20-A268-49D87587DACB}" type="slidenum">
              <a:rPr lang="en-US" altLang="zh-TW"/>
              <a:pPr>
                <a:defRPr/>
              </a:pPr>
              <a:t>‹#›</a:t>
            </a:fld>
            <a:endParaRPr lang="en-US" altLang="zh-TW"/>
          </a:p>
        </p:txBody>
      </p:sp>
    </p:spTree>
    <p:extLst>
      <p:ext uri="{BB962C8B-B14F-4D97-AF65-F5344CB8AC3E}">
        <p14:creationId xmlns:p14="http://schemas.microsoft.com/office/powerpoint/2010/main" val="422634301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hasCustomPrompt="1"/>
          </p:nvPr>
        </p:nvSpPr>
        <p:spPr/>
        <p:txBody>
          <a:bodyPr/>
          <a:lstStyle/>
          <a:p>
            <a:pPr lvl="0"/>
            <a:r>
              <a:rPr lang="zh-TW" altLang="en-US" dirty="0" smtClean="0"/>
              <a:t>按一下以編輯母片文字樣式</a:t>
            </a:r>
          </a:p>
          <a:p>
            <a:pPr lvl="1"/>
            <a:r>
              <a:rPr lang="zh-TW" altLang="en-US" dirty="0" smtClean="0"/>
              <a:t>第二層</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hasCustomPrompt="1"/>
          </p:nvPr>
        </p:nvSpPr>
        <p:spPr>
          <a:xfrm>
            <a:off x="431471" y="1268724"/>
            <a:ext cx="8281058" cy="5040001"/>
          </a:xfrm>
        </p:spPr>
        <p:txBody>
          <a:bodyPr/>
          <a:lstStyle>
            <a:lvl1pPr marL="0" indent="0">
              <a:buFontTx/>
              <a:buNone/>
              <a:defRPr sz="2400"/>
            </a:lvl1pPr>
          </a:lstStyle>
          <a:p>
            <a:pPr lvl="0"/>
            <a:r>
              <a:rPr lang="zh-TW" altLang="en-US" dirty="0" smtClean="0"/>
              <a:t>按一下以編輯母片文字樣式</a:t>
            </a:r>
          </a:p>
        </p:txBody>
      </p:sp>
    </p:spTree>
    <p:extLst>
      <p:ext uri="{BB962C8B-B14F-4D97-AF65-F5344CB8AC3E}">
        <p14:creationId xmlns:p14="http://schemas.microsoft.com/office/powerpoint/2010/main" val="16843912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hasCustomPrompt="1"/>
          </p:nvPr>
        </p:nvSpPr>
        <p:spPr>
          <a:xfrm>
            <a:off x="431471" y="1268724"/>
            <a:ext cx="8281058" cy="5040001"/>
          </a:xfrm>
        </p:spPr>
        <p:txBody>
          <a:bodyPr/>
          <a:lstStyle>
            <a:lvl1pPr>
              <a:spcBef>
                <a:spcPts val="600"/>
              </a:spcBef>
              <a:defRPr sz="2400"/>
            </a:lvl1pPr>
          </a:lstStyle>
          <a:p>
            <a:pPr lvl="0"/>
            <a:r>
              <a:rPr lang="zh-TW" altLang="en-US" dirty="0" smtClean="0"/>
              <a:t>按一下以編輯母片文字樣式</a:t>
            </a:r>
          </a:p>
        </p:txBody>
      </p:sp>
    </p:spTree>
    <p:extLst>
      <p:ext uri="{BB962C8B-B14F-4D97-AF65-F5344CB8AC3E}">
        <p14:creationId xmlns:p14="http://schemas.microsoft.com/office/powerpoint/2010/main" val="267354343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31471" y="188586"/>
            <a:ext cx="8281058" cy="10801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smtClean="0"/>
              <a:t>按一下以編輯母片標題樣式</a:t>
            </a:r>
          </a:p>
        </p:txBody>
      </p:sp>
      <p:sp>
        <p:nvSpPr>
          <p:cNvPr id="1027" name="Rectangle 3"/>
          <p:cNvSpPr>
            <a:spLocks noGrp="1" noChangeArrowheads="1"/>
          </p:cNvSpPr>
          <p:nvPr>
            <p:ph type="body" idx="1"/>
          </p:nvPr>
        </p:nvSpPr>
        <p:spPr bwMode="auto">
          <a:xfrm>
            <a:off x="431471" y="1448747"/>
            <a:ext cx="8281058" cy="48599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smtClean="0"/>
              <a:t>按一下以編輯母片</a:t>
            </a:r>
          </a:p>
          <a:p>
            <a:pPr lvl="1"/>
            <a:r>
              <a:rPr lang="zh-TW" altLang="en-US" dirty="0" smtClean="0"/>
              <a:t>第二層</a:t>
            </a:r>
          </a:p>
        </p:txBody>
      </p:sp>
    </p:spTree>
  </p:cSld>
  <p:clrMap bg1="lt1" tx1="dk1" bg2="lt2" tx2="dk2" accent1="accent1" accent2="accent2" accent3="accent3" accent4="accent4" accent5="accent5" accent6="accent6" hlink="hlink" folHlink="folHlink"/>
  <p:sldLayoutIdLst>
    <p:sldLayoutId id="2147483650" r:id="rId1"/>
    <p:sldLayoutId id="2147483656" r:id="rId2"/>
    <p:sldLayoutId id="2147483657" r:id="rId3"/>
    <p:sldLayoutId id="2147483654" r:id="rId4"/>
    <p:sldLayoutId id="2147483655" r:id="rId5"/>
  </p:sldLayoutIdLst>
  <p:txStyles>
    <p:titleStyle>
      <a:lvl1pPr algn="ctr" rtl="0" eaLnBrk="0" fontAlgn="base" hangingPunct="0">
        <a:spcBef>
          <a:spcPct val="0"/>
        </a:spcBef>
        <a:spcAft>
          <a:spcPct val="0"/>
        </a:spcAft>
        <a:defRPr kumimoji="1" sz="4400" b="0">
          <a:solidFill>
            <a:srgbClr val="0000FF"/>
          </a:solidFill>
          <a:latin typeface="+mj-lt"/>
          <a:ea typeface="+mj-ea"/>
          <a:cs typeface="+mj-cs"/>
        </a:defRPr>
      </a:lvl1pPr>
      <a:lvl2pPr algn="ctr" rtl="0" eaLnBrk="0" fontAlgn="base" hangingPunct="0">
        <a:spcBef>
          <a:spcPct val="0"/>
        </a:spcBef>
        <a:spcAft>
          <a:spcPct val="0"/>
        </a:spcAft>
        <a:defRPr kumimoji="1" sz="4000">
          <a:solidFill>
            <a:srgbClr val="0000FF"/>
          </a:solidFill>
          <a:latin typeface="Times New Roman" pitchFamily="18" charset="0"/>
          <a:ea typeface="標楷體" pitchFamily="65" charset="-120"/>
        </a:defRPr>
      </a:lvl2pPr>
      <a:lvl3pPr algn="ctr" rtl="0" eaLnBrk="0" fontAlgn="base" hangingPunct="0">
        <a:spcBef>
          <a:spcPct val="0"/>
        </a:spcBef>
        <a:spcAft>
          <a:spcPct val="0"/>
        </a:spcAft>
        <a:defRPr kumimoji="1" sz="4000">
          <a:solidFill>
            <a:srgbClr val="0000FF"/>
          </a:solidFill>
          <a:latin typeface="Times New Roman" pitchFamily="18" charset="0"/>
          <a:ea typeface="標楷體" pitchFamily="65" charset="-120"/>
        </a:defRPr>
      </a:lvl3pPr>
      <a:lvl4pPr algn="ctr" rtl="0" eaLnBrk="0" fontAlgn="base" hangingPunct="0">
        <a:spcBef>
          <a:spcPct val="0"/>
        </a:spcBef>
        <a:spcAft>
          <a:spcPct val="0"/>
        </a:spcAft>
        <a:defRPr kumimoji="1" sz="4000">
          <a:solidFill>
            <a:srgbClr val="0000FF"/>
          </a:solidFill>
          <a:latin typeface="Times New Roman" pitchFamily="18" charset="0"/>
          <a:ea typeface="標楷體" pitchFamily="65" charset="-120"/>
        </a:defRPr>
      </a:lvl4pPr>
      <a:lvl5pPr algn="ctr" rtl="0" eaLnBrk="0" fontAlgn="base" hangingPunct="0">
        <a:spcBef>
          <a:spcPct val="0"/>
        </a:spcBef>
        <a:spcAft>
          <a:spcPct val="0"/>
        </a:spcAft>
        <a:defRPr kumimoji="1" sz="4000">
          <a:solidFill>
            <a:srgbClr val="0000FF"/>
          </a:solidFill>
          <a:latin typeface="Times New Roman" pitchFamily="18" charset="0"/>
          <a:ea typeface="標楷體" pitchFamily="65" charset="-120"/>
        </a:defRPr>
      </a:lvl5pPr>
      <a:lvl6pPr marL="457200" algn="ctr" rtl="0" fontAlgn="base">
        <a:spcBef>
          <a:spcPct val="0"/>
        </a:spcBef>
        <a:spcAft>
          <a:spcPct val="0"/>
        </a:spcAft>
        <a:defRPr kumimoji="1" sz="4000">
          <a:solidFill>
            <a:srgbClr val="0000FF"/>
          </a:solidFill>
          <a:latin typeface="Times New Roman" pitchFamily="18" charset="0"/>
          <a:ea typeface="標楷體" pitchFamily="65" charset="-120"/>
        </a:defRPr>
      </a:lvl6pPr>
      <a:lvl7pPr marL="914400" algn="ctr" rtl="0" fontAlgn="base">
        <a:spcBef>
          <a:spcPct val="0"/>
        </a:spcBef>
        <a:spcAft>
          <a:spcPct val="0"/>
        </a:spcAft>
        <a:defRPr kumimoji="1" sz="4000">
          <a:solidFill>
            <a:srgbClr val="0000FF"/>
          </a:solidFill>
          <a:latin typeface="Times New Roman" pitchFamily="18" charset="0"/>
          <a:ea typeface="標楷體" pitchFamily="65" charset="-120"/>
        </a:defRPr>
      </a:lvl7pPr>
      <a:lvl8pPr marL="1371600" algn="ctr" rtl="0" fontAlgn="base">
        <a:spcBef>
          <a:spcPct val="0"/>
        </a:spcBef>
        <a:spcAft>
          <a:spcPct val="0"/>
        </a:spcAft>
        <a:defRPr kumimoji="1" sz="4000">
          <a:solidFill>
            <a:srgbClr val="0000FF"/>
          </a:solidFill>
          <a:latin typeface="Times New Roman" pitchFamily="18" charset="0"/>
          <a:ea typeface="標楷體" pitchFamily="65" charset="-120"/>
        </a:defRPr>
      </a:lvl8pPr>
      <a:lvl9pPr marL="1828800" algn="ctr" rtl="0" fontAlgn="base">
        <a:spcBef>
          <a:spcPct val="0"/>
        </a:spcBef>
        <a:spcAft>
          <a:spcPct val="0"/>
        </a:spcAft>
        <a:defRPr kumimoji="1" sz="4000">
          <a:solidFill>
            <a:srgbClr val="0000FF"/>
          </a:solidFill>
          <a:latin typeface="Times New Roman" pitchFamily="18" charset="0"/>
          <a:ea typeface="標楷體" pitchFamily="65" charset="-120"/>
        </a:defRPr>
      </a:lvl9pPr>
    </p:titleStyle>
    <p:bodyStyle>
      <a:lvl1pPr marL="342900" indent="-342900" algn="l" rtl="0" eaLnBrk="0" fontAlgn="base" hangingPunct="0">
        <a:spcBef>
          <a:spcPct val="5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400">
          <a:solidFill>
            <a:schemeClr val="tx1"/>
          </a:solidFill>
          <a:latin typeface="+mn-lt"/>
          <a:ea typeface="+mn-ea"/>
        </a:defRPr>
      </a:lvl2pPr>
      <a:lvl3pPr marL="1143000" indent="-228600" algn="l" rtl="0" eaLnBrk="0" fontAlgn="base" hangingPunct="0">
        <a:spcBef>
          <a:spcPct val="20000"/>
        </a:spcBef>
        <a:spcAft>
          <a:spcPct val="0"/>
        </a:spcAft>
        <a:buChar char="•"/>
        <a:defRPr kumimoji="1" sz="3200">
          <a:solidFill>
            <a:schemeClr val="tx1"/>
          </a:solidFill>
          <a:latin typeface="+mn-lt"/>
          <a:ea typeface="+mn-ea"/>
        </a:defRPr>
      </a:lvl3pPr>
      <a:lvl4pPr marL="1600200" indent="-228600" algn="l" rtl="0" eaLnBrk="0" fontAlgn="base" hangingPunct="0">
        <a:spcBef>
          <a:spcPct val="20000"/>
        </a:spcBef>
        <a:spcAft>
          <a:spcPct val="0"/>
        </a:spcAft>
        <a:buChar char="–"/>
        <a:defRPr kumimoji="1" sz="3200">
          <a:solidFill>
            <a:schemeClr val="tx1"/>
          </a:solidFill>
          <a:latin typeface="+mn-lt"/>
          <a:ea typeface="+mn-ea"/>
        </a:defRPr>
      </a:lvl4pPr>
      <a:lvl5pPr marL="2057400" indent="-228600" algn="l" rtl="0" eaLnBrk="0" fontAlgn="base" hangingPunct="0">
        <a:spcBef>
          <a:spcPct val="20000"/>
        </a:spcBef>
        <a:spcAft>
          <a:spcPct val="0"/>
        </a:spcAft>
        <a:buChar char="»"/>
        <a:defRPr kumimoji="1" sz="3200">
          <a:solidFill>
            <a:schemeClr val="tx1"/>
          </a:solidFill>
          <a:latin typeface="+mn-lt"/>
          <a:ea typeface="+mn-ea"/>
        </a:defRPr>
      </a:lvl5pPr>
      <a:lvl6pPr marL="2514600" indent="-228600" algn="l" rtl="0" fontAlgn="base">
        <a:spcBef>
          <a:spcPct val="20000"/>
        </a:spcBef>
        <a:spcAft>
          <a:spcPct val="0"/>
        </a:spcAft>
        <a:buChar char="»"/>
        <a:defRPr kumimoji="1" sz="3200">
          <a:solidFill>
            <a:schemeClr val="tx1"/>
          </a:solidFill>
          <a:latin typeface="+mn-lt"/>
          <a:ea typeface="+mn-ea"/>
        </a:defRPr>
      </a:lvl6pPr>
      <a:lvl7pPr marL="2971800" indent="-228600" algn="l" rtl="0" fontAlgn="base">
        <a:spcBef>
          <a:spcPct val="20000"/>
        </a:spcBef>
        <a:spcAft>
          <a:spcPct val="0"/>
        </a:spcAft>
        <a:buChar char="»"/>
        <a:defRPr kumimoji="1" sz="3200">
          <a:solidFill>
            <a:schemeClr val="tx1"/>
          </a:solidFill>
          <a:latin typeface="+mn-lt"/>
          <a:ea typeface="+mn-ea"/>
        </a:defRPr>
      </a:lvl7pPr>
      <a:lvl8pPr marL="3429000" indent="-228600" algn="l" rtl="0" fontAlgn="base">
        <a:spcBef>
          <a:spcPct val="20000"/>
        </a:spcBef>
        <a:spcAft>
          <a:spcPct val="0"/>
        </a:spcAft>
        <a:buChar char="»"/>
        <a:defRPr kumimoji="1" sz="3200">
          <a:solidFill>
            <a:schemeClr val="tx1"/>
          </a:solidFill>
          <a:latin typeface="+mn-lt"/>
          <a:ea typeface="+mn-ea"/>
        </a:defRPr>
      </a:lvl8pPr>
      <a:lvl9pPr marL="3886200" indent="-228600" algn="l" rtl="0" fontAlgn="base">
        <a:spcBef>
          <a:spcPct val="20000"/>
        </a:spcBef>
        <a:spcAft>
          <a:spcPct val="0"/>
        </a:spcAft>
        <a:buChar char="»"/>
        <a:defRPr kumimoji="1" sz="32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Course Information</a:t>
            </a:r>
            <a:endParaRPr lang="zh-TW" altLang="en-US" dirty="0"/>
          </a:p>
        </p:txBody>
      </p:sp>
      <p:sp>
        <p:nvSpPr>
          <p:cNvPr id="4" name="內容版面配置區 3"/>
          <p:cNvSpPr>
            <a:spLocks noGrp="1"/>
          </p:cNvSpPr>
          <p:nvPr>
            <p:ph idx="1"/>
          </p:nvPr>
        </p:nvSpPr>
        <p:spPr/>
        <p:txBody>
          <a:bodyPr/>
          <a:lstStyle/>
          <a:p>
            <a:pPr lvl="0">
              <a:spcBef>
                <a:spcPts val="1200"/>
              </a:spcBef>
            </a:pPr>
            <a:r>
              <a:rPr lang="en-US" altLang="zh-TW" dirty="0">
                <a:solidFill>
                  <a:srgbClr val="000000"/>
                </a:solidFill>
              </a:rPr>
              <a:t>Course Code: </a:t>
            </a:r>
            <a:r>
              <a:rPr lang="en-US" altLang="zh-TW" dirty="0" err="1">
                <a:solidFill>
                  <a:srgbClr val="000000"/>
                </a:solidFill>
              </a:rPr>
              <a:t>CS261A</a:t>
            </a:r>
            <a:endParaRPr lang="en-US" altLang="zh-TW" dirty="0">
              <a:solidFill>
                <a:srgbClr val="000000"/>
              </a:solidFill>
            </a:endParaRPr>
          </a:p>
          <a:p>
            <a:pPr lvl="0">
              <a:spcBef>
                <a:spcPts val="1200"/>
              </a:spcBef>
              <a:tabLst>
                <a:tab pos="2514600" algn="l"/>
              </a:tabLst>
            </a:pPr>
            <a:r>
              <a:rPr lang="en-US" altLang="zh-TW" dirty="0">
                <a:solidFill>
                  <a:srgbClr val="000000"/>
                </a:solidFill>
              </a:rPr>
              <a:t>Course Name:	Competitive Programming II</a:t>
            </a:r>
          </a:p>
          <a:p>
            <a:pPr lvl="0">
              <a:spcBef>
                <a:spcPts val="1200"/>
              </a:spcBef>
            </a:pPr>
            <a:r>
              <a:rPr lang="en-US" altLang="zh-TW" dirty="0">
                <a:solidFill>
                  <a:srgbClr val="000000"/>
                </a:solidFill>
              </a:rPr>
              <a:t>Instructor: </a:t>
            </a:r>
            <a:r>
              <a:rPr lang="zh-TW" altLang="en-US" dirty="0">
                <a:solidFill>
                  <a:srgbClr val="000000"/>
                </a:solidFill>
              </a:rPr>
              <a:t>林基成 </a:t>
            </a:r>
            <a:r>
              <a:rPr lang="en-US" altLang="zh-TW" dirty="0">
                <a:solidFill>
                  <a:srgbClr val="000000"/>
                </a:solidFill>
              </a:rPr>
              <a:t>(Ji-</a:t>
            </a:r>
            <a:r>
              <a:rPr lang="en-US" altLang="zh-TW" dirty="0" err="1">
                <a:solidFill>
                  <a:srgbClr val="000000"/>
                </a:solidFill>
              </a:rPr>
              <a:t>Cherng</a:t>
            </a:r>
            <a:r>
              <a:rPr lang="en-US" altLang="zh-TW" dirty="0">
                <a:solidFill>
                  <a:srgbClr val="000000"/>
                </a:solidFill>
              </a:rPr>
              <a:t> Lin)</a:t>
            </a:r>
          </a:p>
          <a:p>
            <a:pPr lvl="0">
              <a:spcBef>
                <a:spcPts val="1200"/>
              </a:spcBef>
            </a:pPr>
            <a:r>
              <a:rPr lang="en-US" altLang="zh-TW" dirty="0">
                <a:solidFill>
                  <a:srgbClr val="000000"/>
                </a:solidFill>
              </a:rPr>
              <a:t>Day</a:t>
            </a:r>
            <a:r>
              <a:rPr lang="en-US" altLang="zh-TW" dirty="0">
                <a:solidFill>
                  <a:srgbClr val="000000"/>
                </a:solidFill>
                <a:latin typeface="Georgia" panose="02040502050405020303" pitchFamily="18" charset="0"/>
              </a:rPr>
              <a:t>/</a:t>
            </a:r>
            <a:r>
              <a:rPr lang="en-US" altLang="zh-TW" dirty="0">
                <a:solidFill>
                  <a:srgbClr val="000000"/>
                </a:solidFill>
              </a:rPr>
              <a:t>Time: Wed 14:10 - </a:t>
            </a:r>
            <a:r>
              <a:rPr lang="en-US" altLang="zh-TW" dirty="0">
                <a:solidFill>
                  <a:srgbClr val="FF0000"/>
                </a:solidFill>
              </a:rPr>
              <a:t>18:00</a:t>
            </a:r>
          </a:p>
          <a:p>
            <a:pPr lvl="0">
              <a:spcBef>
                <a:spcPts val="1200"/>
              </a:spcBef>
            </a:pPr>
            <a:r>
              <a:rPr lang="en-US" altLang="zh-TW" dirty="0">
                <a:solidFill>
                  <a:srgbClr val="000000"/>
                </a:solidFill>
              </a:rPr>
              <a:t>Reference:</a:t>
            </a:r>
          </a:p>
          <a:p>
            <a:pPr lvl="1" indent="-387350">
              <a:buFont typeface="Arial" charset="0"/>
              <a:buChar char="–"/>
            </a:pPr>
            <a:r>
              <a:rPr kumimoji="0" lang="en-US" altLang="zh-TW" i="1" kern="1200" dirty="0">
                <a:solidFill>
                  <a:prstClr val="black"/>
                </a:solidFill>
                <a:latin typeface="Times New Roman" pitchFamily="18" charset="0"/>
                <a:cs typeface="Times New Roman" pitchFamily="18" charset="0"/>
              </a:rPr>
              <a:t>Introduction to Algorithms</a:t>
            </a:r>
            <a:r>
              <a:rPr kumimoji="0" lang="en-US" altLang="zh-TW" kern="1200" dirty="0">
                <a:solidFill>
                  <a:prstClr val="black"/>
                </a:solidFill>
                <a:latin typeface="Times New Roman" pitchFamily="18" charset="0"/>
                <a:cs typeface="Times New Roman" pitchFamily="18" charset="0"/>
              </a:rPr>
              <a:t>, 4</a:t>
            </a:r>
            <a:r>
              <a:rPr kumimoji="0" lang="en-US" altLang="zh-TW" b="1" kern="1200" dirty="0">
                <a:solidFill>
                  <a:prstClr val="black"/>
                </a:solidFill>
                <a:latin typeface="Times New Roman" pitchFamily="18" charset="0"/>
                <a:cs typeface="Times New Roman" pitchFamily="18" charset="0"/>
              </a:rPr>
              <a:t>/</a:t>
            </a:r>
            <a:r>
              <a:rPr kumimoji="0" lang="en-US" altLang="zh-TW" kern="1200" dirty="0">
                <a:solidFill>
                  <a:prstClr val="black"/>
                </a:solidFill>
                <a:latin typeface="Times New Roman" pitchFamily="18" charset="0"/>
                <a:cs typeface="Times New Roman" pitchFamily="18" charset="0"/>
              </a:rPr>
              <a:t>e, T. H. </a:t>
            </a:r>
            <a:r>
              <a:rPr kumimoji="0" lang="en-US" altLang="zh-TW" kern="1200" dirty="0" err="1">
                <a:solidFill>
                  <a:prstClr val="black"/>
                </a:solidFill>
                <a:latin typeface="Times New Roman" pitchFamily="18" charset="0"/>
                <a:cs typeface="Times New Roman" pitchFamily="18" charset="0"/>
              </a:rPr>
              <a:t>Cormen</a:t>
            </a:r>
            <a:r>
              <a:rPr kumimoji="0" lang="en-US" altLang="en-US" kern="1200" dirty="0">
                <a:solidFill>
                  <a:prstClr val="black"/>
                </a:solidFill>
                <a:latin typeface="Times New Roman" pitchFamily="18" charset="0"/>
                <a:cs typeface="Times New Roman" pitchFamily="18" charset="0"/>
              </a:rPr>
              <a:t>, </a:t>
            </a:r>
            <a:r>
              <a:rPr kumimoji="0" lang="en-US" altLang="zh-TW" kern="1200" dirty="0">
                <a:solidFill>
                  <a:prstClr val="black"/>
                </a:solidFill>
                <a:latin typeface="Times New Roman" pitchFamily="18" charset="0"/>
                <a:cs typeface="Times New Roman" pitchFamily="18" charset="0"/>
              </a:rPr>
              <a:t>C. E. </a:t>
            </a:r>
            <a:r>
              <a:rPr kumimoji="0" lang="en-US" altLang="zh-TW" kern="1200" dirty="0" err="1">
                <a:solidFill>
                  <a:prstClr val="black"/>
                </a:solidFill>
                <a:latin typeface="Times New Roman" pitchFamily="18" charset="0"/>
                <a:cs typeface="Times New Roman" pitchFamily="18" charset="0"/>
              </a:rPr>
              <a:t>Leiserson</a:t>
            </a:r>
            <a:r>
              <a:rPr kumimoji="0" lang="en-US" altLang="zh-TW" kern="1200" dirty="0">
                <a:solidFill>
                  <a:prstClr val="black"/>
                </a:solidFill>
                <a:latin typeface="Times New Roman" pitchFamily="18" charset="0"/>
                <a:cs typeface="Times New Roman" pitchFamily="18" charset="0"/>
              </a:rPr>
              <a:t>, R. L. </a:t>
            </a:r>
            <a:r>
              <a:rPr kumimoji="0" lang="en-US" altLang="zh-TW" kern="1200" dirty="0" err="1">
                <a:solidFill>
                  <a:prstClr val="black"/>
                </a:solidFill>
                <a:latin typeface="Times New Roman" pitchFamily="18" charset="0"/>
                <a:cs typeface="Times New Roman" pitchFamily="18" charset="0"/>
              </a:rPr>
              <a:t>Rivest</a:t>
            </a:r>
            <a:r>
              <a:rPr kumimoji="0" lang="en-US" altLang="en-US" kern="1200" dirty="0">
                <a:solidFill>
                  <a:prstClr val="black"/>
                </a:solidFill>
                <a:latin typeface="Times New Roman" pitchFamily="18" charset="0"/>
                <a:cs typeface="Times New Roman" pitchFamily="18" charset="0"/>
              </a:rPr>
              <a:t> and </a:t>
            </a:r>
            <a:r>
              <a:rPr kumimoji="0" lang="en-US" altLang="zh-TW" kern="1200" dirty="0">
                <a:solidFill>
                  <a:prstClr val="black"/>
                </a:solidFill>
                <a:latin typeface="Times New Roman" pitchFamily="18" charset="0"/>
                <a:cs typeface="Times New Roman" pitchFamily="18" charset="0"/>
              </a:rPr>
              <a:t>C. Stein</a:t>
            </a:r>
          </a:p>
          <a:p>
            <a:pPr lvl="1" indent="-387350">
              <a:buFont typeface="Arial" charset="0"/>
              <a:buChar char="–"/>
            </a:pPr>
            <a:r>
              <a:rPr kumimoji="0" lang="en-US" altLang="zh-TW" i="1" kern="1200" dirty="0">
                <a:solidFill>
                  <a:prstClr val="black"/>
                </a:solidFill>
                <a:latin typeface="Times New Roman" pitchFamily="18" charset="0"/>
                <a:cs typeface="Times New Roman" pitchFamily="18" charset="0"/>
              </a:rPr>
              <a:t>Competitive Programming </a:t>
            </a:r>
            <a:r>
              <a:rPr kumimoji="0" lang="en-US" altLang="zh-TW" kern="1200" dirty="0">
                <a:solidFill>
                  <a:prstClr val="black"/>
                </a:solidFill>
                <a:latin typeface="Times New Roman" pitchFamily="18" charset="0"/>
                <a:cs typeface="Times New Roman" pitchFamily="18" charset="0"/>
              </a:rPr>
              <a:t>4, Steven Halim, Felix Halim &amp; </a:t>
            </a:r>
            <a:r>
              <a:rPr kumimoji="0" lang="en-US" altLang="zh-TW" kern="1200" dirty="0" err="1">
                <a:solidFill>
                  <a:prstClr val="black"/>
                </a:solidFill>
                <a:latin typeface="Times New Roman" pitchFamily="18" charset="0"/>
                <a:cs typeface="Times New Roman" pitchFamily="18" charset="0"/>
              </a:rPr>
              <a:t>Suhendry</a:t>
            </a:r>
            <a:r>
              <a:rPr kumimoji="0" lang="en-US" altLang="zh-TW" kern="1200" dirty="0">
                <a:solidFill>
                  <a:prstClr val="black"/>
                </a:solidFill>
                <a:latin typeface="Times New Roman" pitchFamily="18" charset="0"/>
                <a:cs typeface="Times New Roman" pitchFamily="18" charset="0"/>
              </a:rPr>
              <a:t> </a:t>
            </a:r>
            <a:r>
              <a:rPr kumimoji="0" lang="en-US" altLang="zh-TW" kern="1200" dirty="0" smtClean="0">
                <a:solidFill>
                  <a:prstClr val="black"/>
                </a:solidFill>
                <a:latin typeface="Times New Roman" pitchFamily="18" charset="0"/>
                <a:cs typeface="Times New Roman" pitchFamily="18" charset="0"/>
              </a:rPr>
              <a:t>Effendy</a:t>
            </a:r>
            <a:endParaRPr lang="zh-TW" altLang="en-US" dirty="0"/>
          </a:p>
        </p:txBody>
      </p:sp>
    </p:spTree>
    <p:extLst>
      <p:ext uri="{BB962C8B-B14F-4D97-AF65-F5344CB8AC3E}">
        <p14:creationId xmlns:p14="http://schemas.microsoft.com/office/powerpoint/2010/main" val="725844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Contact Information</a:t>
            </a:r>
            <a:endParaRPr lang="zh-TW" altLang="en-US" dirty="0"/>
          </a:p>
        </p:txBody>
      </p:sp>
      <p:sp>
        <p:nvSpPr>
          <p:cNvPr id="5" name="內容版面配置區 4"/>
          <p:cNvSpPr>
            <a:spLocks noGrp="1"/>
          </p:cNvSpPr>
          <p:nvPr>
            <p:ph idx="1"/>
          </p:nvPr>
        </p:nvSpPr>
        <p:spPr/>
        <p:txBody>
          <a:bodyPr/>
          <a:lstStyle/>
          <a:p>
            <a:pPr lvl="0">
              <a:spcBef>
                <a:spcPts val="1200"/>
              </a:spcBef>
            </a:pPr>
            <a:r>
              <a:rPr lang="en-US" altLang="zh-TW" dirty="0">
                <a:solidFill>
                  <a:srgbClr val="000000"/>
                </a:solidFill>
              </a:rPr>
              <a:t>Office Location: Room 1304</a:t>
            </a:r>
          </a:p>
          <a:p>
            <a:pPr lvl="0">
              <a:spcBef>
                <a:spcPts val="1200"/>
              </a:spcBef>
            </a:pPr>
            <a:r>
              <a:rPr lang="en-US" altLang="zh-TW" dirty="0">
                <a:solidFill>
                  <a:srgbClr val="000000"/>
                </a:solidFill>
              </a:rPr>
              <a:t>E-mail: </a:t>
            </a:r>
            <a:r>
              <a:rPr lang="en-US" altLang="zh-TW" dirty="0" err="1">
                <a:solidFill>
                  <a:srgbClr val="000000"/>
                </a:solidFill>
              </a:rPr>
              <a:t>csjclin@saturn.yzu.edu.tw</a:t>
            </a:r>
            <a:endParaRPr lang="en-US" altLang="zh-TW" dirty="0">
              <a:solidFill>
                <a:srgbClr val="000000"/>
              </a:solidFill>
            </a:endParaRPr>
          </a:p>
          <a:p>
            <a:pPr lvl="0">
              <a:spcBef>
                <a:spcPts val="1200"/>
              </a:spcBef>
            </a:pPr>
            <a:r>
              <a:rPr lang="en-US" altLang="zh-TW" dirty="0">
                <a:solidFill>
                  <a:srgbClr val="000000"/>
                </a:solidFill>
              </a:rPr>
              <a:t>Office Hour:</a:t>
            </a:r>
          </a:p>
          <a:p>
            <a:pPr lvl="1">
              <a:spcBef>
                <a:spcPts val="600"/>
              </a:spcBef>
            </a:pPr>
            <a:r>
              <a:rPr lang="en-US" altLang="zh-TW" dirty="0">
                <a:solidFill>
                  <a:srgbClr val="000000"/>
                </a:solidFill>
              </a:rPr>
              <a:t>Mon 15:00 - 18:00, Tue 18:00 - </a:t>
            </a:r>
            <a:r>
              <a:rPr lang="en-US" altLang="zh-TW" dirty="0" smtClean="0">
                <a:solidFill>
                  <a:srgbClr val="000000"/>
                </a:solidFill>
              </a:rPr>
              <a:t>19:00</a:t>
            </a:r>
            <a:endParaRPr lang="zh-TW" altLang="en-US" dirty="0"/>
          </a:p>
        </p:txBody>
      </p:sp>
    </p:spTree>
    <p:extLst>
      <p:ext uri="{BB962C8B-B14F-4D97-AF65-F5344CB8AC3E}">
        <p14:creationId xmlns:p14="http://schemas.microsoft.com/office/powerpoint/2010/main" val="404481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Objectives</a:t>
            </a:r>
            <a:endParaRPr lang="zh-TW" altLang="en-US" dirty="0"/>
          </a:p>
        </p:txBody>
      </p:sp>
      <p:sp>
        <p:nvSpPr>
          <p:cNvPr id="3" name="內容版面配置區 2"/>
          <p:cNvSpPr>
            <a:spLocks noGrp="1"/>
          </p:cNvSpPr>
          <p:nvPr>
            <p:ph idx="1"/>
          </p:nvPr>
        </p:nvSpPr>
        <p:spPr/>
        <p:txBody>
          <a:bodyPr/>
          <a:lstStyle/>
          <a:p>
            <a:r>
              <a:rPr lang="en-US" altLang="zh-TW" dirty="0"/>
              <a:t>This course aims to strengthen students’ abilities in competitive programming. It is particularly beneficial for </a:t>
            </a:r>
            <a:r>
              <a:rPr lang="en-US" altLang="zh-TW" dirty="0" err="1"/>
              <a:t>YZU</a:t>
            </a:r>
            <a:r>
              <a:rPr lang="en-US" altLang="zh-TW" dirty="0"/>
              <a:t> students preparing for </a:t>
            </a:r>
            <a:r>
              <a:rPr lang="en-US" altLang="zh-TW" dirty="0" err="1"/>
              <a:t>ICPC</a:t>
            </a:r>
            <a:r>
              <a:rPr lang="en-US" altLang="zh-TW" dirty="0"/>
              <a:t> as well as those aspiring to excel in technical interviews at IT companies. The course introduces techniques for tackling and solving challenging computational problems. Core algorithmic approaches such as divide and conquer, greedy methods, and dynamic programming will be covered. Domain-specific topics including string processing and computational geometry will also be addressed. Additional topics may be introduced depending on the progress of the semester</a:t>
            </a:r>
            <a:r>
              <a:rPr lang="en-US" altLang="zh-TW" dirty="0" smtClean="0"/>
              <a:t>.</a:t>
            </a:r>
            <a:endParaRPr lang="en-US" altLang="zh-TW" dirty="0"/>
          </a:p>
        </p:txBody>
      </p:sp>
    </p:spTree>
    <p:extLst>
      <p:ext uri="{BB962C8B-B14F-4D97-AF65-F5344CB8AC3E}">
        <p14:creationId xmlns:p14="http://schemas.microsoft.com/office/powerpoint/2010/main" val="27541722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Topic Outline</a:t>
            </a:r>
            <a:endParaRPr lang="zh-TW" altLang="en-US" dirty="0"/>
          </a:p>
        </p:txBody>
      </p:sp>
      <p:sp>
        <p:nvSpPr>
          <p:cNvPr id="7" name="內容版面配置區 6"/>
          <p:cNvSpPr>
            <a:spLocks noGrp="1"/>
          </p:cNvSpPr>
          <p:nvPr>
            <p:ph idx="1"/>
          </p:nvPr>
        </p:nvSpPr>
        <p:spPr/>
        <p:txBody>
          <a:bodyPr/>
          <a:lstStyle/>
          <a:p>
            <a:r>
              <a:rPr lang="en-US" altLang="zh-TW" dirty="0"/>
              <a:t>Articulation Points and </a:t>
            </a:r>
            <a:r>
              <a:rPr lang="en-US" altLang="zh-TW" dirty="0" smtClean="0"/>
              <a:t>Bridges</a:t>
            </a:r>
          </a:p>
          <a:p>
            <a:r>
              <a:rPr lang="en-US" altLang="zh-TW" dirty="0"/>
              <a:t>Strongly Connected Components</a:t>
            </a:r>
          </a:p>
          <a:p>
            <a:r>
              <a:rPr lang="en-US" altLang="zh-TW" dirty="0"/>
              <a:t>Breadth-first </a:t>
            </a:r>
            <a:r>
              <a:rPr lang="en-US" altLang="zh-TW" dirty="0" smtClean="0"/>
              <a:t>Search</a:t>
            </a:r>
            <a:endParaRPr lang="en-US" altLang="zh-TW" dirty="0"/>
          </a:p>
          <a:p>
            <a:r>
              <a:rPr lang="en-US" altLang="zh-TW" dirty="0" smtClean="0"/>
              <a:t>Single-Source </a:t>
            </a:r>
            <a:r>
              <a:rPr lang="en-US" altLang="zh-TW" dirty="0"/>
              <a:t>Shortest Paths</a:t>
            </a:r>
          </a:p>
          <a:p>
            <a:r>
              <a:rPr lang="en-US" altLang="zh-TW" dirty="0" smtClean="0"/>
              <a:t>Minimum </a:t>
            </a:r>
            <a:r>
              <a:rPr lang="en-US" altLang="zh-TW" dirty="0"/>
              <a:t>Spanning </a:t>
            </a:r>
            <a:r>
              <a:rPr lang="en-US" altLang="zh-TW" dirty="0" smtClean="0"/>
              <a:t>Tree</a:t>
            </a:r>
          </a:p>
          <a:p>
            <a:r>
              <a:rPr lang="en-US" altLang="zh-TW" dirty="0" smtClean="0"/>
              <a:t>Introduction </a:t>
            </a:r>
            <a:r>
              <a:rPr lang="en-US" altLang="zh-TW" dirty="0"/>
              <a:t>to Dynamic </a:t>
            </a:r>
            <a:r>
              <a:rPr lang="en-US" altLang="zh-TW" dirty="0" smtClean="0"/>
              <a:t>Programming</a:t>
            </a:r>
            <a:endParaRPr lang="en-US" altLang="zh-TW" dirty="0"/>
          </a:p>
          <a:p>
            <a:r>
              <a:rPr lang="en-US" altLang="zh-TW" dirty="0" smtClean="0"/>
              <a:t>Dynamic Programming </a:t>
            </a:r>
            <a:r>
              <a:rPr lang="en-US" altLang="zh-TW" dirty="0"/>
              <a:t>(Longest Increasing Subsequence)</a:t>
            </a:r>
          </a:p>
          <a:p>
            <a:r>
              <a:rPr lang="en-US" altLang="zh-TW" dirty="0" smtClean="0"/>
              <a:t>Dynamic </a:t>
            </a:r>
            <a:r>
              <a:rPr lang="en-US" altLang="zh-TW" dirty="0" smtClean="0"/>
              <a:t>Programming </a:t>
            </a:r>
            <a:r>
              <a:rPr lang="en-US" altLang="zh-TW" dirty="0"/>
              <a:t>(0-1 Knapsack)</a:t>
            </a:r>
          </a:p>
          <a:p>
            <a:r>
              <a:rPr lang="en-US" altLang="zh-TW" dirty="0" smtClean="0"/>
              <a:t>Dynamic </a:t>
            </a:r>
            <a:r>
              <a:rPr lang="en-US" altLang="zh-TW" dirty="0" smtClean="0"/>
              <a:t>Programming </a:t>
            </a:r>
            <a:r>
              <a:rPr lang="en-US" altLang="zh-TW" dirty="0"/>
              <a:t>(Max </a:t>
            </a:r>
            <a:r>
              <a:rPr lang="en-US" altLang="zh-TW" dirty="0" err="1"/>
              <a:t>2D</a:t>
            </a:r>
            <a:r>
              <a:rPr lang="en-US" altLang="zh-TW" dirty="0"/>
              <a:t>/3D Range Sum)</a:t>
            </a:r>
          </a:p>
          <a:p>
            <a:r>
              <a:rPr lang="en-US" altLang="zh-TW" dirty="0" smtClean="0"/>
              <a:t>Dynamic </a:t>
            </a:r>
            <a:r>
              <a:rPr lang="en-US" altLang="zh-TW" dirty="0" smtClean="0"/>
              <a:t>Programming </a:t>
            </a:r>
            <a:r>
              <a:rPr lang="en-US" altLang="zh-TW" dirty="0"/>
              <a:t>(Floyd </a:t>
            </a:r>
            <a:r>
              <a:rPr lang="en-US" altLang="zh-TW" dirty="0" err="1"/>
              <a:t>Warshall’s</a:t>
            </a:r>
            <a:r>
              <a:rPr lang="en-US" altLang="zh-TW" dirty="0"/>
              <a:t> Algorithm)</a:t>
            </a:r>
          </a:p>
          <a:p>
            <a:r>
              <a:rPr lang="en-US" altLang="zh-TW" dirty="0" smtClean="0"/>
              <a:t>Dynamic </a:t>
            </a:r>
            <a:r>
              <a:rPr lang="en-US" altLang="zh-TW" dirty="0" smtClean="0"/>
              <a:t>Programming </a:t>
            </a:r>
            <a:r>
              <a:rPr lang="en-US" altLang="zh-TW" dirty="0"/>
              <a:t>(Coin Change</a:t>
            </a:r>
            <a:r>
              <a:rPr lang="en-US" altLang="zh-TW" dirty="0" smtClean="0"/>
              <a:t>)</a:t>
            </a:r>
            <a:endParaRPr lang="en-US" altLang="zh-TW" dirty="0"/>
          </a:p>
        </p:txBody>
      </p:sp>
    </p:spTree>
    <p:extLst>
      <p:ext uri="{BB962C8B-B14F-4D97-AF65-F5344CB8AC3E}">
        <p14:creationId xmlns:p14="http://schemas.microsoft.com/office/powerpoint/2010/main" val="22286918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Topic Outline</a:t>
            </a:r>
            <a:endParaRPr lang="zh-TW" altLang="en-US" dirty="0"/>
          </a:p>
        </p:txBody>
      </p:sp>
      <p:sp>
        <p:nvSpPr>
          <p:cNvPr id="7" name="內容版面配置區 6"/>
          <p:cNvSpPr>
            <a:spLocks noGrp="1"/>
          </p:cNvSpPr>
          <p:nvPr>
            <p:ph idx="1"/>
          </p:nvPr>
        </p:nvSpPr>
        <p:spPr/>
        <p:txBody>
          <a:bodyPr/>
          <a:lstStyle/>
          <a:p>
            <a:r>
              <a:rPr lang="en-US" altLang="zh-TW" dirty="0" smtClean="0"/>
              <a:t>Maximum </a:t>
            </a:r>
            <a:r>
              <a:rPr lang="en-US" altLang="zh-TW" dirty="0" smtClean="0"/>
              <a:t>Flow </a:t>
            </a:r>
            <a:r>
              <a:rPr lang="en-US" altLang="zh-TW" dirty="0"/>
              <a:t>(Directed Flow Network)</a:t>
            </a:r>
          </a:p>
          <a:p>
            <a:r>
              <a:rPr lang="en-US" altLang="zh-TW" dirty="0" smtClean="0"/>
              <a:t>Maximum </a:t>
            </a:r>
            <a:r>
              <a:rPr lang="en-US" altLang="zh-TW" dirty="0" smtClean="0"/>
              <a:t>Flow </a:t>
            </a:r>
            <a:r>
              <a:rPr lang="en-US" altLang="zh-TW" dirty="0"/>
              <a:t>(Undirected Flow Network)</a:t>
            </a:r>
          </a:p>
          <a:p>
            <a:r>
              <a:rPr lang="en-US" altLang="zh-TW" dirty="0" smtClean="0"/>
              <a:t>Computational </a:t>
            </a:r>
            <a:r>
              <a:rPr lang="en-US" altLang="zh-TW" dirty="0"/>
              <a:t>Geometry (Convex Hull)</a:t>
            </a:r>
          </a:p>
          <a:p>
            <a:r>
              <a:rPr lang="en-US" altLang="zh-TW" dirty="0" smtClean="0"/>
              <a:t>Computational </a:t>
            </a:r>
            <a:r>
              <a:rPr lang="en-US" altLang="zh-TW" dirty="0"/>
              <a:t>Geometry (Closest Pair </a:t>
            </a:r>
            <a:r>
              <a:rPr lang="en-US" altLang="zh-TW" dirty="0" smtClean="0"/>
              <a:t>Problem</a:t>
            </a:r>
            <a:r>
              <a:rPr lang="en-US" altLang="zh-TW" dirty="0"/>
              <a:t>)</a:t>
            </a:r>
          </a:p>
          <a:p>
            <a:r>
              <a:rPr lang="en-US" altLang="zh-TW" dirty="0" smtClean="0"/>
              <a:t>Greedy </a:t>
            </a:r>
            <a:r>
              <a:rPr lang="en-US" altLang="zh-TW" dirty="0"/>
              <a:t>Algorithms </a:t>
            </a:r>
            <a:r>
              <a:rPr lang="en-US" altLang="zh-TW" dirty="0" smtClean="0"/>
              <a:t>(Activity-selection Problem</a:t>
            </a:r>
            <a:r>
              <a:rPr lang="en-US" altLang="zh-TW" dirty="0"/>
              <a:t>)</a:t>
            </a:r>
            <a:endParaRPr lang="en-US" altLang="zh-TW" dirty="0"/>
          </a:p>
          <a:p>
            <a:r>
              <a:rPr lang="en-US" altLang="zh-TW" dirty="0" smtClean="0"/>
              <a:t>Divide </a:t>
            </a:r>
            <a:r>
              <a:rPr lang="en-US" altLang="zh-TW" dirty="0"/>
              <a:t>and Conquer</a:t>
            </a:r>
          </a:p>
          <a:p>
            <a:r>
              <a:rPr lang="en-US" altLang="zh-TW" dirty="0" smtClean="0"/>
              <a:t>String </a:t>
            </a:r>
            <a:r>
              <a:rPr lang="en-US" altLang="zh-TW" dirty="0" smtClean="0"/>
              <a:t>Processing (</a:t>
            </a:r>
            <a:r>
              <a:rPr lang="en-US" altLang="zh-TW" dirty="0" err="1" smtClean="0"/>
              <a:t>KMP</a:t>
            </a:r>
            <a:r>
              <a:rPr lang="en-US" altLang="zh-TW" dirty="0"/>
              <a:t> Algorithm)</a:t>
            </a:r>
            <a:endParaRPr lang="en-US" altLang="zh-TW" dirty="0"/>
          </a:p>
        </p:txBody>
      </p:sp>
    </p:spTree>
    <p:extLst>
      <p:ext uri="{BB962C8B-B14F-4D97-AF65-F5344CB8AC3E}">
        <p14:creationId xmlns:p14="http://schemas.microsoft.com/office/powerpoint/2010/main" val="29484724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Evaluation</a:t>
            </a:r>
            <a:endParaRPr lang="zh-TW" altLang="en-US" dirty="0"/>
          </a:p>
        </p:txBody>
      </p:sp>
      <p:sp>
        <p:nvSpPr>
          <p:cNvPr id="5" name="內容版面配置區 4"/>
          <p:cNvSpPr>
            <a:spLocks noGrp="1"/>
          </p:cNvSpPr>
          <p:nvPr>
            <p:ph idx="1"/>
          </p:nvPr>
        </p:nvSpPr>
        <p:spPr/>
        <p:txBody>
          <a:bodyPr/>
          <a:lstStyle/>
          <a:p>
            <a:pPr marL="268288" lvl="0" indent="-268288" eaLnBrk="1" hangingPunct="1">
              <a:tabLst>
                <a:tab pos="3590925" algn="l"/>
                <a:tab pos="5381625" algn="l"/>
              </a:tabLst>
            </a:pPr>
            <a:r>
              <a:rPr lang="zh-TW" altLang="en-US" sz="2400" dirty="0">
                <a:solidFill>
                  <a:srgbClr val="000000"/>
                </a:solidFill>
              </a:rPr>
              <a:t>每次課程後段都是一次小型的模擬</a:t>
            </a:r>
            <a:r>
              <a:rPr lang="en-US" altLang="zh-TW" sz="2400" dirty="0" err="1">
                <a:solidFill>
                  <a:srgbClr val="000000"/>
                </a:solidFill>
              </a:rPr>
              <a:t>ICPC</a:t>
            </a:r>
            <a:r>
              <a:rPr lang="zh-TW" altLang="en-US" sz="2400" dirty="0">
                <a:solidFill>
                  <a:srgbClr val="000000"/>
                </a:solidFill>
              </a:rPr>
              <a:t>，也就是平常考，每次兩題或三題，</a:t>
            </a:r>
            <a:r>
              <a:rPr lang="en-US" altLang="zh-TW" sz="2400" dirty="0">
                <a:solidFill>
                  <a:srgbClr val="000000"/>
                </a:solidFill>
              </a:rPr>
              <a:t>120</a:t>
            </a:r>
            <a:r>
              <a:rPr lang="zh-TW" altLang="en-US" sz="2400" dirty="0">
                <a:solidFill>
                  <a:srgbClr val="000000"/>
                </a:solidFill>
              </a:rPr>
              <a:t>分鐘</a:t>
            </a:r>
            <a:endParaRPr lang="en-US" altLang="zh-TW" sz="2400" dirty="0">
              <a:solidFill>
                <a:srgbClr val="000000"/>
              </a:solidFill>
            </a:endParaRPr>
          </a:p>
          <a:p>
            <a:pPr marL="668338" lvl="1" indent="-268288" eaLnBrk="1" hangingPunct="1">
              <a:tabLst>
                <a:tab pos="3590925" algn="l"/>
                <a:tab pos="5381625" algn="l"/>
              </a:tabLst>
            </a:pPr>
            <a:r>
              <a:rPr lang="zh-TW" altLang="en-US" sz="2000" dirty="0">
                <a:solidFill>
                  <a:srgbClr val="000000"/>
                </a:solidFill>
              </a:rPr>
              <a:t>每次兩題：兩題</a:t>
            </a:r>
            <a:r>
              <a:rPr lang="en-US" altLang="zh-TW" sz="2000" dirty="0">
                <a:solidFill>
                  <a:srgbClr val="000000"/>
                </a:solidFill>
              </a:rPr>
              <a:t>AC</a:t>
            </a:r>
            <a:r>
              <a:rPr lang="zh-TW" altLang="en-US" sz="2000" dirty="0">
                <a:solidFill>
                  <a:srgbClr val="000000"/>
                </a:solidFill>
              </a:rPr>
              <a:t>：</a:t>
            </a:r>
            <a:r>
              <a:rPr lang="en-US" altLang="zh-TW" sz="2000" dirty="0">
                <a:solidFill>
                  <a:srgbClr val="000000"/>
                </a:solidFill>
              </a:rPr>
              <a:t>100</a:t>
            </a:r>
            <a:r>
              <a:rPr lang="zh-TW" altLang="en-US" sz="2000" dirty="0">
                <a:solidFill>
                  <a:srgbClr val="000000"/>
                </a:solidFill>
              </a:rPr>
              <a:t>分，一題</a:t>
            </a:r>
            <a:r>
              <a:rPr lang="en-US" altLang="zh-TW" sz="2000" dirty="0">
                <a:solidFill>
                  <a:srgbClr val="000000"/>
                </a:solidFill>
              </a:rPr>
              <a:t>AC</a:t>
            </a:r>
            <a:r>
              <a:rPr lang="zh-TW" altLang="en-US" sz="2000" dirty="0">
                <a:solidFill>
                  <a:srgbClr val="000000"/>
                </a:solidFill>
              </a:rPr>
              <a:t>：</a:t>
            </a:r>
            <a:r>
              <a:rPr lang="en-US" altLang="zh-TW" sz="2000" dirty="0">
                <a:solidFill>
                  <a:srgbClr val="000000"/>
                </a:solidFill>
              </a:rPr>
              <a:t>60</a:t>
            </a:r>
            <a:r>
              <a:rPr lang="zh-TW" altLang="en-US" sz="2000" dirty="0">
                <a:solidFill>
                  <a:srgbClr val="000000"/>
                </a:solidFill>
              </a:rPr>
              <a:t>分，零題</a:t>
            </a:r>
            <a:r>
              <a:rPr lang="en-US" altLang="zh-TW" sz="2000" dirty="0">
                <a:solidFill>
                  <a:srgbClr val="000000"/>
                </a:solidFill>
              </a:rPr>
              <a:t>AC</a:t>
            </a:r>
            <a:r>
              <a:rPr lang="zh-TW" altLang="en-US" sz="2000" dirty="0">
                <a:solidFill>
                  <a:srgbClr val="000000"/>
                </a:solidFill>
              </a:rPr>
              <a:t>：</a:t>
            </a:r>
            <a:r>
              <a:rPr lang="en-US" altLang="zh-TW" sz="2000" dirty="0">
                <a:solidFill>
                  <a:srgbClr val="000000"/>
                </a:solidFill>
              </a:rPr>
              <a:t>20</a:t>
            </a:r>
            <a:r>
              <a:rPr lang="zh-TW" altLang="en-US" sz="2000" dirty="0">
                <a:solidFill>
                  <a:srgbClr val="000000"/>
                </a:solidFill>
              </a:rPr>
              <a:t>分，缺課</a:t>
            </a:r>
            <a:r>
              <a:rPr lang="en-US" altLang="zh-TW" sz="2000" dirty="0">
                <a:solidFill>
                  <a:srgbClr val="000000"/>
                </a:solidFill>
              </a:rPr>
              <a:t>0</a:t>
            </a:r>
            <a:r>
              <a:rPr lang="zh-TW" altLang="en-US" sz="2000" dirty="0">
                <a:solidFill>
                  <a:srgbClr val="000000"/>
                </a:solidFill>
              </a:rPr>
              <a:t>分。</a:t>
            </a:r>
            <a:endParaRPr lang="en-US" altLang="zh-TW" sz="2000" dirty="0">
              <a:solidFill>
                <a:srgbClr val="000000"/>
              </a:solidFill>
            </a:endParaRPr>
          </a:p>
          <a:p>
            <a:pPr marL="668338" lvl="1" indent="-268288" eaLnBrk="1" hangingPunct="1">
              <a:tabLst>
                <a:tab pos="3590925" algn="l"/>
                <a:tab pos="5381625" algn="l"/>
              </a:tabLst>
            </a:pPr>
            <a:r>
              <a:rPr lang="zh-TW" altLang="en-US" sz="2000" dirty="0">
                <a:solidFill>
                  <a:srgbClr val="000000"/>
                </a:solidFill>
              </a:rPr>
              <a:t>每次三題：三題</a:t>
            </a:r>
            <a:r>
              <a:rPr lang="en-US" altLang="zh-TW" sz="2000" dirty="0">
                <a:solidFill>
                  <a:srgbClr val="000000"/>
                </a:solidFill>
              </a:rPr>
              <a:t>AC</a:t>
            </a:r>
            <a:r>
              <a:rPr lang="zh-TW" altLang="en-US" sz="2000" dirty="0">
                <a:solidFill>
                  <a:srgbClr val="000000"/>
                </a:solidFill>
              </a:rPr>
              <a:t>：</a:t>
            </a:r>
            <a:r>
              <a:rPr lang="en-US" altLang="zh-TW" sz="2000" dirty="0">
                <a:solidFill>
                  <a:srgbClr val="000000"/>
                </a:solidFill>
              </a:rPr>
              <a:t>100</a:t>
            </a:r>
            <a:r>
              <a:rPr lang="zh-TW" altLang="en-US" sz="2000" dirty="0">
                <a:solidFill>
                  <a:srgbClr val="000000"/>
                </a:solidFill>
              </a:rPr>
              <a:t>分，兩題</a:t>
            </a:r>
            <a:r>
              <a:rPr lang="en-US" altLang="zh-TW" sz="2000" dirty="0">
                <a:solidFill>
                  <a:srgbClr val="000000"/>
                </a:solidFill>
              </a:rPr>
              <a:t>AC</a:t>
            </a:r>
            <a:r>
              <a:rPr lang="zh-TW" altLang="en-US" sz="2000" dirty="0">
                <a:solidFill>
                  <a:srgbClr val="000000"/>
                </a:solidFill>
              </a:rPr>
              <a:t>：</a:t>
            </a:r>
            <a:r>
              <a:rPr lang="en-US" altLang="zh-TW" sz="2000" dirty="0">
                <a:solidFill>
                  <a:srgbClr val="000000"/>
                </a:solidFill>
              </a:rPr>
              <a:t>70</a:t>
            </a:r>
            <a:r>
              <a:rPr lang="zh-TW" altLang="en-US" sz="2000" dirty="0">
                <a:solidFill>
                  <a:srgbClr val="000000"/>
                </a:solidFill>
              </a:rPr>
              <a:t>分，一題</a:t>
            </a:r>
            <a:r>
              <a:rPr lang="en-US" altLang="zh-TW" sz="2000" dirty="0">
                <a:solidFill>
                  <a:srgbClr val="000000"/>
                </a:solidFill>
              </a:rPr>
              <a:t>AC</a:t>
            </a:r>
            <a:r>
              <a:rPr lang="zh-TW" altLang="en-US" sz="2000" dirty="0">
                <a:solidFill>
                  <a:srgbClr val="000000"/>
                </a:solidFill>
              </a:rPr>
              <a:t>：</a:t>
            </a:r>
            <a:r>
              <a:rPr lang="en-US" altLang="zh-TW" sz="2000" dirty="0">
                <a:solidFill>
                  <a:srgbClr val="000000"/>
                </a:solidFill>
              </a:rPr>
              <a:t>40</a:t>
            </a:r>
            <a:r>
              <a:rPr lang="zh-TW" altLang="en-US" sz="2000" dirty="0">
                <a:solidFill>
                  <a:srgbClr val="000000"/>
                </a:solidFill>
              </a:rPr>
              <a:t>分，零題</a:t>
            </a:r>
            <a:r>
              <a:rPr lang="en-US" altLang="zh-TW" sz="2000" dirty="0">
                <a:solidFill>
                  <a:srgbClr val="000000"/>
                </a:solidFill>
              </a:rPr>
              <a:t>AC</a:t>
            </a:r>
            <a:r>
              <a:rPr lang="zh-TW" altLang="en-US" sz="2000" dirty="0">
                <a:solidFill>
                  <a:srgbClr val="000000"/>
                </a:solidFill>
              </a:rPr>
              <a:t>：</a:t>
            </a:r>
            <a:r>
              <a:rPr lang="en-US" altLang="zh-TW" sz="2000" dirty="0">
                <a:solidFill>
                  <a:srgbClr val="000000"/>
                </a:solidFill>
              </a:rPr>
              <a:t>20</a:t>
            </a:r>
            <a:r>
              <a:rPr lang="zh-TW" altLang="en-US" sz="2000" dirty="0">
                <a:solidFill>
                  <a:srgbClr val="000000"/>
                </a:solidFill>
              </a:rPr>
              <a:t>分，缺課</a:t>
            </a:r>
            <a:r>
              <a:rPr lang="en-US" altLang="zh-TW" sz="2000" dirty="0">
                <a:solidFill>
                  <a:srgbClr val="000000"/>
                </a:solidFill>
              </a:rPr>
              <a:t>0</a:t>
            </a:r>
            <a:r>
              <a:rPr lang="zh-TW" altLang="en-US" sz="2000" dirty="0">
                <a:solidFill>
                  <a:srgbClr val="000000"/>
                </a:solidFill>
              </a:rPr>
              <a:t>分。</a:t>
            </a:r>
          </a:p>
          <a:p>
            <a:pPr marL="268288" lvl="0" indent="-268288" eaLnBrk="1" hangingPunct="1">
              <a:tabLst>
                <a:tab pos="3590925" algn="l"/>
                <a:tab pos="5381625" algn="l"/>
              </a:tabLst>
            </a:pPr>
            <a:r>
              <a:rPr lang="zh-TW" altLang="en-US" sz="2400" dirty="0">
                <a:solidFill>
                  <a:srgbClr val="000000"/>
                </a:solidFill>
              </a:rPr>
              <a:t>期末考三題：三題</a:t>
            </a:r>
            <a:r>
              <a:rPr lang="en-US" altLang="zh-TW" sz="2400" dirty="0">
                <a:solidFill>
                  <a:srgbClr val="000000"/>
                </a:solidFill>
              </a:rPr>
              <a:t>AC</a:t>
            </a:r>
            <a:r>
              <a:rPr lang="zh-TW" altLang="en-US" sz="2400" dirty="0">
                <a:solidFill>
                  <a:srgbClr val="000000"/>
                </a:solidFill>
              </a:rPr>
              <a:t>：</a:t>
            </a:r>
            <a:r>
              <a:rPr lang="en-US" altLang="zh-TW" sz="2400" dirty="0">
                <a:solidFill>
                  <a:srgbClr val="000000"/>
                </a:solidFill>
              </a:rPr>
              <a:t>100</a:t>
            </a:r>
            <a:r>
              <a:rPr lang="zh-TW" altLang="en-US" sz="2400" dirty="0">
                <a:solidFill>
                  <a:srgbClr val="000000"/>
                </a:solidFill>
              </a:rPr>
              <a:t>分，兩題</a:t>
            </a:r>
            <a:r>
              <a:rPr lang="en-US" altLang="zh-TW" sz="2400" dirty="0">
                <a:solidFill>
                  <a:srgbClr val="000000"/>
                </a:solidFill>
              </a:rPr>
              <a:t>AC</a:t>
            </a:r>
            <a:r>
              <a:rPr lang="zh-TW" altLang="en-US" sz="2400" dirty="0">
                <a:solidFill>
                  <a:srgbClr val="000000"/>
                </a:solidFill>
              </a:rPr>
              <a:t>：</a:t>
            </a:r>
            <a:r>
              <a:rPr lang="en-US" altLang="zh-TW" sz="2400" dirty="0">
                <a:solidFill>
                  <a:srgbClr val="000000"/>
                </a:solidFill>
              </a:rPr>
              <a:t>70</a:t>
            </a:r>
            <a:r>
              <a:rPr lang="zh-TW" altLang="en-US" sz="2400" dirty="0">
                <a:solidFill>
                  <a:srgbClr val="000000"/>
                </a:solidFill>
              </a:rPr>
              <a:t>分，一題</a:t>
            </a:r>
            <a:r>
              <a:rPr lang="en-US" altLang="zh-TW" sz="2400" dirty="0">
                <a:solidFill>
                  <a:srgbClr val="000000"/>
                </a:solidFill>
              </a:rPr>
              <a:t>AC</a:t>
            </a:r>
            <a:r>
              <a:rPr lang="zh-TW" altLang="en-US" sz="2400" dirty="0">
                <a:solidFill>
                  <a:srgbClr val="000000"/>
                </a:solidFill>
              </a:rPr>
              <a:t>：</a:t>
            </a:r>
            <a:r>
              <a:rPr lang="en-US" altLang="zh-TW" sz="2400" dirty="0">
                <a:solidFill>
                  <a:srgbClr val="000000"/>
                </a:solidFill>
              </a:rPr>
              <a:t>40</a:t>
            </a:r>
            <a:r>
              <a:rPr lang="zh-TW" altLang="en-US" sz="2400" dirty="0">
                <a:solidFill>
                  <a:srgbClr val="000000"/>
                </a:solidFill>
              </a:rPr>
              <a:t>分，零題</a:t>
            </a:r>
            <a:r>
              <a:rPr lang="en-US" altLang="zh-TW" sz="2400" dirty="0">
                <a:solidFill>
                  <a:srgbClr val="000000"/>
                </a:solidFill>
              </a:rPr>
              <a:t>AC</a:t>
            </a:r>
            <a:r>
              <a:rPr lang="zh-TW" altLang="en-US" sz="2400" dirty="0">
                <a:solidFill>
                  <a:srgbClr val="000000"/>
                </a:solidFill>
              </a:rPr>
              <a:t>：</a:t>
            </a:r>
            <a:r>
              <a:rPr lang="en-US" altLang="zh-TW" sz="2400" dirty="0">
                <a:solidFill>
                  <a:srgbClr val="000000"/>
                </a:solidFill>
              </a:rPr>
              <a:t>20</a:t>
            </a:r>
            <a:r>
              <a:rPr lang="zh-TW" altLang="en-US" sz="2400" dirty="0">
                <a:solidFill>
                  <a:srgbClr val="000000"/>
                </a:solidFill>
              </a:rPr>
              <a:t>分，缺考</a:t>
            </a:r>
            <a:r>
              <a:rPr lang="en-US" altLang="zh-TW" sz="2400" dirty="0">
                <a:solidFill>
                  <a:srgbClr val="000000"/>
                </a:solidFill>
              </a:rPr>
              <a:t>0</a:t>
            </a:r>
            <a:r>
              <a:rPr lang="zh-TW" altLang="en-US" sz="2400" dirty="0">
                <a:solidFill>
                  <a:srgbClr val="000000"/>
                </a:solidFill>
              </a:rPr>
              <a:t>分。</a:t>
            </a:r>
            <a:endParaRPr lang="en-US" altLang="zh-TW" sz="2400" dirty="0">
              <a:solidFill>
                <a:srgbClr val="000000"/>
              </a:solidFill>
            </a:endParaRPr>
          </a:p>
          <a:p>
            <a:pPr marL="268288" lvl="0" indent="-268288" eaLnBrk="1" hangingPunct="1">
              <a:tabLst>
                <a:tab pos="3590925" algn="l"/>
                <a:tab pos="5381625" algn="l"/>
              </a:tabLst>
            </a:pPr>
            <a:r>
              <a:rPr lang="zh-TW" altLang="en-US" sz="2400" dirty="0">
                <a:solidFill>
                  <a:srgbClr val="000000"/>
                </a:solidFill>
              </a:rPr>
              <a:t>平時成績：最高的十二次平常考成績的平均。</a:t>
            </a:r>
          </a:p>
          <a:p>
            <a:pPr marL="268288" lvl="0" indent="-268288" eaLnBrk="1" hangingPunct="1">
              <a:tabLst>
                <a:tab pos="3590925" algn="l"/>
                <a:tab pos="5381625" algn="l"/>
              </a:tabLst>
            </a:pPr>
            <a:r>
              <a:rPr lang="zh-TW" altLang="en-US" sz="2400" dirty="0">
                <a:solidFill>
                  <a:srgbClr val="000000"/>
                </a:solidFill>
              </a:rPr>
              <a:t>學期總成績：平時成績</a:t>
            </a:r>
            <a:r>
              <a:rPr lang="zh-TW" altLang="en-US" sz="2400" dirty="0">
                <a:solidFill>
                  <a:srgbClr val="000000"/>
                </a:solidFill>
                <a:latin typeface="標楷體" panose="03000509000000000000" pitchFamily="65" charset="-120"/>
                <a:ea typeface="標楷體" panose="03000509000000000000" pitchFamily="65" charset="-120"/>
              </a:rPr>
              <a:t>＊</a:t>
            </a:r>
            <a:r>
              <a:rPr lang="en-US" altLang="zh-TW" sz="2400" dirty="0">
                <a:solidFill>
                  <a:srgbClr val="000000"/>
                </a:solidFill>
              </a:rPr>
              <a:t>40% </a:t>
            </a:r>
            <a:r>
              <a:rPr lang="zh-TW" altLang="en-US" sz="2400" b="1" spc="300" dirty="0">
                <a:solidFill>
                  <a:srgbClr val="000000"/>
                </a:solidFill>
                <a:latin typeface="標楷體" panose="03000509000000000000" pitchFamily="65" charset="-120"/>
                <a:ea typeface="標楷體" panose="03000509000000000000" pitchFamily="65" charset="-120"/>
              </a:rPr>
              <a:t>＋</a:t>
            </a:r>
            <a:r>
              <a:rPr lang="zh-TW" altLang="en-US" sz="2400" dirty="0">
                <a:solidFill>
                  <a:srgbClr val="000000"/>
                </a:solidFill>
              </a:rPr>
              <a:t>期末考成績</a:t>
            </a:r>
            <a:r>
              <a:rPr lang="zh-TW" altLang="en-US" sz="2400" dirty="0">
                <a:solidFill>
                  <a:srgbClr val="000000"/>
                </a:solidFill>
                <a:latin typeface="標楷體" panose="03000509000000000000" pitchFamily="65" charset="-120"/>
                <a:ea typeface="標楷體" panose="03000509000000000000" pitchFamily="65" charset="-120"/>
              </a:rPr>
              <a:t>＊</a:t>
            </a:r>
            <a:r>
              <a:rPr lang="en-US" altLang="zh-TW" sz="2400" dirty="0">
                <a:solidFill>
                  <a:srgbClr val="000000"/>
                </a:solidFill>
              </a:rPr>
              <a:t>60</a:t>
            </a:r>
            <a:r>
              <a:rPr lang="en-US" altLang="zh-TW" sz="2400" dirty="0" smtClean="0">
                <a:solidFill>
                  <a:srgbClr val="000000"/>
                </a:solidFill>
              </a:rPr>
              <a:t>%</a:t>
            </a:r>
            <a:r>
              <a:rPr lang="zh-TW" altLang="en-US" sz="2400" dirty="0">
                <a:solidFill>
                  <a:srgbClr val="000000"/>
                </a:solidFill>
              </a:rPr>
              <a:t> 。</a:t>
            </a:r>
            <a:endParaRPr lang="zh-TW" altLang="en-US" dirty="0"/>
          </a:p>
        </p:txBody>
      </p:sp>
    </p:spTree>
    <p:extLst>
      <p:ext uri="{BB962C8B-B14F-4D97-AF65-F5344CB8AC3E}">
        <p14:creationId xmlns:p14="http://schemas.microsoft.com/office/powerpoint/2010/main" val="287334109"/>
      </p:ext>
    </p:extLst>
  </p:cSld>
  <p:clrMapOvr>
    <a:masterClrMapping/>
  </p:clrMapOvr>
  <p:timing>
    <p:tnLst>
      <p:par>
        <p:cTn id="1" dur="indefinite" restart="never" nodeType="tmRoot"/>
      </p:par>
    </p:tnLst>
  </p:timing>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1325</TotalTime>
  <Words>439</Words>
  <Application>Microsoft Office PowerPoint</Application>
  <PresentationFormat>如螢幕大小 (4:3)</PresentationFormat>
  <Paragraphs>42</Paragraphs>
  <Slides>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vt:i4>
      </vt:variant>
    </vt:vector>
  </HeadingPairs>
  <TitlesOfParts>
    <vt:vector size="12" baseType="lpstr">
      <vt:lpstr>新細明體</vt:lpstr>
      <vt:lpstr>標楷體</vt:lpstr>
      <vt:lpstr>Arial</vt:lpstr>
      <vt:lpstr>Georgia</vt:lpstr>
      <vt:lpstr>Times New Roman</vt:lpstr>
      <vt:lpstr>預設簡報設計</vt:lpstr>
      <vt:lpstr>Course Information</vt:lpstr>
      <vt:lpstr>Contact Information</vt:lpstr>
      <vt:lpstr>Objectives</vt:lpstr>
      <vt:lpstr>Topic Outline</vt:lpstr>
      <vt:lpstr>Topic Outline</vt:lpstr>
      <vt:lpstr>Evaluation</vt:lpstr>
    </vt:vector>
  </TitlesOfParts>
  <Company>YZ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this course</dc:title>
  <dc:creator>JCLin</dc:creator>
  <cp:lastModifiedBy>james</cp:lastModifiedBy>
  <cp:revision>112</cp:revision>
  <dcterms:created xsi:type="dcterms:W3CDTF">2005-09-06T09:49:32Z</dcterms:created>
  <dcterms:modified xsi:type="dcterms:W3CDTF">2025-09-02T11:58:10Z</dcterms:modified>
</cp:coreProperties>
</file>