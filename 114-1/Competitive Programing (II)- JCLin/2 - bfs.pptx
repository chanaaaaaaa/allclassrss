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0"/>
  </p:notesMasterIdLst>
  <p:handoutMasterIdLst>
    <p:handoutMasterId r:id="rId51"/>
  </p:handoutMasterIdLst>
  <p:sldIdLst>
    <p:sldId id="364" r:id="rId2"/>
    <p:sldId id="545" r:id="rId3"/>
    <p:sldId id="698" r:id="rId4"/>
    <p:sldId id="699" r:id="rId5"/>
    <p:sldId id="678" r:id="rId6"/>
    <p:sldId id="679" r:id="rId7"/>
    <p:sldId id="680" r:id="rId8"/>
    <p:sldId id="681" r:id="rId9"/>
    <p:sldId id="682" r:id="rId10"/>
    <p:sldId id="683" r:id="rId11"/>
    <p:sldId id="684" r:id="rId12"/>
    <p:sldId id="685" r:id="rId13"/>
    <p:sldId id="794" r:id="rId14"/>
    <p:sldId id="795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4" r:id="rId23"/>
    <p:sldId id="776" r:id="rId24"/>
    <p:sldId id="777" r:id="rId25"/>
    <p:sldId id="778" r:id="rId26"/>
    <p:sldId id="779" r:id="rId27"/>
    <p:sldId id="780" r:id="rId28"/>
    <p:sldId id="781" r:id="rId29"/>
    <p:sldId id="782" r:id="rId30"/>
    <p:sldId id="783" r:id="rId31"/>
    <p:sldId id="784" r:id="rId32"/>
    <p:sldId id="785" r:id="rId33"/>
    <p:sldId id="786" r:id="rId34"/>
    <p:sldId id="787" r:id="rId35"/>
    <p:sldId id="788" r:id="rId36"/>
    <p:sldId id="790" r:id="rId37"/>
    <p:sldId id="789" r:id="rId38"/>
    <p:sldId id="791" r:id="rId39"/>
    <p:sldId id="792" r:id="rId40"/>
    <p:sldId id="793" r:id="rId41"/>
    <p:sldId id="695" r:id="rId42"/>
    <p:sldId id="803" r:id="rId43"/>
    <p:sldId id="773" r:id="rId44"/>
    <p:sldId id="775" r:id="rId45"/>
    <p:sldId id="694" r:id="rId46"/>
    <p:sldId id="533" r:id="rId47"/>
    <p:sldId id="286" r:id="rId48"/>
    <p:sldId id="532" r:id="rId49"/>
  </p:sldIdLst>
  <p:sldSz cx="9144000" cy="6858000" type="overhead"/>
  <p:notesSz cx="9928225" cy="666908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8">
          <p15:clr>
            <a:srgbClr val="A4A3A4"/>
          </p15:clr>
        </p15:guide>
        <p15:guide id="2" pos="54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CCFF"/>
    <a:srgbClr val="FF99FF"/>
    <a:srgbClr val="B2B2B2"/>
    <a:srgbClr val="808080"/>
    <a:srgbClr val="5F5F5F"/>
    <a:srgbClr val="008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3" autoAdjust="0"/>
    <p:restoredTop sz="95455" autoAdjust="0"/>
  </p:normalViewPr>
  <p:slideViewPr>
    <p:cSldViewPr showGuides="1">
      <p:cViewPr varScale="1">
        <p:scale>
          <a:sx n="92" d="100"/>
          <a:sy n="92" d="100"/>
        </p:scale>
        <p:origin x="139" y="82"/>
      </p:cViewPr>
      <p:guideLst>
        <p:guide orient="horz" pos="1888"/>
        <p:guide pos="54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80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2670621D-1212-4075-BC8D-8DCBF3CF73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1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8825" y="501650"/>
            <a:ext cx="3330575" cy="249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167063"/>
            <a:ext cx="794385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97DFF301-7192-43EA-9614-49C4969F21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0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449001"/>
            <a:ext cx="8279999" cy="2700000"/>
          </a:xfrm>
        </p:spPr>
        <p:txBody>
          <a:bodyPr/>
          <a:lstStyle>
            <a:lvl1pPr marL="268288" indent="-268288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8663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1" y="1449001"/>
            <a:ext cx="7200000" cy="719999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0" hasCustomPrompt="1"/>
          </p:nvPr>
        </p:nvSpPr>
        <p:spPr>
          <a:xfrm>
            <a:off x="972000" y="4149000"/>
            <a:ext cx="7199999" cy="900000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2850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580000" cy="5759999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955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512000" y="909001"/>
            <a:ext cx="6120000" cy="2160000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734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972000" y="909001"/>
            <a:ext cx="7200000" cy="1259999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0113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2709000"/>
            <a:ext cx="7740000" cy="3060000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1181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909000"/>
            <a:ext cx="8640000" cy="1800000"/>
          </a:xfrm>
        </p:spPr>
        <p:txBody>
          <a:bodyPr/>
          <a:lstStyle>
            <a:lvl1pPr marL="0" indent="0">
              <a:defRPr sz="20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2328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1" y="909001"/>
            <a:ext cx="3960000" cy="4140000"/>
          </a:xfrm>
        </p:spPr>
        <p:txBody>
          <a:bodyPr/>
          <a:lstStyle>
            <a:lvl1pPr marL="0" indent="0"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572000" y="909001"/>
            <a:ext cx="4320000" cy="4139999"/>
          </a:xfrm>
        </p:spPr>
        <p:txBody>
          <a:bodyPr/>
          <a:lstStyle>
            <a:lvl1pPr marL="0" indent="0"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0" y="549000"/>
            <a:ext cx="3960000" cy="3060000"/>
          </a:xfrm>
        </p:spPr>
        <p:txBody>
          <a:bodyPr wrap="none"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572000" y="549001"/>
            <a:ext cx="4320000" cy="3239999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67911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8999"/>
            <a:ext cx="8640000" cy="108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307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449000"/>
            <a:ext cx="8279999" cy="485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8" r:id="rId2"/>
    <p:sldLayoutId id="2147483712" r:id="rId3"/>
    <p:sldLayoutId id="2147483711" r:id="rId4"/>
    <p:sldLayoutId id="2147483708" r:id="rId5"/>
    <p:sldLayoutId id="2147483704" r:id="rId6"/>
    <p:sldLayoutId id="2147483705" r:id="rId7"/>
    <p:sldLayoutId id="2147483706" r:id="rId8"/>
    <p:sldLayoutId id="2147483707" r:id="rId9"/>
    <p:sldLayoutId id="2147483690" r:id="rId10"/>
    <p:sldLayoutId id="2147483709" r:id="rId11"/>
    <p:sldLayoutId id="2147483692" r:id="rId12"/>
    <p:sldLayoutId id="214748369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830263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82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462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dirty="0" smtClean="0"/>
              <a:t>Breadth-first search (</a:t>
            </a:r>
            <a:r>
              <a:rPr lang="en-US" altLang="zh-TW" dirty="0" err="1" smtClean="0"/>
              <a:t>BFS</a:t>
            </a:r>
            <a:r>
              <a:rPr lang="en-US" altLang="zh-TW" dirty="0" smtClean="0"/>
              <a:t>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 rIns="72000"/>
          <a:lstStyle/>
          <a:p>
            <a:pPr marL="269875" indent="-269875" eaLnBrk="1" hangingPunct="1">
              <a:spcBef>
                <a:spcPct val="0"/>
              </a:spcBef>
              <a:spcAft>
                <a:spcPct val="30000"/>
              </a:spcAft>
              <a:buFontTx/>
              <a:buChar char="•"/>
            </a:pPr>
            <a:r>
              <a:rPr lang="en-US" altLang="zh-TW" dirty="0" smtClean="0">
                <a:sym typeface="Symbol" pitchFamily="18" charset="2"/>
              </a:rPr>
              <a:t>Given a </a:t>
            </a:r>
            <a:r>
              <a:rPr lang="en-US" altLang="zh-TW" dirty="0" smtClean="0">
                <a:solidFill>
                  <a:schemeClr val="hlink"/>
                </a:solidFill>
                <a:sym typeface="Symbol" pitchFamily="18" charset="2"/>
              </a:rPr>
              <a:t>directed or undirected</a:t>
            </a:r>
            <a:r>
              <a:rPr lang="en-US" altLang="zh-TW" dirty="0" smtClean="0">
                <a:sym typeface="Symbol" pitchFamily="18" charset="2"/>
              </a:rPr>
              <a:t> graph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and a </a:t>
            </a:r>
            <a:r>
              <a:rPr lang="en-US" altLang="zh-TW" i="1" dirty="0" smtClean="0">
                <a:solidFill>
                  <a:srgbClr val="0000FF"/>
                </a:solidFill>
                <a:sym typeface="Symbol" pitchFamily="18" charset="2"/>
              </a:rPr>
              <a:t>source</a:t>
            </a:r>
            <a:r>
              <a:rPr lang="en-US" altLang="zh-TW" dirty="0" smtClean="0">
                <a:sym typeface="Symbol" pitchFamily="18" charset="2"/>
              </a:rPr>
              <a:t> node </a:t>
            </a:r>
            <a:r>
              <a:rPr lang="en-US" altLang="zh-TW" i="1" dirty="0" smtClean="0">
                <a:sym typeface="Symbol" pitchFamily="18" charset="2"/>
              </a:rPr>
              <a:t>s</a:t>
            </a:r>
            <a:r>
              <a:rPr lang="en-US" altLang="zh-TW" dirty="0" smtClean="0">
                <a:sym typeface="Symbol" pitchFamily="18" charset="2"/>
              </a:rPr>
              <a:t>,</a:t>
            </a:r>
          </a:p>
          <a:p>
            <a:pPr marL="269875" indent="-269875" eaLnBrk="1" hangingPunct="1">
              <a:spcBef>
                <a:spcPct val="0"/>
              </a:spcBef>
              <a:spcAft>
                <a:spcPct val="30000"/>
              </a:spcAft>
              <a:buFontTx/>
              <a:buChar char="•"/>
            </a:pPr>
            <a:r>
              <a:rPr lang="en-US" altLang="zh-TW" dirty="0" err="1" smtClean="0">
                <a:sym typeface="Symbol" pitchFamily="18" charset="2"/>
              </a:rPr>
              <a:t>BFS</a:t>
            </a:r>
            <a:r>
              <a:rPr lang="en-US" altLang="zh-TW" dirty="0" smtClean="0">
                <a:sym typeface="Symbol" pitchFamily="18" charset="2"/>
              </a:rPr>
              <a:t> explores the edges of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to “discover” every node that is reachable from </a:t>
            </a:r>
            <a:r>
              <a:rPr lang="en-US" altLang="zh-TW" i="1" dirty="0" smtClean="0">
                <a:sym typeface="Symbol" pitchFamily="18" charset="2"/>
              </a:rPr>
              <a:t>s</a:t>
            </a:r>
            <a:r>
              <a:rPr lang="en-US" altLang="zh-TW" dirty="0" smtClean="0">
                <a:sym typeface="Symbol" pitchFamily="18" charset="2"/>
              </a:rPr>
              <a:t>.</a:t>
            </a:r>
          </a:p>
          <a:p>
            <a:pPr marL="269875" indent="-269875" eaLnBrk="1" hangingPunct="1">
              <a:spcBef>
                <a:spcPct val="0"/>
              </a:spcBef>
              <a:spcAft>
                <a:spcPct val="30000"/>
              </a:spcAft>
              <a:buFontTx/>
              <a:buChar char="•"/>
            </a:pPr>
            <a:r>
              <a:rPr lang="en-US" altLang="zh-TW" dirty="0" err="1" smtClean="0">
                <a:sym typeface="Symbol" pitchFamily="18" charset="2"/>
              </a:rPr>
              <a:t>BFS</a:t>
            </a:r>
            <a:r>
              <a:rPr lang="en-US" altLang="zh-TW" dirty="0" smtClean="0">
                <a:sym typeface="Symbol" pitchFamily="18" charset="2"/>
              </a:rPr>
              <a:t> expands the frontier between discovered and undiscovered vertices uniformly across the breadth of the frontier.</a:t>
            </a:r>
          </a:p>
          <a:p>
            <a:pPr marL="269875" indent="-269875" eaLnBrk="1" hangingPunct="1">
              <a:spcBef>
                <a:spcPct val="0"/>
              </a:spcBef>
              <a:spcAft>
                <a:spcPct val="30000"/>
              </a:spcAft>
              <a:buFontTx/>
              <a:buChar char="•"/>
            </a:pPr>
            <a:r>
              <a:rPr lang="en-US" altLang="zh-TW" dirty="0" err="1" smtClean="0">
                <a:sym typeface="Symbol" pitchFamily="18" charset="2"/>
              </a:rPr>
              <a:t>BFS</a:t>
            </a:r>
            <a:r>
              <a:rPr lang="en-US" altLang="zh-TW" dirty="0" smtClean="0">
                <a:sym typeface="Symbol" pitchFamily="18" charset="2"/>
              </a:rPr>
              <a:t> discovers all vertices at distance </a:t>
            </a:r>
            <a:r>
              <a:rPr lang="en-US" altLang="zh-TW" i="1" dirty="0" smtClean="0">
                <a:sym typeface="Symbol" pitchFamily="18" charset="2"/>
              </a:rPr>
              <a:t>k</a:t>
            </a:r>
            <a:r>
              <a:rPr lang="en-US" altLang="zh-TW" dirty="0" smtClean="0">
                <a:sym typeface="Symbol" pitchFamily="18" charset="2"/>
              </a:rPr>
              <a:t> before discovering any vertices at distance </a:t>
            </a:r>
            <a:r>
              <a:rPr lang="en-US" altLang="zh-TW" i="1" dirty="0" smtClean="0">
                <a:sym typeface="Symbol" pitchFamily="18" charset="2"/>
              </a:rPr>
              <a:t>k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21"/>
          <p:cNvSpPr>
            <a:spLocks noChangeArrowheads="1"/>
          </p:cNvSpPr>
          <p:nvPr/>
        </p:nvSpPr>
        <p:spPr bwMode="auto">
          <a:xfrm>
            <a:off x="511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i="1"/>
              <a:t>t</a:t>
            </a:r>
          </a:p>
        </p:txBody>
      </p:sp>
      <p:sp>
        <p:nvSpPr>
          <p:cNvPr id="7175" name="Oval 29"/>
          <p:cNvSpPr>
            <a:spLocks noChangeArrowheads="1"/>
          </p:cNvSpPr>
          <p:nvPr/>
        </p:nvSpPr>
        <p:spPr bwMode="auto">
          <a:xfrm>
            <a:off x="367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90000" anchor="ctr"/>
          <a:lstStyle/>
          <a:p>
            <a:pPr algn="ctr"/>
            <a:r>
              <a:rPr lang="en-US" altLang="zh-TW" i="1"/>
              <a:t>s</a:t>
            </a:r>
          </a:p>
        </p:txBody>
      </p:sp>
      <p:cxnSp>
        <p:nvCxnSpPr>
          <p:cNvPr id="7177" name="AutoShape 32"/>
          <p:cNvCxnSpPr>
            <a:cxnSpLocks noChangeShapeType="1"/>
            <a:stCxn id="7184" idx="7"/>
            <a:endCxn id="7183" idx="3"/>
          </p:cNvCxnSpPr>
          <p:nvPr/>
        </p:nvCxnSpPr>
        <p:spPr bwMode="auto">
          <a:xfrm flipV="1">
            <a:off x="5419279" y="28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178" name="Oval 33"/>
          <p:cNvSpPr>
            <a:spLocks noChangeArrowheads="1"/>
          </p:cNvSpPr>
          <p:nvPr/>
        </p:nvSpPr>
        <p:spPr bwMode="auto">
          <a:xfrm>
            <a:off x="22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i="1"/>
              <a:t>r</a:t>
            </a:r>
          </a:p>
        </p:txBody>
      </p:sp>
      <p:cxnSp>
        <p:nvCxnSpPr>
          <p:cNvPr id="7182" name="AutoShape 38"/>
          <p:cNvCxnSpPr>
            <a:cxnSpLocks noChangeShapeType="1"/>
            <a:stCxn id="7185" idx="7"/>
            <a:endCxn id="7170" idx="3"/>
          </p:cNvCxnSpPr>
          <p:nvPr/>
        </p:nvCxnSpPr>
        <p:spPr bwMode="auto">
          <a:xfrm flipV="1">
            <a:off x="3979279" y="28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7183" name="Oval 39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0" anchor="b"/>
          <a:lstStyle/>
          <a:p>
            <a:pPr algn="ctr"/>
            <a:r>
              <a:rPr lang="en-US" altLang="zh-TW" i="1"/>
              <a:t>q</a:t>
            </a:r>
          </a:p>
        </p:txBody>
      </p:sp>
      <p:sp>
        <p:nvSpPr>
          <p:cNvPr id="7184" name="Oval 40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08000" anchor="ctr"/>
          <a:lstStyle/>
          <a:p>
            <a:pPr algn="ctr"/>
            <a:r>
              <a:rPr lang="en-US" altLang="zh-TW" i="1"/>
              <a:t>y</a:t>
            </a:r>
          </a:p>
        </p:txBody>
      </p:sp>
      <p:sp>
        <p:nvSpPr>
          <p:cNvPr id="7185" name="Oval 41"/>
          <p:cNvSpPr>
            <a:spLocks noChangeArrowheads="1"/>
          </p:cNvSpPr>
          <p:nvPr/>
        </p:nvSpPr>
        <p:spPr bwMode="auto">
          <a:xfrm>
            <a:off x="36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i="1"/>
              <a:t>x</a:t>
            </a:r>
          </a:p>
        </p:txBody>
      </p:sp>
      <p:sp>
        <p:nvSpPr>
          <p:cNvPr id="7186" name="Oval 42"/>
          <p:cNvSpPr>
            <a:spLocks noChangeArrowheads="1"/>
          </p:cNvSpPr>
          <p:nvPr/>
        </p:nvSpPr>
        <p:spPr bwMode="auto">
          <a:xfrm>
            <a:off x="223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36000" anchor="ctr"/>
          <a:lstStyle/>
          <a:p>
            <a:pPr algn="ctr"/>
            <a:r>
              <a:rPr lang="en-US" altLang="zh-TW" i="1"/>
              <a:t>w</a:t>
            </a:r>
          </a:p>
        </p:txBody>
      </p:sp>
      <p:sp>
        <p:nvSpPr>
          <p:cNvPr id="7187" name="Oval 43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72000" anchor="ctr"/>
          <a:lstStyle/>
          <a:p>
            <a:pPr algn="ctr"/>
            <a:r>
              <a:rPr lang="en-US" altLang="zh-TW" i="1"/>
              <a:t>z</a:t>
            </a:r>
          </a:p>
        </p:txBody>
      </p:sp>
      <p:cxnSp>
        <p:nvCxnSpPr>
          <p:cNvPr id="21" name="AutoShape 38"/>
          <p:cNvCxnSpPr>
            <a:cxnSpLocks noChangeShapeType="1"/>
            <a:stCxn id="7185" idx="0"/>
            <a:endCxn id="7175" idx="4"/>
          </p:cNvCxnSpPr>
          <p:nvPr/>
        </p:nvCxnSpPr>
        <p:spPr bwMode="auto">
          <a:xfrm flipV="1">
            <a:off x="3852000" y="28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4" name="AutoShape 38"/>
          <p:cNvCxnSpPr>
            <a:cxnSpLocks noChangeShapeType="1"/>
            <a:stCxn id="7184" idx="0"/>
            <a:endCxn id="7170" idx="4"/>
          </p:cNvCxnSpPr>
          <p:nvPr/>
        </p:nvCxnSpPr>
        <p:spPr bwMode="auto">
          <a:xfrm flipV="1">
            <a:off x="5292000" y="28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9" name="AutoShape 38"/>
          <p:cNvCxnSpPr>
            <a:cxnSpLocks noChangeShapeType="1"/>
            <a:stCxn id="7187" idx="0"/>
            <a:endCxn id="7183" idx="4"/>
          </p:cNvCxnSpPr>
          <p:nvPr/>
        </p:nvCxnSpPr>
        <p:spPr bwMode="auto">
          <a:xfrm flipV="1">
            <a:off x="6732000" y="28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2" name="AutoShape 38"/>
          <p:cNvCxnSpPr>
            <a:cxnSpLocks noChangeShapeType="1"/>
            <a:stCxn id="7184" idx="6"/>
            <a:endCxn id="7187" idx="2"/>
          </p:cNvCxnSpPr>
          <p:nvPr/>
        </p:nvCxnSpPr>
        <p:spPr bwMode="auto">
          <a:xfrm>
            <a:off x="5472000" y="41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5" name="AutoShape 38"/>
          <p:cNvCxnSpPr>
            <a:cxnSpLocks noChangeShapeType="1"/>
            <a:stCxn id="7170" idx="6"/>
            <a:endCxn id="7183" idx="2"/>
          </p:cNvCxnSpPr>
          <p:nvPr/>
        </p:nvCxnSpPr>
        <p:spPr bwMode="auto">
          <a:xfrm>
            <a:off x="5472000" y="27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8" name="AutoShape 38"/>
          <p:cNvCxnSpPr>
            <a:cxnSpLocks noChangeShapeType="1"/>
            <a:stCxn id="7185" idx="6"/>
            <a:endCxn id="7184" idx="2"/>
          </p:cNvCxnSpPr>
          <p:nvPr/>
        </p:nvCxnSpPr>
        <p:spPr bwMode="auto">
          <a:xfrm>
            <a:off x="4032000" y="41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1" name="AutoShape 38"/>
          <p:cNvCxnSpPr>
            <a:cxnSpLocks noChangeShapeType="1"/>
            <a:stCxn id="7178" idx="6"/>
            <a:endCxn id="7175" idx="2"/>
          </p:cNvCxnSpPr>
          <p:nvPr/>
        </p:nvCxnSpPr>
        <p:spPr bwMode="auto">
          <a:xfrm>
            <a:off x="2592000" y="27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4" name="AutoShape 38"/>
          <p:cNvCxnSpPr>
            <a:cxnSpLocks noChangeShapeType="1"/>
            <a:stCxn id="7186" idx="0"/>
            <a:endCxn id="7178" idx="4"/>
          </p:cNvCxnSpPr>
          <p:nvPr/>
        </p:nvCxnSpPr>
        <p:spPr bwMode="auto">
          <a:xfrm flipV="1">
            <a:off x="2412000" y="28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1"/>
          <p:cNvSpPr>
            <a:spLocks noChangeArrowheads="1"/>
          </p:cNvSpPr>
          <p:nvPr/>
        </p:nvSpPr>
        <p:spPr bwMode="auto">
          <a:xfrm>
            <a:off x="49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i="1"/>
              <a:t>t</a:t>
            </a:r>
          </a:p>
        </p:txBody>
      </p:sp>
      <p:sp>
        <p:nvSpPr>
          <p:cNvPr id="3" name="Oval 29"/>
          <p:cNvSpPr>
            <a:spLocks noChangeArrowheads="1"/>
          </p:cNvSpPr>
          <p:nvPr/>
        </p:nvSpPr>
        <p:spPr bwMode="auto">
          <a:xfrm>
            <a:off x="38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90000" anchor="ctr"/>
          <a:lstStyle/>
          <a:p>
            <a:pPr algn="ctr"/>
            <a:r>
              <a:rPr lang="en-US" altLang="zh-TW" i="1"/>
              <a:t>s</a:t>
            </a:r>
          </a:p>
        </p:txBody>
      </p:sp>
      <p:cxnSp>
        <p:nvCxnSpPr>
          <p:cNvPr id="4" name="AutoShape 32"/>
          <p:cNvCxnSpPr>
            <a:cxnSpLocks noChangeShapeType="1"/>
            <a:stCxn id="8" idx="7"/>
            <a:endCxn id="7" idx="3"/>
          </p:cNvCxnSpPr>
          <p:nvPr/>
        </p:nvCxnSpPr>
        <p:spPr bwMode="auto">
          <a:xfrm flipV="1">
            <a:off x="52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5" name="Oval 33"/>
          <p:cNvSpPr>
            <a:spLocks noChangeArrowheads="1"/>
          </p:cNvSpPr>
          <p:nvPr/>
        </p:nvSpPr>
        <p:spPr bwMode="auto">
          <a:xfrm>
            <a:off x="27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i="1" dirty="0"/>
              <a:t>r</a:t>
            </a:r>
          </a:p>
        </p:txBody>
      </p:sp>
      <p:cxnSp>
        <p:nvCxnSpPr>
          <p:cNvPr id="6" name="AutoShape 38"/>
          <p:cNvCxnSpPr>
            <a:cxnSpLocks noChangeShapeType="1"/>
            <a:stCxn id="9" idx="7"/>
            <a:endCxn id="2" idx="3"/>
          </p:cNvCxnSpPr>
          <p:nvPr/>
        </p:nvCxnSpPr>
        <p:spPr bwMode="auto">
          <a:xfrm flipV="1">
            <a:off x="41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7" name="Oval 39"/>
          <p:cNvSpPr>
            <a:spLocks noChangeArrowheads="1"/>
          </p:cNvSpPr>
          <p:nvPr/>
        </p:nvSpPr>
        <p:spPr bwMode="auto">
          <a:xfrm>
            <a:off x="60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0" anchor="b"/>
          <a:lstStyle/>
          <a:p>
            <a:pPr algn="ctr"/>
            <a:r>
              <a:rPr lang="en-US" altLang="zh-TW" i="1"/>
              <a:t>q</a:t>
            </a:r>
          </a:p>
        </p:txBody>
      </p:sp>
      <p:sp>
        <p:nvSpPr>
          <p:cNvPr id="8" name="Oval 40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08000" anchor="ctr"/>
          <a:lstStyle/>
          <a:p>
            <a:pPr algn="ctr"/>
            <a:r>
              <a:rPr lang="en-US" altLang="zh-TW" i="1"/>
              <a:t>y</a:t>
            </a:r>
          </a:p>
        </p:txBody>
      </p:sp>
      <p:sp>
        <p:nvSpPr>
          <p:cNvPr id="9" name="Oval 41"/>
          <p:cNvSpPr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i="1"/>
              <a:t>x</a:t>
            </a:r>
          </a:p>
        </p:txBody>
      </p:sp>
      <p:sp>
        <p:nvSpPr>
          <p:cNvPr id="10" name="Oval 42"/>
          <p:cNvSpPr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36000" anchor="ctr"/>
          <a:lstStyle/>
          <a:p>
            <a:pPr algn="ctr"/>
            <a:r>
              <a:rPr lang="en-US" altLang="zh-TW" i="1"/>
              <a:t>w</a:t>
            </a:r>
          </a:p>
        </p:txBody>
      </p:sp>
      <p:sp>
        <p:nvSpPr>
          <p:cNvPr id="11" name="Oval 43"/>
          <p:cNvSpPr>
            <a:spLocks noChangeArrowheads="1"/>
          </p:cNvSpPr>
          <p:nvPr/>
        </p:nvSpPr>
        <p:spPr bwMode="auto">
          <a:xfrm>
            <a:off x="60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72000" anchor="ctr"/>
          <a:lstStyle/>
          <a:p>
            <a:pPr algn="ctr"/>
            <a:r>
              <a:rPr lang="en-US" altLang="zh-TW" i="1"/>
              <a:t>z</a:t>
            </a:r>
          </a:p>
        </p:txBody>
      </p:sp>
      <p:cxnSp>
        <p:nvCxnSpPr>
          <p:cNvPr id="12" name="AutoShape 38"/>
          <p:cNvCxnSpPr>
            <a:cxnSpLocks noChangeShapeType="1"/>
            <a:stCxn id="9" idx="0"/>
            <a:endCxn id="3" idx="4"/>
          </p:cNvCxnSpPr>
          <p:nvPr/>
        </p:nvCxnSpPr>
        <p:spPr bwMode="auto">
          <a:xfrm flipV="1">
            <a:off x="403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3" name="AutoShape 38"/>
          <p:cNvCxnSpPr>
            <a:cxnSpLocks noChangeShapeType="1"/>
            <a:stCxn id="8" idx="0"/>
            <a:endCxn id="2" idx="4"/>
          </p:cNvCxnSpPr>
          <p:nvPr/>
        </p:nvCxnSpPr>
        <p:spPr bwMode="auto">
          <a:xfrm flipV="1">
            <a:off x="51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4" name="AutoShape 38"/>
          <p:cNvCxnSpPr>
            <a:cxnSpLocks noChangeShapeType="1"/>
            <a:stCxn id="11" idx="0"/>
            <a:endCxn id="7" idx="4"/>
          </p:cNvCxnSpPr>
          <p:nvPr/>
        </p:nvCxnSpPr>
        <p:spPr bwMode="auto">
          <a:xfrm flipV="1">
            <a:off x="61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5" name="AutoShape 38"/>
          <p:cNvCxnSpPr>
            <a:cxnSpLocks noChangeShapeType="1"/>
            <a:stCxn id="8" idx="6"/>
            <a:endCxn id="11" idx="2"/>
          </p:cNvCxnSpPr>
          <p:nvPr/>
        </p:nvCxnSpPr>
        <p:spPr bwMode="auto">
          <a:xfrm>
            <a:off x="52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6" name="AutoShape 38"/>
          <p:cNvCxnSpPr>
            <a:cxnSpLocks noChangeShapeType="1"/>
            <a:stCxn id="2" idx="6"/>
            <a:endCxn id="7" idx="2"/>
          </p:cNvCxnSpPr>
          <p:nvPr/>
        </p:nvCxnSpPr>
        <p:spPr bwMode="auto">
          <a:xfrm>
            <a:off x="52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7" name="AutoShape 38"/>
          <p:cNvCxnSpPr>
            <a:cxnSpLocks noChangeShapeType="1"/>
            <a:stCxn id="9" idx="6"/>
            <a:endCxn id="8" idx="2"/>
          </p:cNvCxnSpPr>
          <p:nvPr/>
        </p:nvCxnSpPr>
        <p:spPr bwMode="auto">
          <a:xfrm>
            <a:off x="42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8" name="AutoShape 38"/>
          <p:cNvCxnSpPr>
            <a:cxnSpLocks noChangeShapeType="1"/>
            <a:stCxn id="5" idx="6"/>
            <a:endCxn id="3" idx="2"/>
          </p:cNvCxnSpPr>
          <p:nvPr/>
        </p:nvCxnSpPr>
        <p:spPr bwMode="auto">
          <a:xfrm>
            <a:off x="313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9" name="AutoShape 38"/>
          <p:cNvCxnSpPr>
            <a:cxnSpLocks noChangeShapeType="1"/>
            <a:stCxn id="10" idx="0"/>
            <a:endCxn id="5" idx="4"/>
          </p:cNvCxnSpPr>
          <p:nvPr/>
        </p:nvCxnSpPr>
        <p:spPr bwMode="auto">
          <a:xfrm flipV="1">
            <a:off x="29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71915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1"/>
          <p:cNvSpPr>
            <a:spLocks noChangeArrowheads="1"/>
          </p:cNvSpPr>
          <p:nvPr/>
        </p:nvSpPr>
        <p:spPr bwMode="auto">
          <a:xfrm>
            <a:off x="49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200" i="1" dirty="0"/>
              <a:t>t</a:t>
            </a:r>
          </a:p>
        </p:txBody>
      </p:sp>
      <p:sp>
        <p:nvSpPr>
          <p:cNvPr id="3" name="Oval 29"/>
          <p:cNvSpPr>
            <a:spLocks noChangeArrowheads="1"/>
          </p:cNvSpPr>
          <p:nvPr/>
        </p:nvSpPr>
        <p:spPr bwMode="auto">
          <a:xfrm>
            <a:off x="38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90000" anchor="ctr"/>
          <a:lstStyle/>
          <a:p>
            <a:pPr algn="ctr"/>
            <a:r>
              <a:rPr lang="en-US" altLang="zh-TW" sz="2200" i="1" dirty="0"/>
              <a:t>s</a:t>
            </a:r>
          </a:p>
        </p:txBody>
      </p:sp>
      <p:cxnSp>
        <p:nvCxnSpPr>
          <p:cNvPr id="4" name="AutoShape 32"/>
          <p:cNvCxnSpPr>
            <a:cxnSpLocks noChangeShapeType="1"/>
            <a:stCxn id="8" idx="7"/>
            <a:endCxn id="7" idx="3"/>
          </p:cNvCxnSpPr>
          <p:nvPr/>
        </p:nvCxnSpPr>
        <p:spPr bwMode="auto">
          <a:xfrm flipV="1">
            <a:off x="52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5" name="Oval 33"/>
          <p:cNvSpPr>
            <a:spLocks noChangeArrowheads="1"/>
          </p:cNvSpPr>
          <p:nvPr/>
        </p:nvSpPr>
        <p:spPr bwMode="auto">
          <a:xfrm>
            <a:off x="27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200" i="1" dirty="0"/>
              <a:t>r</a:t>
            </a:r>
          </a:p>
        </p:txBody>
      </p:sp>
      <p:cxnSp>
        <p:nvCxnSpPr>
          <p:cNvPr id="6" name="AutoShape 38"/>
          <p:cNvCxnSpPr>
            <a:cxnSpLocks noChangeShapeType="1"/>
            <a:stCxn id="9" idx="7"/>
            <a:endCxn id="2" idx="3"/>
          </p:cNvCxnSpPr>
          <p:nvPr/>
        </p:nvCxnSpPr>
        <p:spPr bwMode="auto">
          <a:xfrm flipV="1">
            <a:off x="41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7" name="Oval 39"/>
          <p:cNvSpPr>
            <a:spLocks noChangeArrowheads="1"/>
          </p:cNvSpPr>
          <p:nvPr/>
        </p:nvSpPr>
        <p:spPr bwMode="auto">
          <a:xfrm>
            <a:off x="60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18000" anchor="b"/>
          <a:lstStyle/>
          <a:p>
            <a:pPr algn="ctr"/>
            <a:r>
              <a:rPr lang="en-US" altLang="zh-TW" sz="2200" i="1" dirty="0"/>
              <a:t>q</a:t>
            </a:r>
          </a:p>
        </p:txBody>
      </p:sp>
      <p:sp>
        <p:nvSpPr>
          <p:cNvPr id="8" name="Oval 40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08000" anchor="ctr"/>
          <a:lstStyle/>
          <a:p>
            <a:pPr algn="ctr"/>
            <a:r>
              <a:rPr lang="en-US" altLang="zh-TW" sz="2200" i="1" dirty="0"/>
              <a:t>y</a:t>
            </a:r>
          </a:p>
        </p:txBody>
      </p:sp>
      <p:sp>
        <p:nvSpPr>
          <p:cNvPr id="9" name="Oval 41"/>
          <p:cNvSpPr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200" i="1" dirty="0"/>
              <a:t>x</a:t>
            </a:r>
          </a:p>
        </p:txBody>
      </p:sp>
      <p:sp>
        <p:nvSpPr>
          <p:cNvPr id="10" name="Oval 42"/>
          <p:cNvSpPr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36000" anchor="ctr"/>
          <a:lstStyle/>
          <a:p>
            <a:pPr algn="ctr"/>
            <a:r>
              <a:rPr lang="en-US" altLang="zh-TW" sz="2200" i="1" dirty="0"/>
              <a:t>w</a:t>
            </a:r>
          </a:p>
        </p:txBody>
      </p:sp>
      <p:sp>
        <p:nvSpPr>
          <p:cNvPr id="11" name="Oval 43"/>
          <p:cNvSpPr>
            <a:spLocks noChangeArrowheads="1"/>
          </p:cNvSpPr>
          <p:nvPr/>
        </p:nvSpPr>
        <p:spPr bwMode="auto">
          <a:xfrm>
            <a:off x="60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72000" anchor="ctr"/>
          <a:lstStyle/>
          <a:p>
            <a:pPr algn="ctr"/>
            <a:r>
              <a:rPr lang="en-US" altLang="zh-TW" sz="2200" i="1" dirty="0"/>
              <a:t>z</a:t>
            </a:r>
          </a:p>
        </p:txBody>
      </p:sp>
      <p:cxnSp>
        <p:nvCxnSpPr>
          <p:cNvPr id="12" name="AutoShape 38"/>
          <p:cNvCxnSpPr>
            <a:cxnSpLocks noChangeShapeType="1"/>
            <a:stCxn id="9" idx="0"/>
            <a:endCxn id="3" idx="4"/>
          </p:cNvCxnSpPr>
          <p:nvPr/>
        </p:nvCxnSpPr>
        <p:spPr bwMode="auto">
          <a:xfrm flipV="1">
            <a:off x="403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3" name="AutoShape 38"/>
          <p:cNvCxnSpPr>
            <a:cxnSpLocks noChangeShapeType="1"/>
            <a:stCxn id="8" idx="0"/>
            <a:endCxn id="2" idx="4"/>
          </p:cNvCxnSpPr>
          <p:nvPr/>
        </p:nvCxnSpPr>
        <p:spPr bwMode="auto">
          <a:xfrm flipV="1">
            <a:off x="51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4" name="AutoShape 38"/>
          <p:cNvCxnSpPr>
            <a:cxnSpLocks noChangeShapeType="1"/>
            <a:stCxn id="11" idx="0"/>
            <a:endCxn id="7" idx="4"/>
          </p:cNvCxnSpPr>
          <p:nvPr/>
        </p:nvCxnSpPr>
        <p:spPr bwMode="auto">
          <a:xfrm flipV="1">
            <a:off x="61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5" name="AutoShape 38"/>
          <p:cNvCxnSpPr>
            <a:cxnSpLocks noChangeShapeType="1"/>
            <a:stCxn id="8" idx="6"/>
            <a:endCxn id="11" idx="2"/>
          </p:cNvCxnSpPr>
          <p:nvPr/>
        </p:nvCxnSpPr>
        <p:spPr bwMode="auto">
          <a:xfrm>
            <a:off x="52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6" name="AutoShape 38"/>
          <p:cNvCxnSpPr>
            <a:cxnSpLocks noChangeShapeType="1"/>
            <a:stCxn id="2" idx="6"/>
            <a:endCxn id="7" idx="2"/>
          </p:cNvCxnSpPr>
          <p:nvPr/>
        </p:nvCxnSpPr>
        <p:spPr bwMode="auto">
          <a:xfrm>
            <a:off x="52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7" name="AutoShape 38"/>
          <p:cNvCxnSpPr>
            <a:cxnSpLocks noChangeShapeType="1"/>
            <a:stCxn id="9" idx="6"/>
            <a:endCxn id="8" idx="2"/>
          </p:cNvCxnSpPr>
          <p:nvPr/>
        </p:nvCxnSpPr>
        <p:spPr bwMode="auto">
          <a:xfrm>
            <a:off x="42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8" name="AutoShape 38"/>
          <p:cNvCxnSpPr>
            <a:cxnSpLocks noChangeShapeType="1"/>
            <a:stCxn id="5" idx="6"/>
            <a:endCxn id="3" idx="2"/>
          </p:cNvCxnSpPr>
          <p:nvPr/>
        </p:nvCxnSpPr>
        <p:spPr bwMode="auto">
          <a:xfrm>
            <a:off x="313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9" name="AutoShape 38"/>
          <p:cNvCxnSpPr>
            <a:cxnSpLocks noChangeShapeType="1"/>
            <a:stCxn id="10" idx="0"/>
            <a:endCxn id="5" idx="4"/>
          </p:cNvCxnSpPr>
          <p:nvPr/>
        </p:nvCxnSpPr>
        <p:spPr bwMode="auto">
          <a:xfrm flipV="1">
            <a:off x="29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77865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198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8199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8200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8201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8202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203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8204" name="AutoShape 19"/>
          <p:cNvCxnSpPr>
            <a:cxnSpLocks noChangeShapeType="1"/>
            <a:endCxn id="8194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205" name="Text Box 20"/>
          <p:cNvSpPr txBox="1">
            <a:spLocks noChangeArrowheads="1"/>
          </p:cNvSpPr>
          <p:nvPr/>
        </p:nvSpPr>
        <p:spPr bwMode="auto">
          <a:xfrm>
            <a:off x="3708400" y="25654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8206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207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8208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8209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8210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8211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8212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9219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9220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23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9224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9225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9226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9227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28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9229" name="AutoShape 19"/>
          <p:cNvCxnSpPr>
            <a:cxnSpLocks noChangeShapeType="1"/>
            <a:endCxn id="9219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9230" name="Text Box 20"/>
          <p:cNvSpPr txBox="1">
            <a:spLocks noChangeArrowheads="1"/>
          </p:cNvSpPr>
          <p:nvPr/>
        </p:nvSpPr>
        <p:spPr bwMode="auto">
          <a:xfrm>
            <a:off x="3708400" y="38608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9231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32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9233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9234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9235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9236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46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0247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0248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249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0250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1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0252" name="AutoShape 19"/>
          <p:cNvCxnSpPr>
            <a:cxnSpLocks noChangeShapeType="1"/>
            <a:endCxn id="10242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253" name="Text Box 20"/>
          <p:cNvSpPr txBox="1">
            <a:spLocks noChangeArrowheads="1"/>
          </p:cNvSpPr>
          <p:nvPr/>
        </p:nvSpPr>
        <p:spPr bwMode="auto">
          <a:xfrm>
            <a:off x="2411413" y="25654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10254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5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6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0257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0258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0259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0260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70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1271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272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1273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1274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75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276" name="AutoShape 19"/>
          <p:cNvCxnSpPr>
            <a:cxnSpLocks noChangeShapeType="1"/>
            <a:endCxn id="11266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1277" name="Text Box 20"/>
          <p:cNvSpPr txBox="1">
            <a:spLocks noChangeArrowheads="1"/>
          </p:cNvSpPr>
          <p:nvPr/>
        </p:nvSpPr>
        <p:spPr bwMode="auto">
          <a:xfrm>
            <a:off x="5003800" y="25654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11278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79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1280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1281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1282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1283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1284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94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2295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296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2297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2298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299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300" name="AutoShape 19"/>
          <p:cNvCxnSpPr>
            <a:cxnSpLocks noChangeShapeType="1"/>
            <a:endCxn id="12290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2301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302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2303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2304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2305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2306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2307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3315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17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18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3319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320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3321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3322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23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324" name="AutoShape 19"/>
          <p:cNvCxnSpPr>
            <a:cxnSpLocks noChangeShapeType="1"/>
            <a:endCxn id="13314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3325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26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3327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3328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3329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3330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3331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4339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42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4343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4344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4345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4346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47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4348" name="AutoShape 19"/>
          <p:cNvCxnSpPr>
            <a:cxnSpLocks noChangeShapeType="1"/>
            <a:endCxn id="14338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4349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50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4351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4352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4353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4354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4355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6300788" y="25654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Oval 2"/>
          <p:cNvSpPr>
            <a:spLocks noChangeArrowheads="1"/>
          </p:cNvSpPr>
          <p:nvPr/>
        </p:nvSpPr>
        <p:spPr bwMode="auto">
          <a:xfrm>
            <a:off x="50038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36000" bIns="72000" anchor="ctr"/>
          <a:lstStyle/>
          <a:p>
            <a:pPr algn="ctr"/>
            <a:r>
              <a:rPr lang="en-US" altLang="zh-TW" sz="2800" i="1"/>
              <a:t>t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5437188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65151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5219700" y="2997200"/>
            <a:ext cx="0" cy="86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66" name="Oval 10"/>
          <p:cNvSpPr>
            <a:spLocks noChangeArrowheads="1"/>
          </p:cNvSpPr>
          <p:nvPr/>
        </p:nvSpPr>
        <p:spPr bwMode="auto">
          <a:xfrm>
            <a:off x="3708400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s</a:t>
            </a:r>
          </a:p>
        </p:txBody>
      </p:sp>
      <p:sp>
        <p:nvSpPr>
          <p:cNvPr id="15367" name="Line 12"/>
          <p:cNvSpPr>
            <a:spLocks noChangeShapeType="1"/>
          </p:cNvSpPr>
          <p:nvPr/>
        </p:nvSpPr>
        <p:spPr bwMode="auto">
          <a:xfrm>
            <a:off x="3922713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5368" name="AutoShape 13"/>
          <p:cNvCxnSpPr>
            <a:cxnSpLocks noChangeShapeType="1"/>
          </p:cNvCxnSpPr>
          <p:nvPr/>
        </p:nvCxnSpPr>
        <p:spPr bwMode="auto">
          <a:xfrm flipV="1">
            <a:off x="5372100" y="2946400"/>
            <a:ext cx="992188" cy="963613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5369" name="Oval 14"/>
          <p:cNvSpPr>
            <a:spLocks noChangeArrowheads="1"/>
          </p:cNvSpPr>
          <p:nvPr/>
        </p:nvSpPr>
        <p:spPr bwMode="auto">
          <a:xfrm>
            <a:off x="2411413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72000" bIns="54000" anchor="ctr"/>
          <a:lstStyle/>
          <a:p>
            <a:pPr algn="ctr"/>
            <a:r>
              <a:rPr lang="en-US" altLang="zh-TW" sz="2800" i="1"/>
              <a:t>r</a:t>
            </a:r>
          </a:p>
        </p:txBody>
      </p:sp>
      <p:sp>
        <p:nvSpPr>
          <p:cNvPr id="15370" name="Line 16"/>
          <p:cNvSpPr>
            <a:spLocks noChangeShapeType="1"/>
          </p:cNvSpPr>
          <p:nvPr/>
        </p:nvSpPr>
        <p:spPr bwMode="auto">
          <a:xfrm>
            <a:off x="2625725" y="2997200"/>
            <a:ext cx="0" cy="863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71" name="Line 17"/>
          <p:cNvSpPr>
            <a:spLocks noChangeShapeType="1"/>
          </p:cNvSpPr>
          <p:nvPr/>
        </p:nvSpPr>
        <p:spPr bwMode="auto">
          <a:xfrm>
            <a:off x="2843213" y="2779713"/>
            <a:ext cx="863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5372" name="AutoShape 19"/>
          <p:cNvCxnSpPr>
            <a:cxnSpLocks noChangeShapeType="1"/>
            <a:endCxn id="15362" idx="3"/>
          </p:cNvCxnSpPr>
          <p:nvPr/>
        </p:nvCxnSpPr>
        <p:spPr bwMode="auto">
          <a:xfrm flipV="1">
            <a:off x="4076700" y="2946400"/>
            <a:ext cx="990600" cy="963613"/>
          </a:xfrm>
          <a:prstGeom prst="straightConnector1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</p:cxnSp>
      <p:sp>
        <p:nvSpPr>
          <p:cNvPr id="15373" name="Line 21"/>
          <p:cNvSpPr>
            <a:spLocks noChangeShapeType="1"/>
          </p:cNvSpPr>
          <p:nvPr/>
        </p:nvSpPr>
        <p:spPr bwMode="auto">
          <a:xfrm flipH="1" flipV="1">
            <a:off x="5437188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74" name="Line 22"/>
          <p:cNvSpPr>
            <a:spLocks noChangeShapeType="1"/>
          </p:cNvSpPr>
          <p:nvPr/>
        </p:nvSpPr>
        <p:spPr bwMode="auto">
          <a:xfrm flipH="1" flipV="1">
            <a:off x="4140200" y="407511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15375" name="Oval 23"/>
          <p:cNvSpPr>
            <a:spLocks noChangeArrowheads="1"/>
          </p:cNvSpPr>
          <p:nvPr/>
        </p:nvSpPr>
        <p:spPr bwMode="auto">
          <a:xfrm>
            <a:off x="6300788" y="2563813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0" anchor="b"/>
          <a:lstStyle/>
          <a:p>
            <a:pPr algn="ctr"/>
            <a:r>
              <a:rPr lang="en-US" altLang="zh-TW" sz="2800" i="1"/>
              <a:t>q</a:t>
            </a:r>
          </a:p>
        </p:txBody>
      </p:sp>
      <p:sp>
        <p:nvSpPr>
          <p:cNvPr id="15376" name="Oval 24"/>
          <p:cNvSpPr>
            <a:spLocks noChangeArrowheads="1"/>
          </p:cNvSpPr>
          <p:nvPr/>
        </p:nvSpPr>
        <p:spPr bwMode="auto">
          <a:xfrm>
            <a:off x="50038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54000" bIns="144000" anchor="ctr"/>
          <a:lstStyle/>
          <a:p>
            <a:pPr algn="ctr"/>
            <a:r>
              <a:rPr lang="en-US" altLang="zh-TW" sz="2800" i="1"/>
              <a:t>y</a:t>
            </a:r>
          </a:p>
        </p:txBody>
      </p:sp>
      <p:sp>
        <p:nvSpPr>
          <p:cNvPr id="15377" name="Oval 25"/>
          <p:cNvSpPr>
            <a:spLocks noChangeArrowheads="1"/>
          </p:cNvSpPr>
          <p:nvPr/>
        </p:nvSpPr>
        <p:spPr bwMode="auto">
          <a:xfrm>
            <a:off x="37068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x</a:t>
            </a:r>
          </a:p>
        </p:txBody>
      </p:sp>
      <p:sp>
        <p:nvSpPr>
          <p:cNvPr id="15378" name="Oval 26"/>
          <p:cNvSpPr>
            <a:spLocks noChangeArrowheads="1"/>
          </p:cNvSpPr>
          <p:nvPr/>
        </p:nvSpPr>
        <p:spPr bwMode="auto">
          <a:xfrm>
            <a:off x="2411413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rIns="90000" bIns="72000" anchor="ctr"/>
          <a:lstStyle/>
          <a:p>
            <a:pPr algn="ctr"/>
            <a:r>
              <a:rPr lang="en-US" altLang="zh-TW" sz="2800" i="1"/>
              <a:t>w</a:t>
            </a:r>
          </a:p>
        </p:txBody>
      </p:sp>
      <p:sp>
        <p:nvSpPr>
          <p:cNvPr id="15379" name="Oval 27"/>
          <p:cNvSpPr>
            <a:spLocks noChangeArrowheads="1"/>
          </p:cNvSpPr>
          <p:nvPr/>
        </p:nvSpPr>
        <p:spPr bwMode="auto">
          <a:xfrm>
            <a:off x="6299200" y="3860800"/>
            <a:ext cx="431800" cy="431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tIns="0" bIns="90000" anchor="ctr"/>
          <a:lstStyle/>
          <a:p>
            <a:pPr algn="ctr"/>
            <a:r>
              <a:rPr lang="en-US" altLang="zh-TW" sz="2800" i="1"/>
              <a:t>z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6300788" y="3860800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800" b="1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45877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146354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270180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90845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417500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41244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94955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200977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AutoShape 38"/>
          <p:cNvCxnSpPr>
            <a:cxnSpLocks noChangeShapeType="1"/>
          </p:cNvCxnSpPr>
          <p:nvPr/>
        </p:nvCxnSpPr>
        <p:spPr bwMode="auto">
          <a:xfrm flipV="1">
            <a:off x="6552000" y="1989000"/>
            <a:ext cx="720000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4" name="AutoShape 38"/>
          <p:cNvCxnSpPr>
            <a:cxnSpLocks noChangeShapeType="1"/>
          </p:cNvCxnSpPr>
          <p:nvPr/>
        </p:nvCxnSpPr>
        <p:spPr bwMode="auto">
          <a:xfrm flipH="1" flipV="1">
            <a:off x="7272000" y="1989000"/>
            <a:ext cx="720001" cy="900001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42" name="AutoShape 38"/>
          <p:cNvCxnSpPr>
            <a:cxnSpLocks noChangeShapeType="1"/>
          </p:cNvCxnSpPr>
          <p:nvPr/>
        </p:nvCxnSpPr>
        <p:spPr bwMode="auto">
          <a:xfrm flipH="1">
            <a:off x="6012001" y="2889000"/>
            <a:ext cx="539999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3" name="AutoShape 38"/>
          <p:cNvCxnSpPr>
            <a:cxnSpLocks noChangeShapeType="1"/>
          </p:cNvCxnSpPr>
          <p:nvPr/>
        </p:nvCxnSpPr>
        <p:spPr bwMode="auto">
          <a:xfrm>
            <a:off x="6552000" y="2889000"/>
            <a:ext cx="54000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38" name="Oval 21"/>
          <p:cNvSpPr>
            <a:spLocks noChangeArrowheads="1"/>
          </p:cNvSpPr>
          <p:nvPr/>
        </p:nvSpPr>
        <p:spPr bwMode="auto">
          <a:xfrm>
            <a:off x="58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39" name="Oval 2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40" name="AutoShape 32"/>
          <p:cNvCxnSpPr>
            <a:cxnSpLocks noChangeShapeType="1"/>
            <a:stCxn id="44" idx="3"/>
            <a:endCxn id="43" idx="7"/>
          </p:cNvCxnSpPr>
          <p:nvPr/>
        </p:nvCxnSpPr>
        <p:spPr bwMode="auto">
          <a:xfrm flipH="1">
            <a:off x="6139279" y="373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41" name="Oval 33"/>
          <p:cNvSpPr>
            <a:spLocks noChangeArrowheads="1"/>
          </p:cNvSpPr>
          <p:nvPr/>
        </p:nvSpPr>
        <p:spPr bwMode="auto">
          <a:xfrm>
            <a:off x="78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58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44" name="Oval 40"/>
          <p:cNvSpPr>
            <a:spLocks noChangeArrowheads="1"/>
          </p:cNvSpPr>
          <p:nvPr/>
        </p:nvSpPr>
        <p:spPr bwMode="auto">
          <a:xfrm>
            <a:off x="69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63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781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49" name="AutoShape 38"/>
          <p:cNvCxnSpPr>
            <a:cxnSpLocks noChangeShapeType="1"/>
            <a:stCxn id="44" idx="2"/>
            <a:endCxn id="38" idx="6"/>
          </p:cNvCxnSpPr>
          <p:nvPr/>
        </p:nvCxnSpPr>
        <p:spPr bwMode="auto">
          <a:xfrm flipH="1">
            <a:off x="6192000" y="360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0" name="AutoShape 38"/>
          <p:cNvCxnSpPr>
            <a:cxnSpLocks noChangeShapeType="1"/>
            <a:stCxn id="47" idx="2"/>
            <a:endCxn id="43" idx="6"/>
          </p:cNvCxnSpPr>
          <p:nvPr/>
        </p:nvCxnSpPr>
        <p:spPr bwMode="auto">
          <a:xfrm flipH="1">
            <a:off x="619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51" name="AutoShape 38"/>
          <p:cNvCxnSpPr>
            <a:cxnSpLocks noChangeShapeType="1"/>
            <a:stCxn id="44" idx="4"/>
            <a:endCxn id="47" idx="0"/>
          </p:cNvCxnSpPr>
          <p:nvPr/>
        </p:nvCxnSpPr>
        <p:spPr bwMode="auto">
          <a:xfrm>
            <a:off x="7092000" y="378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2" name="AutoShape 38"/>
          <p:cNvCxnSpPr>
            <a:cxnSpLocks noChangeShapeType="1"/>
            <a:stCxn id="38" idx="4"/>
            <a:endCxn id="43" idx="0"/>
          </p:cNvCxnSpPr>
          <p:nvPr/>
        </p:nvCxnSpPr>
        <p:spPr bwMode="auto">
          <a:xfrm>
            <a:off x="6012000" y="378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55" name="AutoShape 38"/>
          <p:cNvCxnSpPr>
            <a:cxnSpLocks noChangeShapeType="1"/>
            <a:stCxn id="46" idx="0"/>
            <a:endCxn id="41" idx="4"/>
          </p:cNvCxnSpPr>
          <p:nvPr/>
        </p:nvCxnSpPr>
        <p:spPr bwMode="auto">
          <a:xfrm flipV="1">
            <a:off x="7992000" y="3069000"/>
            <a:ext cx="0" cy="54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3" name="Oval 21"/>
          <p:cNvSpPr>
            <a:spLocks noChangeArrowheads="1"/>
          </p:cNvSpPr>
          <p:nvPr/>
        </p:nvSpPr>
        <p:spPr bwMode="auto">
          <a:xfrm>
            <a:off x="313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04" name="Oval 29"/>
          <p:cNvSpPr>
            <a:spLocks noChangeArrowheads="1"/>
          </p:cNvSpPr>
          <p:nvPr/>
        </p:nvSpPr>
        <p:spPr bwMode="auto">
          <a:xfrm>
            <a:off x="205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cxnSp>
        <p:nvCxnSpPr>
          <p:cNvPr id="105" name="AutoShape 32"/>
          <p:cNvCxnSpPr>
            <a:cxnSpLocks noChangeShapeType="1"/>
            <a:stCxn id="109" idx="7"/>
            <a:endCxn id="108" idx="3"/>
          </p:cNvCxnSpPr>
          <p:nvPr/>
        </p:nvCxnSpPr>
        <p:spPr bwMode="auto">
          <a:xfrm flipV="1">
            <a:off x="3439279" y="30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106" name="Oval 33"/>
          <p:cNvSpPr>
            <a:spLocks noChangeArrowheads="1"/>
          </p:cNvSpPr>
          <p:nvPr/>
        </p:nvSpPr>
        <p:spPr bwMode="auto">
          <a:xfrm>
            <a:off x="97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07" name="AutoShape 38"/>
          <p:cNvCxnSpPr>
            <a:cxnSpLocks noChangeShapeType="1"/>
            <a:stCxn id="110" idx="7"/>
            <a:endCxn id="103" idx="3"/>
          </p:cNvCxnSpPr>
          <p:nvPr/>
        </p:nvCxnSpPr>
        <p:spPr bwMode="auto">
          <a:xfrm flipV="1">
            <a:off x="2359279" y="301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108" name="Oval 39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9" name="Oval 40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0" name="Oval 41"/>
          <p:cNvSpPr>
            <a:spLocks noChangeArrowheads="1"/>
          </p:cNvSpPr>
          <p:nvPr/>
        </p:nvSpPr>
        <p:spPr bwMode="auto">
          <a:xfrm>
            <a:off x="20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1" name="Oval 42"/>
          <p:cNvSpPr>
            <a:spLocks noChangeArrowheads="1"/>
          </p:cNvSpPr>
          <p:nvPr/>
        </p:nvSpPr>
        <p:spPr bwMode="auto">
          <a:xfrm>
            <a:off x="9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12" name="Oval 43"/>
          <p:cNvSpPr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tIns="0" rIns="90000" bIns="18000" anchor="ctr" anchorCtr="1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cxnSp>
        <p:nvCxnSpPr>
          <p:cNvPr id="113" name="AutoShape 38"/>
          <p:cNvCxnSpPr>
            <a:cxnSpLocks noChangeShapeType="1"/>
            <a:stCxn id="110" idx="0"/>
            <a:endCxn id="104" idx="4"/>
          </p:cNvCxnSpPr>
          <p:nvPr/>
        </p:nvCxnSpPr>
        <p:spPr bwMode="auto">
          <a:xfrm flipV="1">
            <a:off x="223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4" name="AutoShape 38"/>
          <p:cNvCxnSpPr>
            <a:cxnSpLocks noChangeShapeType="1"/>
            <a:stCxn id="109" idx="0"/>
            <a:endCxn id="103" idx="4"/>
          </p:cNvCxnSpPr>
          <p:nvPr/>
        </p:nvCxnSpPr>
        <p:spPr bwMode="auto">
          <a:xfrm flipV="1">
            <a:off x="331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5" name="AutoShape 38"/>
          <p:cNvCxnSpPr>
            <a:cxnSpLocks noChangeShapeType="1"/>
            <a:stCxn id="112" idx="0"/>
            <a:endCxn id="108" idx="4"/>
          </p:cNvCxnSpPr>
          <p:nvPr/>
        </p:nvCxnSpPr>
        <p:spPr bwMode="auto">
          <a:xfrm flipV="1">
            <a:off x="4392000" y="30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16" name="AutoShape 38"/>
          <p:cNvCxnSpPr>
            <a:cxnSpLocks noChangeShapeType="1"/>
            <a:stCxn id="109" idx="6"/>
            <a:endCxn id="112" idx="2"/>
          </p:cNvCxnSpPr>
          <p:nvPr/>
        </p:nvCxnSpPr>
        <p:spPr bwMode="auto">
          <a:xfrm>
            <a:off x="3492000" y="396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7" name="AutoShape 38"/>
          <p:cNvCxnSpPr>
            <a:cxnSpLocks noChangeShapeType="1"/>
            <a:stCxn id="103" idx="6"/>
            <a:endCxn id="108" idx="2"/>
          </p:cNvCxnSpPr>
          <p:nvPr/>
        </p:nvCxnSpPr>
        <p:spPr bwMode="auto">
          <a:xfrm>
            <a:off x="349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8" name="AutoShape 38"/>
          <p:cNvCxnSpPr>
            <a:cxnSpLocks noChangeShapeType="1"/>
            <a:stCxn id="110" idx="6"/>
            <a:endCxn id="109" idx="2"/>
          </p:cNvCxnSpPr>
          <p:nvPr/>
        </p:nvCxnSpPr>
        <p:spPr bwMode="auto">
          <a:xfrm>
            <a:off x="2412000" y="396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19" name="AutoShape 38"/>
          <p:cNvCxnSpPr>
            <a:cxnSpLocks noChangeShapeType="1"/>
            <a:stCxn id="106" idx="6"/>
            <a:endCxn id="104" idx="2"/>
          </p:cNvCxnSpPr>
          <p:nvPr/>
        </p:nvCxnSpPr>
        <p:spPr bwMode="auto">
          <a:xfrm>
            <a:off x="1332000" y="288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cxnSp>
        <p:nvCxnSpPr>
          <p:cNvPr id="120" name="AutoShape 38"/>
          <p:cNvCxnSpPr>
            <a:cxnSpLocks noChangeShapeType="1"/>
            <a:stCxn id="111" idx="0"/>
            <a:endCxn id="106" idx="4"/>
          </p:cNvCxnSpPr>
          <p:nvPr/>
        </p:nvCxnSpPr>
        <p:spPr bwMode="auto">
          <a:xfrm flipV="1">
            <a:off x="1152000" y="306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cxn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  <p:sp>
        <p:nvSpPr>
          <p:cNvPr id="57" name="Text Box 38"/>
          <p:cNvSpPr txBox="1">
            <a:spLocks noChangeArrowheads="1"/>
          </p:cNvSpPr>
          <p:nvPr/>
        </p:nvSpPr>
        <p:spPr bwMode="auto">
          <a:xfrm>
            <a:off x="4212000" y="37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TW" sz="2200" b="1" dirty="0">
                <a:solidFill>
                  <a:schemeClr val="hlink"/>
                </a:solidFill>
                <a:sym typeface="Webdings" pitchFamily="18" charset="2"/>
              </a:rPr>
              <a:t></a:t>
            </a:r>
          </a:p>
        </p:txBody>
      </p:sp>
    </p:spTree>
    <p:extLst>
      <p:ext uri="{BB962C8B-B14F-4D97-AF65-F5344CB8AC3E}">
        <p14:creationId xmlns:p14="http://schemas.microsoft.com/office/powerpoint/2010/main" val="73917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inf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= 2147483600;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8;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&gt; *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*d;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*parent;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new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&gt;[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createAdjList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printAdjList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s = rand() %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bfs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s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6258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()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2965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50303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282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198864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1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549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466188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779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algn="ctr"/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70728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329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693127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5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025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12978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65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268471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971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299009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0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382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14334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558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668425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2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537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07070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797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61553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6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3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314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algn="ctr"/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009455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3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712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96021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4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3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7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395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lg" len="lg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12584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3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7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1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91399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7</a:t>
                      </a: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071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-1;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80899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 ] = d[ u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800" dirty="0" smtClean="0">
              <a:sym typeface="Symbol" pitchFamily="18" charset="2"/>
            </a:endParaRPr>
          </a:p>
        </p:txBody>
      </p:sp>
      <p:cxnSp>
        <p:nvCxnSpPr>
          <p:cNvPr id="4" name="AutoShape 18"/>
          <p:cNvCxnSpPr>
            <a:cxnSpLocks noChangeShapeType="1"/>
            <a:stCxn id="20" idx="7"/>
            <a:endCxn id="17" idx="3"/>
          </p:cNvCxnSpPr>
          <p:nvPr/>
        </p:nvCxnSpPr>
        <p:spPr bwMode="auto">
          <a:xfrm flipV="1">
            <a:off x="667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" name="Oval 19"/>
          <p:cNvSpPr>
            <a:spLocks noChangeArrowheads="1"/>
          </p:cNvSpPr>
          <p:nvPr/>
        </p:nvSpPr>
        <p:spPr bwMode="auto">
          <a:xfrm>
            <a:off x="42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6" name="AutoShape 24"/>
          <p:cNvCxnSpPr>
            <a:cxnSpLocks noChangeShapeType="1"/>
            <a:stCxn id="19" idx="7"/>
            <a:endCxn id="16" idx="3"/>
          </p:cNvCxnSpPr>
          <p:nvPr/>
        </p:nvCxnSpPr>
        <p:spPr bwMode="auto">
          <a:xfrm flipV="1">
            <a:off x="5599279" y="481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42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529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45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529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2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52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3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74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8" name="Oval 54"/>
          <p:cNvSpPr>
            <a:spLocks noChangeArrowheads="1"/>
          </p:cNvSpPr>
          <p:nvPr/>
        </p:nvSpPr>
        <p:spPr bwMode="auto">
          <a:xfrm>
            <a:off x="421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9" name="Oval 55"/>
          <p:cNvSpPr>
            <a:spLocks noChangeArrowheads="1"/>
          </p:cNvSpPr>
          <p:nvPr/>
        </p:nvSpPr>
        <p:spPr bwMode="auto">
          <a:xfrm>
            <a:off x="529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0" name="Oval 56"/>
          <p:cNvSpPr>
            <a:spLocks noChangeArrowheads="1"/>
          </p:cNvSpPr>
          <p:nvPr/>
        </p:nvSpPr>
        <p:spPr bwMode="auto">
          <a:xfrm>
            <a:off x="637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21" name="Oval 57"/>
          <p:cNvSpPr>
            <a:spLocks noChangeArrowheads="1"/>
          </p:cNvSpPr>
          <p:nvPr/>
        </p:nvSpPr>
        <p:spPr bwMode="auto">
          <a:xfrm>
            <a:off x="7452000" y="55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22" name="AutoShape 24"/>
          <p:cNvCxnSpPr>
            <a:cxnSpLocks noChangeShapeType="1"/>
            <a:stCxn id="15" idx="4"/>
            <a:endCxn id="19" idx="0"/>
          </p:cNvCxnSpPr>
          <p:nvPr/>
        </p:nvCxnSpPr>
        <p:spPr bwMode="auto">
          <a:xfrm>
            <a:off x="547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3" name="AutoShape 24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565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4" name="AutoShape 24"/>
          <p:cNvCxnSpPr>
            <a:cxnSpLocks noChangeShapeType="1"/>
            <a:stCxn id="20" idx="0"/>
            <a:endCxn id="16" idx="4"/>
          </p:cNvCxnSpPr>
          <p:nvPr/>
        </p:nvCxnSpPr>
        <p:spPr bwMode="auto">
          <a:xfrm flipV="1">
            <a:off x="655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25" name="AutoShape 24"/>
          <p:cNvCxnSpPr>
            <a:cxnSpLocks noChangeShapeType="1"/>
            <a:stCxn id="15" idx="2"/>
            <a:endCxn id="5" idx="6"/>
          </p:cNvCxnSpPr>
          <p:nvPr/>
        </p:nvCxnSpPr>
        <p:spPr bwMode="auto">
          <a:xfrm flipH="1">
            <a:off x="457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6" name="AutoShape 24"/>
          <p:cNvCxnSpPr>
            <a:cxnSpLocks noChangeShapeType="1"/>
            <a:stCxn id="5" idx="4"/>
            <a:endCxn id="18" idx="0"/>
          </p:cNvCxnSpPr>
          <p:nvPr/>
        </p:nvCxnSpPr>
        <p:spPr bwMode="auto">
          <a:xfrm>
            <a:off x="439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7" name="AutoShape 24"/>
          <p:cNvCxnSpPr>
            <a:cxnSpLocks noChangeShapeType="1"/>
            <a:stCxn id="16" idx="6"/>
            <a:endCxn id="17" idx="2"/>
          </p:cNvCxnSpPr>
          <p:nvPr/>
        </p:nvCxnSpPr>
        <p:spPr bwMode="auto">
          <a:xfrm>
            <a:off x="6732000" y="468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8" name="AutoShape 24"/>
          <p:cNvCxnSpPr>
            <a:cxnSpLocks noChangeShapeType="1"/>
            <a:stCxn id="20" idx="6"/>
            <a:endCxn id="21" idx="2"/>
          </p:cNvCxnSpPr>
          <p:nvPr/>
        </p:nvCxnSpPr>
        <p:spPr bwMode="auto">
          <a:xfrm>
            <a:off x="6732000" y="57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29" name="AutoShape 24"/>
          <p:cNvCxnSpPr>
            <a:cxnSpLocks noChangeShapeType="1"/>
            <a:stCxn id="21" idx="0"/>
            <a:endCxn id="17" idx="4"/>
          </p:cNvCxnSpPr>
          <p:nvPr/>
        </p:nvCxnSpPr>
        <p:spPr bwMode="auto">
          <a:xfrm flipV="1">
            <a:off x="7632000" y="486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graphicFrame>
        <p:nvGraphicFramePr>
          <p:cNvPr id="39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74454"/>
              </p:ext>
            </p:extLst>
          </p:nvPr>
        </p:nvGraphicFramePr>
        <p:xfrm>
          <a:off x="1332000" y="5049000"/>
          <a:ext cx="1800000" cy="36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標楷體" pitchFamily="65" charset="-120"/>
                        </a:rPr>
                        <a:t>Q</a:t>
                      </a:r>
                    </a:p>
                  </a:txBody>
                  <a:tcPr marL="36000" marR="90000" marT="0" marB="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TW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標楷體" pitchFamily="65" charset="-120"/>
                      </a:endParaRPr>
                    </a:p>
                  </a:txBody>
                  <a:tcPr marL="36000" marR="36000" marT="0" marB="18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116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4000" dirty="0" smtClean="0"/>
              <a:t>The Worst-case Time Complexity of </a:t>
            </a:r>
            <a:r>
              <a:rPr lang="en-US" altLang="zh-TW" sz="4000" dirty="0" err="1" smtClean="0"/>
              <a:t>BFS</a:t>
            </a:r>
            <a:endParaRPr lang="zh-TW" altLang="zh-TW" sz="4000" dirty="0" smtClean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zh-TW" dirty="0" smtClean="0"/>
              <a:t>Let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=</a:t>
            </a:r>
            <a:r>
              <a:rPr lang="en-US" altLang="zh-TW" dirty="0" smtClean="0"/>
              <a:t> {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/>
              <a:t>, </a:t>
            </a:r>
            <a:r>
              <a:rPr lang="en-US" altLang="zh-TW" dirty="0" smtClean="0">
                <a:sym typeface="Symbol" pitchFamily="18" charset="2"/>
              </a:rPr>
              <a:t>, 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} and let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>
                <a:sym typeface="Symbol" pitchFamily="18" charset="2"/>
              </a:rPr>
              <a:t>),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>
                <a:sym typeface="Symbol" pitchFamily="18" charset="2"/>
              </a:rPr>
              <a:t>)</a:t>
            </a:r>
            <a:r>
              <a:rPr lang="en-US" altLang="zh-TW" dirty="0" smtClean="0"/>
              <a:t>, </a:t>
            </a:r>
            <a:r>
              <a:rPr lang="en-US" altLang="zh-TW" dirty="0" smtClean="0">
                <a:sym typeface="Symbol" pitchFamily="18" charset="2"/>
              </a:rPr>
              <a:t>,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) denote the number of neighbors of 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/>
              <a:t>, </a:t>
            </a:r>
            <a:r>
              <a:rPr lang="en-US" altLang="zh-TW" dirty="0" smtClean="0">
                <a:sym typeface="Symbol" pitchFamily="18" charset="2"/>
              </a:rPr>
              <a:t>, 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, respectively.</a:t>
            </a:r>
          </a:p>
          <a:p>
            <a:pPr marL="0" indent="0" eaLnBrk="1" hangingPunct="1"/>
            <a:endParaRPr lang="en-US" altLang="zh-TW" dirty="0" smtClean="0">
              <a:sym typeface="Symbol" pitchFamily="18" charset="2"/>
            </a:endParaRPr>
          </a:p>
          <a:p>
            <a:pPr eaLnBrk="1" hangingPunct="1"/>
            <a:r>
              <a:rPr lang="en-US" altLang="zh-TW" dirty="0" smtClean="0">
                <a:sym typeface="Symbol" pitchFamily="18" charset="2"/>
              </a:rPr>
              <a:t>For each node </a:t>
            </a:r>
            <a:r>
              <a:rPr lang="en-US" altLang="zh-TW" i="1" dirty="0" smtClean="0">
                <a:sym typeface="Symbol" pitchFamily="18" charset="2"/>
              </a:rPr>
              <a:t>u</a:t>
            </a:r>
            <a:r>
              <a:rPr lang="en-US" altLang="zh-TW" dirty="0" smtClean="0">
                <a:sym typeface="Symbol" pitchFamily="18" charset="2"/>
              </a:rPr>
              <a:t>, the for loop in the while loop in 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bfs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7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 smtClean="0"/>
              <a:t> executes at most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smtClean="0">
                <a:sym typeface="Symbol" pitchFamily="18" charset="2"/>
              </a:rPr>
              <a:t>u</a:t>
            </a:r>
            <a:r>
              <a:rPr lang="en-US" altLang="zh-TW" dirty="0" smtClean="0">
                <a:sym typeface="Symbol" pitchFamily="18" charset="2"/>
              </a:rPr>
              <a:t>) iterations. Hence the for loop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in the while loop in 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bfs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70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 smtClean="0"/>
              <a:t> totally executes at most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MT Extra" pitchFamily="18" charset="2"/>
              </a:rPr>
              <a:t>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) iterations.</a:t>
            </a:r>
          </a:p>
          <a:p>
            <a:pPr marL="0" indent="0" eaLnBrk="1" hangingPunct="1"/>
            <a:endParaRPr lang="en-US" altLang="zh-TW" dirty="0" smtClean="0">
              <a:sym typeface="Symbol" pitchFamily="18" charset="2"/>
            </a:endParaRPr>
          </a:p>
          <a:p>
            <a:pPr marL="0" indent="0" eaLnBrk="1" hangingPunct="1"/>
            <a:r>
              <a:rPr lang="en-US" altLang="zh-TW" dirty="0" smtClean="0">
                <a:sym typeface="Symbol" pitchFamily="18" charset="2"/>
              </a:rPr>
              <a:t>If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is a directed graph, then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MT Extra" pitchFamily="18" charset="2"/>
              </a:rPr>
              <a:t>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|</a:t>
            </a:r>
            <a:r>
              <a:rPr lang="en-US" altLang="zh-TW" i="1" dirty="0" smtClean="0">
                <a:sym typeface="Symbol" pitchFamily="18" charset="2"/>
              </a:rPr>
              <a:t>E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|</a:t>
            </a:r>
            <a:r>
              <a:rPr lang="en-US" altLang="zh-TW" dirty="0" smtClean="0">
                <a:sym typeface="Symbol" pitchFamily="18" charset="2"/>
              </a:rPr>
              <a:t>.</a:t>
            </a:r>
          </a:p>
          <a:p>
            <a:pPr marL="0" indent="0" eaLnBrk="1" hangingPunct="1"/>
            <a:r>
              <a:rPr lang="en-US" altLang="zh-TW" dirty="0" smtClean="0">
                <a:sym typeface="Symbol" pitchFamily="18" charset="2"/>
              </a:rPr>
              <a:t>If </a:t>
            </a:r>
            <a:r>
              <a:rPr lang="en-US" altLang="zh-TW" i="1" dirty="0" smtClean="0">
                <a:sym typeface="Symbol" pitchFamily="18" charset="2"/>
              </a:rPr>
              <a:t>G</a:t>
            </a:r>
            <a:r>
              <a:rPr lang="en-US" altLang="zh-TW" dirty="0" smtClean="0">
                <a:sym typeface="Symbol" pitchFamily="18" charset="2"/>
              </a:rPr>
              <a:t> is an undirected graph, then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MT Extra" pitchFamily="18" charset="2"/>
              </a:rPr>
              <a:t>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+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deg</a:t>
            </a:r>
            <a:r>
              <a:rPr lang="en-US" altLang="zh-TW" dirty="0" smtClean="0">
                <a:sym typeface="Symbol" pitchFamily="18" charset="2"/>
              </a:rPr>
              <a:t>(</a:t>
            </a:r>
            <a:r>
              <a:rPr lang="en-US" altLang="zh-TW" i="1" dirty="0" err="1" smtClean="0">
                <a:sym typeface="Symbol" pitchFamily="18" charset="2"/>
              </a:rPr>
              <a:t>v</a:t>
            </a:r>
            <a:r>
              <a:rPr lang="en-US" altLang="zh-TW" i="1" baseline="-25000" dirty="0" err="1" smtClean="0">
                <a:sym typeface="Symbol" pitchFamily="18" charset="2"/>
              </a:rPr>
              <a:t>n</a:t>
            </a:r>
            <a:r>
              <a:rPr lang="en-US" altLang="zh-TW" dirty="0" smtClean="0">
                <a:sym typeface="Symbol" pitchFamily="18" charset="2"/>
              </a:rPr>
              <a:t>) 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err="1" smtClean="0">
                <a:sym typeface="Symbol" pitchFamily="18" charset="2"/>
              </a:rPr>
              <a:t>2</a:t>
            </a:r>
            <a:r>
              <a:rPr lang="en-US" altLang="zh-TW" dirty="0" err="1" smtClean="0">
                <a:latin typeface="Symbol" pitchFamily="18" charset="2"/>
                <a:sym typeface="Symbol" pitchFamily="18" charset="2"/>
              </a:rPr>
              <a:t>|</a:t>
            </a:r>
            <a:r>
              <a:rPr lang="en-US" altLang="zh-TW" i="1" dirty="0" err="1" smtClean="0">
                <a:sym typeface="Symbol" pitchFamily="18" charset="2"/>
              </a:rPr>
              <a:t>E</a:t>
            </a:r>
            <a:r>
              <a:rPr lang="en-US" altLang="zh-TW" dirty="0" smtClean="0">
                <a:latin typeface="Symbol" pitchFamily="18" charset="2"/>
                <a:sym typeface="Symbol" pitchFamily="18" charset="2"/>
              </a:rPr>
              <a:t>|</a:t>
            </a:r>
            <a:r>
              <a:rPr lang="en-US" altLang="zh-TW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Shortest </a:t>
            </a:r>
            <a:r>
              <a:rPr lang="en-US" altLang="zh-TW" dirty="0" smtClean="0"/>
              <a:t>Paths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zh-TW" sz="2400" dirty="0">
                <a:solidFill>
                  <a:srgbClr val="000000"/>
                </a:solidFill>
              </a:rPr>
              <a:t>The </a:t>
            </a:r>
            <a:r>
              <a:rPr lang="en-US" altLang="zh-TW" sz="2400" i="1" dirty="0">
                <a:solidFill>
                  <a:srgbClr val="0000FF"/>
                </a:solidFill>
              </a:rPr>
              <a:t>length</a:t>
            </a:r>
            <a:r>
              <a:rPr lang="en-US" altLang="zh-TW" sz="2400" dirty="0">
                <a:solidFill>
                  <a:srgbClr val="000000"/>
                </a:solidFill>
              </a:rPr>
              <a:t> of a path is the number of edges in the path. We define the </a:t>
            </a:r>
            <a:r>
              <a:rPr lang="en-US" altLang="zh-TW" sz="2400" i="1" dirty="0">
                <a:solidFill>
                  <a:srgbClr val="0000FF"/>
                </a:solidFill>
              </a:rPr>
              <a:t>shortest-path distance</a:t>
            </a:r>
            <a:r>
              <a:rPr lang="en-US" altLang="zh-TW" sz="2400" dirty="0">
                <a:solidFill>
                  <a:srgbClr val="000000"/>
                </a:solidFill>
              </a:rPr>
              <a:t> from </a:t>
            </a:r>
            <a:r>
              <a:rPr lang="en-US" altLang="zh-TW" sz="2400" i="1" dirty="0">
                <a:solidFill>
                  <a:srgbClr val="000000"/>
                </a:solidFill>
              </a:rPr>
              <a:t>u</a:t>
            </a:r>
            <a:r>
              <a:rPr lang="en-US" altLang="zh-TW" sz="2400" dirty="0">
                <a:solidFill>
                  <a:srgbClr val="000000"/>
                </a:solidFill>
              </a:rPr>
              <a:t> to </a:t>
            </a:r>
            <a:r>
              <a:rPr lang="en-US" altLang="zh-TW" sz="2400" i="1" dirty="0">
                <a:solidFill>
                  <a:srgbClr val="000000"/>
                </a:solidFill>
              </a:rPr>
              <a:t>v</a:t>
            </a:r>
            <a:r>
              <a:rPr lang="en-US" altLang="zh-TW" sz="2400" dirty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</a:rPr>
              <a:t>by</a:t>
            </a:r>
            <a:endParaRPr lang="en-US" altLang="zh-TW" sz="2400" b="1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zh-TW" sz="2400" dirty="0">
                <a:solidFill>
                  <a:srgbClr val="000000"/>
                </a:solidFill>
              </a:rPr>
              <a:t>A path from </a:t>
            </a:r>
            <a:r>
              <a:rPr lang="en-US" altLang="zh-TW" sz="2400" i="1" dirty="0">
                <a:solidFill>
                  <a:srgbClr val="000000"/>
                </a:solidFill>
              </a:rPr>
              <a:t>u</a:t>
            </a:r>
            <a:r>
              <a:rPr lang="en-US" altLang="zh-TW" sz="2400" dirty="0">
                <a:solidFill>
                  <a:srgbClr val="000000"/>
                </a:solidFill>
              </a:rPr>
              <a:t> to </a:t>
            </a:r>
            <a:r>
              <a:rPr lang="en-US" altLang="zh-TW" sz="2400" i="1" dirty="0">
                <a:solidFill>
                  <a:srgbClr val="000000"/>
                </a:solidFill>
              </a:rPr>
              <a:t>v</a:t>
            </a:r>
            <a:r>
              <a:rPr lang="en-US" altLang="zh-TW" sz="2400" dirty="0">
                <a:solidFill>
                  <a:srgbClr val="000000"/>
                </a:solidFill>
              </a:rPr>
              <a:t> is a </a:t>
            </a:r>
            <a:r>
              <a:rPr lang="en-US" altLang="zh-TW" sz="2400" i="1" dirty="0">
                <a:solidFill>
                  <a:srgbClr val="0000FF"/>
                </a:solidFill>
              </a:rPr>
              <a:t>shortest path</a:t>
            </a:r>
            <a:r>
              <a:rPr lang="en-US" altLang="zh-TW" sz="2400" dirty="0">
                <a:solidFill>
                  <a:srgbClr val="000000"/>
                </a:solidFill>
              </a:rPr>
              <a:t> from </a:t>
            </a:r>
            <a:r>
              <a:rPr lang="en-US" altLang="zh-TW" sz="2400" i="1" dirty="0">
                <a:solidFill>
                  <a:srgbClr val="000000"/>
                </a:solidFill>
              </a:rPr>
              <a:t>u</a:t>
            </a:r>
            <a:r>
              <a:rPr lang="en-US" altLang="zh-TW" sz="2400" dirty="0">
                <a:solidFill>
                  <a:srgbClr val="000000"/>
                </a:solidFill>
              </a:rPr>
              <a:t> to </a:t>
            </a:r>
            <a:r>
              <a:rPr lang="en-US" altLang="zh-TW" sz="2400" i="1" dirty="0">
                <a:solidFill>
                  <a:srgbClr val="000000"/>
                </a:solidFill>
              </a:rPr>
              <a:t>v</a:t>
            </a:r>
            <a:r>
              <a:rPr lang="en-US" altLang="zh-TW" sz="2400" dirty="0">
                <a:solidFill>
                  <a:srgbClr val="000000"/>
                </a:solidFill>
              </a:rPr>
              <a:t> if the length of the path is </a:t>
            </a:r>
            <a:r>
              <a:rPr lang="en-US" altLang="zh-TW" sz="2400" i="1" dirty="0">
                <a:solidFill>
                  <a:srgbClr val="000000"/>
                </a:solidFill>
                <a:sym typeface="Symbol" pitchFamily="18" charset="2"/>
              </a:rPr>
              <a:t></a:t>
            </a:r>
            <a:r>
              <a:rPr lang="en-US" altLang="zh-TW" sz="2400" i="1" dirty="0">
                <a:solidFill>
                  <a:srgbClr val="000000"/>
                </a:solidFill>
              </a:rPr>
              <a:t> </a:t>
            </a:r>
            <a:r>
              <a:rPr lang="en-US" altLang="zh-TW" sz="2400" dirty="0">
                <a:solidFill>
                  <a:srgbClr val="000000"/>
                </a:solidFill>
              </a:rPr>
              <a:t>(</a:t>
            </a:r>
            <a:r>
              <a:rPr lang="en-US" altLang="zh-TW" sz="2400" i="1" dirty="0">
                <a:solidFill>
                  <a:srgbClr val="000000"/>
                </a:solidFill>
              </a:rPr>
              <a:t>u</a:t>
            </a:r>
            <a:r>
              <a:rPr lang="en-US" altLang="zh-TW" sz="2400" dirty="0">
                <a:solidFill>
                  <a:srgbClr val="000000"/>
                </a:solidFill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</a:rPr>
              <a:t>v</a:t>
            </a:r>
            <a:r>
              <a:rPr lang="en-US" altLang="zh-TW" sz="2400" dirty="0" smtClean="0">
                <a:solidFill>
                  <a:srgbClr val="000000"/>
                </a:solidFill>
              </a:rPr>
              <a:t>).</a:t>
            </a:r>
            <a:endParaRPr lang="en-US" altLang="zh-TW" sz="2400" dirty="0">
              <a:solidFill>
                <a:srgbClr val="000000"/>
              </a:solidFill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456744"/>
              </p:ext>
            </p:extLst>
          </p:nvPr>
        </p:nvGraphicFramePr>
        <p:xfrm>
          <a:off x="1692000" y="2529000"/>
          <a:ext cx="540067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方程式" r:id="rId3" imgW="2641320" imgH="660240" progId="Equation.3">
                  <p:embed/>
                </p:oleObj>
              </mc:Choice>
              <mc:Fallback>
                <p:oleObj name="方程式" r:id="rId3" imgW="2641320" imgH="660240" progId="Equation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000" y="2529000"/>
                        <a:ext cx="5400675" cy="1354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6484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idx="1"/>
          </p:nvPr>
        </p:nvSpPr>
        <p:spPr>
          <a:xfrm>
            <a:off x="972000" y="549001"/>
            <a:ext cx="7200000" cy="1620000"/>
          </a:xfrm>
        </p:spPr>
        <p:txBody>
          <a:bodyPr/>
          <a:lstStyle/>
          <a:p>
            <a:pPr marL="0" indent="0" eaLnBrk="1" hangingPunct="1"/>
            <a:r>
              <a:rPr lang="en-US" altLang="zh-TW" i="1" dirty="0" smtClean="0">
                <a:solidFill>
                  <a:srgbClr val="0000FF"/>
                </a:solidFill>
              </a:rPr>
              <a:t>Theorem 1</a:t>
            </a:r>
          </a:p>
          <a:p>
            <a:pPr eaLnBrk="1" hangingPunct="1"/>
            <a:r>
              <a:rPr lang="en-US" altLang="zh-TW" dirty="0" smtClean="0"/>
              <a:t>Let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V, E</a:t>
            </a:r>
            <a:r>
              <a:rPr lang="en-US" altLang="zh-TW" dirty="0" smtClean="0"/>
              <a:t>) be a directed or undirected graph, and suppose that BFS is run on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from a given source node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/>
              <a:t>. Then, upon termination, </a:t>
            </a:r>
            <a:r>
              <a:rPr lang="en-US" altLang="zh-TW" i="1" spc="300" dirty="0" smtClean="0"/>
              <a:t>d</a:t>
            </a:r>
            <a:r>
              <a:rPr lang="en-US" altLang="zh-TW" spc="300" dirty="0" smtClean="0"/>
              <a:t>[</a:t>
            </a:r>
            <a:r>
              <a:rPr lang="en-US" altLang="zh-TW" i="1" spc="300" dirty="0" smtClean="0"/>
              <a:t>v</a:t>
            </a:r>
            <a:r>
              <a:rPr lang="en-US" altLang="zh-TW" dirty="0" smtClean="0"/>
              <a:t>]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(</a:t>
            </a:r>
            <a:r>
              <a:rPr lang="en-US" altLang="zh-TW" i="1" dirty="0" smtClean="0">
                <a:sym typeface="Symbol" pitchFamily="18" charset="2"/>
              </a:rPr>
              <a:t>s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>
                <a:sym typeface="Symbol" pitchFamily="18" charset="2"/>
              </a:rPr>
              <a:t>)</a:t>
            </a:r>
            <a:r>
              <a:rPr lang="en-US" altLang="zh-TW" dirty="0" smtClean="0"/>
              <a:t> for all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/>
              <a:t>.</a:t>
            </a:r>
          </a:p>
        </p:txBody>
      </p:sp>
      <p:cxnSp>
        <p:nvCxnSpPr>
          <p:cNvPr id="55" name="AutoShape 18"/>
          <p:cNvCxnSpPr>
            <a:cxnSpLocks noChangeShapeType="1"/>
            <a:stCxn id="81" idx="7"/>
            <a:endCxn id="78" idx="3"/>
          </p:cNvCxnSpPr>
          <p:nvPr/>
        </p:nvCxnSpPr>
        <p:spPr bwMode="auto">
          <a:xfrm flipV="1">
            <a:off x="5239279" y="409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6" name="Oval 19"/>
          <p:cNvSpPr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80" idx="7"/>
            <a:endCxn id="77" idx="3"/>
          </p:cNvCxnSpPr>
          <p:nvPr/>
        </p:nvCxnSpPr>
        <p:spPr bwMode="auto">
          <a:xfrm flipV="1">
            <a:off x="4159279" y="409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58" name="Text Box 41"/>
          <p:cNvSpPr txBox="1">
            <a:spLocks noChangeArrowheads="1"/>
          </p:cNvSpPr>
          <p:nvPr/>
        </p:nvSpPr>
        <p:spPr bwMode="auto">
          <a:xfrm>
            <a:off x="277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385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60" name="Text Box 45"/>
          <p:cNvSpPr txBox="1">
            <a:spLocks noChangeArrowheads="1"/>
          </p:cNvSpPr>
          <p:nvPr/>
        </p:nvSpPr>
        <p:spPr bwMode="auto">
          <a:xfrm>
            <a:off x="493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61" name="Text Box 46"/>
          <p:cNvSpPr txBox="1">
            <a:spLocks noChangeArrowheads="1"/>
          </p:cNvSpPr>
          <p:nvPr/>
        </p:nvSpPr>
        <p:spPr bwMode="auto">
          <a:xfrm>
            <a:off x="601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62" name="Text Box 47"/>
          <p:cNvSpPr txBox="1">
            <a:spLocks noChangeArrowheads="1"/>
          </p:cNvSpPr>
          <p:nvPr/>
        </p:nvSpPr>
        <p:spPr bwMode="auto">
          <a:xfrm>
            <a:off x="385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3" name="Text Box 48"/>
          <p:cNvSpPr txBox="1">
            <a:spLocks noChangeArrowheads="1"/>
          </p:cNvSpPr>
          <p:nvPr/>
        </p:nvSpPr>
        <p:spPr bwMode="auto">
          <a:xfrm>
            <a:off x="493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6012000" y="34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75" name="Text Box 50"/>
          <p:cNvSpPr txBox="1">
            <a:spLocks noChangeArrowheads="1"/>
          </p:cNvSpPr>
          <p:nvPr/>
        </p:nvSpPr>
        <p:spPr bwMode="auto">
          <a:xfrm>
            <a:off x="2772000" y="52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8" name="Oval 53"/>
          <p:cNvSpPr>
            <a:spLocks noChangeArrowheads="1"/>
          </p:cNvSpPr>
          <p:nvPr/>
        </p:nvSpPr>
        <p:spPr bwMode="auto">
          <a:xfrm>
            <a:off x="601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9" name="Oval 54"/>
          <p:cNvSpPr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0" name="Oval 55"/>
          <p:cNvSpPr>
            <a:spLocks noChangeArrowheads="1"/>
          </p:cNvSpPr>
          <p:nvPr/>
        </p:nvSpPr>
        <p:spPr bwMode="auto">
          <a:xfrm>
            <a:off x="385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1" name="Oval 56"/>
          <p:cNvSpPr>
            <a:spLocks noChangeArrowheads="1"/>
          </p:cNvSpPr>
          <p:nvPr/>
        </p:nvSpPr>
        <p:spPr bwMode="auto">
          <a:xfrm>
            <a:off x="493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2" name="Oval 57"/>
          <p:cNvSpPr>
            <a:spLocks noChangeArrowheads="1"/>
          </p:cNvSpPr>
          <p:nvPr/>
        </p:nvSpPr>
        <p:spPr bwMode="auto">
          <a:xfrm>
            <a:off x="6012000" y="48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84" name="AutoShape 24"/>
          <p:cNvCxnSpPr>
            <a:cxnSpLocks noChangeShapeType="1"/>
            <a:stCxn id="76" idx="4"/>
            <a:endCxn id="80" idx="0"/>
          </p:cNvCxnSpPr>
          <p:nvPr/>
        </p:nvCxnSpPr>
        <p:spPr bwMode="auto">
          <a:xfrm>
            <a:off x="4032000" y="414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85" name="AutoShape 24"/>
          <p:cNvCxnSpPr>
            <a:cxnSpLocks noChangeShapeType="1"/>
            <a:stCxn id="80" idx="6"/>
            <a:endCxn id="81" idx="2"/>
          </p:cNvCxnSpPr>
          <p:nvPr/>
        </p:nvCxnSpPr>
        <p:spPr bwMode="auto">
          <a:xfrm>
            <a:off x="421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86" name="AutoShape 24"/>
          <p:cNvCxnSpPr>
            <a:cxnSpLocks noChangeShapeType="1"/>
            <a:stCxn id="81" idx="0"/>
            <a:endCxn id="77" idx="4"/>
          </p:cNvCxnSpPr>
          <p:nvPr/>
        </p:nvCxnSpPr>
        <p:spPr bwMode="auto">
          <a:xfrm flipV="1">
            <a:off x="5112000" y="414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87" name="AutoShape 24"/>
          <p:cNvCxnSpPr>
            <a:cxnSpLocks noChangeShapeType="1"/>
            <a:stCxn id="76" idx="2"/>
            <a:endCxn id="56" idx="6"/>
          </p:cNvCxnSpPr>
          <p:nvPr/>
        </p:nvCxnSpPr>
        <p:spPr bwMode="auto">
          <a:xfrm flipH="1">
            <a:off x="313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88" name="AutoShape 24"/>
          <p:cNvCxnSpPr>
            <a:cxnSpLocks noChangeShapeType="1"/>
            <a:stCxn id="56" idx="4"/>
            <a:endCxn id="79" idx="0"/>
          </p:cNvCxnSpPr>
          <p:nvPr/>
        </p:nvCxnSpPr>
        <p:spPr bwMode="auto">
          <a:xfrm>
            <a:off x="2952000" y="414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89" name="AutoShape 24"/>
          <p:cNvCxnSpPr>
            <a:cxnSpLocks noChangeShapeType="1"/>
            <a:stCxn id="77" idx="6"/>
            <a:endCxn id="78" idx="2"/>
          </p:cNvCxnSpPr>
          <p:nvPr/>
        </p:nvCxnSpPr>
        <p:spPr bwMode="auto">
          <a:xfrm>
            <a:off x="5292000" y="396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0" name="AutoShape 24"/>
          <p:cNvCxnSpPr>
            <a:cxnSpLocks noChangeShapeType="1"/>
            <a:stCxn id="81" idx="6"/>
            <a:endCxn id="82" idx="2"/>
          </p:cNvCxnSpPr>
          <p:nvPr/>
        </p:nvCxnSpPr>
        <p:spPr bwMode="auto">
          <a:xfrm>
            <a:off x="5292000" y="5049000"/>
            <a:ext cx="72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4" name="AutoShape 24"/>
          <p:cNvCxnSpPr>
            <a:cxnSpLocks noChangeShapeType="1"/>
            <a:stCxn id="82" idx="0"/>
            <a:endCxn id="78" idx="4"/>
          </p:cNvCxnSpPr>
          <p:nvPr/>
        </p:nvCxnSpPr>
        <p:spPr bwMode="auto">
          <a:xfrm flipV="1">
            <a:off x="6192000" y="414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9984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5"/>
          <p:cNvSpPr>
            <a:spLocks noGrp="1" noChangeArrowheads="1"/>
          </p:cNvSpPr>
          <p:nvPr>
            <p:ph idx="1"/>
          </p:nvPr>
        </p:nvSpPr>
        <p:spPr>
          <a:xfrm>
            <a:off x="1512000" y="909001"/>
            <a:ext cx="6120000" cy="1979999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For a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) with source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we define the </a:t>
            </a:r>
            <a:r>
              <a:rPr lang="en-US" altLang="zh-TW" i="1" dirty="0" smtClean="0">
                <a:solidFill>
                  <a:srgbClr val="0000FF"/>
                </a:solidFill>
              </a:rPr>
              <a:t>predecessor subgraph</a:t>
            </a:r>
            <a:r>
              <a:rPr lang="en-US" altLang="zh-TW" dirty="0" smtClean="0"/>
              <a:t> of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as </a:t>
            </a:r>
            <a:r>
              <a:rPr lang="en-US" altLang="zh-TW" i="1" dirty="0" smtClean="0"/>
              <a:t>T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(</a:t>
            </a:r>
            <a:r>
              <a:rPr lang="en-US" altLang="zh-TW" i="1" spc="300" dirty="0" smtClean="0">
                <a:sym typeface="Symbol" pitchFamily="18" charset="2"/>
              </a:rPr>
              <a:t>V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spc="300" dirty="0" smtClean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ym typeface="Symbol" pitchFamily="18" charset="2"/>
              </a:rPr>
              <a:t>),</a:t>
            </a:r>
            <a:r>
              <a:rPr lang="en-US" altLang="zh-TW" dirty="0" smtClean="0"/>
              <a:t> where</a:t>
            </a:r>
          </a:p>
          <a:p>
            <a:pPr eaLnBrk="1" hangingPunct="1"/>
            <a:r>
              <a:rPr lang="en-US" altLang="zh-TW" i="1" dirty="0" smtClean="0"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{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dirty="0" smtClean="0">
                <a:sym typeface="Symbol" pitchFamily="18" charset="2"/>
              </a:rPr>
              <a:t>V</a:t>
            </a:r>
            <a:r>
              <a:rPr lang="en-US" altLang="zh-TW" dirty="0" smtClean="0">
                <a:sym typeface="Symbol" pitchFamily="18" charset="2"/>
              </a:rPr>
              <a:t> :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≠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 smtClean="0">
                <a:sym typeface="Symbol" pitchFamily="18" charset="2"/>
              </a:rPr>
              <a:t>1}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MT Extra" pitchFamily="18" charset="2"/>
              </a:rPr>
              <a:t>⋃</a:t>
            </a:r>
            <a:r>
              <a:rPr lang="en-US" altLang="zh-TW" dirty="0" smtClean="0">
                <a:sym typeface="MT Extra" pitchFamily="18" charset="2"/>
              </a:rPr>
              <a:t> {</a:t>
            </a:r>
            <a:r>
              <a:rPr lang="en-US" altLang="zh-TW" i="1" dirty="0" smtClean="0">
                <a:sym typeface="MT Extra" pitchFamily="18" charset="2"/>
              </a:rPr>
              <a:t>s</a:t>
            </a:r>
            <a:r>
              <a:rPr lang="en-US" altLang="zh-TW" dirty="0" smtClean="0">
                <a:sym typeface="MT Extra" pitchFamily="18" charset="2"/>
              </a:rPr>
              <a:t>} and</a:t>
            </a:r>
          </a:p>
          <a:p>
            <a:pPr eaLnBrk="1" hangingPunct="1"/>
            <a:r>
              <a:rPr lang="en-US" altLang="zh-TW" i="1" dirty="0" smtClean="0">
                <a:sym typeface="Symbol" pitchFamily="18" charset="2"/>
              </a:rPr>
              <a:t>      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{</a:t>
            </a:r>
            <a:r>
              <a:rPr lang="en-US" altLang="zh-TW" spc="300" dirty="0" smtClean="0"/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</a:t>
            </a:r>
            <a:r>
              <a:rPr lang="en-US" altLang="zh-TW" dirty="0">
                <a:solidFill>
                  <a:srgbClr val="000000"/>
                </a:solidFill>
                <a:ea typeface="新細明體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ea typeface="新細明體"/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ea typeface="新細明體"/>
                <a:sym typeface="Symbol" pitchFamily="18" charset="2"/>
              </a:rPr>
              <a:t>E</a:t>
            </a:r>
            <a:r>
              <a:rPr lang="en-US" altLang="zh-TW" dirty="0" smtClean="0"/>
              <a:t> :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MT Extra" pitchFamily="18" charset="2"/>
              </a:rPr>
              <a:t>{</a:t>
            </a:r>
            <a:r>
              <a:rPr lang="en-US" altLang="zh-TW" i="1" dirty="0" smtClean="0">
                <a:sym typeface="MT Extra" pitchFamily="18" charset="2"/>
              </a:rPr>
              <a:t>s</a:t>
            </a:r>
            <a:r>
              <a:rPr lang="en-US" altLang="zh-TW" dirty="0" smtClean="0">
                <a:sym typeface="MT Extra" pitchFamily="18" charset="2"/>
              </a:rPr>
              <a:t>}}.</a:t>
            </a:r>
            <a:endParaRPr lang="en-US" altLang="zh-TW" dirty="0" smtClean="0"/>
          </a:p>
          <a:p>
            <a:pPr marL="0" indent="0" eaLnBrk="1" hangingPunct="1"/>
            <a:r>
              <a:rPr lang="en-US" altLang="zh-TW" dirty="0" smtClean="0"/>
              <a:t>The edges in </a:t>
            </a:r>
            <a:r>
              <a:rPr lang="en-US" altLang="zh-TW" i="1" dirty="0" smtClean="0">
                <a:sym typeface="Symbol" pitchFamily="18" charset="2"/>
              </a:rPr>
              <a:t>E</a:t>
            </a:r>
            <a:r>
              <a:rPr lang="en-US" altLang="zh-TW" baseline="-25000" dirty="0" smtClean="0">
                <a:sym typeface="Symbol" pitchFamily="18" charset="2"/>
              </a:rPr>
              <a:t></a:t>
            </a:r>
            <a:r>
              <a:rPr lang="en-US" altLang="zh-TW" dirty="0" smtClean="0"/>
              <a:t> are called </a:t>
            </a:r>
            <a:r>
              <a:rPr lang="en-US" altLang="zh-TW" i="1" dirty="0" smtClean="0">
                <a:solidFill>
                  <a:srgbClr val="0000FF"/>
                </a:solidFill>
              </a:rPr>
              <a:t>tree edges</a:t>
            </a:r>
            <a:r>
              <a:rPr lang="en-US" altLang="zh-TW" dirty="0" smtClean="0"/>
              <a:t>.</a:t>
            </a:r>
            <a:endParaRPr lang="en-US" altLang="zh-TW" b="1" dirty="0" smtClean="0"/>
          </a:p>
        </p:txBody>
      </p:sp>
      <p:sp>
        <p:nvSpPr>
          <p:cNvPr id="136196" name="Text Box 10"/>
          <p:cNvSpPr txBox="1">
            <a:spLocks noChangeArrowheads="1"/>
          </p:cNvSpPr>
          <p:nvPr/>
        </p:nvSpPr>
        <p:spPr bwMode="auto">
          <a:xfrm>
            <a:off x="6372000" y="5949000"/>
            <a:ext cx="720000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>
            <a:noAutofit/>
          </a:bodyPr>
          <a:lstStyle/>
          <a:p>
            <a:pPr algn="ctr"/>
            <a:r>
              <a:rPr lang="en-US" altLang="zh-TW" sz="3200" i="1" dirty="0" smtClean="0"/>
              <a:t>T</a:t>
            </a:r>
            <a:endParaRPr lang="en-US" altLang="zh-TW" sz="3200" baseline="-25000" dirty="0">
              <a:sym typeface="Symbol" pitchFamily="18" charset="2"/>
            </a:endParaRPr>
          </a:p>
        </p:txBody>
      </p:sp>
      <p:cxnSp>
        <p:nvCxnSpPr>
          <p:cNvPr id="109" name="AutoShape 18"/>
          <p:cNvCxnSpPr>
            <a:cxnSpLocks noChangeShapeType="1"/>
            <a:stCxn id="125" idx="7"/>
            <a:endCxn id="122" idx="3"/>
          </p:cNvCxnSpPr>
          <p:nvPr/>
        </p:nvCxnSpPr>
        <p:spPr bwMode="auto">
          <a:xfrm flipV="1">
            <a:off x="2899279" y="42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110" name="Oval 19"/>
          <p:cNvSpPr>
            <a:spLocks noChangeArrowheads="1"/>
          </p:cNvSpPr>
          <p:nvPr/>
        </p:nvSpPr>
        <p:spPr bwMode="auto">
          <a:xfrm>
            <a:off x="43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111" name="AutoShape 24"/>
          <p:cNvCxnSpPr>
            <a:cxnSpLocks noChangeShapeType="1"/>
            <a:stCxn id="124" idx="7"/>
            <a:endCxn id="121" idx="3"/>
          </p:cNvCxnSpPr>
          <p:nvPr/>
        </p:nvCxnSpPr>
        <p:spPr bwMode="auto">
          <a:xfrm flipV="1">
            <a:off x="1819279" y="427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112" name="Text Box 41"/>
          <p:cNvSpPr txBox="1">
            <a:spLocks noChangeArrowheads="1"/>
          </p:cNvSpPr>
          <p:nvPr/>
        </p:nvSpPr>
        <p:spPr bwMode="auto">
          <a:xfrm>
            <a:off x="43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13" name="Text Box 44"/>
          <p:cNvSpPr txBox="1">
            <a:spLocks noChangeArrowheads="1"/>
          </p:cNvSpPr>
          <p:nvPr/>
        </p:nvSpPr>
        <p:spPr bwMode="auto">
          <a:xfrm>
            <a:off x="151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4" name="Text Box 45"/>
          <p:cNvSpPr txBox="1">
            <a:spLocks noChangeArrowheads="1"/>
          </p:cNvSpPr>
          <p:nvPr/>
        </p:nvSpPr>
        <p:spPr bwMode="auto">
          <a:xfrm>
            <a:off x="259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5" name="Text Box 46"/>
          <p:cNvSpPr txBox="1">
            <a:spLocks noChangeArrowheads="1"/>
          </p:cNvSpPr>
          <p:nvPr/>
        </p:nvSpPr>
        <p:spPr bwMode="auto">
          <a:xfrm>
            <a:off x="36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6" name="Text Box 47"/>
          <p:cNvSpPr txBox="1">
            <a:spLocks noChangeArrowheads="1"/>
          </p:cNvSpPr>
          <p:nvPr/>
        </p:nvSpPr>
        <p:spPr bwMode="auto">
          <a:xfrm>
            <a:off x="15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7" name="Text Box 48"/>
          <p:cNvSpPr txBox="1">
            <a:spLocks noChangeArrowheads="1"/>
          </p:cNvSpPr>
          <p:nvPr/>
        </p:nvSpPr>
        <p:spPr bwMode="auto">
          <a:xfrm>
            <a:off x="25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18" name="Text Box 49"/>
          <p:cNvSpPr txBox="1"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19" name="Text Box 50"/>
          <p:cNvSpPr txBox="1">
            <a:spLocks noChangeArrowheads="1"/>
          </p:cNvSpPr>
          <p:nvPr/>
        </p:nvSpPr>
        <p:spPr bwMode="auto">
          <a:xfrm>
            <a:off x="43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20" name="Oval 51"/>
          <p:cNvSpPr>
            <a:spLocks noChangeArrowheads="1"/>
          </p:cNvSpPr>
          <p:nvPr/>
        </p:nvSpPr>
        <p:spPr bwMode="auto">
          <a:xfrm>
            <a:off x="15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1" name="Oval 52"/>
          <p:cNvSpPr>
            <a:spLocks noChangeArrowheads="1"/>
          </p:cNvSpPr>
          <p:nvPr/>
        </p:nvSpPr>
        <p:spPr bwMode="auto">
          <a:xfrm>
            <a:off x="25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2" name="Oval 53"/>
          <p:cNvSpPr>
            <a:spLocks noChangeArrowheads="1"/>
          </p:cNvSpPr>
          <p:nvPr/>
        </p:nvSpPr>
        <p:spPr bwMode="auto">
          <a:xfrm>
            <a:off x="36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3" name="Oval 54"/>
          <p:cNvSpPr>
            <a:spLocks noChangeArrowheads="1"/>
          </p:cNvSpPr>
          <p:nvPr/>
        </p:nvSpPr>
        <p:spPr bwMode="auto">
          <a:xfrm>
            <a:off x="4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4" name="Oval 55"/>
          <p:cNvSpPr>
            <a:spLocks noChangeArrowheads="1"/>
          </p:cNvSpPr>
          <p:nvPr/>
        </p:nvSpPr>
        <p:spPr bwMode="auto">
          <a:xfrm>
            <a:off x="15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5" name="Oval 56"/>
          <p:cNvSpPr>
            <a:spLocks noChangeArrowheads="1"/>
          </p:cNvSpPr>
          <p:nvPr/>
        </p:nvSpPr>
        <p:spPr bwMode="auto">
          <a:xfrm>
            <a:off x="25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6" name="Oval 57"/>
          <p:cNvSpPr>
            <a:spLocks noChangeArrowheads="1"/>
          </p:cNvSpPr>
          <p:nvPr/>
        </p:nvSpPr>
        <p:spPr bwMode="auto">
          <a:xfrm>
            <a:off x="36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27" name="AutoShape 24"/>
          <p:cNvCxnSpPr>
            <a:cxnSpLocks noChangeShapeType="1"/>
            <a:stCxn id="120" idx="4"/>
            <a:endCxn id="124" idx="0"/>
          </p:cNvCxnSpPr>
          <p:nvPr/>
        </p:nvCxnSpPr>
        <p:spPr bwMode="auto">
          <a:xfrm>
            <a:off x="169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28" name="AutoShape 24"/>
          <p:cNvCxnSpPr>
            <a:cxnSpLocks noChangeShapeType="1"/>
            <a:stCxn id="124" idx="6"/>
            <a:endCxn id="125" idx="2"/>
          </p:cNvCxnSpPr>
          <p:nvPr/>
        </p:nvCxnSpPr>
        <p:spPr bwMode="auto">
          <a:xfrm>
            <a:off x="187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29" name="AutoShape 24"/>
          <p:cNvCxnSpPr>
            <a:cxnSpLocks noChangeShapeType="1"/>
            <a:stCxn id="125" idx="0"/>
            <a:endCxn id="121" idx="4"/>
          </p:cNvCxnSpPr>
          <p:nvPr/>
        </p:nvCxnSpPr>
        <p:spPr bwMode="auto">
          <a:xfrm flipV="1">
            <a:off x="277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30" name="AutoShape 24"/>
          <p:cNvCxnSpPr>
            <a:cxnSpLocks noChangeShapeType="1"/>
            <a:stCxn id="120" idx="2"/>
            <a:endCxn id="110" idx="6"/>
          </p:cNvCxnSpPr>
          <p:nvPr/>
        </p:nvCxnSpPr>
        <p:spPr bwMode="auto">
          <a:xfrm flipH="1">
            <a:off x="79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1" name="AutoShape 24"/>
          <p:cNvCxnSpPr>
            <a:cxnSpLocks noChangeShapeType="1"/>
            <a:stCxn id="110" idx="4"/>
            <a:endCxn id="123" idx="0"/>
          </p:cNvCxnSpPr>
          <p:nvPr/>
        </p:nvCxnSpPr>
        <p:spPr bwMode="auto">
          <a:xfrm>
            <a:off x="61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2" name="AutoShape 24"/>
          <p:cNvCxnSpPr>
            <a:cxnSpLocks noChangeShapeType="1"/>
            <a:stCxn id="121" idx="6"/>
            <a:endCxn id="122" idx="2"/>
          </p:cNvCxnSpPr>
          <p:nvPr/>
        </p:nvCxnSpPr>
        <p:spPr bwMode="auto">
          <a:xfrm>
            <a:off x="295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3" name="AutoShape 24"/>
          <p:cNvCxnSpPr>
            <a:cxnSpLocks noChangeShapeType="1"/>
            <a:stCxn id="125" idx="6"/>
            <a:endCxn id="126" idx="2"/>
          </p:cNvCxnSpPr>
          <p:nvPr/>
        </p:nvCxnSpPr>
        <p:spPr bwMode="auto">
          <a:xfrm>
            <a:off x="295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4" name="AutoShape 24"/>
          <p:cNvCxnSpPr>
            <a:cxnSpLocks noChangeShapeType="1"/>
            <a:stCxn id="126" idx="0"/>
            <a:endCxn id="122" idx="4"/>
          </p:cNvCxnSpPr>
          <p:nvPr/>
        </p:nvCxnSpPr>
        <p:spPr bwMode="auto">
          <a:xfrm flipV="1">
            <a:off x="385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35" name="AutoShape 18"/>
          <p:cNvCxnSpPr>
            <a:cxnSpLocks noChangeShapeType="1"/>
            <a:stCxn id="151" idx="7"/>
            <a:endCxn id="148" idx="3"/>
          </p:cNvCxnSpPr>
          <p:nvPr/>
        </p:nvCxnSpPr>
        <p:spPr bwMode="auto">
          <a:xfrm flipV="1">
            <a:off x="7579279" y="42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136" name="Oval 1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137" name="AutoShape 24"/>
          <p:cNvCxnSpPr>
            <a:cxnSpLocks noChangeShapeType="1"/>
            <a:stCxn id="150" idx="7"/>
            <a:endCxn id="147" idx="3"/>
          </p:cNvCxnSpPr>
          <p:nvPr/>
        </p:nvCxnSpPr>
        <p:spPr bwMode="auto">
          <a:xfrm flipV="1">
            <a:off x="6499279" y="4276279"/>
            <a:ext cx="825442" cy="82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sp>
        <p:nvSpPr>
          <p:cNvPr id="138" name="Text Box 41"/>
          <p:cNvSpPr txBox="1">
            <a:spLocks noChangeArrowheads="1"/>
          </p:cNvSpPr>
          <p:nvPr/>
        </p:nvSpPr>
        <p:spPr bwMode="auto">
          <a:xfrm>
            <a:off x="51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39" name="Text Box 44"/>
          <p:cNvSpPr txBox="1">
            <a:spLocks noChangeArrowheads="1"/>
          </p:cNvSpPr>
          <p:nvPr/>
        </p:nvSpPr>
        <p:spPr bwMode="auto">
          <a:xfrm>
            <a:off x="619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40" name="Text Box 45"/>
          <p:cNvSpPr txBox="1"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41" name="Text Box 46"/>
          <p:cNvSpPr txBox="1">
            <a:spLocks noChangeArrowheads="1"/>
          </p:cNvSpPr>
          <p:nvPr/>
        </p:nvSpPr>
        <p:spPr bwMode="auto">
          <a:xfrm>
            <a:off x="835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42" name="Text Box 47"/>
          <p:cNvSpPr txBox="1">
            <a:spLocks noChangeArrowheads="1"/>
          </p:cNvSpPr>
          <p:nvPr/>
        </p:nvSpPr>
        <p:spPr bwMode="auto">
          <a:xfrm>
            <a:off x="61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43" name="Text Box 48"/>
          <p:cNvSpPr txBox="1">
            <a:spLocks noChangeArrowheads="1"/>
          </p:cNvSpPr>
          <p:nvPr/>
        </p:nvSpPr>
        <p:spPr bwMode="auto">
          <a:xfrm>
            <a:off x="72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44" name="Text Box 49"/>
          <p:cNvSpPr txBox="1">
            <a:spLocks noChangeArrowheads="1"/>
          </p:cNvSpPr>
          <p:nvPr/>
        </p:nvSpPr>
        <p:spPr bwMode="auto">
          <a:xfrm>
            <a:off x="83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5" name="Text Box 50"/>
          <p:cNvSpPr txBox="1"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4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47" name="Oval 52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48" name="Oval 53"/>
          <p:cNvSpPr>
            <a:spLocks noChangeArrowheads="1"/>
          </p:cNvSpPr>
          <p:nvPr/>
        </p:nvSpPr>
        <p:spPr bwMode="auto">
          <a:xfrm>
            <a:off x="83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49" name="Oval 54"/>
          <p:cNvSpPr>
            <a:spLocks noChangeArrowheads="1"/>
          </p:cNvSpPr>
          <p:nvPr/>
        </p:nvSpPr>
        <p:spPr bwMode="auto">
          <a:xfrm>
            <a:off x="51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0" name="Oval 55"/>
          <p:cNvSpPr>
            <a:spLocks noChangeArrowheads="1"/>
          </p:cNvSpPr>
          <p:nvPr/>
        </p:nvSpPr>
        <p:spPr bwMode="auto">
          <a:xfrm>
            <a:off x="61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1" name="Oval 56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2" name="Oval 57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53" name="AutoShape 24"/>
          <p:cNvCxnSpPr>
            <a:cxnSpLocks noChangeShapeType="1"/>
            <a:stCxn id="146" idx="4"/>
            <a:endCxn id="150" idx="0"/>
          </p:cNvCxnSpPr>
          <p:nvPr/>
        </p:nvCxnSpPr>
        <p:spPr bwMode="auto">
          <a:xfrm>
            <a:off x="637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4" name="AutoShape 24"/>
          <p:cNvCxnSpPr>
            <a:cxnSpLocks noChangeShapeType="1"/>
            <a:stCxn id="150" idx="6"/>
            <a:endCxn id="151" idx="2"/>
          </p:cNvCxnSpPr>
          <p:nvPr/>
        </p:nvCxnSpPr>
        <p:spPr bwMode="auto">
          <a:xfrm>
            <a:off x="655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5" name="AutoShape 24"/>
          <p:cNvCxnSpPr>
            <a:cxnSpLocks noChangeShapeType="1"/>
            <a:stCxn id="151" idx="0"/>
            <a:endCxn id="147" idx="4"/>
          </p:cNvCxnSpPr>
          <p:nvPr/>
        </p:nvCxnSpPr>
        <p:spPr bwMode="auto">
          <a:xfrm flipV="1">
            <a:off x="745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56" name="AutoShape 24"/>
          <p:cNvCxnSpPr>
            <a:cxnSpLocks noChangeShapeType="1"/>
            <a:stCxn id="146" idx="2"/>
            <a:endCxn id="136" idx="6"/>
          </p:cNvCxnSpPr>
          <p:nvPr/>
        </p:nvCxnSpPr>
        <p:spPr bwMode="auto">
          <a:xfrm flipH="1">
            <a:off x="547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7" name="AutoShape 24"/>
          <p:cNvCxnSpPr>
            <a:cxnSpLocks noChangeShapeType="1"/>
            <a:stCxn id="136" idx="4"/>
            <a:endCxn id="149" idx="0"/>
          </p:cNvCxnSpPr>
          <p:nvPr/>
        </p:nvCxnSpPr>
        <p:spPr bwMode="auto">
          <a:xfrm>
            <a:off x="529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8" name="AutoShape 24"/>
          <p:cNvCxnSpPr>
            <a:cxnSpLocks noChangeShapeType="1"/>
            <a:stCxn id="147" idx="6"/>
            <a:endCxn id="148" idx="2"/>
          </p:cNvCxnSpPr>
          <p:nvPr/>
        </p:nvCxnSpPr>
        <p:spPr bwMode="auto">
          <a:xfrm>
            <a:off x="763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9" name="AutoShape 24"/>
          <p:cNvCxnSpPr>
            <a:cxnSpLocks noChangeShapeType="1"/>
            <a:stCxn id="151" idx="6"/>
            <a:endCxn id="152" idx="2"/>
          </p:cNvCxnSpPr>
          <p:nvPr/>
        </p:nvCxnSpPr>
        <p:spPr bwMode="auto">
          <a:xfrm>
            <a:off x="763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60" name="AutoShape 24"/>
          <p:cNvCxnSpPr>
            <a:cxnSpLocks noChangeShapeType="1"/>
            <a:stCxn id="152" idx="0"/>
            <a:endCxn id="148" idx="4"/>
          </p:cNvCxnSpPr>
          <p:nvPr/>
        </p:nvCxnSpPr>
        <p:spPr bwMode="auto">
          <a:xfrm flipV="1">
            <a:off x="853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7" name="Text Box 9"/>
          <p:cNvSpPr txBox="1">
            <a:spLocks noChangeArrowheads="1"/>
          </p:cNvSpPr>
          <p:nvPr/>
        </p:nvSpPr>
        <p:spPr bwMode="auto">
          <a:xfrm>
            <a:off x="1692000" y="594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 anchor="ctr" anchorCtr="1">
            <a:noAutofit/>
          </a:bodyPr>
          <a:lstStyle/>
          <a:p>
            <a:pPr algn="ctr"/>
            <a:r>
              <a:rPr lang="en-US" altLang="zh-TW" sz="2200" i="1" dirty="0">
                <a:latin typeface="+mn-lt"/>
                <a:sym typeface="Symbol" pitchFamily="18" charset="2"/>
              </a:rPr>
              <a:t>parent</a:t>
            </a:r>
          </a:p>
        </p:txBody>
      </p:sp>
    </p:spTree>
    <p:extLst>
      <p:ext uri="{BB962C8B-B14F-4D97-AF65-F5344CB8AC3E}">
        <p14:creationId xmlns:p14="http://schemas.microsoft.com/office/powerpoint/2010/main" val="351186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{</a:t>
            </a:r>
            <a:r>
              <a:rPr lang="en-US" altLang="zh-TW" spc="300" dirty="0" smtClean="0"/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) :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 smtClean="0">
                <a:sym typeface="Symbol" pitchFamily="18" charset="2"/>
              </a:rPr>
              <a:t> </a:t>
            </a:r>
            <a:r>
              <a:rPr lang="en-US" altLang="zh-TW" dirty="0" smtClean="0">
                <a:sym typeface="MT Extra" pitchFamily="18" charset="2"/>
              </a:rPr>
              <a:t>{</a:t>
            </a:r>
            <a:r>
              <a:rPr lang="en-US" altLang="zh-TW" i="1" dirty="0" smtClean="0">
                <a:sym typeface="MT Extra" pitchFamily="18" charset="2"/>
              </a:rPr>
              <a:t>s</a:t>
            </a:r>
            <a:r>
              <a:rPr lang="en-US" altLang="zh-TW" dirty="0" smtClean="0">
                <a:sym typeface="MT Extra" pitchFamily="18" charset="2"/>
              </a:rPr>
              <a:t>}}.</a:t>
            </a:r>
          </a:p>
          <a:p>
            <a:pPr eaLnBrk="1" hangingPunct="1"/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i="1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1,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5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[6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5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0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US" altLang="zh-TW" dirty="0" smtClean="0">
                <a:sym typeface="Symbol" pitchFamily="18" charset="2"/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[7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6</a:t>
            </a:r>
            <a:r>
              <a:rPr lang="en-US" altLang="zh-TW" dirty="0" smtClean="0">
                <a:sym typeface="Symbol" pitchFamily="18" charset="2"/>
              </a:rPr>
              <a:t>.</a:t>
            </a:r>
          </a:p>
          <a:p>
            <a:pPr marL="0" indent="0" eaLnBrk="1" hangingPunct="1">
              <a:tabLst>
                <a:tab pos="361950" algn="l"/>
                <a:tab pos="809625" algn="l"/>
              </a:tabLst>
            </a:pPr>
            <a:endParaRPr lang="en-US" altLang="zh-TW" sz="1200" dirty="0" smtClean="0">
              <a:sym typeface="MT Extra" pitchFamily="18" charset="2"/>
            </a:endParaRPr>
          </a:p>
          <a:p>
            <a:pPr eaLnBrk="1" hangingPunct="1">
              <a:tabLst>
                <a:tab pos="361950" algn="l"/>
              </a:tabLst>
            </a:pP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/>
              <a:t>	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{</a:t>
            </a:r>
            <a:r>
              <a:rPr lang="en-US" altLang="zh-TW" spc="300" dirty="0" smtClean="0"/>
              <a:t>(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>
                <a:solidFill>
                  <a:srgbClr val="000000"/>
                </a:solidFill>
                <a:ea typeface="細明體" panose="02020509000000000000" pitchFamily="49" charset="-120"/>
              </a:rPr>
              <a:t>[5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, 5),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1),</a:t>
            </a:r>
            <a:r>
              <a:rPr lang="en-US" altLang="zh-TW" spc="300" dirty="0">
                <a:solidFill>
                  <a:srgbClr val="000000"/>
                </a:solidFill>
              </a:rPr>
              <a:t> 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[2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2),</a:t>
            </a:r>
            <a:r>
              <a:rPr lang="en-US" altLang="zh-TW" spc="300" dirty="0">
                <a:solidFill>
                  <a:srgbClr val="000000"/>
                </a:solidFill>
              </a:rPr>
              <a:t> 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[6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6),</a:t>
            </a:r>
            <a:r>
              <a:rPr lang="en-US" altLang="zh-TW" spc="300" dirty="0">
                <a:solidFill>
                  <a:srgbClr val="000000"/>
                </a:solidFill>
              </a:rPr>
              <a:t> 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[4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4),</a:t>
            </a:r>
            <a:r>
              <a:rPr lang="en-US" altLang="zh-TW" dirty="0" smtClean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[3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3),</a:t>
            </a:r>
            <a:r>
              <a:rPr lang="en-US" altLang="zh-TW" dirty="0" smtClean="0"/>
              <a:t> </a:t>
            </a:r>
            <a:r>
              <a:rPr lang="en-US" altLang="zh-TW" spc="300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spc="1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[7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, 7)</a:t>
            </a:r>
            <a:r>
              <a:rPr lang="en-US" altLang="zh-TW" dirty="0" smtClean="0"/>
              <a:t>}</a:t>
            </a:r>
          </a:p>
          <a:p>
            <a:pPr eaLnBrk="1" hangingPunct="1">
              <a:tabLst>
                <a:tab pos="361950" algn="l"/>
              </a:tabLst>
            </a:pPr>
            <a:r>
              <a:rPr lang="en-US" altLang="zh-TW" dirty="0" smtClean="0"/>
              <a:t>	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{(1, 5), (1, 0), (5, 2), (5, 6), (0, 4), (2, 3), (6, 7)}.</a:t>
            </a:r>
          </a:p>
        </p:txBody>
      </p:sp>
      <p:sp>
        <p:nvSpPr>
          <p:cNvPr id="57" name="Text Box 9"/>
          <p:cNvSpPr txBox="1">
            <a:spLocks noChangeArrowheads="1"/>
          </p:cNvSpPr>
          <p:nvPr/>
        </p:nvSpPr>
        <p:spPr bwMode="auto">
          <a:xfrm>
            <a:off x="1692000" y="594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 anchor="ctr" anchorCtr="1">
            <a:noAutofit/>
          </a:bodyPr>
          <a:lstStyle/>
          <a:p>
            <a:pPr algn="ctr"/>
            <a:r>
              <a:rPr lang="en-US" altLang="zh-TW" sz="2200" i="1" dirty="0">
                <a:latin typeface="+mn-lt"/>
                <a:sym typeface="Symbol" pitchFamily="18" charset="2"/>
              </a:rPr>
              <a:t>parent</a:t>
            </a:r>
          </a:p>
        </p:txBody>
      </p:sp>
      <p:sp>
        <p:nvSpPr>
          <p:cNvPr id="58" name="Text Box 10"/>
          <p:cNvSpPr txBox="1">
            <a:spLocks noChangeArrowheads="1"/>
          </p:cNvSpPr>
          <p:nvPr/>
        </p:nvSpPr>
        <p:spPr bwMode="auto">
          <a:xfrm>
            <a:off x="6372000" y="5949000"/>
            <a:ext cx="720000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>
            <a:noAutofit/>
          </a:bodyPr>
          <a:lstStyle/>
          <a:p>
            <a:pPr algn="ctr"/>
            <a:r>
              <a:rPr lang="en-US" altLang="zh-TW" sz="3200" i="1" dirty="0" smtClean="0"/>
              <a:t>T</a:t>
            </a:r>
            <a:endParaRPr lang="en-US" altLang="zh-TW" sz="3200" baseline="-25000" dirty="0">
              <a:sym typeface="Symbol" pitchFamily="18" charset="2"/>
            </a:endParaRPr>
          </a:p>
        </p:txBody>
      </p:sp>
      <p:cxnSp>
        <p:nvCxnSpPr>
          <p:cNvPr id="111" name="AutoShape 18"/>
          <p:cNvCxnSpPr>
            <a:cxnSpLocks noChangeShapeType="1"/>
            <a:stCxn id="127" idx="7"/>
            <a:endCxn id="124" idx="3"/>
          </p:cNvCxnSpPr>
          <p:nvPr/>
        </p:nvCxnSpPr>
        <p:spPr bwMode="auto">
          <a:xfrm flipV="1">
            <a:off x="2899279" y="42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112" name="Oval 19"/>
          <p:cNvSpPr>
            <a:spLocks noChangeArrowheads="1"/>
          </p:cNvSpPr>
          <p:nvPr/>
        </p:nvSpPr>
        <p:spPr bwMode="auto">
          <a:xfrm>
            <a:off x="43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113" name="AutoShape 24"/>
          <p:cNvCxnSpPr>
            <a:cxnSpLocks noChangeShapeType="1"/>
            <a:stCxn id="126" idx="7"/>
            <a:endCxn id="123" idx="3"/>
          </p:cNvCxnSpPr>
          <p:nvPr/>
        </p:nvCxnSpPr>
        <p:spPr bwMode="auto">
          <a:xfrm flipV="1">
            <a:off x="1819279" y="427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114" name="Text Box 41"/>
          <p:cNvSpPr txBox="1">
            <a:spLocks noChangeArrowheads="1"/>
          </p:cNvSpPr>
          <p:nvPr/>
        </p:nvSpPr>
        <p:spPr bwMode="auto">
          <a:xfrm>
            <a:off x="43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15" name="Text Box 44"/>
          <p:cNvSpPr txBox="1">
            <a:spLocks noChangeArrowheads="1"/>
          </p:cNvSpPr>
          <p:nvPr/>
        </p:nvSpPr>
        <p:spPr bwMode="auto">
          <a:xfrm>
            <a:off x="151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16" name="Text Box 45"/>
          <p:cNvSpPr txBox="1">
            <a:spLocks noChangeArrowheads="1"/>
          </p:cNvSpPr>
          <p:nvPr/>
        </p:nvSpPr>
        <p:spPr bwMode="auto">
          <a:xfrm>
            <a:off x="259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17" name="Text Box 46"/>
          <p:cNvSpPr txBox="1">
            <a:spLocks noChangeArrowheads="1"/>
          </p:cNvSpPr>
          <p:nvPr/>
        </p:nvSpPr>
        <p:spPr bwMode="auto">
          <a:xfrm>
            <a:off x="36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18" name="Text Box 47"/>
          <p:cNvSpPr txBox="1">
            <a:spLocks noChangeArrowheads="1"/>
          </p:cNvSpPr>
          <p:nvPr/>
        </p:nvSpPr>
        <p:spPr bwMode="auto">
          <a:xfrm>
            <a:off x="15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9" name="Text Box 48"/>
          <p:cNvSpPr txBox="1">
            <a:spLocks noChangeArrowheads="1"/>
          </p:cNvSpPr>
          <p:nvPr/>
        </p:nvSpPr>
        <p:spPr bwMode="auto">
          <a:xfrm>
            <a:off x="25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20" name="Text Box 49"/>
          <p:cNvSpPr txBox="1"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21" name="Text Box 50"/>
          <p:cNvSpPr txBox="1">
            <a:spLocks noChangeArrowheads="1"/>
          </p:cNvSpPr>
          <p:nvPr/>
        </p:nvSpPr>
        <p:spPr bwMode="auto">
          <a:xfrm>
            <a:off x="43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22" name="Oval 51"/>
          <p:cNvSpPr>
            <a:spLocks noChangeArrowheads="1"/>
          </p:cNvSpPr>
          <p:nvPr/>
        </p:nvSpPr>
        <p:spPr bwMode="auto">
          <a:xfrm>
            <a:off x="15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3" name="Oval 52"/>
          <p:cNvSpPr>
            <a:spLocks noChangeArrowheads="1"/>
          </p:cNvSpPr>
          <p:nvPr/>
        </p:nvSpPr>
        <p:spPr bwMode="auto">
          <a:xfrm>
            <a:off x="25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4" name="Oval 53"/>
          <p:cNvSpPr>
            <a:spLocks noChangeArrowheads="1"/>
          </p:cNvSpPr>
          <p:nvPr/>
        </p:nvSpPr>
        <p:spPr bwMode="auto">
          <a:xfrm>
            <a:off x="36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5" name="Oval 54"/>
          <p:cNvSpPr>
            <a:spLocks noChangeArrowheads="1"/>
          </p:cNvSpPr>
          <p:nvPr/>
        </p:nvSpPr>
        <p:spPr bwMode="auto">
          <a:xfrm>
            <a:off x="4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6" name="Oval 55"/>
          <p:cNvSpPr>
            <a:spLocks noChangeArrowheads="1"/>
          </p:cNvSpPr>
          <p:nvPr/>
        </p:nvSpPr>
        <p:spPr bwMode="auto">
          <a:xfrm>
            <a:off x="15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7" name="Oval 56"/>
          <p:cNvSpPr>
            <a:spLocks noChangeArrowheads="1"/>
          </p:cNvSpPr>
          <p:nvPr/>
        </p:nvSpPr>
        <p:spPr bwMode="auto">
          <a:xfrm>
            <a:off x="25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28" name="Oval 57"/>
          <p:cNvSpPr>
            <a:spLocks noChangeArrowheads="1"/>
          </p:cNvSpPr>
          <p:nvPr/>
        </p:nvSpPr>
        <p:spPr bwMode="auto">
          <a:xfrm>
            <a:off x="36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29" name="AutoShape 24"/>
          <p:cNvCxnSpPr>
            <a:cxnSpLocks noChangeShapeType="1"/>
            <a:stCxn id="122" idx="4"/>
            <a:endCxn id="126" idx="0"/>
          </p:cNvCxnSpPr>
          <p:nvPr/>
        </p:nvCxnSpPr>
        <p:spPr bwMode="auto">
          <a:xfrm>
            <a:off x="169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0" name="AutoShape 24"/>
          <p:cNvCxnSpPr>
            <a:cxnSpLocks noChangeShapeType="1"/>
            <a:stCxn id="126" idx="6"/>
            <a:endCxn id="127" idx="2"/>
          </p:cNvCxnSpPr>
          <p:nvPr/>
        </p:nvCxnSpPr>
        <p:spPr bwMode="auto">
          <a:xfrm>
            <a:off x="187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1" name="AutoShape 24"/>
          <p:cNvCxnSpPr>
            <a:cxnSpLocks noChangeShapeType="1"/>
            <a:stCxn id="127" idx="0"/>
            <a:endCxn id="123" idx="4"/>
          </p:cNvCxnSpPr>
          <p:nvPr/>
        </p:nvCxnSpPr>
        <p:spPr bwMode="auto">
          <a:xfrm flipV="1">
            <a:off x="277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32" name="AutoShape 24"/>
          <p:cNvCxnSpPr>
            <a:cxnSpLocks noChangeShapeType="1"/>
            <a:stCxn id="122" idx="2"/>
            <a:endCxn id="112" idx="6"/>
          </p:cNvCxnSpPr>
          <p:nvPr/>
        </p:nvCxnSpPr>
        <p:spPr bwMode="auto">
          <a:xfrm flipH="1">
            <a:off x="79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3" name="AutoShape 24"/>
          <p:cNvCxnSpPr>
            <a:cxnSpLocks noChangeShapeType="1"/>
            <a:stCxn id="112" idx="4"/>
            <a:endCxn id="125" idx="0"/>
          </p:cNvCxnSpPr>
          <p:nvPr/>
        </p:nvCxnSpPr>
        <p:spPr bwMode="auto">
          <a:xfrm>
            <a:off x="61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4" name="AutoShape 24"/>
          <p:cNvCxnSpPr>
            <a:cxnSpLocks noChangeShapeType="1"/>
            <a:stCxn id="123" idx="6"/>
            <a:endCxn id="124" idx="2"/>
          </p:cNvCxnSpPr>
          <p:nvPr/>
        </p:nvCxnSpPr>
        <p:spPr bwMode="auto">
          <a:xfrm>
            <a:off x="295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5" name="AutoShape 24"/>
          <p:cNvCxnSpPr>
            <a:cxnSpLocks noChangeShapeType="1"/>
            <a:stCxn id="127" idx="6"/>
            <a:endCxn id="128" idx="2"/>
          </p:cNvCxnSpPr>
          <p:nvPr/>
        </p:nvCxnSpPr>
        <p:spPr bwMode="auto">
          <a:xfrm>
            <a:off x="295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136" name="AutoShape 24"/>
          <p:cNvCxnSpPr>
            <a:cxnSpLocks noChangeShapeType="1"/>
            <a:stCxn id="128" idx="0"/>
            <a:endCxn id="124" idx="4"/>
          </p:cNvCxnSpPr>
          <p:nvPr/>
        </p:nvCxnSpPr>
        <p:spPr bwMode="auto">
          <a:xfrm flipV="1">
            <a:off x="385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37" name="AutoShape 18"/>
          <p:cNvCxnSpPr>
            <a:cxnSpLocks noChangeShapeType="1"/>
            <a:stCxn id="153" idx="7"/>
            <a:endCxn id="150" idx="3"/>
          </p:cNvCxnSpPr>
          <p:nvPr/>
        </p:nvCxnSpPr>
        <p:spPr bwMode="auto">
          <a:xfrm flipV="1">
            <a:off x="7579279" y="427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138" name="Oval 1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139" name="AutoShape 24"/>
          <p:cNvCxnSpPr>
            <a:cxnSpLocks noChangeShapeType="1"/>
            <a:stCxn id="152" idx="7"/>
            <a:endCxn id="149" idx="3"/>
          </p:cNvCxnSpPr>
          <p:nvPr/>
        </p:nvCxnSpPr>
        <p:spPr bwMode="auto">
          <a:xfrm flipV="1">
            <a:off x="6499279" y="4276279"/>
            <a:ext cx="825442" cy="82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sp>
        <p:nvSpPr>
          <p:cNvPr id="140" name="Text Box 41"/>
          <p:cNvSpPr txBox="1">
            <a:spLocks noChangeArrowheads="1"/>
          </p:cNvSpPr>
          <p:nvPr/>
        </p:nvSpPr>
        <p:spPr bwMode="auto">
          <a:xfrm>
            <a:off x="51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141" name="Text Box 44"/>
          <p:cNvSpPr txBox="1">
            <a:spLocks noChangeArrowheads="1"/>
          </p:cNvSpPr>
          <p:nvPr/>
        </p:nvSpPr>
        <p:spPr bwMode="auto">
          <a:xfrm>
            <a:off x="619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142" name="Text Box 45"/>
          <p:cNvSpPr txBox="1"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143" name="Text Box 46"/>
          <p:cNvSpPr txBox="1">
            <a:spLocks noChangeArrowheads="1"/>
          </p:cNvSpPr>
          <p:nvPr/>
        </p:nvSpPr>
        <p:spPr bwMode="auto">
          <a:xfrm>
            <a:off x="835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144" name="Text Box 47"/>
          <p:cNvSpPr txBox="1">
            <a:spLocks noChangeArrowheads="1"/>
          </p:cNvSpPr>
          <p:nvPr/>
        </p:nvSpPr>
        <p:spPr bwMode="auto">
          <a:xfrm>
            <a:off x="61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45" name="Text Box 48"/>
          <p:cNvSpPr txBox="1">
            <a:spLocks noChangeArrowheads="1"/>
          </p:cNvSpPr>
          <p:nvPr/>
        </p:nvSpPr>
        <p:spPr bwMode="auto">
          <a:xfrm>
            <a:off x="72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146" name="Text Box 49"/>
          <p:cNvSpPr txBox="1">
            <a:spLocks noChangeArrowheads="1"/>
          </p:cNvSpPr>
          <p:nvPr/>
        </p:nvSpPr>
        <p:spPr bwMode="auto">
          <a:xfrm>
            <a:off x="83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47" name="Text Box 50"/>
          <p:cNvSpPr txBox="1"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148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49" name="Oval 52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0" name="Oval 53"/>
          <p:cNvSpPr>
            <a:spLocks noChangeArrowheads="1"/>
          </p:cNvSpPr>
          <p:nvPr/>
        </p:nvSpPr>
        <p:spPr bwMode="auto">
          <a:xfrm>
            <a:off x="83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1" name="Oval 54"/>
          <p:cNvSpPr>
            <a:spLocks noChangeArrowheads="1"/>
          </p:cNvSpPr>
          <p:nvPr/>
        </p:nvSpPr>
        <p:spPr bwMode="auto">
          <a:xfrm>
            <a:off x="51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2" name="Oval 55"/>
          <p:cNvSpPr>
            <a:spLocks noChangeArrowheads="1"/>
          </p:cNvSpPr>
          <p:nvPr/>
        </p:nvSpPr>
        <p:spPr bwMode="auto">
          <a:xfrm>
            <a:off x="61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3" name="Oval 56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154" name="Oval 57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155" name="AutoShape 24"/>
          <p:cNvCxnSpPr>
            <a:cxnSpLocks noChangeShapeType="1"/>
            <a:stCxn id="148" idx="4"/>
            <a:endCxn id="152" idx="0"/>
          </p:cNvCxnSpPr>
          <p:nvPr/>
        </p:nvCxnSpPr>
        <p:spPr bwMode="auto">
          <a:xfrm>
            <a:off x="637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6" name="AutoShape 24"/>
          <p:cNvCxnSpPr>
            <a:cxnSpLocks noChangeShapeType="1"/>
            <a:stCxn id="152" idx="6"/>
            <a:endCxn id="153" idx="2"/>
          </p:cNvCxnSpPr>
          <p:nvPr/>
        </p:nvCxnSpPr>
        <p:spPr bwMode="auto">
          <a:xfrm>
            <a:off x="655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7" name="AutoShape 24"/>
          <p:cNvCxnSpPr>
            <a:cxnSpLocks noChangeShapeType="1"/>
            <a:stCxn id="153" idx="0"/>
            <a:endCxn id="149" idx="4"/>
          </p:cNvCxnSpPr>
          <p:nvPr/>
        </p:nvCxnSpPr>
        <p:spPr bwMode="auto">
          <a:xfrm flipV="1">
            <a:off x="745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158" name="AutoShape 24"/>
          <p:cNvCxnSpPr>
            <a:cxnSpLocks noChangeShapeType="1"/>
            <a:stCxn id="148" idx="2"/>
            <a:endCxn id="138" idx="6"/>
          </p:cNvCxnSpPr>
          <p:nvPr/>
        </p:nvCxnSpPr>
        <p:spPr bwMode="auto">
          <a:xfrm flipH="1">
            <a:off x="547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59" name="AutoShape 24"/>
          <p:cNvCxnSpPr>
            <a:cxnSpLocks noChangeShapeType="1"/>
            <a:stCxn id="138" idx="4"/>
            <a:endCxn id="151" idx="0"/>
          </p:cNvCxnSpPr>
          <p:nvPr/>
        </p:nvCxnSpPr>
        <p:spPr bwMode="auto">
          <a:xfrm>
            <a:off x="5292000" y="4329000"/>
            <a:ext cx="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60" name="AutoShape 24"/>
          <p:cNvCxnSpPr>
            <a:cxnSpLocks noChangeShapeType="1"/>
            <a:stCxn id="149" idx="6"/>
            <a:endCxn id="150" idx="2"/>
          </p:cNvCxnSpPr>
          <p:nvPr/>
        </p:nvCxnSpPr>
        <p:spPr bwMode="auto">
          <a:xfrm>
            <a:off x="7632000" y="414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61" name="AutoShape 24"/>
          <p:cNvCxnSpPr>
            <a:cxnSpLocks noChangeShapeType="1"/>
            <a:stCxn id="153" idx="6"/>
            <a:endCxn id="154" idx="2"/>
          </p:cNvCxnSpPr>
          <p:nvPr/>
        </p:nvCxnSpPr>
        <p:spPr bwMode="auto">
          <a:xfrm>
            <a:off x="7632000" y="5229000"/>
            <a:ext cx="72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162" name="AutoShape 24"/>
          <p:cNvCxnSpPr>
            <a:cxnSpLocks noChangeShapeType="1"/>
            <a:stCxn id="154" idx="0"/>
            <a:endCxn id="150" idx="4"/>
          </p:cNvCxnSpPr>
          <p:nvPr/>
        </p:nvCxnSpPr>
        <p:spPr bwMode="auto">
          <a:xfrm flipV="1">
            <a:off x="8532000" y="432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en-US" altLang="zh-TW" i="1" dirty="0" smtClean="0">
                <a:solidFill>
                  <a:srgbClr val="0000FF"/>
                </a:solidFill>
              </a:rPr>
              <a:t>Lemma 22.6.</a:t>
            </a:r>
            <a:r>
              <a:rPr lang="en-US" altLang="zh-TW" dirty="0" smtClean="0"/>
              <a:t>  When applied to a directed or undirected graph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Symbol" pitchFamily="18" charset="2"/>
              </a:rPr>
              <a:t>=</a:t>
            </a:r>
            <a:r>
              <a:rPr lang="en-US" altLang="zh-TW" dirty="0" smtClean="0"/>
              <a:t> (</a:t>
            </a:r>
            <a:r>
              <a:rPr lang="en-US" altLang="zh-TW" i="1" dirty="0" smtClean="0"/>
              <a:t>V, E</a:t>
            </a:r>
            <a:r>
              <a:rPr lang="en-US" altLang="zh-TW" dirty="0" smtClean="0"/>
              <a:t>), procedure </a:t>
            </a:r>
            <a:r>
              <a:rPr lang="en-US" altLang="zh-TW" dirty="0" err="1" smtClean="0"/>
              <a:t>BFS</a:t>
            </a:r>
            <a:r>
              <a:rPr lang="en-US" altLang="zh-TW" dirty="0" smtClean="0"/>
              <a:t> constructs </a:t>
            </a:r>
            <a:r>
              <a:rPr lang="en-US" altLang="zh-TW" i="1" dirty="0">
                <a:solidFill>
                  <a:srgbClr val="000000"/>
                </a:solidFill>
                <a:ea typeface="細明體" panose="02020509000000000000" pitchFamily="49" charset="-120"/>
              </a:rPr>
              <a:t>paren</a:t>
            </a:r>
            <a:r>
              <a:rPr lang="en-US" altLang="zh-TW" i="1" spc="100" dirty="0">
                <a:solidFill>
                  <a:srgbClr val="00000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 smtClean="0"/>
              <a:t> so that the predecessor subgraph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  <a:r>
              <a:rPr lang="en-US" altLang="zh-TW" dirty="0" smtClean="0"/>
              <a:t> is a breadth-first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printPath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-1 )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"no path from"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"to"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"exists\n"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printPath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i="1" dirty="0" smtClean="0"/>
          </a:p>
        </p:txBody>
      </p:sp>
      <p:cxnSp>
        <p:nvCxnSpPr>
          <p:cNvPr id="55" name="AutoShape 18"/>
          <p:cNvCxnSpPr>
            <a:cxnSpLocks noChangeShapeType="1"/>
            <a:stCxn id="71" idx="7"/>
            <a:endCxn id="68" idx="3"/>
          </p:cNvCxnSpPr>
          <p:nvPr/>
        </p:nvCxnSpPr>
        <p:spPr bwMode="auto">
          <a:xfrm flipV="1">
            <a:off x="7399279" y="175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56" name="Oval 19"/>
          <p:cNvSpPr>
            <a:spLocks noChangeArrowheads="1"/>
          </p:cNvSpPr>
          <p:nvPr/>
        </p:nvSpPr>
        <p:spPr bwMode="auto">
          <a:xfrm>
            <a:off x="493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70" idx="7"/>
            <a:endCxn id="67" idx="3"/>
          </p:cNvCxnSpPr>
          <p:nvPr/>
        </p:nvCxnSpPr>
        <p:spPr bwMode="auto">
          <a:xfrm flipV="1">
            <a:off x="6319279" y="175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58" name="Text Box 41"/>
          <p:cNvSpPr txBox="1">
            <a:spLocks noChangeArrowheads="1"/>
          </p:cNvSpPr>
          <p:nvPr/>
        </p:nvSpPr>
        <p:spPr bwMode="auto">
          <a:xfrm>
            <a:off x="493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60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60" name="Text Box 45"/>
          <p:cNvSpPr txBox="1">
            <a:spLocks noChangeArrowheads="1"/>
          </p:cNvSpPr>
          <p:nvPr/>
        </p:nvSpPr>
        <p:spPr bwMode="auto">
          <a:xfrm>
            <a:off x="70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61" name="Text Box 46"/>
          <p:cNvSpPr txBox="1">
            <a:spLocks noChangeArrowheads="1"/>
          </p:cNvSpPr>
          <p:nvPr/>
        </p:nvSpPr>
        <p:spPr bwMode="auto">
          <a:xfrm>
            <a:off x="81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62" name="Text Box 47"/>
          <p:cNvSpPr txBox="1">
            <a:spLocks noChangeArrowheads="1"/>
          </p:cNvSpPr>
          <p:nvPr/>
        </p:nvSpPr>
        <p:spPr bwMode="auto">
          <a:xfrm>
            <a:off x="601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63" name="Text Box 48"/>
          <p:cNvSpPr txBox="1">
            <a:spLocks noChangeArrowheads="1"/>
          </p:cNvSpPr>
          <p:nvPr/>
        </p:nvSpPr>
        <p:spPr bwMode="auto">
          <a:xfrm>
            <a:off x="709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817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65" name="Text Box 50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68" name="Oval 53"/>
          <p:cNvSpPr>
            <a:spLocks noChangeArrowheads="1"/>
          </p:cNvSpPr>
          <p:nvPr/>
        </p:nvSpPr>
        <p:spPr bwMode="auto">
          <a:xfrm>
            <a:off x="817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69" name="Oval 54"/>
          <p:cNvSpPr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0" name="Oval 55"/>
          <p:cNvSpPr>
            <a:spLocks noChangeArrowheads="1"/>
          </p:cNvSpPr>
          <p:nvPr/>
        </p:nvSpPr>
        <p:spPr bwMode="auto">
          <a:xfrm>
            <a:off x="601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1" name="Oval 56"/>
          <p:cNvSpPr>
            <a:spLocks noChangeArrowheads="1"/>
          </p:cNvSpPr>
          <p:nvPr/>
        </p:nvSpPr>
        <p:spPr bwMode="auto">
          <a:xfrm>
            <a:off x="709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72" name="Oval 57"/>
          <p:cNvSpPr>
            <a:spLocks noChangeArrowheads="1"/>
          </p:cNvSpPr>
          <p:nvPr/>
        </p:nvSpPr>
        <p:spPr bwMode="auto">
          <a:xfrm>
            <a:off x="817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73" name="AutoShape 24"/>
          <p:cNvCxnSpPr>
            <a:cxnSpLocks noChangeShapeType="1"/>
            <a:stCxn id="66" idx="4"/>
            <a:endCxn id="70" idx="0"/>
          </p:cNvCxnSpPr>
          <p:nvPr/>
        </p:nvCxnSpPr>
        <p:spPr bwMode="auto">
          <a:xfrm>
            <a:off x="6192000" y="180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74" name="AutoShape 24"/>
          <p:cNvCxnSpPr>
            <a:cxnSpLocks noChangeShapeType="1"/>
            <a:stCxn id="70" idx="6"/>
            <a:endCxn id="71" idx="2"/>
          </p:cNvCxnSpPr>
          <p:nvPr/>
        </p:nvCxnSpPr>
        <p:spPr bwMode="auto">
          <a:xfrm>
            <a:off x="6372000" y="270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75" name="AutoShape 24"/>
          <p:cNvCxnSpPr>
            <a:cxnSpLocks noChangeShapeType="1"/>
            <a:stCxn id="71" idx="0"/>
            <a:endCxn id="67" idx="4"/>
          </p:cNvCxnSpPr>
          <p:nvPr/>
        </p:nvCxnSpPr>
        <p:spPr bwMode="auto">
          <a:xfrm flipV="1">
            <a:off x="7272000" y="18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76" name="AutoShape 24"/>
          <p:cNvCxnSpPr>
            <a:cxnSpLocks noChangeShapeType="1"/>
            <a:stCxn id="66" idx="2"/>
            <a:endCxn id="56" idx="6"/>
          </p:cNvCxnSpPr>
          <p:nvPr/>
        </p:nvCxnSpPr>
        <p:spPr bwMode="auto">
          <a:xfrm flipH="1">
            <a:off x="5292000" y="16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77" name="AutoShape 24"/>
          <p:cNvCxnSpPr>
            <a:cxnSpLocks noChangeShapeType="1"/>
            <a:stCxn id="56" idx="4"/>
            <a:endCxn id="69" idx="0"/>
          </p:cNvCxnSpPr>
          <p:nvPr/>
        </p:nvCxnSpPr>
        <p:spPr bwMode="auto">
          <a:xfrm>
            <a:off x="5112000" y="180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78" name="AutoShape 24"/>
          <p:cNvCxnSpPr>
            <a:cxnSpLocks noChangeShapeType="1"/>
            <a:stCxn id="67" idx="6"/>
            <a:endCxn id="68" idx="2"/>
          </p:cNvCxnSpPr>
          <p:nvPr/>
        </p:nvCxnSpPr>
        <p:spPr bwMode="auto">
          <a:xfrm>
            <a:off x="7452000" y="16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79" name="AutoShape 24"/>
          <p:cNvCxnSpPr>
            <a:cxnSpLocks noChangeShapeType="1"/>
            <a:stCxn id="71" idx="6"/>
            <a:endCxn id="72" idx="2"/>
          </p:cNvCxnSpPr>
          <p:nvPr/>
        </p:nvCxnSpPr>
        <p:spPr bwMode="auto">
          <a:xfrm>
            <a:off x="7452000" y="270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80" name="AutoShape 24"/>
          <p:cNvCxnSpPr>
            <a:cxnSpLocks noChangeShapeType="1"/>
            <a:stCxn id="72" idx="0"/>
            <a:endCxn id="68" idx="4"/>
          </p:cNvCxnSpPr>
          <p:nvPr/>
        </p:nvCxnSpPr>
        <p:spPr bwMode="auto">
          <a:xfrm flipV="1">
            <a:off x="8352000" y="18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4"/>
          <p:cNvSpPr>
            <a:spLocks noChangeArrowheads="1"/>
          </p:cNvSpPr>
          <p:nvPr/>
        </p:nvSpPr>
        <p:spPr bwMode="auto">
          <a:xfrm>
            <a:off x="792000" y="1629000"/>
            <a:ext cx="2520000" cy="1440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3200">
              <a:solidFill>
                <a:schemeClr val="accent2"/>
              </a:solidFill>
            </a:endParaRPr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252000" y="4509000"/>
            <a:ext cx="1980000" cy="900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anchor="t" anchorCtr="0"/>
          <a:lstStyle/>
          <a:p>
            <a:pPr lvl="0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(1,6)</a:t>
            </a:r>
            <a:endParaRPr lang="en-US" altLang="zh-TW" dirty="0"/>
          </a:p>
          <a:p>
            <a:pPr fontAlgn="t"/>
            <a:r>
              <a:rPr lang="en-US" altLang="zh-TW" sz="1600" dirty="0" smtClean="0">
                <a:latin typeface="Lucida Console" panose="020B0609040504020204" pitchFamily="49" charset="0"/>
              </a:rPr>
              <a:t>print 7</a:t>
            </a:r>
            <a:endParaRPr lang="en-US" altLang="zh-TW" sz="1600" dirty="0">
              <a:latin typeface="Lucida Console" panose="020B0609040504020204" pitchFamily="49" charset="0"/>
            </a:endParaRPr>
          </a:p>
        </p:txBody>
      </p:sp>
      <p:sp>
        <p:nvSpPr>
          <p:cNvPr id="140292" name="Rectangle 10"/>
          <p:cNvSpPr>
            <a:spLocks noChangeArrowheads="1"/>
          </p:cNvSpPr>
          <p:nvPr/>
        </p:nvSpPr>
        <p:spPr bwMode="auto">
          <a:xfrm>
            <a:off x="252000" y="4149000"/>
            <a:ext cx="19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b" anchorCtr="0">
            <a:noAutofit/>
          </a:bodyPr>
          <a:lstStyle/>
          <a:p>
            <a:pPr algn="ctr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(1,7)</a:t>
            </a:r>
            <a:endParaRPr lang="en-US" altLang="zh-TW" dirty="0"/>
          </a:p>
        </p:txBody>
      </p:sp>
      <p:sp>
        <p:nvSpPr>
          <p:cNvPr id="494603" name="Rectangle 11"/>
          <p:cNvSpPr>
            <a:spLocks noChangeArrowheads="1"/>
          </p:cNvSpPr>
          <p:nvPr/>
        </p:nvSpPr>
        <p:spPr bwMode="auto">
          <a:xfrm>
            <a:off x="2412000" y="4509000"/>
            <a:ext cx="1980000" cy="900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anchor="t" anchorCtr="0"/>
          <a:lstStyle/>
          <a:p>
            <a:pPr lvl="0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(1,5)</a:t>
            </a:r>
            <a:endParaRPr lang="en-US" altLang="zh-TW" dirty="0"/>
          </a:p>
          <a:p>
            <a:pPr fontAlgn="t"/>
            <a:r>
              <a:rPr lang="en-US" altLang="zh-TW" sz="1600" dirty="0" smtClean="0">
                <a:latin typeface="Lucida Console" panose="020B0609040504020204" pitchFamily="49" charset="0"/>
              </a:rPr>
              <a:t>print 6</a:t>
            </a:r>
            <a:endParaRPr lang="en-US" altLang="zh-TW" sz="1600" dirty="0">
              <a:latin typeface="Lucida Console" panose="020B0609040504020204" pitchFamily="49" charset="0"/>
            </a:endParaRPr>
          </a:p>
        </p:txBody>
      </p:sp>
      <p:sp>
        <p:nvSpPr>
          <p:cNvPr id="494604" name="Rectangle 12"/>
          <p:cNvSpPr>
            <a:spLocks noChangeArrowheads="1"/>
          </p:cNvSpPr>
          <p:nvPr/>
        </p:nvSpPr>
        <p:spPr bwMode="auto">
          <a:xfrm>
            <a:off x="2412000" y="4149000"/>
            <a:ext cx="19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b" anchorCtr="0">
            <a:noAutofit/>
          </a:bodyPr>
          <a:lstStyle/>
          <a:p>
            <a:pPr lvl="0" algn="ctr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(1,6)</a:t>
            </a:r>
            <a:endParaRPr lang="en-US" altLang="zh-TW" dirty="0"/>
          </a:p>
        </p:txBody>
      </p:sp>
      <p:sp>
        <p:nvSpPr>
          <p:cNvPr id="494605" name="Rectangle 13"/>
          <p:cNvSpPr>
            <a:spLocks noChangeArrowheads="1"/>
          </p:cNvSpPr>
          <p:nvPr/>
        </p:nvSpPr>
        <p:spPr bwMode="auto">
          <a:xfrm>
            <a:off x="4572000" y="4509000"/>
            <a:ext cx="1980000" cy="900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anchor="t" anchorCtr="0"/>
          <a:lstStyle/>
          <a:p>
            <a:pPr lvl="0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(1,1)</a:t>
            </a:r>
            <a:endParaRPr lang="en-US" altLang="zh-TW" dirty="0"/>
          </a:p>
          <a:p>
            <a:pPr fontAlgn="t"/>
            <a:r>
              <a:rPr lang="en-US" altLang="zh-TW" sz="1600" dirty="0" smtClean="0">
                <a:latin typeface="Lucida Console" panose="020B0609040504020204" pitchFamily="49" charset="0"/>
              </a:rPr>
              <a:t>print 5</a:t>
            </a:r>
            <a:endParaRPr lang="en-US" altLang="zh-TW" sz="1600" dirty="0">
              <a:latin typeface="Lucida Console" panose="020B0609040504020204" pitchFamily="49" charset="0"/>
            </a:endParaRPr>
          </a:p>
        </p:txBody>
      </p:sp>
      <p:sp>
        <p:nvSpPr>
          <p:cNvPr id="494606" name="Rectangle 14"/>
          <p:cNvSpPr>
            <a:spLocks noChangeArrowheads="1"/>
          </p:cNvSpPr>
          <p:nvPr/>
        </p:nvSpPr>
        <p:spPr bwMode="auto">
          <a:xfrm>
            <a:off x="4572000" y="4149000"/>
            <a:ext cx="19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b" anchorCtr="0">
            <a:noAutofit/>
          </a:bodyPr>
          <a:lstStyle/>
          <a:p>
            <a:pPr lvl="0" algn="ctr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(1,5)</a:t>
            </a:r>
            <a:endParaRPr lang="en-US" altLang="zh-TW" dirty="0"/>
          </a:p>
        </p:txBody>
      </p:sp>
      <p:sp>
        <p:nvSpPr>
          <p:cNvPr id="494607" name="Rectangle 15"/>
          <p:cNvSpPr>
            <a:spLocks noChangeArrowheads="1"/>
          </p:cNvSpPr>
          <p:nvPr/>
        </p:nvSpPr>
        <p:spPr bwMode="auto">
          <a:xfrm>
            <a:off x="6732000" y="4509000"/>
            <a:ext cx="1980000" cy="900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anchor="t" anchorCtr="0"/>
          <a:lstStyle/>
          <a:p>
            <a:pPr fontAlgn="t"/>
            <a:r>
              <a:rPr lang="en-US" altLang="zh-TW" sz="1600" dirty="0">
                <a:latin typeface="Lucida Console" panose="020B0609040504020204" pitchFamily="49" charset="0"/>
              </a:rPr>
              <a:t>print </a:t>
            </a:r>
            <a:r>
              <a:rPr lang="en-US" altLang="zh-TW" sz="1600" dirty="0" smtClean="0">
                <a:latin typeface="Lucida Console" panose="020B0609040504020204" pitchFamily="49" charset="0"/>
              </a:rPr>
              <a:t>1</a:t>
            </a:r>
            <a:endParaRPr lang="en-US" altLang="zh-TW" sz="1600" dirty="0">
              <a:latin typeface="Lucida Console" panose="020B0609040504020204" pitchFamily="49" charset="0"/>
            </a:endParaRPr>
          </a:p>
          <a:p>
            <a:pPr fontAlgn="t"/>
            <a:endParaRPr lang="en-US" altLang="zh-TW" sz="1600" dirty="0">
              <a:latin typeface="Lucida Console" panose="020B0609040504020204" pitchFamily="49" charset="0"/>
            </a:endParaRPr>
          </a:p>
        </p:txBody>
      </p:sp>
      <p:sp>
        <p:nvSpPr>
          <p:cNvPr id="494608" name="Rectangle 16"/>
          <p:cNvSpPr>
            <a:spLocks noChangeArrowheads="1"/>
          </p:cNvSpPr>
          <p:nvPr/>
        </p:nvSpPr>
        <p:spPr bwMode="auto">
          <a:xfrm>
            <a:off x="6732000" y="4149000"/>
            <a:ext cx="19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b" anchorCtr="0">
            <a:noAutofit/>
          </a:bodyPr>
          <a:lstStyle/>
          <a:p>
            <a:pPr lvl="0" algn="ctr"/>
            <a:r>
              <a:rPr lang="en-US" altLang="zh-TW" sz="1600" kern="0" dirty="0" err="1" smtClean="0">
                <a:latin typeface="Lucida Console" panose="020B0609040504020204" pitchFamily="49" charset="0"/>
                <a:ea typeface="細明體" panose="02020509000000000000" pitchFamily="49" charset="-120"/>
              </a:rPr>
              <a:t>printPath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(1,1)</a:t>
            </a:r>
            <a:endParaRPr lang="en-US" altLang="zh-TW" dirty="0"/>
          </a:p>
        </p:txBody>
      </p:sp>
      <p:sp>
        <p:nvSpPr>
          <p:cNvPr id="494609" name="Line 17"/>
          <p:cNvSpPr>
            <a:spLocks noChangeShapeType="1"/>
          </p:cNvSpPr>
          <p:nvPr/>
        </p:nvSpPr>
        <p:spPr bwMode="auto">
          <a:xfrm flipV="1">
            <a:off x="2052000" y="4329000"/>
            <a:ext cx="360000" cy="3600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94610" name="Line 18"/>
          <p:cNvSpPr>
            <a:spLocks noChangeShapeType="1"/>
          </p:cNvSpPr>
          <p:nvPr/>
        </p:nvSpPr>
        <p:spPr bwMode="auto">
          <a:xfrm flipV="1">
            <a:off x="4212000" y="4328999"/>
            <a:ext cx="360000" cy="3600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94611" name="Line 19"/>
          <p:cNvSpPr>
            <a:spLocks noChangeShapeType="1"/>
          </p:cNvSpPr>
          <p:nvPr/>
        </p:nvSpPr>
        <p:spPr bwMode="auto">
          <a:xfrm flipV="1">
            <a:off x="6372000" y="4329000"/>
            <a:ext cx="360000" cy="3600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arrow" w="lg" len="lg"/>
          </a:ln>
        </p:spPr>
        <p:txBody>
          <a:bodyPr wrap="none"/>
          <a:lstStyle/>
          <a:p>
            <a:endParaRPr lang="zh-TW" altLang="en-US"/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79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>
            <a:noAutofit/>
          </a:bodyPr>
          <a:lstStyle/>
          <a:p>
            <a:pPr algn="ctr"/>
            <a:r>
              <a:rPr lang="en-US" altLang="zh-TW" sz="1800" dirty="0" smtClean="0">
                <a:latin typeface="Lucida Console" panose="020B0609040504020204" pitchFamily="49" charset="0"/>
              </a:rPr>
              <a:t>1</a:t>
            </a:r>
            <a:endParaRPr lang="en-US" altLang="zh-TW" sz="1800" dirty="0">
              <a:latin typeface="Lucida Console" panose="020B0609040504020204" pitchFamily="49" charset="0"/>
            </a:endParaRPr>
          </a:p>
        </p:txBody>
      </p:sp>
      <p:sp>
        <p:nvSpPr>
          <p:cNvPr id="494613" name="Text Box 21"/>
          <p:cNvSpPr txBox="1">
            <a:spLocks noChangeArrowheads="1"/>
          </p:cNvSpPr>
          <p:nvPr/>
        </p:nvSpPr>
        <p:spPr bwMode="auto">
          <a:xfrm>
            <a:off x="115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>
            <a:noAutofit/>
          </a:bodyPr>
          <a:lstStyle/>
          <a:p>
            <a:pPr algn="ctr"/>
            <a:r>
              <a:rPr lang="en-US" altLang="zh-TW" sz="1800" dirty="0" smtClean="0">
                <a:latin typeface="Lucida Console" panose="020B0609040504020204" pitchFamily="49" charset="0"/>
              </a:rPr>
              <a:t>5</a:t>
            </a:r>
            <a:endParaRPr lang="en-US" altLang="zh-TW" sz="1800" dirty="0">
              <a:latin typeface="Lucida Console" panose="020B0609040504020204" pitchFamily="49" charset="0"/>
            </a:endParaRPr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15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>
            <a:noAutofit/>
          </a:bodyPr>
          <a:lstStyle/>
          <a:p>
            <a:pPr algn="ctr"/>
            <a:r>
              <a:rPr lang="en-US" altLang="zh-TW" sz="1800" dirty="0" smtClean="0">
                <a:latin typeface="Lucida Console" panose="020B0609040504020204" pitchFamily="49" charset="0"/>
              </a:rPr>
              <a:t>6</a:t>
            </a:r>
            <a:endParaRPr lang="en-US" altLang="zh-TW" sz="1800" dirty="0">
              <a:latin typeface="Lucida Console" panose="020B0609040504020204" pitchFamily="49" charset="0"/>
            </a:endParaRPr>
          </a:p>
        </p:txBody>
      </p:sp>
      <p:sp>
        <p:nvSpPr>
          <p:cNvPr id="494615" name="Text Box 23"/>
          <p:cNvSpPr txBox="1">
            <a:spLocks noChangeArrowheads="1"/>
          </p:cNvSpPr>
          <p:nvPr/>
        </p:nvSpPr>
        <p:spPr bwMode="auto">
          <a:xfrm>
            <a:off x="18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0" anchor="ctr" anchorCtr="0">
            <a:noAutofit/>
          </a:bodyPr>
          <a:lstStyle/>
          <a:p>
            <a:pPr algn="ctr"/>
            <a:r>
              <a:rPr lang="en-US" altLang="zh-TW" sz="1800" dirty="0" smtClean="0">
                <a:latin typeface="Lucida Console" panose="020B0609040504020204" pitchFamily="49" charset="0"/>
              </a:rPr>
              <a:t>7</a:t>
            </a:r>
            <a:endParaRPr lang="en-US" altLang="zh-TW" sz="1800" dirty="0">
              <a:latin typeface="Lucida Console" panose="020B0609040504020204" pitchFamily="49" charset="0"/>
            </a:endParaRPr>
          </a:p>
        </p:txBody>
      </p:sp>
      <p:sp>
        <p:nvSpPr>
          <p:cNvPr id="140306" name="Text Box 26"/>
          <p:cNvSpPr txBox="1">
            <a:spLocks noChangeArrowheads="1"/>
          </p:cNvSpPr>
          <p:nvPr/>
        </p:nvSpPr>
        <p:spPr bwMode="auto">
          <a:xfrm>
            <a:off x="1332000" y="1089000"/>
            <a:ext cx="14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108000" anchor="ctr" anchorCtr="0">
            <a:noAutofit/>
          </a:bodyPr>
          <a:lstStyle/>
          <a:p>
            <a:pPr algn="ctr"/>
            <a:r>
              <a:rPr lang="en-US" altLang="zh-TW" sz="2800" dirty="0" smtClean="0">
                <a:ea typeface="標楷體" pitchFamily="65" charset="-120"/>
              </a:rPr>
              <a:t>Output</a:t>
            </a:r>
            <a:endParaRPr lang="zh-TW" altLang="en-US" sz="2800" dirty="0">
              <a:ea typeface="標楷體" pitchFamily="65" charset="-120"/>
            </a:endParaRPr>
          </a:p>
        </p:txBody>
      </p:sp>
      <p:cxnSp>
        <p:nvCxnSpPr>
          <p:cNvPr id="71" name="AutoShape 18"/>
          <p:cNvCxnSpPr>
            <a:cxnSpLocks noChangeShapeType="1"/>
            <a:stCxn id="87" idx="7"/>
            <a:endCxn id="84" idx="3"/>
          </p:cNvCxnSpPr>
          <p:nvPr/>
        </p:nvCxnSpPr>
        <p:spPr bwMode="auto">
          <a:xfrm flipV="1">
            <a:off x="7399279" y="1756279"/>
            <a:ext cx="825442" cy="82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72" name="Oval 19"/>
          <p:cNvSpPr>
            <a:spLocks noChangeArrowheads="1"/>
          </p:cNvSpPr>
          <p:nvPr/>
        </p:nvSpPr>
        <p:spPr bwMode="auto">
          <a:xfrm>
            <a:off x="493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algn="ctr"/>
            <a:r>
              <a:rPr lang="en-US" altLang="zh-TW" sz="2000" dirty="0" smtClean="0"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latin typeface="+mn-lt"/>
              <a:sym typeface="Symbol" pitchFamily="18" charset="2"/>
            </a:endParaRPr>
          </a:p>
        </p:txBody>
      </p:sp>
      <p:cxnSp>
        <p:nvCxnSpPr>
          <p:cNvPr id="73" name="AutoShape 24"/>
          <p:cNvCxnSpPr>
            <a:cxnSpLocks noChangeShapeType="1"/>
            <a:stCxn id="86" idx="7"/>
            <a:endCxn id="83" idx="3"/>
          </p:cNvCxnSpPr>
          <p:nvPr/>
        </p:nvCxnSpPr>
        <p:spPr bwMode="auto">
          <a:xfrm flipV="1">
            <a:off x="6319279" y="1756279"/>
            <a:ext cx="825442" cy="82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sp>
        <p:nvSpPr>
          <p:cNvPr id="74" name="Text Box 41"/>
          <p:cNvSpPr txBox="1">
            <a:spLocks noChangeArrowheads="1"/>
          </p:cNvSpPr>
          <p:nvPr/>
        </p:nvSpPr>
        <p:spPr bwMode="auto">
          <a:xfrm>
            <a:off x="493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sp>
        <p:nvSpPr>
          <p:cNvPr id="75" name="Text Box 44"/>
          <p:cNvSpPr txBox="1">
            <a:spLocks noChangeArrowheads="1"/>
          </p:cNvSpPr>
          <p:nvPr/>
        </p:nvSpPr>
        <p:spPr bwMode="auto">
          <a:xfrm>
            <a:off x="601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6" name="Text Box 45"/>
          <p:cNvSpPr txBox="1">
            <a:spLocks noChangeArrowheads="1"/>
          </p:cNvSpPr>
          <p:nvPr/>
        </p:nvSpPr>
        <p:spPr bwMode="auto">
          <a:xfrm>
            <a:off x="709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77" name="Text Box 46"/>
          <p:cNvSpPr txBox="1">
            <a:spLocks noChangeArrowheads="1"/>
          </p:cNvSpPr>
          <p:nvPr/>
        </p:nvSpPr>
        <p:spPr bwMode="auto">
          <a:xfrm>
            <a:off x="817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78" name="Text Box 47"/>
          <p:cNvSpPr txBox="1">
            <a:spLocks noChangeArrowheads="1"/>
          </p:cNvSpPr>
          <p:nvPr/>
        </p:nvSpPr>
        <p:spPr bwMode="auto">
          <a:xfrm>
            <a:off x="601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79" name="Text Box 48"/>
          <p:cNvSpPr txBox="1">
            <a:spLocks noChangeArrowheads="1"/>
          </p:cNvSpPr>
          <p:nvPr/>
        </p:nvSpPr>
        <p:spPr bwMode="auto">
          <a:xfrm>
            <a:off x="709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80" name="Text Box 49"/>
          <p:cNvSpPr txBox="1">
            <a:spLocks noChangeArrowheads="1"/>
          </p:cNvSpPr>
          <p:nvPr/>
        </p:nvSpPr>
        <p:spPr bwMode="auto">
          <a:xfrm>
            <a:off x="8172000" y="10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81" name="Text Box 50"/>
          <p:cNvSpPr txBox="1">
            <a:spLocks noChangeArrowheads="1"/>
          </p:cNvSpPr>
          <p:nvPr/>
        </p:nvSpPr>
        <p:spPr bwMode="auto">
          <a:xfrm>
            <a:off x="4932000" y="28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bIns="54000" anchor="ctr"/>
          <a:lstStyle/>
          <a:p>
            <a:pPr algn="ctr"/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601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3" name="Oval 52"/>
          <p:cNvSpPr>
            <a:spLocks noChangeArrowheads="1"/>
          </p:cNvSpPr>
          <p:nvPr/>
        </p:nvSpPr>
        <p:spPr bwMode="auto">
          <a:xfrm>
            <a:off x="709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4" name="Oval 53"/>
          <p:cNvSpPr>
            <a:spLocks noChangeArrowheads="1"/>
          </p:cNvSpPr>
          <p:nvPr/>
        </p:nvSpPr>
        <p:spPr bwMode="auto">
          <a:xfrm>
            <a:off x="8172000" y="14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5" name="Oval 54"/>
          <p:cNvSpPr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6" name="Oval 55"/>
          <p:cNvSpPr>
            <a:spLocks noChangeArrowheads="1"/>
          </p:cNvSpPr>
          <p:nvPr/>
        </p:nvSpPr>
        <p:spPr bwMode="auto">
          <a:xfrm>
            <a:off x="601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7" name="Oval 56"/>
          <p:cNvSpPr>
            <a:spLocks noChangeArrowheads="1"/>
          </p:cNvSpPr>
          <p:nvPr/>
        </p:nvSpPr>
        <p:spPr bwMode="auto">
          <a:xfrm>
            <a:off x="709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88" name="Oval 57"/>
          <p:cNvSpPr>
            <a:spLocks noChangeArrowheads="1"/>
          </p:cNvSpPr>
          <p:nvPr/>
        </p:nvSpPr>
        <p:spPr bwMode="auto">
          <a:xfrm>
            <a:off x="817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algn="ctr"/>
            <a:r>
              <a:rPr lang="en-US" altLang="zh-TW" sz="200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89" name="AutoShape 24"/>
          <p:cNvCxnSpPr>
            <a:cxnSpLocks noChangeShapeType="1"/>
            <a:stCxn id="82" idx="4"/>
            <a:endCxn id="86" idx="0"/>
          </p:cNvCxnSpPr>
          <p:nvPr/>
        </p:nvCxnSpPr>
        <p:spPr bwMode="auto">
          <a:xfrm>
            <a:off x="6192000" y="180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0" name="AutoShape 24"/>
          <p:cNvCxnSpPr>
            <a:cxnSpLocks noChangeShapeType="1"/>
            <a:stCxn id="86" idx="6"/>
            <a:endCxn id="87" idx="2"/>
          </p:cNvCxnSpPr>
          <p:nvPr/>
        </p:nvCxnSpPr>
        <p:spPr bwMode="auto">
          <a:xfrm>
            <a:off x="6372000" y="270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1" name="AutoShape 24"/>
          <p:cNvCxnSpPr>
            <a:cxnSpLocks noChangeShapeType="1"/>
            <a:stCxn id="87" idx="0"/>
            <a:endCxn id="83" idx="4"/>
          </p:cNvCxnSpPr>
          <p:nvPr/>
        </p:nvCxnSpPr>
        <p:spPr bwMode="auto">
          <a:xfrm flipV="1">
            <a:off x="7272000" y="18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92" name="AutoShape 24"/>
          <p:cNvCxnSpPr>
            <a:cxnSpLocks noChangeShapeType="1"/>
            <a:stCxn id="82" idx="2"/>
            <a:endCxn id="72" idx="6"/>
          </p:cNvCxnSpPr>
          <p:nvPr/>
        </p:nvCxnSpPr>
        <p:spPr bwMode="auto">
          <a:xfrm flipH="1">
            <a:off x="5292000" y="16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3" name="AutoShape 24"/>
          <p:cNvCxnSpPr>
            <a:cxnSpLocks noChangeShapeType="1"/>
            <a:stCxn id="72" idx="4"/>
            <a:endCxn id="85" idx="0"/>
          </p:cNvCxnSpPr>
          <p:nvPr/>
        </p:nvCxnSpPr>
        <p:spPr bwMode="auto">
          <a:xfrm>
            <a:off x="5112000" y="1809000"/>
            <a:ext cx="0" cy="720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4" name="AutoShape 24"/>
          <p:cNvCxnSpPr>
            <a:cxnSpLocks noChangeShapeType="1"/>
            <a:stCxn id="83" idx="6"/>
            <a:endCxn id="84" idx="2"/>
          </p:cNvCxnSpPr>
          <p:nvPr/>
        </p:nvCxnSpPr>
        <p:spPr bwMode="auto">
          <a:xfrm>
            <a:off x="7452000" y="162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5" name="AutoShape 24"/>
          <p:cNvCxnSpPr>
            <a:cxnSpLocks noChangeShapeType="1"/>
            <a:stCxn id="87" idx="6"/>
            <a:endCxn id="88" idx="2"/>
          </p:cNvCxnSpPr>
          <p:nvPr/>
        </p:nvCxnSpPr>
        <p:spPr bwMode="auto">
          <a:xfrm>
            <a:off x="7452000" y="2709000"/>
            <a:ext cx="72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arrow" w="lg" len="lg"/>
            <a:tailEnd type="none" w="med" len="med"/>
          </a:ln>
        </p:spPr>
      </p:cxnSp>
      <p:cxnSp>
        <p:nvCxnSpPr>
          <p:cNvPr id="96" name="AutoShape 24"/>
          <p:cNvCxnSpPr>
            <a:cxnSpLocks noChangeShapeType="1"/>
            <a:stCxn id="88" idx="0"/>
            <a:endCxn id="84" idx="4"/>
          </p:cNvCxnSpPr>
          <p:nvPr/>
        </p:nvCxnSpPr>
        <p:spPr bwMode="auto">
          <a:xfrm flipV="1">
            <a:off x="8352000" y="18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3" grpId="0" animBg="1"/>
      <p:bldP spid="494603" grpId="1" animBg="1"/>
      <p:bldP spid="494604" grpId="0"/>
      <p:bldP spid="494604" grpId="1"/>
      <p:bldP spid="494605" grpId="0" animBg="1"/>
      <p:bldP spid="494605" grpId="1" animBg="1"/>
      <p:bldP spid="494606" grpId="0"/>
      <p:bldP spid="494606" grpId="1"/>
      <p:bldP spid="494607" grpId="0" animBg="1"/>
      <p:bldP spid="494607" grpId="1" animBg="1"/>
      <p:bldP spid="494608" grpId="0"/>
      <p:bldP spid="494608" grpId="1"/>
      <p:bldP spid="494609" grpId="0" animBg="1"/>
      <p:bldP spid="494609" grpId="1" animBg="1"/>
      <p:bldP spid="494610" grpId="0" animBg="1"/>
      <p:bldP spid="494610" grpId="1" animBg="1"/>
      <p:bldP spid="494611" grpId="0" animBg="1"/>
      <p:bldP spid="494611" grpId="1" animBg="1"/>
      <p:bldP spid="494612" grpId="0"/>
      <p:bldP spid="494613" grpId="0"/>
      <p:bldP spid="494614" grpId="0"/>
      <p:bldP spid="494615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6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10300</TotalTime>
  <Words>4162</Words>
  <Application>Microsoft Office PowerPoint</Application>
  <PresentationFormat>投影片</PresentationFormat>
  <Paragraphs>1216</Paragraphs>
  <Slides>48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61" baseType="lpstr">
      <vt:lpstr>細明體</vt:lpstr>
      <vt:lpstr>新細明體</vt:lpstr>
      <vt:lpstr>標楷體</vt:lpstr>
      <vt:lpstr>Arial</vt:lpstr>
      <vt:lpstr>Cambria Math</vt:lpstr>
      <vt:lpstr>Lucida Console</vt:lpstr>
      <vt:lpstr>MT Extra</vt:lpstr>
      <vt:lpstr>Symbol</vt:lpstr>
      <vt:lpstr>Times New Roman</vt:lpstr>
      <vt:lpstr>Webdings</vt:lpstr>
      <vt:lpstr>Wingdings</vt:lpstr>
      <vt:lpstr>Blends</vt:lpstr>
      <vt:lpstr>方程式</vt:lpstr>
      <vt:lpstr>Breadth-first search (BFS)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 of BFS</vt:lpstr>
      <vt:lpstr>Shortest Paths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473</cp:revision>
  <dcterms:created xsi:type="dcterms:W3CDTF">2001-09-06T13:56:50Z</dcterms:created>
  <dcterms:modified xsi:type="dcterms:W3CDTF">2025-09-02T11:49:50Z</dcterms:modified>
</cp:coreProperties>
</file>