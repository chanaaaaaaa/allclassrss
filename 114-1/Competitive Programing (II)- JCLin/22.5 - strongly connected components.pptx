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89"/>
  </p:notesMasterIdLst>
  <p:handoutMasterIdLst>
    <p:handoutMasterId r:id="rId190"/>
  </p:handoutMasterIdLst>
  <p:sldIdLst>
    <p:sldId id="1303" r:id="rId2"/>
    <p:sldId id="1380" r:id="rId3"/>
    <p:sldId id="1314" r:id="rId4"/>
    <p:sldId id="1305" r:id="rId5"/>
    <p:sldId id="1686" r:id="rId6"/>
    <p:sldId id="1687" r:id="rId7"/>
    <p:sldId id="1307" r:id="rId8"/>
    <p:sldId id="988" r:id="rId9"/>
    <p:sldId id="1474" r:id="rId10"/>
    <p:sldId id="1329" r:id="rId11"/>
    <p:sldId id="1330" r:id="rId12"/>
    <p:sldId id="1331" r:id="rId13"/>
    <p:sldId id="1332" r:id="rId14"/>
    <p:sldId id="1333" r:id="rId15"/>
    <p:sldId id="1334" r:id="rId16"/>
    <p:sldId id="1335" r:id="rId17"/>
    <p:sldId id="1336" r:id="rId18"/>
    <p:sldId id="1337" r:id="rId19"/>
    <p:sldId id="1338" r:id="rId20"/>
    <p:sldId id="1339" r:id="rId21"/>
    <p:sldId id="1340" r:id="rId22"/>
    <p:sldId id="1341" r:id="rId23"/>
    <p:sldId id="1342" r:id="rId24"/>
    <p:sldId id="1346" r:id="rId25"/>
    <p:sldId id="1347" r:id="rId26"/>
    <p:sldId id="1356" r:id="rId27"/>
    <p:sldId id="1357" r:id="rId28"/>
    <p:sldId id="1358" r:id="rId29"/>
    <p:sldId id="1359" r:id="rId30"/>
    <p:sldId id="1360" r:id="rId31"/>
    <p:sldId id="1361" r:id="rId32"/>
    <p:sldId id="1362" r:id="rId33"/>
    <p:sldId id="1363" r:id="rId34"/>
    <p:sldId id="1364" r:id="rId35"/>
    <p:sldId id="1365" r:id="rId36"/>
    <p:sldId id="1366" r:id="rId37"/>
    <p:sldId id="1367" r:id="rId38"/>
    <p:sldId id="1368" r:id="rId39"/>
    <p:sldId id="1369" r:id="rId40"/>
    <p:sldId id="1370" r:id="rId41"/>
    <p:sldId id="1371" r:id="rId42"/>
    <p:sldId id="1355" r:id="rId43"/>
    <p:sldId id="1381" r:id="rId44"/>
    <p:sldId id="1382" r:id="rId45"/>
    <p:sldId id="1383" r:id="rId46"/>
    <p:sldId id="1384" r:id="rId47"/>
    <p:sldId id="1385" r:id="rId48"/>
    <p:sldId id="1386" r:id="rId49"/>
    <p:sldId id="1387" r:id="rId50"/>
    <p:sldId id="1388" r:id="rId51"/>
    <p:sldId id="1389" r:id="rId52"/>
    <p:sldId id="1390" r:id="rId53"/>
    <p:sldId id="1391" r:id="rId54"/>
    <p:sldId id="1392" r:id="rId55"/>
    <p:sldId id="1393" r:id="rId56"/>
    <p:sldId id="1394" r:id="rId57"/>
    <p:sldId id="1396" r:id="rId58"/>
    <p:sldId id="1397" r:id="rId59"/>
    <p:sldId id="1398" r:id="rId60"/>
    <p:sldId id="1399" r:id="rId61"/>
    <p:sldId id="1400" r:id="rId62"/>
    <p:sldId id="1401" r:id="rId63"/>
    <p:sldId id="1402" r:id="rId64"/>
    <p:sldId id="1403" r:id="rId65"/>
    <p:sldId id="1404" r:id="rId66"/>
    <p:sldId id="1405" r:id="rId67"/>
    <p:sldId id="1406" r:id="rId68"/>
    <p:sldId id="1407" r:id="rId69"/>
    <p:sldId id="1408" r:id="rId70"/>
    <p:sldId id="1475" r:id="rId71"/>
    <p:sldId id="1476" r:id="rId72"/>
    <p:sldId id="1477" r:id="rId73"/>
    <p:sldId id="1478" r:id="rId74"/>
    <p:sldId id="1479" r:id="rId75"/>
    <p:sldId id="1480" r:id="rId76"/>
    <p:sldId id="1481" r:id="rId77"/>
    <p:sldId id="1482" r:id="rId78"/>
    <p:sldId id="1483" r:id="rId79"/>
    <p:sldId id="1484" r:id="rId80"/>
    <p:sldId id="1485" r:id="rId81"/>
    <p:sldId id="1486" r:id="rId82"/>
    <p:sldId id="1487" r:id="rId83"/>
    <p:sldId id="1488" r:id="rId84"/>
    <p:sldId id="1489" r:id="rId85"/>
    <p:sldId id="1490" r:id="rId86"/>
    <p:sldId id="1491" r:id="rId87"/>
    <p:sldId id="1492" r:id="rId88"/>
    <p:sldId id="1656" r:id="rId89"/>
    <p:sldId id="1659" r:id="rId90"/>
    <p:sldId id="1660" r:id="rId91"/>
    <p:sldId id="1661" r:id="rId92"/>
    <p:sldId id="1662" r:id="rId93"/>
    <p:sldId id="1663" r:id="rId94"/>
    <p:sldId id="1664" r:id="rId95"/>
    <p:sldId id="1665" r:id="rId96"/>
    <p:sldId id="1666" r:id="rId97"/>
    <p:sldId id="1667" r:id="rId98"/>
    <p:sldId id="1668" r:id="rId99"/>
    <p:sldId id="1669" r:id="rId100"/>
    <p:sldId id="1670" r:id="rId101"/>
    <p:sldId id="1671" r:id="rId102"/>
    <p:sldId id="1672" r:id="rId103"/>
    <p:sldId id="1673" r:id="rId104"/>
    <p:sldId id="1675" r:id="rId105"/>
    <p:sldId id="1677" r:id="rId106"/>
    <p:sldId id="1678" r:id="rId107"/>
    <p:sldId id="1679" r:id="rId108"/>
    <p:sldId id="1680" r:id="rId109"/>
    <p:sldId id="1345" r:id="rId110"/>
    <p:sldId id="1505" r:id="rId111"/>
    <p:sldId id="1506" r:id="rId112"/>
    <p:sldId id="1507" r:id="rId113"/>
    <p:sldId id="1508" r:id="rId114"/>
    <p:sldId id="1509" r:id="rId115"/>
    <p:sldId id="1510" r:id="rId116"/>
    <p:sldId id="1511" r:id="rId117"/>
    <p:sldId id="1512" r:id="rId118"/>
    <p:sldId id="1513" r:id="rId119"/>
    <p:sldId id="1514" r:id="rId120"/>
    <p:sldId id="1515" r:id="rId121"/>
    <p:sldId id="1516" r:id="rId122"/>
    <p:sldId id="1517" r:id="rId123"/>
    <p:sldId id="1518" r:id="rId124"/>
    <p:sldId id="1519" r:id="rId125"/>
    <p:sldId id="1520" r:id="rId126"/>
    <p:sldId id="1521" r:id="rId127"/>
    <p:sldId id="1522" r:id="rId128"/>
    <p:sldId id="1523" r:id="rId129"/>
    <p:sldId id="1423" r:id="rId130"/>
    <p:sldId id="1114" r:id="rId131"/>
    <p:sldId id="1525" r:id="rId132"/>
    <p:sldId id="1526" r:id="rId133"/>
    <p:sldId id="1527" r:id="rId134"/>
    <p:sldId id="1528" r:id="rId135"/>
    <p:sldId id="1529" r:id="rId136"/>
    <p:sldId id="1530" r:id="rId137"/>
    <p:sldId id="1531" r:id="rId138"/>
    <p:sldId id="1532" r:id="rId139"/>
    <p:sldId id="1533" r:id="rId140"/>
    <p:sldId id="1534" r:id="rId141"/>
    <p:sldId id="1535" r:id="rId142"/>
    <p:sldId id="1536" r:id="rId143"/>
    <p:sldId id="1537" r:id="rId144"/>
    <p:sldId id="1538" r:id="rId145"/>
    <p:sldId id="1539" r:id="rId146"/>
    <p:sldId id="1540" r:id="rId147"/>
    <p:sldId id="1541" r:id="rId148"/>
    <p:sldId id="1542" r:id="rId149"/>
    <p:sldId id="1638" r:id="rId150"/>
    <p:sldId id="1117" r:id="rId151"/>
    <p:sldId id="1543" r:id="rId152"/>
    <p:sldId id="1545" r:id="rId153"/>
    <p:sldId id="1546" r:id="rId154"/>
    <p:sldId id="1547" r:id="rId155"/>
    <p:sldId id="1548" r:id="rId156"/>
    <p:sldId id="1549" r:id="rId157"/>
    <p:sldId id="1550" r:id="rId158"/>
    <p:sldId id="1551" r:id="rId159"/>
    <p:sldId id="1552" r:id="rId160"/>
    <p:sldId id="1553" r:id="rId161"/>
    <p:sldId id="1554" r:id="rId162"/>
    <p:sldId id="1555" r:id="rId163"/>
    <p:sldId id="1556" r:id="rId164"/>
    <p:sldId id="1557" r:id="rId165"/>
    <p:sldId id="1657" r:id="rId166"/>
    <p:sldId id="1450" r:id="rId167"/>
    <p:sldId id="1643" r:id="rId168"/>
    <p:sldId id="1642" r:id="rId169"/>
    <p:sldId id="1644" r:id="rId170"/>
    <p:sldId id="1645" r:id="rId171"/>
    <p:sldId id="1646" r:id="rId172"/>
    <p:sldId id="1647" r:id="rId173"/>
    <p:sldId id="1648" r:id="rId174"/>
    <p:sldId id="1649" r:id="rId175"/>
    <p:sldId id="1650" r:id="rId176"/>
    <p:sldId id="1651" r:id="rId177"/>
    <p:sldId id="1652" r:id="rId178"/>
    <p:sldId id="1653" r:id="rId179"/>
    <p:sldId id="1654" r:id="rId180"/>
    <p:sldId id="1655" r:id="rId181"/>
    <p:sldId id="1658" r:id="rId182"/>
    <p:sldId id="1316" r:id="rId183"/>
    <p:sldId id="1682" r:id="rId184"/>
    <p:sldId id="1681" r:id="rId185"/>
    <p:sldId id="1683" r:id="rId186"/>
    <p:sldId id="1684" r:id="rId187"/>
    <p:sldId id="1685" r:id="rId188"/>
  </p:sldIdLst>
  <p:sldSz cx="9144000" cy="6858000" type="overhead"/>
  <p:notesSz cx="9928225" cy="6669088"/>
  <p:defaultTextStyle>
    <a:defPPr>
      <a:defRPr lang="zh-TW"/>
    </a:defPPr>
    <a:lvl1pPr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>
          <p15:clr>
            <a:srgbClr val="A4A3A4"/>
          </p15:clr>
        </p15:guide>
        <p15:guide id="2" pos="56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00"/>
    <a:srgbClr val="00B0F0"/>
    <a:srgbClr val="00E4A8"/>
    <a:srgbClr val="FFFF00"/>
    <a:srgbClr val="FF99FF"/>
    <a:srgbClr val="B2B2B2"/>
    <a:srgbClr val="008000"/>
    <a:srgbClr val="00FF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1" autoAdjust="0"/>
    <p:restoredTop sz="95455" autoAdjust="0"/>
  </p:normalViewPr>
  <p:slideViewPr>
    <p:cSldViewPr showGuides="1">
      <p:cViewPr varScale="1">
        <p:scale>
          <a:sx n="95" d="100"/>
          <a:sy n="95" d="100"/>
        </p:scale>
        <p:origin x="158" y="77"/>
      </p:cViewPr>
      <p:guideLst>
        <p:guide orient="horz" pos="4065"/>
        <p:guide pos="56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80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7027CD03-75DA-4C94-8D1F-69A636C2E8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6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8825" y="501650"/>
            <a:ext cx="3330575" cy="2498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167063"/>
            <a:ext cx="794385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33D4C07E-077C-4BB7-B7DE-F984120537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 anchor="ctr" anchorCtr="1"/>
          <a:lstStyle>
            <a:lvl1pPr>
              <a:defRPr sz="4400"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189000"/>
            <a:ext cx="8280000" cy="126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629000"/>
            <a:ext cx="8280000" cy="467941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315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5079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032000" y="4869001"/>
            <a:ext cx="4860000" cy="1439412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8806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909001"/>
            <a:ext cx="4140000" cy="4320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75559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5760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219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576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040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472000" y="369000"/>
            <a:ext cx="3420000" cy="612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1269000"/>
            <a:ext cx="3960000" cy="504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1269000"/>
            <a:ext cx="3960000" cy="504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2622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3960000" cy="576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549000"/>
            <a:ext cx="3960000" cy="576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20760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1269000"/>
            <a:ext cx="8280000" cy="3420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32000" y="5049000"/>
            <a:ext cx="8280000" cy="1260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03657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32000" y="189000"/>
            <a:ext cx="828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2051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268413"/>
            <a:ext cx="828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8" r:id="rId3"/>
    <p:sldLayoutId id="2147483663" r:id="rId4"/>
    <p:sldLayoutId id="2147483666" r:id="rId5"/>
    <p:sldLayoutId id="2147483659" r:id="rId6"/>
    <p:sldLayoutId id="2147483664" r:id="rId7"/>
    <p:sldLayoutId id="2147483667" r:id="rId8"/>
    <p:sldLayoutId id="2147483655" r:id="rId9"/>
    <p:sldLayoutId id="2147483662" r:id="rId10"/>
    <p:sldLayoutId id="2147483661" r:id="rId11"/>
    <p:sldLayoutId id="2147483660" r:id="rId12"/>
    <p:sldLayoutId id="2147483657" r:id="rId13"/>
    <p:sldLayoutId id="2147483658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830263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2382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462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algn="ctr" eaLnBrk="1" hangingPunct="1"/>
            <a:r>
              <a:rPr lang="en-US" altLang="zh-TW" dirty="0"/>
              <a:t>22.5 Strongly connected components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1268413"/>
            <a:ext cx="8100000" cy="1620587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A directed graph is </a:t>
            </a:r>
            <a:r>
              <a:rPr lang="en-US" altLang="zh-TW" i="1" dirty="0">
                <a:solidFill>
                  <a:srgbClr val="0000FF"/>
                </a:solidFill>
              </a:rPr>
              <a:t>strongly connected</a:t>
            </a:r>
            <a:r>
              <a:rPr lang="en-US" altLang="zh-TW" dirty="0">
                <a:solidFill>
                  <a:srgbClr val="000000"/>
                </a:solidFill>
              </a:rPr>
              <a:t> if every two vertices are reachable from each other. A </a:t>
            </a:r>
            <a:r>
              <a:rPr lang="en-US" altLang="zh-TW" i="1" dirty="0">
                <a:solidFill>
                  <a:srgbClr val="0000FF"/>
                </a:solidFill>
              </a:rPr>
              <a:t>strongly connected component</a:t>
            </a:r>
            <a:r>
              <a:rPr lang="en-US" altLang="zh-TW" dirty="0">
                <a:solidFill>
                  <a:srgbClr val="000000"/>
                </a:solidFill>
              </a:rPr>
              <a:t> of a directed graph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is a maximal set of vertices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⊆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such that for every pair of vertices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in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, vertices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are reachable from each other.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9" name="橢圓 38"/>
          <p:cNvSpPr/>
          <p:nvPr/>
        </p:nvSpPr>
        <p:spPr bwMode="auto">
          <a:xfrm>
            <a:off x="5832000" y="5049000"/>
            <a:ext cx="720000" cy="72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0" name="橢圓 39"/>
          <p:cNvSpPr/>
          <p:nvPr/>
        </p:nvSpPr>
        <p:spPr bwMode="auto">
          <a:xfrm>
            <a:off x="4752000" y="3969000"/>
            <a:ext cx="1800000" cy="72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橢圓 40"/>
          <p:cNvSpPr/>
          <p:nvPr/>
        </p:nvSpPr>
        <p:spPr bwMode="auto">
          <a:xfrm>
            <a:off x="3672000" y="5049000"/>
            <a:ext cx="1800000" cy="72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套索 41"/>
          <p:cNvSpPr/>
          <p:nvPr/>
        </p:nvSpPr>
        <p:spPr bwMode="auto">
          <a:xfrm rot="5400000">
            <a:off x="2052000" y="3789000"/>
            <a:ext cx="2880000" cy="2160000"/>
          </a:xfrm>
          <a:prstGeom prst="chord">
            <a:avLst>
              <a:gd name="adj1" fmla="val 1859089"/>
              <a:gd name="adj2" fmla="val 14533910"/>
            </a:avLst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38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601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38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b</a:t>
            </a:r>
          </a:p>
        </p:txBody>
      </p:sp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</a:t>
            </a:r>
          </a:p>
        </p:txBody>
      </p:sp>
      <p:sp>
        <p:nvSpPr>
          <p:cNvPr id="47" name="Text Box 46"/>
          <p:cNvSpPr txBox="1">
            <a:spLocks noChangeArrowheads="1"/>
          </p:cNvSpPr>
          <p:nvPr/>
        </p:nvSpPr>
        <p:spPr bwMode="auto">
          <a:xfrm>
            <a:off x="3852000" y="558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44000" anchor="t" anchorCtr="0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f</a:t>
            </a:r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4932000" y="558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90000" anchor="t" anchorCtr="0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g</a:t>
            </a: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auto">
          <a:xfrm>
            <a:off x="5832000" y="558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44000" anchor="t" anchorCtr="0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h</a:t>
            </a:r>
          </a:p>
        </p:txBody>
      </p: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49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Oval 50"/>
          <p:cNvSpPr>
            <a:spLocks noChangeArrowheads="1"/>
          </p:cNvSpPr>
          <p:nvPr/>
        </p:nvSpPr>
        <p:spPr bwMode="auto">
          <a:xfrm>
            <a:off x="493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38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601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5" name="AutoShape 56"/>
          <p:cNvCxnSpPr>
            <a:cxnSpLocks noChangeShapeType="1"/>
            <a:stCxn id="43" idx="4"/>
            <a:endCxn id="52" idx="0"/>
          </p:cNvCxnSpPr>
          <p:nvPr/>
        </p:nvCxnSpPr>
        <p:spPr bwMode="auto">
          <a:xfrm>
            <a:off x="4032000" y="45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56" name="AutoShape 62"/>
          <p:cNvCxnSpPr>
            <a:cxnSpLocks noChangeShapeType="1"/>
            <a:stCxn id="54" idx="4"/>
            <a:endCxn id="54" idx="6"/>
          </p:cNvCxnSpPr>
          <p:nvPr/>
        </p:nvCxnSpPr>
        <p:spPr bwMode="auto">
          <a:xfrm rot="5400000" flipH="1" flipV="1">
            <a:off x="6192000" y="5409000"/>
            <a:ext cx="180000" cy="180000"/>
          </a:xfrm>
          <a:prstGeom prst="curvedConnector4">
            <a:avLst>
              <a:gd name="adj1" fmla="val -127000"/>
              <a:gd name="adj2" fmla="val 227000"/>
            </a:avLst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57" name="弧形接點 56"/>
          <p:cNvCxnSpPr>
            <a:stCxn id="50" idx="7"/>
            <a:endCxn id="53" idx="1"/>
          </p:cNvCxnSpPr>
          <p:nvPr/>
        </p:nvCxnSpPr>
        <p:spPr bwMode="auto">
          <a:xfrm rot="5400000" flipH="1" flipV="1">
            <a:off x="5652000" y="3789000"/>
            <a:ext cx="12700" cy="825442"/>
          </a:xfrm>
          <a:prstGeom prst="curvedConnector3">
            <a:avLst>
              <a:gd name="adj1" fmla="val 1141449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8" name="弧形接點 57"/>
          <p:cNvCxnSpPr>
            <a:stCxn id="53" idx="3"/>
            <a:endCxn id="50" idx="5"/>
          </p:cNvCxnSpPr>
          <p:nvPr/>
        </p:nvCxnSpPr>
        <p:spPr bwMode="auto">
          <a:xfrm rot="5400000">
            <a:off x="5652000" y="4043558"/>
            <a:ext cx="12700" cy="825442"/>
          </a:xfrm>
          <a:prstGeom prst="curvedConnector3">
            <a:avLst>
              <a:gd name="adj1" fmla="val 120459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Text Box 43"/>
          <p:cNvSpPr txBox="1">
            <a:spLocks noChangeArrowheads="1"/>
          </p:cNvSpPr>
          <p:nvPr/>
        </p:nvSpPr>
        <p:spPr bwMode="auto">
          <a:xfrm>
            <a:off x="277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a</a:t>
            </a:r>
          </a:p>
        </p:txBody>
      </p:sp>
      <p:sp>
        <p:nvSpPr>
          <p:cNvPr id="61" name="Text Box 46"/>
          <p:cNvSpPr txBox="1">
            <a:spLocks noChangeArrowheads="1"/>
          </p:cNvSpPr>
          <p:nvPr/>
        </p:nvSpPr>
        <p:spPr bwMode="auto">
          <a:xfrm>
            <a:off x="2772000" y="558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90000" anchor="t" anchorCtr="0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e</a:t>
            </a:r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3" name="AutoShape 56"/>
          <p:cNvCxnSpPr>
            <a:cxnSpLocks noChangeShapeType="1"/>
            <a:stCxn id="62" idx="0"/>
            <a:endCxn id="59" idx="4"/>
          </p:cNvCxnSpPr>
          <p:nvPr/>
        </p:nvCxnSpPr>
        <p:spPr bwMode="auto">
          <a:xfrm flipV="1">
            <a:off x="2952000" y="450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64" name="AutoShape 57"/>
          <p:cNvCxnSpPr>
            <a:cxnSpLocks noChangeShapeType="1"/>
            <a:stCxn id="43" idx="3"/>
            <a:endCxn id="62" idx="7"/>
          </p:cNvCxnSpPr>
          <p:nvPr/>
        </p:nvCxnSpPr>
        <p:spPr bwMode="auto">
          <a:xfrm flipH="1">
            <a:off x="3079279" y="4456279"/>
            <a:ext cx="825442" cy="82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65" name="弧形接點 64"/>
          <p:cNvCxnSpPr>
            <a:stCxn id="52" idx="7"/>
            <a:endCxn id="51" idx="1"/>
          </p:cNvCxnSpPr>
          <p:nvPr/>
        </p:nvCxnSpPr>
        <p:spPr bwMode="auto">
          <a:xfrm rot="5400000" flipH="1" flipV="1">
            <a:off x="4572000" y="4869000"/>
            <a:ext cx="12700" cy="825442"/>
          </a:xfrm>
          <a:prstGeom prst="curvedConnector3">
            <a:avLst>
              <a:gd name="adj1" fmla="val 1204606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6" name="弧形接點 65"/>
          <p:cNvCxnSpPr>
            <a:stCxn id="51" idx="3"/>
            <a:endCxn id="52" idx="5"/>
          </p:cNvCxnSpPr>
          <p:nvPr/>
        </p:nvCxnSpPr>
        <p:spPr bwMode="auto">
          <a:xfrm rot="5400000">
            <a:off x="4572000" y="5123558"/>
            <a:ext cx="12700" cy="825442"/>
          </a:xfrm>
          <a:prstGeom prst="curvedConnector3">
            <a:avLst>
              <a:gd name="adj1" fmla="val 1078283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7" name="AutoShape 56"/>
          <p:cNvCxnSpPr>
            <a:cxnSpLocks noChangeShapeType="1"/>
            <a:stCxn id="43" idx="6"/>
            <a:endCxn id="50" idx="2"/>
          </p:cNvCxnSpPr>
          <p:nvPr/>
        </p:nvCxnSpPr>
        <p:spPr bwMode="auto">
          <a:xfrm>
            <a:off x="4212000" y="43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68" name="AutoShape 56"/>
          <p:cNvCxnSpPr>
            <a:cxnSpLocks noChangeShapeType="1"/>
            <a:stCxn id="59" idx="6"/>
            <a:endCxn id="43" idx="2"/>
          </p:cNvCxnSpPr>
          <p:nvPr/>
        </p:nvCxnSpPr>
        <p:spPr bwMode="auto">
          <a:xfrm>
            <a:off x="3132000" y="43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69" name="AutoShape 56"/>
          <p:cNvCxnSpPr>
            <a:cxnSpLocks noChangeShapeType="1"/>
            <a:stCxn id="62" idx="6"/>
            <a:endCxn id="52" idx="2"/>
          </p:cNvCxnSpPr>
          <p:nvPr/>
        </p:nvCxnSpPr>
        <p:spPr bwMode="auto">
          <a:xfrm>
            <a:off x="3132000" y="54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70" name="AutoShape 56"/>
          <p:cNvCxnSpPr>
            <a:cxnSpLocks noChangeShapeType="1"/>
            <a:stCxn id="53" idx="4"/>
            <a:endCxn id="54" idx="0"/>
          </p:cNvCxnSpPr>
          <p:nvPr/>
        </p:nvCxnSpPr>
        <p:spPr bwMode="auto">
          <a:xfrm>
            <a:off x="6192000" y="45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71" name="AutoShape 56"/>
          <p:cNvCxnSpPr>
            <a:cxnSpLocks noChangeShapeType="1"/>
            <a:stCxn id="51" idx="6"/>
            <a:endCxn id="54" idx="2"/>
          </p:cNvCxnSpPr>
          <p:nvPr/>
        </p:nvCxnSpPr>
        <p:spPr bwMode="auto">
          <a:xfrm>
            <a:off x="5292000" y="540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72" name="AutoShape 56"/>
          <p:cNvCxnSpPr>
            <a:cxnSpLocks noChangeShapeType="1"/>
            <a:stCxn id="50" idx="4"/>
            <a:endCxn id="51" idx="0"/>
          </p:cNvCxnSpPr>
          <p:nvPr/>
        </p:nvCxnSpPr>
        <p:spPr bwMode="auto">
          <a:xfrm>
            <a:off x="5112000" y="450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1531866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algn="ctr" eaLnBrk="1" hangingPunct="1"/>
            <a:r>
              <a:rPr lang="en-US" altLang="zh-TW" dirty="0"/>
              <a:t>22.5 Strongly connected components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1268413"/>
            <a:ext cx="8100000" cy="1620587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strongly connected component</a:t>
            </a:r>
            <a:r>
              <a:rPr lang="en-US" altLang="zh-TW" dirty="0">
                <a:solidFill>
                  <a:srgbClr val="000000"/>
                </a:solidFill>
              </a:rPr>
              <a:t> of a directed graph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is a maximal set of vertices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⊆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such that for every pair of vertices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in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, vertices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are reachable from each other.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橢圓 4"/>
          <p:cNvSpPr/>
          <p:nvPr/>
        </p:nvSpPr>
        <p:spPr bwMode="auto">
          <a:xfrm>
            <a:off x="5292000" y="4869000"/>
            <a:ext cx="720000" cy="720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rgbClr val="00E4A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套索 7"/>
          <p:cNvSpPr/>
          <p:nvPr/>
        </p:nvSpPr>
        <p:spPr bwMode="auto">
          <a:xfrm rot="5400000">
            <a:off x="2952000" y="3069000"/>
            <a:ext cx="3240000" cy="3240000"/>
          </a:xfrm>
          <a:prstGeom prst="chord">
            <a:avLst>
              <a:gd name="adj1" fmla="val 1030661"/>
              <a:gd name="adj2" fmla="val 14809128"/>
            </a:avLst>
          </a:prstGeom>
          <a:solidFill>
            <a:schemeClr val="accent1"/>
          </a:solidFill>
          <a:ln w="9525" cap="flat" cmpd="sng" algn="ctr">
            <a:solidFill>
              <a:srgbClr val="00E4A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Oval 39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2" name="Text Box 43"/>
          <p:cNvSpPr txBox="1">
            <a:spLocks noChangeArrowheads="1"/>
          </p:cNvSpPr>
          <p:nvPr/>
        </p:nvSpPr>
        <p:spPr bwMode="auto">
          <a:xfrm>
            <a:off x="3312000" y="54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43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b</a:t>
            </a:r>
          </a:p>
        </p:txBody>
      </p:sp>
      <p:sp>
        <p:nvSpPr>
          <p:cNvPr id="14" name="Text Box 45"/>
          <p:cNvSpPr txBox="1">
            <a:spLocks noChangeArrowheads="1"/>
          </p:cNvSpPr>
          <p:nvPr/>
        </p:nvSpPr>
        <p:spPr bwMode="auto">
          <a:xfrm>
            <a:off x="54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</a:t>
            </a:r>
          </a:p>
        </p:txBody>
      </p:sp>
      <p:sp>
        <p:nvSpPr>
          <p:cNvPr id="15" name="Text Box 46"/>
          <p:cNvSpPr txBox="1">
            <a:spLocks noChangeArrowheads="1"/>
          </p:cNvSpPr>
          <p:nvPr/>
        </p:nvSpPr>
        <p:spPr bwMode="auto">
          <a:xfrm>
            <a:off x="5292000" y="54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44000" anchor="t" anchorCtr="0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f</a:t>
            </a:r>
          </a:p>
        </p:txBody>
      </p:sp>
      <p:sp>
        <p:nvSpPr>
          <p:cNvPr id="19" name="Oval 50"/>
          <p:cNvSpPr>
            <a:spLocks noChangeArrowheads="1"/>
          </p:cNvSpPr>
          <p:nvPr/>
        </p:nvSpPr>
        <p:spPr bwMode="auto">
          <a:xfrm>
            <a:off x="43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52"/>
          <p:cNvSpPr>
            <a:spLocks noChangeArrowheads="1"/>
          </p:cNvSpPr>
          <p:nvPr/>
        </p:nvSpPr>
        <p:spPr bwMode="auto">
          <a:xfrm>
            <a:off x="54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Oval 53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4" name="AutoShape 56"/>
          <p:cNvCxnSpPr>
            <a:cxnSpLocks noChangeShapeType="1"/>
            <a:stCxn id="9" idx="4"/>
          </p:cNvCxnSpPr>
          <p:nvPr/>
        </p:nvCxnSpPr>
        <p:spPr bwMode="auto">
          <a:xfrm>
            <a:off x="457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25" name="AutoShape 62"/>
          <p:cNvCxnSpPr>
            <a:cxnSpLocks noChangeShapeType="1"/>
            <a:stCxn id="22" idx="4"/>
            <a:endCxn id="22" idx="6"/>
          </p:cNvCxnSpPr>
          <p:nvPr/>
        </p:nvCxnSpPr>
        <p:spPr bwMode="auto">
          <a:xfrm rot="5400000" flipH="1" flipV="1">
            <a:off x="5652000" y="5229000"/>
            <a:ext cx="180000" cy="180000"/>
          </a:xfrm>
          <a:prstGeom prst="curvedConnector4">
            <a:avLst>
              <a:gd name="adj1" fmla="val -127000"/>
              <a:gd name="adj2" fmla="val 227000"/>
            </a:avLst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26" name="弧形接點 25"/>
          <p:cNvCxnSpPr>
            <a:endCxn id="21" idx="1"/>
          </p:cNvCxnSpPr>
          <p:nvPr/>
        </p:nvCxnSpPr>
        <p:spPr bwMode="auto">
          <a:xfrm rot="5400000" flipH="1" flipV="1">
            <a:off x="5112000" y="3609000"/>
            <a:ext cx="12700" cy="825442"/>
          </a:xfrm>
          <a:prstGeom prst="curvedConnector3">
            <a:avLst>
              <a:gd name="adj1" fmla="val 1141449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1" idx="3"/>
          </p:cNvCxnSpPr>
          <p:nvPr/>
        </p:nvCxnSpPr>
        <p:spPr bwMode="auto">
          <a:xfrm rot="5400000">
            <a:off x="5112000" y="3863558"/>
            <a:ext cx="12700" cy="825442"/>
          </a:xfrm>
          <a:prstGeom prst="curvedConnector3">
            <a:avLst>
              <a:gd name="adj1" fmla="val 120459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8" name="Oval 39"/>
          <p:cNvSpPr>
            <a:spLocks noChangeArrowheads="1"/>
          </p:cNvSpPr>
          <p:nvPr/>
        </p:nvSpPr>
        <p:spPr bwMode="auto">
          <a:xfrm>
            <a:off x="33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Text Box 43"/>
          <p:cNvSpPr txBox="1">
            <a:spLocks noChangeArrowheads="1"/>
          </p:cNvSpPr>
          <p:nvPr/>
        </p:nvSpPr>
        <p:spPr bwMode="auto">
          <a:xfrm>
            <a:off x="33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a</a:t>
            </a:r>
          </a:p>
        </p:txBody>
      </p:sp>
      <p:sp>
        <p:nvSpPr>
          <p:cNvPr id="31" name="Text Box 46"/>
          <p:cNvSpPr txBox="1">
            <a:spLocks noChangeArrowheads="1"/>
          </p:cNvSpPr>
          <p:nvPr/>
        </p:nvSpPr>
        <p:spPr bwMode="auto">
          <a:xfrm>
            <a:off x="4392000" y="5409000"/>
            <a:ext cx="36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90000" anchor="t" anchorCtr="0"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e</a:t>
            </a:r>
          </a:p>
        </p:txBody>
      </p:sp>
      <p:sp>
        <p:nvSpPr>
          <p:cNvPr id="32" name="Oval 51"/>
          <p:cNvSpPr>
            <a:spLocks noChangeArrowheads="1"/>
          </p:cNvSpPr>
          <p:nvPr/>
        </p:nvSpPr>
        <p:spPr bwMode="auto">
          <a:xfrm>
            <a:off x="33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3" name="AutoShape 56"/>
          <p:cNvCxnSpPr>
            <a:cxnSpLocks noChangeShapeType="1"/>
            <a:stCxn id="32" idx="0"/>
            <a:endCxn id="28" idx="4"/>
          </p:cNvCxnSpPr>
          <p:nvPr/>
        </p:nvCxnSpPr>
        <p:spPr bwMode="auto">
          <a:xfrm flipV="1">
            <a:off x="349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35" name="弧形接點 34"/>
          <p:cNvCxnSpPr>
            <a:endCxn id="19" idx="1"/>
          </p:cNvCxnSpPr>
          <p:nvPr/>
        </p:nvCxnSpPr>
        <p:spPr bwMode="auto">
          <a:xfrm rot="5400000" flipH="1" flipV="1">
            <a:off x="4032000" y="4689000"/>
            <a:ext cx="12700" cy="825442"/>
          </a:xfrm>
          <a:prstGeom prst="curvedConnector3">
            <a:avLst>
              <a:gd name="adj1" fmla="val 1204606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6" name="弧形接點 35"/>
          <p:cNvCxnSpPr>
            <a:stCxn id="19" idx="3"/>
          </p:cNvCxnSpPr>
          <p:nvPr/>
        </p:nvCxnSpPr>
        <p:spPr bwMode="auto">
          <a:xfrm rot="5400000">
            <a:off x="4032000" y="4943558"/>
            <a:ext cx="12700" cy="825442"/>
          </a:xfrm>
          <a:prstGeom prst="curvedConnector3">
            <a:avLst>
              <a:gd name="adj1" fmla="val 1078283"/>
            </a:avLst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6" name="AutoShape 56"/>
          <p:cNvCxnSpPr>
            <a:cxnSpLocks noChangeShapeType="1"/>
            <a:stCxn id="28" idx="6"/>
            <a:endCxn id="9" idx="2"/>
          </p:cNvCxnSpPr>
          <p:nvPr/>
        </p:nvCxnSpPr>
        <p:spPr bwMode="auto">
          <a:xfrm>
            <a:off x="3672000" y="41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73" name="AutoShape 56"/>
          <p:cNvCxnSpPr>
            <a:cxnSpLocks noChangeShapeType="1"/>
            <a:stCxn id="21" idx="4"/>
            <a:endCxn id="22" idx="0"/>
          </p:cNvCxnSpPr>
          <p:nvPr/>
        </p:nvCxnSpPr>
        <p:spPr bwMode="auto">
          <a:xfrm>
            <a:off x="565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/>
            <a:tailEnd type="stealth" w="lg" len="lg"/>
          </a:ln>
        </p:spPr>
      </p:cxnSp>
      <p:cxnSp>
        <p:nvCxnSpPr>
          <p:cNvPr id="76" name="AutoShape 56"/>
          <p:cNvCxnSpPr>
            <a:cxnSpLocks noChangeShapeType="1"/>
            <a:stCxn id="19" idx="6"/>
            <a:endCxn id="22" idx="2"/>
          </p:cNvCxnSpPr>
          <p:nvPr/>
        </p:nvCxnSpPr>
        <p:spPr bwMode="auto">
          <a:xfrm>
            <a:off x="475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402489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AutoShape 57"/>
          <p:cNvCxnSpPr>
            <a:cxnSpLocks noChangeShapeType="1"/>
          </p:cNvCxnSpPr>
          <p:nvPr/>
        </p:nvCxnSpPr>
        <p:spPr bwMode="auto">
          <a:xfrm flipH="1" flipV="1">
            <a:off x="457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1" name="AutoShape 56"/>
          <p:cNvCxnSpPr>
            <a:cxnSpLocks noChangeShapeType="1"/>
          </p:cNvCxnSpPr>
          <p:nvPr/>
        </p:nvCxnSpPr>
        <p:spPr bwMode="auto">
          <a:xfrm flipV="1">
            <a:off x="385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2" name="AutoShape 57"/>
          <p:cNvCxnSpPr>
            <a:cxnSpLocks noChangeShapeType="1"/>
          </p:cNvCxnSpPr>
          <p:nvPr/>
        </p:nvCxnSpPr>
        <p:spPr bwMode="auto">
          <a:xfrm flipH="1" flipV="1">
            <a:off x="7452000" y="32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3" name="AutoShape 56"/>
          <p:cNvCxnSpPr>
            <a:cxnSpLocks noChangeShapeType="1"/>
          </p:cNvCxnSpPr>
          <p:nvPr/>
        </p:nvCxnSpPr>
        <p:spPr bwMode="auto">
          <a:xfrm flipV="1">
            <a:off x="6732000" y="32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" name="AutoShape 57"/>
          <p:cNvCxnSpPr>
            <a:cxnSpLocks noChangeShapeType="1"/>
          </p:cNvCxnSpPr>
          <p:nvPr/>
        </p:nvCxnSpPr>
        <p:spPr bwMode="auto">
          <a:xfrm flipH="1" flipV="1">
            <a:off x="3132000" y="324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0" name="AutoShape 56"/>
          <p:cNvCxnSpPr>
            <a:cxnSpLocks noChangeShapeType="1"/>
          </p:cNvCxnSpPr>
          <p:nvPr/>
        </p:nvCxnSpPr>
        <p:spPr bwMode="auto">
          <a:xfrm flipV="1">
            <a:off x="2232000" y="324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" name="Line 40"/>
          <p:cNvSpPr>
            <a:spLocks noChangeShapeType="1"/>
          </p:cNvSpPr>
          <p:nvPr/>
        </p:nvSpPr>
        <p:spPr bwMode="auto">
          <a:xfrm>
            <a:off x="6732000" y="2529000"/>
            <a:ext cx="72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Line 40"/>
          <p:cNvSpPr>
            <a:spLocks noChangeShapeType="1"/>
          </p:cNvSpPr>
          <p:nvPr/>
        </p:nvSpPr>
        <p:spPr bwMode="auto">
          <a:xfrm>
            <a:off x="3852000" y="2529000"/>
            <a:ext cx="72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3132000" y="2529000"/>
            <a:ext cx="720000" cy="720003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" name="Line 40"/>
          <p:cNvSpPr>
            <a:spLocks noChangeShapeType="1"/>
          </p:cNvSpPr>
          <p:nvPr/>
        </p:nvSpPr>
        <p:spPr bwMode="auto">
          <a:xfrm flipV="1">
            <a:off x="6012000" y="2529000"/>
            <a:ext cx="72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AutoShape 57"/>
          <p:cNvCxnSpPr>
            <a:cxnSpLocks noChangeShapeType="1"/>
          </p:cNvCxnSpPr>
          <p:nvPr/>
        </p:nvCxnSpPr>
        <p:spPr bwMode="auto">
          <a:xfrm flipH="1" flipV="1">
            <a:off x="5292000" y="1809000"/>
            <a:ext cx="16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" name="Oval 39"/>
          <p:cNvSpPr>
            <a:spLocks noChangeArrowheads="1"/>
          </p:cNvSpPr>
          <p:nvPr/>
        </p:nvSpPr>
        <p:spPr bwMode="auto">
          <a:xfrm>
            <a:off x="6552000" y="2349000"/>
            <a:ext cx="360000" cy="360000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23</a:t>
            </a:r>
          </a:p>
        </p:txBody>
      </p:sp>
      <p:sp>
        <p:nvSpPr>
          <p:cNvPr id="5" name="Oval 49"/>
          <p:cNvSpPr>
            <a:spLocks noChangeArrowheads="1"/>
          </p:cNvSpPr>
          <p:nvPr/>
        </p:nvSpPr>
        <p:spPr bwMode="auto">
          <a:xfrm>
            <a:off x="4392000" y="3069000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44</a:t>
            </a:r>
          </a:p>
        </p:txBody>
      </p:sp>
      <p:sp>
        <p:nvSpPr>
          <p:cNvPr id="6" name="Oval 50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25</a:t>
            </a:r>
          </a:p>
        </p:txBody>
      </p: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2952000" y="306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Oval 52"/>
          <p:cNvSpPr>
            <a:spLocks noChangeArrowheads="1"/>
          </p:cNvSpPr>
          <p:nvPr/>
        </p:nvSpPr>
        <p:spPr bwMode="auto">
          <a:xfrm>
            <a:off x="5832000" y="306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</a:p>
        </p:txBody>
      </p:sp>
      <p:cxnSp>
        <p:nvCxnSpPr>
          <p:cNvPr id="11" name="AutoShape 56"/>
          <p:cNvCxnSpPr>
            <a:cxnSpLocks noChangeShapeType="1"/>
          </p:cNvCxnSpPr>
          <p:nvPr/>
        </p:nvCxnSpPr>
        <p:spPr bwMode="auto">
          <a:xfrm flipV="1">
            <a:off x="3672000" y="1809000"/>
            <a:ext cx="16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" name="Oval 39"/>
          <p:cNvSpPr>
            <a:spLocks noChangeArrowheads="1"/>
          </p:cNvSpPr>
          <p:nvPr/>
        </p:nvSpPr>
        <p:spPr bwMode="auto">
          <a:xfrm>
            <a:off x="5112000" y="162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3672000" y="234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60" name="Line 40"/>
          <p:cNvSpPr>
            <a:spLocks noChangeShapeType="1"/>
          </p:cNvSpPr>
          <p:nvPr/>
        </p:nvSpPr>
        <p:spPr bwMode="auto">
          <a:xfrm>
            <a:off x="4032000" y="396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2232000" y="396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1692000" y="396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3492000" y="396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39"/>
          <p:cNvSpPr>
            <a:spLocks noChangeArrowheads="1"/>
          </p:cNvSpPr>
          <p:nvPr/>
        </p:nvSpPr>
        <p:spPr bwMode="auto">
          <a:xfrm>
            <a:off x="3852000" y="378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66" name="Oval 49"/>
          <p:cNvSpPr>
            <a:spLocks noChangeArrowheads="1"/>
          </p:cNvSpPr>
          <p:nvPr/>
        </p:nvSpPr>
        <p:spPr bwMode="auto">
          <a:xfrm>
            <a:off x="25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67" name="Oval 50"/>
          <p:cNvSpPr>
            <a:spLocks noChangeArrowheads="1"/>
          </p:cNvSpPr>
          <p:nvPr/>
        </p:nvSpPr>
        <p:spPr bwMode="auto">
          <a:xfrm>
            <a:off x="4392000" y="45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1512000" y="450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9" name="Oval 52"/>
          <p:cNvSpPr>
            <a:spLocks noChangeArrowheads="1"/>
          </p:cNvSpPr>
          <p:nvPr/>
        </p:nvSpPr>
        <p:spPr bwMode="auto">
          <a:xfrm>
            <a:off x="3312000" y="450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71" name="Oval 5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Line 40"/>
          <p:cNvSpPr>
            <a:spLocks noChangeShapeType="1"/>
          </p:cNvSpPr>
          <p:nvPr/>
        </p:nvSpPr>
        <p:spPr bwMode="auto">
          <a:xfrm>
            <a:off x="817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Line 40"/>
          <p:cNvSpPr>
            <a:spLocks noChangeShapeType="1"/>
          </p:cNvSpPr>
          <p:nvPr/>
        </p:nvSpPr>
        <p:spPr bwMode="auto">
          <a:xfrm>
            <a:off x="673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6" name="AutoShape 56"/>
          <p:cNvCxnSpPr>
            <a:cxnSpLocks noChangeShapeType="1"/>
          </p:cNvCxnSpPr>
          <p:nvPr/>
        </p:nvCxnSpPr>
        <p:spPr bwMode="auto">
          <a:xfrm flipV="1">
            <a:off x="6372000" y="39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7" name="Line 40"/>
          <p:cNvSpPr>
            <a:spLocks noChangeShapeType="1"/>
          </p:cNvSpPr>
          <p:nvPr/>
        </p:nvSpPr>
        <p:spPr bwMode="auto">
          <a:xfrm flipV="1">
            <a:off x="781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39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29</a:t>
            </a:r>
          </a:p>
        </p:txBody>
      </p:sp>
      <p:sp>
        <p:nvSpPr>
          <p:cNvPr id="79" name="Oval 49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rgbClr val="B2B2B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28</a:t>
            </a:r>
          </a:p>
        </p:txBody>
      </p:sp>
      <p:sp>
        <p:nvSpPr>
          <p:cNvPr id="80" name="Oval 50"/>
          <p:cNvSpPr>
            <a:spLocks noChangeArrowheads="1"/>
          </p:cNvSpPr>
          <p:nvPr/>
        </p:nvSpPr>
        <p:spPr bwMode="auto">
          <a:xfrm>
            <a:off x="8352000" y="4509000"/>
            <a:ext cx="360000" cy="360000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31</a:t>
            </a:r>
          </a:p>
        </p:txBody>
      </p:sp>
      <p:sp>
        <p:nvSpPr>
          <p:cNvPr id="81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rgbClr val="FFC0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</a:t>
            </a:r>
          </a:p>
        </p:txBody>
      </p:sp>
      <p:sp>
        <p:nvSpPr>
          <p:cNvPr id="82" name="Oval 52"/>
          <p:cNvSpPr>
            <a:spLocks noChangeArrowheads="1"/>
          </p:cNvSpPr>
          <p:nvPr/>
        </p:nvSpPr>
        <p:spPr bwMode="auto">
          <a:xfrm>
            <a:off x="7632000" y="4509000"/>
            <a:ext cx="360000" cy="360000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30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6552000" y="3789000"/>
            <a:ext cx="360000" cy="360000"/>
          </a:xfrm>
          <a:prstGeom prst="ellipse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</a:t>
            </a:r>
          </a:p>
        </p:txBody>
      </p: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529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3" name="Line 40"/>
          <p:cNvSpPr>
            <a:spLocks noChangeShapeType="1"/>
          </p:cNvSpPr>
          <p:nvPr/>
        </p:nvSpPr>
        <p:spPr bwMode="auto">
          <a:xfrm>
            <a:off x="385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4" name="AutoShape 56"/>
          <p:cNvCxnSpPr>
            <a:cxnSpLocks noChangeShapeType="1"/>
          </p:cNvCxnSpPr>
          <p:nvPr/>
        </p:nvCxnSpPr>
        <p:spPr bwMode="auto">
          <a:xfrm flipV="1">
            <a:off x="3492000" y="540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5" name="Line 40"/>
          <p:cNvSpPr>
            <a:spLocks noChangeShapeType="1"/>
          </p:cNvSpPr>
          <p:nvPr/>
        </p:nvSpPr>
        <p:spPr bwMode="auto">
          <a:xfrm flipV="1">
            <a:off x="493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6" name="Oval 39"/>
          <p:cNvSpPr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97" name="Oval 49"/>
          <p:cNvSpPr>
            <a:spLocks noChangeArrowheads="1"/>
          </p:cNvSpPr>
          <p:nvPr/>
        </p:nvSpPr>
        <p:spPr bwMode="auto">
          <a:xfrm>
            <a:off x="4032000" y="59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</a:t>
            </a:r>
          </a:p>
        </p:txBody>
      </p:sp>
      <p:sp>
        <p:nvSpPr>
          <p:cNvPr id="98" name="Oval 50"/>
          <p:cNvSpPr>
            <a:spLocks noChangeArrowheads="1"/>
          </p:cNvSpPr>
          <p:nvPr/>
        </p:nvSpPr>
        <p:spPr bwMode="auto">
          <a:xfrm>
            <a:off x="54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22</a:t>
            </a:r>
          </a:p>
        </p:txBody>
      </p: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331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</a:p>
        </p:txBody>
      </p:sp>
      <p:sp>
        <p:nvSpPr>
          <p:cNvPr id="100" name="Oval 52"/>
          <p:cNvSpPr>
            <a:spLocks noChangeArrowheads="1"/>
          </p:cNvSpPr>
          <p:nvPr/>
        </p:nvSpPr>
        <p:spPr bwMode="auto">
          <a:xfrm>
            <a:off x="4752000" y="59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101" name="Oval 51"/>
          <p:cNvSpPr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</a:p>
        </p:txBody>
      </p:sp>
      <p:cxnSp>
        <p:nvCxnSpPr>
          <p:cNvPr id="103" name="弧形接點 102"/>
          <p:cNvCxnSpPr>
            <a:stCxn id="68" idx="0"/>
            <a:endCxn id="15" idx="2"/>
          </p:cNvCxnSpPr>
          <p:nvPr/>
        </p:nvCxnSpPr>
        <p:spPr bwMode="auto">
          <a:xfrm rot="5400000" flipH="1" flipV="1">
            <a:off x="2052000" y="1449000"/>
            <a:ext cx="2700000" cy="342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07" name="直線單箭頭接點 106"/>
          <p:cNvCxnSpPr>
            <a:stCxn id="5" idx="4"/>
            <a:endCxn id="67" idx="0"/>
          </p:cNvCxnSpPr>
          <p:nvPr/>
        </p:nvCxnSpPr>
        <p:spPr bwMode="auto">
          <a:xfrm>
            <a:off x="45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19" name="AutoShape 57"/>
          <p:cNvCxnSpPr>
            <a:cxnSpLocks noChangeShapeType="1"/>
          </p:cNvCxnSpPr>
          <p:nvPr/>
        </p:nvCxnSpPr>
        <p:spPr bwMode="auto">
          <a:xfrm flipH="1" flipV="1">
            <a:off x="1692000" y="72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" name="AutoShape 56"/>
          <p:cNvCxnSpPr>
            <a:cxnSpLocks noChangeShapeType="1"/>
          </p:cNvCxnSpPr>
          <p:nvPr/>
        </p:nvCxnSpPr>
        <p:spPr bwMode="auto">
          <a:xfrm flipV="1">
            <a:off x="972000" y="72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1" name="Oval 51"/>
          <p:cNvSpPr>
            <a:spLocks noChangeArrowheads="1"/>
          </p:cNvSpPr>
          <p:nvPr/>
        </p:nvSpPr>
        <p:spPr bwMode="auto">
          <a:xfrm>
            <a:off x="15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22" name="Line 40"/>
          <p:cNvSpPr>
            <a:spLocks noChangeShapeType="1"/>
          </p:cNvSpPr>
          <p:nvPr/>
        </p:nvSpPr>
        <p:spPr bwMode="auto">
          <a:xfrm>
            <a:off x="2412000" y="144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23" name="Line 40"/>
          <p:cNvSpPr>
            <a:spLocks noChangeShapeType="1"/>
          </p:cNvSpPr>
          <p:nvPr/>
        </p:nvSpPr>
        <p:spPr bwMode="auto">
          <a:xfrm>
            <a:off x="972000" y="144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4" name="AutoShape 56"/>
          <p:cNvCxnSpPr>
            <a:cxnSpLocks noChangeShapeType="1"/>
          </p:cNvCxnSpPr>
          <p:nvPr/>
        </p:nvCxnSpPr>
        <p:spPr bwMode="auto">
          <a:xfrm flipV="1">
            <a:off x="612000" y="144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5" name="Line 40"/>
          <p:cNvSpPr>
            <a:spLocks noChangeShapeType="1"/>
          </p:cNvSpPr>
          <p:nvPr/>
        </p:nvSpPr>
        <p:spPr bwMode="auto">
          <a:xfrm flipV="1">
            <a:off x="2052000" y="144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26" name="Oval 39"/>
          <p:cNvSpPr>
            <a:spLocks noChangeArrowheads="1"/>
          </p:cNvSpPr>
          <p:nvPr/>
        </p:nvSpPr>
        <p:spPr bwMode="auto">
          <a:xfrm>
            <a:off x="2232000" y="12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27" name="Oval 49"/>
          <p:cNvSpPr>
            <a:spLocks noChangeArrowheads="1"/>
          </p:cNvSpPr>
          <p:nvPr/>
        </p:nvSpPr>
        <p:spPr bwMode="auto">
          <a:xfrm>
            <a:off x="1152000" y="19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8" name="Oval 50"/>
          <p:cNvSpPr>
            <a:spLocks noChangeArrowheads="1"/>
          </p:cNvSpPr>
          <p:nvPr/>
        </p:nvSpPr>
        <p:spPr bwMode="auto">
          <a:xfrm>
            <a:off x="2592000" y="19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29" name="Oval 51"/>
          <p:cNvSpPr>
            <a:spLocks noChangeArrowheads="1"/>
          </p:cNvSpPr>
          <p:nvPr/>
        </p:nvSpPr>
        <p:spPr bwMode="auto">
          <a:xfrm>
            <a:off x="432000" y="19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30" name="Oval 52"/>
          <p:cNvSpPr>
            <a:spLocks noChangeArrowheads="1"/>
          </p:cNvSpPr>
          <p:nvPr/>
        </p:nvSpPr>
        <p:spPr bwMode="auto">
          <a:xfrm>
            <a:off x="1872000" y="19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31" name="Oval 51"/>
          <p:cNvSpPr>
            <a:spLocks noChangeArrowheads="1"/>
          </p:cNvSpPr>
          <p:nvPr/>
        </p:nvSpPr>
        <p:spPr bwMode="auto">
          <a:xfrm>
            <a:off x="792000" y="12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cxnSp>
        <p:nvCxnSpPr>
          <p:cNvPr id="84" name="直線單箭頭接點 83"/>
          <p:cNvCxnSpPr>
            <a:stCxn id="81" idx="0"/>
            <a:endCxn id="8" idx="4"/>
          </p:cNvCxnSpPr>
          <p:nvPr/>
        </p:nvCxnSpPr>
        <p:spPr bwMode="auto">
          <a:xfrm flipH="1" flipV="1">
            <a:off x="6012000" y="3429000"/>
            <a:ext cx="36000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5" name="直線單箭頭接點 84"/>
          <p:cNvCxnSpPr>
            <a:stCxn id="15" idx="4"/>
            <a:endCxn id="96" idx="0"/>
          </p:cNvCxnSpPr>
          <p:nvPr/>
        </p:nvCxnSpPr>
        <p:spPr bwMode="auto">
          <a:xfrm>
            <a:off x="5292000" y="1989000"/>
            <a:ext cx="0" cy="32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FF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4" name="直線單箭頭接點 13"/>
          <p:cNvCxnSpPr>
            <a:stCxn id="82" idx="1"/>
            <a:endCxn id="2" idx="4"/>
          </p:cNvCxnSpPr>
          <p:nvPr/>
        </p:nvCxnSpPr>
        <p:spPr bwMode="auto">
          <a:xfrm flipH="1" flipV="1">
            <a:off x="6732000" y="2709000"/>
            <a:ext cx="952721" cy="185272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8" name="直線單箭頭接點 87"/>
          <p:cNvCxnSpPr>
            <a:stCxn id="97" idx="0"/>
            <a:endCxn id="67" idx="4"/>
          </p:cNvCxnSpPr>
          <p:nvPr/>
        </p:nvCxnSpPr>
        <p:spPr bwMode="auto">
          <a:xfrm flipV="1">
            <a:off x="4212000" y="4869000"/>
            <a:ext cx="36000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9" name="直線單箭頭接點 88"/>
          <p:cNvCxnSpPr>
            <a:stCxn id="100" idx="2"/>
            <a:endCxn id="97" idx="6"/>
          </p:cNvCxnSpPr>
          <p:nvPr/>
        </p:nvCxnSpPr>
        <p:spPr bwMode="auto">
          <a:xfrm flipH="1">
            <a:off x="4392000" y="6129000"/>
            <a:ext cx="36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弧形接點 37"/>
          <p:cNvCxnSpPr>
            <a:stCxn id="6" idx="6"/>
            <a:endCxn id="80" idx="7"/>
          </p:cNvCxnSpPr>
          <p:nvPr/>
        </p:nvCxnSpPr>
        <p:spPr bwMode="auto">
          <a:xfrm>
            <a:off x="7632000" y="3249000"/>
            <a:ext cx="1027279" cy="1312721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00FF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04" name="直線單箭頭接點 103"/>
          <p:cNvCxnSpPr>
            <a:stCxn id="80" idx="2"/>
            <a:endCxn id="82" idx="6"/>
          </p:cNvCxnSpPr>
          <p:nvPr/>
        </p:nvCxnSpPr>
        <p:spPr bwMode="auto">
          <a:xfrm flipH="1">
            <a:off x="7992000" y="4689000"/>
            <a:ext cx="36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6" name="弧形接點 85"/>
          <p:cNvCxnSpPr/>
          <p:nvPr/>
        </p:nvCxnSpPr>
        <p:spPr bwMode="auto">
          <a:xfrm rot="16200000" flipV="1">
            <a:off x="2682000" y="3699000"/>
            <a:ext cx="540000" cy="108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7" name="弧形接點 86"/>
          <p:cNvCxnSpPr/>
          <p:nvPr/>
        </p:nvCxnSpPr>
        <p:spPr bwMode="auto">
          <a:xfrm rot="16200000" flipV="1">
            <a:off x="2772000" y="1269000"/>
            <a:ext cx="900000" cy="12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74253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1"/>
            <a:ext cx="8280000" cy="3959999"/>
          </a:xfrm>
        </p:spPr>
        <p:txBody>
          <a:bodyPr/>
          <a:lstStyle/>
          <a:p>
            <a:pPr marL="0" indent="0"/>
            <a:r>
              <a:rPr lang="en-US" altLang="zh-TW" sz="2300" dirty="0">
                <a:solidFill>
                  <a:srgbClr val="000000"/>
                </a:solidFill>
              </a:rPr>
              <a:t>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spc="300" dirty="0">
                <a:solidFill>
                  <a:srgbClr val="000000"/>
                </a:solidFill>
              </a:rPr>
              <a:t>E</a:t>
            </a:r>
            <a:r>
              <a:rPr lang="en-US" altLang="zh-TW" sz="2300" dirty="0">
                <a:solidFill>
                  <a:srgbClr val="000000"/>
                </a:solidFill>
              </a:rPr>
              <a:t>) be a connected, undirected graph. </a:t>
            </a:r>
            <a:r>
              <a:rPr lang="en-US" altLang="zh-TW" dirty="0"/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node-disjoint</a:t>
            </a:r>
            <a:r>
              <a:rPr lang="en-US" altLang="zh-TW" dirty="0"/>
              <a:t> (</a:t>
            </a:r>
            <a:r>
              <a:rPr lang="en-US" altLang="zh-TW" i="1" dirty="0">
                <a:solidFill>
                  <a:srgbClr val="0000FF"/>
                </a:solidFill>
              </a:rPr>
              <a:t>simple</a:t>
            </a:r>
            <a:r>
              <a:rPr lang="en-US" altLang="zh-TW" dirty="0"/>
              <a:t>) </a:t>
            </a:r>
            <a:r>
              <a:rPr lang="en-US" altLang="zh-TW" i="1" dirty="0">
                <a:solidFill>
                  <a:srgbClr val="0000FF"/>
                </a:solidFill>
              </a:rPr>
              <a:t>cycle</a:t>
            </a:r>
            <a:r>
              <a:rPr lang="en-US" altLang="zh-TW" dirty="0"/>
              <a:t> is a cycle with no repeated nodes. An </a:t>
            </a:r>
            <a:r>
              <a:rPr lang="en-US" altLang="zh-TW" i="1" dirty="0">
                <a:solidFill>
                  <a:srgbClr val="0000FF"/>
                </a:solidFill>
              </a:rPr>
              <a:t>edge-disjoint cycle</a:t>
            </a:r>
            <a:r>
              <a:rPr lang="en-US" altLang="zh-TW" dirty="0"/>
              <a:t> is a cycle with no repeated edges.</a:t>
            </a:r>
          </a:p>
          <a:p>
            <a:pPr marL="0" indent="0">
              <a:spcBef>
                <a:spcPts val="0"/>
              </a:spcBef>
            </a:pPr>
            <a:endParaRPr lang="en-US" altLang="zh-TW" dirty="0"/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An undirected graph is </a:t>
            </a:r>
            <a:r>
              <a:rPr lang="en-US" altLang="zh-TW" i="1" dirty="0">
                <a:solidFill>
                  <a:srgbClr val="0000FF"/>
                </a:solidFill>
              </a:rPr>
              <a:t>bridge connected</a:t>
            </a:r>
            <a:r>
              <a:rPr lang="en-US" altLang="zh-TW" dirty="0">
                <a:solidFill>
                  <a:srgbClr val="000000"/>
                </a:solidFill>
              </a:rPr>
              <a:t> if		     any two nodes lie on a common </a:t>
            </a:r>
            <a:r>
              <a:rPr lang="en-US" altLang="zh-TW" dirty="0">
                <a:solidFill>
                  <a:srgbClr val="FF0000"/>
                </a:solidFill>
              </a:rPr>
              <a:t>edge-disjoint cycle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An undirected graph is </a:t>
            </a:r>
            <a:r>
              <a:rPr lang="en-US" altLang="zh-TW" i="1" dirty="0" err="1">
                <a:solidFill>
                  <a:srgbClr val="0000FF"/>
                </a:solidFill>
              </a:rPr>
              <a:t>biconnected</a:t>
            </a:r>
            <a:r>
              <a:rPr lang="en-US" altLang="zh-TW" dirty="0">
                <a:solidFill>
                  <a:srgbClr val="000000"/>
                </a:solidFill>
              </a:rPr>
              <a:t> if			     any two nodes lie on a common </a:t>
            </a:r>
            <a:r>
              <a:rPr lang="en-US" altLang="zh-TW" dirty="0">
                <a:solidFill>
                  <a:srgbClr val="FF0000"/>
                </a:solidFill>
              </a:rPr>
              <a:t>node-disjoint cycle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A directed graph is </a:t>
            </a:r>
            <a:r>
              <a:rPr lang="en-US" altLang="zh-TW" i="1" dirty="0">
                <a:solidFill>
                  <a:srgbClr val="0000FF"/>
                </a:solidFill>
              </a:rPr>
              <a:t>strongly connected</a:t>
            </a:r>
            <a:r>
              <a:rPr lang="en-US" altLang="zh-TW" dirty="0">
                <a:solidFill>
                  <a:srgbClr val="000000"/>
                </a:solidFill>
              </a:rPr>
              <a:t> if			     any two nodes lie on a common </a:t>
            </a:r>
            <a:r>
              <a:rPr lang="en-US" altLang="zh-TW" dirty="0">
                <a:solidFill>
                  <a:srgbClr val="FF0000"/>
                </a:solidFill>
              </a:rPr>
              <a:t>cycle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  <a:endParaRPr lang="zh-TW" altLang="en-US" dirty="0"/>
          </a:p>
        </p:txBody>
      </p:sp>
      <p:cxnSp>
        <p:nvCxnSpPr>
          <p:cNvPr id="60" name="AutoShape 56"/>
          <p:cNvCxnSpPr>
            <a:cxnSpLocks noChangeShapeType="1"/>
            <a:stCxn id="64" idx="2"/>
            <a:endCxn id="67" idx="6"/>
          </p:cNvCxnSpPr>
          <p:nvPr/>
        </p:nvCxnSpPr>
        <p:spPr bwMode="auto">
          <a:xfrm flipH="1">
            <a:off x="1332000" y="50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</p:spPr>
      </p:cxn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205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b</a:t>
            </a: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9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</a:t>
            </a:r>
          </a:p>
        </p:txBody>
      </p:sp>
      <p:sp>
        <p:nvSpPr>
          <p:cNvPr id="66" name="Oval 52"/>
          <p:cNvSpPr>
            <a:spLocks noChangeArrowheads="1"/>
          </p:cNvSpPr>
          <p:nvPr/>
        </p:nvSpPr>
        <p:spPr bwMode="auto">
          <a:xfrm>
            <a:off x="20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</a:p>
        </p:txBody>
      </p:sp>
      <p:sp>
        <p:nvSpPr>
          <p:cNvPr id="67" name="Oval 51"/>
          <p:cNvSpPr>
            <a:spLocks noChangeArrowheads="1"/>
          </p:cNvSpPr>
          <p:nvPr/>
        </p:nvSpPr>
        <p:spPr bwMode="auto">
          <a:xfrm>
            <a:off x="97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a</a:t>
            </a:r>
          </a:p>
        </p:txBody>
      </p:sp>
      <p:cxnSp>
        <p:nvCxnSpPr>
          <p:cNvPr id="68" name="直線單箭頭接點 67"/>
          <p:cNvCxnSpPr>
            <a:stCxn id="65" idx="7"/>
            <a:endCxn id="64" idx="3"/>
          </p:cNvCxnSpPr>
          <p:nvPr/>
        </p:nvCxnSpPr>
        <p:spPr bwMode="auto">
          <a:xfrm flipV="1">
            <a:off x="1279279" y="5176279"/>
            <a:ext cx="825442" cy="82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69" name="直線單箭頭接點 68"/>
          <p:cNvCxnSpPr>
            <a:stCxn id="66" idx="2"/>
            <a:endCxn id="65" idx="6"/>
          </p:cNvCxnSpPr>
          <p:nvPr/>
        </p:nvCxnSpPr>
        <p:spPr bwMode="auto">
          <a:xfrm flipH="1">
            <a:off x="133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6" name="AutoShape 56"/>
          <p:cNvCxnSpPr>
            <a:cxnSpLocks noChangeShapeType="1"/>
            <a:stCxn id="67" idx="4"/>
            <a:endCxn id="65" idx="0"/>
          </p:cNvCxnSpPr>
          <p:nvPr/>
        </p:nvCxnSpPr>
        <p:spPr bwMode="auto">
          <a:xfrm>
            <a:off x="1152000" y="52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</p:spPr>
      </p:cxnSp>
      <p:cxnSp>
        <p:nvCxnSpPr>
          <p:cNvPr id="89" name="AutoShape 56"/>
          <p:cNvCxnSpPr>
            <a:cxnSpLocks noChangeShapeType="1"/>
            <a:stCxn id="64" idx="4"/>
            <a:endCxn id="66" idx="0"/>
          </p:cNvCxnSpPr>
          <p:nvPr/>
        </p:nvCxnSpPr>
        <p:spPr bwMode="auto">
          <a:xfrm>
            <a:off x="2232000" y="52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</p:spPr>
      </p:cxnSp>
      <p:sp>
        <p:nvSpPr>
          <p:cNvPr id="103" name="Oval 49"/>
          <p:cNvSpPr>
            <a:spLocks noChangeArrowheads="1"/>
          </p:cNvSpPr>
          <p:nvPr/>
        </p:nvSpPr>
        <p:spPr bwMode="auto">
          <a:xfrm>
            <a:off x="565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4" name="Oval 51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5" name="直線接點 104"/>
          <p:cNvCxnSpPr>
            <a:stCxn id="104" idx="0"/>
            <a:endCxn id="103" idx="4"/>
          </p:cNvCxnSpPr>
          <p:nvPr/>
        </p:nvCxnSpPr>
        <p:spPr bwMode="auto">
          <a:xfrm flipV="1">
            <a:off x="5832000" y="5229000"/>
            <a:ext cx="0" cy="720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6" name="AutoShape 56"/>
          <p:cNvCxnSpPr>
            <a:cxnSpLocks noChangeShapeType="1"/>
            <a:stCxn id="107" idx="6"/>
            <a:endCxn id="104" idx="2"/>
          </p:cNvCxnSpPr>
          <p:nvPr/>
        </p:nvCxnSpPr>
        <p:spPr bwMode="auto">
          <a:xfrm>
            <a:off x="4932000" y="61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7" name="Oval 51"/>
          <p:cNvSpPr>
            <a:spLocks noChangeArrowheads="1"/>
          </p:cNvSpPr>
          <p:nvPr/>
        </p:nvSpPr>
        <p:spPr bwMode="auto">
          <a:xfrm>
            <a:off x="45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8" name="AutoShape 56"/>
          <p:cNvCxnSpPr>
            <a:cxnSpLocks noChangeShapeType="1"/>
            <a:stCxn id="107" idx="7"/>
            <a:endCxn id="103" idx="3"/>
          </p:cNvCxnSpPr>
          <p:nvPr/>
        </p:nvCxnSpPr>
        <p:spPr bwMode="auto">
          <a:xfrm flipV="1">
            <a:off x="4879279" y="517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349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349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3" name="直線接點 112"/>
          <p:cNvCxnSpPr>
            <a:stCxn id="112" idx="0"/>
            <a:endCxn id="111" idx="4"/>
          </p:cNvCxnSpPr>
          <p:nvPr/>
        </p:nvCxnSpPr>
        <p:spPr bwMode="auto">
          <a:xfrm flipV="1">
            <a:off x="3672000" y="5229000"/>
            <a:ext cx="0" cy="720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4" name="AutoShape 56"/>
          <p:cNvCxnSpPr>
            <a:cxnSpLocks noChangeShapeType="1"/>
            <a:stCxn id="112" idx="6"/>
            <a:endCxn id="107" idx="2"/>
          </p:cNvCxnSpPr>
          <p:nvPr/>
        </p:nvCxnSpPr>
        <p:spPr bwMode="auto">
          <a:xfrm>
            <a:off x="3852000" y="61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" name="直線接點 114"/>
          <p:cNvCxnSpPr>
            <a:stCxn id="111" idx="5"/>
            <a:endCxn id="107" idx="1"/>
          </p:cNvCxnSpPr>
          <p:nvPr/>
        </p:nvCxnSpPr>
        <p:spPr bwMode="auto">
          <a:xfrm>
            <a:off x="3799279" y="5176279"/>
            <a:ext cx="825442" cy="82544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Oval 51"/>
          <p:cNvSpPr>
            <a:spLocks noChangeArrowheads="1"/>
          </p:cNvSpPr>
          <p:nvPr/>
        </p:nvSpPr>
        <p:spPr bwMode="auto">
          <a:xfrm>
            <a:off x="673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73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直線接點 25"/>
          <p:cNvCxnSpPr>
            <a:stCxn id="25" idx="0"/>
            <a:endCxn id="24" idx="4"/>
          </p:cNvCxnSpPr>
          <p:nvPr/>
        </p:nvCxnSpPr>
        <p:spPr bwMode="auto">
          <a:xfrm flipV="1">
            <a:off x="6912000" y="5229000"/>
            <a:ext cx="0" cy="720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" name="AutoShape 56"/>
          <p:cNvCxnSpPr>
            <a:cxnSpLocks noChangeShapeType="1"/>
            <a:stCxn id="25" idx="6"/>
            <a:endCxn id="23" idx="2"/>
          </p:cNvCxnSpPr>
          <p:nvPr/>
        </p:nvCxnSpPr>
        <p:spPr bwMode="auto">
          <a:xfrm>
            <a:off x="7092000" y="61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" name="直線接點 27"/>
          <p:cNvCxnSpPr>
            <a:stCxn id="24" idx="5"/>
            <a:endCxn id="23" idx="1"/>
          </p:cNvCxnSpPr>
          <p:nvPr/>
        </p:nvCxnSpPr>
        <p:spPr bwMode="auto">
          <a:xfrm>
            <a:off x="7039279" y="5176279"/>
            <a:ext cx="825442" cy="82544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9" name="AutoShape 56"/>
          <p:cNvCxnSpPr>
            <a:cxnSpLocks noChangeShapeType="1"/>
          </p:cNvCxnSpPr>
          <p:nvPr/>
        </p:nvCxnSpPr>
        <p:spPr bwMode="auto">
          <a:xfrm>
            <a:off x="6012000" y="50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3278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Relationship </a:t>
            </a:r>
            <a:r>
              <a:rPr lang="en-US" altLang="zh-TW" dirty="0"/>
              <a:t>Between </a:t>
            </a:r>
            <a:r>
              <a:rPr lang="en-US" altLang="zh-TW" dirty="0" smtClean="0"/>
              <a:t>Strongly Connected Graphs </a:t>
            </a:r>
            <a:r>
              <a:rPr lang="en-US" altLang="zh-TW" dirty="0"/>
              <a:t>and </a:t>
            </a:r>
            <a:r>
              <a:rPr lang="en-US" altLang="zh-TW" dirty="0" smtClean="0"/>
              <a:t>Bridge Connected Graphs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A directed graph is said to be </a:t>
            </a:r>
            <a:r>
              <a:rPr kumimoji="0" lang="en-US" altLang="zh-TW" i="1" kern="1200" dirty="0">
                <a:solidFill>
                  <a:srgbClr val="0000FF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strongly connected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if for every pair of nodes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x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,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y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, there is a directed path from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x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to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y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. An undirected graph is </a:t>
            </a:r>
            <a:r>
              <a:rPr kumimoji="0" lang="en-US" altLang="zh-TW" i="1" kern="1200" dirty="0">
                <a:solidFill>
                  <a:srgbClr val="0000FF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strongly orientable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if there exists an assignment of directions to its edges to get a strongly connected graph.</a:t>
            </a:r>
            <a:endParaRPr kumimoji="0" lang="zh-TW" altLang="zh-TW" kern="1200" dirty="0">
              <a:solidFill>
                <a:prstClr val="black"/>
              </a:solidFill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0" lvl="0" indent="0" eaLnBrk="1" fontAlgn="auto" hangingPunct="1">
              <a:spcBef>
                <a:spcPts val="1200"/>
              </a:spcBef>
              <a:spcAft>
                <a:spcPts val="1200"/>
              </a:spcAft>
              <a:buClrTx/>
            </a:pPr>
            <a:r>
              <a:rPr kumimoji="0" lang="en-US" altLang="zh-TW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Theorem 1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(Robbins). An undirected graph is strongly orientable if and only if it is bridge connected.</a:t>
            </a:r>
            <a:endParaRPr kumimoji="0" lang="zh-TW" altLang="zh-TW" kern="1200" dirty="0">
              <a:solidFill>
                <a:prstClr val="black"/>
              </a:solidFill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Proof.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(</a:t>
            </a:r>
            <a:r>
              <a:rPr kumimoji="0" lang="en-US" altLang="zh-TW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⇒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) Suppose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G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has a bridge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e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, and let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C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and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C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be the components that result from deleting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e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. Assume without loss of generality that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e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kumimoji="0" lang="en-US" altLang="zh-TW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{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v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,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v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}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is oriented from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v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kumimoji="0" lang="en-US" altLang="zh-TW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∈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C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to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v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kumimoji="0" lang="en-US" altLang="zh-TW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∈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C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. Then there cannot be a directed path from, say,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v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2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to </a:t>
            </a:r>
            <a:r>
              <a:rPr kumimoji="0" lang="en-US" altLang="zh-TW" i="1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v</a:t>
            </a:r>
            <a:r>
              <a:rPr kumimoji="0" lang="en-US" altLang="zh-TW" kern="1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</a:t>
            </a:r>
            <a:r>
              <a:rPr kumimoji="0" lang="en-US" altLang="zh-TW" kern="1200" dirty="0" smtClean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.</a:t>
            </a:r>
            <a:endParaRPr kumimoji="0" lang="zh-TW" altLang="zh-TW" kern="1200" dirty="0">
              <a:solidFill>
                <a:prstClr val="black"/>
              </a:solidFill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5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760000"/>
          </a:xfrm>
        </p:spPr>
        <p:txBody>
          <a:bodyPr/>
          <a:lstStyle/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(</a:t>
            </a:r>
            <a:r>
              <a:rPr kumimoji="0" lang="en-US" altLang="zh-TW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⇐</a:t>
            </a:r>
            <a:r>
              <a:rPr kumimoji="0" lang="en-US" altLang="zh-TW" kern="1200" dirty="0">
                <a:solidFill>
                  <a:prstClr val="black"/>
                </a:solidFill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) </a:t>
            </a: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This part provides a linear-time algorithm to find the orientation.</a:t>
            </a:r>
          </a:p>
          <a:p>
            <a:pPr marL="357188" lvl="0" indent="-357188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</a:pP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Perform a Depth-First Search (DFS) traversal on </a:t>
            </a:r>
            <a:r>
              <a:rPr kumimoji="0" lang="en-US" altLang="zh-TW" i="1" kern="1200" dirty="0">
                <a:solidFill>
                  <a:prstClr val="black"/>
                </a:solidFill>
                <a:ea typeface="新細明體"/>
              </a:rPr>
              <a:t>G</a:t>
            </a: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 starting from any root node </a:t>
            </a:r>
            <a:r>
              <a:rPr kumimoji="0" lang="en-US" altLang="zh-TW" i="1" kern="1200" dirty="0">
                <a:solidFill>
                  <a:prstClr val="black"/>
                </a:solidFill>
                <a:ea typeface="新細明體"/>
              </a:rPr>
              <a:t>r</a:t>
            </a: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.</a:t>
            </a:r>
          </a:p>
          <a:p>
            <a:pPr marL="357188" lvl="0" indent="-357188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</a:pP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This classifies all edges into two types: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Tree edges: Edges used to discover new nodes.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Back edges: Edges connecting a node to one of its ancestors in the DFS tree.</a:t>
            </a:r>
          </a:p>
          <a:p>
            <a:pPr marL="357188" lvl="0" indent="-357188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</a:pP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Orientation Rule: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Orient all Tree edges away from the root (</a:t>
            </a:r>
            <a:r>
              <a:rPr kumimoji="0" lang="zh-TW" altLang="en-US" sz="2000" kern="1200" dirty="0">
                <a:solidFill>
                  <a:prstClr val="black"/>
                </a:solidFill>
                <a:ea typeface="新細明體"/>
                <a:cs typeface="+mn-cs"/>
              </a:rPr>
              <a:t> </a:t>
            </a:r>
            <a:r>
              <a:rPr kumimoji="0" lang="en-US" altLang="zh-TW" sz="2000" i="1" kern="1200" dirty="0">
                <a:solidFill>
                  <a:prstClr val="black"/>
                </a:solidFill>
                <a:ea typeface="新細明體"/>
                <a:cs typeface="+mn-cs"/>
              </a:rPr>
              <a:t>parent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 </a:t>
            </a:r>
            <a:r>
              <a:rPr kumimoji="0" lang="en-US" altLang="zh-TW" sz="2000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⟶</a:t>
            </a:r>
            <a:r>
              <a:rPr kumimoji="0" lang="zh-TW" altLang="en-US" sz="2000" kern="1200" dirty="0">
                <a:solidFill>
                  <a:prstClr val="black"/>
                </a:solidFill>
                <a:ea typeface="新細明體"/>
                <a:cs typeface="+mn-cs"/>
              </a:rPr>
              <a:t> </a:t>
            </a:r>
            <a:r>
              <a:rPr kumimoji="0" lang="en-US" altLang="zh-TW" sz="2000" i="1" kern="1200" dirty="0" smtClean="0">
                <a:solidFill>
                  <a:prstClr val="black"/>
                </a:solidFill>
                <a:ea typeface="新細明體"/>
                <a:cs typeface="+mn-cs"/>
              </a:rPr>
              <a:t>chil</a:t>
            </a:r>
            <a:r>
              <a:rPr kumimoji="0" lang="en-US" altLang="zh-TW" sz="2000" i="1" kern="1200" spc="300" dirty="0" smtClean="0">
                <a:solidFill>
                  <a:prstClr val="black"/>
                </a:solidFill>
                <a:ea typeface="新細明體"/>
                <a:cs typeface="+mn-cs"/>
              </a:rPr>
              <a:t>d</a:t>
            </a:r>
            <a:r>
              <a:rPr kumimoji="0" lang="en-US" altLang="zh-TW" sz="2000" kern="1200" dirty="0" smtClean="0">
                <a:solidFill>
                  <a:prstClr val="black"/>
                </a:solidFill>
                <a:ea typeface="新細明體"/>
                <a:cs typeface="+mn-cs"/>
              </a:rPr>
              <a:t>).</a:t>
            </a:r>
            <a:endParaRPr kumimoji="0" lang="en-US" altLang="zh-TW" sz="2000" kern="1200" dirty="0">
              <a:solidFill>
                <a:prstClr val="black"/>
              </a:solidFill>
              <a:ea typeface="新細明體"/>
              <a:cs typeface="+mn-cs"/>
            </a:endParaRP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Orient all Back edges toward the root (</a:t>
            </a:r>
            <a:r>
              <a:rPr kumimoji="0" lang="en-US" altLang="zh-TW" sz="2000" i="1" kern="1200" dirty="0">
                <a:solidFill>
                  <a:prstClr val="black"/>
                </a:solidFill>
                <a:ea typeface="新細明體"/>
                <a:cs typeface="+mn-cs"/>
              </a:rPr>
              <a:t>descendant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 </a:t>
            </a:r>
            <a:r>
              <a:rPr kumimoji="0" lang="en-US" altLang="zh-TW" sz="2000" kern="12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⟶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 </a:t>
            </a:r>
            <a:r>
              <a:rPr kumimoji="0" lang="en-US" altLang="zh-TW" sz="2000" i="1" kern="1200" dirty="0">
                <a:solidFill>
                  <a:prstClr val="black"/>
                </a:solidFill>
                <a:ea typeface="新細明體"/>
                <a:cs typeface="+mn-cs"/>
              </a:rPr>
              <a:t>ancestor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).</a:t>
            </a:r>
          </a:p>
          <a:p>
            <a:pPr marL="357188" lvl="0" indent="-357188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</a:pPr>
            <a:r>
              <a:rPr kumimoji="0" lang="en-US" altLang="zh-TW" kern="1200" dirty="0">
                <a:solidFill>
                  <a:prstClr val="black"/>
                </a:solidFill>
                <a:ea typeface="新細明體"/>
              </a:rPr>
              <a:t>Why it works: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Since </a:t>
            </a:r>
            <a:r>
              <a:rPr kumimoji="0" lang="en-US" altLang="zh-TW" sz="2000" i="1" kern="1200" dirty="0">
                <a:solidFill>
                  <a:prstClr val="black"/>
                </a:solidFill>
                <a:ea typeface="新細明體"/>
                <a:cs typeface="+mn-cs"/>
              </a:rPr>
              <a:t>G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 is bridge</a:t>
            </a:r>
            <a:r>
              <a:rPr kumimoji="0" lang="zh-TW" altLang="en-US" sz="2000" kern="1200" dirty="0">
                <a:solidFill>
                  <a:prstClr val="black"/>
                </a:solidFill>
                <a:ea typeface="新細明體"/>
                <a:cs typeface="+mn-cs"/>
              </a:rPr>
              <a:t> 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connected, every node (except the root) has at least one back edge in its subtree that goes to an ancestor "above" it.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To go from Root to any Node </a:t>
            </a:r>
            <a:r>
              <a:rPr kumimoji="0" lang="en-US" altLang="zh-TW" sz="2000" i="1" kern="1200" dirty="0">
                <a:solidFill>
                  <a:prstClr val="black"/>
                </a:solidFill>
                <a:ea typeface="新細明體"/>
                <a:cs typeface="+mn-cs"/>
              </a:rPr>
              <a:t>v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: Follow the tree edges down.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To go from any Node </a:t>
            </a:r>
            <a:r>
              <a:rPr kumimoji="0" lang="en-US" altLang="zh-TW" sz="2000" i="1" kern="1200" dirty="0">
                <a:solidFill>
                  <a:prstClr val="black"/>
                </a:solidFill>
                <a:ea typeface="新細明體"/>
                <a:cs typeface="+mn-cs"/>
              </a:rPr>
              <a:t>v</a:t>
            </a: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 to Root: Follow tree edges down to a leaf or a node with a back edge, take the back edge up to an ancestor, and repeat until you reach the root.</a:t>
            </a:r>
          </a:p>
          <a:p>
            <a:pPr marL="622300" lvl="1" indent="-265113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zh-TW" sz="2000" kern="1200" dirty="0">
                <a:solidFill>
                  <a:prstClr val="black"/>
                </a:solidFill>
                <a:ea typeface="新細明體"/>
                <a:cs typeface="+mn-cs"/>
              </a:rPr>
              <a:t>Therefore, the graph is strongly connected</a:t>
            </a:r>
            <a:r>
              <a:rPr kumimoji="0" lang="en-US" altLang="zh-TW" sz="2000" kern="1200" dirty="0" smtClean="0">
                <a:solidFill>
                  <a:prstClr val="black"/>
                </a:solidFill>
                <a:ea typeface="新細明體"/>
                <a:cs typeface="+mn-cs"/>
              </a:rPr>
              <a:t>.</a:t>
            </a:r>
            <a:endParaRPr kumimoji="0" lang="zh-TW" altLang="en-US" sz="2000" kern="1200" dirty="0">
              <a:solidFill>
                <a:prstClr val="black"/>
              </a:solidFill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45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1"/>
            <a:ext cx="8280000" cy="3599999"/>
          </a:xfrm>
        </p:spPr>
        <p:txBody>
          <a:bodyPr/>
          <a:lstStyle/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bridge connected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FF"/>
                </a:solidFill>
              </a:rPr>
              <a:t>component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sz="2300" dirty="0">
                <a:solidFill>
                  <a:srgbClr val="000000"/>
                </a:solidFill>
              </a:rPr>
              <a:t>an undirected graph</a:t>
            </a:r>
            <a:r>
              <a:rPr lang="en-US" altLang="zh-TW" dirty="0">
                <a:solidFill>
                  <a:srgbClr val="000000"/>
                </a:solidFill>
              </a:rPr>
              <a:t> is a maximal set of nodes such that				     any two nodes in the set lie on a common </a:t>
            </a:r>
            <a:r>
              <a:rPr lang="en-US" altLang="zh-TW" dirty="0">
                <a:solidFill>
                  <a:srgbClr val="FF0000"/>
                </a:solidFill>
              </a:rPr>
              <a:t>edge-disjoint cycle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A </a:t>
            </a:r>
            <a:r>
              <a:rPr lang="en-US" altLang="zh-TW" i="1" dirty="0" err="1">
                <a:solidFill>
                  <a:srgbClr val="0000FF"/>
                </a:solidFill>
              </a:rPr>
              <a:t>biconnected</a:t>
            </a:r>
            <a:r>
              <a:rPr lang="en-US" altLang="zh-TW" i="1" dirty="0">
                <a:solidFill>
                  <a:srgbClr val="0000FF"/>
                </a:solidFill>
              </a:rPr>
              <a:t> component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sz="2300" dirty="0">
                <a:solidFill>
                  <a:srgbClr val="000000"/>
                </a:solidFill>
              </a:rPr>
              <a:t>an undirected graph</a:t>
            </a:r>
            <a:r>
              <a:rPr lang="en-US" altLang="zh-TW" dirty="0">
                <a:solidFill>
                  <a:srgbClr val="000000"/>
                </a:solidFill>
              </a:rPr>
              <a:t> is a maximal set of nodes such that					     any two nodes in the set lie on a common </a:t>
            </a:r>
            <a:r>
              <a:rPr lang="en-US" altLang="zh-TW" dirty="0">
                <a:solidFill>
                  <a:srgbClr val="FF0000"/>
                </a:solidFill>
              </a:rPr>
              <a:t>node-disjoint cycle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70000" indent="-2700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A </a:t>
            </a:r>
            <a:r>
              <a:rPr lang="en-US" altLang="zh-TW" i="1" dirty="0">
                <a:solidFill>
                  <a:srgbClr val="0000FF"/>
                </a:solidFill>
              </a:rPr>
              <a:t>strongly connected component</a:t>
            </a:r>
            <a:r>
              <a:rPr lang="en-US" altLang="zh-TW" dirty="0">
                <a:solidFill>
                  <a:srgbClr val="000000"/>
                </a:solidFill>
              </a:rPr>
              <a:t> of a directed graph is a maximal set of nodes such that				     any two nodes in the set lie on a common </a:t>
            </a:r>
            <a:r>
              <a:rPr lang="en-US" altLang="zh-TW" dirty="0">
                <a:solidFill>
                  <a:srgbClr val="FF0000"/>
                </a:solidFill>
              </a:rPr>
              <a:t>cycle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  <a:endParaRPr lang="zh-TW" altLang="en-US" dirty="0"/>
          </a:p>
        </p:txBody>
      </p:sp>
      <p:cxnSp>
        <p:nvCxnSpPr>
          <p:cNvPr id="60" name="AutoShape 56"/>
          <p:cNvCxnSpPr>
            <a:cxnSpLocks noChangeShapeType="1"/>
            <a:stCxn id="64" idx="2"/>
            <a:endCxn id="67" idx="6"/>
          </p:cNvCxnSpPr>
          <p:nvPr/>
        </p:nvCxnSpPr>
        <p:spPr bwMode="auto">
          <a:xfrm flipH="1">
            <a:off x="1332000" y="50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</p:spPr>
      </p:cxn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205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b</a:t>
            </a: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9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</a:t>
            </a:r>
          </a:p>
        </p:txBody>
      </p:sp>
      <p:sp>
        <p:nvSpPr>
          <p:cNvPr id="66" name="Oval 52"/>
          <p:cNvSpPr>
            <a:spLocks noChangeArrowheads="1"/>
          </p:cNvSpPr>
          <p:nvPr/>
        </p:nvSpPr>
        <p:spPr bwMode="auto">
          <a:xfrm>
            <a:off x="20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d</a:t>
            </a:r>
          </a:p>
        </p:txBody>
      </p:sp>
      <p:sp>
        <p:nvSpPr>
          <p:cNvPr id="67" name="Oval 51"/>
          <p:cNvSpPr>
            <a:spLocks noChangeArrowheads="1"/>
          </p:cNvSpPr>
          <p:nvPr/>
        </p:nvSpPr>
        <p:spPr bwMode="auto">
          <a:xfrm>
            <a:off x="97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a</a:t>
            </a:r>
          </a:p>
        </p:txBody>
      </p:sp>
      <p:cxnSp>
        <p:nvCxnSpPr>
          <p:cNvPr id="68" name="直線單箭頭接點 67"/>
          <p:cNvCxnSpPr>
            <a:stCxn id="65" idx="7"/>
            <a:endCxn id="64" idx="3"/>
          </p:cNvCxnSpPr>
          <p:nvPr/>
        </p:nvCxnSpPr>
        <p:spPr bwMode="auto">
          <a:xfrm flipV="1">
            <a:off x="1279279" y="5176279"/>
            <a:ext cx="825442" cy="82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69" name="直線單箭頭接點 68"/>
          <p:cNvCxnSpPr>
            <a:stCxn id="66" idx="2"/>
            <a:endCxn id="65" idx="6"/>
          </p:cNvCxnSpPr>
          <p:nvPr/>
        </p:nvCxnSpPr>
        <p:spPr bwMode="auto">
          <a:xfrm flipH="1">
            <a:off x="133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6" name="AutoShape 56"/>
          <p:cNvCxnSpPr>
            <a:cxnSpLocks noChangeShapeType="1"/>
            <a:stCxn id="67" idx="4"/>
            <a:endCxn id="65" idx="0"/>
          </p:cNvCxnSpPr>
          <p:nvPr/>
        </p:nvCxnSpPr>
        <p:spPr bwMode="auto">
          <a:xfrm>
            <a:off x="1152000" y="52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</p:spPr>
      </p:cxnSp>
      <p:cxnSp>
        <p:nvCxnSpPr>
          <p:cNvPr id="89" name="AutoShape 56"/>
          <p:cNvCxnSpPr>
            <a:cxnSpLocks noChangeShapeType="1"/>
            <a:stCxn id="64" idx="4"/>
            <a:endCxn id="66" idx="0"/>
          </p:cNvCxnSpPr>
          <p:nvPr/>
        </p:nvCxnSpPr>
        <p:spPr bwMode="auto">
          <a:xfrm>
            <a:off x="2232000" y="52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</p:spPr>
      </p:cxnSp>
      <p:sp>
        <p:nvSpPr>
          <p:cNvPr id="103" name="Oval 49"/>
          <p:cNvSpPr>
            <a:spLocks noChangeArrowheads="1"/>
          </p:cNvSpPr>
          <p:nvPr/>
        </p:nvSpPr>
        <p:spPr bwMode="auto">
          <a:xfrm>
            <a:off x="565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4" name="Oval 51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5" name="直線接點 104"/>
          <p:cNvCxnSpPr>
            <a:stCxn id="104" idx="0"/>
            <a:endCxn id="103" idx="4"/>
          </p:cNvCxnSpPr>
          <p:nvPr/>
        </p:nvCxnSpPr>
        <p:spPr bwMode="auto">
          <a:xfrm flipV="1">
            <a:off x="5832000" y="5229000"/>
            <a:ext cx="0" cy="720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6" name="AutoShape 56"/>
          <p:cNvCxnSpPr>
            <a:cxnSpLocks noChangeShapeType="1"/>
            <a:stCxn id="107" idx="6"/>
            <a:endCxn id="104" idx="2"/>
          </p:cNvCxnSpPr>
          <p:nvPr/>
        </p:nvCxnSpPr>
        <p:spPr bwMode="auto">
          <a:xfrm>
            <a:off x="4932000" y="61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7" name="Oval 51"/>
          <p:cNvSpPr>
            <a:spLocks noChangeArrowheads="1"/>
          </p:cNvSpPr>
          <p:nvPr/>
        </p:nvSpPr>
        <p:spPr bwMode="auto">
          <a:xfrm>
            <a:off x="45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8" name="AutoShape 56"/>
          <p:cNvCxnSpPr>
            <a:cxnSpLocks noChangeShapeType="1"/>
            <a:stCxn id="107" idx="7"/>
            <a:endCxn id="103" idx="3"/>
          </p:cNvCxnSpPr>
          <p:nvPr/>
        </p:nvCxnSpPr>
        <p:spPr bwMode="auto">
          <a:xfrm flipV="1">
            <a:off x="4879279" y="517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349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349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3" name="直線接點 112"/>
          <p:cNvCxnSpPr>
            <a:stCxn id="112" idx="0"/>
            <a:endCxn id="111" idx="4"/>
          </p:cNvCxnSpPr>
          <p:nvPr/>
        </p:nvCxnSpPr>
        <p:spPr bwMode="auto">
          <a:xfrm flipV="1">
            <a:off x="3672000" y="5229000"/>
            <a:ext cx="0" cy="720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4" name="AutoShape 56"/>
          <p:cNvCxnSpPr>
            <a:cxnSpLocks noChangeShapeType="1"/>
            <a:stCxn id="112" idx="6"/>
            <a:endCxn id="107" idx="2"/>
          </p:cNvCxnSpPr>
          <p:nvPr/>
        </p:nvCxnSpPr>
        <p:spPr bwMode="auto">
          <a:xfrm>
            <a:off x="3852000" y="61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5" name="直線接點 114"/>
          <p:cNvCxnSpPr>
            <a:stCxn id="111" idx="5"/>
            <a:endCxn id="107" idx="1"/>
          </p:cNvCxnSpPr>
          <p:nvPr/>
        </p:nvCxnSpPr>
        <p:spPr bwMode="auto">
          <a:xfrm>
            <a:off x="3799279" y="5176279"/>
            <a:ext cx="825442" cy="82544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Oval 51"/>
          <p:cNvSpPr>
            <a:spLocks noChangeArrowheads="1"/>
          </p:cNvSpPr>
          <p:nvPr/>
        </p:nvSpPr>
        <p:spPr bwMode="auto">
          <a:xfrm>
            <a:off x="673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73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直線接點 25"/>
          <p:cNvCxnSpPr>
            <a:stCxn id="25" idx="0"/>
            <a:endCxn id="24" idx="4"/>
          </p:cNvCxnSpPr>
          <p:nvPr/>
        </p:nvCxnSpPr>
        <p:spPr bwMode="auto">
          <a:xfrm flipV="1">
            <a:off x="6912000" y="5229000"/>
            <a:ext cx="0" cy="720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" name="AutoShape 56"/>
          <p:cNvCxnSpPr>
            <a:cxnSpLocks noChangeShapeType="1"/>
            <a:stCxn id="25" idx="6"/>
            <a:endCxn id="23" idx="2"/>
          </p:cNvCxnSpPr>
          <p:nvPr/>
        </p:nvCxnSpPr>
        <p:spPr bwMode="auto">
          <a:xfrm>
            <a:off x="7092000" y="612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" name="直線接點 27"/>
          <p:cNvCxnSpPr>
            <a:stCxn id="24" idx="5"/>
            <a:endCxn id="23" idx="1"/>
          </p:cNvCxnSpPr>
          <p:nvPr/>
        </p:nvCxnSpPr>
        <p:spPr bwMode="auto">
          <a:xfrm>
            <a:off x="7039279" y="5176279"/>
            <a:ext cx="825442" cy="82544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9" name="AutoShape 56"/>
          <p:cNvCxnSpPr>
            <a:cxnSpLocks noChangeShapeType="1"/>
          </p:cNvCxnSpPr>
          <p:nvPr/>
        </p:nvCxnSpPr>
        <p:spPr bwMode="auto">
          <a:xfrm>
            <a:off x="6012000" y="50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46857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792000" y="909000"/>
            <a:ext cx="3600000" cy="2880000"/>
          </a:xfrm>
        </p:spPr>
        <p:txBody>
          <a:bodyPr/>
          <a:lstStyle/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DFS(</a:t>
            </a:r>
            <a:r>
              <a:rPr lang="en-US" altLang="zh-TW" sz="2000" i="1" dirty="0"/>
              <a:t>G</a:t>
            </a:r>
            <a:r>
              <a:rPr lang="en-US" altLang="zh-TW" sz="2000" dirty="0"/>
              <a:t>)</a:t>
            </a:r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1   </a:t>
            </a:r>
            <a:r>
              <a:rPr lang="en-US" altLang="zh-TW" sz="2000" b="1" dirty="0"/>
              <a:t>for</a:t>
            </a:r>
            <a:r>
              <a:rPr lang="en-US" altLang="zh-TW" sz="2000" dirty="0"/>
              <a:t> each vertex </a:t>
            </a:r>
            <a:r>
              <a:rPr lang="en-US" altLang="zh-TW" sz="2000" i="1" dirty="0"/>
              <a:t>u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 </a:t>
            </a:r>
            <a:r>
              <a:rPr lang="en-US" altLang="zh-TW" sz="2000" i="1" dirty="0" err="1">
                <a:sym typeface="Symbol" pitchFamily="18" charset="2"/>
              </a:rPr>
              <a:t>G.V</a:t>
            </a:r>
            <a:endParaRPr lang="en-US" altLang="zh-TW" sz="2000" dirty="0">
              <a:sym typeface="Symbol" pitchFamily="18" charset="2"/>
            </a:endParaRPr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2           </a:t>
            </a:r>
            <a:r>
              <a:rPr lang="en-US" altLang="zh-TW" sz="2000" i="1" dirty="0" err="1"/>
              <a:t>u.color</a:t>
            </a:r>
            <a:r>
              <a:rPr lang="en-US" altLang="zh-TW" sz="2000" dirty="0"/>
              <a:t> </a:t>
            </a:r>
            <a:r>
              <a:rPr lang="en-US" altLang="zh-TW" sz="2000" dirty="0">
                <a:latin typeface="Symbol" pitchFamily="18" charset="2"/>
              </a:rPr>
              <a:t>=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1600" dirty="0">
                <a:sym typeface="Symbol" pitchFamily="18" charset="2"/>
              </a:rPr>
              <a:t>WHITE</a:t>
            </a:r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3           </a:t>
            </a:r>
            <a:r>
              <a:rPr lang="en-US" altLang="zh-TW" sz="2000" i="1" dirty="0">
                <a:sym typeface="Symbol" pitchFamily="18" charset="2"/>
              </a:rPr>
              <a:t>u.</a:t>
            </a:r>
            <a:r>
              <a:rPr lang="en-US" altLang="zh-TW" sz="2000" dirty="0">
                <a:sym typeface="Symbol" pitchFamily="18" charset="2"/>
              </a:rPr>
              <a:t> </a:t>
            </a:r>
            <a:r>
              <a:rPr lang="en-US" altLang="zh-TW" sz="2000" dirty="0">
                <a:latin typeface="Symbol" pitchFamily="18" charset="2"/>
              </a:rPr>
              <a:t>= 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1800" dirty="0">
                <a:sym typeface="Symbol" pitchFamily="18" charset="2"/>
              </a:rPr>
              <a:t>NIL</a:t>
            </a:r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4   </a:t>
            </a:r>
            <a:r>
              <a:rPr lang="en-US" altLang="zh-TW" sz="2000" i="1" dirty="0"/>
              <a:t>time</a:t>
            </a:r>
            <a:r>
              <a:rPr lang="en-US" altLang="zh-TW" sz="2000" dirty="0"/>
              <a:t> </a:t>
            </a:r>
            <a:r>
              <a:rPr lang="en-US" altLang="zh-TW" sz="2000" dirty="0">
                <a:latin typeface="Symbol" pitchFamily="18" charset="2"/>
              </a:rPr>
              <a:t>=</a:t>
            </a:r>
            <a:r>
              <a:rPr lang="en-US" altLang="zh-TW" sz="2000" dirty="0">
                <a:sym typeface="Symbol" pitchFamily="18" charset="2"/>
              </a:rPr>
              <a:t> 0</a:t>
            </a:r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5   </a:t>
            </a:r>
            <a:r>
              <a:rPr lang="en-US" altLang="zh-TW" sz="2000" b="1" dirty="0"/>
              <a:t>for</a:t>
            </a:r>
            <a:r>
              <a:rPr lang="en-US" altLang="zh-TW" sz="2000" dirty="0"/>
              <a:t> each vertex </a:t>
            </a:r>
            <a:r>
              <a:rPr lang="en-US" altLang="zh-TW" sz="2000" i="1" dirty="0"/>
              <a:t>u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 </a:t>
            </a:r>
            <a:r>
              <a:rPr lang="en-US" altLang="zh-TW" sz="2000" i="1" dirty="0" err="1">
                <a:sym typeface="Symbol" pitchFamily="18" charset="2"/>
              </a:rPr>
              <a:t>G.V</a:t>
            </a:r>
            <a:endParaRPr lang="en-US" altLang="zh-TW" sz="2000" dirty="0"/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6           </a:t>
            </a:r>
            <a:r>
              <a:rPr lang="en-US" altLang="zh-TW" sz="2000" b="1" dirty="0"/>
              <a:t>if</a:t>
            </a:r>
            <a:r>
              <a:rPr lang="en-US" altLang="zh-TW" sz="2000" dirty="0"/>
              <a:t> </a:t>
            </a:r>
            <a:r>
              <a:rPr lang="en-US" altLang="zh-TW" sz="2000" i="1" dirty="0" err="1"/>
              <a:t>u.color</a:t>
            </a:r>
            <a:r>
              <a:rPr lang="en-US" altLang="zh-TW" sz="2000" dirty="0"/>
              <a:t> </a:t>
            </a:r>
            <a:r>
              <a:rPr lang="en-US" altLang="zh-TW" sz="2000" dirty="0">
                <a:latin typeface="Symbol" pitchFamily="18" charset="2"/>
                <a:sym typeface="Symbol" pitchFamily="18" charset="2"/>
              </a:rPr>
              <a:t>==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1600" dirty="0">
                <a:sym typeface="Symbol" pitchFamily="18" charset="2"/>
              </a:rPr>
              <a:t>WHITE</a:t>
            </a:r>
            <a:endParaRPr lang="en-US" altLang="zh-TW" sz="1600" dirty="0"/>
          </a:p>
          <a:p>
            <a:pPr marL="762000" indent="-762000" eaLnBrk="1" hangingPunct="1">
              <a:spcBef>
                <a:spcPts val="400"/>
              </a:spcBef>
            </a:pPr>
            <a:r>
              <a:rPr lang="en-US" altLang="zh-TW" sz="2000" dirty="0"/>
              <a:t>7                  DFS-V</a:t>
            </a:r>
            <a:r>
              <a:rPr lang="en-US" altLang="zh-TW" sz="1600" dirty="0"/>
              <a:t>ISIT</a:t>
            </a:r>
            <a:r>
              <a:rPr lang="en-US" altLang="zh-TW" sz="2000" dirty="0"/>
              <a:t>(</a:t>
            </a:r>
            <a:r>
              <a:rPr lang="en-US" altLang="zh-TW" sz="2000" i="1" dirty="0"/>
              <a:t>G</a:t>
            </a:r>
            <a:r>
              <a:rPr lang="en-US" altLang="zh-TW" sz="2000" dirty="0"/>
              <a:t>, </a:t>
            </a:r>
            <a:r>
              <a:rPr lang="en-US" altLang="zh-TW" sz="2000" i="1" dirty="0"/>
              <a:t>u</a:t>
            </a:r>
            <a:r>
              <a:rPr lang="en-US" altLang="zh-TW" sz="2000" dirty="0"/>
              <a:t>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5112000" y="909000"/>
            <a:ext cx="3600000" cy="4140000"/>
          </a:xfrm>
        </p:spPr>
        <p:txBody>
          <a:bodyPr/>
          <a:lstStyle/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DFS-V</a:t>
            </a:r>
            <a:r>
              <a:rPr lang="en-US" altLang="zh-TW" sz="1600" dirty="0">
                <a:solidFill>
                  <a:srgbClr val="000000"/>
                </a:solidFill>
              </a:rPr>
              <a:t>ISIT</a:t>
            </a:r>
            <a:r>
              <a:rPr lang="en-US" altLang="zh-TW" sz="2000" dirty="0">
                <a:solidFill>
                  <a:srgbClr val="000000"/>
                </a:solidFill>
              </a:rPr>
              <a:t>(</a:t>
            </a:r>
            <a:r>
              <a:rPr lang="en-US" altLang="zh-TW" sz="2000" i="1" dirty="0">
                <a:solidFill>
                  <a:srgbClr val="000000"/>
                </a:solidFill>
              </a:rPr>
              <a:t>G</a:t>
            </a:r>
            <a:r>
              <a:rPr lang="en-US" altLang="zh-TW" sz="2000" dirty="0">
                <a:solidFill>
                  <a:srgbClr val="000000"/>
                </a:solidFill>
              </a:rPr>
              <a:t>, </a:t>
            </a:r>
            <a:r>
              <a:rPr lang="en-US" altLang="zh-TW" sz="2000" i="1" dirty="0">
                <a:solidFill>
                  <a:srgbClr val="000000"/>
                </a:solidFill>
              </a:rPr>
              <a:t>u</a:t>
            </a:r>
            <a:r>
              <a:rPr lang="en-US" altLang="zh-TW" sz="2000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</a:rPr>
              <a:t>1    </a:t>
            </a:r>
            <a:r>
              <a:rPr lang="en-US" altLang="zh-TW" sz="2000" i="1" dirty="0" err="1">
                <a:solidFill>
                  <a:srgbClr val="000000"/>
                </a:solidFill>
              </a:rPr>
              <a:t>u.color</a:t>
            </a:r>
            <a:r>
              <a:rPr lang="en-US" altLang="zh-TW" sz="20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GRAY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2   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3    </a:t>
            </a:r>
            <a:r>
              <a:rPr lang="en-US" altLang="zh-TW" sz="2000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4    </a:t>
            </a:r>
            <a:r>
              <a:rPr lang="en-US" altLang="zh-TW" sz="2000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each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 </a:t>
            </a:r>
            <a:r>
              <a:rPr lang="en-US" altLang="zh-TW" sz="2000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5            </a:t>
            </a:r>
            <a:r>
              <a:rPr lang="en-US" altLang="zh-TW" sz="2000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i="1" dirty="0" err="1">
                <a:solidFill>
                  <a:srgbClr val="000000"/>
                </a:solidFill>
                <a:sym typeface="Symbol" pitchFamily="18" charset="2"/>
              </a:rPr>
              <a:t>v.color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==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WHITE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6                 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7                  DFS-V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ISIT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(</a:t>
            </a:r>
            <a:r>
              <a:rPr lang="en-US" altLang="zh-TW" sz="2000" i="1" dirty="0">
                <a:solidFill>
                  <a:srgbClr val="000000"/>
                </a:solidFill>
              </a:rPr>
              <a:t>G</a:t>
            </a:r>
            <a:r>
              <a:rPr lang="en-US" altLang="zh-TW" sz="2000" dirty="0">
                <a:solidFill>
                  <a:srgbClr val="000000"/>
                </a:solidFill>
              </a:rPr>
              <a:t>,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8    </a:t>
            </a:r>
            <a:r>
              <a:rPr lang="en-US" altLang="zh-TW" sz="2000" i="1" dirty="0" err="1">
                <a:solidFill>
                  <a:srgbClr val="000000"/>
                </a:solidFill>
                <a:sym typeface="Symbol" pitchFamily="18" charset="2"/>
              </a:rPr>
              <a:t>u.color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BLACK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FFFFFF"/>
                </a:solidFill>
              </a:rPr>
              <a:t>1</a:t>
            </a:r>
            <a:r>
              <a:rPr lang="en-US" altLang="zh-TW" sz="2000" dirty="0">
                <a:solidFill>
                  <a:srgbClr val="000000"/>
                </a:solidFill>
              </a:rPr>
              <a:t>9   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buClr>
                <a:srgbClr val="000000"/>
              </a:buCl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10    </a:t>
            </a:r>
            <a:r>
              <a:rPr lang="en-US" altLang="zh-TW" sz="2000" i="1" dirty="0" err="1">
                <a:solidFill>
                  <a:srgbClr val="000000"/>
                </a:solidFill>
              </a:rPr>
              <a:t>u.</a:t>
            </a:r>
            <a:r>
              <a:rPr lang="en-US" altLang="zh-TW" sz="2000" i="1" spc="300" dirty="0" err="1">
                <a:solidFill>
                  <a:srgbClr val="000000"/>
                </a:solidFill>
              </a:rPr>
              <a:t>f</a:t>
            </a:r>
            <a:r>
              <a:rPr lang="en-US" altLang="zh-TW" sz="20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Symbol" pitchFamily="18" charset="2"/>
              </a:rPr>
              <a:t>=</a:t>
            </a:r>
            <a:r>
              <a:rPr lang="en-US" altLang="zh-TW" sz="2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8538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5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5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B</a:t>
            </a:r>
            <a:r>
              <a:rPr lang="en-US" altLang="zh-TW" sz="1600" dirty="0">
                <a:solidFill>
                  <a:srgbClr val="000000"/>
                </a:solidFill>
              </a:rPr>
              <a:t>RIDGE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B</a:t>
            </a:r>
            <a:r>
              <a:rPr lang="en-US" altLang="zh-TW" sz="1600" dirty="0">
                <a:solidFill>
                  <a:srgbClr val="000000"/>
                </a:solidFill>
              </a:rPr>
              <a:t>RIDGE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1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83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290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45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507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80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01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94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498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058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311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825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455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363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320000" cy="558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12000" y="5229000"/>
          <a:ext cx="7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1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92000" y="54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9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8" idx="2"/>
            <a:endCxn id="9" idx="6"/>
          </p:cNvCxnSpPr>
          <p:nvPr/>
        </p:nvCxnSpPr>
        <p:spPr bwMode="auto">
          <a:xfrm flipH="1"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52000" y="5949000"/>
            <a:ext cx="108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Wrong!</a:t>
            </a:r>
            <a:endParaRPr kumimoji="1" lang="zh-TW" altLang="en-US" sz="2000" b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787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Suppose that there are no cross edges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212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99295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86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570005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104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600404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614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9955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136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9955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834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9955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59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37902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019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58232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645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68126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543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54438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201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54438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349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32529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1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670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061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63228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302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231816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3323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039696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3, 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8286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301164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3, 2, 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6"/>
            <a:endCxn id="8" idx="2"/>
          </p:cNvCxnSpPr>
          <p:nvPr/>
        </p:nvCxnSpPr>
        <p:spPr bwMode="auto">
          <a:xfrm>
            <a:off x="655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921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45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4073302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36815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643286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04540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42861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134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5477015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134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15332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134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447175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00143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9186118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50783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141988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3673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030529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3673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8376261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3673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2259059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5745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58194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574589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3, 2, 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8" name="文字方塊 27"/>
          <p:cNvSpPr txBox="1"/>
          <p:nvPr/>
        </p:nvSpPr>
        <p:spPr>
          <a:xfrm>
            <a:off x="7812000" y="5589000"/>
            <a:ext cx="1080000" cy="54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lvl="0">
              <a:defRPr/>
            </a:pPr>
            <a:r>
              <a:rPr lang="en-US" altLang="zh-TW" sz="2000" dirty="0">
                <a:solidFill>
                  <a:srgbClr val="FF0000"/>
                </a:solidFill>
              </a:rPr>
              <a:t>Wrong!</a:t>
            </a:r>
          </a:p>
        </p:txBody>
      </p:sp>
    </p:spTree>
    <p:extLst>
      <p:ext uri="{BB962C8B-B14F-4D97-AF65-F5344CB8AC3E}">
        <p14:creationId xmlns:p14="http://schemas.microsoft.com/office/powerpoint/2010/main" val="3774189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51"/>
          <p:cNvSpPr>
            <a:spLocks noChangeArrowheads="1"/>
          </p:cNvSpPr>
          <p:nvPr/>
        </p:nvSpPr>
        <p:spPr bwMode="auto">
          <a:xfrm>
            <a:off x="277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169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34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5" name="直線單箭頭接點 4"/>
          <p:cNvCxnSpPr>
            <a:stCxn id="3" idx="7"/>
            <a:endCxn id="2" idx="1"/>
          </p:cNvCxnSpPr>
          <p:nvPr/>
        </p:nvCxnSpPr>
        <p:spPr bwMode="auto">
          <a:xfrm>
            <a:off x="1999279" y="258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6" name="直線單箭頭接點 5"/>
          <p:cNvCxnSpPr>
            <a:stCxn id="2" idx="5"/>
            <a:endCxn id="4" idx="1"/>
          </p:cNvCxnSpPr>
          <p:nvPr/>
        </p:nvCxnSpPr>
        <p:spPr bwMode="auto">
          <a:xfrm>
            <a:off x="3079279" y="283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97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27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9" name="直線單箭頭接點 8"/>
          <p:cNvCxnSpPr>
            <a:stCxn id="3" idx="3"/>
            <a:endCxn id="7" idx="7"/>
          </p:cNvCxnSpPr>
          <p:nvPr/>
        </p:nvCxnSpPr>
        <p:spPr bwMode="auto">
          <a:xfrm flipH="1">
            <a:off x="1279279" y="283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0" name="直線單箭頭接點 9"/>
          <p:cNvCxnSpPr>
            <a:stCxn id="8" idx="0"/>
            <a:endCxn id="2" idx="4"/>
          </p:cNvCxnSpPr>
          <p:nvPr/>
        </p:nvCxnSpPr>
        <p:spPr bwMode="auto">
          <a:xfrm flipV="1">
            <a:off x="2952000" y="288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16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2" name="直線單箭頭接點 11"/>
          <p:cNvCxnSpPr>
            <a:stCxn id="7" idx="5"/>
            <a:endCxn id="11" idx="1"/>
          </p:cNvCxnSpPr>
          <p:nvPr/>
        </p:nvCxnSpPr>
        <p:spPr bwMode="auto">
          <a:xfrm>
            <a:off x="1279279" y="355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4" idx="3"/>
            <a:endCxn id="8" idx="7"/>
          </p:cNvCxnSpPr>
          <p:nvPr/>
        </p:nvCxnSpPr>
        <p:spPr bwMode="auto">
          <a:xfrm flipH="1">
            <a:off x="3079279" y="355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4" name="直線單箭頭接點 13"/>
          <p:cNvCxnSpPr>
            <a:stCxn id="11" idx="0"/>
            <a:endCxn id="3" idx="4"/>
          </p:cNvCxnSpPr>
          <p:nvPr/>
        </p:nvCxnSpPr>
        <p:spPr bwMode="auto">
          <a:xfrm flipV="1">
            <a:off x="1872000" y="288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2" idx="3"/>
            <a:endCxn id="3" idx="5"/>
          </p:cNvCxnSpPr>
          <p:nvPr/>
        </p:nvCxnSpPr>
        <p:spPr bwMode="auto">
          <a:xfrm flipH="1">
            <a:off x="1999279" y="283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709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1" name="Oval 51"/>
          <p:cNvSpPr>
            <a:spLocks noChangeArrowheads="1"/>
          </p:cNvSpPr>
          <p:nvPr/>
        </p:nvSpPr>
        <p:spPr bwMode="auto">
          <a:xfrm>
            <a:off x="601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2" name="Oval 51"/>
          <p:cNvSpPr>
            <a:spLocks noChangeArrowheads="1"/>
          </p:cNvSpPr>
          <p:nvPr/>
        </p:nvSpPr>
        <p:spPr bwMode="auto">
          <a:xfrm>
            <a:off x="78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23" name="直線單箭頭接點 22"/>
          <p:cNvCxnSpPr>
            <a:endCxn id="20" idx="2"/>
          </p:cNvCxnSpPr>
          <p:nvPr/>
        </p:nvCxnSpPr>
        <p:spPr bwMode="auto">
          <a:xfrm>
            <a:off x="6372000" y="270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直線單箭頭接點 23"/>
          <p:cNvCxnSpPr>
            <a:stCxn id="20" idx="5"/>
            <a:endCxn id="22" idx="1"/>
          </p:cNvCxnSpPr>
          <p:nvPr/>
        </p:nvCxnSpPr>
        <p:spPr bwMode="auto">
          <a:xfrm>
            <a:off x="7399279" y="283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6" name="Oval 51"/>
          <p:cNvSpPr>
            <a:spLocks noChangeArrowheads="1"/>
          </p:cNvSpPr>
          <p:nvPr/>
        </p:nvSpPr>
        <p:spPr bwMode="auto">
          <a:xfrm>
            <a:off x="70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27" name="直線單箭頭接點 26"/>
          <p:cNvCxnSpPr>
            <a:stCxn id="21" idx="3"/>
            <a:endCxn id="25" idx="7"/>
          </p:cNvCxnSpPr>
          <p:nvPr/>
        </p:nvCxnSpPr>
        <p:spPr bwMode="auto">
          <a:xfrm flipH="1">
            <a:off x="5599279" y="283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8" name="直線單箭頭接點 27"/>
          <p:cNvCxnSpPr>
            <a:stCxn id="26" idx="0"/>
            <a:endCxn id="20" idx="4"/>
          </p:cNvCxnSpPr>
          <p:nvPr/>
        </p:nvCxnSpPr>
        <p:spPr bwMode="auto">
          <a:xfrm flipV="1">
            <a:off x="7272000" y="288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9" name="Oval 51"/>
          <p:cNvSpPr>
            <a:spLocks noChangeArrowheads="1"/>
          </p:cNvSpPr>
          <p:nvPr/>
        </p:nvSpPr>
        <p:spPr bwMode="auto">
          <a:xfrm>
            <a:off x="60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30" name="直線單箭頭接點 29"/>
          <p:cNvCxnSpPr>
            <a:stCxn id="25" idx="5"/>
            <a:endCxn id="29" idx="1"/>
          </p:cNvCxnSpPr>
          <p:nvPr/>
        </p:nvCxnSpPr>
        <p:spPr bwMode="auto">
          <a:xfrm>
            <a:off x="5599279" y="355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1" name="直線單箭頭接點 30"/>
          <p:cNvCxnSpPr>
            <a:stCxn id="22" idx="3"/>
            <a:endCxn id="26" idx="7"/>
          </p:cNvCxnSpPr>
          <p:nvPr/>
        </p:nvCxnSpPr>
        <p:spPr bwMode="auto">
          <a:xfrm flipH="1">
            <a:off x="7399279" y="355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直線單箭頭接點 31"/>
          <p:cNvCxnSpPr>
            <a:stCxn id="29" idx="0"/>
            <a:endCxn id="21" idx="4"/>
          </p:cNvCxnSpPr>
          <p:nvPr/>
        </p:nvCxnSpPr>
        <p:spPr bwMode="auto">
          <a:xfrm flipV="1">
            <a:off x="6192000" y="288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62938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9686239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3027011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5424285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731116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6394520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731036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5252421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3785207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2721270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187838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6639718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4926174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729000"/>
            <a:ext cx="4140000" cy="5580000"/>
          </a:xfrm>
        </p:spPr>
        <p:txBody>
          <a:bodyPr l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369000"/>
            <a:ext cx="3960000" cy="252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76240"/>
              </p:ext>
            </p:extLst>
          </p:nvPr>
        </p:nvGraphicFramePr>
        <p:xfrm>
          <a:off x="3852000" y="369000"/>
          <a:ext cx="5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154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7690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852000" y="252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12000" y="5409000"/>
            <a:ext cx="1800000" cy="90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6, 5, 4, 3, 2, 1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012000" y="504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1" name="直線單箭頭接點 10"/>
          <p:cNvCxnSpPr>
            <a:stCxn id="9" idx="7"/>
            <a:endCxn id="8" idx="1"/>
          </p:cNvCxnSpPr>
          <p:nvPr/>
        </p:nvCxnSpPr>
        <p:spPr bwMode="auto">
          <a:xfrm>
            <a:off x="6499279" y="3121721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2" name="直線單箭頭接點 11"/>
          <p:cNvCxnSpPr>
            <a:stCxn id="8" idx="5"/>
            <a:endCxn id="10" idx="1"/>
          </p:cNvCxnSpPr>
          <p:nvPr/>
        </p:nvCxnSpPr>
        <p:spPr bwMode="auto">
          <a:xfrm>
            <a:off x="75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3" name="Oval 51"/>
          <p:cNvSpPr>
            <a:spLocks noChangeArrowheads="1"/>
          </p:cNvSpPr>
          <p:nvPr/>
        </p:nvSpPr>
        <p:spPr bwMode="auto">
          <a:xfrm>
            <a:off x="54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9" idx="3"/>
            <a:endCxn id="13" idx="7"/>
          </p:cNvCxnSpPr>
          <p:nvPr/>
        </p:nvCxnSpPr>
        <p:spPr bwMode="auto">
          <a:xfrm flipH="1">
            <a:off x="5779279" y="337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6" name="直線單箭頭接點 15"/>
          <p:cNvCxnSpPr>
            <a:stCxn id="14" idx="0"/>
            <a:endCxn id="8" idx="4"/>
          </p:cNvCxnSpPr>
          <p:nvPr/>
        </p:nvCxnSpPr>
        <p:spPr bwMode="auto">
          <a:xfrm flipV="1">
            <a:off x="745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18" name="直線單箭頭接點 17"/>
          <p:cNvCxnSpPr>
            <a:stCxn id="13" idx="5"/>
            <a:endCxn id="17" idx="1"/>
          </p:cNvCxnSpPr>
          <p:nvPr/>
        </p:nvCxnSpPr>
        <p:spPr bwMode="auto">
          <a:xfrm>
            <a:off x="57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>
            <a:stCxn id="10" idx="3"/>
            <a:endCxn id="14" idx="7"/>
          </p:cNvCxnSpPr>
          <p:nvPr/>
        </p:nvCxnSpPr>
        <p:spPr bwMode="auto">
          <a:xfrm flipH="1">
            <a:off x="7579279" y="4096279"/>
            <a:ext cx="465442" cy="46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17" idx="0"/>
            <a:endCxn id="9" idx="4"/>
          </p:cNvCxnSpPr>
          <p:nvPr/>
        </p:nvCxnSpPr>
        <p:spPr bwMode="auto">
          <a:xfrm flipV="1">
            <a:off x="6372000" y="3429000"/>
            <a:ext cx="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763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652000" y="306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5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352000" y="378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32000" y="45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單箭頭接點 28"/>
          <p:cNvCxnSpPr>
            <a:stCxn id="8" idx="3"/>
            <a:endCxn id="9" idx="5"/>
          </p:cNvCxnSpPr>
          <p:nvPr/>
        </p:nvCxnSpPr>
        <p:spPr bwMode="auto">
          <a:xfrm flipH="1">
            <a:off x="6499279" y="3376279"/>
            <a:ext cx="825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0497671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85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016392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3422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7316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9849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89673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7959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792127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176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71383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0177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71383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4805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71383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4720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253221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0986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423285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7610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66772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2324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81638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6056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788097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9270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6261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4161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6261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7471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6261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5538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6261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8177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6261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5104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endParaRPr lang="en-US" altLang="zh-TW" i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6261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652000" y="5409000"/>
            <a:ext cx="108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Wrong!</a:t>
            </a:r>
            <a:endParaRPr kumimoji="1" lang="zh-TW" altLang="en-US" sz="2000" b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9889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14670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0503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5007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1630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3272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8196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8868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1035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408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52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0637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43323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07215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36315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5977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98751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341569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68343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171377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7, 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050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252151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7, 6, 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2805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00000" algn="l"/>
                <a:tab pos="1260000" algn="l"/>
                <a:tab pos="162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w.d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rIns="0" bIns="54000" rtlCol="0" anchor="ctr" anchorCtr="0">
            <a:noAutofit/>
          </a:bodyPr>
          <a:lstStyle/>
          <a:p>
            <a:pPr lvl="0" algn="l">
              <a:defRPr/>
            </a:pPr>
            <a:r>
              <a:rPr lang="en-US" altLang="zh-TW" sz="200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820132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7, 6,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3: 1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lIns="0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56190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52000" y="549000"/>
            <a:ext cx="4320000" cy="558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5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B</a:t>
            </a:r>
            <a:r>
              <a:rPr lang="en-US" altLang="zh-TW" sz="1600" dirty="0">
                <a:solidFill>
                  <a:srgbClr val="000000"/>
                </a:solidFill>
              </a:rPr>
              <a:t>RIDGE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B</a:t>
            </a:r>
            <a:r>
              <a:rPr lang="en-US" altLang="zh-TW" sz="1600" dirty="0">
                <a:solidFill>
                  <a:srgbClr val="000000"/>
                </a:solidFill>
              </a:rPr>
              <a:t>RIDGE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3835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23900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79935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908276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23607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5117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87036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748756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13392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14443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47096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77859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5737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19129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49551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70502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446243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45846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73882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7, 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7489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663024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7, 6, 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88827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07911"/>
              </p:ext>
            </p:extLst>
          </p:nvPr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7, 6,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3: 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89111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252000" y="549000"/>
            <a:ext cx="4140000" cy="288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54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1416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252000" y="549000"/>
            <a:ext cx="4140000" cy="288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54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830054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2030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61560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75477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10694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59665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48063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4881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3878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89018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18111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61278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4448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01289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04774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62413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2: 7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63449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2: 7, 6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4604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1089000"/>
            <a:ext cx="4140000" cy="522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19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52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43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7" name="直線單箭頭接點 6"/>
          <p:cNvCxnSpPr>
            <a:stCxn id="3" idx="3"/>
            <a:endCxn id="4" idx="7"/>
          </p:cNvCxnSpPr>
          <p:nvPr/>
        </p:nvCxnSpPr>
        <p:spPr bwMode="auto">
          <a:xfrm flipH="1">
            <a:off x="55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46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52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2" name="直線單箭頭接點 11"/>
          <p:cNvCxnSpPr>
            <a:stCxn id="3" idx="5"/>
            <a:endCxn id="10" idx="1"/>
          </p:cNvCxnSpPr>
          <p:nvPr/>
        </p:nvCxnSpPr>
        <p:spPr bwMode="auto">
          <a:xfrm>
            <a:off x="649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46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79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739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6" name="Oval 51"/>
          <p:cNvSpPr>
            <a:spLocks noChangeArrowheads="1"/>
          </p:cNvSpPr>
          <p:nvPr/>
        </p:nvSpPr>
        <p:spPr bwMode="auto">
          <a:xfrm>
            <a:off x="70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直線單箭頭接點 16"/>
          <p:cNvCxnSpPr>
            <a:stCxn id="14" idx="3"/>
            <a:endCxn id="16" idx="7"/>
          </p:cNvCxnSpPr>
          <p:nvPr/>
        </p:nvCxnSpPr>
        <p:spPr bwMode="auto">
          <a:xfrm flipH="1">
            <a:off x="739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6" idx="0"/>
            <a:endCxn id="10" idx="4"/>
          </p:cNvCxnSpPr>
          <p:nvPr/>
        </p:nvCxnSpPr>
        <p:spPr bwMode="auto">
          <a:xfrm flipV="1">
            <a:off x="72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 flipH="1">
            <a:off x="5652000" y="34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1" idx="0"/>
            <a:endCxn id="4" idx="4"/>
          </p:cNvCxnSpPr>
          <p:nvPr/>
        </p:nvCxnSpPr>
        <p:spPr bwMode="auto">
          <a:xfrm flipV="1">
            <a:off x="547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文字方塊 22"/>
          <p:cNvSpPr txBox="1"/>
          <p:nvPr/>
        </p:nvSpPr>
        <p:spPr>
          <a:xfrm>
            <a:off x="655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8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5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4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5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632000" y="432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612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4, 3, 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2: 7, 6, 5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50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09588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252000" y="549000"/>
            <a:ext cx="4140000" cy="45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FFFFFF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54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711234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252000" y="549000"/>
            <a:ext cx="4320000" cy="414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not S</a:t>
            </a:r>
            <a:r>
              <a:rPr lang="en-US" altLang="zh-TW" sz="1600" dirty="0">
                <a:solidFill>
                  <a:srgbClr val="000000"/>
                </a:solidFill>
              </a:rPr>
              <a:t>TACK</a:t>
            </a:r>
            <a:r>
              <a:rPr lang="en-US" altLang="zh-TW" dirty="0">
                <a:solidFill>
                  <a:srgbClr val="000000"/>
                </a:solidFill>
              </a:rPr>
              <a:t>-E</a:t>
            </a:r>
            <a:r>
              <a:rPr lang="en-US" altLang="zh-TW" sz="1600" dirty="0">
                <a:solidFill>
                  <a:srgbClr val="000000"/>
                </a:solidFill>
              </a:rPr>
              <a:t>MPTY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0" y="54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v.d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0673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11295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510655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59495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1287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12340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033403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37398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63271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05401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63271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56921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63271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5746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63271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49530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91071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90423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91071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82327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449758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5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1538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447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26979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828128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4, 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43495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026824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4, 3, 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23947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729000"/>
            <a:ext cx="4320000" cy="5400000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</a:t>
            </a:r>
            <a:r>
              <a:rPr lang="en-US" altLang="zh-TW" b="1" dirty="0">
                <a:solidFill>
                  <a:srgbClr val="000000"/>
                </a:solidFill>
              </a:rPr>
              <a:t>else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6912000" y="5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78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cxnSp>
        <p:nvCxnSpPr>
          <p:cNvPr id="8" name="直線單箭頭接點 7"/>
          <p:cNvCxnSpPr>
            <a:stCxn id="4" idx="3"/>
            <a:endCxn id="5" idx="7"/>
          </p:cNvCxnSpPr>
          <p:nvPr/>
        </p:nvCxnSpPr>
        <p:spPr bwMode="auto">
          <a:xfrm flipH="1">
            <a:off x="63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9" name="直線單箭頭接點 8"/>
          <p:cNvCxnSpPr>
            <a:stCxn id="4" idx="5"/>
            <a:endCxn id="6" idx="1"/>
          </p:cNvCxnSpPr>
          <p:nvPr/>
        </p:nvCxnSpPr>
        <p:spPr bwMode="auto">
          <a:xfrm>
            <a:off x="7219279" y="8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</a:p>
        </p:txBody>
      </p:sp>
      <p:cxnSp>
        <p:nvCxnSpPr>
          <p:cNvPr id="12" name="直線單箭頭接點 11"/>
          <p:cNvCxnSpPr>
            <a:stCxn id="5" idx="3"/>
            <a:endCxn id="10" idx="7"/>
          </p:cNvCxnSpPr>
          <p:nvPr/>
        </p:nvCxnSpPr>
        <p:spPr bwMode="auto">
          <a:xfrm flipH="1">
            <a:off x="54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3" name="直線單箭頭接點 12"/>
          <p:cNvCxnSpPr>
            <a:stCxn id="5" idx="5"/>
            <a:endCxn id="11" idx="1"/>
          </p:cNvCxnSpPr>
          <p:nvPr/>
        </p:nvCxnSpPr>
        <p:spPr bwMode="auto">
          <a:xfrm>
            <a:off x="6319279" y="17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60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15" name="直線單箭頭接點 14"/>
          <p:cNvCxnSpPr>
            <a:stCxn id="10" idx="5"/>
            <a:endCxn id="14" idx="1"/>
          </p:cNvCxnSpPr>
          <p:nvPr/>
        </p:nvCxnSpPr>
        <p:spPr bwMode="auto">
          <a:xfrm>
            <a:off x="54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>
            <a:stCxn id="11" idx="3"/>
            <a:endCxn id="14" idx="7"/>
          </p:cNvCxnSpPr>
          <p:nvPr/>
        </p:nvCxnSpPr>
        <p:spPr bwMode="auto">
          <a:xfrm flipH="1">
            <a:off x="6319279" y="265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>
            <a:stCxn id="6" idx="2"/>
            <a:endCxn id="5" idx="6"/>
          </p:cNvCxnSpPr>
          <p:nvPr/>
        </p:nvCxnSpPr>
        <p:spPr bwMode="auto">
          <a:xfrm flipH="1">
            <a:off x="6372000" y="1629000"/>
            <a:ext cx="144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1" name="直線單箭頭接點 20"/>
          <p:cNvCxnSpPr>
            <a:stCxn id="14" idx="0"/>
            <a:endCxn id="5" idx="4"/>
          </p:cNvCxnSpPr>
          <p:nvPr/>
        </p:nvCxnSpPr>
        <p:spPr bwMode="auto">
          <a:xfrm flipV="1">
            <a:off x="6192000" y="180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文字方塊 24"/>
          <p:cNvSpPr txBox="1"/>
          <p:nvPr/>
        </p:nvSpPr>
        <p:spPr>
          <a:xfrm>
            <a:off x="6372000" y="5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4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5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72000" y="32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72000" y="14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272000" y="234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026824"/>
              </p:ext>
            </p:extLst>
          </p:nvPr>
        </p:nvGraphicFramePr>
        <p:xfrm>
          <a:off x="7992000" y="3429000"/>
          <a:ext cx="72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5015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432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084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992000" y="630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472000" y="486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4, 3, 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72000" y="4509000"/>
            <a:ext cx="180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832000" y="5949000"/>
            <a:ext cx="108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Wrong!</a:t>
            </a:r>
            <a:endParaRPr kumimoji="1" lang="zh-TW" altLang="en-US" sz="2000" b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315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87213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752000" y="549000"/>
            <a:ext cx="3960000" cy="2880000"/>
          </a:xfrm>
        </p:spPr>
        <p:txBody>
          <a:bodyPr rIns="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89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898296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796257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70801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68341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98231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496095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76780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67877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61567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67877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76168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67877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02914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340715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51115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340715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4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88638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5580000"/>
          </a:xfrm>
        </p:spPr>
        <p:txBody>
          <a:bodyPr rIns="72000"/>
          <a:lstStyle/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FFFFFF"/>
                </a:solidFill>
              </a:rPr>
              <a:t>	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2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P</a:t>
            </a:r>
            <a:r>
              <a:rPr lang="en-US" altLang="zh-TW" sz="1600" dirty="0">
                <a:solidFill>
                  <a:srgbClr val="000000"/>
                </a:solidFill>
              </a:rPr>
              <a:t>US</a:t>
            </a:r>
            <a:r>
              <a:rPr lang="en-US" altLang="zh-TW" sz="1600" spc="300" dirty="0">
                <a:solidFill>
                  <a:srgbClr val="000000"/>
                </a:solidFill>
              </a:rPr>
              <a:t>H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5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</a:t>
            </a:r>
            <a:r>
              <a:rPr lang="en-US" altLang="zh-TW" i="1" spc="100" dirty="0" err="1">
                <a:solidFill>
                  <a:srgbClr val="000000"/>
                </a:solidFill>
                <a:sym typeface="Symbol" pitchFamily="18" charset="2"/>
              </a:rPr>
              <a:t>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6		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8			</a:t>
            </a: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</a:t>
            </a:r>
            <a:r>
              <a:rPr lang="en-US" altLang="zh-TW" b="1" dirty="0">
                <a:solidFill>
                  <a:srgbClr val="000000"/>
                </a:solidFill>
              </a:rPr>
              <a:t>else 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53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mi</a:t>
            </a:r>
            <a:r>
              <a:rPr lang="en-US" altLang="zh-TW" spc="300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v.</a:t>
            </a:r>
            <a:r>
              <a:rPr lang="en-US" altLang="zh-TW" i="1" spc="300" dirty="0" err="1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dirty="0" err="1">
                <a:solidFill>
                  <a:srgbClr val="000000"/>
                </a:solidFill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</a:rPr>
              <a:t>d</a:t>
            </a:r>
            <a:endParaRPr lang="en-US" altLang="zh-TW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13		start new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14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b="1" i="1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15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16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current component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810000" algn="l"/>
                <a:tab pos="117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17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664915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67506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450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FFFFFF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664915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3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6792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450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FFFFFF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656198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2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11194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450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FFFFFF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65842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+mn-lt"/>
                        </a:rPr>
                        <a:t>1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3, 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99856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450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FFFFFF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009887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3, 2, 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79159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4140000" cy="4500000"/>
          </a:xfrm>
        </p:spPr>
        <p:txBody>
          <a:bodyPr rIns="72000"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8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3	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4	let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be an empty node stack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dirty="0" err="1">
                <a:solidFill>
                  <a:srgbClr val="000000"/>
                </a:solidFill>
              </a:rPr>
              <a:t>u.d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7			S</a:t>
            </a:r>
            <a:r>
              <a:rPr lang="en-US" altLang="zh-TW" sz="1600" dirty="0">
                <a:solidFill>
                  <a:srgbClr val="000000"/>
                </a:solidFill>
              </a:rPr>
              <a:t>TRONG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600" dirty="0">
                <a:solidFill>
                  <a:srgbClr val="000000"/>
                </a:solidFill>
              </a:rPr>
              <a:t>ONNEC</a:t>
            </a:r>
            <a:r>
              <a:rPr lang="en-US" altLang="zh-TW" sz="1600" spc="3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8			start new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b="1" dirty="0">
                <a:solidFill>
                  <a:srgbClr val="000000"/>
                </a:solidFill>
              </a:rPr>
              <a:t>do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10				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P</a:t>
            </a:r>
            <a:r>
              <a:rPr lang="en-US" altLang="zh-TW" sz="1600" dirty="0">
                <a:solidFill>
                  <a:srgbClr val="000000"/>
                </a:solidFill>
              </a:rPr>
              <a:t>O</a:t>
            </a:r>
            <a:r>
              <a:rPr lang="en-US" altLang="zh-TW" sz="1600" spc="300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spc="300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11				put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in cur. comp.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tabLst>
                <a:tab pos="270000" algn="r"/>
                <a:tab pos="540000" algn="l"/>
                <a:tab pos="990000" algn="l"/>
                <a:tab pos="1260000" algn="l"/>
                <a:tab pos="162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	12		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endParaRPr lang="en-US" altLang="zh-TW" dirty="0">
              <a:solidFill>
                <a:srgbClr val="FFFFFF"/>
              </a:solidFill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009887"/>
              </p:ext>
            </p:extLst>
          </p:nvPr>
        </p:nvGraphicFramePr>
        <p:xfrm>
          <a:off x="7632000" y="3969000"/>
          <a:ext cx="7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11693461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966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2212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036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60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1934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7632000" y="57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292000" y="4509000"/>
            <a:ext cx="1800000" cy="1080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1: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2: 3, 2, 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292000" y="4149000"/>
            <a:ext cx="1800000" cy="360000"/>
          </a:xfrm>
          <a:prstGeom prst="rect">
            <a:avLst/>
          </a:prstGeom>
          <a:noFill/>
        </p:spPr>
        <p:txBody>
          <a:bodyPr wrap="square" lIns="72000" tIns="36000" rIns="72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Components</a:t>
            </a:r>
            <a:endParaRPr kumimoji="1" lang="zh-TW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637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1" name="Oval 51"/>
          <p:cNvSpPr>
            <a:spLocks noChangeArrowheads="1"/>
          </p:cNvSpPr>
          <p:nvPr/>
        </p:nvSpPr>
        <p:spPr bwMode="auto">
          <a:xfrm>
            <a:off x="54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2" name="Oval 51"/>
          <p:cNvSpPr>
            <a:spLocks noChangeArrowheads="1"/>
          </p:cNvSpPr>
          <p:nvPr/>
        </p:nvSpPr>
        <p:spPr bwMode="auto">
          <a:xfrm>
            <a:off x="72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cxnSp>
        <p:nvCxnSpPr>
          <p:cNvPr id="43" name="直線單箭頭接點 42"/>
          <p:cNvCxnSpPr>
            <a:stCxn id="37" idx="3"/>
            <a:endCxn id="41" idx="7"/>
          </p:cNvCxnSpPr>
          <p:nvPr/>
        </p:nvCxnSpPr>
        <p:spPr bwMode="auto">
          <a:xfrm flipH="1">
            <a:off x="57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4" name="直線單箭頭接點 43"/>
          <p:cNvCxnSpPr>
            <a:stCxn id="37" idx="5"/>
            <a:endCxn id="42" idx="1"/>
          </p:cNvCxnSpPr>
          <p:nvPr/>
        </p:nvCxnSpPr>
        <p:spPr bwMode="auto">
          <a:xfrm>
            <a:off x="6679279" y="12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45" name="Oval 5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cxnSp>
        <p:nvCxnSpPr>
          <p:cNvPr id="46" name="直線單箭頭接點 45"/>
          <p:cNvCxnSpPr>
            <a:stCxn id="41" idx="5"/>
            <a:endCxn id="45" idx="1"/>
          </p:cNvCxnSpPr>
          <p:nvPr/>
        </p:nvCxnSpPr>
        <p:spPr bwMode="auto">
          <a:xfrm>
            <a:off x="57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7" name="直線單箭頭接點 46"/>
          <p:cNvCxnSpPr>
            <a:stCxn id="42" idx="3"/>
            <a:endCxn id="45" idx="7"/>
          </p:cNvCxnSpPr>
          <p:nvPr/>
        </p:nvCxnSpPr>
        <p:spPr bwMode="auto">
          <a:xfrm flipH="1">
            <a:off x="6679279" y="211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49" name="直線單箭頭接點 48"/>
          <p:cNvCxnSpPr>
            <a:stCxn id="45" idx="0"/>
            <a:endCxn id="37" idx="4"/>
          </p:cNvCxnSpPr>
          <p:nvPr/>
        </p:nvCxnSpPr>
        <p:spPr bwMode="auto">
          <a:xfrm flipV="1">
            <a:off x="6552000" y="1269000"/>
            <a:ext cx="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6192000" y="54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9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192000" y="3069000"/>
            <a:ext cx="72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632000" y="1809000"/>
            <a:ext cx="54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r>
              <a:rPr kumimoji="1" lang="en-US" altLang="zh-TW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,</a:t>
            </a: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652000" y="5589000"/>
            <a:ext cx="1080000" cy="360000"/>
          </a:xfrm>
          <a:prstGeom prst="rect">
            <a:avLst/>
          </a:prstGeom>
          <a:noFill/>
        </p:spPr>
        <p:txBody>
          <a:bodyPr wrap="square" tIns="36000" bIns="54000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Wrong!</a:t>
            </a:r>
            <a:endParaRPr kumimoji="1" lang="zh-TW" altLang="en-US" sz="2000" b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80104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22.5 Strongly Connected Components</a:t>
            </a:r>
            <a:endParaRPr lang="zh-TW" altLang="en-US" dirty="0"/>
          </a:p>
        </p:txBody>
      </p:sp>
      <p:sp>
        <p:nvSpPr>
          <p:cNvPr id="151554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447675" indent="-447675" eaLnBrk="1" hangingPunct="1">
              <a:spcBef>
                <a:spcPct val="50000"/>
              </a:spcBef>
            </a:pPr>
            <a:r>
              <a:rPr lang="en-US" altLang="zh-TW" dirty="0"/>
              <a:t>S</a:t>
            </a:r>
            <a:r>
              <a:rPr lang="en-US" altLang="zh-TW" sz="2000" dirty="0"/>
              <a:t>TRONGLY</a:t>
            </a:r>
            <a:r>
              <a:rPr lang="en-US" altLang="zh-TW" dirty="0"/>
              <a:t>-C</a:t>
            </a:r>
            <a:r>
              <a:rPr lang="en-US" altLang="zh-TW" sz="2000" dirty="0"/>
              <a:t>ONNECTED</a:t>
            </a:r>
            <a:r>
              <a:rPr lang="en-US" altLang="zh-TW" dirty="0"/>
              <a:t>-C</a:t>
            </a:r>
            <a:r>
              <a:rPr lang="en-US" altLang="zh-TW" sz="2000" dirty="0"/>
              <a:t>OMPONENTS</a:t>
            </a:r>
            <a:r>
              <a:rPr lang="en-US" altLang="zh-TW" dirty="0"/>
              <a:t>(</a:t>
            </a:r>
            <a:r>
              <a:rPr lang="en-US" altLang="zh-TW" i="1" spc="300" dirty="0"/>
              <a:t>G</a:t>
            </a:r>
            <a:r>
              <a:rPr lang="en-US" altLang="zh-TW" dirty="0"/>
              <a:t>)</a:t>
            </a:r>
          </a:p>
          <a:p>
            <a:pPr marL="898525" indent="-898525" eaLnBrk="1" hangingPunct="1">
              <a:spcBef>
                <a:spcPct val="50000"/>
              </a:spcBef>
              <a:tabLst>
                <a:tab pos="360000" algn="l"/>
              </a:tabLst>
            </a:pPr>
            <a:r>
              <a:rPr lang="en-US" altLang="zh-TW" dirty="0"/>
              <a:t>1	call DFS(</a:t>
            </a:r>
            <a:r>
              <a:rPr lang="en-US" altLang="zh-TW" i="1" spc="300" dirty="0"/>
              <a:t>G</a:t>
            </a:r>
            <a:r>
              <a:rPr lang="en-US" altLang="zh-TW" dirty="0"/>
              <a:t>) to compute finishing times </a:t>
            </a:r>
            <a:r>
              <a:rPr lang="en-US" altLang="zh-TW" i="1" dirty="0" err="1"/>
              <a:t>u.</a:t>
            </a:r>
            <a:r>
              <a:rPr lang="en-US" altLang="zh-TW" i="1" spc="300" dirty="0" err="1"/>
              <a:t>f</a:t>
            </a:r>
            <a:r>
              <a:rPr lang="en-US" altLang="zh-TW" dirty="0"/>
              <a:t> for each vertex </a:t>
            </a:r>
            <a:r>
              <a:rPr lang="en-US" altLang="zh-TW" i="1" dirty="0"/>
              <a:t>u</a:t>
            </a:r>
            <a:endParaRPr lang="en-US" altLang="zh-TW" dirty="0"/>
          </a:p>
          <a:p>
            <a:pPr marL="898525" indent="-898525" eaLnBrk="1" hangingPunct="1">
              <a:spcBef>
                <a:spcPct val="50000"/>
              </a:spcBef>
              <a:tabLst>
                <a:tab pos="360000" algn="l"/>
              </a:tabLst>
            </a:pPr>
            <a:r>
              <a:rPr lang="en-US" altLang="zh-TW" dirty="0"/>
              <a:t>2	compute </a:t>
            </a:r>
            <a:r>
              <a:rPr lang="en-US" altLang="zh-TW" i="1" spc="200" dirty="0"/>
              <a:t>G</a:t>
            </a:r>
            <a:r>
              <a:rPr lang="en-US" altLang="zh-TW" baseline="40000" dirty="0"/>
              <a:t>T</a:t>
            </a:r>
          </a:p>
          <a:p>
            <a:pPr marL="355600" lvl="0" indent="-355600" eaLnBrk="1" hangingPunct="1">
              <a:spcBef>
                <a:spcPct val="50000"/>
              </a:spcBef>
              <a:buClr>
                <a:srgbClr val="000000"/>
              </a:buClr>
              <a:tabLst>
                <a:tab pos="36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3	call DFS(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spc="300" baseline="400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), but in the main loop of DFS(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spc="300" baseline="400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), consider the vertices in order of decreasing </a:t>
            </a:r>
            <a:r>
              <a:rPr lang="en-US" altLang="zh-TW" i="1" dirty="0" err="1">
                <a:solidFill>
                  <a:srgbClr val="000000"/>
                </a:solidFill>
              </a:rPr>
              <a:t>u.</a:t>
            </a:r>
            <a:r>
              <a:rPr lang="en-US" altLang="zh-TW" i="1" spc="300" dirty="0" err="1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(as computed in line 1)</a:t>
            </a:r>
            <a:endParaRPr lang="en-US" altLang="zh-TW" dirty="0"/>
          </a:p>
          <a:p>
            <a:pPr marL="355600" indent="-355600" eaLnBrk="1" hangingPunct="1">
              <a:spcBef>
                <a:spcPct val="50000"/>
              </a:spcBef>
              <a:tabLst>
                <a:tab pos="360000" algn="l"/>
              </a:tabLst>
            </a:pPr>
            <a:r>
              <a:rPr lang="en-US" altLang="zh-TW" dirty="0"/>
              <a:t>4	output the vertices of each tree in the depth-first forest formed in line 3 as a separate strongly connected component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32000" y="5769000"/>
            <a:ext cx="8460000" cy="540000"/>
          </a:xfrm>
        </p:spPr>
        <p:txBody>
          <a:bodyPr rIns="72000"/>
          <a:lstStyle/>
          <a:p>
            <a:r>
              <a:rPr lang="en-US" altLang="zh-TW" sz="2100" dirty="0">
                <a:solidFill>
                  <a:srgbClr val="0000FF"/>
                </a:solidFill>
              </a:rPr>
              <a:t>by R. </a:t>
            </a:r>
            <a:r>
              <a:rPr lang="en-US" altLang="zh-TW" sz="2100" dirty="0" err="1">
                <a:solidFill>
                  <a:srgbClr val="0000FF"/>
                </a:solidFill>
              </a:rPr>
              <a:t>Kosaraju</a:t>
            </a:r>
            <a:r>
              <a:rPr lang="en-US" altLang="zh-TW" sz="2100" dirty="0">
                <a:solidFill>
                  <a:srgbClr val="0000FF"/>
                </a:solidFill>
              </a:rPr>
              <a:t> in 1978 (unpublished), and to one published by </a:t>
            </a:r>
            <a:r>
              <a:rPr lang="en-US" altLang="zh-TW" sz="2100" dirty="0" err="1">
                <a:solidFill>
                  <a:srgbClr val="0000FF"/>
                </a:solidFill>
              </a:rPr>
              <a:t>Sharir</a:t>
            </a:r>
            <a:r>
              <a:rPr lang="en-US" altLang="zh-TW" sz="2100" dirty="0">
                <a:solidFill>
                  <a:srgbClr val="0000FF"/>
                </a:solidFill>
              </a:rPr>
              <a:t> [1981].</a:t>
            </a:r>
            <a:endParaRPr lang="zh-TW" altLang="en-US" sz="21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1805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22.5 Strongly </a:t>
            </a:r>
            <a:r>
              <a:rPr kumimoji="1" lang="en-US" altLang="zh-TW" sz="4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標楷體"/>
                <a:cs typeface="+mj-cs"/>
              </a:rPr>
              <a:t>Connected Components</a:t>
            </a:r>
            <a:endParaRPr lang="zh-TW" altLang="en-US" dirty="0"/>
          </a:p>
        </p:txBody>
      </p:sp>
      <p:sp>
        <p:nvSpPr>
          <p:cNvPr id="151554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432000" y="1269000"/>
            <a:ext cx="8280000" cy="3780000"/>
          </a:xfrm>
        </p:spPr>
        <p:txBody>
          <a:bodyPr/>
          <a:lstStyle/>
          <a:p>
            <a:pPr marL="447675" indent="-447675" eaLnBrk="1" hangingPunct="1">
              <a:spcBef>
                <a:spcPct val="50000"/>
              </a:spcBef>
            </a:pPr>
            <a:r>
              <a:rPr lang="en-US" altLang="zh-TW" dirty="0"/>
              <a:t>S</a:t>
            </a:r>
            <a:r>
              <a:rPr lang="en-US" altLang="zh-TW" sz="2000" dirty="0"/>
              <a:t>TRONGLY</a:t>
            </a:r>
            <a:r>
              <a:rPr lang="en-US" altLang="zh-TW" dirty="0"/>
              <a:t>-C</a:t>
            </a:r>
            <a:r>
              <a:rPr lang="en-US" altLang="zh-TW" sz="2000" dirty="0"/>
              <a:t>ONNECTED</a:t>
            </a:r>
            <a:r>
              <a:rPr lang="en-US" altLang="zh-TW" dirty="0"/>
              <a:t>-C</a:t>
            </a:r>
            <a:r>
              <a:rPr lang="en-US" altLang="zh-TW" sz="2000" dirty="0"/>
              <a:t>OMPONENTS</a:t>
            </a:r>
            <a:r>
              <a:rPr lang="en-US" altLang="zh-TW" dirty="0"/>
              <a:t>(</a:t>
            </a:r>
            <a:r>
              <a:rPr lang="en-US" altLang="zh-TW" i="1" spc="300" dirty="0"/>
              <a:t>G</a:t>
            </a:r>
            <a:r>
              <a:rPr lang="en-US" altLang="zh-TW" dirty="0"/>
              <a:t>)</a:t>
            </a:r>
          </a:p>
          <a:p>
            <a:pPr marL="357188" indent="-357188" eaLnBrk="1" hangingPunct="1">
              <a:spcBef>
                <a:spcPct val="50000"/>
              </a:spcBef>
              <a:tabLst>
                <a:tab pos="360000" algn="l"/>
              </a:tabLst>
            </a:pPr>
            <a:r>
              <a:rPr lang="en-US" altLang="zh-TW" dirty="0"/>
              <a:t>1	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call DFS(</a:t>
            </a:r>
            <a:r>
              <a:rPr kumimoji="1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), as each vertex is finished, insert it onto the front of a linked list</a:t>
            </a:r>
            <a:endParaRPr lang="en-US" altLang="zh-TW" dirty="0"/>
          </a:p>
          <a:p>
            <a:pPr marL="357188" indent="-357188" eaLnBrk="1" hangingPunct="1">
              <a:spcBef>
                <a:spcPct val="50000"/>
              </a:spcBef>
              <a:tabLst>
                <a:tab pos="360000" algn="l"/>
              </a:tabLst>
            </a:pPr>
            <a:r>
              <a:rPr lang="en-US" altLang="zh-TW" dirty="0"/>
              <a:t>2	compute </a:t>
            </a:r>
            <a:r>
              <a:rPr lang="en-US" altLang="zh-TW" i="1" spc="200" dirty="0"/>
              <a:t>G</a:t>
            </a:r>
            <a:r>
              <a:rPr lang="en-US" altLang="zh-TW" baseline="40000" dirty="0"/>
              <a:t>T</a:t>
            </a:r>
          </a:p>
          <a:p>
            <a:pPr marL="355600" lvl="0" indent="-355600" eaLnBrk="1" hangingPunct="1">
              <a:spcBef>
                <a:spcPct val="50000"/>
              </a:spcBef>
              <a:buClr>
                <a:srgbClr val="000000"/>
              </a:buClr>
              <a:tabLst>
                <a:tab pos="36000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3	call DFS(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spc="300" baseline="400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), but in the main loop of DFS(</a:t>
            </a:r>
            <a:r>
              <a:rPr lang="en-US" altLang="zh-TW" i="1" spc="200" dirty="0">
                <a:solidFill>
                  <a:srgbClr val="000000"/>
                </a:solidFill>
              </a:rPr>
              <a:t>G</a:t>
            </a:r>
            <a:r>
              <a:rPr lang="en-US" altLang="zh-TW" spc="300" baseline="400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), consider the vertices in order of the linked list obtained in line</a:t>
            </a:r>
            <a:endParaRPr lang="en-US" altLang="zh-TW" dirty="0"/>
          </a:p>
          <a:p>
            <a:pPr marL="355600" indent="-355600" eaLnBrk="1" hangingPunct="1">
              <a:spcBef>
                <a:spcPct val="50000"/>
              </a:spcBef>
              <a:tabLst>
                <a:tab pos="360000" algn="l"/>
              </a:tabLst>
            </a:pPr>
            <a:r>
              <a:rPr lang="en-US" altLang="zh-TW" dirty="0"/>
              <a:t>4	output the vertices of each tree in the depth-first forest formed in line 3 as a separate strongly connected component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32000" y="5769000"/>
            <a:ext cx="8460000" cy="540000"/>
          </a:xfrm>
        </p:spPr>
        <p:txBody>
          <a:bodyPr rIns="72000"/>
          <a:lstStyle/>
          <a:p>
            <a:r>
              <a:rPr lang="en-US" altLang="zh-TW" sz="2100" dirty="0">
                <a:solidFill>
                  <a:srgbClr val="0000FF"/>
                </a:solidFill>
              </a:rPr>
              <a:t>by R. </a:t>
            </a:r>
            <a:r>
              <a:rPr lang="en-US" altLang="zh-TW" sz="2100" dirty="0" err="1">
                <a:solidFill>
                  <a:srgbClr val="0000FF"/>
                </a:solidFill>
              </a:rPr>
              <a:t>Kosaraju</a:t>
            </a:r>
            <a:r>
              <a:rPr lang="en-US" altLang="zh-TW" sz="2100" dirty="0">
                <a:solidFill>
                  <a:srgbClr val="0000FF"/>
                </a:solidFill>
              </a:rPr>
              <a:t> in 1978 (unpublished), and to one published by </a:t>
            </a:r>
            <a:r>
              <a:rPr lang="en-US" altLang="zh-TW" sz="2100" dirty="0" err="1">
                <a:solidFill>
                  <a:srgbClr val="0000FF"/>
                </a:solidFill>
              </a:rPr>
              <a:t>Sharir</a:t>
            </a:r>
            <a:r>
              <a:rPr lang="en-US" altLang="zh-TW" sz="2100" dirty="0">
                <a:solidFill>
                  <a:srgbClr val="0000FF"/>
                </a:solidFill>
              </a:rPr>
              <a:t> [1981].</a:t>
            </a:r>
            <a:endParaRPr lang="zh-TW" altLang="en-US" sz="21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2385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27A594-9EC1-423B-A7B4-D3FFE1F3E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000" marR="0" lvl="0" indent="-3600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OPOLOGICAL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-S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ORT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kumimoji="1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</a:p>
          <a:p>
            <a:pPr marL="360000" marR="0" lvl="0" indent="-3600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	call DFS(</a:t>
            </a:r>
            <a:r>
              <a:rPr kumimoji="1" lang="en-US" altLang="zh-TW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), as each vertex is finished, insert it onto the front of a linked list</a:t>
            </a:r>
          </a:p>
          <a:p>
            <a:pPr marL="360000" marR="0" lvl="0" indent="-3600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	</a:t>
            </a:r>
            <a:r>
              <a:rPr kumimoji="1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return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linked list of vertices</a:t>
            </a:r>
            <a:endParaRPr lang="en-US" altLang="zh-TW" sz="2400" dirty="0"/>
          </a:p>
          <a:p>
            <a:endParaRPr lang="en-US" altLang="zh-TW" dirty="0"/>
          </a:p>
          <a:p>
            <a:pPr marL="447675" marR="0" lvl="0" indent="-447675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TRONGLY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-C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ONNECTED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-C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OMPONENTS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kumimoji="1" lang="en-US" altLang="zh-TW" sz="2400" b="0" i="1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</a:p>
          <a:p>
            <a:pPr marL="357188" marR="0" lvl="0" indent="-3571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>
                <a:tab pos="360000" algn="l"/>
              </a:tabLst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	call 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OPOLOGICAL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-S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ORT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(</a:t>
            </a:r>
            <a:r>
              <a:rPr kumimoji="1" lang="en-US" altLang="zh-TW" sz="2400" b="0" i="1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</a:t>
            </a:r>
          </a:p>
          <a:p>
            <a:pPr marL="357188" marR="0" lvl="0" indent="-3571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>
                <a:tab pos="360000" algn="l"/>
              </a:tabLst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	compute </a:t>
            </a:r>
            <a:r>
              <a:rPr kumimoji="1" lang="en-US" altLang="zh-TW" sz="2400" b="0" i="1" u="none" strike="noStrike" kern="0" cap="none" spc="2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0" normalizeH="0" baseline="4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</a:t>
            </a:r>
          </a:p>
          <a:p>
            <a:pPr marL="355600" marR="0" lvl="0" indent="-3556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>
                <a:tab pos="360000" algn="l"/>
              </a:tabLst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	call DFS(</a:t>
            </a:r>
            <a:r>
              <a:rPr kumimoji="1" lang="en-US" altLang="zh-TW" sz="2400" b="0" i="1" u="none" strike="noStrike" kern="0" cap="none" spc="2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300" normalizeH="0" baseline="4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), but in the main loop of DFS(</a:t>
            </a:r>
            <a:r>
              <a:rPr kumimoji="1" lang="en-US" altLang="zh-TW" sz="2400" b="0" i="1" u="none" strike="noStrike" kern="0" cap="none" spc="2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G</a:t>
            </a:r>
            <a:r>
              <a:rPr kumimoji="1" lang="en-US" altLang="zh-TW" sz="2400" b="0" i="0" u="none" strike="noStrike" kern="0" cap="none" spc="300" normalizeH="0" baseline="4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), consider the vertices in order of the linked list obtained in line 1</a:t>
            </a:r>
          </a:p>
          <a:p>
            <a:pPr marL="355600" marR="0" lvl="0" indent="-3556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>
                <a:tab pos="360000" algn="l"/>
              </a:tabLst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	output the vertices of each tree in the depth-first forest formed in line 3 as a separate strongly connected component</a:t>
            </a:r>
          </a:p>
        </p:txBody>
      </p:sp>
    </p:spTree>
    <p:extLst>
      <p:ext uri="{BB962C8B-B14F-4D97-AF65-F5344CB8AC3E}">
        <p14:creationId xmlns:p14="http://schemas.microsoft.com/office/powerpoint/2010/main" val="103154899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B1BAC7-F18A-48BA-AD23-CCE80DD01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Kosaraju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topologicalSort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();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u = 0; u &lt; n; u++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transpose[ u ].clear();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u = 0; u &lt; n; u++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v :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adjList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[ u ]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transpose[ v ].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push_back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u );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dfs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924892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B1BAC7-F18A-48BA-AD23-CCE80DD01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topologicalSort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nodeList.clear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memset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visited,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, </a:t>
            </a:r>
            <a:r>
              <a:rPr lang="en-US" altLang="zh-TW" sz="1600" dirty="0" err="1">
                <a:solidFill>
                  <a:srgbClr val="0000FF"/>
                </a:solidFill>
                <a:highlight>
                  <a:srgbClr val="FFFFFF"/>
                </a:highlight>
              </a:rPr>
              <a:t>sizeof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visited )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u = 0; u &lt; n; u++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!visited[ u ]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topologicalSort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u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topologicalSort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visited[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] =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v :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adjList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[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!visited[ v ]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topologicalSort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v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nodeList.push_front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474396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B1BAC7-F18A-48BA-AD23-CCE80DD01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dfs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memset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visited,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false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, </a:t>
            </a:r>
            <a:r>
              <a:rPr lang="en-US" altLang="zh-TW" sz="1600" dirty="0" err="1">
                <a:solidFill>
                  <a:srgbClr val="0000FF"/>
                </a:solidFill>
                <a:highlight>
                  <a:srgbClr val="FFFFFF"/>
                </a:highlight>
              </a:rPr>
              <a:t>sizeof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visited )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numSCCs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= 0;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u :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nodeList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!visited[ u ] )</a:t>
            </a:r>
          </a:p>
          <a:p>
            <a:r>
              <a:rPr lang="zh-TW" altLang="en-US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dfs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u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numSCCs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;</a:t>
            </a:r>
          </a:p>
          <a:p>
            <a:r>
              <a:rPr lang="zh-TW" altLang="en-US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dfs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visited[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] =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v : transpose[ </a:t>
            </a:r>
            <a:r>
              <a:rPr lang="en-US" altLang="zh-TW" sz="1600" dirty="0">
                <a:solidFill>
                  <a:srgbClr val="808080"/>
                </a:solidFill>
                <a:highlight>
                  <a:srgbClr val="FFFFFF"/>
                </a:highlight>
              </a:rPr>
              <a:t>u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!visited[ v ]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</a:rPr>
              <a:t>dfs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( v );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5477869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1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23252</TotalTime>
  <Words>33446</Words>
  <Application>Microsoft Office PowerPoint</Application>
  <PresentationFormat>投影片</PresentationFormat>
  <Paragraphs>6530</Paragraphs>
  <Slides>187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187</vt:i4>
      </vt:variant>
    </vt:vector>
  </HeadingPairs>
  <TitlesOfParts>
    <vt:vector size="198" baseType="lpstr">
      <vt:lpstr>MS Mincho</vt:lpstr>
      <vt:lpstr>新細明體</vt:lpstr>
      <vt:lpstr>標楷體</vt:lpstr>
      <vt:lpstr>Arial</vt:lpstr>
      <vt:lpstr>Cambria</vt:lpstr>
      <vt:lpstr>Cambria Math</vt:lpstr>
      <vt:lpstr>Lucida Console</vt:lpstr>
      <vt:lpstr>Symbol</vt:lpstr>
      <vt:lpstr>Times New Roman</vt:lpstr>
      <vt:lpstr>Wingdings</vt:lpstr>
      <vt:lpstr>Blends</vt:lpstr>
      <vt:lpstr>22.5 Strongly connected components</vt:lpstr>
      <vt:lpstr>22.5 Strongly connected components</vt:lpstr>
      <vt:lpstr>PowerPoint 簡報</vt:lpstr>
      <vt:lpstr>PowerPoint 簡報</vt:lpstr>
      <vt:lpstr>The Relationship Between Strongly Connected Graphs and Bridge Connected Graphs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Suppose that there are no cross edges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22.5 Strongly Connected Components</vt:lpstr>
      <vt:lpstr>22.5 Strongly Connected Components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1117</cp:revision>
  <dcterms:created xsi:type="dcterms:W3CDTF">2001-09-06T13:56:50Z</dcterms:created>
  <dcterms:modified xsi:type="dcterms:W3CDTF">2025-12-10T21:54:20Z</dcterms:modified>
</cp:coreProperties>
</file>