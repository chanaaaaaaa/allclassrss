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105"/>
  </p:notesMasterIdLst>
  <p:handoutMasterIdLst>
    <p:handoutMasterId r:id="rId106"/>
  </p:handoutMasterIdLst>
  <p:sldIdLst>
    <p:sldId id="256" r:id="rId2"/>
    <p:sldId id="761" r:id="rId3"/>
    <p:sldId id="865" r:id="rId4"/>
    <p:sldId id="857" r:id="rId5"/>
    <p:sldId id="981" r:id="rId6"/>
    <p:sldId id="982" r:id="rId7"/>
    <p:sldId id="858" r:id="rId8"/>
    <p:sldId id="860" r:id="rId9"/>
    <p:sldId id="919" r:id="rId10"/>
    <p:sldId id="1038" r:id="rId11"/>
    <p:sldId id="1044" r:id="rId12"/>
    <p:sldId id="1043" r:id="rId13"/>
    <p:sldId id="1041" r:id="rId14"/>
    <p:sldId id="1042" r:id="rId15"/>
    <p:sldId id="979" r:id="rId16"/>
    <p:sldId id="999" r:id="rId17"/>
    <p:sldId id="1000" r:id="rId18"/>
    <p:sldId id="866" r:id="rId19"/>
    <p:sldId id="1039" r:id="rId20"/>
    <p:sldId id="1040" r:id="rId21"/>
    <p:sldId id="990" r:id="rId22"/>
    <p:sldId id="954" r:id="rId23"/>
    <p:sldId id="1047" r:id="rId24"/>
    <p:sldId id="1046" r:id="rId25"/>
    <p:sldId id="1051" r:id="rId26"/>
    <p:sldId id="1037" r:id="rId27"/>
    <p:sldId id="1048" r:id="rId28"/>
    <p:sldId id="1036" r:id="rId29"/>
    <p:sldId id="1006" r:id="rId30"/>
    <p:sldId id="1007" r:id="rId31"/>
    <p:sldId id="1008" r:id="rId32"/>
    <p:sldId id="1009" r:id="rId33"/>
    <p:sldId id="1010" r:id="rId34"/>
    <p:sldId id="1011" r:id="rId35"/>
    <p:sldId id="1012" r:id="rId36"/>
    <p:sldId id="1013" r:id="rId37"/>
    <p:sldId id="1015" r:id="rId38"/>
    <p:sldId id="1016" r:id="rId39"/>
    <p:sldId id="1017" r:id="rId40"/>
    <p:sldId id="1018" r:id="rId41"/>
    <p:sldId id="1019" r:id="rId42"/>
    <p:sldId id="1020" r:id="rId43"/>
    <p:sldId id="1021" r:id="rId44"/>
    <p:sldId id="1022" r:id="rId45"/>
    <p:sldId id="1023" r:id="rId46"/>
    <p:sldId id="1024" r:id="rId47"/>
    <p:sldId id="1025" r:id="rId48"/>
    <p:sldId id="1026" r:id="rId49"/>
    <p:sldId id="1027" r:id="rId50"/>
    <p:sldId id="1028" r:id="rId51"/>
    <p:sldId id="1029" r:id="rId52"/>
    <p:sldId id="1030" r:id="rId53"/>
    <p:sldId id="1031" r:id="rId54"/>
    <p:sldId id="1032" r:id="rId55"/>
    <p:sldId id="1033" r:id="rId56"/>
    <p:sldId id="1034" r:id="rId57"/>
    <p:sldId id="1035" r:id="rId58"/>
    <p:sldId id="1049" r:id="rId59"/>
    <p:sldId id="1050" r:id="rId60"/>
    <p:sldId id="1053" r:id="rId61"/>
    <p:sldId id="1054" r:id="rId62"/>
    <p:sldId id="1052" r:id="rId63"/>
    <p:sldId id="1055" r:id="rId64"/>
    <p:sldId id="1056" r:id="rId65"/>
    <p:sldId id="1057" r:id="rId66"/>
    <p:sldId id="1075" r:id="rId67"/>
    <p:sldId id="1076" r:id="rId68"/>
    <p:sldId id="1077" r:id="rId69"/>
    <p:sldId id="1078" r:id="rId70"/>
    <p:sldId id="1058" r:id="rId71"/>
    <p:sldId id="1059" r:id="rId72"/>
    <p:sldId id="1060" r:id="rId73"/>
    <p:sldId id="1061" r:id="rId74"/>
    <p:sldId id="897" r:id="rId75"/>
    <p:sldId id="898" r:id="rId76"/>
    <p:sldId id="899" r:id="rId77"/>
    <p:sldId id="900" r:id="rId78"/>
    <p:sldId id="988" r:id="rId79"/>
    <p:sldId id="901" r:id="rId80"/>
    <p:sldId id="903" r:id="rId81"/>
    <p:sldId id="971" r:id="rId82"/>
    <p:sldId id="948" r:id="rId83"/>
    <p:sldId id="972" r:id="rId84"/>
    <p:sldId id="966" r:id="rId85"/>
    <p:sldId id="967" r:id="rId86"/>
    <p:sldId id="905" r:id="rId87"/>
    <p:sldId id="969" r:id="rId88"/>
    <p:sldId id="968" r:id="rId89"/>
    <p:sldId id="970" r:id="rId90"/>
    <p:sldId id="909" r:id="rId91"/>
    <p:sldId id="997" r:id="rId92"/>
    <p:sldId id="1070" r:id="rId93"/>
    <p:sldId id="1071" r:id="rId94"/>
    <p:sldId id="1068" r:id="rId95"/>
    <p:sldId id="1069" r:id="rId96"/>
    <p:sldId id="1073" r:id="rId97"/>
    <p:sldId id="1074" r:id="rId98"/>
    <p:sldId id="1063" r:id="rId99"/>
    <p:sldId id="1062" r:id="rId100"/>
    <p:sldId id="1064" r:id="rId101"/>
    <p:sldId id="1065" r:id="rId102"/>
    <p:sldId id="1066" r:id="rId103"/>
    <p:sldId id="1067" r:id="rId104"/>
  </p:sldIdLst>
  <p:sldSz cx="9144000" cy="6858000" type="overhead"/>
  <p:notesSz cx="9928225" cy="6669088"/>
  <p:defaultTextStyle>
    <a:defPPr>
      <a:defRPr lang="zh-TW"/>
    </a:defPPr>
    <a:lvl1pPr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3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65">
          <p15:clr>
            <a:srgbClr val="A4A3A4"/>
          </p15:clr>
        </p15:guide>
        <p15:guide id="2" pos="567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9FF"/>
    <a:srgbClr val="B2B2B2"/>
    <a:srgbClr val="00CC00"/>
    <a:srgbClr val="008000"/>
    <a:srgbClr val="00FF00"/>
    <a:srgbClr val="969696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33" autoAdjust="0"/>
    <p:restoredTop sz="95455" autoAdjust="0"/>
  </p:normalViewPr>
  <p:slideViewPr>
    <p:cSldViewPr showGuides="1">
      <p:cViewPr varScale="1">
        <p:scale>
          <a:sx n="95" d="100"/>
          <a:sy n="95" d="100"/>
        </p:scale>
        <p:origin x="125" y="77"/>
      </p:cViewPr>
      <p:guideLst>
        <p:guide orient="horz" pos="4065"/>
        <p:guide pos="567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680"/>
    </p:cViewPr>
  </p:sorterViewPr>
  <p:gridSpacing cx="180000" cy="1800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7027CD03-75DA-4C94-8D1F-69A636C2E8B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24513" y="0"/>
            <a:ext cx="4302125" cy="331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7613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98825" y="501650"/>
            <a:ext cx="3330575" cy="2498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2188" y="3167063"/>
            <a:ext cx="7943850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22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l" defTabSz="947738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24513" y="6335713"/>
            <a:ext cx="4302125" cy="331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838" tIns="47419" rIns="94838" bIns="47419" numCol="1" anchor="b" anchorCtr="0" compatLnSpc="1">
            <a:prstTxWarp prst="textNoShape">
              <a:avLst/>
            </a:prstTxWarp>
          </a:bodyPr>
          <a:lstStyle>
            <a:lvl1pPr algn="r" defTabSz="947738">
              <a:defRPr sz="1200"/>
            </a:lvl1pPr>
          </a:lstStyle>
          <a:p>
            <a:pPr>
              <a:defRPr/>
            </a:pPr>
            <a:fld id="{33D4C07E-077C-4BB7-B7DE-F984120537F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52000" y="2709000"/>
            <a:ext cx="8640000" cy="1440000"/>
          </a:xfrm>
        </p:spPr>
        <p:txBody>
          <a:bodyPr anchor="ctr" anchorCtr="0"/>
          <a:lstStyle>
            <a:lvl1pPr>
              <a:defRPr sz="44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3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1628999"/>
            <a:ext cx="3780000" cy="4140001"/>
          </a:xfrm>
        </p:spPr>
        <p:txBody>
          <a:bodyPr/>
          <a:lstStyle>
            <a:lvl1pPr>
              <a:defRPr sz="23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043483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1268413"/>
            <a:ext cx="8640000" cy="5040000"/>
          </a:xfrm>
        </p:spPr>
        <p:txBody>
          <a:bodyPr/>
          <a:lstStyle>
            <a:lvl1pPr>
              <a:defRPr sz="22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699201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50797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909001"/>
            <a:ext cx="4140000" cy="4320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75559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549000"/>
            <a:ext cx="3780000" cy="5040000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25849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729000"/>
            <a:ext cx="5940000" cy="3780000"/>
          </a:xfrm>
        </p:spPr>
        <p:txBody>
          <a:bodyPr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67315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252000" y="729000"/>
            <a:ext cx="4860000" cy="432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284528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760000" cy="432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1609263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5760000" cy="576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4363409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032000" y="549000"/>
            <a:ext cx="4860000" cy="288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8737320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7560000" cy="522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08615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7200000" cy="558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1088329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6660000" cy="4320000"/>
          </a:xfrm>
        </p:spPr>
        <p:txBody>
          <a:bodyPr wrap="non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582526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32000" y="549000"/>
            <a:ext cx="8100000" cy="4320000"/>
          </a:xfrm>
        </p:spPr>
        <p:txBody>
          <a:bodyPr wrap="square"/>
          <a:lstStyle>
            <a:lvl1pPr>
              <a:spcBef>
                <a:spcPts val="0"/>
              </a:spcBef>
              <a:defRPr sz="1600"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496300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472000" y="369000"/>
            <a:ext cx="3420000" cy="612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3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1269000"/>
            <a:ext cx="3960000" cy="504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1269000"/>
            <a:ext cx="3960000" cy="504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72622592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549000"/>
            <a:ext cx="3960000" cy="576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549000"/>
            <a:ext cx="3960000" cy="5760000"/>
          </a:xfrm>
        </p:spPr>
        <p:txBody>
          <a:bodyPr/>
          <a:lstStyle>
            <a:lvl1pPr>
              <a:defRPr sz="20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92076061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0" y="549000"/>
            <a:ext cx="5940000" cy="576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032000" y="2169000"/>
            <a:ext cx="4860000" cy="252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6093187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0" y="1269000"/>
            <a:ext cx="8100000" cy="522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752000" y="549000"/>
            <a:ext cx="4140000" cy="198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79613756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252000" y="369000"/>
            <a:ext cx="8460000" cy="612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112000" y="549000"/>
            <a:ext cx="3780000" cy="1080000"/>
          </a:xfrm>
        </p:spPr>
        <p:txBody>
          <a:bodyPr/>
          <a:lstStyle>
            <a:lvl1pPr>
              <a:spcBef>
                <a:spcPts val="0"/>
              </a:spcBef>
              <a:defRPr sz="1600">
                <a:latin typeface="Lucida Console" panose="020B0609040504020204" pitchFamily="49" charset="0"/>
              </a:defRPr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417737021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432000" y="1269000"/>
            <a:ext cx="8280000" cy="3420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432000" y="5049000"/>
            <a:ext cx="8280000" cy="1260000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603657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432000" y="189000"/>
            <a:ext cx="8280000" cy="90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2051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2000" y="1268413"/>
            <a:ext cx="8280000" cy="50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70" r:id="rId3"/>
    <p:sldLayoutId id="2147483665" r:id="rId4"/>
    <p:sldLayoutId id="2147483663" r:id="rId5"/>
    <p:sldLayoutId id="2147483659" r:id="rId6"/>
    <p:sldLayoutId id="2147483664" r:id="rId7"/>
    <p:sldLayoutId id="2147483668" r:id="rId8"/>
    <p:sldLayoutId id="2147483669" r:id="rId9"/>
    <p:sldLayoutId id="2147483671" r:id="rId10"/>
    <p:sldLayoutId id="2147483672" r:id="rId11"/>
    <p:sldLayoutId id="2147483678" r:id="rId12"/>
    <p:sldLayoutId id="2147483676" r:id="rId13"/>
    <p:sldLayoutId id="2147483674" r:id="rId14"/>
    <p:sldLayoutId id="2147483675" r:id="rId15"/>
    <p:sldLayoutId id="2147483673" r:id="rId16"/>
    <p:sldLayoutId id="2147483655" r:id="rId17"/>
    <p:sldLayoutId id="2147483662" r:id="rId18"/>
    <p:sldLayoutId id="2147483661" r:id="rId19"/>
    <p:sldLayoutId id="2147483666" r:id="rId20"/>
    <p:sldLayoutId id="2147483667" r:id="rId21"/>
    <p:sldLayoutId id="2147483677" r:id="rId22"/>
    <p:sldLayoutId id="2147483660" r:id="rId23"/>
    <p:sldLayoutId id="2147483657" r:id="rId24"/>
    <p:sldLayoutId id="2147483658" r:id="rId2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000">
          <a:solidFill>
            <a:srgbClr val="0000FF"/>
          </a:solidFill>
          <a:latin typeface="Times New Roman" pitchFamily="18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830263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2pPr>
      <a:lvl3pPr marL="123825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3pPr>
      <a:lvl4pPr marL="1646238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defRPr kumimoji="1" sz="2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zh-TW" sz="4800" dirty="0" smtClean="0"/>
              <a:t>Bridges and Cut Points</a:t>
            </a:r>
            <a:endParaRPr lang="en-US" altLang="zh-TW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8412"/>
            <a:ext cx="8640000" cy="1260587"/>
          </a:xfrm>
        </p:spPr>
        <p:txBody>
          <a:bodyPr/>
          <a:lstStyle/>
          <a:p>
            <a:pPr marL="0" indent="0"/>
            <a:r>
              <a:rPr lang="en-US" altLang="zh-TW" sz="2300" dirty="0"/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</a:t>
            </a:r>
            <a:r>
              <a:rPr lang="en-US" altLang="zh-TW" sz="2300" dirty="0"/>
              <a:t> be a connected, undirected graph. A </a:t>
            </a:r>
            <a:r>
              <a:rPr lang="en-US" altLang="zh-TW" sz="2300" i="1" dirty="0">
                <a:solidFill>
                  <a:srgbClr val="0000FF"/>
                </a:solidFill>
              </a:rPr>
              <a:t>bridge</a:t>
            </a:r>
            <a:r>
              <a:rPr lang="en-US" altLang="zh-TW" sz="2300" dirty="0"/>
              <a:t>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is an edge whose removal disconnects </a:t>
            </a:r>
            <a:r>
              <a:rPr lang="en-US" altLang="zh-TW" sz="2300" i="1" dirty="0"/>
              <a:t>G</a:t>
            </a:r>
            <a:r>
              <a:rPr lang="en-US" altLang="zh-TW" sz="2300" dirty="0"/>
              <a:t>. (Assume that </a:t>
            </a:r>
            <a:r>
              <a:rPr lang="en-US" altLang="zh-TW" sz="2300" i="1" dirty="0"/>
              <a:t>G</a:t>
            </a:r>
            <a:r>
              <a:rPr lang="en-US" altLang="zh-TW" sz="2300" dirty="0"/>
              <a:t> contains neither </a:t>
            </a:r>
            <a:r>
              <a:rPr lang="en-US" altLang="zh-TW" sz="2300" dirty="0" smtClean="0"/>
              <a:t>self-loops </a:t>
            </a:r>
            <a:r>
              <a:rPr lang="en-US" altLang="zh-TW" sz="2300" dirty="0"/>
              <a:t>nor parallel </a:t>
            </a:r>
            <a:r>
              <a:rPr lang="en-US" altLang="zh-TW" sz="2300" dirty="0" smtClean="0"/>
              <a:t>edges.)</a:t>
            </a:r>
            <a:endParaRPr lang="zh-TW" altLang="en-US" sz="2300" dirty="0"/>
          </a:p>
        </p:txBody>
      </p:sp>
      <p:cxnSp>
        <p:nvCxnSpPr>
          <p:cNvPr id="4" name="AutoShape 56"/>
          <p:cNvCxnSpPr>
            <a:cxnSpLocks noChangeShapeType="1"/>
            <a:stCxn id="6" idx="7"/>
            <a:endCxn id="7" idx="3"/>
          </p:cNvCxnSpPr>
          <p:nvPr/>
        </p:nvCxnSpPr>
        <p:spPr bwMode="auto">
          <a:xfrm flipV="1">
            <a:off x="739279" y="391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" name="Oval 49"/>
          <p:cNvSpPr>
            <a:spLocks noChangeArrowheads="1"/>
          </p:cNvSpPr>
          <p:nvPr/>
        </p:nvSpPr>
        <p:spPr bwMode="auto">
          <a:xfrm>
            <a:off x="151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4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972000" y="36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" name="直線接點 7"/>
          <p:cNvCxnSpPr>
            <a:stCxn id="7" idx="5"/>
            <a:endCxn id="5" idx="1"/>
          </p:cNvCxnSpPr>
          <p:nvPr/>
        </p:nvCxnSpPr>
        <p:spPr bwMode="auto">
          <a:xfrm>
            <a:off x="1279279" y="391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" name="AutoShape 56"/>
          <p:cNvCxnSpPr>
            <a:cxnSpLocks noChangeShapeType="1"/>
            <a:stCxn id="6" idx="5"/>
            <a:endCxn id="10" idx="1"/>
          </p:cNvCxnSpPr>
          <p:nvPr/>
        </p:nvCxnSpPr>
        <p:spPr bwMode="auto">
          <a:xfrm>
            <a:off x="739279" y="445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9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" name="直線接點 10"/>
          <p:cNvCxnSpPr>
            <a:stCxn id="10" idx="7"/>
            <a:endCxn id="5" idx="3"/>
          </p:cNvCxnSpPr>
          <p:nvPr/>
        </p:nvCxnSpPr>
        <p:spPr bwMode="auto">
          <a:xfrm flipV="1">
            <a:off x="1279279" y="44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" name="AutoShape 56"/>
          <p:cNvCxnSpPr>
            <a:cxnSpLocks noChangeShapeType="1"/>
            <a:stCxn id="14" idx="7"/>
            <a:endCxn id="15" idx="3"/>
          </p:cNvCxnSpPr>
          <p:nvPr/>
        </p:nvCxnSpPr>
        <p:spPr bwMode="auto">
          <a:xfrm flipV="1">
            <a:off x="4159279" y="391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49"/>
          <p:cNvSpPr>
            <a:spLocks noChangeArrowheads="1"/>
          </p:cNvSpPr>
          <p:nvPr/>
        </p:nvSpPr>
        <p:spPr bwMode="auto">
          <a:xfrm>
            <a:off x="49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38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4392000" y="36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直線接點 15"/>
          <p:cNvCxnSpPr>
            <a:stCxn id="15" idx="5"/>
            <a:endCxn id="13" idx="1"/>
          </p:cNvCxnSpPr>
          <p:nvPr/>
        </p:nvCxnSpPr>
        <p:spPr bwMode="auto">
          <a:xfrm>
            <a:off x="4699279" y="391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7" name="AutoShape 56"/>
          <p:cNvCxnSpPr>
            <a:cxnSpLocks noChangeShapeType="1"/>
            <a:stCxn id="14" idx="5"/>
            <a:endCxn id="18" idx="1"/>
          </p:cNvCxnSpPr>
          <p:nvPr/>
        </p:nvCxnSpPr>
        <p:spPr bwMode="auto">
          <a:xfrm>
            <a:off x="4159279" y="445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51"/>
          <p:cNvSpPr>
            <a:spLocks noChangeArrowheads="1"/>
          </p:cNvSpPr>
          <p:nvPr/>
        </p:nvSpPr>
        <p:spPr bwMode="auto">
          <a:xfrm>
            <a:off x="439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直線接點 18"/>
          <p:cNvCxnSpPr>
            <a:stCxn id="18" idx="7"/>
            <a:endCxn id="13" idx="3"/>
          </p:cNvCxnSpPr>
          <p:nvPr/>
        </p:nvCxnSpPr>
        <p:spPr bwMode="auto">
          <a:xfrm flipV="1">
            <a:off x="4699279" y="44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0" name="Oval 49"/>
          <p:cNvSpPr>
            <a:spLocks noChangeArrowheads="1"/>
          </p:cNvSpPr>
          <p:nvPr/>
        </p:nvSpPr>
        <p:spPr bwMode="auto">
          <a:xfrm>
            <a:off x="74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51"/>
          <p:cNvSpPr>
            <a:spLocks noChangeArrowheads="1"/>
          </p:cNvSpPr>
          <p:nvPr/>
        </p:nvSpPr>
        <p:spPr bwMode="auto">
          <a:xfrm>
            <a:off x="637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Oval 51"/>
          <p:cNvSpPr>
            <a:spLocks noChangeArrowheads="1"/>
          </p:cNvSpPr>
          <p:nvPr/>
        </p:nvSpPr>
        <p:spPr bwMode="auto">
          <a:xfrm>
            <a:off x="6912000" y="36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直線接點 22"/>
          <p:cNvCxnSpPr>
            <a:stCxn id="22" idx="5"/>
            <a:endCxn id="20" idx="1"/>
          </p:cNvCxnSpPr>
          <p:nvPr/>
        </p:nvCxnSpPr>
        <p:spPr bwMode="auto">
          <a:xfrm>
            <a:off x="7219279" y="391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AutoShape 56"/>
          <p:cNvCxnSpPr>
            <a:cxnSpLocks noChangeShapeType="1"/>
            <a:stCxn id="21" idx="5"/>
            <a:endCxn id="25" idx="1"/>
          </p:cNvCxnSpPr>
          <p:nvPr/>
        </p:nvCxnSpPr>
        <p:spPr bwMode="auto">
          <a:xfrm>
            <a:off x="6679279" y="445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直線接點 25"/>
          <p:cNvCxnSpPr>
            <a:stCxn id="25" idx="7"/>
            <a:endCxn id="20" idx="3"/>
          </p:cNvCxnSpPr>
          <p:nvPr/>
        </p:nvCxnSpPr>
        <p:spPr bwMode="auto">
          <a:xfrm flipV="1">
            <a:off x="7219279" y="44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" name="AutoShape 56"/>
          <p:cNvCxnSpPr>
            <a:cxnSpLocks noChangeShapeType="1"/>
            <a:stCxn id="29" idx="6"/>
            <a:endCxn id="30" idx="2"/>
          </p:cNvCxnSpPr>
          <p:nvPr/>
        </p:nvCxnSpPr>
        <p:spPr bwMode="auto">
          <a:xfrm>
            <a:off x="2412000" y="360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8" name="Oval 49"/>
          <p:cNvSpPr>
            <a:spLocks noChangeArrowheads="1"/>
          </p:cNvSpPr>
          <p:nvPr/>
        </p:nvSpPr>
        <p:spPr bwMode="auto">
          <a:xfrm>
            <a:off x="277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205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51"/>
          <p:cNvSpPr>
            <a:spLocks noChangeArrowheads="1"/>
          </p:cNvSpPr>
          <p:nvPr/>
        </p:nvSpPr>
        <p:spPr bwMode="auto">
          <a:xfrm>
            <a:off x="277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1" name="直線接點 30"/>
          <p:cNvCxnSpPr>
            <a:stCxn id="30" idx="4"/>
            <a:endCxn id="28" idx="0"/>
          </p:cNvCxnSpPr>
          <p:nvPr/>
        </p:nvCxnSpPr>
        <p:spPr bwMode="auto">
          <a:xfrm>
            <a:off x="2952000" y="378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AutoShape 56"/>
          <p:cNvCxnSpPr>
            <a:cxnSpLocks noChangeShapeType="1"/>
            <a:stCxn id="29" idx="5"/>
            <a:endCxn id="28" idx="1"/>
          </p:cNvCxnSpPr>
          <p:nvPr/>
        </p:nvCxnSpPr>
        <p:spPr bwMode="auto">
          <a:xfrm>
            <a:off x="2359279" y="373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27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4" name="直線接點 33"/>
          <p:cNvCxnSpPr>
            <a:stCxn id="33" idx="0"/>
            <a:endCxn id="28" idx="4"/>
          </p:cNvCxnSpPr>
          <p:nvPr/>
        </p:nvCxnSpPr>
        <p:spPr bwMode="auto">
          <a:xfrm flipV="1">
            <a:off x="2952000" y="450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" name="AutoShape 56"/>
          <p:cNvCxnSpPr>
            <a:cxnSpLocks noChangeShapeType="1"/>
            <a:stCxn id="36" idx="6"/>
            <a:endCxn id="33" idx="2"/>
          </p:cNvCxnSpPr>
          <p:nvPr/>
        </p:nvCxnSpPr>
        <p:spPr bwMode="auto">
          <a:xfrm>
            <a:off x="2412000" y="504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" name="Oval 51"/>
          <p:cNvSpPr>
            <a:spLocks noChangeArrowheads="1"/>
          </p:cNvSpPr>
          <p:nvPr/>
        </p:nvSpPr>
        <p:spPr bwMode="auto">
          <a:xfrm>
            <a:off x="205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7" name="AutoShape 56"/>
          <p:cNvCxnSpPr>
            <a:cxnSpLocks noChangeShapeType="1"/>
            <a:stCxn id="36" idx="7"/>
            <a:endCxn id="28" idx="3"/>
          </p:cNvCxnSpPr>
          <p:nvPr/>
        </p:nvCxnSpPr>
        <p:spPr bwMode="auto">
          <a:xfrm flipV="1">
            <a:off x="2359279" y="445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AutoShape 56"/>
          <p:cNvCxnSpPr>
            <a:cxnSpLocks noChangeShapeType="1"/>
            <a:stCxn id="5" idx="6"/>
            <a:endCxn id="28" idx="2"/>
          </p:cNvCxnSpPr>
          <p:nvPr/>
        </p:nvCxnSpPr>
        <p:spPr bwMode="auto">
          <a:xfrm>
            <a:off x="1872000" y="4329000"/>
            <a:ext cx="900000" cy="0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9" name="Oval 51"/>
          <p:cNvSpPr>
            <a:spLocks noChangeArrowheads="1"/>
          </p:cNvSpPr>
          <p:nvPr/>
        </p:nvSpPr>
        <p:spPr bwMode="auto">
          <a:xfrm>
            <a:off x="205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0" name="直線接點 39"/>
          <p:cNvCxnSpPr>
            <a:stCxn id="39" idx="0"/>
            <a:endCxn id="36" idx="4"/>
          </p:cNvCxnSpPr>
          <p:nvPr/>
        </p:nvCxnSpPr>
        <p:spPr bwMode="auto">
          <a:xfrm flipV="1">
            <a:off x="2232000" y="522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AutoShape 56"/>
          <p:cNvCxnSpPr>
            <a:cxnSpLocks noChangeShapeType="1"/>
            <a:stCxn id="6" idx="6"/>
            <a:endCxn id="5" idx="2"/>
          </p:cNvCxnSpPr>
          <p:nvPr/>
        </p:nvCxnSpPr>
        <p:spPr bwMode="auto">
          <a:xfrm>
            <a:off x="792000" y="432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" name="AutoShape 56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1152000" y="396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" name="Oval 49"/>
          <p:cNvSpPr>
            <a:spLocks noChangeArrowheads="1"/>
          </p:cNvSpPr>
          <p:nvPr/>
        </p:nvSpPr>
        <p:spPr bwMode="auto">
          <a:xfrm>
            <a:off x="83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4" name="直線接點 43"/>
          <p:cNvCxnSpPr>
            <a:stCxn id="22" idx="6"/>
            <a:endCxn id="43" idx="1"/>
          </p:cNvCxnSpPr>
          <p:nvPr/>
        </p:nvCxnSpPr>
        <p:spPr bwMode="auto">
          <a:xfrm>
            <a:off x="7272000" y="3789000"/>
            <a:ext cx="1132721" cy="4127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5" name="AutoShape 56"/>
          <p:cNvCxnSpPr>
            <a:cxnSpLocks noChangeShapeType="1"/>
            <a:stCxn id="22" idx="4"/>
            <a:endCxn id="25" idx="0"/>
          </p:cNvCxnSpPr>
          <p:nvPr/>
        </p:nvCxnSpPr>
        <p:spPr bwMode="auto">
          <a:xfrm>
            <a:off x="7092000" y="396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" name="AutoShape 56"/>
          <p:cNvCxnSpPr>
            <a:cxnSpLocks noChangeShapeType="1"/>
            <a:stCxn id="21" idx="6"/>
            <a:endCxn id="20" idx="2"/>
          </p:cNvCxnSpPr>
          <p:nvPr/>
        </p:nvCxnSpPr>
        <p:spPr bwMode="auto">
          <a:xfrm>
            <a:off x="6732000" y="432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  <a:stCxn id="28" idx="6"/>
            <a:endCxn id="14" idx="2"/>
          </p:cNvCxnSpPr>
          <p:nvPr/>
        </p:nvCxnSpPr>
        <p:spPr bwMode="auto">
          <a:xfrm>
            <a:off x="3132000" y="4329000"/>
            <a:ext cx="720000" cy="0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6"/>
          <p:cNvCxnSpPr>
            <a:cxnSpLocks noChangeShapeType="1"/>
            <a:stCxn id="13" idx="6"/>
            <a:endCxn id="21" idx="2"/>
          </p:cNvCxnSpPr>
          <p:nvPr/>
        </p:nvCxnSpPr>
        <p:spPr bwMode="auto">
          <a:xfrm>
            <a:off x="5292000" y="4329000"/>
            <a:ext cx="1080000" cy="0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  <a:stCxn id="51" idx="7"/>
            <a:endCxn id="25" idx="3"/>
          </p:cNvCxnSpPr>
          <p:nvPr/>
        </p:nvCxnSpPr>
        <p:spPr bwMode="auto">
          <a:xfrm flipV="1">
            <a:off x="6499279" y="4996279"/>
            <a:ext cx="465442" cy="465442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76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Oval 51"/>
          <p:cNvSpPr>
            <a:spLocks noChangeArrowheads="1"/>
          </p:cNvSpPr>
          <p:nvPr/>
        </p:nvSpPr>
        <p:spPr bwMode="auto">
          <a:xfrm>
            <a:off x="61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2" name="直線接點 51"/>
          <p:cNvCxnSpPr>
            <a:stCxn id="25" idx="5"/>
            <a:endCxn id="50" idx="1"/>
          </p:cNvCxnSpPr>
          <p:nvPr/>
        </p:nvCxnSpPr>
        <p:spPr bwMode="auto">
          <a:xfrm>
            <a:off x="7219279" y="4996279"/>
            <a:ext cx="465442" cy="46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3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4" name="Oval 51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5" name="直線接點 54"/>
          <p:cNvCxnSpPr>
            <a:stCxn id="54" idx="0"/>
            <a:endCxn id="53" idx="4"/>
          </p:cNvCxnSpPr>
          <p:nvPr/>
        </p:nvCxnSpPr>
        <p:spPr bwMode="auto">
          <a:xfrm flipV="1">
            <a:off x="5652000" y="504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6" name="AutoShape 56"/>
          <p:cNvCxnSpPr>
            <a:cxnSpLocks noChangeShapeType="1"/>
            <a:stCxn id="54" idx="6"/>
            <a:endCxn id="51" idx="2"/>
          </p:cNvCxnSpPr>
          <p:nvPr/>
        </p:nvCxnSpPr>
        <p:spPr bwMode="auto">
          <a:xfrm>
            <a:off x="5832000" y="558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7" name="直線接點 56"/>
          <p:cNvCxnSpPr>
            <a:stCxn id="53" idx="5"/>
            <a:endCxn id="51" idx="1"/>
          </p:cNvCxnSpPr>
          <p:nvPr/>
        </p:nvCxnSpPr>
        <p:spPr bwMode="auto">
          <a:xfrm>
            <a:off x="5779279" y="4996279"/>
            <a:ext cx="465442" cy="46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8" name="AutoShape 56"/>
          <p:cNvCxnSpPr>
            <a:cxnSpLocks noChangeShapeType="1"/>
            <a:stCxn id="20" idx="6"/>
            <a:endCxn id="43" idx="2"/>
          </p:cNvCxnSpPr>
          <p:nvPr/>
        </p:nvCxnSpPr>
        <p:spPr bwMode="auto">
          <a:xfrm>
            <a:off x="7812000" y="4329000"/>
            <a:ext cx="54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687918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0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3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7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9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37" idx="7"/>
            <a:endCxn id="19" idx="6"/>
          </p:cNvCxnSpPr>
          <p:nvPr/>
        </p:nvCxnSpPr>
        <p:spPr bwMode="auto">
          <a:xfrm rot="16200000" flipV="1">
            <a:off x="4069280" y="1231721"/>
            <a:ext cx="2752721" cy="2827279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3" name="直線單箭頭接點 52"/>
          <p:cNvCxnSpPr>
            <a:stCxn id="14" idx="7"/>
            <a:endCxn id="19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0" name="直線單箭頭接點 69"/>
          <p:cNvCxnSpPr>
            <a:stCxn id="17" idx="1"/>
            <a:endCxn id="19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8" name="直線單箭頭接點 77"/>
          <p:cNvCxnSpPr>
            <a:stCxn id="39" idx="0"/>
            <a:endCxn id="15" idx="4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>
            <a:stCxn id="49" idx="0"/>
            <a:endCxn id="40" idx="4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6" name="直線單箭頭接點 85"/>
          <p:cNvCxnSpPr>
            <a:stCxn id="46" idx="7"/>
            <a:endCxn id="38" idx="4"/>
          </p:cNvCxnSpPr>
          <p:nvPr/>
        </p:nvCxnSpPr>
        <p:spPr bwMode="auto">
          <a:xfrm flipV="1">
            <a:off x="4339279" y="4329000"/>
            <a:ext cx="23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2" name="弧形接點 91"/>
          <p:cNvCxnSpPr>
            <a:stCxn id="48" idx="0"/>
            <a:endCxn id="40" idx="2"/>
          </p:cNvCxnSpPr>
          <p:nvPr/>
        </p:nvCxnSpPr>
        <p:spPr bwMode="auto">
          <a:xfrm rot="5400000" flipH="1" flipV="1">
            <a:off x="3132000" y="3789000"/>
            <a:ext cx="1980000" cy="126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85502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弧形接點 54"/>
          <p:cNvCxnSpPr>
            <a:stCxn id="85" idx="0"/>
            <a:endCxn id="75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6" name="直線單箭頭接點 55"/>
          <p:cNvCxnSpPr>
            <a:stCxn id="72" idx="7"/>
            <a:endCxn id="75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7" name="直線單箭頭接點 56"/>
          <p:cNvCxnSpPr>
            <a:stCxn id="73" idx="1"/>
            <a:endCxn id="75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8" name="直線單箭頭接點 57"/>
          <p:cNvCxnSpPr>
            <a:stCxn id="88" idx="0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9" name="直線單箭頭接點 58"/>
          <p:cNvCxnSpPr>
            <a:stCxn id="98" idx="0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0" name="直線單箭頭接點 59"/>
          <p:cNvCxnSpPr>
            <a:stCxn id="95" idx="7"/>
            <a:endCxn id="87" idx="4"/>
          </p:cNvCxnSpPr>
          <p:nvPr/>
        </p:nvCxnSpPr>
        <p:spPr bwMode="auto">
          <a:xfrm flipV="1">
            <a:off x="4339279" y="4329000"/>
            <a:ext cx="23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1" name="弧形接點 60"/>
          <p:cNvCxnSpPr>
            <a:stCxn id="97" idx="0"/>
          </p:cNvCxnSpPr>
          <p:nvPr/>
        </p:nvCxnSpPr>
        <p:spPr bwMode="auto">
          <a:xfrm rot="5400000" flipH="1" flipV="1">
            <a:off x="3132000" y="3789000"/>
            <a:ext cx="1980000" cy="126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9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1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4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5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0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2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3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4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5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7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8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9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0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3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4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5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6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7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8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01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9119620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弧形接點 54"/>
          <p:cNvCxnSpPr>
            <a:stCxn id="85" idx="0"/>
            <a:endCxn id="75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6" name="直線單箭頭接點 55"/>
          <p:cNvCxnSpPr>
            <a:stCxn id="72" idx="7"/>
            <a:endCxn id="75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7" name="直線單箭頭接點 56"/>
          <p:cNvCxnSpPr>
            <a:stCxn id="73" idx="1"/>
            <a:endCxn id="75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8" name="直線單箭頭接點 57"/>
          <p:cNvCxnSpPr>
            <a:stCxn id="88" idx="0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9" name="直線單箭頭接點 58"/>
          <p:cNvCxnSpPr>
            <a:stCxn id="98" idx="0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0" name="直線單箭頭接點 59"/>
          <p:cNvCxnSpPr>
            <a:stCxn id="95" idx="7"/>
            <a:endCxn id="87" idx="4"/>
          </p:cNvCxnSpPr>
          <p:nvPr/>
        </p:nvCxnSpPr>
        <p:spPr bwMode="auto">
          <a:xfrm flipV="1">
            <a:off x="4339279" y="4329000"/>
            <a:ext cx="23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1" name="弧形接點 60"/>
          <p:cNvCxnSpPr>
            <a:cxnSpLocks/>
            <a:stCxn id="97" idx="0"/>
            <a:endCxn id="100" idx="2"/>
          </p:cNvCxnSpPr>
          <p:nvPr/>
        </p:nvCxnSpPr>
        <p:spPr bwMode="auto">
          <a:xfrm rot="5400000" flipH="1" flipV="1">
            <a:off x="3132000" y="306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9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1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4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5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0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2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3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4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5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7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8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9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0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3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4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5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6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7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8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01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450047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弧形接點 54"/>
          <p:cNvCxnSpPr>
            <a:stCxn id="85" idx="0"/>
            <a:endCxn id="75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6" name="直線單箭頭接點 55"/>
          <p:cNvCxnSpPr>
            <a:stCxn id="72" idx="7"/>
            <a:endCxn id="75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7" name="直線單箭頭接點 56"/>
          <p:cNvCxnSpPr>
            <a:stCxn id="73" idx="1"/>
            <a:endCxn id="75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8" name="直線單箭頭接點 57"/>
          <p:cNvCxnSpPr>
            <a:stCxn id="88" idx="0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9" name="直線單箭頭接點 58"/>
          <p:cNvCxnSpPr>
            <a:stCxn id="98" idx="0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0" name="直線單箭頭接點 59"/>
          <p:cNvCxnSpPr>
            <a:stCxn id="95" idx="7"/>
            <a:endCxn id="87" idx="4"/>
          </p:cNvCxnSpPr>
          <p:nvPr/>
        </p:nvCxnSpPr>
        <p:spPr bwMode="auto">
          <a:xfrm flipV="1">
            <a:off x="4339279" y="4329000"/>
            <a:ext cx="23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1" name="弧形接點 60"/>
          <p:cNvCxnSpPr>
            <a:cxnSpLocks/>
            <a:stCxn id="97" idx="0"/>
            <a:endCxn id="71" idx="2"/>
          </p:cNvCxnSpPr>
          <p:nvPr/>
        </p:nvCxnSpPr>
        <p:spPr bwMode="auto">
          <a:xfrm rot="5400000" flipH="1" flipV="1">
            <a:off x="2502000" y="2979000"/>
            <a:ext cx="3420000" cy="144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9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1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2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4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5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0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2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3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4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5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7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8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9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0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3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4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5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6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7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8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01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156511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sz="2200" dirty="0">
                <a:solidFill>
                  <a:srgbClr val="000000"/>
                </a:solidFill>
              </a:rPr>
              <a:t>Let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spc="300" dirty="0">
                <a:solidFill>
                  <a:srgbClr val="000000"/>
                </a:solidFill>
              </a:rPr>
              <a:t>E</a:t>
            </a:r>
            <a:r>
              <a:rPr lang="en-US" altLang="zh-TW" sz="2200" dirty="0">
                <a:solidFill>
                  <a:srgbClr val="000000"/>
                </a:solidFill>
              </a:rPr>
              <a:t>) be a connected, undirected graph. A </a:t>
            </a:r>
            <a:r>
              <a:rPr lang="en-US" altLang="zh-TW" sz="2200" i="1" dirty="0">
                <a:solidFill>
                  <a:srgbClr val="0000FF"/>
                </a:solidFill>
              </a:rPr>
              <a:t>bridge</a:t>
            </a:r>
            <a:r>
              <a:rPr lang="en-US" altLang="zh-TW" sz="2200" dirty="0">
                <a:solidFill>
                  <a:srgbClr val="000000"/>
                </a:solidFill>
              </a:rPr>
              <a:t>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is an edge whose removal disconnects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. Let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sz="2200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z="2200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) be a depth-first tree for </a:t>
            </a:r>
            <a:r>
              <a:rPr lang="en-US" altLang="zh-TW" sz="2200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endParaRPr lang="en-US" altLang="zh-TW" sz="22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sz="2200" i="1" dirty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sz="2200" dirty="0">
                <a:solidFill>
                  <a:srgbClr val="000000"/>
                </a:solidFill>
              </a:rPr>
              <a:t>Let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>
                <a:solidFill>
                  <a:srgbClr val="000000"/>
                </a:solidFill>
              </a:rPr>
              <a:t>. Then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is a bridge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dirty="0">
                <a:solidFill>
                  <a:schemeClr val="bg1"/>
                </a:solidFill>
              </a:rPr>
              <a:t>there is no back edge from any descendant of </a:t>
            </a:r>
            <a:r>
              <a:rPr lang="en-US" altLang="zh-TW" sz="2200" i="1" dirty="0">
                <a:solidFill>
                  <a:schemeClr val="bg1"/>
                </a:solidFill>
              </a:rPr>
              <a:t>v</a:t>
            </a:r>
            <a:r>
              <a:rPr lang="en-US" altLang="zh-TW" sz="2200" dirty="0">
                <a:solidFill>
                  <a:schemeClr val="bg1"/>
                </a:solidFill>
              </a:rPr>
              <a:t> to an ancestor of </a:t>
            </a:r>
            <a:r>
              <a:rPr lang="en-US" altLang="zh-TW" sz="2200" i="1" dirty="0">
                <a:solidFill>
                  <a:schemeClr val="bg1"/>
                </a:solidFill>
              </a:rPr>
              <a:t>u</a:t>
            </a:r>
            <a:r>
              <a:rPr lang="en-US" altLang="zh-TW" sz="2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46" name="弧形接點 45"/>
          <p:cNvCxnSpPr>
            <a:stCxn id="75" idx="0"/>
            <a:endCxn id="67" idx="6"/>
          </p:cNvCxnSpPr>
          <p:nvPr/>
        </p:nvCxnSpPr>
        <p:spPr bwMode="auto">
          <a:xfrm rot="16200000" flipV="1">
            <a:off x="5922000" y="1899000"/>
            <a:ext cx="2700000" cy="252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9" name="直線單箭頭接點 48"/>
          <p:cNvCxnSpPr/>
          <p:nvPr/>
        </p:nvCxnSpPr>
        <p:spPr bwMode="auto">
          <a:xfrm flipV="1">
            <a:off x="5292000" y="1809002"/>
            <a:ext cx="540000" cy="14399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 flipV="1">
            <a:off x="5832001" y="1809001"/>
            <a:ext cx="539999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1" name="直線單箭頭接點 50"/>
          <p:cNvCxnSpPr/>
          <p:nvPr/>
        </p:nvCxnSpPr>
        <p:spPr bwMode="auto">
          <a:xfrm flipH="1" flipV="1">
            <a:off x="7452000" y="32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2" name="直線單箭頭接點 51"/>
          <p:cNvCxnSpPr/>
          <p:nvPr/>
        </p:nvCxnSpPr>
        <p:spPr bwMode="auto">
          <a:xfrm flipV="1">
            <a:off x="6732000" y="3969000"/>
            <a:ext cx="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3" name="直線單箭頭接點 52"/>
          <p:cNvCxnSpPr/>
          <p:nvPr/>
        </p:nvCxnSpPr>
        <p:spPr bwMode="auto">
          <a:xfrm flipV="1">
            <a:off x="6012000" y="4689001"/>
            <a:ext cx="360000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4" name="弧形接點 53"/>
          <p:cNvCxnSpPr>
            <a:stCxn id="85" idx="0"/>
          </p:cNvCxnSpPr>
          <p:nvPr/>
        </p:nvCxnSpPr>
        <p:spPr bwMode="auto">
          <a:xfrm rot="5400000" flipH="1" flipV="1">
            <a:off x="4932000" y="4329000"/>
            <a:ext cx="1980000" cy="12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5" name="AutoShape 57"/>
          <p:cNvCxnSpPr>
            <a:cxnSpLocks noChangeShapeType="1"/>
          </p:cNvCxnSpPr>
          <p:nvPr/>
        </p:nvCxnSpPr>
        <p:spPr bwMode="auto">
          <a:xfrm flipH="1" flipV="1">
            <a:off x="637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6" name="AutoShape 56"/>
          <p:cNvCxnSpPr>
            <a:cxnSpLocks noChangeShapeType="1"/>
          </p:cNvCxnSpPr>
          <p:nvPr/>
        </p:nvCxnSpPr>
        <p:spPr bwMode="auto">
          <a:xfrm flipV="1">
            <a:off x="565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7" name="AutoShape 57"/>
          <p:cNvCxnSpPr>
            <a:cxnSpLocks noChangeShapeType="1"/>
          </p:cNvCxnSpPr>
          <p:nvPr/>
        </p:nvCxnSpPr>
        <p:spPr bwMode="auto">
          <a:xfrm flipH="1" flipV="1">
            <a:off x="7452000" y="32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72000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Line 40"/>
          <p:cNvSpPr>
            <a:spLocks noChangeShapeType="1"/>
          </p:cNvSpPr>
          <p:nvPr/>
        </p:nvSpPr>
        <p:spPr bwMode="auto">
          <a:xfrm>
            <a:off x="691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Line 40"/>
          <p:cNvSpPr>
            <a:spLocks noChangeShapeType="1"/>
          </p:cNvSpPr>
          <p:nvPr/>
        </p:nvSpPr>
        <p:spPr bwMode="auto">
          <a:xfrm>
            <a:off x="475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 flipV="1">
            <a:off x="637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7"/>
          <p:cNvCxnSpPr>
            <a:cxnSpLocks noChangeShapeType="1"/>
          </p:cNvCxnSpPr>
          <p:nvPr/>
        </p:nvCxnSpPr>
        <p:spPr bwMode="auto">
          <a:xfrm flipH="1" flipV="1">
            <a:off x="5832000" y="180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Oval 39"/>
          <p:cNvSpPr>
            <a:spLocks noChangeArrowheads="1"/>
          </p:cNvSpPr>
          <p:nvPr/>
        </p:nvSpPr>
        <p:spPr bwMode="auto">
          <a:xfrm>
            <a:off x="673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49"/>
          <p:cNvSpPr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52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AutoShape 56"/>
          <p:cNvCxnSpPr>
            <a:cxnSpLocks noChangeShapeType="1"/>
          </p:cNvCxnSpPr>
          <p:nvPr/>
        </p:nvCxnSpPr>
        <p:spPr bwMode="auto">
          <a:xfrm flipV="1">
            <a:off x="4752000" y="180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7" name="Oval 39"/>
          <p:cNvSpPr>
            <a:spLocks noChangeArrowheads="1"/>
          </p:cNvSpPr>
          <p:nvPr/>
        </p:nvSpPr>
        <p:spPr bwMode="auto">
          <a:xfrm>
            <a:off x="565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457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817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673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6372000" y="39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781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83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76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Line 40"/>
          <p:cNvSpPr>
            <a:spLocks noChangeShapeType="1"/>
          </p:cNvSpPr>
          <p:nvPr/>
        </p:nvSpPr>
        <p:spPr bwMode="auto">
          <a:xfrm>
            <a:off x="709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565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0" name="AutoShape 56"/>
          <p:cNvCxnSpPr>
            <a:cxnSpLocks noChangeShapeType="1"/>
          </p:cNvCxnSpPr>
          <p:nvPr/>
        </p:nvCxnSpPr>
        <p:spPr bwMode="auto">
          <a:xfrm flipV="1">
            <a:off x="5292000" y="540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" name="Line 40"/>
          <p:cNvSpPr>
            <a:spLocks noChangeShapeType="1"/>
          </p:cNvSpPr>
          <p:nvPr/>
        </p:nvSpPr>
        <p:spPr bwMode="auto">
          <a:xfrm flipV="1">
            <a:off x="673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2" name="Oval 39"/>
          <p:cNvSpPr>
            <a:spLocks noChangeArrowheads="1"/>
          </p:cNvSpPr>
          <p:nvPr/>
        </p:nvSpPr>
        <p:spPr bwMode="auto">
          <a:xfrm>
            <a:off x="69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3" name="Oval 49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4" name="Oval 50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5" name="Oval 51"/>
          <p:cNvSpPr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6" name="Oval 52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7" name="Oval 51"/>
          <p:cNvSpPr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89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6992596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sz="2200" dirty="0">
                <a:solidFill>
                  <a:srgbClr val="000000"/>
                </a:solidFill>
              </a:rPr>
              <a:t>Let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spc="300" dirty="0">
                <a:solidFill>
                  <a:srgbClr val="000000"/>
                </a:solidFill>
              </a:rPr>
              <a:t>E</a:t>
            </a:r>
            <a:r>
              <a:rPr lang="en-US" altLang="zh-TW" sz="2200" dirty="0">
                <a:solidFill>
                  <a:srgbClr val="000000"/>
                </a:solidFill>
              </a:rPr>
              <a:t>) be a connected, undirected graph. A </a:t>
            </a:r>
            <a:r>
              <a:rPr lang="en-US" altLang="zh-TW" sz="2200" i="1" dirty="0">
                <a:solidFill>
                  <a:srgbClr val="0000FF"/>
                </a:solidFill>
              </a:rPr>
              <a:t>bridge</a:t>
            </a:r>
            <a:r>
              <a:rPr lang="en-US" altLang="zh-TW" sz="2200" dirty="0">
                <a:solidFill>
                  <a:srgbClr val="000000"/>
                </a:solidFill>
              </a:rPr>
              <a:t>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is an edge whose removal disconnects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. Let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2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sz="22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sz="2200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z="2200" spc="1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) be a depth-first tree for </a:t>
            </a:r>
            <a:r>
              <a:rPr lang="en-US" altLang="zh-TW" sz="2200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endParaRPr lang="en-US" altLang="zh-TW" sz="2200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sz="2200" i="1" dirty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sz="2200" dirty="0">
                <a:solidFill>
                  <a:srgbClr val="000000"/>
                </a:solidFill>
              </a:rPr>
              <a:t>Let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>
                <a:solidFill>
                  <a:srgbClr val="000000"/>
                </a:solidFill>
              </a:rPr>
              <a:t>. Then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is a bridge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if and only if there is no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48" name="弧形接點 47"/>
          <p:cNvCxnSpPr>
            <a:stCxn id="75" idx="0"/>
            <a:endCxn id="67" idx="6"/>
          </p:cNvCxnSpPr>
          <p:nvPr/>
        </p:nvCxnSpPr>
        <p:spPr bwMode="auto">
          <a:xfrm rot="16200000" flipV="1">
            <a:off x="5922000" y="1899000"/>
            <a:ext cx="2700000" cy="252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9" name="直線單箭頭接點 48"/>
          <p:cNvCxnSpPr/>
          <p:nvPr/>
        </p:nvCxnSpPr>
        <p:spPr bwMode="auto">
          <a:xfrm flipV="1">
            <a:off x="5292000" y="1809002"/>
            <a:ext cx="540000" cy="1439998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0" name="直線單箭頭接點 49"/>
          <p:cNvCxnSpPr/>
          <p:nvPr/>
        </p:nvCxnSpPr>
        <p:spPr bwMode="auto">
          <a:xfrm flipH="1" flipV="1">
            <a:off x="5832001" y="1809001"/>
            <a:ext cx="539999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1" name="直線單箭頭接點 50"/>
          <p:cNvCxnSpPr/>
          <p:nvPr/>
        </p:nvCxnSpPr>
        <p:spPr bwMode="auto">
          <a:xfrm flipH="1" flipV="1">
            <a:off x="7452000" y="32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2" name="直線單箭頭接點 51"/>
          <p:cNvCxnSpPr/>
          <p:nvPr/>
        </p:nvCxnSpPr>
        <p:spPr bwMode="auto">
          <a:xfrm flipV="1">
            <a:off x="6732000" y="3969000"/>
            <a:ext cx="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3" name="直線單箭頭接點 52"/>
          <p:cNvCxnSpPr/>
          <p:nvPr/>
        </p:nvCxnSpPr>
        <p:spPr bwMode="auto">
          <a:xfrm flipV="1">
            <a:off x="6012000" y="4689001"/>
            <a:ext cx="360000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4" name="弧形接點 53"/>
          <p:cNvCxnSpPr>
            <a:stCxn id="85" idx="0"/>
          </p:cNvCxnSpPr>
          <p:nvPr/>
        </p:nvCxnSpPr>
        <p:spPr bwMode="auto">
          <a:xfrm rot="5400000" flipH="1" flipV="1">
            <a:off x="4932000" y="4329000"/>
            <a:ext cx="1980000" cy="12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5" name="AutoShape 57"/>
          <p:cNvCxnSpPr>
            <a:cxnSpLocks noChangeShapeType="1"/>
          </p:cNvCxnSpPr>
          <p:nvPr/>
        </p:nvCxnSpPr>
        <p:spPr bwMode="auto">
          <a:xfrm flipH="1" flipV="1">
            <a:off x="637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6" name="AutoShape 56"/>
          <p:cNvCxnSpPr>
            <a:cxnSpLocks noChangeShapeType="1"/>
          </p:cNvCxnSpPr>
          <p:nvPr/>
        </p:nvCxnSpPr>
        <p:spPr bwMode="auto">
          <a:xfrm flipV="1">
            <a:off x="565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7" name="AutoShape 57"/>
          <p:cNvCxnSpPr>
            <a:cxnSpLocks noChangeShapeType="1"/>
          </p:cNvCxnSpPr>
          <p:nvPr/>
        </p:nvCxnSpPr>
        <p:spPr bwMode="auto">
          <a:xfrm flipH="1" flipV="1">
            <a:off x="7452000" y="32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72000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Line 40"/>
          <p:cNvSpPr>
            <a:spLocks noChangeShapeType="1"/>
          </p:cNvSpPr>
          <p:nvPr/>
        </p:nvSpPr>
        <p:spPr bwMode="auto">
          <a:xfrm>
            <a:off x="691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Line 40"/>
          <p:cNvSpPr>
            <a:spLocks noChangeShapeType="1"/>
          </p:cNvSpPr>
          <p:nvPr/>
        </p:nvSpPr>
        <p:spPr bwMode="auto">
          <a:xfrm>
            <a:off x="475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 flipV="1">
            <a:off x="637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7"/>
          <p:cNvCxnSpPr>
            <a:cxnSpLocks noChangeShapeType="1"/>
          </p:cNvCxnSpPr>
          <p:nvPr/>
        </p:nvCxnSpPr>
        <p:spPr bwMode="auto">
          <a:xfrm flipH="1" flipV="1">
            <a:off x="5832000" y="180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Oval 39"/>
          <p:cNvSpPr>
            <a:spLocks noChangeArrowheads="1"/>
          </p:cNvSpPr>
          <p:nvPr/>
        </p:nvSpPr>
        <p:spPr bwMode="auto">
          <a:xfrm>
            <a:off x="673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49"/>
          <p:cNvSpPr>
            <a:spLocks noChangeArrowheads="1"/>
          </p:cNvSpPr>
          <p:nvPr/>
        </p:nvSpPr>
        <p:spPr bwMode="auto">
          <a:xfrm>
            <a:off x="511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52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6" name="AutoShape 56"/>
          <p:cNvCxnSpPr>
            <a:cxnSpLocks noChangeShapeType="1"/>
          </p:cNvCxnSpPr>
          <p:nvPr/>
        </p:nvCxnSpPr>
        <p:spPr bwMode="auto">
          <a:xfrm flipV="1">
            <a:off x="4752000" y="180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7" name="Oval 39"/>
          <p:cNvSpPr>
            <a:spLocks noChangeArrowheads="1"/>
          </p:cNvSpPr>
          <p:nvPr/>
        </p:nvSpPr>
        <p:spPr bwMode="auto">
          <a:xfrm>
            <a:off x="565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457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817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673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6372000" y="39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7812000" y="39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835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763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Line 40"/>
          <p:cNvSpPr>
            <a:spLocks noChangeShapeType="1"/>
          </p:cNvSpPr>
          <p:nvPr/>
        </p:nvSpPr>
        <p:spPr bwMode="auto">
          <a:xfrm>
            <a:off x="709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9" name="Line 40"/>
          <p:cNvSpPr>
            <a:spLocks noChangeShapeType="1"/>
          </p:cNvSpPr>
          <p:nvPr/>
        </p:nvSpPr>
        <p:spPr bwMode="auto">
          <a:xfrm>
            <a:off x="565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0" name="AutoShape 56"/>
          <p:cNvCxnSpPr>
            <a:cxnSpLocks noChangeShapeType="1"/>
          </p:cNvCxnSpPr>
          <p:nvPr/>
        </p:nvCxnSpPr>
        <p:spPr bwMode="auto">
          <a:xfrm flipV="1">
            <a:off x="5292000" y="540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1" name="Line 40"/>
          <p:cNvSpPr>
            <a:spLocks noChangeShapeType="1"/>
          </p:cNvSpPr>
          <p:nvPr/>
        </p:nvSpPr>
        <p:spPr bwMode="auto">
          <a:xfrm flipV="1">
            <a:off x="673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2" name="Oval 39"/>
          <p:cNvSpPr>
            <a:spLocks noChangeArrowheads="1"/>
          </p:cNvSpPr>
          <p:nvPr/>
        </p:nvSpPr>
        <p:spPr bwMode="auto">
          <a:xfrm>
            <a:off x="69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3" name="Oval 49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4" name="Oval 50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5" name="Oval 51"/>
          <p:cNvSpPr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6" name="Oval 52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7" name="Oval 51"/>
          <p:cNvSpPr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8" name="Oval 51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89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2810642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" name="弧形接點 39"/>
          <p:cNvCxnSpPr>
            <a:stCxn id="26" idx="0"/>
            <a:endCxn id="18" idx="6"/>
          </p:cNvCxnSpPr>
          <p:nvPr/>
        </p:nvCxnSpPr>
        <p:spPr bwMode="auto">
          <a:xfrm rot="16200000" flipV="1">
            <a:off x="4122000" y="1359000"/>
            <a:ext cx="2700000" cy="252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直線單箭頭接點 40"/>
          <p:cNvCxnSpPr/>
          <p:nvPr/>
        </p:nvCxnSpPr>
        <p:spPr bwMode="auto">
          <a:xfrm flipV="1">
            <a:off x="3492000" y="1269001"/>
            <a:ext cx="540000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2" name="直線單箭頭接點 41"/>
          <p:cNvCxnSpPr/>
          <p:nvPr/>
        </p:nvCxnSpPr>
        <p:spPr bwMode="auto">
          <a:xfrm flipH="1" flipV="1">
            <a:off x="4032001" y="1269001"/>
            <a:ext cx="539999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3" name="直線單箭頭接點 42"/>
          <p:cNvCxnSpPr/>
          <p:nvPr/>
        </p:nvCxnSpPr>
        <p:spPr bwMode="auto">
          <a:xfrm flipH="1" flipV="1">
            <a:off x="565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直線單箭頭接點 43"/>
          <p:cNvCxnSpPr/>
          <p:nvPr/>
        </p:nvCxnSpPr>
        <p:spPr bwMode="auto">
          <a:xfrm flipV="1">
            <a:off x="4932000" y="3429000"/>
            <a:ext cx="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5" name="直線單箭頭接點 44"/>
          <p:cNvCxnSpPr/>
          <p:nvPr/>
        </p:nvCxnSpPr>
        <p:spPr bwMode="auto">
          <a:xfrm flipV="1">
            <a:off x="4212000" y="4149001"/>
            <a:ext cx="360000" cy="1439999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6" name="弧形接點 45"/>
          <p:cNvCxnSpPr>
            <a:stCxn id="37" idx="0"/>
            <a:endCxn id="29" idx="2"/>
          </p:cNvCxnSpPr>
          <p:nvPr/>
        </p:nvCxnSpPr>
        <p:spPr bwMode="auto">
          <a:xfrm rot="5400000" flipH="1" flipV="1">
            <a:off x="3132000" y="3789000"/>
            <a:ext cx="1980000" cy="12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1905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" name="Line 40"/>
          <p:cNvSpPr>
            <a:spLocks noChangeShapeType="1"/>
          </p:cNvSpPr>
          <p:nvPr/>
        </p:nvSpPr>
        <p:spPr bwMode="auto">
          <a:xfrm>
            <a:off x="295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4032000" y="126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331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7" name="AutoShape 56"/>
          <p:cNvCxnSpPr>
            <a:cxnSpLocks noChangeShapeType="1"/>
          </p:cNvCxnSpPr>
          <p:nvPr/>
        </p:nvCxnSpPr>
        <p:spPr bwMode="auto">
          <a:xfrm flipV="1">
            <a:off x="2952000" y="1269000"/>
            <a:ext cx="108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39"/>
          <p:cNvSpPr>
            <a:spLocks noChangeArrowheads="1"/>
          </p:cNvSpPr>
          <p:nvPr/>
        </p:nvSpPr>
        <p:spPr bwMode="auto">
          <a:xfrm>
            <a:off x="385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51"/>
          <p:cNvSpPr>
            <a:spLocks noChangeArrowheads="1"/>
          </p:cNvSpPr>
          <p:nvPr/>
        </p:nvSpPr>
        <p:spPr bwMode="auto">
          <a:xfrm>
            <a:off x="277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2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07655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be a connected, undirected graph. A </a:t>
            </a:r>
            <a:r>
              <a:rPr lang="en-US" altLang="zh-TW" i="1" dirty="0">
                <a:solidFill>
                  <a:srgbClr val="0000FF"/>
                </a:solidFill>
              </a:rPr>
              <a:t>bridge</a:t>
            </a:r>
            <a:r>
              <a:rPr lang="en-US" altLang="zh-TW" dirty="0"/>
              <a:t> of </a:t>
            </a:r>
            <a:r>
              <a:rPr lang="en-US" altLang="zh-TW" i="1" dirty="0"/>
              <a:t>G</a:t>
            </a:r>
            <a:r>
              <a:rPr lang="en-US" altLang="zh-TW" dirty="0"/>
              <a:t> is an edge whose removal disconnects </a:t>
            </a:r>
            <a:r>
              <a:rPr lang="en-US" altLang="zh-TW" i="1" dirty="0"/>
              <a:t>G</a:t>
            </a:r>
            <a:r>
              <a:rPr lang="en-US" altLang="zh-TW" dirty="0"/>
              <a:t>. Let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)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be a depth-first tree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for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dirty="0">
                <a:solidFill>
                  <a:srgbClr val="000000"/>
                </a:solidFill>
              </a:rPr>
              <a:t>Let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be an edge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such that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is the parent of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. Then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is a </a:t>
            </a:r>
            <a:r>
              <a:rPr lang="en-US" altLang="zh-TW" dirty="0" smtClean="0">
                <a:solidFill>
                  <a:srgbClr val="000000"/>
                </a:solidFill>
              </a:rPr>
              <a:t>bridge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if and only if there is no back edge from any descendant of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to an ancestor of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endParaRPr lang="en-US" altLang="zh-TW" dirty="0"/>
          </a:p>
          <a:p>
            <a:pPr marL="0" indent="0">
              <a:spcBef>
                <a:spcPts val="0"/>
              </a:spcBef>
            </a:pPr>
            <a:r>
              <a:rPr lang="en-US" altLang="zh-TW" i="1" dirty="0">
                <a:solidFill>
                  <a:srgbClr val="0000FF"/>
                </a:solidFill>
              </a:rPr>
              <a:t>Definition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/>
              <a:t>For any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in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, we define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 smtClean="0"/>
              <a:t> as follows:</a:t>
            </a:r>
          </a:p>
          <a:p>
            <a:pPr marL="0" indent="0">
              <a:spcBef>
                <a:spcPts val="0"/>
              </a:spcBef>
            </a:pPr>
            <a:endParaRPr lang="en-US" altLang="zh-TW" dirty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r>
              <a:rPr lang="en-US" altLang="zh-TW" i="1" dirty="0" smtClean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be an edge of </a:t>
            </a:r>
            <a:r>
              <a:rPr lang="en-US" altLang="zh-TW" i="1" dirty="0" smtClean="0">
                <a:solidFill>
                  <a:srgbClr val="000000"/>
                </a:solidFill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such that 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dirty="0" smtClean="0">
                <a:solidFill>
                  <a:srgbClr val="000000"/>
                </a:solidFill>
              </a:rPr>
              <a:t>the parent </a:t>
            </a:r>
            <a:r>
              <a:rPr lang="en-US" altLang="zh-TW" dirty="0">
                <a:solidFill>
                  <a:srgbClr val="000000"/>
                </a:solidFill>
              </a:rPr>
              <a:t>of 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</a:rPr>
              <a:t>. </a:t>
            </a:r>
            <a:r>
              <a:rPr lang="en-US" altLang="zh-TW" dirty="0">
                <a:solidFill>
                  <a:srgbClr val="000000"/>
                </a:solidFill>
              </a:rPr>
              <a:t>Then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is a bridge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if </a:t>
            </a:r>
            <a:r>
              <a:rPr lang="en-US" altLang="zh-TW" dirty="0">
                <a:solidFill>
                  <a:srgbClr val="000000"/>
                </a:solidFill>
              </a:rPr>
              <a:t>and only if </a:t>
            </a:r>
            <a:r>
              <a:rPr lang="en-US" altLang="zh-TW" i="1" dirty="0" err="1">
                <a:solidFill>
                  <a:schemeClr val="bg1"/>
                </a:solidFill>
              </a:rPr>
              <a:t>v.low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chemeClr val="bg1"/>
                </a:solidFill>
              </a:rPr>
              <a:t> </a:t>
            </a:r>
            <a:r>
              <a:rPr lang="en-US" altLang="zh-TW" i="1" dirty="0" err="1">
                <a:solidFill>
                  <a:schemeClr val="bg1"/>
                </a:solidFill>
              </a:rPr>
              <a:t>u.d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96901592"/>
              </p:ext>
            </p:extLst>
          </p:nvPr>
        </p:nvGraphicFramePr>
        <p:xfrm>
          <a:off x="792000" y="432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  <a:endParaRPr lang="zh-TW" altLang="en-US" sz="2200" spc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232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no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chemeClr val="bg1"/>
                </a:solidFill>
              </a:rPr>
              <a:t>v.low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i="1" dirty="0" err="1">
                <a:solidFill>
                  <a:schemeClr val="bg1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graphicFrame>
        <p:nvGraphicFramePr>
          <p:cNvPr id="6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9695254"/>
              </p:ext>
            </p:extLst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  <a:endParaRPr lang="zh-TW" altLang="en-US" sz="2200" spc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7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8" name="AutoShape 56"/>
          <p:cNvCxnSpPr>
            <a:cxnSpLocks noChangeShapeType="1"/>
            <a:stCxn id="102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01" name="AutoShape 56"/>
          <p:cNvCxnSpPr>
            <a:cxnSpLocks noChangeShapeType="1"/>
            <a:stCxn id="99" idx="4"/>
            <a:endCxn id="100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3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" name="弧形接點 103"/>
          <p:cNvCxnSpPr>
            <a:stCxn id="92" idx="6"/>
            <a:endCxn id="100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82" idx="6"/>
            <a:endCxn id="83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弧形接點 105"/>
          <p:cNvCxnSpPr>
            <a:stCxn id="66" idx="2"/>
            <a:endCxn id="63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7" name="弧形接點 106"/>
          <p:cNvCxnSpPr>
            <a:stCxn id="64" idx="2"/>
            <a:endCxn id="99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8" name="弧形接點 107"/>
          <p:cNvCxnSpPr>
            <a:stCxn id="100" idx="2"/>
            <a:endCxn id="96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4" name="AutoShape 56"/>
          <p:cNvCxnSpPr>
            <a:cxnSpLocks noChangeShapeType="1"/>
            <a:stCxn id="11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1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17" name="AutoShape 56"/>
          <p:cNvCxnSpPr>
            <a:cxnSpLocks noChangeShapeType="1"/>
            <a:stCxn id="115" idx="4"/>
            <a:endCxn id="11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9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" name="弧形接點 119"/>
          <p:cNvCxnSpPr>
            <a:stCxn id="112" idx="6"/>
            <a:endCxn id="11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1" name="弧形接點 120"/>
          <p:cNvCxnSpPr>
            <a:stCxn id="111" idx="2"/>
            <a:endCxn id="109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弧形接點 121"/>
          <p:cNvCxnSpPr>
            <a:stCxn id="110" idx="2"/>
            <a:endCxn id="115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3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25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6" name="AutoShape 56"/>
          <p:cNvCxnSpPr>
            <a:cxnSpLocks noChangeShapeType="1"/>
            <a:stCxn id="130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28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29" name="AutoShape 56"/>
          <p:cNvCxnSpPr>
            <a:cxnSpLocks noChangeShapeType="1"/>
            <a:stCxn id="127" idx="4"/>
            <a:endCxn id="128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1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" name="弧形接點 131"/>
          <p:cNvCxnSpPr>
            <a:stCxn id="124" idx="2"/>
            <a:endCxn id="123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3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34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7" name="AutoShape 56"/>
          <p:cNvCxnSpPr>
            <a:cxnSpLocks noChangeShapeType="1"/>
            <a:stCxn id="141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39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40" name="AutoShape 56"/>
          <p:cNvCxnSpPr>
            <a:cxnSpLocks noChangeShapeType="1"/>
            <a:stCxn id="138" idx="4"/>
            <a:endCxn id="139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1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42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3" name="弧形接點 142"/>
          <p:cNvCxnSpPr>
            <a:stCxn id="135" idx="6"/>
            <a:endCxn id="139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4" name="弧形接點 143"/>
          <p:cNvCxnSpPr>
            <a:stCxn id="134" idx="2"/>
            <a:endCxn id="133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759625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a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chemeClr val="bg1"/>
                </a:solidFill>
              </a:rPr>
              <a:t>v.low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i="1" dirty="0" err="1">
                <a:solidFill>
                  <a:schemeClr val="bg1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sp>
        <p:nvSpPr>
          <p:cNvPr id="59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1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93" name="AutoShape 56"/>
          <p:cNvCxnSpPr>
            <a:cxnSpLocks noChangeShapeType="1"/>
            <a:stCxn id="99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97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98" name="AutoShape 56"/>
          <p:cNvCxnSpPr>
            <a:cxnSpLocks noChangeShapeType="1"/>
            <a:stCxn id="96" idx="4"/>
            <a:endCxn id="97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00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1" name="弧形接點 100"/>
          <p:cNvCxnSpPr>
            <a:stCxn id="82" idx="6"/>
            <a:endCxn id="97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2" name="弧形接點 101"/>
          <p:cNvCxnSpPr>
            <a:stCxn id="64" idx="6"/>
            <a:endCxn id="66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3" name="弧形接點 102"/>
          <p:cNvCxnSpPr>
            <a:stCxn id="63" idx="2"/>
            <a:endCxn id="61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4" name="弧形接點 103"/>
          <p:cNvCxnSpPr>
            <a:stCxn id="62" idx="2"/>
            <a:endCxn id="96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97" idx="2"/>
            <a:endCxn id="83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6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07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08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0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1" name="AutoShape 56"/>
          <p:cNvCxnSpPr>
            <a:cxnSpLocks noChangeShapeType="1"/>
            <a:stCxn id="115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13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14" name="AutoShape 56"/>
          <p:cNvCxnSpPr>
            <a:cxnSpLocks noChangeShapeType="1"/>
            <a:stCxn id="112" idx="4"/>
            <a:endCxn id="113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6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" name="弧形接點 116"/>
          <p:cNvCxnSpPr>
            <a:stCxn id="109" idx="6"/>
            <a:endCxn id="113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8" name="弧形接點 117"/>
          <p:cNvCxnSpPr>
            <a:stCxn id="108" idx="2"/>
            <a:endCxn id="106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9" name="弧形接點 118"/>
          <p:cNvCxnSpPr>
            <a:stCxn id="107" idx="2"/>
            <a:endCxn id="112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0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21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22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3" name="AutoShape 56"/>
          <p:cNvCxnSpPr>
            <a:cxnSpLocks noChangeShapeType="1"/>
            <a:stCxn id="127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25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26" name="AutoShape 56"/>
          <p:cNvCxnSpPr>
            <a:cxnSpLocks noChangeShapeType="1"/>
            <a:stCxn id="124" idx="4"/>
            <a:endCxn id="125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8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" name="弧形接點 128"/>
          <p:cNvCxnSpPr>
            <a:stCxn id="121" idx="2"/>
            <a:endCxn id="120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0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31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2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3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4" name="AutoShape 56"/>
          <p:cNvCxnSpPr>
            <a:cxnSpLocks noChangeShapeType="1"/>
            <a:stCxn id="138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36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37" name="AutoShape 56"/>
          <p:cNvCxnSpPr>
            <a:cxnSpLocks noChangeShapeType="1"/>
            <a:stCxn id="135" idx="4"/>
            <a:endCxn id="136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9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0" name="弧形接點 139"/>
          <p:cNvCxnSpPr>
            <a:stCxn id="132" idx="6"/>
            <a:endCxn id="136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1" name="弧形接點 140"/>
          <p:cNvCxnSpPr>
            <a:stCxn id="131" idx="2"/>
            <a:endCxn id="130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aphicFrame>
        <p:nvGraphicFramePr>
          <p:cNvPr id="142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1672547"/>
              </p:ext>
            </p:extLst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min</a:t>
                      </a:r>
                      <a:endParaRPr lang="zh-TW" altLang="en-US" sz="2200" spc="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solidFill>
                            <a:schemeClr val="bg1"/>
                          </a:solidFill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solidFill>
                            <a:schemeClr val="bg1"/>
                          </a:solidFill>
                          <a:latin typeface="+mn-lt"/>
                        </a:rPr>
                        <a:t>,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7275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no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chemeClr val="bg1"/>
                </a:solidFill>
              </a:rPr>
              <a:t>v.low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000" dirty="0">
                <a:solidFill>
                  <a:schemeClr val="bg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chemeClr val="bg1"/>
                </a:solidFill>
              </a:rPr>
              <a:t> </a:t>
            </a:r>
            <a:r>
              <a:rPr lang="en-US" altLang="zh-TW" sz="2200" i="1" dirty="0" err="1">
                <a:solidFill>
                  <a:schemeClr val="bg1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graphicFrame>
        <p:nvGraphicFramePr>
          <p:cNvPr id="61" name="內容版面配置區 3"/>
          <p:cNvGraphicFramePr>
            <a:graphicFrameLocks/>
          </p:cNvGraphicFramePr>
          <p:nvPr>
            <p:extLst/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7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8" name="AutoShape 56"/>
          <p:cNvCxnSpPr>
            <a:cxnSpLocks noChangeShapeType="1"/>
            <a:stCxn id="102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01" name="AutoShape 56"/>
          <p:cNvCxnSpPr>
            <a:cxnSpLocks noChangeShapeType="1"/>
            <a:stCxn id="99" idx="4"/>
            <a:endCxn id="100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3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" name="弧形接點 103"/>
          <p:cNvCxnSpPr>
            <a:stCxn id="92" idx="6"/>
            <a:endCxn id="100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82" idx="6"/>
            <a:endCxn id="83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弧形接點 105"/>
          <p:cNvCxnSpPr>
            <a:stCxn id="66" idx="2"/>
            <a:endCxn id="63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7" name="弧形接點 106"/>
          <p:cNvCxnSpPr>
            <a:stCxn id="64" idx="2"/>
            <a:endCxn id="99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8" name="弧形接點 107"/>
          <p:cNvCxnSpPr>
            <a:stCxn id="100" idx="2"/>
            <a:endCxn id="96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4" name="AutoShape 56"/>
          <p:cNvCxnSpPr>
            <a:cxnSpLocks noChangeShapeType="1"/>
            <a:stCxn id="11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1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17" name="AutoShape 56"/>
          <p:cNvCxnSpPr>
            <a:cxnSpLocks noChangeShapeType="1"/>
            <a:stCxn id="115" idx="4"/>
            <a:endCxn id="11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9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" name="弧形接點 119"/>
          <p:cNvCxnSpPr>
            <a:stCxn id="112" idx="6"/>
            <a:endCxn id="11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1" name="弧形接點 120"/>
          <p:cNvCxnSpPr>
            <a:stCxn id="111" idx="2"/>
            <a:endCxn id="109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弧形接點 121"/>
          <p:cNvCxnSpPr>
            <a:stCxn id="110" idx="2"/>
            <a:endCxn id="115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3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25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6" name="AutoShape 56"/>
          <p:cNvCxnSpPr>
            <a:cxnSpLocks noChangeShapeType="1"/>
            <a:stCxn id="130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28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29" name="AutoShape 56"/>
          <p:cNvCxnSpPr>
            <a:cxnSpLocks noChangeShapeType="1"/>
            <a:stCxn id="127" idx="4"/>
            <a:endCxn id="128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1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" name="弧形接點 131"/>
          <p:cNvCxnSpPr>
            <a:stCxn id="124" idx="2"/>
            <a:endCxn id="123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3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34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7" name="AutoShape 56"/>
          <p:cNvCxnSpPr>
            <a:cxnSpLocks noChangeShapeType="1"/>
            <a:stCxn id="141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39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40" name="AutoShape 56"/>
          <p:cNvCxnSpPr>
            <a:cxnSpLocks noChangeShapeType="1"/>
            <a:stCxn id="138" idx="4"/>
            <a:endCxn id="139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1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42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3" name="弧形接點 142"/>
          <p:cNvCxnSpPr>
            <a:stCxn id="135" idx="6"/>
            <a:endCxn id="139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4" name="弧形接點 143"/>
          <p:cNvCxnSpPr>
            <a:stCxn id="134" idx="2"/>
            <a:endCxn id="133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386109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no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v.low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graphicFrame>
        <p:nvGraphicFramePr>
          <p:cNvPr id="61" name="內容版面配置區 3"/>
          <p:cNvGraphicFramePr>
            <a:graphicFrameLocks/>
          </p:cNvGraphicFramePr>
          <p:nvPr>
            <p:extLst/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97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8" name="AutoShape 56"/>
          <p:cNvCxnSpPr>
            <a:cxnSpLocks noChangeShapeType="1"/>
            <a:stCxn id="102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01" name="AutoShape 56"/>
          <p:cNvCxnSpPr>
            <a:cxnSpLocks noChangeShapeType="1"/>
            <a:stCxn id="99" idx="4"/>
            <a:endCxn id="100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3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" name="弧形接點 103"/>
          <p:cNvCxnSpPr>
            <a:stCxn id="92" idx="6"/>
            <a:endCxn id="100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82" idx="6"/>
            <a:endCxn id="83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弧形接點 105"/>
          <p:cNvCxnSpPr>
            <a:stCxn id="66" idx="2"/>
            <a:endCxn id="63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7" name="弧形接點 106"/>
          <p:cNvCxnSpPr>
            <a:stCxn id="64" idx="2"/>
            <a:endCxn id="99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8" name="弧形接點 107"/>
          <p:cNvCxnSpPr>
            <a:stCxn id="100" idx="2"/>
            <a:endCxn id="96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4" name="AutoShape 56"/>
          <p:cNvCxnSpPr>
            <a:cxnSpLocks noChangeShapeType="1"/>
            <a:stCxn id="11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1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17" name="AutoShape 56"/>
          <p:cNvCxnSpPr>
            <a:cxnSpLocks noChangeShapeType="1"/>
            <a:stCxn id="115" idx="4"/>
            <a:endCxn id="11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9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" name="弧形接點 119"/>
          <p:cNvCxnSpPr>
            <a:stCxn id="112" idx="6"/>
            <a:endCxn id="11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1" name="弧形接點 120"/>
          <p:cNvCxnSpPr>
            <a:stCxn id="111" idx="2"/>
            <a:endCxn id="109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弧形接點 121"/>
          <p:cNvCxnSpPr>
            <a:stCxn id="110" idx="2"/>
            <a:endCxn id="115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3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25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6" name="AutoShape 56"/>
          <p:cNvCxnSpPr>
            <a:cxnSpLocks noChangeShapeType="1"/>
            <a:stCxn id="130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28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29" name="AutoShape 56"/>
          <p:cNvCxnSpPr>
            <a:cxnSpLocks noChangeShapeType="1"/>
            <a:stCxn id="127" idx="4"/>
            <a:endCxn id="128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1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" name="弧形接點 131"/>
          <p:cNvCxnSpPr>
            <a:stCxn id="124" idx="2"/>
            <a:endCxn id="123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3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sp>
        <p:nvSpPr>
          <p:cNvPr id="134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7" name="AutoShape 56"/>
          <p:cNvCxnSpPr>
            <a:cxnSpLocks noChangeShapeType="1"/>
            <a:stCxn id="141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39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</a:p>
        </p:txBody>
      </p:sp>
      <p:cxnSp>
        <p:nvCxnSpPr>
          <p:cNvPr id="140" name="AutoShape 56"/>
          <p:cNvCxnSpPr>
            <a:cxnSpLocks noChangeShapeType="1"/>
            <a:stCxn id="138" idx="4"/>
            <a:endCxn id="139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1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42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3" name="弧形接點 142"/>
          <p:cNvCxnSpPr>
            <a:stCxn id="135" idx="6"/>
            <a:endCxn id="139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4" name="弧形接點 143"/>
          <p:cNvCxnSpPr>
            <a:stCxn id="134" idx="2"/>
            <a:endCxn id="133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19972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a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v.low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≤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sp>
        <p:nvSpPr>
          <p:cNvPr id="59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1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93" name="AutoShape 56"/>
          <p:cNvCxnSpPr>
            <a:cxnSpLocks noChangeShapeType="1"/>
            <a:stCxn id="99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97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98" name="AutoShape 56"/>
          <p:cNvCxnSpPr>
            <a:cxnSpLocks noChangeShapeType="1"/>
            <a:stCxn id="96" idx="4"/>
            <a:endCxn id="97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00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1" name="弧形接點 100"/>
          <p:cNvCxnSpPr>
            <a:stCxn id="82" idx="6"/>
            <a:endCxn id="97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2" name="弧形接點 101"/>
          <p:cNvCxnSpPr>
            <a:stCxn id="64" idx="6"/>
            <a:endCxn id="66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3" name="弧形接點 102"/>
          <p:cNvCxnSpPr>
            <a:stCxn id="63" idx="2"/>
            <a:endCxn id="61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4" name="弧形接點 103"/>
          <p:cNvCxnSpPr>
            <a:stCxn id="62" idx="2"/>
            <a:endCxn id="96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97" idx="2"/>
            <a:endCxn id="83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6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07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08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0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1" name="AutoShape 56"/>
          <p:cNvCxnSpPr>
            <a:cxnSpLocks noChangeShapeType="1"/>
            <a:stCxn id="115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13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14" name="AutoShape 56"/>
          <p:cNvCxnSpPr>
            <a:cxnSpLocks noChangeShapeType="1"/>
            <a:stCxn id="112" idx="4"/>
            <a:endCxn id="113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6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17" name="弧形接點 116"/>
          <p:cNvCxnSpPr>
            <a:stCxn id="109" idx="6"/>
            <a:endCxn id="113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8" name="弧形接點 117"/>
          <p:cNvCxnSpPr>
            <a:stCxn id="108" idx="2"/>
            <a:endCxn id="106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19" name="弧形接點 118"/>
          <p:cNvCxnSpPr>
            <a:stCxn id="107" idx="2"/>
            <a:endCxn id="112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0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21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22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3" name="AutoShape 56"/>
          <p:cNvCxnSpPr>
            <a:cxnSpLocks noChangeShapeType="1"/>
            <a:stCxn id="127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25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26" name="AutoShape 56"/>
          <p:cNvCxnSpPr>
            <a:cxnSpLocks noChangeShapeType="1"/>
            <a:stCxn id="124" idx="4"/>
            <a:endCxn id="125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8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9" name="弧形接點 128"/>
          <p:cNvCxnSpPr>
            <a:stCxn id="121" idx="2"/>
            <a:endCxn id="120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0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31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2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3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4" name="AutoShape 56"/>
          <p:cNvCxnSpPr>
            <a:cxnSpLocks noChangeShapeType="1"/>
            <a:stCxn id="138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36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37" name="AutoShape 56"/>
          <p:cNvCxnSpPr>
            <a:cxnSpLocks noChangeShapeType="1"/>
            <a:stCxn id="135" idx="4"/>
            <a:endCxn id="136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9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0" name="弧形接點 139"/>
          <p:cNvCxnSpPr>
            <a:stCxn id="132" idx="6"/>
            <a:endCxn id="136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1" name="弧形接點 140"/>
          <p:cNvCxnSpPr>
            <a:stCxn id="131" idx="2"/>
            <a:endCxn id="130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graphicFrame>
        <p:nvGraphicFramePr>
          <p:cNvPr id="142" name="內容版面配置區 3"/>
          <p:cNvGraphicFramePr>
            <a:graphicFrameLocks/>
          </p:cNvGraphicFramePr>
          <p:nvPr>
            <p:extLst/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28757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</a:pPr>
            <a:r>
              <a:rPr lang="en-US" altLang="zh-TW" dirty="0"/>
              <a:t>Let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</a:rPr>
              <a:t> (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spc="300" dirty="0">
                <a:solidFill>
                  <a:srgbClr val="000000"/>
                </a:solidFill>
              </a:rPr>
              <a:t>E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  <a:r>
              <a:rPr lang="en-US" altLang="zh-TW" dirty="0"/>
              <a:t> be a connected, undirected graph. A </a:t>
            </a:r>
            <a:r>
              <a:rPr lang="en-US" altLang="zh-TW" i="1" dirty="0">
                <a:solidFill>
                  <a:srgbClr val="0000FF"/>
                </a:solidFill>
              </a:rPr>
              <a:t>bridge</a:t>
            </a:r>
            <a:r>
              <a:rPr lang="en-US" altLang="zh-TW" dirty="0"/>
              <a:t> of </a:t>
            </a:r>
            <a:r>
              <a:rPr lang="en-US" altLang="zh-TW" i="1" dirty="0"/>
              <a:t>G</a:t>
            </a:r>
            <a:r>
              <a:rPr lang="en-US" altLang="zh-TW" dirty="0"/>
              <a:t> is an edge whose removal disconnects </a:t>
            </a:r>
            <a:r>
              <a:rPr lang="en-US" altLang="zh-TW" i="1" dirty="0"/>
              <a:t>G</a:t>
            </a:r>
            <a:r>
              <a:rPr lang="en-US" altLang="zh-TW" dirty="0"/>
              <a:t>. Let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i="1" spc="100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pc="100" dirty="0" smtClean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′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) 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be a depth-first tree 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for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0" indent="0">
              <a:spcBef>
                <a:spcPts val="0"/>
              </a:spcBef>
            </a:pP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r>
              <a:rPr lang="en-US" altLang="zh-TW" i="1" dirty="0" smtClean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dirty="0">
                <a:solidFill>
                  <a:srgbClr val="000000"/>
                </a:solidFill>
              </a:rPr>
              <a:t>Let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be an edge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such that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is the parent of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>
                <a:solidFill>
                  <a:srgbClr val="000000"/>
                </a:solidFill>
              </a:rPr>
              <a:t>. Then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is a </a:t>
            </a:r>
            <a:r>
              <a:rPr lang="en-US" altLang="zh-TW" dirty="0" smtClean="0">
                <a:solidFill>
                  <a:srgbClr val="000000"/>
                </a:solidFill>
              </a:rPr>
              <a:t>bridge</a:t>
            </a:r>
            <a:r>
              <a:rPr lang="en-US" altLang="zh-TW" dirty="0">
                <a:solidFill>
                  <a:srgbClr val="000000"/>
                </a:solidFill>
              </a:rPr>
              <a:t>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if and only if there is no back edge from any descendant of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 to an ancestor of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.</a:t>
            </a:r>
          </a:p>
          <a:p>
            <a:pPr marL="0" lvl="0" indent="0">
              <a:spcBef>
                <a:spcPts val="0"/>
              </a:spcBef>
              <a:buClr>
                <a:srgbClr val="000000"/>
              </a:buClr>
            </a:pPr>
            <a:endParaRPr lang="en-US" altLang="zh-TW" dirty="0"/>
          </a:p>
          <a:p>
            <a:pPr marL="0" indent="0">
              <a:spcBef>
                <a:spcPts val="0"/>
              </a:spcBef>
            </a:pPr>
            <a:r>
              <a:rPr lang="en-US" altLang="zh-TW" i="1" dirty="0">
                <a:solidFill>
                  <a:srgbClr val="0000FF"/>
                </a:solidFill>
              </a:rPr>
              <a:t>Definition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 smtClean="0"/>
              <a:t>For any node </a:t>
            </a:r>
            <a:r>
              <a:rPr lang="en-US" altLang="zh-TW" i="1" dirty="0" smtClean="0"/>
              <a:t>v</a:t>
            </a:r>
            <a:r>
              <a:rPr lang="en-US" altLang="zh-TW" dirty="0" smtClean="0"/>
              <a:t> in </a:t>
            </a:r>
            <a:r>
              <a:rPr lang="en-US" altLang="zh-TW" i="1" dirty="0" smtClean="0"/>
              <a:t>G</a:t>
            </a:r>
            <a:r>
              <a:rPr lang="en-US" altLang="zh-TW" dirty="0" smtClean="0"/>
              <a:t>, we define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 smtClean="0"/>
              <a:t> as follows:</a:t>
            </a:r>
          </a:p>
          <a:p>
            <a:pPr marL="0" indent="0">
              <a:spcBef>
                <a:spcPts val="0"/>
              </a:spcBef>
            </a:pPr>
            <a:endParaRPr lang="en-US" altLang="zh-TW" dirty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endParaRPr lang="en-US" altLang="zh-TW" dirty="0" smtClean="0"/>
          </a:p>
          <a:p>
            <a:pPr marL="0" indent="0">
              <a:spcBef>
                <a:spcPts val="0"/>
              </a:spcBef>
            </a:pPr>
            <a:r>
              <a:rPr lang="en-US" altLang="zh-TW" i="1" dirty="0" smtClean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dirty="0" smtClean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dirty="0" smtClean="0">
                <a:solidFill>
                  <a:srgbClr val="000000"/>
                </a:solidFill>
              </a:rPr>
              <a:t>Let </a:t>
            </a:r>
            <a:r>
              <a:rPr lang="en-US" altLang="zh-TW" dirty="0">
                <a:solidFill>
                  <a:srgbClr val="000000"/>
                </a:solidFill>
              </a:rPr>
              <a:t>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be an edge of </a:t>
            </a:r>
            <a:r>
              <a:rPr lang="en-US" altLang="zh-TW" i="1" dirty="0" smtClean="0">
                <a:solidFill>
                  <a:srgbClr val="000000"/>
                </a:solidFill>
              </a:rPr>
              <a:t>G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such that </a:t>
            </a:r>
            <a:r>
              <a:rPr lang="en-US" altLang="zh-TW" i="1" dirty="0" smtClean="0">
                <a:solidFill>
                  <a:srgbClr val="000000"/>
                </a:solidFill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is </a:t>
            </a:r>
            <a:r>
              <a:rPr lang="en-US" altLang="zh-TW" dirty="0" smtClean="0">
                <a:solidFill>
                  <a:srgbClr val="000000"/>
                </a:solidFill>
              </a:rPr>
              <a:t>the parent </a:t>
            </a:r>
            <a:r>
              <a:rPr lang="en-US" altLang="zh-TW" dirty="0">
                <a:solidFill>
                  <a:srgbClr val="000000"/>
                </a:solidFill>
              </a:rPr>
              <a:t>of </a:t>
            </a:r>
            <a:r>
              <a:rPr lang="en-US" altLang="zh-TW" i="1" dirty="0" smtClean="0">
                <a:solidFill>
                  <a:srgbClr val="000000"/>
                </a:solidFill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</a:rPr>
              <a:t> </a:t>
            </a:r>
            <a:r>
              <a:rPr lang="en-US" altLang="zh-TW" dirty="0">
                <a:solidFill>
                  <a:srgbClr val="000000"/>
                </a:solidFill>
              </a:rPr>
              <a:t>in </a:t>
            </a:r>
            <a:r>
              <a:rPr lang="en-US" altLang="zh-TW" i="1" dirty="0">
                <a:solidFill>
                  <a:srgbClr val="000000"/>
                </a:solidFill>
              </a:rPr>
              <a:t>T</a:t>
            </a:r>
            <a:r>
              <a:rPr lang="en-US" altLang="zh-TW" dirty="0" smtClean="0">
                <a:solidFill>
                  <a:srgbClr val="000000"/>
                </a:solidFill>
              </a:rPr>
              <a:t>. </a:t>
            </a:r>
            <a:r>
              <a:rPr lang="en-US" altLang="zh-TW" dirty="0">
                <a:solidFill>
                  <a:srgbClr val="000000"/>
                </a:solidFill>
              </a:rPr>
              <a:t>Then {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v</a:t>
            </a:r>
            <a:r>
              <a:rPr lang="en-US" altLang="zh-TW" dirty="0">
                <a:solidFill>
                  <a:srgbClr val="000000"/>
                </a:solidFill>
              </a:rPr>
              <a:t>} is a bridge of 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</a:rPr>
              <a:t>if </a:t>
            </a:r>
            <a:r>
              <a:rPr lang="en-US" altLang="zh-TW" dirty="0">
                <a:solidFill>
                  <a:srgbClr val="000000"/>
                </a:solidFill>
              </a:rPr>
              <a:t>and only if </a:t>
            </a:r>
            <a:r>
              <a:rPr lang="en-US" altLang="zh-TW" i="1" dirty="0" err="1">
                <a:solidFill>
                  <a:srgbClr val="000000"/>
                </a:solidFill>
              </a:rPr>
              <a:t>v.low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/>
              <a:t>u.d</a:t>
            </a:r>
            <a:r>
              <a:rPr lang="en-US" altLang="zh-TW" dirty="0"/>
              <a:t>.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926963"/>
              </p:ext>
            </p:extLst>
          </p:nvPr>
        </p:nvGraphicFramePr>
        <p:xfrm>
          <a:off x="792000" y="432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97214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8930534"/>
              </p:ext>
            </p:extLst>
          </p:nvPr>
        </p:nvGraphicFramePr>
        <p:xfrm>
          <a:off x="432000" y="729000"/>
          <a:ext cx="666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408751697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39342414"/>
                    </a:ext>
                  </a:extLst>
                </a:gridCol>
                <a:gridCol w="5580000">
                  <a:extLst>
                    <a:ext uri="{9D8B030D-6E8A-4147-A177-3AD203B41FA5}">
                      <a16:colId xmlns:a16="http://schemas.microsoft.com/office/drawing/2014/main" val="2341246142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>
                          <a:latin typeface="+mn-lt"/>
                        </a:rPr>
                        <a:t>min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</a:t>
                      </a:r>
                      <a:endParaRPr lang="en-US" altLang="zh-TW" sz="2000" dirty="0" smtClean="0">
                        <a:latin typeface="Cambria Math" panose="02040503050406030204" pitchFamily="18" charset="0"/>
                      </a:endParaRPr>
                    </a:p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1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693707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06658290"/>
                  </a:ext>
                </a:extLst>
              </a:tr>
            </a:tbl>
          </a:graphicData>
        </a:graphic>
      </p:graphicFrame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68600"/>
              </p:ext>
            </p:extLst>
          </p:nvPr>
        </p:nvGraphicFramePr>
        <p:xfrm>
          <a:off x="432000" y="3429000"/>
          <a:ext cx="39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0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/>
                        <a:t>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219954"/>
              </p:ext>
            </p:extLst>
          </p:nvPr>
        </p:nvGraphicFramePr>
        <p:xfrm>
          <a:off x="432000" y="4689000"/>
          <a:ext cx="8280000" cy="144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3940787939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471984122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4025445592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3059820507"/>
                    </a:ext>
                  </a:extLst>
                </a:gridCol>
              </a:tblGrid>
              <a:tr h="360000">
                <a:tc rowSpan="4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endParaRPr lang="zh-TW" altLang="en-US" sz="2000" dirty="0">
                        <a:latin typeface="Cambria Math" panose="02040503050406030204" pitchFamily="18" charset="0"/>
                      </a:endParaRPr>
                    </a:p>
                  </a:txBody>
                  <a:tcPr marL="0" marR="0" marT="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/>
                        <a:t>min</a:t>
                      </a:r>
                      <a:endParaRPr lang="zh-TW" altLang="en-US" sz="2000" dirty="0"/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ts val="3400"/>
                        </a:lnSpc>
                      </a:pPr>
                      <a:r>
                        <a:rPr lang="zh-TW" altLang="en-US" sz="3400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3400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3400"/>
                        </a:lnSpc>
                      </a:pPr>
                      <a:r>
                        <a:rPr lang="zh-TW" altLang="en-US" sz="3400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3400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3400"/>
                        </a:lnSpc>
                      </a:pPr>
                      <a:r>
                        <a:rPr lang="zh-TW" altLang="en-US" sz="3400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3400" dirty="0"/>
                    </a:p>
                  </a:txBody>
                  <a:tcPr marL="0" marR="0" marT="144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1643651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455973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4687540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some child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58218065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239556"/>
              </p:ext>
            </p:extLst>
          </p:nvPr>
        </p:nvGraphicFramePr>
        <p:xfrm>
          <a:off x="432000" y="1629000"/>
          <a:ext cx="828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1111589408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720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 </a:t>
                      </a:r>
                      <a:endParaRPr lang="zh-TW" altLang="en-US" sz="2000" dirty="0">
                        <a:latin typeface="Cambria Math" panose="02040503050406030204" pitchFamily="18" charset="0"/>
                      </a:endParaRPr>
                    </a:p>
                  </a:txBody>
                  <a:tcPr marL="0" marR="0" marT="0" marB="36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dirty="0" smtClean="0"/>
                        <a:t>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some child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8642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Compute </a:t>
            </a:r>
            <a:r>
              <a:rPr lang="en-US" altLang="zh-TW" i="1" dirty="0" err="1"/>
              <a:t>u.low</a:t>
            </a:r>
            <a:endParaRPr lang="zh-TW" altLang="en-US" i="1" dirty="0"/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32000" y="1269000"/>
            <a:ext cx="3060000" cy="3060000"/>
          </a:xfrm>
        </p:spPr>
        <p:txBody>
          <a:bodyPr/>
          <a:lstStyle/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DFS(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1   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 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2          </a:t>
            </a:r>
            <a:r>
              <a:rPr lang="en-US" altLang="zh-TW" i="1" dirty="0" err="1">
                <a:solidFill>
                  <a:srgbClr val="000000"/>
                </a:solidFill>
              </a:rPr>
              <a:t>u.color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WHITE</a:t>
            </a: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3         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NIL</a:t>
            </a: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4   </a:t>
            </a:r>
            <a:r>
              <a:rPr lang="en-US" altLang="zh-TW" i="1" dirty="0">
                <a:solidFill>
                  <a:srgbClr val="000000"/>
                </a:solidFill>
              </a:rPr>
              <a:t>time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0</a:t>
            </a: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5   </a:t>
            </a:r>
            <a:r>
              <a:rPr lang="en-US" altLang="zh-TW" b="1" dirty="0">
                <a:solidFill>
                  <a:srgbClr val="000000"/>
                </a:solidFill>
              </a:rPr>
              <a:t>for</a:t>
            </a:r>
            <a:r>
              <a:rPr lang="en-US" altLang="zh-TW" dirty="0">
                <a:solidFill>
                  <a:srgbClr val="000000"/>
                </a:solidFill>
              </a:rPr>
              <a:t> each vertex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G.V</a:t>
            </a:r>
            <a:endParaRPr lang="en-US" altLang="zh-TW" dirty="0">
              <a:solidFill>
                <a:srgbClr val="000000"/>
              </a:solidFill>
            </a:endParaRP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6          </a:t>
            </a:r>
            <a:r>
              <a:rPr lang="en-US" altLang="zh-TW" b="1" dirty="0">
                <a:solidFill>
                  <a:srgbClr val="000000"/>
                </a:solidFill>
              </a:rPr>
              <a:t>if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</a:rPr>
              <a:t>u.color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WHITE</a:t>
            </a:r>
            <a:endParaRPr lang="en-US" altLang="zh-TW" sz="1600" dirty="0">
              <a:solidFill>
                <a:srgbClr val="000000"/>
              </a:solidFill>
            </a:endParaRPr>
          </a:p>
          <a:p>
            <a:pPr marL="762000" lvl="0" indent="-762000" eaLnBrk="1" hangingPunct="1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</a:rPr>
              <a:t>7                DFS-V</a:t>
            </a:r>
            <a:r>
              <a:rPr lang="en-US" altLang="zh-TW" sz="1600" dirty="0">
                <a:solidFill>
                  <a:srgbClr val="000000"/>
                </a:solidFill>
              </a:rPr>
              <a:t>ISIT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>
          <a:xfrm>
            <a:off x="4752000" y="1269000"/>
            <a:ext cx="3240000" cy="4140000"/>
          </a:xfrm>
        </p:spPr>
        <p:txBody>
          <a:bodyPr/>
          <a:lstStyle/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DFS-V</a:t>
            </a:r>
            <a:r>
              <a:rPr lang="en-US" altLang="zh-TW" sz="1600" dirty="0">
                <a:solidFill>
                  <a:srgbClr val="000000"/>
                </a:solidFill>
              </a:rPr>
              <a:t>ISIT</a:t>
            </a:r>
            <a:r>
              <a:rPr lang="en-US" altLang="zh-TW" dirty="0">
                <a:solidFill>
                  <a:srgbClr val="000000"/>
                </a:solidFill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</a:rPr>
              <a:t>u</a:t>
            </a:r>
            <a:r>
              <a:rPr lang="en-US" altLang="zh-TW" dirty="0">
                <a:solidFill>
                  <a:srgbClr val="000000"/>
                </a:solidFill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1   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2   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u.d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3    </a:t>
            </a:r>
            <a:r>
              <a:rPr lang="en-US" altLang="zh-TW" i="1" dirty="0" err="1">
                <a:solidFill>
                  <a:srgbClr val="000000"/>
                </a:solidFill>
              </a:rPr>
              <a:t>u.color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GRAY</a:t>
            </a:r>
            <a:endParaRPr lang="en-US" altLang="zh-TW" dirty="0">
              <a:solidFill>
                <a:srgbClr val="FFFFFF"/>
              </a:solidFill>
            </a:endParaRP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4    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for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each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∈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G.Adj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[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]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5           </a:t>
            </a:r>
            <a:r>
              <a:rPr lang="en-US" altLang="zh-TW" b="1" dirty="0">
                <a:solidFill>
                  <a:srgbClr val="000000"/>
                </a:solidFill>
                <a:sym typeface="Symbol" pitchFamily="18" charset="2"/>
              </a:rPr>
              <a:t>if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v.color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WHITE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6                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v.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u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7                 DFS-V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ISIT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(</a:t>
            </a:r>
            <a:r>
              <a:rPr lang="en-US" altLang="zh-TW" i="1" dirty="0">
                <a:solidFill>
                  <a:srgbClr val="000000"/>
                </a:solidFill>
              </a:rPr>
              <a:t>G</a:t>
            </a:r>
            <a:r>
              <a:rPr lang="en-US" altLang="zh-TW" dirty="0">
                <a:solidFill>
                  <a:srgbClr val="000000"/>
                </a:solidFill>
              </a:rPr>
              <a:t>,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)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8    </a:t>
            </a:r>
            <a:r>
              <a:rPr lang="en-US" altLang="zh-TW" i="1" dirty="0" err="1">
                <a:solidFill>
                  <a:srgbClr val="000000"/>
                </a:solidFill>
                <a:sym typeface="Symbol" pitchFamily="18" charset="2"/>
              </a:rPr>
              <a:t>u.color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600" dirty="0">
                <a:solidFill>
                  <a:srgbClr val="000000"/>
                </a:solidFill>
                <a:sym typeface="Symbol" pitchFamily="18" charset="2"/>
              </a:rPr>
              <a:t>BLACK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FFFFFF"/>
                </a:solidFill>
              </a:rPr>
              <a:t>1</a:t>
            </a:r>
            <a:r>
              <a:rPr lang="en-US" altLang="zh-TW" dirty="0">
                <a:solidFill>
                  <a:srgbClr val="000000"/>
                </a:solidFill>
              </a:rPr>
              <a:t>9   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17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itchFamily="18" charset="2"/>
              </a:rPr>
              <a:t>+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1</a:t>
            </a:r>
          </a:p>
          <a:p>
            <a:pPr marL="0" lvl="0" indent="0" eaLnBrk="1" hangingPunct="1">
              <a:spcBef>
                <a:spcPts val="400"/>
              </a:spcBef>
              <a:buClr>
                <a:srgbClr val="000000"/>
              </a:buClr>
              <a:defRPr/>
            </a:pPr>
            <a:r>
              <a:rPr lang="en-US" altLang="zh-TW" dirty="0">
                <a:solidFill>
                  <a:srgbClr val="000000"/>
                </a:solidFill>
              </a:rPr>
              <a:t>10    </a:t>
            </a:r>
            <a:r>
              <a:rPr lang="en-US" altLang="zh-TW" i="1" dirty="0" err="1">
                <a:solidFill>
                  <a:srgbClr val="000000"/>
                </a:solidFill>
              </a:rPr>
              <a:t>u.</a:t>
            </a:r>
            <a:r>
              <a:rPr lang="en-US" altLang="zh-TW" i="1" spc="300" dirty="0" err="1">
                <a:solidFill>
                  <a:srgbClr val="000000"/>
                </a:solidFill>
              </a:rPr>
              <a:t>f</a:t>
            </a:r>
            <a:r>
              <a:rPr lang="en-US" altLang="zh-TW" dirty="0">
                <a:solidFill>
                  <a:srgbClr val="000000"/>
                </a:solidFill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i="1" dirty="0">
                <a:solidFill>
                  <a:srgbClr val="000000"/>
                </a:solidFill>
                <a:sym typeface="Symbol" pitchFamily="18" charset="2"/>
              </a:rPr>
              <a:t>time</a:t>
            </a:r>
            <a:endParaRPr lang="en-US" altLang="zh-TW" dirty="0">
              <a:solidFill>
                <a:srgbClr val="000000"/>
              </a:solidFill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463432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74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>
            <a:off x="745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H="1">
            <a:off x="673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09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817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6"/>
          <p:cNvCxnSpPr>
            <a:cxnSpLocks noChangeShapeType="1"/>
          </p:cNvCxnSpPr>
          <p:nvPr/>
        </p:nvCxnSpPr>
        <p:spPr bwMode="auto">
          <a:xfrm flipV="1">
            <a:off x="763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727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2" name="Oval 51"/>
          <p:cNvSpPr>
            <a:spLocks noChangeArrowheads="1"/>
          </p:cNvSpPr>
          <p:nvPr/>
        </p:nvSpPr>
        <p:spPr bwMode="auto"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40"/>
          <p:cNvSpPr>
            <a:spLocks noChangeShapeType="1"/>
          </p:cNvSpPr>
          <p:nvPr/>
        </p:nvSpPr>
        <p:spPr bwMode="auto">
          <a:xfrm>
            <a:off x="763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4" name="AutoShape 56"/>
          <p:cNvCxnSpPr>
            <a:cxnSpLocks noChangeShapeType="1"/>
            <a:stCxn id="21" idx="4"/>
          </p:cNvCxnSpPr>
          <p:nvPr/>
        </p:nvCxnSpPr>
        <p:spPr bwMode="auto">
          <a:xfrm>
            <a:off x="745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cxnSp>
        <p:nvCxnSpPr>
          <p:cNvPr id="15" name="弧形接點 14"/>
          <p:cNvCxnSpPr>
            <a:stCxn id="7" idx="6"/>
            <a:endCxn id="8" idx="6"/>
          </p:cNvCxnSpPr>
          <p:nvPr/>
        </p:nvCxnSpPr>
        <p:spPr bwMode="auto">
          <a:xfrm flipH="1" flipV="1">
            <a:off x="7452000" y="3789000"/>
            <a:ext cx="900000" cy="2340000"/>
          </a:xfrm>
          <a:prstGeom prst="curvedConnector3">
            <a:avLst>
              <a:gd name="adj1" fmla="val -254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6" name="Line 40"/>
          <p:cNvSpPr>
            <a:spLocks noChangeShapeType="1"/>
          </p:cNvSpPr>
          <p:nvPr/>
        </p:nvSpPr>
        <p:spPr bwMode="auto">
          <a:xfrm>
            <a:off x="673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7" name="AutoShape 56"/>
          <p:cNvCxnSpPr>
            <a:cxnSpLocks noChangeShapeType="1"/>
          </p:cNvCxnSpPr>
          <p:nvPr/>
        </p:nvCxnSpPr>
        <p:spPr bwMode="auto">
          <a:xfrm flipV="1">
            <a:off x="619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51"/>
          <p:cNvSpPr>
            <a:spLocks noChangeArrowheads="1"/>
          </p:cNvSpPr>
          <p:nvPr/>
        </p:nvSpPr>
        <p:spPr bwMode="auto"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40"/>
          <p:cNvSpPr>
            <a:spLocks noChangeShapeType="1"/>
          </p:cNvSpPr>
          <p:nvPr/>
        </p:nvSpPr>
        <p:spPr bwMode="auto">
          <a:xfrm>
            <a:off x="619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0" name="弧形接點 19"/>
          <p:cNvCxnSpPr>
            <a:stCxn id="11" idx="2"/>
            <a:endCxn id="21" idx="2"/>
          </p:cNvCxnSpPr>
          <p:nvPr/>
        </p:nvCxnSpPr>
        <p:spPr bwMode="auto">
          <a:xfrm rot="10800000">
            <a:off x="727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1" name="Oval 51"/>
          <p:cNvSpPr>
            <a:spLocks noChangeArrowheads="1"/>
          </p:cNvSpPr>
          <p:nvPr/>
        </p:nvSpPr>
        <p:spPr bwMode="auto">
          <a:xfrm>
            <a:off x="727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>
            <a:off x="745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" name="AutoShape 56"/>
          <p:cNvCxnSpPr>
            <a:cxnSpLocks noChangeShapeType="1"/>
          </p:cNvCxnSpPr>
          <p:nvPr/>
        </p:nvCxnSpPr>
        <p:spPr bwMode="auto">
          <a:xfrm>
            <a:off x="169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56"/>
          <p:cNvCxnSpPr>
            <a:cxnSpLocks noChangeShapeType="1"/>
          </p:cNvCxnSpPr>
          <p:nvPr/>
        </p:nvCxnSpPr>
        <p:spPr bwMode="auto">
          <a:xfrm flipH="1">
            <a:off x="97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" name="Line 40"/>
          <p:cNvSpPr>
            <a:spLocks noChangeShapeType="1"/>
          </p:cNvSpPr>
          <p:nvPr/>
        </p:nvSpPr>
        <p:spPr bwMode="auto">
          <a:xfrm>
            <a:off x="241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AutoShape 56"/>
          <p:cNvCxnSpPr>
            <a:cxnSpLocks noChangeShapeType="1"/>
          </p:cNvCxnSpPr>
          <p:nvPr/>
        </p:nvCxnSpPr>
        <p:spPr bwMode="auto">
          <a:xfrm flipV="1">
            <a:off x="187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151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28" name="Oval 51"/>
          <p:cNvSpPr>
            <a:spLocks noChangeArrowheads="1"/>
          </p:cNvSpPr>
          <p:nvPr/>
        </p:nvSpPr>
        <p:spPr bwMode="auto">
          <a:xfrm>
            <a:off x="223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187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0" name="AutoShape 56"/>
          <p:cNvCxnSpPr>
            <a:cxnSpLocks noChangeShapeType="1"/>
          </p:cNvCxnSpPr>
          <p:nvPr/>
        </p:nvCxnSpPr>
        <p:spPr bwMode="auto">
          <a:xfrm>
            <a:off x="169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97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2" name="AutoShape 56"/>
          <p:cNvCxnSpPr>
            <a:cxnSpLocks noChangeShapeType="1"/>
          </p:cNvCxnSpPr>
          <p:nvPr/>
        </p:nvCxnSpPr>
        <p:spPr bwMode="auto">
          <a:xfrm flipV="1">
            <a:off x="43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7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Line 40"/>
          <p:cNvSpPr>
            <a:spLocks noChangeShapeType="1"/>
          </p:cNvSpPr>
          <p:nvPr/>
        </p:nvSpPr>
        <p:spPr bwMode="auto">
          <a:xfrm>
            <a:off x="43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5" name="弧形接點 34"/>
          <p:cNvCxnSpPr>
            <a:stCxn id="27" idx="2"/>
            <a:endCxn id="36" idx="2"/>
          </p:cNvCxnSpPr>
          <p:nvPr/>
        </p:nvCxnSpPr>
        <p:spPr bwMode="auto">
          <a:xfrm rot="10800000">
            <a:off x="151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6" name="Oval 51"/>
          <p:cNvSpPr>
            <a:spLocks noChangeArrowheads="1"/>
          </p:cNvSpPr>
          <p:nvPr/>
        </p:nvSpPr>
        <p:spPr bwMode="auto">
          <a:xfrm>
            <a:off x="15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37" name="AutoShape 56"/>
          <p:cNvCxnSpPr>
            <a:cxnSpLocks noChangeShapeType="1"/>
          </p:cNvCxnSpPr>
          <p:nvPr/>
        </p:nvCxnSpPr>
        <p:spPr bwMode="auto">
          <a:xfrm>
            <a:off x="169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弧形接點 37"/>
          <p:cNvCxnSpPr>
            <a:stCxn id="3" idx="2"/>
            <a:endCxn id="4" idx="2"/>
          </p:cNvCxnSpPr>
          <p:nvPr/>
        </p:nvCxnSpPr>
        <p:spPr bwMode="auto">
          <a:xfrm rot="10800000" flipH="1">
            <a:off x="6552000" y="4149000"/>
            <a:ext cx="900000" cy="1980000"/>
          </a:xfrm>
          <a:prstGeom prst="curvedConnector3">
            <a:avLst>
              <a:gd name="adj1" fmla="val -254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9" name="AutoShape 56"/>
          <p:cNvCxnSpPr>
            <a:cxnSpLocks noChangeShapeType="1"/>
          </p:cNvCxnSpPr>
          <p:nvPr/>
        </p:nvCxnSpPr>
        <p:spPr bwMode="auto">
          <a:xfrm>
            <a:off x="457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" name="AutoShape 56"/>
          <p:cNvCxnSpPr>
            <a:cxnSpLocks noChangeShapeType="1"/>
          </p:cNvCxnSpPr>
          <p:nvPr/>
        </p:nvCxnSpPr>
        <p:spPr bwMode="auto">
          <a:xfrm flipH="1">
            <a:off x="385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2" name="AutoShape 56"/>
          <p:cNvCxnSpPr>
            <a:cxnSpLocks noChangeShapeType="1"/>
          </p:cNvCxnSpPr>
          <p:nvPr/>
        </p:nvCxnSpPr>
        <p:spPr bwMode="auto">
          <a:xfrm flipV="1">
            <a:off x="475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" name="Oval 51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44" name="Oval 51"/>
          <p:cNvSpPr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475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6" name="AutoShape 56"/>
          <p:cNvCxnSpPr>
            <a:cxnSpLocks noChangeShapeType="1"/>
          </p:cNvCxnSpPr>
          <p:nvPr/>
        </p:nvCxnSpPr>
        <p:spPr bwMode="auto">
          <a:xfrm>
            <a:off x="457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sp>
        <p:nvSpPr>
          <p:cNvPr id="47" name="Line 40"/>
          <p:cNvSpPr>
            <a:spLocks noChangeShapeType="1"/>
          </p:cNvSpPr>
          <p:nvPr/>
        </p:nvSpPr>
        <p:spPr bwMode="auto">
          <a:xfrm>
            <a:off x="385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8" name="AutoShape 56"/>
          <p:cNvCxnSpPr>
            <a:cxnSpLocks noChangeShapeType="1"/>
          </p:cNvCxnSpPr>
          <p:nvPr/>
        </p:nvCxnSpPr>
        <p:spPr bwMode="auto">
          <a:xfrm flipV="1">
            <a:off x="331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331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43" idx="2"/>
            <a:endCxn id="52" idx="2"/>
          </p:cNvCxnSpPr>
          <p:nvPr/>
        </p:nvCxnSpPr>
        <p:spPr bwMode="auto">
          <a:xfrm rot="10800000">
            <a:off x="439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43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53" name="AutoShape 56"/>
          <p:cNvCxnSpPr>
            <a:cxnSpLocks noChangeShapeType="1"/>
          </p:cNvCxnSpPr>
          <p:nvPr/>
        </p:nvCxnSpPr>
        <p:spPr bwMode="auto">
          <a:xfrm>
            <a:off x="457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5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01698389"/>
              </p:ext>
            </p:extLst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l"/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u.d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graphicFrame>
        <p:nvGraphicFramePr>
          <p:cNvPr id="55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23343435"/>
              </p:ext>
            </p:extLst>
          </p:nvPr>
        </p:nvGraphicFramePr>
        <p:xfrm>
          <a:off x="612000" y="1629000"/>
          <a:ext cx="432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l"/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≟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u.d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child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316119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51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4" name="Oval 51"/>
          <p:cNvSpPr>
            <a:spLocks noChangeArrowheads="1"/>
          </p:cNvSpPr>
          <p:nvPr/>
        </p:nvSpPr>
        <p:spPr bwMode="auto">
          <a:xfrm>
            <a:off x="745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>
            <a:off x="745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H="1">
            <a:off x="673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x</a:t>
            </a: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7092000" y="36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2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817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6"/>
          <p:cNvCxnSpPr>
            <a:cxnSpLocks noChangeShapeType="1"/>
          </p:cNvCxnSpPr>
          <p:nvPr/>
        </p:nvCxnSpPr>
        <p:spPr bwMode="auto">
          <a:xfrm flipV="1">
            <a:off x="763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727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12" name="Oval 51"/>
          <p:cNvSpPr>
            <a:spLocks noChangeArrowheads="1"/>
          </p:cNvSpPr>
          <p:nvPr/>
        </p:nvSpPr>
        <p:spPr bwMode="auto">
          <a:xfrm>
            <a:off x="79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3" name="Line 40"/>
          <p:cNvSpPr>
            <a:spLocks noChangeShapeType="1"/>
          </p:cNvSpPr>
          <p:nvPr/>
        </p:nvSpPr>
        <p:spPr bwMode="auto">
          <a:xfrm>
            <a:off x="763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4" name="AutoShape 56"/>
          <p:cNvCxnSpPr>
            <a:cxnSpLocks noChangeShapeType="1"/>
            <a:stCxn id="21" idx="4"/>
          </p:cNvCxnSpPr>
          <p:nvPr/>
        </p:nvCxnSpPr>
        <p:spPr bwMode="auto">
          <a:xfrm>
            <a:off x="745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cxnSp>
        <p:nvCxnSpPr>
          <p:cNvPr id="15" name="弧形接點 14"/>
          <p:cNvCxnSpPr>
            <a:stCxn id="7" idx="6"/>
            <a:endCxn id="8" idx="6"/>
          </p:cNvCxnSpPr>
          <p:nvPr/>
        </p:nvCxnSpPr>
        <p:spPr bwMode="auto">
          <a:xfrm flipH="1" flipV="1">
            <a:off x="7452000" y="3789000"/>
            <a:ext cx="900000" cy="2340000"/>
          </a:xfrm>
          <a:prstGeom prst="curvedConnector3">
            <a:avLst>
              <a:gd name="adj1" fmla="val -254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6" name="Line 40"/>
          <p:cNvSpPr>
            <a:spLocks noChangeShapeType="1"/>
          </p:cNvSpPr>
          <p:nvPr/>
        </p:nvSpPr>
        <p:spPr bwMode="auto">
          <a:xfrm>
            <a:off x="673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7" name="AutoShape 56"/>
          <p:cNvCxnSpPr>
            <a:cxnSpLocks noChangeShapeType="1"/>
          </p:cNvCxnSpPr>
          <p:nvPr/>
        </p:nvCxnSpPr>
        <p:spPr bwMode="auto">
          <a:xfrm flipV="1">
            <a:off x="619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51"/>
          <p:cNvSpPr>
            <a:spLocks noChangeArrowheads="1"/>
          </p:cNvSpPr>
          <p:nvPr/>
        </p:nvSpPr>
        <p:spPr bwMode="auto">
          <a:xfrm>
            <a:off x="655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Line 40"/>
          <p:cNvSpPr>
            <a:spLocks noChangeShapeType="1"/>
          </p:cNvSpPr>
          <p:nvPr/>
        </p:nvSpPr>
        <p:spPr bwMode="auto">
          <a:xfrm>
            <a:off x="619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0" name="弧形接點 19"/>
          <p:cNvCxnSpPr>
            <a:stCxn id="11" idx="2"/>
            <a:endCxn id="21" idx="2"/>
          </p:cNvCxnSpPr>
          <p:nvPr/>
        </p:nvCxnSpPr>
        <p:spPr bwMode="auto">
          <a:xfrm rot="10800000">
            <a:off x="727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1" name="Oval 51"/>
          <p:cNvSpPr>
            <a:spLocks noChangeArrowheads="1"/>
          </p:cNvSpPr>
          <p:nvPr/>
        </p:nvSpPr>
        <p:spPr bwMode="auto">
          <a:xfrm>
            <a:off x="727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>
            <a:off x="745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3" name="AutoShape 56"/>
          <p:cNvCxnSpPr>
            <a:cxnSpLocks noChangeShapeType="1"/>
          </p:cNvCxnSpPr>
          <p:nvPr/>
        </p:nvCxnSpPr>
        <p:spPr bwMode="auto">
          <a:xfrm>
            <a:off x="169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4" name="AutoShape 56"/>
          <p:cNvCxnSpPr>
            <a:cxnSpLocks noChangeShapeType="1"/>
          </p:cNvCxnSpPr>
          <p:nvPr/>
        </p:nvCxnSpPr>
        <p:spPr bwMode="auto">
          <a:xfrm flipH="1">
            <a:off x="97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" name="Line 40"/>
          <p:cNvSpPr>
            <a:spLocks noChangeShapeType="1"/>
          </p:cNvSpPr>
          <p:nvPr/>
        </p:nvSpPr>
        <p:spPr bwMode="auto">
          <a:xfrm>
            <a:off x="241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AutoShape 56"/>
          <p:cNvCxnSpPr>
            <a:cxnSpLocks noChangeShapeType="1"/>
          </p:cNvCxnSpPr>
          <p:nvPr/>
        </p:nvCxnSpPr>
        <p:spPr bwMode="auto">
          <a:xfrm flipV="1">
            <a:off x="187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151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28" name="Oval 51"/>
          <p:cNvSpPr>
            <a:spLocks noChangeArrowheads="1"/>
          </p:cNvSpPr>
          <p:nvPr/>
        </p:nvSpPr>
        <p:spPr bwMode="auto">
          <a:xfrm>
            <a:off x="223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187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0" name="AutoShape 56"/>
          <p:cNvCxnSpPr>
            <a:cxnSpLocks noChangeShapeType="1"/>
          </p:cNvCxnSpPr>
          <p:nvPr/>
        </p:nvCxnSpPr>
        <p:spPr bwMode="auto">
          <a:xfrm>
            <a:off x="169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97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2" name="AutoShape 56"/>
          <p:cNvCxnSpPr>
            <a:cxnSpLocks noChangeShapeType="1"/>
          </p:cNvCxnSpPr>
          <p:nvPr/>
        </p:nvCxnSpPr>
        <p:spPr bwMode="auto">
          <a:xfrm flipV="1">
            <a:off x="43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7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Line 40"/>
          <p:cNvSpPr>
            <a:spLocks noChangeShapeType="1"/>
          </p:cNvSpPr>
          <p:nvPr/>
        </p:nvSpPr>
        <p:spPr bwMode="auto">
          <a:xfrm>
            <a:off x="43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5" name="弧形接點 34"/>
          <p:cNvCxnSpPr>
            <a:stCxn id="27" idx="2"/>
            <a:endCxn id="36" idx="2"/>
          </p:cNvCxnSpPr>
          <p:nvPr/>
        </p:nvCxnSpPr>
        <p:spPr bwMode="auto">
          <a:xfrm rot="10800000">
            <a:off x="151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36" name="Oval 51"/>
          <p:cNvSpPr>
            <a:spLocks noChangeArrowheads="1"/>
          </p:cNvSpPr>
          <p:nvPr/>
        </p:nvSpPr>
        <p:spPr bwMode="auto">
          <a:xfrm>
            <a:off x="151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37" name="AutoShape 56"/>
          <p:cNvCxnSpPr>
            <a:cxnSpLocks noChangeShapeType="1"/>
          </p:cNvCxnSpPr>
          <p:nvPr/>
        </p:nvCxnSpPr>
        <p:spPr bwMode="auto">
          <a:xfrm>
            <a:off x="169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弧形接點 37"/>
          <p:cNvCxnSpPr>
            <a:stCxn id="3" idx="2"/>
            <a:endCxn id="4" idx="2"/>
          </p:cNvCxnSpPr>
          <p:nvPr/>
        </p:nvCxnSpPr>
        <p:spPr bwMode="auto">
          <a:xfrm rot="10800000" flipH="1">
            <a:off x="6552000" y="4149000"/>
            <a:ext cx="900000" cy="1980000"/>
          </a:xfrm>
          <a:prstGeom prst="curvedConnector3">
            <a:avLst>
              <a:gd name="adj1" fmla="val -254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9" name="AutoShape 56"/>
          <p:cNvCxnSpPr>
            <a:cxnSpLocks noChangeShapeType="1"/>
          </p:cNvCxnSpPr>
          <p:nvPr/>
        </p:nvCxnSpPr>
        <p:spPr bwMode="auto">
          <a:xfrm>
            <a:off x="457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0" name="AutoShape 56"/>
          <p:cNvCxnSpPr>
            <a:cxnSpLocks noChangeShapeType="1"/>
          </p:cNvCxnSpPr>
          <p:nvPr/>
        </p:nvCxnSpPr>
        <p:spPr bwMode="auto">
          <a:xfrm flipH="1">
            <a:off x="3852000" y="4509000"/>
            <a:ext cx="720000" cy="90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2" name="AutoShape 56"/>
          <p:cNvCxnSpPr>
            <a:cxnSpLocks noChangeShapeType="1"/>
          </p:cNvCxnSpPr>
          <p:nvPr/>
        </p:nvCxnSpPr>
        <p:spPr bwMode="auto">
          <a:xfrm flipV="1">
            <a:off x="475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" name="Oval 51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u</a:t>
            </a:r>
          </a:p>
        </p:txBody>
      </p:sp>
      <p:sp>
        <p:nvSpPr>
          <p:cNvPr id="44" name="Oval 51"/>
          <p:cNvSpPr>
            <a:spLocks noChangeArrowheads="1"/>
          </p:cNvSpPr>
          <p:nvPr/>
        </p:nvSpPr>
        <p:spPr bwMode="auto">
          <a:xfrm>
            <a:off x="511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Line 40"/>
          <p:cNvSpPr>
            <a:spLocks noChangeShapeType="1"/>
          </p:cNvSpPr>
          <p:nvPr/>
        </p:nvSpPr>
        <p:spPr bwMode="auto">
          <a:xfrm>
            <a:off x="475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6" name="AutoShape 56"/>
          <p:cNvCxnSpPr>
            <a:cxnSpLocks noChangeShapeType="1"/>
          </p:cNvCxnSpPr>
          <p:nvPr/>
        </p:nvCxnSpPr>
        <p:spPr bwMode="auto">
          <a:xfrm>
            <a:off x="4572000" y="36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</p:spPr>
      </p:cxnSp>
      <p:sp>
        <p:nvSpPr>
          <p:cNvPr id="47" name="Line 40"/>
          <p:cNvSpPr>
            <a:spLocks noChangeShapeType="1"/>
          </p:cNvSpPr>
          <p:nvPr/>
        </p:nvSpPr>
        <p:spPr bwMode="auto">
          <a:xfrm>
            <a:off x="3852000" y="5409000"/>
            <a:ext cx="540000" cy="108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8" name="AutoShape 56"/>
          <p:cNvCxnSpPr>
            <a:cxnSpLocks noChangeShapeType="1"/>
          </p:cNvCxnSpPr>
          <p:nvPr/>
        </p:nvCxnSpPr>
        <p:spPr bwMode="auto">
          <a:xfrm flipV="1">
            <a:off x="3312000" y="5409000"/>
            <a:ext cx="54000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9" name="Oval 51"/>
          <p:cNvSpPr>
            <a:spLocks noChangeArrowheads="1"/>
          </p:cNvSpPr>
          <p:nvPr/>
        </p:nvSpPr>
        <p:spPr bwMode="auto">
          <a:xfrm>
            <a:off x="367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72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v</a:t>
            </a:r>
            <a:r>
              <a:rPr kumimoji="1" lang="en-US" altLang="zh-TW" sz="1800" b="0" i="0" u="none" strike="noStrike" kern="1200" cap="none" spc="0" normalizeH="0" baseline="-2500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3312000" y="6489000"/>
            <a:ext cx="108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43" idx="2"/>
            <a:endCxn id="52" idx="2"/>
          </p:cNvCxnSpPr>
          <p:nvPr/>
        </p:nvCxnSpPr>
        <p:spPr bwMode="auto">
          <a:xfrm rot="10800000">
            <a:off x="4392000" y="3429000"/>
            <a:ext cx="12700" cy="108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439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w</a:t>
            </a:r>
          </a:p>
        </p:txBody>
      </p:sp>
      <p:cxnSp>
        <p:nvCxnSpPr>
          <p:cNvPr id="53" name="AutoShape 56"/>
          <p:cNvCxnSpPr>
            <a:cxnSpLocks noChangeShapeType="1"/>
          </p:cNvCxnSpPr>
          <p:nvPr/>
        </p:nvCxnSpPr>
        <p:spPr bwMode="auto">
          <a:xfrm>
            <a:off x="4572000" y="28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aphicFrame>
        <p:nvGraphicFramePr>
          <p:cNvPr id="54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7809777"/>
              </p:ext>
            </p:extLst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l"/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u.d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graphicFrame>
        <p:nvGraphicFramePr>
          <p:cNvPr id="56" name="表格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798749"/>
              </p:ext>
            </p:extLst>
          </p:nvPr>
        </p:nvGraphicFramePr>
        <p:xfrm>
          <a:off x="612000" y="1629000"/>
          <a:ext cx="48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l"/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2200" dirty="0" smtClean="0"/>
                        <a:t>min</a:t>
                      </a:r>
                      <a:endParaRPr lang="zh-TW" altLang="en-US" sz="22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00064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549000"/>
                <a:ext cx="8640000" cy="5220000"/>
              </a:xfrm>
            </p:spPr>
            <p:txBody>
              <a:bodyPr/>
              <a:lstStyle/>
              <a:p>
                <a:pPr marL="0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100" i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100" smtClean="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1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100" dirty="0">
                  <a:solidFill>
                    <a:srgbClr val="000000"/>
                  </a:solidFill>
                </a:endParaRPr>
              </a:p>
              <a:p>
                <a:pPr marL="357188" lvl="0" indent="-357188">
                  <a:buClr>
                    <a:srgbClr val="000000"/>
                  </a:buClr>
                </a:pPr>
                <a:endParaRPr lang="en-US" altLang="zh-TW" sz="1000" dirty="0">
                  <a:solidFill>
                    <a:srgbClr val="000000"/>
                  </a:solidFill>
                </a:endParaRPr>
              </a:p>
              <a:p>
                <a:pPr marL="0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1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10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: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back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                                       </m:t>
                                </m:r>
                                <m: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: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back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for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some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descendant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x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some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child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 dirty="0">
                                    <a:solidFill>
                                      <a:srgbClr val="000000"/>
                                    </a:solidFill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dirty="0">
                                    <a:solidFill>
                                      <a:srgbClr val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100" dirty="0" smtClean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tabLst>
                    <a:tab pos="269875" algn="l"/>
                    <a:tab pos="809625" algn="l"/>
                  </a:tabLst>
                </a:pPr>
                <a:endParaRPr lang="en-US" altLang="zh-TW" sz="2000" dirty="0" smtClean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tabLst>
                    <a:tab pos="269875" algn="l"/>
                    <a:tab pos="809625" algn="l"/>
                  </a:tabLst>
                </a:pPr>
                <a:endParaRPr lang="en-US" altLang="zh-TW" sz="2000" dirty="0" smtClean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tabLst>
                    <a:tab pos="269875" algn="l"/>
                    <a:tab pos="8096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1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1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10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: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back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low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: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v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child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of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      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100" dirty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tabLst>
                    <a:tab pos="269875" algn="l"/>
                    <a:tab pos="809625" algn="l"/>
                  </a:tabLst>
                </a:pPr>
                <a:endParaRPr lang="en-US" altLang="zh-TW" sz="1000" dirty="0" smtClean="0">
                  <a:solidFill>
                    <a:srgbClr val="000000"/>
                  </a:solidFill>
                </a:endParaRPr>
              </a:p>
              <a:p>
                <a:pPr marL="0" indent="0">
                  <a:spcBef>
                    <a:spcPts val="0"/>
                  </a:spcBef>
                  <a:tabLst>
                    <a:tab pos="269875" algn="l"/>
                    <a:tab pos="809625" algn="l"/>
                  </a:tabLs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1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1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10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1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21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                                     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.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d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: 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u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w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)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is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a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back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edge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TW" sz="2100" b="0" i="0" smtClean="0">
                                    <a:solidFill>
                                      <a:srgbClr val="000000"/>
                                    </a:solidFill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,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</m:t>
                                </m:r>
                                <m:r>
                                  <a:rPr lang="en-US" altLang="zh-TW" sz="21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  <m:r>
                                  <a:rPr lang="zh-TW" altLang="en-US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                                                                            </m:t>
                                </m:r>
                                <m:r>
                                  <a:rPr lang="en-US" altLang="zh-TW" sz="21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 </m:t>
                                </m:r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TW" sz="21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v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d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: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v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is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child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u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b="0" i="0" dirty="0" smtClean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,</m:t>
                                      </m:r>
                                      <m:r>
                                        <a:rPr lang="en-US" altLang="zh-TW" sz="2100" b="0" i="1" dirty="0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                                                                                               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d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: (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)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is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a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back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edge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for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some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descendant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x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of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some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child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v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dirty="0">
                                          <a:solidFill>
                                            <a:srgbClr val="000000"/>
                                          </a:solidFill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of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 i="1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u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zh-TW" sz="2100">
                                          <a:solidFill>
                                            <a:srgbClr val="000000"/>
                                          </a:solidFill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.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TW" sz="21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549000"/>
                <a:ext cx="8640000" cy="5220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61461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內容版面配置區 44"/>
          <p:cNvSpPr>
            <a:spLocks noGrp="1"/>
          </p:cNvSpPr>
          <p:nvPr>
            <p:ph idx="1"/>
          </p:nvPr>
        </p:nvSpPr>
        <p:spPr>
          <a:xfrm>
            <a:off x="432000" y="1269000"/>
            <a:ext cx="8280000" cy="1080000"/>
          </a:xfrm>
        </p:spPr>
        <p:txBody>
          <a:bodyPr/>
          <a:lstStyle/>
          <a:p>
            <a:pPr marL="0" lvl="0" indent="0">
              <a:buClr>
                <a:srgbClr val="000000"/>
              </a:buClr>
            </a:pPr>
            <a:r>
              <a:rPr lang="en-US" altLang="zh-TW" sz="2200" dirty="0" smtClean="0">
                <a:solidFill>
                  <a:srgbClr val="000000"/>
                </a:solidFill>
              </a:rPr>
              <a:t>Let </a:t>
            </a:r>
            <a:r>
              <a:rPr lang="en-US" altLang="zh-TW" sz="2200" dirty="0">
                <a:solidFill>
                  <a:srgbClr val="000000"/>
                </a:solidFill>
              </a:rPr>
              <a:t>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 smtClean="0">
                <a:solidFill>
                  <a:srgbClr val="000000"/>
                </a:solidFill>
              </a:rPr>
              <a:t>G</a:t>
            </a:r>
            <a:r>
              <a:rPr lang="en-US" altLang="zh-TW" sz="2200" dirty="0" smtClean="0">
                <a:solidFill>
                  <a:srgbClr val="000000"/>
                </a:solidFill>
              </a:rPr>
              <a:t> </a:t>
            </a:r>
            <a:r>
              <a:rPr lang="en-US" altLang="zh-TW" sz="2200" dirty="0">
                <a:solidFill>
                  <a:srgbClr val="000000"/>
                </a:solidFill>
              </a:rPr>
              <a:t>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 smtClean="0">
                <a:solidFill>
                  <a:srgbClr val="000000"/>
                </a:solidFill>
              </a:rPr>
              <a:t>. </a:t>
            </a:r>
            <a:r>
              <a:rPr lang="en-US" altLang="zh-TW" sz="2200" dirty="0">
                <a:solidFill>
                  <a:srgbClr val="000000"/>
                </a:solidFill>
              </a:rPr>
              <a:t>Then there is no back edge from any descendant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v.low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</p:txBody>
      </p:sp>
      <p:graphicFrame>
        <p:nvGraphicFramePr>
          <p:cNvPr id="61" name="內容版面配置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5907761"/>
              </p:ext>
            </p:extLst>
          </p:nvPr>
        </p:nvGraphicFramePr>
        <p:xfrm>
          <a:off x="612000" y="549000"/>
          <a:ext cx="7740000" cy="7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2825895961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796610212"/>
                    </a:ext>
                  </a:extLst>
                </a:gridCol>
                <a:gridCol w="6120000">
                  <a:extLst>
                    <a:ext uri="{9D8B030D-6E8A-4147-A177-3AD203B41FA5}">
                      <a16:colId xmlns:a16="http://schemas.microsoft.com/office/drawing/2014/main" val="509437921"/>
                    </a:ext>
                  </a:extLst>
                </a:gridCol>
              </a:tblGrid>
              <a:tr h="360000">
                <a:tc rowSpan="2">
                  <a:txBody>
                    <a:bodyPr/>
                    <a:lstStyle/>
                    <a:p>
                      <a:pPr algn="r"/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min</a:t>
                      </a:r>
                      <a:endParaRPr lang="zh-TW" altLang="en-US" sz="2200" spc="0" dirty="0">
                        <a:latin typeface="+mn-lt"/>
                      </a:endParaRPr>
                    </a:p>
                  </a:txBody>
                  <a:tcPr marL="0" marR="3600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</a:pPr>
                      <a:r>
                        <a:rPr lang="zh-TW" altLang="en-US" sz="2000" dirty="0" smtClean="0">
                          <a:latin typeface="Cambria Math" panose="02040503050406030204" pitchFamily="18" charset="0"/>
                        </a:rPr>
                        <a:t>⎰⎱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0" marR="0" marT="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TW" sz="2200" i="1" dirty="0" err="1" smtClean="0">
                          <a:latin typeface="+mn-lt"/>
                        </a:rPr>
                        <a:t>v.d</a:t>
                      </a:r>
                      <a:r>
                        <a:rPr lang="en-US" altLang="zh-TW" sz="2200" dirty="0" smtClean="0">
                          <a:latin typeface="+mn-lt"/>
                        </a:rPr>
                        <a:t>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337572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sz="2000" dirty="0">
                        <a:latin typeface="+mn-lt"/>
                      </a:endParaRPr>
                    </a:p>
                  </a:txBody>
                  <a:tcPr marT="0" marB="0" anchor="ctr"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 for some descendant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03761424"/>
                  </a:ext>
                </a:extLst>
              </a:tr>
            </a:tbl>
          </a:graphicData>
        </a:graphic>
      </p:graphicFrame>
      <p:sp>
        <p:nvSpPr>
          <p:cNvPr id="62" name="Oval 51"/>
          <p:cNvSpPr>
            <a:spLocks noChangeArrowheads="1"/>
          </p:cNvSpPr>
          <p:nvPr/>
        </p:nvSpPr>
        <p:spPr bwMode="auto">
          <a:xfrm>
            <a:off x="2952000" y="4149000"/>
            <a:ext cx="360000" cy="360000"/>
          </a:xfrm>
          <a:prstGeom prst="ellipse">
            <a:avLst/>
          </a:prstGeom>
          <a:noFill/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64" name="Oval 51"/>
          <p:cNvSpPr>
            <a:spLocks noChangeArrowheads="1"/>
          </p:cNvSpPr>
          <p:nvPr/>
        </p:nvSpPr>
        <p:spPr bwMode="auto">
          <a:xfrm>
            <a:off x="763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2" name="Oval 51"/>
          <p:cNvSpPr>
            <a:spLocks noChangeArrowheads="1"/>
          </p:cNvSpPr>
          <p:nvPr/>
        </p:nvSpPr>
        <p:spPr bwMode="auto">
          <a:xfrm>
            <a:off x="799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3" name="Oval 51"/>
          <p:cNvSpPr>
            <a:spLocks noChangeArrowheads="1"/>
          </p:cNvSpPr>
          <p:nvPr/>
        </p:nvSpPr>
        <p:spPr bwMode="auto">
          <a:xfrm>
            <a:off x="74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92" name="Oval 51"/>
          <p:cNvSpPr>
            <a:spLocks noChangeArrowheads="1"/>
          </p:cNvSpPr>
          <p:nvPr/>
        </p:nvSpPr>
        <p:spPr bwMode="auto">
          <a:xfrm>
            <a:off x="78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96" name="Oval 51"/>
          <p:cNvSpPr>
            <a:spLocks noChangeArrowheads="1"/>
          </p:cNvSpPr>
          <p:nvPr/>
        </p:nvSpPr>
        <p:spPr bwMode="auto">
          <a:xfrm>
            <a:off x="781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97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98" name="AutoShape 56"/>
          <p:cNvCxnSpPr>
            <a:cxnSpLocks noChangeShapeType="1"/>
            <a:stCxn id="102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9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00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01" name="AutoShape 56"/>
          <p:cNvCxnSpPr>
            <a:cxnSpLocks noChangeShapeType="1"/>
            <a:stCxn id="99" idx="4"/>
            <a:endCxn id="100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2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03" name="AutoShape 56"/>
          <p:cNvCxnSpPr>
            <a:cxnSpLocks noChangeShapeType="1"/>
          </p:cNvCxnSpPr>
          <p:nvPr/>
        </p:nvCxnSpPr>
        <p:spPr bwMode="auto">
          <a:xfrm>
            <a:off x="781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04" name="弧形接點 103"/>
          <p:cNvCxnSpPr>
            <a:stCxn id="92" idx="6"/>
            <a:endCxn id="100" idx="6"/>
          </p:cNvCxnSpPr>
          <p:nvPr/>
        </p:nvCxnSpPr>
        <p:spPr bwMode="auto">
          <a:xfrm flipH="1" flipV="1">
            <a:off x="799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5" name="弧形接點 104"/>
          <p:cNvCxnSpPr>
            <a:stCxn id="82" idx="6"/>
            <a:endCxn id="83" idx="6"/>
          </p:cNvCxnSpPr>
          <p:nvPr/>
        </p:nvCxnSpPr>
        <p:spPr bwMode="auto">
          <a:xfrm flipH="1" flipV="1">
            <a:off x="781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6" name="弧形接點 105"/>
          <p:cNvCxnSpPr>
            <a:stCxn id="66" idx="2"/>
            <a:endCxn id="63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7" name="弧形接點 106"/>
          <p:cNvCxnSpPr>
            <a:stCxn id="64" idx="2"/>
            <a:endCxn id="99" idx="2"/>
          </p:cNvCxnSpPr>
          <p:nvPr/>
        </p:nvCxnSpPr>
        <p:spPr bwMode="auto">
          <a:xfrm rot="10800000">
            <a:off x="763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08" name="弧形接點 107"/>
          <p:cNvCxnSpPr>
            <a:stCxn id="100" idx="2"/>
            <a:endCxn id="96" idx="2"/>
          </p:cNvCxnSpPr>
          <p:nvPr/>
        </p:nvCxnSpPr>
        <p:spPr bwMode="auto">
          <a:xfrm rot="10800000" flipH="1">
            <a:off x="763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09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4" name="AutoShape 56"/>
          <p:cNvCxnSpPr>
            <a:cxnSpLocks noChangeShapeType="1"/>
            <a:stCxn id="11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1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17" name="AutoShape 56"/>
          <p:cNvCxnSpPr>
            <a:cxnSpLocks noChangeShapeType="1"/>
            <a:stCxn id="115" idx="4"/>
            <a:endCxn id="11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19" name="AutoShape 56"/>
          <p:cNvCxnSpPr>
            <a:cxnSpLocks noChangeShapeType="1"/>
          </p:cNvCxnSpPr>
          <p:nvPr/>
        </p:nvCxnSpPr>
        <p:spPr bwMode="auto">
          <a:xfrm>
            <a:off x="5652000" y="2349000"/>
            <a:ext cx="0" cy="108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20" name="弧形接點 119"/>
          <p:cNvCxnSpPr>
            <a:stCxn id="112" idx="6"/>
            <a:endCxn id="11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1" name="弧形接點 120"/>
          <p:cNvCxnSpPr>
            <a:stCxn id="111" idx="2"/>
            <a:endCxn id="109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2" name="弧形接點 121"/>
          <p:cNvCxnSpPr>
            <a:stCxn id="110" idx="2"/>
            <a:endCxn id="115" idx="2"/>
          </p:cNvCxnSpPr>
          <p:nvPr/>
        </p:nvCxnSpPr>
        <p:spPr bwMode="auto">
          <a:xfrm rot="10800000">
            <a:off x="547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23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24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25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26" name="AutoShape 56"/>
          <p:cNvCxnSpPr>
            <a:cxnSpLocks noChangeShapeType="1"/>
            <a:stCxn id="130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27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28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29" name="AutoShape 56"/>
          <p:cNvCxnSpPr>
            <a:cxnSpLocks noChangeShapeType="1"/>
            <a:stCxn id="127" idx="4"/>
            <a:endCxn id="128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0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1" name="AutoShape 56"/>
          <p:cNvCxnSpPr>
            <a:cxnSpLocks noChangeShapeType="1"/>
          </p:cNvCxnSpPr>
          <p:nvPr/>
        </p:nvCxnSpPr>
        <p:spPr bwMode="auto">
          <a:xfrm>
            <a:off x="133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32" name="弧形接點 131"/>
          <p:cNvCxnSpPr>
            <a:stCxn id="124" idx="2"/>
            <a:endCxn id="123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33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w</a:t>
            </a:r>
          </a:p>
        </p:txBody>
      </p:sp>
      <p:sp>
        <p:nvSpPr>
          <p:cNvPr id="134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5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36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7" name="AutoShape 56"/>
          <p:cNvCxnSpPr>
            <a:cxnSpLocks noChangeShapeType="1"/>
            <a:stCxn id="141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8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39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40" name="AutoShape 56"/>
          <p:cNvCxnSpPr>
            <a:cxnSpLocks noChangeShapeType="1"/>
            <a:stCxn id="138" idx="4"/>
            <a:endCxn id="139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1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42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43" name="弧形接點 142"/>
          <p:cNvCxnSpPr>
            <a:stCxn id="135" idx="6"/>
            <a:endCxn id="139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4" name="弧形接點 143"/>
          <p:cNvCxnSpPr>
            <a:stCxn id="134" idx="2"/>
            <a:endCxn id="133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716812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low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u ] = -1;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86146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low[ v ] )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if( v != parent[ u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d[ v ] )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1774516"/>
              </p:ext>
            </p:extLst>
          </p:nvPr>
        </p:nvGraphicFramePr>
        <p:xfrm>
          <a:off x="972000" y="4869000"/>
          <a:ext cx="486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324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l"/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+mn-cs"/>
                        </a:rPr>
                        <a:t>=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zh-TW" sz="2200" dirty="0" smtClean="0"/>
                        <a:t>min</a:t>
                      </a:r>
                      <a:endParaRPr lang="zh-TW" altLang="en-US" sz="22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2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2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2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2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2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2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93716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low[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if( v != parent[ u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FFFF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d[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cxnSp>
        <p:nvCxnSpPr>
          <p:cNvPr id="6" name="AutoShape 57"/>
          <p:cNvCxnSpPr>
            <a:cxnSpLocks noChangeShapeType="1"/>
          </p:cNvCxnSpPr>
          <p:nvPr/>
        </p:nvCxnSpPr>
        <p:spPr bwMode="auto">
          <a:xfrm flipH="1" flipV="1">
            <a:off x="619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" name="AutoShape 56"/>
          <p:cNvCxnSpPr>
            <a:cxnSpLocks noChangeShapeType="1"/>
          </p:cNvCxnSpPr>
          <p:nvPr/>
        </p:nvCxnSpPr>
        <p:spPr bwMode="auto">
          <a:xfrm flipV="1">
            <a:off x="5472000" y="468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AutoShape 57"/>
          <p:cNvCxnSpPr>
            <a:cxnSpLocks noChangeShapeType="1"/>
          </p:cNvCxnSpPr>
          <p:nvPr/>
        </p:nvCxnSpPr>
        <p:spPr bwMode="auto">
          <a:xfrm flipH="1" flipV="1">
            <a:off x="7632000" y="324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" name="Line 40"/>
          <p:cNvSpPr>
            <a:spLocks noChangeShapeType="1"/>
          </p:cNvSpPr>
          <p:nvPr/>
        </p:nvSpPr>
        <p:spPr bwMode="auto">
          <a:xfrm>
            <a:off x="709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>
            <a:off x="529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 flipV="1">
            <a:off x="6552000" y="25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" name="AutoShape 57"/>
          <p:cNvCxnSpPr>
            <a:cxnSpLocks noChangeShapeType="1"/>
          </p:cNvCxnSpPr>
          <p:nvPr/>
        </p:nvCxnSpPr>
        <p:spPr bwMode="auto">
          <a:xfrm flipH="1" flipV="1">
            <a:off x="6192000" y="180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" name="Oval 39"/>
          <p:cNvSpPr>
            <a:spLocks noChangeArrowheads="1"/>
          </p:cNvSpPr>
          <p:nvPr/>
        </p:nvSpPr>
        <p:spPr bwMode="auto">
          <a:xfrm>
            <a:off x="69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49"/>
          <p:cNvSpPr>
            <a:spLocks noChangeArrowheads="1"/>
          </p:cNvSpPr>
          <p:nvPr/>
        </p:nvSpPr>
        <p:spPr bwMode="auto">
          <a:xfrm>
            <a:off x="565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6" name="Oval 50"/>
          <p:cNvSpPr>
            <a:spLocks noChangeArrowheads="1"/>
          </p:cNvSpPr>
          <p:nvPr/>
        </p:nvSpPr>
        <p:spPr bwMode="auto">
          <a:xfrm>
            <a:off x="745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6372000" y="30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5292000" y="180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6012000" y="16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5112000" y="23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auto">
          <a:xfrm>
            <a:off x="6732000" y="396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 flipV="1">
            <a:off x="6192000" y="396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Line 40"/>
          <p:cNvSpPr>
            <a:spLocks noChangeShapeType="1"/>
          </p:cNvSpPr>
          <p:nvPr/>
        </p:nvSpPr>
        <p:spPr bwMode="auto">
          <a:xfrm flipV="1">
            <a:off x="7992000" y="396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39"/>
          <p:cNvSpPr>
            <a:spLocks noChangeArrowheads="1"/>
          </p:cNvSpPr>
          <p:nvPr/>
        </p:nvSpPr>
        <p:spPr bwMode="auto">
          <a:xfrm>
            <a:off x="83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5" name="Oval 49"/>
          <p:cNvSpPr>
            <a:spLocks noChangeArrowheads="1"/>
          </p:cNvSpPr>
          <p:nvPr/>
        </p:nvSpPr>
        <p:spPr bwMode="auto">
          <a:xfrm>
            <a:off x="709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6" name="Oval 51"/>
          <p:cNvSpPr>
            <a:spLocks noChangeArrowheads="1"/>
          </p:cNvSpPr>
          <p:nvPr/>
        </p:nvSpPr>
        <p:spPr bwMode="auto">
          <a:xfrm>
            <a:off x="60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Oval 52"/>
          <p:cNvSpPr>
            <a:spLocks noChangeArrowheads="1"/>
          </p:cNvSpPr>
          <p:nvPr/>
        </p:nvSpPr>
        <p:spPr bwMode="auto">
          <a:xfrm>
            <a:off x="7812000" y="45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8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691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Line 40"/>
          <p:cNvSpPr>
            <a:spLocks noChangeShapeType="1"/>
          </p:cNvSpPr>
          <p:nvPr/>
        </p:nvSpPr>
        <p:spPr bwMode="auto">
          <a:xfrm>
            <a:off x="547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1" name="AutoShape 56"/>
          <p:cNvCxnSpPr>
            <a:cxnSpLocks noChangeShapeType="1"/>
          </p:cNvCxnSpPr>
          <p:nvPr/>
        </p:nvCxnSpPr>
        <p:spPr bwMode="auto">
          <a:xfrm flipV="1">
            <a:off x="5112000" y="540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" name="Line 40"/>
          <p:cNvSpPr>
            <a:spLocks noChangeShapeType="1"/>
          </p:cNvSpPr>
          <p:nvPr/>
        </p:nvSpPr>
        <p:spPr bwMode="auto">
          <a:xfrm flipV="1">
            <a:off x="6552000" y="540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3" name="Oval 39"/>
          <p:cNvSpPr>
            <a:spLocks noChangeArrowheads="1"/>
          </p:cNvSpPr>
          <p:nvPr/>
        </p:nvSpPr>
        <p:spPr bwMode="auto">
          <a:xfrm>
            <a:off x="673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Oval 49"/>
          <p:cNvSpPr>
            <a:spLocks noChangeArrowheads="1"/>
          </p:cNvSpPr>
          <p:nvPr/>
        </p:nvSpPr>
        <p:spPr bwMode="auto">
          <a:xfrm>
            <a:off x="565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50"/>
          <p:cNvSpPr>
            <a:spLocks noChangeArrowheads="1"/>
          </p:cNvSpPr>
          <p:nvPr/>
        </p:nvSpPr>
        <p:spPr bwMode="auto">
          <a:xfrm>
            <a:off x="709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51"/>
          <p:cNvSpPr>
            <a:spLocks noChangeArrowheads="1"/>
          </p:cNvSpPr>
          <p:nvPr/>
        </p:nvSpPr>
        <p:spPr bwMode="auto">
          <a:xfrm>
            <a:off x="493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2"/>
          <p:cNvSpPr>
            <a:spLocks noChangeArrowheads="1"/>
          </p:cNvSpPr>
          <p:nvPr/>
        </p:nvSpPr>
        <p:spPr bwMode="auto">
          <a:xfrm>
            <a:off x="6372000" y="59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5292000" y="52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9" name="弧形接點 38"/>
          <p:cNvCxnSpPr>
            <a:stCxn id="24" idx="0"/>
            <a:endCxn id="19" idx="6"/>
          </p:cNvCxnSpPr>
          <p:nvPr/>
        </p:nvCxnSpPr>
        <p:spPr bwMode="auto">
          <a:xfrm rot="16200000" flipV="1">
            <a:off x="6462000" y="171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0" name="直線單箭頭接點 39"/>
          <p:cNvCxnSpPr>
            <a:stCxn id="15" idx="0"/>
            <a:endCxn id="19" idx="4"/>
          </p:cNvCxnSpPr>
          <p:nvPr/>
        </p:nvCxnSpPr>
        <p:spPr bwMode="auto">
          <a:xfrm flipV="1">
            <a:off x="5832000" y="19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直線單箭頭接點 40"/>
          <p:cNvCxnSpPr>
            <a:stCxn id="17" idx="0"/>
            <a:endCxn id="19" idx="4"/>
          </p:cNvCxnSpPr>
          <p:nvPr/>
        </p:nvCxnSpPr>
        <p:spPr bwMode="auto">
          <a:xfrm flipH="1" flipV="1">
            <a:off x="6192000" y="19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2" name="直線單箭頭接點 41"/>
          <p:cNvCxnSpPr>
            <a:stCxn id="27" idx="0"/>
            <a:endCxn id="16" idx="4"/>
          </p:cNvCxnSpPr>
          <p:nvPr/>
        </p:nvCxnSpPr>
        <p:spPr bwMode="auto">
          <a:xfrm flipH="1" flipV="1">
            <a:off x="7632000" y="342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3" name="直線單箭頭接點 42"/>
          <p:cNvCxnSpPr>
            <a:stCxn id="37" idx="0"/>
            <a:endCxn id="28" idx="4"/>
          </p:cNvCxnSpPr>
          <p:nvPr/>
        </p:nvCxnSpPr>
        <p:spPr bwMode="auto">
          <a:xfrm flipV="1">
            <a:off x="6552000" y="4149000"/>
            <a:ext cx="180000" cy="180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4" name="直線單箭頭接點 43"/>
          <p:cNvCxnSpPr>
            <a:stCxn id="34" idx="0"/>
            <a:endCxn id="26" idx="4"/>
          </p:cNvCxnSpPr>
          <p:nvPr/>
        </p:nvCxnSpPr>
        <p:spPr bwMode="auto">
          <a:xfrm flipV="1">
            <a:off x="5832000" y="4869000"/>
            <a:ext cx="360000" cy="108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5" name="弧形接點 44"/>
          <p:cNvCxnSpPr>
            <a:stCxn id="36" idx="0"/>
            <a:endCxn id="28" idx="2"/>
          </p:cNvCxnSpPr>
          <p:nvPr/>
        </p:nvCxnSpPr>
        <p:spPr bwMode="auto">
          <a:xfrm rot="5400000" flipH="1" flipV="1">
            <a:off x="4842000" y="423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0330042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low[ v ] )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if( v != parent[ u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chemeClr val="bg1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u ] = min( low[ u ], d[ v ] )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91104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computeLow(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computeLow(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spcBef>
                <a:spcPts val="0"/>
              </a:spcBef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0452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64162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624248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3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72615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2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19642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90407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4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557518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5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4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79227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4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67381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210405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444407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309379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58791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9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190984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9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10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041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9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36808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99619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11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329822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57488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028925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13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7984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12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07746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7680413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662370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126604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0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1809549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17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460731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16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521845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510867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404879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4" name="直線單箭頭接點 83"/>
          <p:cNvCxnSpPr/>
          <p:nvPr/>
        </p:nvCxnSpPr>
        <p:spPr bwMode="auto">
          <a:xfrm flipV="1">
            <a:off x="6012000" y="414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3" name="直線單箭頭接點 82"/>
          <p:cNvCxnSpPr/>
          <p:nvPr/>
        </p:nvCxnSpPr>
        <p:spPr bwMode="auto">
          <a:xfrm flipV="1">
            <a:off x="6732000" y="3429000"/>
            <a:ext cx="180000" cy="216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2" name="直線單箭頭接點 81"/>
          <p:cNvCxnSpPr/>
          <p:nvPr/>
        </p:nvCxnSpPr>
        <p:spPr bwMode="auto">
          <a:xfrm flipH="1" flipV="1">
            <a:off x="7812000" y="270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0" name="直線單箭頭接點 79"/>
          <p:cNvCxnSpPr/>
          <p:nvPr/>
        </p:nvCxnSpPr>
        <p:spPr bwMode="auto">
          <a:xfrm flipV="1">
            <a:off x="601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/>
          <p:nvPr/>
        </p:nvCxnSpPr>
        <p:spPr bwMode="auto">
          <a:xfrm flipH="1" flipV="1">
            <a:off x="6372000" y="1269000"/>
            <a:ext cx="360000" cy="1440000"/>
          </a:xfrm>
          <a:prstGeom prst="straightConnector1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  <p:graphicFrame>
        <p:nvGraphicFramePr>
          <p:cNvPr id="45" name="表格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348446"/>
              </p:ext>
            </p:extLst>
          </p:nvPr>
        </p:nvGraphicFramePr>
        <p:xfrm>
          <a:off x="252000" y="5049000"/>
          <a:ext cx="4500000" cy="108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0000">
                  <a:extLst>
                    <a:ext uri="{9D8B030D-6E8A-4147-A177-3AD203B41FA5}">
                      <a16:colId xmlns:a16="http://schemas.microsoft.com/office/drawing/2014/main" val="1702914097"/>
                    </a:ext>
                  </a:extLst>
                </a:gridCol>
                <a:gridCol w="180000">
                  <a:extLst>
                    <a:ext uri="{9D8B030D-6E8A-4147-A177-3AD203B41FA5}">
                      <a16:colId xmlns:a16="http://schemas.microsoft.com/office/drawing/2014/main" val="2299715960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560158838"/>
                    </a:ext>
                  </a:extLst>
                </a:gridCol>
              </a:tblGrid>
              <a:tr h="360000">
                <a:tc rowSpan="3">
                  <a:txBody>
                    <a:bodyPr/>
                    <a:lstStyle/>
                    <a:p>
                      <a:pPr algn="r"/>
                      <a:r>
                        <a:rPr lang="en-US" altLang="zh-TW" sz="2000" i="1" dirty="0" err="1" smtClean="0"/>
                        <a:t>u</a:t>
                      </a:r>
                      <a:r>
                        <a:rPr lang="en-US" altLang="zh-TW" sz="2000" dirty="0" err="1" smtClean="0"/>
                        <a:t>.</a:t>
                      </a:r>
                      <a:r>
                        <a:rPr lang="en-US" altLang="zh-TW" sz="2000" i="1" dirty="0" err="1" smtClean="0"/>
                        <a:t>low</a:t>
                      </a:r>
                      <a:r>
                        <a:rPr lang="en-US" altLang="zh-TW" sz="2000" dirty="0" smtClean="0"/>
                        <a:t> </a:t>
                      </a:r>
                      <a:r>
                        <a:rPr lang="en-US" altLang="zh-TW" sz="2000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a:t>=</a:t>
                      </a:r>
                      <a:r>
                        <a:rPr lang="en-US" altLang="zh-TW" sz="2000" dirty="0" smtClean="0"/>
                        <a:t> min</a:t>
                      </a:r>
                      <a:endParaRPr lang="zh-TW" altLang="en-US" sz="2000" dirty="0"/>
                    </a:p>
                  </a:txBody>
                  <a:tcPr marL="0" marR="0" marT="0" marB="7200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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</a:t>
                      </a:r>
                      <a:endParaRPr lang="en-US" altLang="zh-TW" sz="2400" b="1" dirty="0" smtClean="0">
                        <a:sym typeface="Symbol" panose="05050102010706020507" pitchFamily="18" charset="2"/>
                      </a:endParaRPr>
                    </a:p>
                    <a:p>
                      <a:pPr>
                        <a:lnSpc>
                          <a:spcPts val="2400"/>
                        </a:lnSpc>
                      </a:pPr>
                      <a:r>
                        <a:rPr lang="zh-TW" altLang="en-US" sz="2400" b="1" dirty="0" smtClean="0">
                          <a:sym typeface="Symbol" panose="05050102010706020507" pitchFamily="18" charset="2"/>
                        </a:rPr>
                        <a:t></a:t>
                      </a:r>
                      <a:endParaRPr lang="zh-TW" altLang="en-US" sz="2400" b="1" dirty="0"/>
                    </a:p>
                  </a:txBody>
                  <a:tcPr marL="36000" marR="0" marT="10800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2000" b="0" i="1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u.d</a:t>
                      </a:r>
                      <a:r>
                        <a:rPr kumimoji="0" lang="en-US" altLang="zh-TW" sz="20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endParaRPr kumimoji="0" lang="zh-TW" alt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35913129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w.d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(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) is a 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back edge,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9032565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r>
                        <a:rPr kumimoji="1" lang="en-US" altLang="zh-TW" sz="2000" b="0" i="1" u="none" strike="noStrike" kern="0" cap="none" spc="0" normalizeH="0" baseline="0" noProof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v.low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: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v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 is a child of </a:t>
                      </a:r>
                      <a:r>
                        <a:rPr kumimoji="1" lang="en-US" altLang="zh-TW" sz="2000" b="0" i="1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u</a:t>
                      </a:r>
                      <a:r>
                        <a:rPr kumimoji="1" lang="en-US" altLang="zh-TW" sz="2000" b="0" i="0" u="none" strike="noStrike" kern="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Symbol" pitchFamily="18" charset="2"/>
                        </a:rPr>
                        <a:t>.</a:t>
                      </a:r>
                      <a:endParaRPr lang="zh-TW" altLang="en-US" sz="2000" dirty="0">
                        <a:latin typeface="+mn-lt"/>
                      </a:endParaRPr>
                    </a:p>
                  </a:txBody>
                  <a:tcPr marL="72000" marR="0" marT="0" marB="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05387946"/>
                  </a:ext>
                </a:extLst>
              </a:tr>
            </a:tbl>
          </a:graphicData>
        </a:graphic>
      </p:graphicFrame>
      <p:cxnSp>
        <p:nvCxnSpPr>
          <p:cNvPr id="46" name="AutoShape 57"/>
          <p:cNvCxnSpPr>
            <a:cxnSpLocks noChangeShapeType="1"/>
          </p:cNvCxnSpPr>
          <p:nvPr/>
        </p:nvCxnSpPr>
        <p:spPr bwMode="auto">
          <a:xfrm flipH="1" flipV="1">
            <a:off x="637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</p:cNvCxnSpPr>
          <p:nvPr/>
        </p:nvCxnSpPr>
        <p:spPr bwMode="auto">
          <a:xfrm flipV="1">
            <a:off x="5652000" y="4149000"/>
            <a:ext cx="72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7"/>
          <p:cNvCxnSpPr>
            <a:cxnSpLocks noChangeShapeType="1"/>
          </p:cNvCxnSpPr>
          <p:nvPr/>
        </p:nvCxnSpPr>
        <p:spPr bwMode="auto">
          <a:xfrm flipH="1" flipV="1">
            <a:off x="78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</p:cNvCxnSpPr>
          <p:nvPr/>
        </p:nvCxnSpPr>
        <p:spPr bwMode="auto">
          <a:xfrm flipV="1">
            <a:off x="6912000" y="2709000"/>
            <a:ext cx="90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Line 40"/>
          <p:cNvSpPr>
            <a:spLocks noChangeShapeType="1"/>
          </p:cNvSpPr>
          <p:nvPr/>
        </p:nvSpPr>
        <p:spPr bwMode="auto">
          <a:xfrm>
            <a:off x="72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Line 40"/>
          <p:cNvSpPr>
            <a:spLocks noChangeShapeType="1"/>
          </p:cNvSpPr>
          <p:nvPr/>
        </p:nvSpPr>
        <p:spPr bwMode="auto">
          <a:xfrm>
            <a:off x="547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2" name="Line 40"/>
          <p:cNvSpPr>
            <a:spLocks noChangeShapeType="1"/>
          </p:cNvSpPr>
          <p:nvPr/>
        </p:nvSpPr>
        <p:spPr bwMode="auto">
          <a:xfrm flipV="1">
            <a:off x="6732000" y="198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3" name="AutoShape 57"/>
          <p:cNvCxnSpPr>
            <a:cxnSpLocks noChangeShapeType="1"/>
          </p:cNvCxnSpPr>
          <p:nvPr/>
        </p:nvCxnSpPr>
        <p:spPr bwMode="auto">
          <a:xfrm flipH="1" flipV="1">
            <a:off x="6372000" y="1269000"/>
            <a:ext cx="912210" cy="724744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4" name="Oval 39"/>
          <p:cNvSpPr>
            <a:spLocks noChangeArrowheads="1"/>
          </p:cNvSpPr>
          <p:nvPr/>
        </p:nvSpPr>
        <p:spPr bwMode="auto">
          <a:xfrm>
            <a:off x="70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4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5" name="Oval 49"/>
          <p:cNvSpPr>
            <a:spLocks noChangeArrowheads="1"/>
          </p:cNvSpPr>
          <p:nvPr/>
        </p:nvSpPr>
        <p:spPr bwMode="auto">
          <a:xfrm>
            <a:off x="58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763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6552000" y="252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5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8" name="AutoShape 56"/>
          <p:cNvCxnSpPr>
            <a:cxnSpLocks noChangeShapeType="1"/>
          </p:cNvCxnSpPr>
          <p:nvPr/>
        </p:nvCxnSpPr>
        <p:spPr bwMode="auto">
          <a:xfrm flipV="1">
            <a:off x="5472000" y="1269002"/>
            <a:ext cx="900000" cy="719998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9" name="Oval 39"/>
          <p:cNvSpPr>
            <a:spLocks noChangeArrowheads="1"/>
          </p:cNvSpPr>
          <p:nvPr/>
        </p:nvSpPr>
        <p:spPr bwMode="auto">
          <a:xfrm>
            <a:off x="6192000" y="10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0" name="Oval 51"/>
          <p:cNvSpPr>
            <a:spLocks noChangeArrowheads="1"/>
          </p:cNvSpPr>
          <p:nvPr/>
        </p:nvSpPr>
        <p:spPr bwMode="auto">
          <a:xfrm>
            <a:off x="5292000" y="18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Line 40"/>
          <p:cNvSpPr>
            <a:spLocks noChangeShapeType="1"/>
          </p:cNvSpPr>
          <p:nvPr/>
        </p:nvSpPr>
        <p:spPr bwMode="auto">
          <a:xfrm>
            <a:off x="691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2" name="AutoShape 56"/>
          <p:cNvCxnSpPr>
            <a:cxnSpLocks noChangeShapeType="1"/>
          </p:cNvCxnSpPr>
          <p:nvPr/>
        </p:nvCxnSpPr>
        <p:spPr bwMode="auto">
          <a:xfrm flipV="1">
            <a:off x="6372000" y="3429000"/>
            <a:ext cx="54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3" name="Line 40"/>
          <p:cNvSpPr>
            <a:spLocks noChangeShapeType="1"/>
          </p:cNvSpPr>
          <p:nvPr/>
        </p:nvSpPr>
        <p:spPr bwMode="auto">
          <a:xfrm flipV="1">
            <a:off x="8172000" y="3429000"/>
            <a:ext cx="54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4" name="Oval 39"/>
          <p:cNvSpPr>
            <a:spLocks noChangeArrowheads="1"/>
          </p:cNvSpPr>
          <p:nvPr/>
        </p:nvSpPr>
        <p:spPr bwMode="auto">
          <a:xfrm>
            <a:off x="85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16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5" name="Oval 49"/>
          <p:cNvSpPr>
            <a:spLocks noChangeArrowheads="1"/>
          </p:cNvSpPr>
          <p:nvPr/>
        </p:nvSpPr>
        <p:spPr bwMode="auto">
          <a:xfrm>
            <a:off x="727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61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8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Oval 52"/>
          <p:cNvSpPr>
            <a:spLocks noChangeArrowheads="1"/>
          </p:cNvSpPr>
          <p:nvPr/>
        </p:nvSpPr>
        <p:spPr bwMode="auto">
          <a:xfrm>
            <a:off x="7992000" y="396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17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8" name="Oval 51"/>
          <p:cNvSpPr>
            <a:spLocks noChangeArrowheads="1"/>
          </p:cNvSpPr>
          <p:nvPr/>
        </p:nvSpPr>
        <p:spPr bwMode="auto">
          <a:xfrm>
            <a:off x="6732000" y="324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9" name="Line 40"/>
          <p:cNvSpPr>
            <a:spLocks noChangeShapeType="1"/>
          </p:cNvSpPr>
          <p:nvPr/>
        </p:nvSpPr>
        <p:spPr bwMode="auto">
          <a:xfrm>
            <a:off x="709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Line 40"/>
          <p:cNvSpPr>
            <a:spLocks noChangeShapeType="1"/>
          </p:cNvSpPr>
          <p:nvPr/>
        </p:nvSpPr>
        <p:spPr bwMode="auto">
          <a:xfrm>
            <a:off x="565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1" name="AutoShape 56"/>
          <p:cNvCxnSpPr>
            <a:cxnSpLocks noChangeShapeType="1"/>
          </p:cNvCxnSpPr>
          <p:nvPr/>
        </p:nvCxnSpPr>
        <p:spPr bwMode="auto">
          <a:xfrm flipV="1">
            <a:off x="5292000" y="4869000"/>
            <a:ext cx="360000" cy="720000"/>
          </a:xfrm>
          <a:prstGeom prst="straightConnector1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2" name="Line 40"/>
          <p:cNvSpPr>
            <a:spLocks noChangeShapeType="1"/>
          </p:cNvSpPr>
          <p:nvPr/>
        </p:nvSpPr>
        <p:spPr bwMode="auto">
          <a:xfrm flipV="1">
            <a:off x="6732000" y="4869000"/>
            <a:ext cx="360000" cy="72000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3" name="Oval 39"/>
          <p:cNvSpPr>
            <a:spLocks noChangeArrowheads="1"/>
          </p:cNvSpPr>
          <p:nvPr/>
        </p:nvSpPr>
        <p:spPr bwMode="auto">
          <a:xfrm>
            <a:off x="691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4" name="Oval 49"/>
          <p:cNvSpPr>
            <a:spLocks noChangeArrowheads="1"/>
          </p:cNvSpPr>
          <p:nvPr/>
        </p:nvSpPr>
        <p:spPr bwMode="auto">
          <a:xfrm>
            <a:off x="583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5" name="Oval 50"/>
          <p:cNvSpPr>
            <a:spLocks noChangeArrowheads="1"/>
          </p:cNvSpPr>
          <p:nvPr/>
        </p:nvSpPr>
        <p:spPr bwMode="auto">
          <a:xfrm>
            <a:off x="727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14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6" name="Oval 51"/>
          <p:cNvSpPr>
            <a:spLocks noChangeArrowheads="1"/>
          </p:cNvSpPr>
          <p:nvPr/>
        </p:nvSpPr>
        <p:spPr bwMode="auto">
          <a:xfrm>
            <a:off x="511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7" name="Oval 52"/>
          <p:cNvSpPr>
            <a:spLocks noChangeArrowheads="1"/>
          </p:cNvSpPr>
          <p:nvPr/>
        </p:nvSpPr>
        <p:spPr bwMode="auto">
          <a:xfrm>
            <a:off x="6552000" y="540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8" name="Oval 51"/>
          <p:cNvSpPr>
            <a:spLocks noChangeArrowheads="1"/>
          </p:cNvSpPr>
          <p:nvPr/>
        </p:nvSpPr>
        <p:spPr bwMode="auto">
          <a:xfrm>
            <a:off x="5472000" y="4689000"/>
            <a:ext cx="360000" cy="36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9" name="弧形接點 78"/>
          <p:cNvCxnSpPr>
            <a:stCxn id="64" idx="0"/>
            <a:endCxn id="59" idx="6"/>
          </p:cNvCxnSpPr>
          <p:nvPr/>
        </p:nvCxnSpPr>
        <p:spPr bwMode="auto">
          <a:xfrm rot="16200000" flipV="1">
            <a:off x="6642000" y="1179000"/>
            <a:ext cx="1980000" cy="216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5" name="弧形接點 84"/>
          <p:cNvCxnSpPr>
            <a:stCxn id="76" idx="0"/>
            <a:endCxn id="68" idx="2"/>
          </p:cNvCxnSpPr>
          <p:nvPr/>
        </p:nvCxnSpPr>
        <p:spPr bwMode="auto">
          <a:xfrm rot="5400000" flipH="1" flipV="1">
            <a:off x="5022000" y="3699000"/>
            <a:ext cx="1980000" cy="1440000"/>
          </a:xfrm>
          <a:prstGeom prst="curvedConnector2">
            <a:avLst/>
          </a:prstGeom>
          <a:solidFill>
            <a:schemeClr val="accent1"/>
          </a:solidFill>
          <a:ln w="1905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86" name="矩形 85"/>
          <p:cNvSpPr/>
          <p:nvPr/>
        </p:nvSpPr>
        <p:spPr bwMode="auto">
          <a:xfrm>
            <a:off x="6192000" y="7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8" name="矩形 87"/>
          <p:cNvSpPr/>
          <p:nvPr/>
        </p:nvSpPr>
        <p:spPr bwMode="auto">
          <a:xfrm>
            <a:off x="493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89" name="矩形 88"/>
          <p:cNvSpPr/>
          <p:nvPr/>
        </p:nvSpPr>
        <p:spPr bwMode="auto">
          <a:xfrm>
            <a:off x="547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0" name="矩形 89"/>
          <p:cNvSpPr/>
          <p:nvPr/>
        </p:nvSpPr>
        <p:spPr bwMode="auto">
          <a:xfrm>
            <a:off x="691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1" name="矩形 90"/>
          <p:cNvSpPr/>
          <p:nvPr/>
        </p:nvSpPr>
        <p:spPr bwMode="auto">
          <a:xfrm>
            <a:off x="7452000" y="180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2" name="矩形 91"/>
          <p:cNvSpPr/>
          <p:nvPr/>
        </p:nvSpPr>
        <p:spPr bwMode="auto">
          <a:xfrm>
            <a:off x="7992000" y="25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3" name="矩形 92"/>
          <p:cNvSpPr/>
          <p:nvPr/>
        </p:nvSpPr>
        <p:spPr bwMode="auto">
          <a:xfrm>
            <a:off x="709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4" name="矩形 93"/>
          <p:cNvSpPr/>
          <p:nvPr/>
        </p:nvSpPr>
        <p:spPr bwMode="auto">
          <a:xfrm>
            <a:off x="583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5" name="矩形 94"/>
          <p:cNvSpPr/>
          <p:nvPr/>
        </p:nvSpPr>
        <p:spPr bwMode="auto">
          <a:xfrm>
            <a:off x="583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6" name="矩形 95"/>
          <p:cNvSpPr/>
          <p:nvPr/>
        </p:nvSpPr>
        <p:spPr bwMode="auto">
          <a:xfrm>
            <a:off x="7272000" y="468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7" name="矩形 96"/>
          <p:cNvSpPr/>
          <p:nvPr/>
        </p:nvSpPr>
        <p:spPr bwMode="auto">
          <a:xfrm>
            <a:off x="6912000" y="39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15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8" name="矩形 97"/>
          <p:cNvSpPr/>
          <p:nvPr/>
        </p:nvSpPr>
        <p:spPr bwMode="auto">
          <a:xfrm>
            <a:off x="8172000" y="324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99" name="矩形 98"/>
          <p:cNvSpPr/>
          <p:nvPr/>
        </p:nvSpPr>
        <p:spPr bwMode="auto">
          <a:xfrm>
            <a:off x="7992000" y="432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6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0" name="矩形 99"/>
          <p:cNvSpPr/>
          <p:nvPr/>
        </p:nvSpPr>
        <p:spPr bwMode="auto">
          <a:xfrm>
            <a:off x="511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1" name="矩形 100"/>
          <p:cNvSpPr/>
          <p:nvPr/>
        </p:nvSpPr>
        <p:spPr bwMode="auto">
          <a:xfrm>
            <a:off x="583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8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2" name="矩形 101"/>
          <p:cNvSpPr/>
          <p:nvPr/>
        </p:nvSpPr>
        <p:spPr bwMode="auto">
          <a:xfrm>
            <a:off x="655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7</a:t>
            </a:r>
            <a:endParaRPr kumimoji="1" lang="zh-TW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  <p:sp>
        <p:nvSpPr>
          <p:cNvPr id="103" name="矩形 102"/>
          <p:cNvSpPr/>
          <p:nvPr/>
        </p:nvSpPr>
        <p:spPr bwMode="auto">
          <a:xfrm>
            <a:off x="7272000" y="5769000"/>
            <a:ext cx="360000" cy="360000"/>
          </a:xfrm>
          <a:prstGeom prst="rect">
            <a:avLst/>
          </a:prstGeom>
          <a:noFill/>
          <a:ln w="19050">
            <a:noFill/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36000" rIns="91440" bIns="3600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en-US" altLang="zh-TW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新細明體" pitchFamily="18" charset="-120"/>
              </a:rPr>
              <a:t>14</a:t>
            </a:r>
            <a:endParaRPr kumimoji="1" lang="zh-TW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16954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low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u ] = -1;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088578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96954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49424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"Bridges:\n\n"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parent[ v ] == u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&gt; d[ u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marL="0" lvl="0" indent="0">
              <a:buClr>
                <a:srgbClr val="000000"/>
              </a:buClr>
            </a:pPr>
            <a:r>
              <a:rPr lang="en-US" altLang="zh-TW" sz="2200" i="1" dirty="0">
                <a:solidFill>
                  <a:srgbClr val="0000FF"/>
                </a:solidFill>
                <a:sym typeface="Symbol" pitchFamily="18" charset="2"/>
              </a:rPr>
              <a:t>Theorem</a:t>
            </a:r>
            <a:r>
              <a:rPr lang="en-US" altLang="zh-TW" sz="2200" dirty="0">
                <a:solidFill>
                  <a:srgbClr val="000000"/>
                </a:solidFill>
                <a:sym typeface="Symbol" pitchFamily="18" charset="2"/>
              </a:rPr>
              <a:t>  </a:t>
            </a:r>
            <a:r>
              <a:rPr lang="en-US" altLang="zh-TW" sz="2200" dirty="0">
                <a:solidFill>
                  <a:srgbClr val="000000"/>
                </a:solidFill>
              </a:rPr>
              <a:t>Let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be an edge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such that 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 is the parent of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 in </a:t>
            </a:r>
            <a:r>
              <a:rPr lang="en-US" altLang="zh-TW" sz="2200" i="1" dirty="0">
                <a:solidFill>
                  <a:srgbClr val="000000"/>
                </a:solidFill>
              </a:rPr>
              <a:t>T</a:t>
            </a:r>
            <a:r>
              <a:rPr lang="en-US" altLang="zh-TW" sz="2200" dirty="0">
                <a:solidFill>
                  <a:srgbClr val="000000"/>
                </a:solidFill>
              </a:rPr>
              <a:t>. Then {</a:t>
            </a:r>
            <a:r>
              <a:rPr lang="en-US" altLang="zh-TW" sz="2200" i="1" dirty="0">
                <a:solidFill>
                  <a:srgbClr val="000000"/>
                </a:solidFill>
              </a:rPr>
              <a:t>u</a:t>
            </a:r>
            <a:r>
              <a:rPr lang="en-US" altLang="zh-TW" sz="2200" dirty="0">
                <a:solidFill>
                  <a:srgbClr val="000000"/>
                </a:solidFill>
              </a:rPr>
              <a:t>, </a:t>
            </a:r>
            <a:r>
              <a:rPr lang="en-US" altLang="zh-TW" sz="2200" i="1" dirty="0">
                <a:solidFill>
                  <a:srgbClr val="000000"/>
                </a:solidFill>
              </a:rPr>
              <a:t>v</a:t>
            </a:r>
            <a:r>
              <a:rPr lang="en-US" altLang="zh-TW" sz="2200" dirty="0">
                <a:solidFill>
                  <a:srgbClr val="000000"/>
                </a:solidFill>
              </a:rPr>
              <a:t>} is a bridge of </a:t>
            </a:r>
            <a:r>
              <a:rPr lang="en-US" altLang="zh-TW" sz="2200" i="1" dirty="0">
                <a:solidFill>
                  <a:srgbClr val="000000"/>
                </a:solidFill>
              </a:rPr>
              <a:t>G</a:t>
            </a:r>
            <a:r>
              <a:rPr lang="en-US" altLang="zh-TW" sz="2200" dirty="0">
                <a:solidFill>
                  <a:srgbClr val="000000"/>
                </a:solidFill>
              </a:rPr>
              <a:t> if and only if </a:t>
            </a:r>
            <a:r>
              <a:rPr lang="en-US" altLang="zh-TW" sz="2200" i="1" dirty="0" err="1">
                <a:solidFill>
                  <a:srgbClr val="000000"/>
                </a:solidFill>
              </a:rPr>
              <a:t>v.low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&gt;</a:t>
            </a:r>
            <a:r>
              <a:rPr lang="en-US" altLang="zh-TW" sz="2200" dirty="0">
                <a:solidFill>
                  <a:srgbClr val="000000"/>
                </a:solidFill>
              </a:rPr>
              <a:t> </a:t>
            </a:r>
            <a:r>
              <a:rPr lang="en-US" altLang="zh-TW" sz="2200" i="1" dirty="0" err="1">
                <a:solidFill>
                  <a:srgbClr val="000000"/>
                </a:solidFill>
              </a:rPr>
              <a:t>u.d</a:t>
            </a:r>
            <a:r>
              <a:rPr lang="en-US" altLang="zh-TW" sz="2200" dirty="0">
                <a:solidFill>
                  <a:srgbClr val="000000"/>
                </a:solidFill>
              </a:rPr>
              <a:t>.</a:t>
            </a:r>
            <a:endParaRPr lang="zh-TW" altLang="en-US" sz="2200" dirty="0">
              <a:solidFill>
                <a:srgbClr val="000000"/>
              </a:solidFill>
            </a:endParaRPr>
          </a:p>
          <a:p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382470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computeLow()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u ] == 0 )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u );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parent;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d;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smtClean="0">
                <a:solidFill>
                  <a:srgbClr val="000000"/>
                </a:solidFill>
                <a:ea typeface="細明體" panose="02020509000000000000" pitchFamily="49" charset="-120"/>
              </a:rPr>
              <a:t>computeLow(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low[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], d[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</a:endParaRPr>
          </a:p>
        </p:txBody>
      </p:sp>
      <p:sp>
        <p:nvSpPr>
          <p:cNvPr id="5" name="內容版面配置區 4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"Bridges:\n\n"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parent[ v ] == u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( low[ v ] &gt; d[ u ] )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            cout </a:t>
            </a:r>
            <a:r>
              <a:rPr lang="en-US" altLang="zh-TW" dirty="0" smtClean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u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A31515"/>
                </a:solidFill>
                <a:ea typeface="細明體" panose="02020509000000000000" pitchFamily="49" charset="-120"/>
              </a:rPr>
              <a:t>" </a:t>
            </a:r>
            <a:r>
              <a:rPr lang="en-US" altLang="zh-TW" dirty="0">
                <a:solidFill>
                  <a:srgbClr val="A31515"/>
                </a:solidFill>
                <a:ea typeface="細明體" panose="02020509000000000000" pitchFamily="49" charset="-120"/>
              </a:rPr>
              <a:t>"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細明體" panose="02020509000000000000" pitchFamily="49" charset="-120"/>
              </a:rPr>
              <a:t>v;</a:t>
            </a:r>
            <a:endParaRPr lang="en-US" altLang="zh-TW" dirty="0">
              <a:solidFill>
                <a:srgbClr val="000000"/>
              </a:solidFill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>
                <a:solidFill>
                  <a:srgbClr val="000000"/>
                </a:solidFill>
                <a:ea typeface="細明體" panose="02020509000000000000" pitchFamily="49" charset="-120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6657149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low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]();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parent[ u ] = -1;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"Bridges:\n\n"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cout </a:t>
            </a:r>
            <a:r>
              <a:rPr lang="en-US" altLang="zh-TW" dirty="0" smtClean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endl;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379581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&gt;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58867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&gt;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0030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3609000"/>
            <a:ext cx="6660000" cy="3060000"/>
          </a:xfrm>
        </p:spPr>
        <p:txBody>
          <a:bodyPr/>
          <a:lstStyle/>
          <a:p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&gt;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 smtClean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cxnSp>
        <p:nvCxnSpPr>
          <p:cNvPr id="3" name="AutoShape 57"/>
          <p:cNvCxnSpPr>
            <a:cxnSpLocks noChangeShapeType="1"/>
          </p:cNvCxnSpPr>
          <p:nvPr/>
        </p:nvCxnSpPr>
        <p:spPr bwMode="auto">
          <a:xfrm flipH="1" flipV="1">
            <a:off x="583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6"/>
          <p:cNvCxnSpPr>
            <a:cxnSpLocks noChangeShapeType="1"/>
          </p:cNvCxnSpPr>
          <p:nvPr/>
        </p:nvCxnSpPr>
        <p:spPr bwMode="auto">
          <a:xfrm flipV="1">
            <a:off x="475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7452000" y="19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6372000" y="1989000"/>
            <a:ext cx="1080000" cy="720000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Line 40"/>
          <p:cNvSpPr>
            <a:spLocks noChangeShapeType="1"/>
          </p:cNvSpPr>
          <p:nvPr/>
        </p:nvSpPr>
        <p:spPr bwMode="auto">
          <a:xfrm>
            <a:off x="673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4032000" y="12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 flipV="1">
            <a:off x="601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7"/>
          <p:cNvCxnSpPr>
            <a:cxnSpLocks noChangeShapeType="1"/>
          </p:cNvCxnSpPr>
          <p:nvPr/>
        </p:nvCxnSpPr>
        <p:spPr bwMode="auto">
          <a:xfrm flipH="1" flipV="1">
            <a:off x="5279791" y="54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39"/>
          <p:cNvSpPr>
            <a:spLocks noChangeArrowheads="1"/>
          </p:cNvSpPr>
          <p:nvPr/>
        </p:nvSpPr>
        <p:spPr bwMode="auto">
          <a:xfrm>
            <a:off x="63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421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13" name="Oval 50"/>
          <p:cNvSpPr>
            <a:spLocks noChangeArrowheads="1"/>
          </p:cNvSpPr>
          <p:nvPr/>
        </p:nvSpPr>
        <p:spPr bwMode="auto">
          <a:xfrm>
            <a:off x="709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14" name="Oval 52"/>
          <p:cNvSpPr>
            <a:spLocks noChangeArrowheads="1"/>
          </p:cNvSpPr>
          <p:nvPr/>
        </p:nvSpPr>
        <p:spPr bwMode="auto">
          <a:xfrm>
            <a:off x="565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15" name="AutoShape 56"/>
          <p:cNvCxnSpPr>
            <a:cxnSpLocks noChangeShapeType="1"/>
          </p:cNvCxnSpPr>
          <p:nvPr/>
        </p:nvCxnSpPr>
        <p:spPr bwMode="auto">
          <a:xfrm flipV="1">
            <a:off x="4032000" y="5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4932000" y="3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36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637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6"/>
          <p:cNvCxnSpPr>
            <a:cxnSpLocks noChangeShapeType="1"/>
          </p:cNvCxnSpPr>
          <p:nvPr/>
        </p:nvCxnSpPr>
        <p:spPr bwMode="auto">
          <a:xfrm flipV="1">
            <a:off x="5832000" y="27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799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39"/>
          <p:cNvSpPr>
            <a:spLocks noChangeArrowheads="1"/>
          </p:cNvSpPr>
          <p:nvPr/>
        </p:nvSpPr>
        <p:spPr bwMode="auto">
          <a:xfrm>
            <a:off x="817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22" name="Oval 49"/>
          <p:cNvSpPr>
            <a:spLocks noChangeArrowheads="1"/>
          </p:cNvSpPr>
          <p:nvPr/>
        </p:nvSpPr>
        <p:spPr bwMode="auto">
          <a:xfrm>
            <a:off x="655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547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24" name="Oval 52"/>
          <p:cNvSpPr>
            <a:spLocks noChangeArrowheads="1"/>
          </p:cNvSpPr>
          <p:nvPr/>
        </p:nvSpPr>
        <p:spPr bwMode="auto">
          <a:xfrm>
            <a:off x="763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01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691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>
            <a:off x="475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8" name="AutoShape 56"/>
          <p:cNvCxnSpPr>
            <a:cxnSpLocks noChangeShapeType="1"/>
          </p:cNvCxnSpPr>
          <p:nvPr/>
        </p:nvCxnSpPr>
        <p:spPr bwMode="auto">
          <a:xfrm flipV="1">
            <a:off x="4212000" y="414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637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655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493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709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385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601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35" name="Oval 51"/>
          <p:cNvSpPr>
            <a:spLocks noChangeArrowheads="1"/>
          </p:cNvSpPr>
          <p:nvPr/>
        </p:nvSpPr>
        <p:spPr bwMode="auto">
          <a:xfrm>
            <a:off x="439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36" name="弧形接點 35"/>
          <p:cNvCxnSpPr>
            <a:stCxn id="21" idx="0"/>
            <a:endCxn id="16" idx="6"/>
          </p:cNvCxnSpPr>
          <p:nvPr/>
        </p:nvCxnSpPr>
        <p:spPr bwMode="auto">
          <a:xfrm rot="16200000" flipV="1">
            <a:off x="6102000" y="99000"/>
            <a:ext cx="1980000" cy="28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直線單箭頭接點 36"/>
          <p:cNvCxnSpPr>
            <a:stCxn id="12" idx="0"/>
            <a:endCxn id="16" idx="4"/>
          </p:cNvCxnSpPr>
          <p:nvPr/>
        </p:nvCxnSpPr>
        <p:spPr bwMode="auto">
          <a:xfrm flipV="1">
            <a:off x="457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直線單箭頭接點 37"/>
          <p:cNvCxnSpPr>
            <a:stCxn id="14" idx="0"/>
            <a:endCxn id="16" idx="4"/>
          </p:cNvCxnSpPr>
          <p:nvPr/>
        </p:nvCxnSpPr>
        <p:spPr bwMode="auto">
          <a:xfrm flipH="1" flipV="1">
            <a:off x="529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直線單箭頭接點 38"/>
          <p:cNvCxnSpPr>
            <a:stCxn id="24" idx="0"/>
            <a:endCxn id="13" idx="4"/>
          </p:cNvCxnSpPr>
          <p:nvPr/>
        </p:nvCxnSpPr>
        <p:spPr bwMode="auto">
          <a:xfrm flipH="1" flipV="1">
            <a:off x="7452000" y="21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直線單箭頭接點 39"/>
          <p:cNvCxnSpPr>
            <a:stCxn id="34" idx="0"/>
            <a:endCxn id="25" idx="4"/>
          </p:cNvCxnSpPr>
          <p:nvPr/>
        </p:nvCxnSpPr>
        <p:spPr bwMode="auto">
          <a:xfrm flipV="1">
            <a:off x="6372000" y="28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31" idx="0"/>
            <a:endCxn id="23" idx="4"/>
          </p:cNvCxnSpPr>
          <p:nvPr/>
        </p:nvCxnSpPr>
        <p:spPr bwMode="auto">
          <a:xfrm flipV="1">
            <a:off x="5292000" y="36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33" idx="0"/>
            <a:endCxn id="25" idx="2"/>
          </p:cNvCxnSpPr>
          <p:nvPr/>
        </p:nvCxnSpPr>
        <p:spPr bwMode="auto">
          <a:xfrm rot="5400000" flipH="1" flipV="1">
            <a:off x="4122000" y="279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5213665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3609000"/>
            <a:ext cx="6660000" cy="3060000"/>
          </a:xfrm>
        </p:spPr>
        <p:txBody>
          <a:bodyPr/>
          <a:lstStyle/>
          <a:p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==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 smtClean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cxnSp>
        <p:nvCxnSpPr>
          <p:cNvPr id="3" name="AutoShape 57"/>
          <p:cNvCxnSpPr>
            <a:cxnSpLocks noChangeShapeType="1"/>
          </p:cNvCxnSpPr>
          <p:nvPr/>
        </p:nvCxnSpPr>
        <p:spPr bwMode="auto">
          <a:xfrm flipH="1" flipV="1">
            <a:off x="583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6"/>
          <p:cNvCxnSpPr>
            <a:cxnSpLocks noChangeShapeType="1"/>
          </p:cNvCxnSpPr>
          <p:nvPr/>
        </p:nvCxnSpPr>
        <p:spPr bwMode="auto">
          <a:xfrm flipV="1">
            <a:off x="475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7452000" y="19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6372000" y="1989000"/>
            <a:ext cx="1080000" cy="720000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Line 40"/>
          <p:cNvSpPr>
            <a:spLocks noChangeShapeType="1"/>
          </p:cNvSpPr>
          <p:nvPr/>
        </p:nvSpPr>
        <p:spPr bwMode="auto">
          <a:xfrm>
            <a:off x="673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4032000" y="12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 flipV="1">
            <a:off x="601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7"/>
          <p:cNvCxnSpPr>
            <a:cxnSpLocks noChangeShapeType="1"/>
          </p:cNvCxnSpPr>
          <p:nvPr/>
        </p:nvCxnSpPr>
        <p:spPr bwMode="auto">
          <a:xfrm flipH="1" flipV="1">
            <a:off x="5279791" y="54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39"/>
          <p:cNvSpPr>
            <a:spLocks noChangeArrowheads="1"/>
          </p:cNvSpPr>
          <p:nvPr/>
        </p:nvSpPr>
        <p:spPr bwMode="auto">
          <a:xfrm>
            <a:off x="63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421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13" name="Oval 50"/>
          <p:cNvSpPr>
            <a:spLocks noChangeArrowheads="1"/>
          </p:cNvSpPr>
          <p:nvPr/>
        </p:nvSpPr>
        <p:spPr bwMode="auto">
          <a:xfrm>
            <a:off x="709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14" name="Oval 52"/>
          <p:cNvSpPr>
            <a:spLocks noChangeArrowheads="1"/>
          </p:cNvSpPr>
          <p:nvPr/>
        </p:nvSpPr>
        <p:spPr bwMode="auto">
          <a:xfrm>
            <a:off x="565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15" name="AutoShape 56"/>
          <p:cNvCxnSpPr>
            <a:cxnSpLocks noChangeShapeType="1"/>
          </p:cNvCxnSpPr>
          <p:nvPr/>
        </p:nvCxnSpPr>
        <p:spPr bwMode="auto">
          <a:xfrm flipV="1">
            <a:off x="4032000" y="5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4932000" y="3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36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637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6"/>
          <p:cNvCxnSpPr>
            <a:cxnSpLocks noChangeShapeType="1"/>
          </p:cNvCxnSpPr>
          <p:nvPr/>
        </p:nvCxnSpPr>
        <p:spPr bwMode="auto">
          <a:xfrm flipV="1">
            <a:off x="5832000" y="27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799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39"/>
          <p:cNvSpPr>
            <a:spLocks noChangeArrowheads="1"/>
          </p:cNvSpPr>
          <p:nvPr/>
        </p:nvSpPr>
        <p:spPr bwMode="auto">
          <a:xfrm>
            <a:off x="817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22" name="Oval 49"/>
          <p:cNvSpPr>
            <a:spLocks noChangeArrowheads="1"/>
          </p:cNvSpPr>
          <p:nvPr/>
        </p:nvSpPr>
        <p:spPr bwMode="auto">
          <a:xfrm>
            <a:off x="655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547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24" name="Oval 52"/>
          <p:cNvSpPr>
            <a:spLocks noChangeArrowheads="1"/>
          </p:cNvSpPr>
          <p:nvPr/>
        </p:nvSpPr>
        <p:spPr bwMode="auto">
          <a:xfrm>
            <a:off x="763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01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691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>
            <a:off x="475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8" name="AutoShape 56"/>
          <p:cNvCxnSpPr>
            <a:cxnSpLocks noChangeShapeType="1"/>
          </p:cNvCxnSpPr>
          <p:nvPr/>
        </p:nvCxnSpPr>
        <p:spPr bwMode="auto">
          <a:xfrm flipV="1">
            <a:off x="4212000" y="414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637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655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493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709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385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601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35" name="Oval 51"/>
          <p:cNvSpPr>
            <a:spLocks noChangeArrowheads="1"/>
          </p:cNvSpPr>
          <p:nvPr/>
        </p:nvSpPr>
        <p:spPr bwMode="auto">
          <a:xfrm>
            <a:off x="439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36" name="弧形接點 35"/>
          <p:cNvCxnSpPr>
            <a:stCxn id="21" idx="0"/>
            <a:endCxn id="16" idx="6"/>
          </p:cNvCxnSpPr>
          <p:nvPr/>
        </p:nvCxnSpPr>
        <p:spPr bwMode="auto">
          <a:xfrm rot="16200000" flipV="1">
            <a:off x="6102000" y="99000"/>
            <a:ext cx="1980000" cy="28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直線單箭頭接點 36"/>
          <p:cNvCxnSpPr>
            <a:stCxn id="12" idx="0"/>
            <a:endCxn id="16" idx="4"/>
          </p:cNvCxnSpPr>
          <p:nvPr/>
        </p:nvCxnSpPr>
        <p:spPr bwMode="auto">
          <a:xfrm flipV="1">
            <a:off x="457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直線單箭頭接點 37"/>
          <p:cNvCxnSpPr>
            <a:stCxn id="14" idx="0"/>
            <a:endCxn id="16" idx="4"/>
          </p:cNvCxnSpPr>
          <p:nvPr/>
        </p:nvCxnSpPr>
        <p:spPr bwMode="auto">
          <a:xfrm flipH="1" flipV="1">
            <a:off x="529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直線單箭頭接點 38"/>
          <p:cNvCxnSpPr>
            <a:stCxn id="24" idx="0"/>
            <a:endCxn id="13" idx="4"/>
          </p:cNvCxnSpPr>
          <p:nvPr/>
        </p:nvCxnSpPr>
        <p:spPr bwMode="auto">
          <a:xfrm flipH="1" flipV="1">
            <a:off x="7452000" y="21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直線單箭頭接點 39"/>
          <p:cNvCxnSpPr>
            <a:stCxn id="34" idx="0"/>
            <a:endCxn id="25" idx="4"/>
          </p:cNvCxnSpPr>
          <p:nvPr/>
        </p:nvCxnSpPr>
        <p:spPr bwMode="auto">
          <a:xfrm flipV="1">
            <a:off x="6372000" y="28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31" idx="0"/>
            <a:endCxn id="23" idx="4"/>
          </p:cNvCxnSpPr>
          <p:nvPr/>
        </p:nvCxnSpPr>
        <p:spPr bwMode="auto">
          <a:xfrm flipV="1">
            <a:off x="5292000" y="36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33" idx="0"/>
            <a:endCxn id="25" idx="2"/>
          </p:cNvCxnSpPr>
          <p:nvPr/>
        </p:nvCxnSpPr>
        <p:spPr bwMode="auto">
          <a:xfrm rot="5400000" flipH="1" flipV="1">
            <a:off x="4122000" y="279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32487245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3609000"/>
            <a:ext cx="6660000" cy="3060000"/>
          </a:xfrm>
        </p:spPr>
        <p:txBody>
          <a:bodyPr/>
          <a:lstStyle/>
          <a:p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parent[ u ] != -1 &amp;&amp; low[ u ] &gt; d[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cxnSp>
        <p:nvCxnSpPr>
          <p:cNvPr id="3" name="AutoShape 57"/>
          <p:cNvCxnSpPr>
            <a:cxnSpLocks noChangeShapeType="1"/>
          </p:cNvCxnSpPr>
          <p:nvPr/>
        </p:nvCxnSpPr>
        <p:spPr bwMode="auto">
          <a:xfrm flipH="1" flipV="1">
            <a:off x="583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6"/>
          <p:cNvCxnSpPr>
            <a:cxnSpLocks noChangeShapeType="1"/>
          </p:cNvCxnSpPr>
          <p:nvPr/>
        </p:nvCxnSpPr>
        <p:spPr bwMode="auto">
          <a:xfrm flipV="1">
            <a:off x="475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7452000" y="19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6372000" y="1989000"/>
            <a:ext cx="1080000" cy="720000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Line 40"/>
          <p:cNvSpPr>
            <a:spLocks noChangeShapeType="1"/>
          </p:cNvSpPr>
          <p:nvPr/>
        </p:nvSpPr>
        <p:spPr bwMode="auto">
          <a:xfrm>
            <a:off x="673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4032000" y="12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 flipV="1">
            <a:off x="601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7"/>
          <p:cNvCxnSpPr>
            <a:cxnSpLocks noChangeShapeType="1"/>
          </p:cNvCxnSpPr>
          <p:nvPr/>
        </p:nvCxnSpPr>
        <p:spPr bwMode="auto">
          <a:xfrm flipH="1" flipV="1">
            <a:off x="5279791" y="54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39"/>
          <p:cNvSpPr>
            <a:spLocks noChangeArrowheads="1"/>
          </p:cNvSpPr>
          <p:nvPr/>
        </p:nvSpPr>
        <p:spPr bwMode="auto">
          <a:xfrm>
            <a:off x="63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421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13" name="Oval 50"/>
          <p:cNvSpPr>
            <a:spLocks noChangeArrowheads="1"/>
          </p:cNvSpPr>
          <p:nvPr/>
        </p:nvSpPr>
        <p:spPr bwMode="auto">
          <a:xfrm>
            <a:off x="709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14" name="Oval 52"/>
          <p:cNvSpPr>
            <a:spLocks noChangeArrowheads="1"/>
          </p:cNvSpPr>
          <p:nvPr/>
        </p:nvSpPr>
        <p:spPr bwMode="auto">
          <a:xfrm>
            <a:off x="565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15" name="AutoShape 56"/>
          <p:cNvCxnSpPr>
            <a:cxnSpLocks noChangeShapeType="1"/>
          </p:cNvCxnSpPr>
          <p:nvPr/>
        </p:nvCxnSpPr>
        <p:spPr bwMode="auto">
          <a:xfrm flipV="1">
            <a:off x="4032000" y="5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4932000" y="3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36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637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6"/>
          <p:cNvCxnSpPr>
            <a:cxnSpLocks noChangeShapeType="1"/>
          </p:cNvCxnSpPr>
          <p:nvPr/>
        </p:nvCxnSpPr>
        <p:spPr bwMode="auto">
          <a:xfrm flipV="1">
            <a:off x="5832000" y="27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799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39"/>
          <p:cNvSpPr>
            <a:spLocks noChangeArrowheads="1"/>
          </p:cNvSpPr>
          <p:nvPr/>
        </p:nvSpPr>
        <p:spPr bwMode="auto">
          <a:xfrm>
            <a:off x="817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22" name="Oval 49"/>
          <p:cNvSpPr>
            <a:spLocks noChangeArrowheads="1"/>
          </p:cNvSpPr>
          <p:nvPr/>
        </p:nvSpPr>
        <p:spPr bwMode="auto">
          <a:xfrm>
            <a:off x="655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547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24" name="Oval 52"/>
          <p:cNvSpPr>
            <a:spLocks noChangeArrowheads="1"/>
          </p:cNvSpPr>
          <p:nvPr/>
        </p:nvSpPr>
        <p:spPr bwMode="auto">
          <a:xfrm>
            <a:off x="763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01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691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>
            <a:off x="475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8" name="AutoShape 56"/>
          <p:cNvCxnSpPr>
            <a:cxnSpLocks noChangeShapeType="1"/>
          </p:cNvCxnSpPr>
          <p:nvPr/>
        </p:nvCxnSpPr>
        <p:spPr bwMode="auto">
          <a:xfrm flipV="1">
            <a:off x="4212000" y="414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637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655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493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709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385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601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35" name="Oval 51"/>
          <p:cNvSpPr>
            <a:spLocks noChangeArrowheads="1"/>
          </p:cNvSpPr>
          <p:nvPr/>
        </p:nvSpPr>
        <p:spPr bwMode="auto">
          <a:xfrm>
            <a:off x="439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36" name="弧形接點 35"/>
          <p:cNvCxnSpPr>
            <a:stCxn id="21" idx="0"/>
            <a:endCxn id="16" idx="6"/>
          </p:cNvCxnSpPr>
          <p:nvPr/>
        </p:nvCxnSpPr>
        <p:spPr bwMode="auto">
          <a:xfrm rot="16200000" flipV="1">
            <a:off x="6102000" y="99000"/>
            <a:ext cx="1980000" cy="28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直線單箭頭接點 36"/>
          <p:cNvCxnSpPr>
            <a:stCxn id="12" idx="0"/>
            <a:endCxn id="16" idx="4"/>
          </p:cNvCxnSpPr>
          <p:nvPr/>
        </p:nvCxnSpPr>
        <p:spPr bwMode="auto">
          <a:xfrm flipV="1">
            <a:off x="457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直線單箭頭接點 37"/>
          <p:cNvCxnSpPr>
            <a:stCxn id="14" idx="0"/>
            <a:endCxn id="16" idx="4"/>
          </p:cNvCxnSpPr>
          <p:nvPr/>
        </p:nvCxnSpPr>
        <p:spPr bwMode="auto">
          <a:xfrm flipH="1" flipV="1">
            <a:off x="529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直線單箭頭接點 38"/>
          <p:cNvCxnSpPr>
            <a:stCxn id="24" idx="0"/>
            <a:endCxn id="13" idx="4"/>
          </p:cNvCxnSpPr>
          <p:nvPr/>
        </p:nvCxnSpPr>
        <p:spPr bwMode="auto">
          <a:xfrm flipH="1" flipV="1">
            <a:off x="7452000" y="21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直線單箭頭接點 39"/>
          <p:cNvCxnSpPr>
            <a:stCxn id="34" idx="0"/>
            <a:endCxn id="25" idx="4"/>
          </p:cNvCxnSpPr>
          <p:nvPr/>
        </p:nvCxnSpPr>
        <p:spPr bwMode="auto">
          <a:xfrm flipV="1">
            <a:off x="6372000" y="28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31" idx="0"/>
            <a:endCxn id="23" idx="4"/>
          </p:cNvCxnSpPr>
          <p:nvPr/>
        </p:nvCxnSpPr>
        <p:spPr bwMode="auto">
          <a:xfrm flipV="1">
            <a:off x="5292000" y="36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33" idx="0"/>
            <a:endCxn id="25" idx="2"/>
          </p:cNvCxnSpPr>
          <p:nvPr/>
        </p:nvCxnSpPr>
        <p:spPr bwMode="auto">
          <a:xfrm rot="5400000" flipH="1" flipV="1">
            <a:off x="4122000" y="279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4013909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>
          <a:xfrm>
            <a:off x="252000" y="3609000"/>
            <a:ext cx="6660000" cy="3060000"/>
          </a:xfrm>
        </p:spPr>
        <p:txBody>
          <a:bodyPr/>
          <a:lstStyle/>
          <a:p>
            <a:r>
              <a:rPr lang="pl-PL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parent[ u ] != -1 &amp;&amp; low[ u ] ==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</p:txBody>
      </p:sp>
      <p:cxnSp>
        <p:nvCxnSpPr>
          <p:cNvPr id="3" name="AutoShape 57"/>
          <p:cNvCxnSpPr>
            <a:cxnSpLocks noChangeShapeType="1"/>
          </p:cNvCxnSpPr>
          <p:nvPr/>
        </p:nvCxnSpPr>
        <p:spPr bwMode="auto">
          <a:xfrm flipH="1" flipV="1">
            <a:off x="583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6"/>
          <p:cNvCxnSpPr>
            <a:cxnSpLocks noChangeShapeType="1"/>
          </p:cNvCxnSpPr>
          <p:nvPr/>
        </p:nvCxnSpPr>
        <p:spPr bwMode="auto">
          <a:xfrm flipV="1">
            <a:off x="4752000" y="34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7452000" y="19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6372000" y="1989000"/>
            <a:ext cx="1080000" cy="720000"/>
          </a:xfrm>
          <a:prstGeom prst="straightConnector1">
            <a:avLst/>
          </a:prstGeom>
          <a:noFill/>
          <a:ln w="28575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Line 40"/>
          <p:cNvSpPr>
            <a:spLocks noChangeShapeType="1"/>
          </p:cNvSpPr>
          <p:nvPr/>
        </p:nvSpPr>
        <p:spPr bwMode="auto">
          <a:xfrm>
            <a:off x="673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4032000" y="12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 flipV="1">
            <a:off x="6012000" y="126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7"/>
          <p:cNvCxnSpPr>
            <a:cxnSpLocks noChangeShapeType="1"/>
          </p:cNvCxnSpPr>
          <p:nvPr/>
        </p:nvCxnSpPr>
        <p:spPr bwMode="auto">
          <a:xfrm flipH="1" flipV="1">
            <a:off x="5279791" y="54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39"/>
          <p:cNvSpPr>
            <a:spLocks noChangeArrowheads="1"/>
          </p:cNvSpPr>
          <p:nvPr/>
        </p:nvSpPr>
        <p:spPr bwMode="auto">
          <a:xfrm>
            <a:off x="63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421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13" name="Oval 50"/>
          <p:cNvSpPr>
            <a:spLocks noChangeArrowheads="1"/>
          </p:cNvSpPr>
          <p:nvPr/>
        </p:nvSpPr>
        <p:spPr bwMode="auto">
          <a:xfrm>
            <a:off x="709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14" name="Oval 52"/>
          <p:cNvSpPr>
            <a:spLocks noChangeArrowheads="1"/>
          </p:cNvSpPr>
          <p:nvPr/>
        </p:nvSpPr>
        <p:spPr bwMode="auto">
          <a:xfrm>
            <a:off x="5652000" y="18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15" name="AutoShape 56"/>
          <p:cNvCxnSpPr>
            <a:cxnSpLocks noChangeShapeType="1"/>
          </p:cNvCxnSpPr>
          <p:nvPr/>
        </p:nvCxnSpPr>
        <p:spPr bwMode="auto">
          <a:xfrm flipV="1">
            <a:off x="4032000" y="5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4932000" y="3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3672000" y="10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637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6"/>
          <p:cNvCxnSpPr>
            <a:cxnSpLocks noChangeShapeType="1"/>
          </p:cNvCxnSpPr>
          <p:nvPr/>
        </p:nvCxnSpPr>
        <p:spPr bwMode="auto">
          <a:xfrm flipV="1">
            <a:off x="5832000" y="27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7992000" y="27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39"/>
          <p:cNvSpPr>
            <a:spLocks noChangeArrowheads="1"/>
          </p:cNvSpPr>
          <p:nvPr/>
        </p:nvSpPr>
        <p:spPr bwMode="auto">
          <a:xfrm>
            <a:off x="817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22" name="Oval 49"/>
          <p:cNvSpPr>
            <a:spLocks noChangeArrowheads="1"/>
          </p:cNvSpPr>
          <p:nvPr/>
        </p:nvSpPr>
        <p:spPr bwMode="auto">
          <a:xfrm>
            <a:off x="655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547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24" name="Oval 52"/>
          <p:cNvSpPr>
            <a:spLocks noChangeArrowheads="1"/>
          </p:cNvSpPr>
          <p:nvPr/>
        </p:nvSpPr>
        <p:spPr bwMode="auto">
          <a:xfrm>
            <a:off x="7632000" y="32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012000" y="25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691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>
            <a:off x="475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8" name="AutoShape 56"/>
          <p:cNvCxnSpPr>
            <a:cxnSpLocks noChangeShapeType="1"/>
          </p:cNvCxnSpPr>
          <p:nvPr/>
        </p:nvCxnSpPr>
        <p:spPr bwMode="auto">
          <a:xfrm flipV="1">
            <a:off x="4212000" y="414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6372000" y="41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655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493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709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385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6012000" y="46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35" name="Oval 51"/>
          <p:cNvSpPr>
            <a:spLocks noChangeArrowheads="1"/>
          </p:cNvSpPr>
          <p:nvPr/>
        </p:nvSpPr>
        <p:spPr bwMode="auto">
          <a:xfrm>
            <a:off x="4392000" y="39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36" name="弧形接點 35"/>
          <p:cNvCxnSpPr>
            <a:stCxn id="21" idx="0"/>
            <a:endCxn id="16" idx="6"/>
          </p:cNvCxnSpPr>
          <p:nvPr/>
        </p:nvCxnSpPr>
        <p:spPr bwMode="auto">
          <a:xfrm rot="16200000" flipV="1">
            <a:off x="6102000" y="99000"/>
            <a:ext cx="1980000" cy="28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直線單箭頭接點 36"/>
          <p:cNvCxnSpPr>
            <a:stCxn id="12" idx="0"/>
            <a:endCxn id="16" idx="4"/>
          </p:cNvCxnSpPr>
          <p:nvPr/>
        </p:nvCxnSpPr>
        <p:spPr bwMode="auto">
          <a:xfrm flipV="1">
            <a:off x="457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直線單箭頭接點 37"/>
          <p:cNvCxnSpPr>
            <a:stCxn id="14" idx="0"/>
            <a:endCxn id="16" idx="4"/>
          </p:cNvCxnSpPr>
          <p:nvPr/>
        </p:nvCxnSpPr>
        <p:spPr bwMode="auto">
          <a:xfrm flipH="1" flipV="1">
            <a:off x="5292000" y="729000"/>
            <a:ext cx="72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直線單箭頭接點 38"/>
          <p:cNvCxnSpPr>
            <a:stCxn id="24" idx="0"/>
            <a:endCxn id="13" idx="4"/>
          </p:cNvCxnSpPr>
          <p:nvPr/>
        </p:nvCxnSpPr>
        <p:spPr bwMode="auto">
          <a:xfrm flipH="1" flipV="1">
            <a:off x="7452000" y="21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直線單箭頭接點 39"/>
          <p:cNvCxnSpPr>
            <a:stCxn id="34" idx="0"/>
            <a:endCxn id="25" idx="4"/>
          </p:cNvCxnSpPr>
          <p:nvPr/>
        </p:nvCxnSpPr>
        <p:spPr bwMode="auto">
          <a:xfrm flipV="1">
            <a:off x="6372000" y="28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31" idx="0"/>
            <a:endCxn id="23" idx="4"/>
          </p:cNvCxnSpPr>
          <p:nvPr/>
        </p:nvCxnSpPr>
        <p:spPr bwMode="auto">
          <a:xfrm flipV="1">
            <a:off x="5292000" y="36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33" idx="0"/>
            <a:endCxn id="25" idx="2"/>
          </p:cNvCxnSpPr>
          <p:nvPr/>
        </p:nvCxnSpPr>
        <p:spPr bwMode="auto">
          <a:xfrm rot="5400000" flipH="1" flipV="1">
            <a:off x="4122000" y="279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93772396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&gt; d[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0578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low[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==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   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871750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parent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u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!=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&amp;&amp;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&gt;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d[ parent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82095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numNodes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 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findBridges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pPr>
              <a:lnSpc>
                <a:spcPct val="50000"/>
              </a:lnSpc>
            </a:pPr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);</a:t>
            </a:r>
          </a:p>
          <a:p>
            <a:r>
              <a:rPr lang="zh-TW" altLang="en-US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parent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u 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!=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-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1 &amp;&amp;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low[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== d[ </a:t>
            </a:r>
            <a:r>
              <a:rPr lang="en-US" altLang="zh-TW" dirty="0" smtClean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cout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"{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", "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</a:t>
            </a:r>
            <a:r>
              <a:rPr lang="en-US" altLang="zh-TW" dirty="0">
                <a:solidFill>
                  <a:srgbClr val="0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&lt;&lt;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 }\n</a:t>
            </a:r>
            <a:r>
              <a:rPr lang="en-US" altLang="zh-TW" dirty="0" smtClean="0">
                <a:solidFill>
                  <a:srgbClr val="A31515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"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90296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8413"/>
            <a:ext cx="8640000" cy="900588"/>
          </a:xfrm>
        </p:spPr>
        <p:txBody>
          <a:bodyPr/>
          <a:lstStyle/>
          <a:p>
            <a:pPr marL="0" indent="0"/>
            <a:r>
              <a:rPr lang="en-US" altLang="zh-TW" sz="2300" dirty="0"/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</a:t>
            </a:r>
            <a:r>
              <a:rPr lang="en-US" altLang="zh-TW" sz="2300" dirty="0"/>
              <a:t> be a connected, undirected graph. </a:t>
            </a:r>
            <a:r>
              <a:rPr lang="en-US" altLang="zh-TW" sz="2300" dirty="0" smtClean="0"/>
              <a:t>A </a:t>
            </a:r>
            <a:r>
              <a:rPr lang="en-US" altLang="zh-TW" sz="2300" i="1" dirty="0" smtClean="0">
                <a:solidFill>
                  <a:srgbClr val="0000FF"/>
                </a:solidFill>
              </a:rPr>
              <a:t>cut </a:t>
            </a:r>
            <a:r>
              <a:rPr lang="en-US" altLang="zh-TW" sz="2300" i="1" dirty="0">
                <a:solidFill>
                  <a:srgbClr val="0000FF"/>
                </a:solidFill>
              </a:rPr>
              <a:t>point</a:t>
            </a:r>
            <a:r>
              <a:rPr lang="en-US" altLang="zh-TW" sz="2300" dirty="0"/>
              <a:t>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is a vertex whose removal disconnects </a:t>
            </a:r>
            <a:r>
              <a:rPr lang="en-US" altLang="zh-TW" sz="2300" i="1" dirty="0"/>
              <a:t>G</a:t>
            </a:r>
            <a:r>
              <a:rPr lang="en-US" altLang="zh-TW" sz="2300" dirty="0"/>
              <a:t>.</a:t>
            </a:r>
            <a:endParaRPr lang="zh-TW" altLang="en-US" sz="2300" dirty="0">
              <a:solidFill>
                <a:schemeClr val="bg1"/>
              </a:solidFill>
            </a:endParaRPr>
          </a:p>
        </p:txBody>
      </p:sp>
      <p:cxnSp>
        <p:nvCxnSpPr>
          <p:cNvPr id="4" name="AutoShape 56"/>
          <p:cNvCxnSpPr>
            <a:cxnSpLocks noChangeShapeType="1"/>
            <a:stCxn id="6" idx="7"/>
            <a:endCxn id="7" idx="3"/>
          </p:cNvCxnSpPr>
          <p:nvPr/>
        </p:nvCxnSpPr>
        <p:spPr bwMode="auto">
          <a:xfrm flipV="1">
            <a:off x="739279" y="355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" name="Oval 49"/>
          <p:cNvSpPr>
            <a:spLocks noChangeArrowheads="1"/>
          </p:cNvSpPr>
          <p:nvPr/>
        </p:nvSpPr>
        <p:spPr bwMode="auto">
          <a:xfrm>
            <a:off x="151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432000" y="37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97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8" name="直線接點 7"/>
          <p:cNvCxnSpPr>
            <a:stCxn id="7" idx="5"/>
            <a:endCxn id="5" idx="1"/>
          </p:cNvCxnSpPr>
          <p:nvPr/>
        </p:nvCxnSpPr>
        <p:spPr bwMode="auto">
          <a:xfrm>
            <a:off x="1279279" y="35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" name="AutoShape 56"/>
          <p:cNvCxnSpPr>
            <a:cxnSpLocks noChangeShapeType="1"/>
            <a:stCxn id="6" idx="5"/>
            <a:endCxn id="10" idx="1"/>
          </p:cNvCxnSpPr>
          <p:nvPr/>
        </p:nvCxnSpPr>
        <p:spPr bwMode="auto">
          <a:xfrm>
            <a:off x="739279" y="409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972000" y="43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" name="直線接點 10"/>
          <p:cNvCxnSpPr>
            <a:stCxn id="10" idx="7"/>
            <a:endCxn id="5" idx="3"/>
          </p:cNvCxnSpPr>
          <p:nvPr/>
        </p:nvCxnSpPr>
        <p:spPr bwMode="auto">
          <a:xfrm flipV="1">
            <a:off x="1279279" y="409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2" name="AutoShape 56"/>
          <p:cNvCxnSpPr>
            <a:cxnSpLocks noChangeShapeType="1"/>
            <a:stCxn id="14" idx="7"/>
            <a:endCxn id="15" idx="3"/>
          </p:cNvCxnSpPr>
          <p:nvPr/>
        </p:nvCxnSpPr>
        <p:spPr bwMode="auto">
          <a:xfrm flipV="1">
            <a:off x="4159279" y="355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49"/>
          <p:cNvSpPr>
            <a:spLocks noChangeArrowheads="1"/>
          </p:cNvSpPr>
          <p:nvPr/>
        </p:nvSpPr>
        <p:spPr bwMode="auto">
          <a:xfrm>
            <a:off x="493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385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43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直線接點 15"/>
          <p:cNvCxnSpPr>
            <a:stCxn id="15" idx="5"/>
            <a:endCxn id="13" idx="1"/>
          </p:cNvCxnSpPr>
          <p:nvPr/>
        </p:nvCxnSpPr>
        <p:spPr bwMode="auto">
          <a:xfrm>
            <a:off x="4699279" y="35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7" name="AutoShape 56"/>
          <p:cNvCxnSpPr>
            <a:cxnSpLocks noChangeShapeType="1"/>
            <a:stCxn id="14" idx="5"/>
            <a:endCxn id="18" idx="1"/>
          </p:cNvCxnSpPr>
          <p:nvPr/>
        </p:nvCxnSpPr>
        <p:spPr bwMode="auto">
          <a:xfrm>
            <a:off x="4159279" y="409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51"/>
          <p:cNvSpPr>
            <a:spLocks noChangeArrowheads="1"/>
          </p:cNvSpPr>
          <p:nvPr/>
        </p:nvSpPr>
        <p:spPr bwMode="auto">
          <a:xfrm>
            <a:off x="4392000" y="43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直線接點 18"/>
          <p:cNvCxnSpPr>
            <a:stCxn id="18" idx="7"/>
            <a:endCxn id="13" idx="3"/>
          </p:cNvCxnSpPr>
          <p:nvPr/>
        </p:nvCxnSpPr>
        <p:spPr bwMode="auto">
          <a:xfrm flipV="1">
            <a:off x="4699279" y="409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20" name="Oval 49"/>
          <p:cNvSpPr>
            <a:spLocks noChangeArrowheads="1"/>
          </p:cNvSpPr>
          <p:nvPr/>
        </p:nvSpPr>
        <p:spPr bwMode="auto">
          <a:xfrm>
            <a:off x="7452000" y="37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51"/>
          <p:cNvSpPr>
            <a:spLocks noChangeArrowheads="1"/>
          </p:cNvSpPr>
          <p:nvPr/>
        </p:nvSpPr>
        <p:spPr bwMode="auto">
          <a:xfrm>
            <a:off x="637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2" name="Oval 51"/>
          <p:cNvSpPr>
            <a:spLocks noChangeArrowheads="1"/>
          </p:cNvSpPr>
          <p:nvPr/>
        </p:nvSpPr>
        <p:spPr bwMode="auto">
          <a:xfrm>
            <a:off x="691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3" name="直線接點 22"/>
          <p:cNvCxnSpPr>
            <a:stCxn id="22" idx="5"/>
            <a:endCxn id="20" idx="1"/>
          </p:cNvCxnSpPr>
          <p:nvPr/>
        </p:nvCxnSpPr>
        <p:spPr bwMode="auto">
          <a:xfrm>
            <a:off x="7219279" y="355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4" name="AutoShape 56"/>
          <p:cNvCxnSpPr>
            <a:cxnSpLocks noChangeShapeType="1"/>
            <a:stCxn id="21" idx="5"/>
            <a:endCxn id="25" idx="1"/>
          </p:cNvCxnSpPr>
          <p:nvPr/>
        </p:nvCxnSpPr>
        <p:spPr bwMode="auto">
          <a:xfrm>
            <a:off x="6679279" y="409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6912000" y="43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6" name="直線接點 25"/>
          <p:cNvCxnSpPr>
            <a:stCxn id="25" idx="7"/>
            <a:endCxn id="20" idx="3"/>
          </p:cNvCxnSpPr>
          <p:nvPr/>
        </p:nvCxnSpPr>
        <p:spPr bwMode="auto">
          <a:xfrm flipV="1">
            <a:off x="7219279" y="409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7" name="AutoShape 56"/>
          <p:cNvCxnSpPr>
            <a:cxnSpLocks noChangeShapeType="1"/>
            <a:stCxn id="29" idx="6"/>
            <a:endCxn id="30" idx="2"/>
          </p:cNvCxnSpPr>
          <p:nvPr/>
        </p:nvCxnSpPr>
        <p:spPr bwMode="auto">
          <a:xfrm>
            <a:off x="2412000" y="324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8" name="Oval 49"/>
          <p:cNvSpPr>
            <a:spLocks noChangeArrowheads="1"/>
          </p:cNvSpPr>
          <p:nvPr/>
        </p:nvSpPr>
        <p:spPr bwMode="auto">
          <a:xfrm>
            <a:off x="277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205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51"/>
          <p:cNvSpPr>
            <a:spLocks noChangeArrowheads="1"/>
          </p:cNvSpPr>
          <p:nvPr/>
        </p:nvSpPr>
        <p:spPr bwMode="auto">
          <a:xfrm>
            <a:off x="277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1" name="直線接點 30"/>
          <p:cNvCxnSpPr>
            <a:stCxn id="30" idx="4"/>
            <a:endCxn id="28" idx="0"/>
          </p:cNvCxnSpPr>
          <p:nvPr/>
        </p:nvCxnSpPr>
        <p:spPr bwMode="auto">
          <a:xfrm>
            <a:off x="2952000" y="342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2" name="AutoShape 56"/>
          <p:cNvCxnSpPr>
            <a:cxnSpLocks noChangeShapeType="1"/>
            <a:stCxn id="29" idx="5"/>
            <a:endCxn id="28" idx="1"/>
          </p:cNvCxnSpPr>
          <p:nvPr/>
        </p:nvCxnSpPr>
        <p:spPr bwMode="auto">
          <a:xfrm>
            <a:off x="2359279" y="337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277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4" name="直線接點 33"/>
          <p:cNvCxnSpPr>
            <a:stCxn id="33" idx="0"/>
            <a:endCxn id="28" idx="4"/>
          </p:cNvCxnSpPr>
          <p:nvPr/>
        </p:nvCxnSpPr>
        <p:spPr bwMode="auto">
          <a:xfrm flipV="1">
            <a:off x="2952000" y="414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" name="AutoShape 56"/>
          <p:cNvCxnSpPr>
            <a:cxnSpLocks noChangeShapeType="1"/>
            <a:stCxn id="36" idx="6"/>
            <a:endCxn id="33" idx="2"/>
          </p:cNvCxnSpPr>
          <p:nvPr/>
        </p:nvCxnSpPr>
        <p:spPr bwMode="auto">
          <a:xfrm>
            <a:off x="2412000" y="468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6" name="Oval 51"/>
          <p:cNvSpPr>
            <a:spLocks noChangeArrowheads="1"/>
          </p:cNvSpPr>
          <p:nvPr/>
        </p:nvSpPr>
        <p:spPr bwMode="auto">
          <a:xfrm>
            <a:off x="2052000" y="450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7" name="AutoShape 56"/>
          <p:cNvCxnSpPr>
            <a:cxnSpLocks noChangeShapeType="1"/>
            <a:stCxn id="36" idx="7"/>
            <a:endCxn id="28" idx="3"/>
          </p:cNvCxnSpPr>
          <p:nvPr/>
        </p:nvCxnSpPr>
        <p:spPr bwMode="auto">
          <a:xfrm flipV="1">
            <a:off x="2359279" y="409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8" name="AutoShape 56"/>
          <p:cNvCxnSpPr>
            <a:cxnSpLocks noChangeShapeType="1"/>
            <a:stCxn id="5" idx="6"/>
            <a:endCxn id="28" idx="2"/>
          </p:cNvCxnSpPr>
          <p:nvPr/>
        </p:nvCxnSpPr>
        <p:spPr bwMode="auto">
          <a:xfrm>
            <a:off x="1872000" y="3969000"/>
            <a:ext cx="90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9" name="Oval 51"/>
          <p:cNvSpPr>
            <a:spLocks noChangeArrowheads="1"/>
          </p:cNvSpPr>
          <p:nvPr/>
        </p:nvSpPr>
        <p:spPr bwMode="auto">
          <a:xfrm>
            <a:off x="2052000" y="52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0" name="直線接點 39"/>
          <p:cNvCxnSpPr>
            <a:stCxn id="39" idx="0"/>
            <a:endCxn id="36" idx="4"/>
          </p:cNvCxnSpPr>
          <p:nvPr/>
        </p:nvCxnSpPr>
        <p:spPr bwMode="auto">
          <a:xfrm flipV="1">
            <a:off x="2232000" y="486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1" name="AutoShape 56"/>
          <p:cNvCxnSpPr>
            <a:cxnSpLocks noChangeShapeType="1"/>
            <a:stCxn id="6" idx="6"/>
            <a:endCxn id="5" idx="2"/>
          </p:cNvCxnSpPr>
          <p:nvPr/>
        </p:nvCxnSpPr>
        <p:spPr bwMode="auto">
          <a:xfrm>
            <a:off x="792000" y="396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2" name="AutoShape 56"/>
          <p:cNvCxnSpPr>
            <a:cxnSpLocks noChangeShapeType="1"/>
            <a:stCxn id="7" idx="4"/>
            <a:endCxn id="10" idx="0"/>
          </p:cNvCxnSpPr>
          <p:nvPr/>
        </p:nvCxnSpPr>
        <p:spPr bwMode="auto">
          <a:xfrm>
            <a:off x="1152000" y="36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3" name="Oval 49"/>
          <p:cNvSpPr>
            <a:spLocks noChangeArrowheads="1"/>
          </p:cNvSpPr>
          <p:nvPr/>
        </p:nvSpPr>
        <p:spPr bwMode="auto">
          <a:xfrm>
            <a:off x="8352000" y="37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4" name="直線接點 43"/>
          <p:cNvCxnSpPr>
            <a:stCxn id="22" idx="6"/>
            <a:endCxn id="43" idx="1"/>
          </p:cNvCxnSpPr>
          <p:nvPr/>
        </p:nvCxnSpPr>
        <p:spPr bwMode="auto">
          <a:xfrm>
            <a:off x="7272000" y="3429000"/>
            <a:ext cx="1132721" cy="4127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45" name="AutoShape 56"/>
          <p:cNvCxnSpPr>
            <a:cxnSpLocks noChangeShapeType="1"/>
            <a:stCxn id="22" idx="4"/>
            <a:endCxn id="25" idx="0"/>
          </p:cNvCxnSpPr>
          <p:nvPr/>
        </p:nvCxnSpPr>
        <p:spPr bwMode="auto">
          <a:xfrm>
            <a:off x="7092000" y="36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" name="AutoShape 56"/>
          <p:cNvCxnSpPr>
            <a:cxnSpLocks noChangeShapeType="1"/>
            <a:stCxn id="21" idx="6"/>
            <a:endCxn id="20" idx="2"/>
          </p:cNvCxnSpPr>
          <p:nvPr/>
        </p:nvCxnSpPr>
        <p:spPr bwMode="auto">
          <a:xfrm>
            <a:off x="6732000" y="396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7" name="AutoShape 56"/>
          <p:cNvCxnSpPr>
            <a:cxnSpLocks noChangeShapeType="1"/>
            <a:stCxn id="28" idx="6"/>
            <a:endCxn id="14" idx="2"/>
          </p:cNvCxnSpPr>
          <p:nvPr/>
        </p:nvCxnSpPr>
        <p:spPr bwMode="auto">
          <a:xfrm>
            <a:off x="3132000" y="396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8" name="AutoShape 56"/>
          <p:cNvCxnSpPr>
            <a:cxnSpLocks noChangeShapeType="1"/>
            <a:stCxn id="13" idx="6"/>
            <a:endCxn id="21" idx="2"/>
          </p:cNvCxnSpPr>
          <p:nvPr/>
        </p:nvCxnSpPr>
        <p:spPr bwMode="auto">
          <a:xfrm>
            <a:off x="5292000" y="3969000"/>
            <a:ext cx="108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9" name="AutoShape 56"/>
          <p:cNvCxnSpPr>
            <a:cxnSpLocks noChangeShapeType="1"/>
            <a:stCxn id="51" idx="7"/>
            <a:endCxn id="25" idx="3"/>
          </p:cNvCxnSpPr>
          <p:nvPr/>
        </p:nvCxnSpPr>
        <p:spPr bwMode="auto">
          <a:xfrm flipV="1">
            <a:off x="6499279" y="463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0" name="Oval 49"/>
          <p:cNvSpPr>
            <a:spLocks noChangeArrowheads="1"/>
          </p:cNvSpPr>
          <p:nvPr/>
        </p:nvSpPr>
        <p:spPr bwMode="auto">
          <a:xfrm>
            <a:off x="7632000" y="50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1" name="Oval 51"/>
          <p:cNvSpPr>
            <a:spLocks noChangeArrowheads="1"/>
          </p:cNvSpPr>
          <p:nvPr/>
        </p:nvSpPr>
        <p:spPr bwMode="auto">
          <a:xfrm>
            <a:off x="6192000" y="504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2" name="直線接點 51"/>
          <p:cNvCxnSpPr>
            <a:stCxn id="25" idx="5"/>
            <a:endCxn id="50" idx="1"/>
          </p:cNvCxnSpPr>
          <p:nvPr/>
        </p:nvCxnSpPr>
        <p:spPr bwMode="auto">
          <a:xfrm>
            <a:off x="7219279" y="4636279"/>
            <a:ext cx="465442" cy="46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53" name="Oval 51"/>
          <p:cNvSpPr>
            <a:spLocks noChangeArrowheads="1"/>
          </p:cNvSpPr>
          <p:nvPr/>
        </p:nvSpPr>
        <p:spPr bwMode="auto">
          <a:xfrm>
            <a:off x="5472000" y="43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4" name="Oval 51"/>
          <p:cNvSpPr>
            <a:spLocks noChangeArrowheads="1"/>
          </p:cNvSpPr>
          <p:nvPr/>
        </p:nvSpPr>
        <p:spPr bwMode="auto">
          <a:xfrm>
            <a:off x="5472000" y="50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5" name="直線接點 54"/>
          <p:cNvCxnSpPr>
            <a:stCxn id="54" idx="0"/>
            <a:endCxn id="53" idx="4"/>
          </p:cNvCxnSpPr>
          <p:nvPr/>
        </p:nvCxnSpPr>
        <p:spPr bwMode="auto">
          <a:xfrm flipV="1">
            <a:off x="5652000" y="468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6" name="AutoShape 56"/>
          <p:cNvCxnSpPr>
            <a:cxnSpLocks noChangeShapeType="1"/>
            <a:stCxn id="54" idx="6"/>
            <a:endCxn id="51" idx="2"/>
          </p:cNvCxnSpPr>
          <p:nvPr/>
        </p:nvCxnSpPr>
        <p:spPr bwMode="auto">
          <a:xfrm>
            <a:off x="5832000" y="522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7" name="直線接點 56"/>
          <p:cNvCxnSpPr>
            <a:stCxn id="53" idx="5"/>
            <a:endCxn id="51" idx="1"/>
          </p:cNvCxnSpPr>
          <p:nvPr/>
        </p:nvCxnSpPr>
        <p:spPr bwMode="auto">
          <a:xfrm>
            <a:off x="5779279" y="4636279"/>
            <a:ext cx="465442" cy="46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8" name="AutoShape 56"/>
          <p:cNvCxnSpPr>
            <a:cxnSpLocks noChangeShapeType="1"/>
            <a:stCxn id="20" idx="6"/>
            <a:endCxn id="43" idx="2"/>
          </p:cNvCxnSpPr>
          <p:nvPr/>
        </p:nvCxnSpPr>
        <p:spPr bwMode="auto">
          <a:xfrm>
            <a:off x="7812000" y="3969000"/>
            <a:ext cx="54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80263821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8413"/>
            <a:ext cx="8640000" cy="900588"/>
          </a:xfrm>
        </p:spPr>
        <p:txBody>
          <a:bodyPr/>
          <a:lstStyle/>
          <a:p>
            <a:pPr marL="0" indent="0"/>
            <a:r>
              <a:rPr lang="en-US" altLang="zh-TW" sz="2300" dirty="0"/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</a:t>
            </a:r>
            <a:r>
              <a:rPr lang="en-US" altLang="zh-TW" sz="2300" dirty="0"/>
              <a:t> be a connected, undirected graph. </a:t>
            </a:r>
            <a:r>
              <a:rPr lang="en-US" altLang="zh-TW" sz="2300" dirty="0" smtClean="0"/>
              <a:t>A </a:t>
            </a:r>
            <a:r>
              <a:rPr lang="en-US" altLang="zh-TW" sz="2300" i="1" dirty="0" smtClean="0">
                <a:solidFill>
                  <a:srgbClr val="0000FF"/>
                </a:solidFill>
              </a:rPr>
              <a:t>cut </a:t>
            </a:r>
            <a:r>
              <a:rPr lang="en-US" altLang="zh-TW" sz="2300" i="1" dirty="0">
                <a:solidFill>
                  <a:srgbClr val="0000FF"/>
                </a:solidFill>
              </a:rPr>
              <a:t>point</a:t>
            </a:r>
            <a:r>
              <a:rPr lang="en-US" altLang="zh-TW" sz="2300" dirty="0"/>
              <a:t>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is a vertex whose removal disconnects </a:t>
            </a:r>
            <a:r>
              <a:rPr lang="en-US" altLang="zh-TW" sz="2300" i="1" dirty="0"/>
              <a:t>G</a:t>
            </a:r>
            <a:r>
              <a:rPr lang="en-US" altLang="zh-TW" sz="2300" dirty="0"/>
              <a:t>.</a:t>
            </a:r>
            <a:endParaRPr lang="zh-TW" altLang="en-US" sz="2300" dirty="0">
              <a:solidFill>
                <a:schemeClr val="bg1"/>
              </a:solidFill>
            </a:endParaRPr>
          </a:p>
        </p:txBody>
      </p:sp>
      <p:cxnSp>
        <p:nvCxnSpPr>
          <p:cNvPr id="4" name="AutoShape 56"/>
          <p:cNvCxnSpPr>
            <a:cxnSpLocks noChangeShapeType="1"/>
            <a:endCxn id="6" idx="3"/>
          </p:cNvCxnSpPr>
          <p:nvPr/>
        </p:nvCxnSpPr>
        <p:spPr bwMode="auto">
          <a:xfrm flipV="1">
            <a:off x="3619279" y="373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" name="Oval 49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385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7" name="直線接點 6"/>
          <p:cNvCxnSpPr>
            <a:stCxn id="6" idx="5"/>
            <a:endCxn id="5" idx="1"/>
          </p:cNvCxnSpPr>
          <p:nvPr/>
        </p:nvCxnSpPr>
        <p:spPr bwMode="auto">
          <a:xfrm>
            <a:off x="4159279" y="373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" name="AutoShape 56"/>
          <p:cNvCxnSpPr>
            <a:cxnSpLocks noChangeShapeType="1"/>
            <a:endCxn id="9" idx="1"/>
          </p:cNvCxnSpPr>
          <p:nvPr/>
        </p:nvCxnSpPr>
        <p:spPr bwMode="auto">
          <a:xfrm>
            <a:off x="3619279" y="427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385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直線接點 9"/>
          <p:cNvCxnSpPr>
            <a:stCxn id="9" idx="7"/>
            <a:endCxn id="5" idx="3"/>
          </p:cNvCxnSpPr>
          <p:nvPr/>
        </p:nvCxnSpPr>
        <p:spPr bwMode="auto">
          <a:xfrm flipV="1">
            <a:off x="4159279" y="427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sp>
        <p:nvSpPr>
          <p:cNvPr id="11" name="Oval 49"/>
          <p:cNvSpPr>
            <a:spLocks noChangeArrowheads="1"/>
          </p:cNvSpPr>
          <p:nvPr/>
        </p:nvSpPr>
        <p:spPr bwMode="auto">
          <a:xfrm>
            <a:off x="547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2" name="Oval 51"/>
          <p:cNvSpPr>
            <a:spLocks noChangeArrowheads="1"/>
          </p:cNvSpPr>
          <p:nvPr/>
        </p:nvSpPr>
        <p:spPr bwMode="auto">
          <a:xfrm>
            <a:off x="493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3" name="直線接點 12"/>
          <p:cNvCxnSpPr>
            <a:stCxn id="12" idx="5"/>
            <a:endCxn id="11" idx="1"/>
          </p:cNvCxnSpPr>
          <p:nvPr/>
        </p:nvCxnSpPr>
        <p:spPr bwMode="auto">
          <a:xfrm>
            <a:off x="5239279" y="373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4" name="AutoShape 56"/>
          <p:cNvCxnSpPr>
            <a:cxnSpLocks noChangeShapeType="1"/>
            <a:endCxn id="15" idx="1"/>
          </p:cNvCxnSpPr>
          <p:nvPr/>
        </p:nvCxnSpPr>
        <p:spPr bwMode="auto">
          <a:xfrm>
            <a:off x="4699279" y="4276279"/>
            <a:ext cx="285442" cy="28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4932000" y="450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6" name="直線接點 15"/>
          <p:cNvCxnSpPr>
            <a:stCxn id="15" idx="7"/>
            <a:endCxn id="11" idx="3"/>
          </p:cNvCxnSpPr>
          <p:nvPr/>
        </p:nvCxnSpPr>
        <p:spPr bwMode="auto">
          <a:xfrm flipV="1">
            <a:off x="5239279" y="4276279"/>
            <a:ext cx="285442" cy="28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17" name="AutoShape 56"/>
          <p:cNvCxnSpPr>
            <a:cxnSpLocks noChangeShapeType="1"/>
            <a:stCxn id="19" idx="6"/>
            <a:endCxn id="20" idx="2"/>
          </p:cNvCxnSpPr>
          <p:nvPr/>
        </p:nvCxnSpPr>
        <p:spPr bwMode="auto">
          <a:xfrm>
            <a:off x="2952000" y="342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49"/>
          <p:cNvSpPr>
            <a:spLocks noChangeArrowheads="1"/>
          </p:cNvSpPr>
          <p:nvPr/>
        </p:nvSpPr>
        <p:spPr bwMode="auto">
          <a:xfrm>
            <a:off x="3312000" y="396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9" name="Oval 51"/>
          <p:cNvSpPr>
            <a:spLocks noChangeArrowheads="1"/>
          </p:cNvSpPr>
          <p:nvPr/>
        </p:nvSpPr>
        <p:spPr bwMode="auto">
          <a:xfrm>
            <a:off x="25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331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1" name="直線接點 20"/>
          <p:cNvCxnSpPr>
            <a:stCxn id="20" idx="4"/>
            <a:endCxn id="18" idx="0"/>
          </p:cNvCxnSpPr>
          <p:nvPr/>
        </p:nvCxnSpPr>
        <p:spPr bwMode="auto">
          <a:xfrm>
            <a:off x="3492000" y="360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2" name="AutoShape 56"/>
          <p:cNvCxnSpPr>
            <a:cxnSpLocks noChangeShapeType="1"/>
            <a:stCxn id="19" idx="5"/>
            <a:endCxn id="18" idx="1"/>
          </p:cNvCxnSpPr>
          <p:nvPr/>
        </p:nvCxnSpPr>
        <p:spPr bwMode="auto">
          <a:xfrm>
            <a:off x="2899279" y="355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331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4" name="直線接點 23"/>
          <p:cNvCxnSpPr>
            <a:stCxn id="23" idx="0"/>
            <a:endCxn id="18" idx="4"/>
          </p:cNvCxnSpPr>
          <p:nvPr/>
        </p:nvCxnSpPr>
        <p:spPr bwMode="auto">
          <a:xfrm flipV="1">
            <a:off x="3492000" y="432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5" name="AutoShape 56"/>
          <p:cNvCxnSpPr>
            <a:cxnSpLocks noChangeShapeType="1"/>
            <a:stCxn id="26" idx="6"/>
            <a:endCxn id="23" idx="2"/>
          </p:cNvCxnSpPr>
          <p:nvPr/>
        </p:nvCxnSpPr>
        <p:spPr bwMode="auto">
          <a:xfrm>
            <a:off x="2952000" y="486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6" name="Oval 51"/>
          <p:cNvSpPr>
            <a:spLocks noChangeArrowheads="1"/>
          </p:cNvSpPr>
          <p:nvPr/>
        </p:nvSpPr>
        <p:spPr bwMode="auto">
          <a:xfrm>
            <a:off x="259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7" name="AutoShape 56"/>
          <p:cNvCxnSpPr>
            <a:cxnSpLocks noChangeShapeType="1"/>
            <a:stCxn id="26" idx="7"/>
            <a:endCxn id="18" idx="3"/>
          </p:cNvCxnSpPr>
          <p:nvPr/>
        </p:nvCxnSpPr>
        <p:spPr bwMode="auto">
          <a:xfrm flipV="1">
            <a:off x="2899279" y="4276279"/>
            <a:ext cx="465442" cy="465442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8" name="Oval 49"/>
          <p:cNvSpPr>
            <a:spLocks noChangeArrowheads="1"/>
          </p:cNvSpPr>
          <p:nvPr/>
        </p:nvSpPr>
        <p:spPr bwMode="auto">
          <a:xfrm>
            <a:off x="637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9" name="直線接點 28"/>
          <p:cNvCxnSpPr>
            <a:stCxn id="12" idx="6"/>
            <a:endCxn id="28" idx="1"/>
          </p:cNvCxnSpPr>
          <p:nvPr/>
        </p:nvCxnSpPr>
        <p:spPr bwMode="auto">
          <a:xfrm>
            <a:off x="5292000" y="3609000"/>
            <a:ext cx="1132721" cy="41272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0" name="AutoShape 56"/>
          <p:cNvCxnSpPr>
            <a:cxnSpLocks noChangeShapeType="1"/>
            <a:stCxn id="12" idx="4"/>
            <a:endCxn id="15" idx="0"/>
          </p:cNvCxnSpPr>
          <p:nvPr/>
        </p:nvCxnSpPr>
        <p:spPr bwMode="auto">
          <a:xfrm>
            <a:off x="5112000" y="378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1" name="AutoShape 56"/>
          <p:cNvCxnSpPr>
            <a:cxnSpLocks noChangeShapeType="1"/>
            <a:endCxn id="11" idx="2"/>
          </p:cNvCxnSpPr>
          <p:nvPr/>
        </p:nvCxnSpPr>
        <p:spPr bwMode="auto">
          <a:xfrm>
            <a:off x="4752000" y="4149000"/>
            <a:ext cx="72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2" name="Oval 51"/>
          <p:cNvSpPr>
            <a:spLocks noChangeArrowheads="1"/>
          </p:cNvSpPr>
          <p:nvPr/>
        </p:nvSpPr>
        <p:spPr bwMode="auto">
          <a:xfrm>
            <a:off x="5652000" y="52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4932000" y="52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4" name="直線接點 33"/>
          <p:cNvCxnSpPr>
            <a:stCxn id="33" idx="0"/>
          </p:cNvCxnSpPr>
          <p:nvPr/>
        </p:nvCxnSpPr>
        <p:spPr bwMode="auto">
          <a:xfrm flipV="1">
            <a:off x="5112000" y="4869000"/>
            <a:ext cx="0" cy="360000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5" name="AutoShape 56"/>
          <p:cNvCxnSpPr>
            <a:cxnSpLocks noChangeShapeType="1"/>
            <a:stCxn id="33" idx="6"/>
            <a:endCxn id="32" idx="2"/>
          </p:cNvCxnSpPr>
          <p:nvPr/>
        </p:nvCxnSpPr>
        <p:spPr bwMode="auto">
          <a:xfrm>
            <a:off x="5292000" y="5409000"/>
            <a:ext cx="36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6" name="直線接點 35"/>
          <p:cNvCxnSpPr>
            <a:endCxn id="32" idx="1"/>
          </p:cNvCxnSpPr>
          <p:nvPr/>
        </p:nvCxnSpPr>
        <p:spPr bwMode="auto">
          <a:xfrm>
            <a:off x="5239279" y="4816279"/>
            <a:ext cx="465442" cy="465442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37" name="AutoShape 56"/>
          <p:cNvCxnSpPr>
            <a:cxnSpLocks noChangeShapeType="1"/>
            <a:stCxn id="11" idx="6"/>
            <a:endCxn id="28" idx="2"/>
          </p:cNvCxnSpPr>
          <p:nvPr/>
        </p:nvCxnSpPr>
        <p:spPr bwMode="auto">
          <a:xfrm>
            <a:off x="5832000" y="4149000"/>
            <a:ext cx="540000" cy="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77542525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>
            <a:endCxn id="38" idx="4"/>
          </p:cNvCxnSpPr>
          <p:nvPr/>
        </p:nvCxnSpPr>
        <p:spPr bwMode="auto">
          <a:xfrm flipV="1">
            <a:off x="4212000" y="432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0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3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7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9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37" idx="0"/>
            <a:endCxn id="19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53" name="直線單箭頭接點 52"/>
          <p:cNvCxnSpPr>
            <a:stCxn id="14" idx="7"/>
            <a:endCxn id="19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0" name="直線單箭頭接點 69"/>
          <p:cNvCxnSpPr>
            <a:stCxn id="17" idx="1"/>
            <a:endCxn id="19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78" name="直線單箭頭接點 77"/>
          <p:cNvCxnSpPr>
            <a:stCxn id="39" idx="0"/>
            <a:endCxn id="15" idx="4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81" name="直線單箭頭接點 80"/>
          <p:cNvCxnSpPr>
            <a:stCxn id="49" idx="0"/>
            <a:endCxn id="40" idx="4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  <p:cxnSp>
        <p:nvCxnSpPr>
          <p:cNvPr id="92" name="弧形接點 91"/>
          <p:cNvCxnSpPr>
            <a:stCxn id="48" idx="0"/>
            <a:endCxn id="15" idx="2"/>
          </p:cNvCxnSpPr>
          <p:nvPr/>
        </p:nvCxnSpPr>
        <p:spPr bwMode="auto">
          <a:xfrm rot="5400000" flipH="1" flipV="1">
            <a:off x="3132000" y="306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88616711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>
            <a:endCxn id="38" idx="4"/>
          </p:cNvCxnSpPr>
          <p:nvPr/>
        </p:nvCxnSpPr>
        <p:spPr bwMode="auto">
          <a:xfrm flipV="1">
            <a:off x="4212000" y="432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0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3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7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9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37" idx="0"/>
            <a:endCxn id="19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3" name="直線單箭頭接點 52"/>
          <p:cNvCxnSpPr>
            <a:stCxn id="14" idx="7"/>
            <a:endCxn id="19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0" name="直線單箭頭接點 69"/>
          <p:cNvCxnSpPr>
            <a:stCxn id="17" idx="1"/>
            <a:endCxn id="19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8" name="直線單箭頭接點 77"/>
          <p:cNvCxnSpPr>
            <a:stCxn id="39" idx="0"/>
            <a:endCxn id="15" idx="4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1" name="直線單箭頭接點 80"/>
          <p:cNvCxnSpPr>
            <a:stCxn id="49" idx="0"/>
            <a:endCxn id="40" idx="4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92" name="弧形接點 91"/>
          <p:cNvCxnSpPr>
            <a:stCxn id="48" idx="0"/>
            <a:endCxn id="15" idx="2"/>
          </p:cNvCxnSpPr>
          <p:nvPr/>
        </p:nvCxnSpPr>
        <p:spPr bwMode="auto">
          <a:xfrm rot="5400000" flipH="1" flipV="1">
            <a:off x="3132000" y="306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17141569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>
            <a:endCxn id="38" idx="4"/>
          </p:cNvCxnSpPr>
          <p:nvPr/>
        </p:nvCxnSpPr>
        <p:spPr bwMode="auto">
          <a:xfrm flipV="1">
            <a:off x="4212000" y="432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6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7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9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0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3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7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9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1" name="弧形接點 50"/>
          <p:cNvCxnSpPr>
            <a:stCxn id="37" idx="0"/>
            <a:endCxn id="19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3" name="直線單箭頭接點 52"/>
          <p:cNvCxnSpPr>
            <a:stCxn id="14" idx="7"/>
            <a:endCxn id="19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0" name="直線單箭頭接點 69"/>
          <p:cNvCxnSpPr>
            <a:stCxn id="17" idx="1"/>
            <a:endCxn id="19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8" name="直線單箭頭接點 77"/>
          <p:cNvCxnSpPr>
            <a:stCxn id="39" idx="0"/>
            <a:endCxn id="15" idx="4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1" name="直線單箭頭接點 80"/>
          <p:cNvCxnSpPr>
            <a:stCxn id="49" idx="0"/>
            <a:endCxn id="40" idx="4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92" name="弧形接點 91"/>
          <p:cNvCxnSpPr>
            <a:stCxn id="48" idx="0"/>
            <a:endCxn id="13" idx="2"/>
          </p:cNvCxnSpPr>
          <p:nvPr/>
        </p:nvCxnSpPr>
        <p:spPr bwMode="auto">
          <a:xfrm rot="5400000" flipH="1" flipV="1">
            <a:off x="2502000" y="2979000"/>
            <a:ext cx="3420000" cy="144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22530247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</p:spPr>
            <p:txBody>
              <a:bodyPr/>
              <a:lstStyle/>
              <a:p>
                <a:pPr marL="0" indent="0"/>
                <a:r>
                  <a:rPr lang="en-US" altLang="zh-TW" sz="2300" dirty="0"/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z="2300" dirty="0"/>
                  <a:t> be a connected, undirected graph. </a:t>
                </a:r>
                <a:r>
                  <a:rPr lang="en-US" altLang="zh-TW" sz="2300" dirty="0" smtClean="0"/>
                  <a:t>A </a:t>
                </a:r>
                <a:r>
                  <a:rPr lang="en-US" altLang="zh-TW" sz="2300" i="1" dirty="0" smtClean="0">
                    <a:solidFill>
                      <a:srgbClr val="0000FF"/>
                    </a:solidFill>
                  </a:rPr>
                  <a:t>cut </a:t>
                </a:r>
                <a:r>
                  <a:rPr lang="en-US" altLang="zh-TW" sz="2300" i="1" dirty="0">
                    <a:solidFill>
                      <a:srgbClr val="0000FF"/>
                    </a:solidFill>
                  </a:rPr>
                  <a:t>point</a:t>
                </a:r>
                <a:r>
                  <a:rPr lang="en-US" altLang="zh-TW" sz="2300" dirty="0"/>
                  <a:t>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is a vertex whose removal disconnects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 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) be a depth-first tree of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a</a:t>
                </a:r>
                <a:r>
                  <a:rPr lang="en-US" altLang="zh-TW" sz="2300" b="1" dirty="0"/>
                  <a:t>.</a:t>
                </a:r>
                <a:r>
                  <a:rPr lang="en-US" altLang="zh-TW" sz="2300" dirty="0"/>
                  <a:t>	The root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if		 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it has at least two children in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chemeClr val="bg1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b.</a:t>
                </a:r>
                <a:r>
                  <a:rPr lang="en-US" altLang="zh-TW" sz="2300" dirty="0"/>
                  <a:t>	Let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be a </a:t>
                </a:r>
                <a:r>
                  <a:rPr lang="en-US" altLang="zh-TW" sz="2300" dirty="0" err="1"/>
                  <a:t>nonroot</a:t>
                </a:r>
                <a:r>
                  <a:rPr lang="en-US" altLang="zh-TW" sz="2300" dirty="0"/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 Then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if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has a child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s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such that there is no back edge from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s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or any descendant of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s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to a proper ancestor of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>
                    <a:solidFill>
                      <a:schemeClr val="bg1"/>
                    </a:solidFill>
                  </a:rPr>
                  <a:t>c.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	Let</a:t>
                </a:r>
              </a:p>
              <a:p>
                <a:pPr marL="357188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solidFill>
                            <a:schemeClr val="bg1"/>
                          </a:solidFill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smtClean="0">
                          <a:solidFill>
                            <a:schemeClr val="bg1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u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solidFill>
                                    <a:schemeClr val="bg1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300" dirty="0">
                  <a:solidFill>
                    <a:schemeClr val="bg1"/>
                  </a:solidFill>
                </a:endParaRPr>
              </a:p>
              <a:p>
                <a:pPr marL="357188" indent="-357188"/>
                <a:r>
                  <a:rPr lang="en-US" altLang="zh-TW" sz="2300" b="1" i="1" dirty="0">
                    <a:solidFill>
                      <a:schemeClr val="bg1"/>
                    </a:solidFill>
                  </a:rPr>
                  <a:t>d.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	Let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be a </a:t>
                </a:r>
                <a:r>
                  <a:rPr lang="en-US" altLang="zh-TW" sz="2300" dirty="0" err="1">
                    <a:solidFill>
                      <a:schemeClr val="bg1"/>
                    </a:solidFill>
                  </a:rPr>
                  <a:t>nonroot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vertex of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chemeClr val="bg1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. Then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is </a:t>
                </a:r>
                <a:r>
                  <a:rPr lang="en-US" altLang="zh-TW" sz="2300" dirty="0" smtClean="0">
                    <a:solidFill>
                      <a:schemeClr val="bg1"/>
                    </a:solidFill>
                  </a:rPr>
                  <a:t>a cut 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point of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G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if and only if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has a child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s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such that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300" b="0" i="1" smtClean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zh-TW" sz="2300" i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.</m:t>
                    </m:r>
                    <m:r>
                      <m:rPr>
                        <m:nor/>
                      </m:rPr>
                      <a:rPr lang="en-US" altLang="zh-TW" sz="2300" i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low</m:t>
                    </m:r>
                  </m:oMath>
                </a14:m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300" dirty="0">
                    <a:solidFill>
                      <a:schemeClr val="bg1"/>
                    </a:solidFill>
                    <a:sym typeface="Symbol" panose="05050102010706020507" pitchFamily="18" charset="2"/>
                  </a:rPr>
                  <a:t>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TW" sz="2300" i="1">
                        <a:solidFill>
                          <a:schemeClr val="bg1"/>
                        </a:solidFill>
                      </a:rPr>
                      <m:t>v</m:t>
                    </m:r>
                    <m:r>
                      <m:rPr>
                        <m:nor/>
                      </m:rPr>
                      <a:rPr lang="en-US" altLang="zh-TW" sz="2300" i="1">
                        <a:solidFill>
                          <a:schemeClr val="bg1"/>
                        </a:solidFill>
                      </a:rPr>
                      <m:t>.</m:t>
                    </m:r>
                    <m:r>
                      <m:rPr>
                        <m:nor/>
                      </m:rPr>
                      <a:rPr lang="en-US" altLang="zh-TW" sz="2300" i="1">
                        <a:solidFill>
                          <a:schemeClr val="bg1"/>
                        </a:solidFill>
                      </a:rPr>
                      <m:t>d</m:t>
                    </m:r>
                  </m:oMath>
                </a14:m>
                <a:r>
                  <a:rPr lang="en-US" altLang="zh-TW" sz="2300" dirty="0"/>
                  <a:t>.</a:t>
                </a:r>
                <a:endParaRPr lang="zh-TW" altLang="en-US" sz="23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  <a:blipFill>
                <a:blip r:embed="rId2"/>
                <a:stretch>
                  <a:fillRect l="-987" t="-967" r="-1834" b="-2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39973528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直線單箭頭接點 127"/>
          <p:cNvCxnSpPr>
            <a:endCxn id="110" idx="4"/>
          </p:cNvCxnSpPr>
          <p:nvPr/>
        </p:nvCxnSpPr>
        <p:spPr bwMode="auto">
          <a:xfrm flipV="1">
            <a:off x="6012000" y="486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628999"/>
            <a:ext cx="3600000" cy="4140001"/>
          </a:xfrm>
        </p:spPr>
        <p:txBody>
          <a:bodyPr/>
          <a:lstStyle/>
          <a:p>
            <a:pPr marL="357188" indent="-357188"/>
            <a:r>
              <a:rPr lang="en-US" altLang="zh-TW" sz="2300" b="1" i="1" dirty="0"/>
              <a:t>a</a:t>
            </a:r>
            <a:r>
              <a:rPr lang="en-US" altLang="zh-TW" sz="2300" b="1" dirty="0"/>
              <a:t>.</a:t>
            </a:r>
            <a:r>
              <a:rPr lang="en-US" altLang="zh-TW" sz="2300" dirty="0"/>
              <a:t>	The root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if </a:t>
            </a:r>
            <a:r>
              <a:rPr lang="en-US" altLang="zh-TW" sz="2300" dirty="0">
                <a:solidFill>
                  <a:schemeClr val="bg1"/>
                </a:solidFill>
              </a:rPr>
              <a:t>it has at least two children in </a:t>
            </a:r>
            <a:r>
              <a:rPr lang="en-US" altLang="zh-TW" sz="2300" i="1" dirty="0">
                <a:solidFill>
                  <a:schemeClr val="bg1"/>
                </a:solidFill>
              </a:rPr>
              <a:t>G</a:t>
            </a:r>
            <a:r>
              <a:rPr lang="en-US" altLang="zh-TW" sz="2300" baseline="-25000" dirty="0">
                <a:solidFill>
                  <a:schemeClr val="bg1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.</a:t>
            </a:r>
          </a:p>
          <a:p>
            <a:pPr marL="357188" indent="-357188"/>
            <a:r>
              <a:rPr lang="en-US" altLang="zh-TW" sz="2300" b="1" i="1" dirty="0"/>
              <a:t>b.</a:t>
            </a:r>
            <a:r>
              <a:rPr lang="en-US" altLang="zh-TW" sz="2300" dirty="0"/>
              <a:t>	The </a:t>
            </a:r>
            <a:r>
              <a:rPr lang="en-US" altLang="zh-TW" sz="2300" dirty="0" err="1"/>
              <a:t>nonroot</a:t>
            </a:r>
            <a:r>
              <a:rPr lang="en-US" altLang="zh-TW" sz="2300" dirty="0"/>
              <a:t> vertex </a:t>
            </a:r>
            <a:r>
              <a:rPr lang="en-US" altLang="zh-TW" sz="2300" i="1" dirty="0"/>
              <a:t>u</a:t>
            </a:r>
            <a:r>
              <a:rPr lang="en-US" altLang="zh-TW" sz="2300" dirty="0"/>
              <a:t>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if </a:t>
            </a:r>
            <a:r>
              <a:rPr lang="en-US" altLang="zh-TW" sz="2300" i="1" dirty="0">
                <a:solidFill>
                  <a:schemeClr val="bg1"/>
                </a:solidFill>
              </a:rPr>
              <a:t>u</a:t>
            </a:r>
            <a:r>
              <a:rPr lang="en-US" altLang="zh-TW" sz="2300" dirty="0">
                <a:solidFill>
                  <a:schemeClr val="bg1"/>
                </a:solidFill>
              </a:rPr>
              <a:t> has a child </a:t>
            </a:r>
            <a:r>
              <a:rPr lang="en-US" altLang="zh-TW" sz="2300" i="1" dirty="0">
                <a:solidFill>
                  <a:schemeClr val="bg1"/>
                </a:solidFill>
              </a:rPr>
              <a:t>v</a:t>
            </a:r>
            <a:r>
              <a:rPr lang="en-US" altLang="zh-TW" sz="2300" dirty="0">
                <a:solidFill>
                  <a:schemeClr val="bg1"/>
                </a:solidFill>
              </a:rPr>
              <a:t> such that there is no back edge from any descendant of </a:t>
            </a:r>
            <a:r>
              <a:rPr lang="en-US" altLang="zh-TW" sz="2300" i="1" dirty="0">
                <a:solidFill>
                  <a:schemeClr val="bg1"/>
                </a:solidFill>
              </a:rPr>
              <a:t>v</a:t>
            </a:r>
            <a:r>
              <a:rPr lang="en-US" altLang="zh-TW" sz="2300" dirty="0">
                <a:solidFill>
                  <a:schemeClr val="bg1"/>
                </a:solidFill>
              </a:rPr>
              <a:t> to a proper ancestor of </a:t>
            </a:r>
            <a:r>
              <a:rPr lang="en-US" altLang="zh-TW" sz="2300" i="1" dirty="0">
                <a:solidFill>
                  <a:schemeClr val="bg1"/>
                </a:solidFill>
              </a:rPr>
              <a:t>u</a:t>
            </a:r>
            <a:r>
              <a:rPr lang="en-US" altLang="zh-TW" sz="2300" dirty="0"/>
              <a:t>.</a:t>
            </a:r>
            <a:endParaRPr lang="zh-TW" altLang="en-US" sz="2300" dirty="0"/>
          </a:p>
        </p:txBody>
      </p:sp>
      <p:cxnSp>
        <p:nvCxnSpPr>
          <p:cNvPr id="88" name="AutoShape 57"/>
          <p:cNvCxnSpPr>
            <a:cxnSpLocks noChangeShapeType="1"/>
          </p:cNvCxnSpPr>
          <p:nvPr/>
        </p:nvCxnSpPr>
        <p:spPr bwMode="auto">
          <a:xfrm flipH="1" flipV="1">
            <a:off x="6372000" y="46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9" name="AutoShape 56"/>
          <p:cNvCxnSpPr>
            <a:cxnSpLocks noChangeShapeType="1"/>
          </p:cNvCxnSpPr>
          <p:nvPr/>
        </p:nvCxnSpPr>
        <p:spPr bwMode="auto">
          <a:xfrm flipV="1">
            <a:off x="5652000" y="46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" name="AutoShape 57"/>
          <p:cNvCxnSpPr>
            <a:cxnSpLocks noChangeShapeType="1"/>
          </p:cNvCxnSpPr>
          <p:nvPr/>
        </p:nvCxnSpPr>
        <p:spPr bwMode="auto">
          <a:xfrm flipH="1" flipV="1">
            <a:off x="7452000" y="32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691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3" name="Line 40"/>
          <p:cNvSpPr>
            <a:spLocks noChangeShapeType="1"/>
          </p:cNvSpPr>
          <p:nvPr/>
        </p:nvSpPr>
        <p:spPr bwMode="auto">
          <a:xfrm>
            <a:off x="439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4" name="Line 40"/>
          <p:cNvSpPr>
            <a:spLocks noChangeShapeType="1"/>
          </p:cNvSpPr>
          <p:nvPr/>
        </p:nvSpPr>
        <p:spPr bwMode="auto">
          <a:xfrm flipV="1">
            <a:off x="637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5" name="AutoShape 57"/>
          <p:cNvCxnSpPr>
            <a:cxnSpLocks noChangeShapeType="1"/>
          </p:cNvCxnSpPr>
          <p:nvPr/>
        </p:nvCxnSpPr>
        <p:spPr bwMode="auto">
          <a:xfrm flipH="1" flipV="1">
            <a:off x="5652000" y="180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Oval 39"/>
          <p:cNvSpPr>
            <a:spLocks noChangeArrowheads="1"/>
          </p:cNvSpPr>
          <p:nvPr/>
        </p:nvSpPr>
        <p:spPr bwMode="auto">
          <a:xfrm>
            <a:off x="6732000" y="23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97" name="Oval 49"/>
          <p:cNvSpPr>
            <a:spLocks noChangeArrowheads="1"/>
          </p:cNvSpPr>
          <p:nvPr/>
        </p:nvSpPr>
        <p:spPr bwMode="auto">
          <a:xfrm>
            <a:off x="475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98" name="Oval 50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9" name="Oval 52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00" name="AutoShape 56"/>
          <p:cNvCxnSpPr>
            <a:cxnSpLocks noChangeShapeType="1"/>
          </p:cNvCxnSpPr>
          <p:nvPr/>
        </p:nvCxnSpPr>
        <p:spPr bwMode="auto">
          <a:xfrm flipV="1">
            <a:off x="4392000" y="180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1" name="Oval 39"/>
          <p:cNvSpPr>
            <a:spLocks noChangeArrowheads="1"/>
          </p:cNvSpPr>
          <p:nvPr/>
        </p:nvSpPr>
        <p:spPr bwMode="auto">
          <a:xfrm>
            <a:off x="5472000" y="162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2" name="Oval 51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03" name="Line 40"/>
          <p:cNvSpPr>
            <a:spLocks noChangeShapeType="1"/>
          </p:cNvSpPr>
          <p:nvPr/>
        </p:nvSpPr>
        <p:spPr bwMode="auto">
          <a:xfrm>
            <a:off x="817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4" name="Line 40"/>
          <p:cNvSpPr>
            <a:spLocks noChangeShapeType="1"/>
          </p:cNvSpPr>
          <p:nvPr/>
        </p:nvSpPr>
        <p:spPr bwMode="auto">
          <a:xfrm>
            <a:off x="673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5" name="AutoShape 56"/>
          <p:cNvCxnSpPr>
            <a:cxnSpLocks noChangeShapeType="1"/>
          </p:cNvCxnSpPr>
          <p:nvPr/>
        </p:nvCxnSpPr>
        <p:spPr bwMode="auto">
          <a:xfrm flipV="1">
            <a:off x="6372000" y="39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6" name="Line 40"/>
          <p:cNvSpPr>
            <a:spLocks noChangeShapeType="1"/>
          </p:cNvSpPr>
          <p:nvPr/>
        </p:nvSpPr>
        <p:spPr bwMode="auto">
          <a:xfrm flipV="1">
            <a:off x="781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7" name="Oval 39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108" name="Oval 49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sp>
        <p:nvSpPr>
          <p:cNvPr id="109" name="Oval 50"/>
          <p:cNvSpPr>
            <a:spLocks noChangeArrowheads="1"/>
          </p:cNvSpPr>
          <p:nvPr/>
        </p:nvSpPr>
        <p:spPr bwMode="auto">
          <a:xfrm>
            <a:off x="835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111" name="Oval 52"/>
          <p:cNvSpPr>
            <a:spLocks noChangeArrowheads="1"/>
          </p:cNvSpPr>
          <p:nvPr/>
        </p:nvSpPr>
        <p:spPr bwMode="auto">
          <a:xfrm>
            <a:off x="763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709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4" name="Line 40"/>
          <p:cNvSpPr>
            <a:spLocks noChangeShapeType="1"/>
          </p:cNvSpPr>
          <p:nvPr/>
        </p:nvSpPr>
        <p:spPr bwMode="auto">
          <a:xfrm>
            <a:off x="565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5" name="AutoShape 56"/>
          <p:cNvCxnSpPr>
            <a:cxnSpLocks noChangeShapeType="1"/>
          </p:cNvCxnSpPr>
          <p:nvPr/>
        </p:nvCxnSpPr>
        <p:spPr bwMode="auto">
          <a:xfrm flipV="1">
            <a:off x="5292000" y="540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6" name="Line 40"/>
          <p:cNvSpPr>
            <a:spLocks noChangeShapeType="1"/>
          </p:cNvSpPr>
          <p:nvPr/>
        </p:nvSpPr>
        <p:spPr bwMode="auto">
          <a:xfrm flipV="1">
            <a:off x="673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7" name="Oval 39"/>
          <p:cNvSpPr>
            <a:spLocks noChangeArrowheads="1"/>
          </p:cNvSpPr>
          <p:nvPr/>
        </p:nvSpPr>
        <p:spPr bwMode="auto">
          <a:xfrm>
            <a:off x="6912000" y="522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118" name="Oval 49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9" name="Oval 50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120" name="Oval 51"/>
          <p:cNvSpPr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21" name="Oval 52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122" name="Oval 51"/>
          <p:cNvSpPr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cxnSp>
        <p:nvCxnSpPr>
          <p:cNvPr id="123" name="弧形接點 122"/>
          <p:cNvCxnSpPr>
            <a:stCxn id="109" idx="0"/>
            <a:endCxn id="101" idx="6"/>
          </p:cNvCxnSpPr>
          <p:nvPr/>
        </p:nvCxnSpPr>
        <p:spPr bwMode="auto">
          <a:xfrm rot="16200000" flipV="1">
            <a:off x="5832000" y="180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4" name="直線單箭頭接點 123"/>
          <p:cNvCxnSpPr>
            <a:stCxn id="97" idx="7"/>
            <a:endCxn id="101" idx="4"/>
          </p:cNvCxnSpPr>
          <p:nvPr/>
        </p:nvCxnSpPr>
        <p:spPr bwMode="auto">
          <a:xfrm flipV="1">
            <a:off x="5059279" y="198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5" name="直線單箭頭接點 124"/>
          <p:cNvCxnSpPr>
            <a:stCxn id="99" idx="1"/>
            <a:endCxn id="101" idx="4"/>
          </p:cNvCxnSpPr>
          <p:nvPr/>
        </p:nvCxnSpPr>
        <p:spPr bwMode="auto">
          <a:xfrm flipH="1" flipV="1">
            <a:off x="5652000" y="198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6" name="直線單箭頭接點 125"/>
          <p:cNvCxnSpPr>
            <a:stCxn id="111" idx="0"/>
            <a:endCxn id="98" idx="4"/>
          </p:cNvCxnSpPr>
          <p:nvPr/>
        </p:nvCxnSpPr>
        <p:spPr bwMode="auto">
          <a:xfrm flipH="1" flipV="1">
            <a:off x="7452000" y="342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7" name="直線單箭頭接點 126"/>
          <p:cNvCxnSpPr>
            <a:stCxn id="121" idx="0"/>
            <a:endCxn id="112" idx="4"/>
          </p:cNvCxnSpPr>
          <p:nvPr/>
        </p:nvCxnSpPr>
        <p:spPr bwMode="auto">
          <a:xfrm flipV="1">
            <a:off x="6732000" y="414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9" name="弧形接點 128"/>
          <p:cNvCxnSpPr>
            <a:stCxn id="120" idx="0"/>
            <a:endCxn id="98" idx="2"/>
          </p:cNvCxnSpPr>
          <p:nvPr/>
        </p:nvCxnSpPr>
        <p:spPr bwMode="auto">
          <a:xfrm rot="5400000" flipH="1" flipV="1">
            <a:off x="4932000" y="360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66032990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直線單箭頭接點 127"/>
          <p:cNvCxnSpPr>
            <a:endCxn id="110" idx="4"/>
          </p:cNvCxnSpPr>
          <p:nvPr/>
        </p:nvCxnSpPr>
        <p:spPr bwMode="auto">
          <a:xfrm flipV="1">
            <a:off x="6012000" y="486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628999"/>
            <a:ext cx="3600000" cy="4140001"/>
          </a:xfrm>
        </p:spPr>
        <p:txBody>
          <a:bodyPr/>
          <a:lstStyle/>
          <a:p>
            <a:pPr marL="357188" indent="-357188"/>
            <a:r>
              <a:rPr lang="en-US" altLang="zh-TW" sz="2300" b="1" i="1" dirty="0"/>
              <a:t>a</a:t>
            </a:r>
            <a:r>
              <a:rPr lang="en-US" altLang="zh-TW" sz="2300" b="1" dirty="0"/>
              <a:t>.</a:t>
            </a:r>
            <a:r>
              <a:rPr lang="en-US" altLang="zh-TW" sz="2300" dirty="0"/>
              <a:t>	The root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if it has at least two children in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.</a:t>
            </a:r>
          </a:p>
          <a:p>
            <a:pPr marL="357188" indent="-357188"/>
            <a:r>
              <a:rPr lang="en-US" altLang="zh-TW" sz="2300" b="1" i="1" dirty="0"/>
              <a:t>b.</a:t>
            </a:r>
            <a:r>
              <a:rPr lang="en-US" altLang="zh-TW" sz="2300" dirty="0"/>
              <a:t>	The </a:t>
            </a:r>
            <a:r>
              <a:rPr lang="en-US" altLang="zh-TW" sz="2300" dirty="0" err="1"/>
              <a:t>nonroot</a:t>
            </a:r>
            <a:r>
              <a:rPr lang="en-US" altLang="zh-TW" sz="2300" dirty="0"/>
              <a:t> vertex </a:t>
            </a:r>
            <a:r>
              <a:rPr lang="en-US" altLang="zh-TW" sz="2300" i="1" dirty="0"/>
              <a:t>u</a:t>
            </a:r>
            <a:r>
              <a:rPr lang="en-US" altLang="zh-TW" sz="2300" dirty="0"/>
              <a:t>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if </a:t>
            </a:r>
            <a:r>
              <a:rPr lang="en-US" altLang="zh-TW" sz="2300" i="1" dirty="0"/>
              <a:t>u</a:t>
            </a:r>
            <a:r>
              <a:rPr lang="en-US" altLang="zh-TW" sz="2300" dirty="0"/>
              <a:t> has a child </a:t>
            </a:r>
            <a:r>
              <a:rPr lang="en-US" altLang="zh-TW" sz="2300" i="1" dirty="0"/>
              <a:t>v</a:t>
            </a:r>
            <a:r>
              <a:rPr lang="en-US" altLang="zh-TW" sz="2300" dirty="0"/>
              <a:t> such that there is no back edge from any descendant of </a:t>
            </a:r>
            <a:r>
              <a:rPr lang="en-US" altLang="zh-TW" sz="2300" i="1" dirty="0"/>
              <a:t>v</a:t>
            </a:r>
            <a:r>
              <a:rPr lang="en-US" altLang="zh-TW" sz="2300" dirty="0"/>
              <a:t> to a proper ancestor of </a:t>
            </a:r>
            <a:r>
              <a:rPr lang="en-US" altLang="zh-TW" sz="2300" i="1" dirty="0"/>
              <a:t>u</a:t>
            </a:r>
            <a:r>
              <a:rPr lang="en-US" altLang="zh-TW" sz="2300" dirty="0"/>
              <a:t>.</a:t>
            </a:r>
            <a:endParaRPr lang="zh-TW" altLang="en-US" sz="2300" dirty="0"/>
          </a:p>
        </p:txBody>
      </p:sp>
      <p:cxnSp>
        <p:nvCxnSpPr>
          <p:cNvPr id="88" name="AutoShape 57"/>
          <p:cNvCxnSpPr>
            <a:cxnSpLocks noChangeShapeType="1"/>
          </p:cNvCxnSpPr>
          <p:nvPr/>
        </p:nvCxnSpPr>
        <p:spPr bwMode="auto">
          <a:xfrm flipH="1" flipV="1">
            <a:off x="6372000" y="46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9" name="AutoShape 56"/>
          <p:cNvCxnSpPr>
            <a:cxnSpLocks noChangeShapeType="1"/>
          </p:cNvCxnSpPr>
          <p:nvPr/>
        </p:nvCxnSpPr>
        <p:spPr bwMode="auto">
          <a:xfrm flipV="1">
            <a:off x="5652000" y="46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0" name="AutoShape 57"/>
          <p:cNvCxnSpPr>
            <a:cxnSpLocks noChangeShapeType="1"/>
          </p:cNvCxnSpPr>
          <p:nvPr/>
        </p:nvCxnSpPr>
        <p:spPr bwMode="auto">
          <a:xfrm flipH="1" flipV="1">
            <a:off x="7452000" y="32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91" name="AutoShape 56"/>
          <p:cNvCxnSpPr>
            <a:cxnSpLocks noChangeShapeType="1"/>
          </p:cNvCxnSpPr>
          <p:nvPr/>
        </p:nvCxnSpPr>
        <p:spPr bwMode="auto">
          <a:xfrm flipV="1">
            <a:off x="6732000" y="32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2" name="Line 40"/>
          <p:cNvSpPr>
            <a:spLocks noChangeShapeType="1"/>
          </p:cNvSpPr>
          <p:nvPr/>
        </p:nvSpPr>
        <p:spPr bwMode="auto">
          <a:xfrm>
            <a:off x="691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3" name="Line 40"/>
          <p:cNvSpPr>
            <a:spLocks noChangeShapeType="1"/>
          </p:cNvSpPr>
          <p:nvPr/>
        </p:nvSpPr>
        <p:spPr bwMode="auto">
          <a:xfrm>
            <a:off x="439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4" name="Line 40"/>
          <p:cNvSpPr>
            <a:spLocks noChangeShapeType="1"/>
          </p:cNvSpPr>
          <p:nvPr/>
        </p:nvSpPr>
        <p:spPr bwMode="auto">
          <a:xfrm flipV="1">
            <a:off x="6372000" y="252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95" name="AutoShape 57"/>
          <p:cNvCxnSpPr>
            <a:cxnSpLocks noChangeShapeType="1"/>
          </p:cNvCxnSpPr>
          <p:nvPr/>
        </p:nvCxnSpPr>
        <p:spPr bwMode="auto">
          <a:xfrm flipH="1" flipV="1">
            <a:off x="5652000" y="180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6" name="Oval 39"/>
          <p:cNvSpPr>
            <a:spLocks noChangeArrowheads="1"/>
          </p:cNvSpPr>
          <p:nvPr/>
        </p:nvSpPr>
        <p:spPr bwMode="auto">
          <a:xfrm>
            <a:off x="6732000" y="23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97" name="Oval 49"/>
          <p:cNvSpPr>
            <a:spLocks noChangeArrowheads="1"/>
          </p:cNvSpPr>
          <p:nvPr/>
        </p:nvSpPr>
        <p:spPr bwMode="auto">
          <a:xfrm>
            <a:off x="475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98" name="Oval 50"/>
          <p:cNvSpPr>
            <a:spLocks noChangeArrowheads="1"/>
          </p:cNvSpPr>
          <p:nvPr/>
        </p:nvSpPr>
        <p:spPr bwMode="auto">
          <a:xfrm>
            <a:off x="7272000" y="306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99" name="Oval 52"/>
          <p:cNvSpPr>
            <a:spLocks noChangeArrowheads="1"/>
          </p:cNvSpPr>
          <p:nvPr/>
        </p:nvSpPr>
        <p:spPr bwMode="auto">
          <a:xfrm>
            <a:off x="6192000" y="30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00" name="AutoShape 56"/>
          <p:cNvCxnSpPr>
            <a:cxnSpLocks noChangeShapeType="1"/>
          </p:cNvCxnSpPr>
          <p:nvPr/>
        </p:nvCxnSpPr>
        <p:spPr bwMode="auto">
          <a:xfrm flipV="1">
            <a:off x="4392000" y="180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1" name="Oval 39"/>
          <p:cNvSpPr>
            <a:spLocks noChangeArrowheads="1"/>
          </p:cNvSpPr>
          <p:nvPr/>
        </p:nvSpPr>
        <p:spPr bwMode="auto">
          <a:xfrm>
            <a:off x="5472000" y="162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02" name="Oval 51"/>
          <p:cNvSpPr>
            <a:spLocks noChangeArrowheads="1"/>
          </p:cNvSpPr>
          <p:nvPr/>
        </p:nvSpPr>
        <p:spPr bwMode="auto">
          <a:xfrm>
            <a:off x="4212000" y="23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103" name="Line 40"/>
          <p:cNvSpPr>
            <a:spLocks noChangeShapeType="1"/>
          </p:cNvSpPr>
          <p:nvPr/>
        </p:nvSpPr>
        <p:spPr bwMode="auto">
          <a:xfrm>
            <a:off x="817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4" name="Line 40"/>
          <p:cNvSpPr>
            <a:spLocks noChangeShapeType="1"/>
          </p:cNvSpPr>
          <p:nvPr/>
        </p:nvSpPr>
        <p:spPr bwMode="auto">
          <a:xfrm>
            <a:off x="673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5" name="AutoShape 56"/>
          <p:cNvCxnSpPr>
            <a:cxnSpLocks noChangeShapeType="1"/>
          </p:cNvCxnSpPr>
          <p:nvPr/>
        </p:nvCxnSpPr>
        <p:spPr bwMode="auto">
          <a:xfrm flipV="1">
            <a:off x="6372000" y="39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06" name="Line 40"/>
          <p:cNvSpPr>
            <a:spLocks noChangeShapeType="1"/>
          </p:cNvSpPr>
          <p:nvPr/>
        </p:nvSpPr>
        <p:spPr bwMode="auto">
          <a:xfrm flipV="1">
            <a:off x="7812000" y="39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7" name="Oval 39"/>
          <p:cNvSpPr>
            <a:spLocks noChangeArrowheads="1"/>
          </p:cNvSpPr>
          <p:nvPr/>
        </p:nvSpPr>
        <p:spPr bwMode="auto">
          <a:xfrm>
            <a:off x="7992000" y="37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108" name="Oval 49"/>
          <p:cNvSpPr>
            <a:spLocks noChangeArrowheads="1"/>
          </p:cNvSpPr>
          <p:nvPr/>
        </p:nvSpPr>
        <p:spPr bwMode="auto">
          <a:xfrm>
            <a:off x="691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sp>
        <p:nvSpPr>
          <p:cNvPr id="109" name="Oval 50"/>
          <p:cNvSpPr>
            <a:spLocks noChangeArrowheads="1"/>
          </p:cNvSpPr>
          <p:nvPr/>
        </p:nvSpPr>
        <p:spPr bwMode="auto">
          <a:xfrm>
            <a:off x="835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110" name="Oval 51"/>
          <p:cNvSpPr>
            <a:spLocks noChangeArrowheads="1"/>
          </p:cNvSpPr>
          <p:nvPr/>
        </p:nvSpPr>
        <p:spPr bwMode="auto">
          <a:xfrm>
            <a:off x="619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111" name="Oval 52"/>
          <p:cNvSpPr>
            <a:spLocks noChangeArrowheads="1"/>
          </p:cNvSpPr>
          <p:nvPr/>
        </p:nvSpPr>
        <p:spPr bwMode="auto">
          <a:xfrm>
            <a:off x="7632000" y="45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112" name="Oval 51"/>
          <p:cNvSpPr>
            <a:spLocks noChangeArrowheads="1"/>
          </p:cNvSpPr>
          <p:nvPr/>
        </p:nvSpPr>
        <p:spPr bwMode="auto">
          <a:xfrm>
            <a:off x="6552000" y="378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113" name="Line 40"/>
          <p:cNvSpPr>
            <a:spLocks noChangeShapeType="1"/>
          </p:cNvSpPr>
          <p:nvPr/>
        </p:nvSpPr>
        <p:spPr bwMode="auto">
          <a:xfrm>
            <a:off x="709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4" name="Line 40"/>
          <p:cNvSpPr>
            <a:spLocks noChangeShapeType="1"/>
          </p:cNvSpPr>
          <p:nvPr/>
        </p:nvSpPr>
        <p:spPr bwMode="auto">
          <a:xfrm>
            <a:off x="565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15" name="AutoShape 56"/>
          <p:cNvCxnSpPr>
            <a:cxnSpLocks noChangeShapeType="1"/>
          </p:cNvCxnSpPr>
          <p:nvPr/>
        </p:nvCxnSpPr>
        <p:spPr bwMode="auto">
          <a:xfrm flipV="1">
            <a:off x="5292000" y="540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6" name="Line 40"/>
          <p:cNvSpPr>
            <a:spLocks noChangeShapeType="1"/>
          </p:cNvSpPr>
          <p:nvPr/>
        </p:nvSpPr>
        <p:spPr bwMode="auto">
          <a:xfrm flipV="1">
            <a:off x="6732000" y="54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7" name="Oval 39"/>
          <p:cNvSpPr>
            <a:spLocks noChangeArrowheads="1"/>
          </p:cNvSpPr>
          <p:nvPr/>
        </p:nvSpPr>
        <p:spPr bwMode="auto">
          <a:xfrm>
            <a:off x="6912000" y="522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118" name="Oval 49"/>
          <p:cNvSpPr>
            <a:spLocks noChangeArrowheads="1"/>
          </p:cNvSpPr>
          <p:nvPr/>
        </p:nvSpPr>
        <p:spPr bwMode="auto">
          <a:xfrm>
            <a:off x="583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119" name="Oval 50"/>
          <p:cNvSpPr>
            <a:spLocks noChangeArrowheads="1"/>
          </p:cNvSpPr>
          <p:nvPr/>
        </p:nvSpPr>
        <p:spPr bwMode="auto">
          <a:xfrm>
            <a:off x="727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120" name="Oval 51"/>
          <p:cNvSpPr>
            <a:spLocks noChangeArrowheads="1"/>
          </p:cNvSpPr>
          <p:nvPr/>
        </p:nvSpPr>
        <p:spPr bwMode="auto">
          <a:xfrm>
            <a:off x="511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121" name="Oval 52"/>
          <p:cNvSpPr>
            <a:spLocks noChangeArrowheads="1"/>
          </p:cNvSpPr>
          <p:nvPr/>
        </p:nvSpPr>
        <p:spPr bwMode="auto">
          <a:xfrm>
            <a:off x="655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122" name="Oval 51"/>
          <p:cNvSpPr>
            <a:spLocks noChangeArrowheads="1"/>
          </p:cNvSpPr>
          <p:nvPr/>
        </p:nvSpPr>
        <p:spPr bwMode="auto">
          <a:xfrm>
            <a:off x="5472000" y="52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cxnSp>
        <p:nvCxnSpPr>
          <p:cNvPr id="123" name="弧形接點 122"/>
          <p:cNvCxnSpPr>
            <a:stCxn id="109" idx="0"/>
            <a:endCxn id="101" idx="6"/>
          </p:cNvCxnSpPr>
          <p:nvPr/>
        </p:nvCxnSpPr>
        <p:spPr bwMode="auto">
          <a:xfrm rot="16200000" flipV="1">
            <a:off x="5832000" y="180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4" name="直線單箭頭接點 123"/>
          <p:cNvCxnSpPr>
            <a:stCxn id="97" idx="7"/>
            <a:endCxn id="101" idx="4"/>
          </p:cNvCxnSpPr>
          <p:nvPr/>
        </p:nvCxnSpPr>
        <p:spPr bwMode="auto">
          <a:xfrm flipV="1">
            <a:off x="5059279" y="198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5" name="直線單箭頭接點 124"/>
          <p:cNvCxnSpPr>
            <a:stCxn id="99" idx="1"/>
            <a:endCxn id="101" idx="4"/>
          </p:cNvCxnSpPr>
          <p:nvPr/>
        </p:nvCxnSpPr>
        <p:spPr bwMode="auto">
          <a:xfrm flipH="1" flipV="1">
            <a:off x="5652000" y="198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6" name="直線單箭頭接點 125"/>
          <p:cNvCxnSpPr>
            <a:stCxn id="111" idx="0"/>
            <a:endCxn id="98" idx="4"/>
          </p:cNvCxnSpPr>
          <p:nvPr/>
        </p:nvCxnSpPr>
        <p:spPr bwMode="auto">
          <a:xfrm flipH="1" flipV="1">
            <a:off x="7452000" y="342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7" name="直線單箭頭接點 126"/>
          <p:cNvCxnSpPr>
            <a:stCxn id="121" idx="0"/>
            <a:endCxn id="112" idx="4"/>
          </p:cNvCxnSpPr>
          <p:nvPr/>
        </p:nvCxnSpPr>
        <p:spPr bwMode="auto">
          <a:xfrm flipV="1">
            <a:off x="6732000" y="414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129" name="弧形接點 128"/>
          <p:cNvCxnSpPr>
            <a:stCxn id="120" idx="0"/>
            <a:endCxn id="98" idx="2"/>
          </p:cNvCxnSpPr>
          <p:nvPr/>
        </p:nvCxnSpPr>
        <p:spPr bwMode="auto">
          <a:xfrm rot="5400000" flipH="1" flipV="1">
            <a:off x="4932000" y="360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819003575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8413"/>
            <a:ext cx="8640000" cy="4680587"/>
          </a:xfrm>
        </p:spPr>
        <p:txBody>
          <a:bodyPr/>
          <a:lstStyle/>
          <a:p>
            <a:pPr marL="0" indent="0"/>
            <a:r>
              <a:rPr lang="en-US" altLang="zh-TW" sz="2300" dirty="0"/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</a:t>
            </a:r>
            <a:r>
              <a:rPr lang="en-US" altLang="zh-TW" sz="2300" dirty="0"/>
              <a:t> be a connected, undirected graph. </a:t>
            </a:r>
            <a:r>
              <a:rPr lang="en-US" altLang="zh-TW" sz="2300" dirty="0" smtClean="0"/>
              <a:t>A </a:t>
            </a:r>
            <a:r>
              <a:rPr lang="en-US" altLang="zh-TW" sz="2300" i="1" dirty="0" smtClean="0">
                <a:solidFill>
                  <a:srgbClr val="0000FF"/>
                </a:solidFill>
              </a:rPr>
              <a:t>cut </a:t>
            </a:r>
            <a:r>
              <a:rPr lang="en-US" altLang="zh-TW" sz="2300" i="1" dirty="0">
                <a:solidFill>
                  <a:srgbClr val="0000FF"/>
                </a:solidFill>
              </a:rPr>
              <a:t>point</a:t>
            </a:r>
            <a:r>
              <a:rPr lang="en-US" altLang="zh-TW" sz="2300" dirty="0"/>
              <a:t>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is a vertex whose removal disconnects </a:t>
            </a:r>
            <a:r>
              <a:rPr lang="en-US" altLang="zh-TW" sz="2300" i="1" dirty="0"/>
              <a:t>G</a:t>
            </a:r>
            <a:r>
              <a:rPr lang="en-US" altLang="zh-TW" sz="2300" dirty="0"/>
              <a:t>. 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) be a depth-first tree of 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357188" indent="-357188"/>
            <a:r>
              <a:rPr lang="en-US" altLang="zh-TW" sz="2300" b="1" i="1" dirty="0"/>
              <a:t>a</a:t>
            </a:r>
            <a:r>
              <a:rPr lang="en-US" altLang="zh-TW" sz="2300" b="1" dirty="0"/>
              <a:t>.</a:t>
            </a:r>
            <a:r>
              <a:rPr lang="en-US" altLang="zh-TW" sz="2300" dirty="0"/>
              <a:t>	The root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</a:t>
            </a:r>
            <a:r>
              <a:rPr lang="en-US" altLang="zh-TW" sz="2300" dirty="0" smtClean="0"/>
              <a:t>if </a:t>
            </a:r>
            <a:r>
              <a:rPr lang="en-US" altLang="zh-TW" sz="2300" dirty="0"/>
              <a:t>it has at least two children in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.</a:t>
            </a:r>
          </a:p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b.</a:t>
            </a:r>
            <a:r>
              <a:rPr lang="en-US" altLang="zh-TW" sz="2300" dirty="0">
                <a:solidFill>
                  <a:srgbClr val="000000"/>
                </a:solidFill>
              </a:rPr>
              <a:t>	Let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be a </a:t>
            </a:r>
            <a:r>
              <a:rPr lang="en-US" altLang="zh-TW" sz="2300" dirty="0" err="1">
                <a:solidFill>
                  <a:srgbClr val="000000"/>
                </a:solidFill>
              </a:rPr>
              <a:t>nonroot</a:t>
            </a:r>
            <a:r>
              <a:rPr lang="en-US" altLang="zh-TW" sz="2300" dirty="0">
                <a:solidFill>
                  <a:srgbClr val="000000"/>
                </a:solidFill>
              </a:rPr>
              <a:t> vertex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. Then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is </a:t>
            </a:r>
            <a:r>
              <a:rPr lang="en-US" altLang="zh-TW" sz="2300" dirty="0" smtClean="0">
                <a:solidFill>
                  <a:srgbClr val="000000"/>
                </a:solidFill>
              </a:rPr>
              <a:t>a cut </a:t>
            </a:r>
            <a:r>
              <a:rPr lang="en-US" altLang="zh-TW" sz="2300" dirty="0">
                <a:solidFill>
                  <a:srgbClr val="000000"/>
                </a:solidFill>
              </a:rPr>
              <a:t>point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if and only if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has a child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such that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 </a:t>
            </a:r>
            <a:r>
              <a:rPr lang="en-US" altLang="zh-TW" sz="2300" dirty="0"/>
              <a:t>proper</a:t>
            </a:r>
            <a:r>
              <a:rPr lang="en-US" altLang="zh-TW" sz="2300" dirty="0">
                <a:solidFill>
                  <a:srgbClr val="000000"/>
                </a:solidFill>
              </a:rPr>
              <a:t>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749141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52000" y="1268413"/>
            <a:ext cx="8640000" cy="4680587"/>
          </a:xfrm>
        </p:spPr>
        <p:txBody>
          <a:bodyPr/>
          <a:lstStyle/>
          <a:p>
            <a:pPr marL="0" indent="0"/>
            <a:r>
              <a:rPr lang="en-US" altLang="zh-TW" sz="2300" dirty="0"/>
              <a:t>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spc="300" dirty="0">
                <a:solidFill>
                  <a:srgbClr val="000000"/>
                </a:solidFill>
              </a:rPr>
              <a:t>E</a:t>
            </a:r>
            <a:r>
              <a:rPr lang="en-US" altLang="zh-TW" sz="2300" dirty="0">
                <a:solidFill>
                  <a:srgbClr val="000000"/>
                </a:solidFill>
              </a:rPr>
              <a:t>)</a:t>
            </a:r>
            <a:r>
              <a:rPr lang="en-US" altLang="zh-TW" sz="2300" dirty="0"/>
              <a:t> be a connected, undirected graph. </a:t>
            </a:r>
            <a:r>
              <a:rPr lang="en-US" altLang="zh-TW" sz="2300" dirty="0" smtClean="0"/>
              <a:t>A </a:t>
            </a:r>
            <a:r>
              <a:rPr lang="en-US" altLang="zh-TW" sz="2300" i="1" dirty="0" smtClean="0">
                <a:solidFill>
                  <a:srgbClr val="0000FF"/>
                </a:solidFill>
              </a:rPr>
              <a:t>cut </a:t>
            </a:r>
            <a:r>
              <a:rPr lang="en-US" altLang="zh-TW" sz="2300" i="1" dirty="0">
                <a:solidFill>
                  <a:srgbClr val="0000FF"/>
                </a:solidFill>
              </a:rPr>
              <a:t>point</a:t>
            </a:r>
            <a:r>
              <a:rPr lang="en-US" altLang="zh-TW" sz="2300" dirty="0"/>
              <a:t>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is a vertex whose removal disconnects </a:t>
            </a:r>
            <a:r>
              <a:rPr lang="en-US" altLang="zh-TW" sz="2300" i="1" dirty="0"/>
              <a:t>G</a:t>
            </a:r>
            <a:r>
              <a:rPr lang="en-US" altLang="zh-TW" sz="2300" dirty="0"/>
              <a:t>. Let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 </a:t>
            </a:r>
            <a:r>
              <a:rPr lang="en-US" altLang="zh-TW" sz="2300" dirty="0">
                <a:solidFill>
                  <a:srgbClr val="0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 (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V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E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 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) be a depth-first tree of </a:t>
            </a:r>
            <a:r>
              <a:rPr lang="en-US" altLang="zh-TW" sz="2300" i="1" dirty="0">
                <a:solidFill>
                  <a:srgbClr val="000000"/>
                </a:solidFill>
                <a:sym typeface="Symbol" pitchFamily="18" charset="2"/>
              </a:rPr>
              <a:t>G</a:t>
            </a:r>
            <a:r>
              <a:rPr lang="en-US" altLang="zh-TW" sz="2300" dirty="0">
                <a:solidFill>
                  <a:srgbClr val="000000"/>
                </a:solidFill>
                <a:sym typeface="Symbol" pitchFamily="18" charset="2"/>
              </a:rPr>
              <a:t>.</a:t>
            </a:r>
          </a:p>
          <a:p>
            <a:pPr marL="357188" indent="-357188"/>
            <a:r>
              <a:rPr lang="en-US" altLang="zh-TW" sz="2300" b="1" i="1" dirty="0"/>
              <a:t>a</a:t>
            </a:r>
            <a:r>
              <a:rPr lang="en-US" altLang="zh-TW" sz="2300" b="1" dirty="0"/>
              <a:t>.</a:t>
            </a:r>
            <a:r>
              <a:rPr lang="en-US" altLang="zh-TW" sz="2300" dirty="0"/>
              <a:t>	The root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 is </a:t>
            </a:r>
            <a:r>
              <a:rPr lang="en-US" altLang="zh-TW" sz="2300" dirty="0" smtClean="0"/>
              <a:t>a cut </a:t>
            </a:r>
            <a:r>
              <a:rPr lang="en-US" altLang="zh-TW" sz="2300" dirty="0"/>
              <a:t>point of </a:t>
            </a:r>
            <a:r>
              <a:rPr lang="en-US" altLang="zh-TW" sz="2300" i="1" dirty="0"/>
              <a:t>G</a:t>
            </a:r>
            <a:r>
              <a:rPr lang="en-US" altLang="zh-TW" sz="2300" dirty="0"/>
              <a:t> if and only </a:t>
            </a:r>
            <a:r>
              <a:rPr lang="en-US" altLang="zh-TW" sz="2300" dirty="0" smtClean="0"/>
              <a:t>if </a:t>
            </a:r>
            <a:r>
              <a:rPr lang="en-US" altLang="zh-TW" sz="2300" dirty="0"/>
              <a:t>it has at least two children in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/>
              <a:t>.</a:t>
            </a:r>
          </a:p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b.</a:t>
            </a:r>
            <a:r>
              <a:rPr lang="en-US" altLang="zh-TW" sz="2300" dirty="0">
                <a:solidFill>
                  <a:srgbClr val="000000"/>
                </a:solidFill>
              </a:rPr>
              <a:t>	Let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be a </a:t>
            </a:r>
            <a:r>
              <a:rPr lang="en-US" altLang="zh-TW" sz="2300" dirty="0" err="1">
                <a:solidFill>
                  <a:srgbClr val="000000"/>
                </a:solidFill>
              </a:rPr>
              <a:t>nonroot</a:t>
            </a:r>
            <a:r>
              <a:rPr lang="en-US" altLang="zh-TW" sz="2300" dirty="0">
                <a:solidFill>
                  <a:srgbClr val="000000"/>
                </a:solidFill>
              </a:rPr>
              <a:t> vertex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. Then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is </a:t>
            </a:r>
            <a:r>
              <a:rPr lang="en-US" altLang="zh-TW" sz="2300" dirty="0" smtClean="0">
                <a:solidFill>
                  <a:srgbClr val="000000"/>
                </a:solidFill>
              </a:rPr>
              <a:t>a cut </a:t>
            </a:r>
            <a:r>
              <a:rPr lang="en-US" altLang="zh-TW" sz="2300" dirty="0">
                <a:solidFill>
                  <a:srgbClr val="000000"/>
                </a:solidFill>
              </a:rPr>
              <a:t>point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if and only if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has a child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such that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 </a:t>
            </a:r>
            <a:r>
              <a:rPr lang="en-US" altLang="zh-TW" sz="2300" dirty="0">
                <a:solidFill>
                  <a:srgbClr val="FF0000"/>
                </a:solidFill>
              </a:rPr>
              <a:t>proper</a:t>
            </a:r>
            <a:r>
              <a:rPr lang="en-US" altLang="zh-TW" sz="2300" dirty="0">
                <a:solidFill>
                  <a:srgbClr val="000000"/>
                </a:solidFill>
              </a:rPr>
              <a:t>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</a:p>
          <a:p>
            <a:pPr marL="357188" indent="-357188"/>
            <a:endParaRPr lang="en-US" altLang="zh-TW" sz="2300" dirty="0"/>
          </a:p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a</a:t>
            </a:r>
            <a:r>
              <a:rPr lang="en-US" altLang="zh-TW" sz="2300" b="1" dirty="0">
                <a:solidFill>
                  <a:srgbClr val="000000"/>
                </a:solidFill>
              </a:rPr>
              <a:t>.</a:t>
            </a:r>
            <a:r>
              <a:rPr lang="en-US" altLang="zh-TW" sz="2300" dirty="0">
                <a:solidFill>
                  <a:srgbClr val="000000"/>
                </a:solidFill>
              </a:rPr>
              <a:t>	Let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be an edge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 such that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is a child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 Then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is a bridge if and only if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563515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線單箭頭接點 44"/>
          <p:cNvCxnSpPr>
            <a:endCxn id="27" idx="4"/>
          </p:cNvCxnSpPr>
          <p:nvPr/>
        </p:nvCxnSpPr>
        <p:spPr bwMode="auto">
          <a:xfrm flipV="1">
            <a:off x="6012000" y="450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b.</a:t>
            </a:r>
            <a:r>
              <a:rPr lang="en-US" altLang="zh-TW" sz="2300" dirty="0">
                <a:solidFill>
                  <a:srgbClr val="000000"/>
                </a:solidFill>
              </a:rPr>
              <a:t>	The </a:t>
            </a:r>
            <a:r>
              <a:rPr lang="en-US" altLang="zh-TW" sz="2300" dirty="0" err="1">
                <a:solidFill>
                  <a:srgbClr val="000000"/>
                </a:solidFill>
              </a:rPr>
              <a:t>nonroot</a:t>
            </a:r>
            <a:r>
              <a:rPr lang="en-US" altLang="zh-TW" sz="2300" dirty="0">
                <a:solidFill>
                  <a:srgbClr val="000000"/>
                </a:solidFill>
              </a:rPr>
              <a:t> vertex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 is </a:t>
            </a:r>
            <a:r>
              <a:rPr lang="en-US" altLang="zh-TW" sz="2300" dirty="0" smtClean="0">
                <a:solidFill>
                  <a:srgbClr val="000000"/>
                </a:solidFill>
              </a:rPr>
              <a:t>a </a:t>
            </a:r>
            <a:r>
              <a:rPr lang="en-US" altLang="zh-TW" sz="2300" dirty="0" smtClean="0">
                <a:solidFill>
                  <a:srgbClr val="FF0000"/>
                </a:solidFill>
              </a:rPr>
              <a:t>cut </a:t>
            </a:r>
            <a:r>
              <a:rPr lang="en-US" altLang="zh-TW" sz="2300" dirty="0">
                <a:solidFill>
                  <a:srgbClr val="FF0000"/>
                </a:solidFill>
              </a:rPr>
              <a:t>point </a:t>
            </a:r>
            <a:r>
              <a:rPr lang="en-US" altLang="zh-TW" sz="2300" dirty="0">
                <a:solidFill>
                  <a:srgbClr val="000000"/>
                </a:solidFill>
              </a:rPr>
              <a:t>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if and only if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has a child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such that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 </a:t>
            </a:r>
            <a:r>
              <a:rPr lang="en-US" altLang="zh-TW" sz="2300" dirty="0">
                <a:solidFill>
                  <a:srgbClr val="FF0000"/>
                </a:solidFill>
              </a:rPr>
              <a:t>proper</a:t>
            </a:r>
            <a:r>
              <a:rPr lang="en-US" altLang="zh-TW" sz="2300" dirty="0">
                <a:solidFill>
                  <a:srgbClr val="000000"/>
                </a:solidFill>
              </a:rPr>
              <a:t>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  <a:endParaRPr lang="zh-TW" altLang="en-US" sz="2300" dirty="0">
              <a:solidFill>
                <a:srgbClr val="000000"/>
              </a:solidFill>
            </a:endParaRPr>
          </a:p>
          <a:p>
            <a:endParaRPr lang="en-US" altLang="zh-TW" dirty="0"/>
          </a:p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a</a:t>
            </a:r>
            <a:r>
              <a:rPr lang="en-US" altLang="zh-TW" sz="2300" b="1" dirty="0">
                <a:solidFill>
                  <a:srgbClr val="000000"/>
                </a:solidFill>
              </a:rPr>
              <a:t>.</a:t>
            </a:r>
            <a:r>
              <a:rPr lang="en-US" altLang="zh-TW" sz="2300" dirty="0">
                <a:solidFill>
                  <a:srgbClr val="000000"/>
                </a:solidFill>
              </a:rPr>
              <a:t>	Let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be an edge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 such that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is a child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 Then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is a </a:t>
            </a:r>
            <a:r>
              <a:rPr lang="en-US" altLang="zh-TW" sz="2300" dirty="0">
                <a:solidFill>
                  <a:srgbClr val="FF0000"/>
                </a:solidFill>
              </a:rPr>
              <a:t>bridge</a:t>
            </a:r>
            <a:r>
              <a:rPr lang="en-US" altLang="zh-TW" sz="2300" dirty="0">
                <a:solidFill>
                  <a:srgbClr val="000000"/>
                </a:solidFill>
              </a:rPr>
              <a:t> if and only if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6372000" y="432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5652000" y="432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" name="AutoShape 57"/>
          <p:cNvCxnSpPr>
            <a:cxnSpLocks noChangeShapeType="1"/>
          </p:cNvCxnSpPr>
          <p:nvPr/>
        </p:nvCxnSpPr>
        <p:spPr bwMode="auto">
          <a:xfrm flipH="1" flipV="1">
            <a:off x="7452000" y="28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AutoShape 56"/>
          <p:cNvCxnSpPr>
            <a:cxnSpLocks noChangeShapeType="1"/>
          </p:cNvCxnSpPr>
          <p:nvPr/>
        </p:nvCxnSpPr>
        <p:spPr bwMode="auto">
          <a:xfrm flipV="1">
            <a:off x="6732000" y="28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" name="Line 40"/>
          <p:cNvSpPr>
            <a:spLocks noChangeShapeType="1"/>
          </p:cNvSpPr>
          <p:nvPr/>
        </p:nvSpPr>
        <p:spPr bwMode="auto">
          <a:xfrm>
            <a:off x="439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637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5652000" y="14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6732000" y="19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4752000" y="27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7272000" y="270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AutoShape 56"/>
          <p:cNvCxnSpPr>
            <a:cxnSpLocks noChangeShapeType="1"/>
          </p:cNvCxnSpPr>
          <p:nvPr/>
        </p:nvCxnSpPr>
        <p:spPr bwMode="auto">
          <a:xfrm flipV="1">
            <a:off x="4392000" y="14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39"/>
          <p:cNvSpPr>
            <a:spLocks noChangeArrowheads="1"/>
          </p:cNvSpPr>
          <p:nvPr/>
        </p:nvSpPr>
        <p:spPr bwMode="auto">
          <a:xfrm>
            <a:off x="5472000" y="126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51"/>
          <p:cNvSpPr>
            <a:spLocks noChangeArrowheads="1"/>
          </p:cNvSpPr>
          <p:nvPr/>
        </p:nvSpPr>
        <p:spPr bwMode="auto">
          <a:xfrm>
            <a:off x="4212000" y="19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>
            <a:off x="817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auto">
          <a:xfrm>
            <a:off x="673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 flipV="1">
            <a:off x="6372000" y="360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Line 40"/>
          <p:cNvSpPr>
            <a:spLocks noChangeShapeType="1"/>
          </p:cNvSpPr>
          <p:nvPr/>
        </p:nvSpPr>
        <p:spPr bwMode="auto">
          <a:xfrm flipV="1">
            <a:off x="781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39"/>
          <p:cNvSpPr>
            <a:spLocks noChangeArrowheads="1"/>
          </p:cNvSpPr>
          <p:nvPr/>
        </p:nvSpPr>
        <p:spPr bwMode="auto">
          <a:xfrm>
            <a:off x="799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25" name="Oval 49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sp>
        <p:nvSpPr>
          <p:cNvPr id="26" name="Oval 50"/>
          <p:cNvSpPr>
            <a:spLocks noChangeArrowheads="1"/>
          </p:cNvSpPr>
          <p:nvPr/>
        </p:nvSpPr>
        <p:spPr bwMode="auto">
          <a:xfrm>
            <a:off x="83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619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6552000" y="34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30" name="Line 40"/>
          <p:cNvSpPr>
            <a:spLocks noChangeShapeType="1"/>
          </p:cNvSpPr>
          <p:nvPr/>
        </p:nvSpPr>
        <p:spPr bwMode="auto">
          <a:xfrm>
            <a:off x="709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565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2" name="AutoShape 56"/>
          <p:cNvCxnSpPr>
            <a:cxnSpLocks noChangeShapeType="1"/>
          </p:cNvCxnSpPr>
          <p:nvPr/>
        </p:nvCxnSpPr>
        <p:spPr bwMode="auto">
          <a:xfrm flipV="1">
            <a:off x="5292000" y="504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Line 40"/>
          <p:cNvSpPr>
            <a:spLocks noChangeShapeType="1"/>
          </p:cNvSpPr>
          <p:nvPr/>
        </p:nvSpPr>
        <p:spPr bwMode="auto">
          <a:xfrm flipV="1">
            <a:off x="673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Oval 39"/>
          <p:cNvSpPr>
            <a:spLocks noChangeArrowheads="1"/>
          </p:cNvSpPr>
          <p:nvPr/>
        </p:nvSpPr>
        <p:spPr bwMode="auto">
          <a:xfrm>
            <a:off x="6912000" y="486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35" name="Oval 49"/>
          <p:cNvSpPr>
            <a:spLocks noChangeArrowheads="1"/>
          </p:cNvSpPr>
          <p:nvPr/>
        </p:nvSpPr>
        <p:spPr bwMode="auto">
          <a:xfrm>
            <a:off x="583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6" name="Oval 50"/>
          <p:cNvSpPr>
            <a:spLocks noChangeArrowheads="1"/>
          </p:cNvSpPr>
          <p:nvPr/>
        </p:nvSpPr>
        <p:spPr bwMode="auto">
          <a:xfrm>
            <a:off x="727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38" name="Oval 52"/>
          <p:cNvSpPr>
            <a:spLocks noChangeArrowheads="1"/>
          </p:cNvSpPr>
          <p:nvPr/>
        </p:nvSpPr>
        <p:spPr bwMode="auto">
          <a:xfrm>
            <a:off x="655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39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cxnSp>
        <p:nvCxnSpPr>
          <p:cNvPr id="40" name="弧形接點 39"/>
          <p:cNvCxnSpPr>
            <a:stCxn id="26" idx="0"/>
            <a:endCxn id="18" idx="6"/>
          </p:cNvCxnSpPr>
          <p:nvPr/>
        </p:nvCxnSpPr>
        <p:spPr bwMode="auto">
          <a:xfrm rot="16200000" flipV="1">
            <a:off x="5832000" y="144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14" idx="7"/>
            <a:endCxn id="18" idx="4"/>
          </p:cNvCxnSpPr>
          <p:nvPr/>
        </p:nvCxnSpPr>
        <p:spPr bwMode="auto">
          <a:xfrm flipV="1">
            <a:off x="5059279" y="162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直線單箭頭接點 41"/>
          <p:cNvCxnSpPr>
            <a:stCxn id="16" idx="1"/>
            <a:endCxn id="18" idx="4"/>
          </p:cNvCxnSpPr>
          <p:nvPr/>
        </p:nvCxnSpPr>
        <p:spPr bwMode="auto">
          <a:xfrm flipH="1" flipV="1">
            <a:off x="5652000" y="162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單箭頭接點 42"/>
          <p:cNvCxnSpPr>
            <a:stCxn id="28" idx="0"/>
            <a:endCxn id="15" idx="4"/>
          </p:cNvCxnSpPr>
          <p:nvPr/>
        </p:nvCxnSpPr>
        <p:spPr bwMode="auto">
          <a:xfrm flipH="1" flipV="1">
            <a:off x="7452000" y="306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4" name="直線單箭頭接點 43"/>
          <p:cNvCxnSpPr>
            <a:stCxn id="38" idx="0"/>
            <a:endCxn id="29" idx="4"/>
          </p:cNvCxnSpPr>
          <p:nvPr/>
        </p:nvCxnSpPr>
        <p:spPr bwMode="auto">
          <a:xfrm flipV="1">
            <a:off x="6732000" y="37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6" name="弧形接點 45"/>
          <p:cNvCxnSpPr>
            <a:stCxn id="37" idx="0"/>
            <a:endCxn id="15" idx="2"/>
          </p:cNvCxnSpPr>
          <p:nvPr/>
        </p:nvCxnSpPr>
        <p:spPr bwMode="auto">
          <a:xfrm rot="5400000" flipH="1" flipV="1">
            <a:off x="4932000" y="324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6559300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" name="直線單箭頭接點 44"/>
          <p:cNvCxnSpPr>
            <a:endCxn id="27" idx="4"/>
          </p:cNvCxnSpPr>
          <p:nvPr/>
        </p:nvCxnSpPr>
        <p:spPr bwMode="auto">
          <a:xfrm flipV="1">
            <a:off x="6012000" y="450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b.</a:t>
            </a:r>
            <a:r>
              <a:rPr lang="en-US" altLang="zh-TW" sz="2300" dirty="0">
                <a:solidFill>
                  <a:srgbClr val="000000"/>
                </a:solidFill>
              </a:rPr>
              <a:t>	The </a:t>
            </a:r>
            <a:r>
              <a:rPr lang="en-US" altLang="zh-TW" sz="2300" dirty="0" err="1">
                <a:solidFill>
                  <a:srgbClr val="000000"/>
                </a:solidFill>
              </a:rPr>
              <a:t>nonroot</a:t>
            </a:r>
            <a:r>
              <a:rPr lang="en-US" altLang="zh-TW" sz="2300" dirty="0">
                <a:solidFill>
                  <a:srgbClr val="000000"/>
                </a:solidFill>
              </a:rPr>
              <a:t> vertex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 is </a:t>
            </a:r>
            <a:r>
              <a:rPr lang="en-US" altLang="zh-TW" sz="2300" dirty="0" smtClean="0">
                <a:solidFill>
                  <a:srgbClr val="000000"/>
                </a:solidFill>
              </a:rPr>
              <a:t>a </a:t>
            </a:r>
            <a:r>
              <a:rPr lang="en-US" altLang="zh-TW" sz="2300" dirty="0" smtClean="0">
                <a:solidFill>
                  <a:srgbClr val="FF0000"/>
                </a:solidFill>
              </a:rPr>
              <a:t>cut </a:t>
            </a:r>
            <a:r>
              <a:rPr lang="en-US" altLang="zh-TW" sz="2300" dirty="0">
                <a:solidFill>
                  <a:srgbClr val="FF0000"/>
                </a:solidFill>
              </a:rPr>
              <a:t>point </a:t>
            </a:r>
            <a:r>
              <a:rPr lang="en-US" altLang="zh-TW" sz="2300" dirty="0">
                <a:solidFill>
                  <a:srgbClr val="000000"/>
                </a:solidFill>
              </a:rPr>
              <a:t>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dirty="0">
                <a:solidFill>
                  <a:srgbClr val="000000"/>
                </a:solidFill>
              </a:rPr>
              <a:t> if and only if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 has a child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such that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 </a:t>
            </a:r>
            <a:r>
              <a:rPr lang="en-US" altLang="zh-TW" sz="2300" dirty="0">
                <a:solidFill>
                  <a:srgbClr val="FF0000"/>
                </a:solidFill>
              </a:rPr>
              <a:t>proper</a:t>
            </a:r>
            <a:r>
              <a:rPr lang="en-US" altLang="zh-TW" sz="2300" dirty="0">
                <a:solidFill>
                  <a:srgbClr val="000000"/>
                </a:solidFill>
              </a:rPr>
              <a:t>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  <a:endParaRPr lang="zh-TW" altLang="en-US" sz="2300" dirty="0">
              <a:solidFill>
                <a:srgbClr val="000000"/>
              </a:solidFill>
            </a:endParaRPr>
          </a:p>
          <a:p>
            <a:endParaRPr lang="en-US" altLang="zh-TW" dirty="0"/>
          </a:p>
          <a:p>
            <a:pPr marL="357188" lvl="0" indent="-357188">
              <a:buClr>
                <a:srgbClr val="000000"/>
              </a:buClr>
            </a:pPr>
            <a:r>
              <a:rPr lang="en-US" altLang="zh-TW" sz="2300" b="1" i="1" dirty="0">
                <a:solidFill>
                  <a:srgbClr val="000000"/>
                </a:solidFill>
              </a:rPr>
              <a:t>a</a:t>
            </a:r>
            <a:r>
              <a:rPr lang="en-US" altLang="zh-TW" sz="2300" b="1" dirty="0">
                <a:solidFill>
                  <a:srgbClr val="000000"/>
                </a:solidFill>
              </a:rPr>
              <a:t>.</a:t>
            </a:r>
            <a:r>
              <a:rPr lang="en-US" altLang="zh-TW" sz="2300" dirty="0">
                <a:solidFill>
                  <a:srgbClr val="000000"/>
                </a:solidFill>
              </a:rPr>
              <a:t>	Let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be an edge of </a:t>
            </a:r>
            <a:r>
              <a:rPr lang="en-US" altLang="zh-TW" sz="2300" i="1" dirty="0">
                <a:solidFill>
                  <a:srgbClr val="000000"/>
                </a:solidFill>
              </a:rPr>
              <a:t>G</a:t>
            </a:r>
            <a:r>
              <a:rPr lang="en-US" altLang="zh-TW" sz="2300" baseline="-25000" dirty="0">
                <a:solidFill>
                  <a:srgbClr val="000000"/>
                </a:solidFill>
                <a:sym typeface="Symbol" pitchFamily="18" charset="2"/>
              </a:rPr>
              <a:t></a:t>
            </a:r>
            <a:r>
              <a:rPr lang="en-US" altLang="zh-TW" sz="2300" dirty="0">
                <a:solidFill>
                  <a:srgbClr val="000000"/>
                </a:solidFill>
              </a:rPr>
              <a:t> such that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is a child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 Then {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,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} is a </a:t>
            </a:r>
            <a:r>
              <a:rPr lang="en-US" altLang="zh-TW" sz="2300" dirty="0">
                <a:solidFill>
                  <a:srgbClr val="FF0000"/>
                </a:solidFill>
              </a:rPr>
              <a:t>bridge</a:t>
            </a:r>
            <a:r>
              <a:rPr lang="en-US" altLang="zh-TW" sz="2300" dirty="0">
                <a:solidFill>
                  <a:srgbClr val="000000"/>
                </a:solidFill>
              </a:rPr>
              <a:t> if and only if there is no back edge from any descendant of </a:t>
            </a:r>
            <a:r>
              <a:rPr lang="en-US" altLang="zh-TW" sz="2300" i="1" dirty="0">
                <a:solidFill>
                  <a:srgbClr val="000000"/>
                </a:solidFill>
              </a:rPr>
              <a:t>v</a:t>
            </a:r>
            <a:r>
              <a:rPr lang="en-US" altLang="zh-TW" sz="2300" dirty="0">
                <a:solidFill>
                  <a:srgbClr val="000000"/>
                </a:solidFill>
              </a:rPr>
              <a:t> to an ancestor of </a:t>
            </a:r>
            <a:r>
              <a:rPr lang="en-US" altLang="zh-TW" sz="2300" i="1" dirty="0">
                <a:solidFill>
                  <a:srgbClr val="000000"/>
                </a:solidFill>
              </a:rPr>
              <a:t>u</a:t>
            </a:r>
            <a:r>
              <a:rPr lang="en-US" altLang="zh-TW" sz="2300" dirty="0">
                <a:solidFill>
                  <a:srgbClr val="000000"/>
                </a:solidFill>
              </a:rPr>
              <a:t>.</a:t>
            </a:r>
          </a:p>
        </p:txBody>
      </p: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6372000" y="432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5652000" y="432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" name="AutoShape 57"/>
          <p:cNvCxnSpPr>
            <a:cxnSpLocks noChangeShapeType="1"/>
          </p:cNvCxnSpPr>
          <p:nvPr/>
        </p:nvCxnSpPr>
        <p:spPr bwMode="auto">
          <a:xfrm flipH="1" flipV="1">
            <a:off x="7452000" y="288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8" name="AutoShape 56"/>
          <p:cNvCxnSpPr>
            <a:cxnSpLocks noChangeShapeType="1"/>
          </p:cNvCxnSpPr>
          <p:nvPr/>
        </p:nvCxnSpPr>
        <p:spPr bwMode="auto">
          <a:xfrm flipV="1">
            <a:off x="6732000" y="2889000"/>
            <a:ext cx="720000" cy="720000"/>
          </a:xfrm>
          <a:prstGeom prst="straightConnector1">
            <a:avLst/>
          </a:prstGeom>
          <a:noFill/>
          <a:ln w="25400">
            <a:solidFill>
              <a:srgbClr val="0000FF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691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0" name="Line 40"/>
          <p:cNvSpPr>
            <a:spLocks noChangeShapeType="1"/>
          </p:cNvSpPr>
          <p:nvPr/>
        </p:nvSpPr>
        <p:spPr bwMode="auto">
          <a:xfrm>
            <a:off x="439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6372000" y="21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5652000" y="14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6732000" y="19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4752000" y="27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7272000" y="270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6" name="Oval 52"/>
          <p:cNvSpPr>
            <a:spLocks noChangeArrowheads="1"/>
          </p:cNvSpPr>
          <p:nvPr/>
        </p:nvSpPr>
        <p:spPr bwMode="auto">
          <a:xfrm>
            <a:off x="6192000" y="27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7" name="AutoShape 56"/>
          <p:cNvCxnSpPr>
            <a:cxnSpLocks noChangeShapeType="1"/>
          </p:cNvCxnSpPr>
          <p:nvPr/>
        </p:nvCxnSpPr>
        <p:spPr bwMode="auto">
          <a:xfrm flipV="1">
            <a:off x="4392000" y="144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8" name="Oval 39"/>
          <p:cNvSpPr>
            <a:spLocks noChangeArrowheads="1"/>
          </p:cNvSpPr>
          <p:nvPr/>
        </p:nvSpPr>
        <p:spPr bwMode="auto">
          <a:xfrm>
            <a:off x="5472000" y="126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19" name="Oval 51"/>
          <p:cNvSpPr>
            <a:spLocks noChangeArrowheads="1"/>
          </p:cNvSpPr>
          <p:nvPr/>
        </p:nvSpPr>
        <p:spPr bwMode="auto">
          <a:xfrm>
            <a:off x="4212000" y="19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20" name="Line 40"/>
          <p:cNvSpPr>
            <a:spLocks noChangeShapeType="1"/>
          </p:cNvSpPr>
          <p:nvPr/>
        </p:nvSpPr>
        <p:spPr bwMode="auto">
          <a:xfrm>
            <a:off x="817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Line 40"/>
          <p:cNvSpPr>
            <a:spLocks noChangeShapeType="1"/>
          </p:cNvSpPr>
          <p:nvPr/>
        </p:nvSpPr>
        <p:spPr bwMode="auto">
          <a:xfrm>
            <a:off x="673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2" name="AutoShape 56"/>
          <p:cNvCxnSpPr>
            <a:cxnSpLocks noChangeShapeType="1"/>
          </p:cNvCxnSpPr>
          <p:nvPr/>
        </p:nvCxnSpPr>
        <p:spPr bwMode="auto">
          <a:xfrm flipV="1">
            <a:off x="6372000" y="360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3" name="Line 40"/>
          <p:cNvSpPr>
            <a:spLocks noChangeShapeType="1"/>
          </p:cNvSpPr>
          <p:nvPr/>
        </p:nvSpPr>
        <p:spPr bwMode="auto">
          <a:xfrm flipV="1">
            <a:off x="7812000" y="360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4" name="Oval 39"/>
          <p:cNvSpPr>
            <a:spLocks noChangeArrowheads="1"/>
          </p:cNvSpPr>
          <p:nvPr/>
        </p:nvSpPr>
        <p:spPr bwMode="auto">
          <a:xfrm>
            <a:off x="799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25" name="Oval 49"/>
          <p:cNvSpPr>
            <a:spLocks noChangeArrowheads="1"/>
          </p:cNvSpPr>
          <p:nvPr/>
        </p:nvSpPr>
        <p:spPr bwMode="auto">
          <a:xfrm>
            <a:off x="691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sp>
        <p:nvSpPr>
          <p:cNvPr id="26" name="Oval 50"/>
          <p:cNvSpPr>
            <a:spLocks noChangeArrowheads="1"/>
          </p:cNvSpPr>
          <p:nvPr/>
        </p:nvSpPr>
        <p:spPr bwMode="auto">
          <a:xfrm>
            <a:off x="83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619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28" name="Oval 52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29" name="Oval 51"/>
          <p:cNvSpPr>
            <a:spLocks noChangeArrowheads="1"/>
          </p:cNvSpPr>
          <p:nvPr/>
        </p:nvSpPr>
        <p:spPr bwMode="auto">
          <a:xfrm>
            <a:off x="6552000" y="34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30" name="Line 40"/>
          <p:cNvSpPr>
            <a:spLocks noChangeShapeType="1"/>
          </p:cNvSpPr>
          <p:nvPr/>
        </p:nvSpPr>
        <p:spPr bwMode="auto">
          <a:xfrm>
            <a:off x="709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565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2" name="AutoShape 56"/>
          <p:cNvCxnSpPr>
            <a:cxnSpLocks noChangeShapeType="1"/>
          </p:cNvCxnSpPr>
          <p:nvPr/>
        </p:nvCxnSpPr>
        <p:spPr bwMode="auto">
          <a:xfrm flipV="1">
            <a:off x="5292000" y="504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3" name="Line 40"/>
          <p:cNvSpPr>
            <a:spLocks noChangeShapeType="1"/>
          </p:cNvSpPr>
          <p:nvPr/>
        </p:nvSpPr>
        <p:spPr bwMode="auto">
          <a:xfrm flipV="1">
            <a:off x="6732000" y="504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4" name="Oval 39"/>
          <p:cNvSpPr>
            <a:spLocks noChangeArrowheads="1"/>
          </p:cNvSpPr>
          <p:nvPr/>
        </p:nvSpPr>
        <p:spPr bwMode="auto">
          <a:xfrm>
            <a:off x="6912000" y="486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35" name="Oval 49"/>
          <p:cNvSpPr>
            <a:spLocks noChangeArrowheads="1"/>
          </p:cNvSpPr>
          <p:nvPr/>
        </p:nvSpPr>
        <p:spPr bwMode="auto">
          <a:xfrm>
            <a:off x="583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36" name="Oval 50"/>
          <p:cNvSpPr>
            <a:spLocks noChangeArrowheads="1"/>
          </p:cNvSpPr>
          <p:nvPr/>
        </p:nvSpPr>
        <p:spPr bwMode="auto">
          <a:xfrm>
            <a:off x="727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37" name="Oval 51"/>
          <p:cNvSpPr>
            <a:spLocks noChangeArrowheads="1"/>
          </p:cNvSpPr>
          <p:nvPr/>
        </p:nvSpPr>
        <p:spPr bwMode="auto">
          <a:xfrm>
            <a:off x="511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38" name="Oval 52"/>
          <p:cNvSpPr>
            <a:spLocks noChangeArrowheads="1"/>
          </p:cNvSpPr>
          <p:nvPr/>
        </p:nvSpPr>
        <p:spPr bwMode="auto">
          <a:xfrm>
            <a:off x="6552000" y="55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39" name="Oval 51"/>
          <p:cNvSpPr>
            <a:spLocks noChangeArrowheads="1"/>
          </p:cNvSpPr>
          <p:nvPr/>
        </p:nvSpPr>
        <p:spPr bwMode="auto">
          <a:xfrm>
            <a:off x="547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cxnSp>
        <p:nvCxnSpPr>
          <p:cNvPr id="40" name="弧形接點 39"/>
          <p:cNvCxnSpPr>
            <a:stCxn id="26" idx="0"/>
            <a:endCxn id="18" idx="6"/>
          </p:cNvCxnSpPr>
          <p:nvPr/>
        </p:nvCxnSpPr>
        <p:spPr bwMode="auto">
          <a:xfrm rot="16200000" flipV="1">
            <a:off x="5832000" y="144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14" idx="7"/>
            <a:endCxn id="18" idx="4"/>
          </p:cNvCxnSpPr>
          <p:nvPr/>
        </p:nvCxnSpPr>
        <p:spPr bwMode="auto">
          <a:xfrm flipV="1">
            <a:off x="5059279" y="162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直線單箭頭接點 41"/>
          <p:cNvCxnSpPr>
            <a:stCxn id="16" idx="1"/>
            <a:endCxn id="18" idx="4"/>
          </p:cNvCxnSpPr>
          <p:nvPr/>
        </p:nvCxnSpPr>
        <p:spPr bwMode="auto">
          <a:xfrm flipH="1" flipV="1">
            <a:off x="5652000" y="162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3" name="直線單箭頭接點 42"/>
          <p:cNvCxnSpPr>
            <a:stCxn id="28" idx="0"/>
            <a:endCxn id="15" idx="4"/>
          </p:cNvCxnSpPr>
          <p:nvPr/>
        </p:nvCxnSpPr>
        <p:spPr bwMode="auto">
          <a:xfrm flipH="1" flipV="1">
            <a:off x="7452000" y="306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4" name="直線單箭頭接點 43"/>
          <p:cNvCxnSpPr>
            <a:stCxn id="38" idx="0"/>
            <a:endCxn id="29" idx="4"/>
          </p:cNvCxnSpPr>
          <p:nvPr/>
        </p:nvCxnSpPr>
        <p:spPr bwMode="auto">
          <a:xfrm flipV="1">
            <a:off x="6732000" y="378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6" name="弧形接點 45"/>
          <p:cNvCxnSpPr>
            <a:stCxn id="37" idx="0"/>
            <a:endCxn id="29" idx="2"/>
          </p:cNvCxnSpPr>
          <p:nvPr/>
        </p:nvCxnSpPr>
        <p:spPr bwMode="auto">
          <a:xfrm rot="5400000" flipH="1" flipV="1">
            <a:off x="4932000" y="3969000"/>
            <a:ext cx="1980000" cy="126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203899084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" name="直線單箭頭接點 85"/>
          <p:cNvCxnSpPr>
            <a:endCxn id="38" idx="4"/>
          </p:cNvCxnSpPr>
          <p:nvPr/>
        </p:nvCxnSpPr>
        <p:spPr bwMode="auto">
          <a:xfrm flipV="1">
            <a:off x="4212000" y="4329000"/>
            <a:ext cx="36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" name="AutoShape 57"/>
          <p:cNvCxnSpPr>
            <a:cxnSpLocks noChangeShapeType="1"/>
          </p:cNvCxnSpPr>
          <p:nvPr/>
        </p:nvCxnSpPr>
        <p:spPr bwMode="auto">
          <a:xfrm flipH="1" flipV="1">
            <a:off x="457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" name="AutoShape 56"/>
          <p:cNvCxnSpPr>
            <a:cxnSpLocks noChangeShapeType="1"/>
          </p:cNvCxnSpPr>
          <p:nvPr/>
        </p:nvCxnSpPr>
        <p:spPr bwMode="auto">
          <a:xfrm flipV="1">
            <a:off x="3852000" y="414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7"/>
          <p:cNvCxnSpPr>
            <a:cxnSpLocks noChangeShapeType="1"/>
          </p:cNvCxnSpPr>
          <p:nvPr/>
        </p:nvCxnSpPr>
        <p:spPr bwMode="auto">
          <a:xfrm flipH="1" flipV="1">
            <a:off x="565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6"/>
          <p:cNvCxnSpPr>
            <a:cxnSpLocks noChangeShapeType="1"/>
          </p:cNvCxnSpPr>
          <p:nvPr/>
        </p:nvCxnSpPr>
        <p:spPr bwMode="auto">
          <a:xfrm flipV="1">
            <a:off x="4932000" y="2709000"/>
            <a:ext cx="72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511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>
            <a:off x="259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11" name="Line 40"/>
          <p:cNvSpPr>
            <a:spLocks noChangeShapeType="1"/>
          </p:cNvSpPr>
          <p:nvPr/>
        </p:nvSpPr>
        <p:spPr bwMode="auto">
          <a:xfrm flipV="1">
            <a:off x="4572000" y="198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2" name="AutoShape 57"/>
          <p:cNvCxnSpPr>
            <a:cxnSpLocks noChangeShapeType="1"/>
          </p:cNvCxnSpPr>
          <p:nvPr/>
        </p:nvCxnSpPr>
        <p:spPr bwMode="auto">
          <a:xfrm flipH="1" flipV="1">
            <a:off x="385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3" name="Oval 39"/>
          <p:cNvSpPr>
            <a:spLocks noChangeArrowheads="1"/>
          </p:cNvSpPr>
          <p:nvPr/>
        </p:nvSpPr>
        <p:spPr bwMode="auto">
          <a:xfrm>
            <a:off x="493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</a:t>
            </a:r>
          </a:p>
        </p:txBody>
      </p:sp>
      <p:sp>
        <p:nvSpPr>
          <p:cNvPr id="14" name="Oval 49"/>
          <p:cNvSpPr>
            <a:spLocks noChangeArrowheads="1"/>
          </p:cNvSpPr>
          <p:nvPr/>
        </p:nvSpPr>
        <p:spPr bwMode="auto">
          <a:xfrm>
            <a:off x="295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</a:t>
            </a:r>
          </a:p>
        </p:txBody>
      </p:sp>
      <p:sp>
        <p:nvSpPr>
          <p:cNvPr id="15" name="Oval 50"/>
          <p:cNvSpPr>
            <a:spLocks noChangeArrowheads="1"/>
          </p:cNvSpPr>
          <p:nvPr/>
        </p:nvSpPr>
        <p:spPr bwMode="auto">
          <a:xfrm>
            <a:off x="5472000" y="252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</a:t>
            </a:r>
          </a:p>
        </p:txBody>
      </p:sp>
      <p:sp>
        <p:nvSpPr>
          <p:cNvPr id="17" name="Oval 52"/>
          <p:cNvSpPr>
            <a:spLocks noChangeArrowheads="1"/>
          </p:cNvSpPr>
          <p:nvPr/>
        </p:nvSpPr>
        <p:spPr bwMode="auto">
          <a:xfrm>
            <a:off x="439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</a:t>
            </a:r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 flipV="1">
            <a:off x="2592000" y="1269000"/>
            <a:ext cx="12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" name="Oval 39"/>
          <p:cNvSpPr>
            <a:spLocks noChangeArrowheads="1"/>
          </p:cNvSpPr>
          <p:nvPr/>
        </p:nvSpPr>
        <p:spPr bwMode="auto">
          <a:xfrm>
            <a:off x="3672000" y="108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</a:t>
            </a:r>
          </a:p>
        </p:txBody>
      </p:sp>
      <p:sp>
        <p:nvSpPr>
          <p:cNvPr id="20" name="Oval 51"/>
          <p:cNvSpPr>
            <a:spLocks noChangeArrowheads="1"/>
          </p:cNvSpPr>
          <p:nvPr/>
        </p:nvSpPr>
        <p:spPr bwMode="auto">
          <a:xfrm>
            <a:off x="2412000" y="18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</a:t>
            </a:r>
          </a:p>
        </p:txBody>
      </p:sp>
      <p:sp>
        <p:nvSpPr>
          <p:cNvPr id="31" name="Line 40"/>
          <p:cNvSpPr>
            <a:spLocks noChangeShapeType="1"/>
          </p:cNvSpPr>
          <p:nvPr/>
        </p:nvSpPr>
        <p:spPr bwMode="auto">
          <a:xfrm>
            <a:off x="637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2" name="Line 40"/>
          <p:cNvSpPr>
            <a:spLocks noChangeShapeType="1"/>
          </p:cNvSpPr>
          <p:nvPr/>
        </p:nvSpPr>
        <p:spPr bwMode="auto">
          <a:xfrm>
            <a:off x="493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33" name="AutoShape 56"/>
          <p:cNvCxnSpPr>
            <a:cxnSpLocks noChangeShapeType="1"/>
          </p:cNvCxnSpPr>
          <p:nvPr/>
        </p:nvCxnSpPr>
        <p:spPr bwMode="auto">
          <a:xfrm flipV="1">
            <a:off x="4572000" y="342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 flipV="1">
            <a:off x="6012000" y="342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5" name="Oval 39"/>
          <p:cNvSpPr>
            <a:spLocks noChangeArrowheads="1"/>
          </p:cNvSpPr>
          <p:nvPr/>
        </p:nvSpPr>
        <p:spPr bwMode="auto">
          <a:xfrm>
            <a:off x="6192000" y="32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</a:t>
            </a:r>
          </a:p>
        </p:txBody>
      </p:sp>
      <p:sp>
        <p:nvSpPr>
          <p:cNvPr id="36" name="Oval 49"/>
          <p:cNvSpPr>
            <a:spLocks noChangeArrowheads="1"/>
          </p:cNvSpPr>
          <p:nvPr/>
        </p:nvSpPr>
        <p:spPr bwMode="auto">
          <a:xfrm>
            <a:off x="511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</a:t>
            </a:r>
          </a:p>
        </p:txBody>
      </p:sp>
      <p:sp>
        <p:nvSpPr>
          <p:cNvPr id="37" name="Oval 50"/>
          <p:cNvSpPr>
            <a:spLocks noChangeArrowheads="1"/>
          </p:cNvSpPr>
          <p:nvPr/>
        </p:nvSpPr>
        <p:spPr bwMode="auto">
          <a:xfrm>
            <a:off x="655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29</a:t>
            </a:r>
          </a:p>
        </p:txBody>
      </p:sp>
      <p:sp>
        <p:nvSpPr>
          <p:cNvPr id="38" name="Oval 51"/>
          <p:cNvSpPr>
            <a:spLocks noChangeArrowheads="1"/>
          </p:cNvSpPr>
          <p:nvPr/>
        </p:nvSpPr>
        <p:spPr bwMode="auto">
          <a:xfrm>
            <a:off x="439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</a:t>
            </a:r>
          </a:p>
        </p:txBody>
      </p:sp>
      <p:sp>
        <p:nvSpPr>
          <p:cNvPr id="39" name="Oval 52"/>
          <p:cNvSpPr>
            <a:spLocks noChangeArrowheads="1"/>
          </p:cNvSpPr>
          <p:nvPr/>
        </p:nvSpPr>
        <p:spPr bwMode="auto">
          <a:xfrm>
            <a:off x="5832000" y="39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</a:t>
            </a:r>
          </a:p>
        </p:txBody>
      </p:sp>
      <p:sp>
        <p:nvSpPr>
          <p:cNvPr id="40" name="Oval 51"/>
          <p:cNvSpPr>
            <a:spLocks noChangeArrowheads="1"/>
          </p:cNvSpPr>
          <p:nvPr/>
        </p:nvSpPr>
        <p:spPr bwMode="auto">
          <a:xfrm>
            <a:off x="4752000" y="3249000"/>
            <a:ext cx="360000" cy="360000"/>
          </a:xfrm>
          <a:prstGeom prst="ellipse">
            <a:avLst/>
          </a:prstGeom>
          <a:solidFill>
            <a:schemeClr val="accent2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</a:t>
            </a:r>
          </a:p>
        </p:txBody>
      </p:sp>
      <p:sp>
        <p:nvSpPr>
          <p:cNvPr id="41" name="Line 40"/>
          <p:cNvSpPr>
            <a:spLocks noChangeShapeType="1"/>
          </p:cNvSpPr>
          <p:nvPr/>
        </p:nvSpPr>
        <p:spPr bwMode="auto">
          <a:xfrm>
            <a:off x="529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2" name="Line 40"/>
          <p:cNvSpPr>
            <a:spLocks noChangeShapeType="1"/>
          </p:cNvSpPr>
          <p:nvPr/>
        </p:nvSpPr>
        <p:spPr bwMode="auto">
          <a:xfrm>
            <a:off x="385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43" name="AutoShape 56"/>
          <p:cNvCxnSpPr>
            <a:cxnSpLocks noChangeShapeType="1"/>
          </p:cNvCxnSpPr>
          <p:nvPr/>
        </p:nvCxnSpPr>
        <p:spPr bwMode="auto">
          <a:xfrm flipV="1">
            <a:off x="3492000" y="4869000"/>
            <a:ext cx="36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4" name="Line 40"/>
          <p:cNvSpPr>
            <a:spLocks noChangeShapeType="1"/>
          </p:cNvSpPr>
          <p:nvPr/>
        </p:nvSpPr>
        <p:spPr bwMode="auto">
          <a:xfrm flipV="1">
            <a:off x="4932000" y="4869000"/>
            <a:ext cx="36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5" name="Oval 39"/>
          <p:cNvSpPr>
            <a:spLocks noChangeArrowheads="1"/>
          </p:cNvSpPr>
          <p:nvPr/>
        </p:nvSpPr>
        <p:spPr bwMode="auto">
          <a:xfrm>
            <a:off x="5112000" y="4689000"/>
            <a:ext cx="36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</a:t>
            </a:r>
          </a:p>
        </p:txBody>
      </p:sp>
      <p:sp>
        <p:nvSpPr>
          <p:cNvPr id="46" name="Oval 49"/>
          <p:cNvSpPr>
            <a:spLocks noChangeArrowheads="1"/>
          </p:cNvSpPr>
          <p:nvPr/>
        </p:nvSpPr>
        <p:spPr bwMode="auto">
          <a:xfrm>
            <a:off x="40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</a:t>
            </a:r>
          </a:p>
        </p:txBody>
      </p:sp>
      <p:sp>
        <p:nvSpPr>
          <p:cNvPr id="47" name="Oval 50"/>
          <p:cNvSpPr>
            <a:spLocks noChangeArrowheads="1"/>
          </p:cNvSpPr>
          <p:nvPr/>
        </p:nvSpPr>
        <p:spPr bwMode="auto">
          <a:xfrm>
            <a:off x="54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</a:t>
            </a:r>
          </a:p>
        </p:txBody>
      </p:sp>
      <p:sp>
        <p:nvSpPr>
          <p:cNvPr id="48" name="Oval 51"/>
          <p:cNvSpPr>
            <a:spLocks noChangeArrowheads="1"/>
          </p:cNvSpPr>
          <p:nvPr/>
        </p:nvSpPr>
        <p:spPr bwMode="auto">
          <a:xfrm>
            <a:off x="331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</a:t>
            </a:r>
          </a:p>
        </p:txBody>
      </p:sp>
      <p:sp>
        <p:nvSpPr>
          <p:cNvPr id="49" name="Oval 52"/>
          <p:cNvSpPr>
            <a:spLocks noChangeArrowheads="1"/>
          </p:cNvSpPr>
          <p:nvPr/>
        </p:nvSpPr>
        <p:spPr bwMode="auto">
          <a:xfrm>
            <a:off x="47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</a:t>
            </a:r>
          </a:p>
        </p:txBody>
      </p: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3672000" y="46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</a:t>
            </a:r>
          </a:p>
        </p:txBody>
      </p:sp>
      <p:cxnSp>
        <p:nvCxnSpPr>
          <p:cNvPr id="51" name="弧形接點 50"/>
          <p:cNvCxnSpPr>
            <a:stCxn id="37" idx="0"/>
            <a:endCxn id="19" idx="6"/>
          </p:cNvCxnSpPr>
          <p:nvPr/>
        </p:nvCxnSpPr>
        <p:spPr bwMode="auto">
          <a:xfrm rot="16200000" flipV="1">
            <a:off x="4032000" y="1269000"/>
            <a:ext cx="270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53" name="直線單箭頭接點 52"/>
          <p:cNvCxnSpPr>
            <a:stCxn id="14" idx="7"/>
            <a:endCxn id="19" idx="4"/>
          </p:cNvCxnSpPr>
          <p:nvPr/>
        </p:nvCxnSpPr>
        <p:spPr bwMode="auto">
          <a:xfrm flipV="1">
            <a:off x="3259279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0" name="直線單箭頭接點 69"/>
          <p:cNvCxnSpPr>
            <a:stCxn id="17" idx="1"/>
            <a:endCxn id="19" idx="4"/>
          </p:cNvCxnSpPr>
          <p:nvPr/>
        </p:nvCxnSpPr>
        <p:spPr bwMode="auto">
          <a:xfrm flipH="1" flipV="1">
            <a:off x="3852000" y="1449000"/>
            <a:ext cx="592721" cy="1132721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8" name="直線單箭頭接點 77"/>
          <p:cNvCxnSpPr>
            <a:stCxn id="39" idx="0"/>
            <a:endCxn id="15" idx="4"/>
          </p:cNvCxnSpPr>
          <p:nvPr/>
        </p:nvCxnSpPr>
        <p:spPr bwMode="auto">
          <a:xfrm flipH="1" flipV="1">
            <a:off x="5652000" y="2889000"/>
            <a:ext cx="36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1" name="直線單箭頭接點 80"/>
          <p:cNvCxnSpPr>
            <a:stCxn id="49" idx="0"/>
            <a:endCxn id="40" idx="4"/>
          </p:cNvCxnSpPr>
          <p:nvPr/>
        </p:nvCxnSpPr>
        <p:spPr bwMode="auto">
          <a:xfrm flipV="1">
            <a:off x="4932000" y="360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92" name="弧形接點 91"/>
          <p:cNvCxnSpPr>
            <a:stCxn id="48" idx="0"/>
            <a:endCxn id="15" idx="2"/>
          </p:cNvCxnSpPr>
          <p:nvPr/>
        </p:nvCxnSpPr>
        <p:spPr bwMode="auto">
          <a:xfrm rot="5400000" flipH="1" flipV="1">
            <a:off x="3132000" y="3069000"/>
            <a:ext cx="2700000" cy="198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115096753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</p:spPr>
            <p:txBody>
              <a:bodyPr/>
              <a:lstStyle/>
              <a:p>
                <a:pPr marL="0" indent="0"/>
                <a:r>
                  <a:rPr lang="en-US" altLang="zh-TW" sz="2300" dirty="0"/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z="2300" dirty="0"/>
                  <a:t> be a connected, undirected graph. </a:t>
                </a:r>
                <a:r>
                  <a:rPr lang="en-US" altLang="zh-TW" sz="2300" dirty="0" smtClean="0"/>
                  <a:t>A </a:t>
                </a:r>
                <a:r>
                  <a:rPr lang="en-US" altLang="zh-TW" sz="2300" i="1" dirty="0" smtClean="0">
                    <a:solidFill>
                      <a:srgbClr val="0000FF"/>
                    </a:solidFill>
                  </a:rPr>
                  <a:t>cut </a:t>
                </a:r>
                <a:r>
                  <a:rPr lang="en-US" altLang="zh-TW" sz="2300" i="1" dirty="0">
                    <a:solidFill>
                      <a:srgbClr val="0000FF"/>
                    </a:solidFill>
                  </a:rPr>
                  <a:t>point</a:t>
                </a:r>
                <a:r>
                  <a:rPr lang="en-US" altLang="zh-TW" sz="2300" dirty="0"/>
                  <a:t>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is a vertex whose removal disconnects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 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) be a depth-first tree of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a</a:t>
                </a:r>
                <a:r>
                  <a:rPr lang="en-US" altLang="zh-TW" sz="2300" b="1" dirty="0"/>
                  <a:t>.</a:t>
                </a:r>
                <a:r>
                  <a:rPr lang="en-US" altLang="zh-TW" sz="2300" dirty="0"/>
                  <a:t>	The root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</a:t>
                </a:r>
                <a:r>
                  <a:rPr lang="en-US" altLang="zh-TW" sz="2300" dirty="0" smtClean="0"/>
                  <a:t>if </a:t>
                </a:r>
                <a:r>
                  <a:rPr lang="en-US" altLang="zh-TW" sz="2300" dirty="0"/>
                  <a:t>it has at least two children in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b.</a:t>
                </a:r>
                <a:r>
                  <a:rPr lang="en-US" altLang="zh-TW" sz="2300" dirty="0"/>
                  <a:t>	Let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be a </a:t>
                </a:r>
                <a:r>
                  <a:rPr lang="en-US" altLang="zh-TW" sz="2300" dirty="0" err="1"/>
                  <a:t>nonroot</a:t>
                </a:r>
                <a:r>
                  <a:rPr lang="en-US" altLang="zh-TW" sz="2300" dirty="0"/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 Then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if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has a child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 such that there is no back edge from any descendant of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 to a proper ancestor of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c.</a:t>
                </a:r>
                <a:r>
                  <a:rPr lang="en-US" altLang="zh-TW" sz="2300" dirty="0"/>
                  <a:t>	Let</a:t>
                </a:r>
              </a:p>
              <a:p>
                <a:pPr marL="357188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smtClean="0"/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300" dirty="0"/>
              </a:p>
              <a:p>
                <a:pPr marL="357188" indent="-357188"/>
                <a:r>
                  <a:rPr lang="en-US" altLang="zh-TW" sz="2300" b="1" i="1" dirty="0"/>
                  <a:t>d.</a:t>
                </a:r>
                <a:r>
                  <a:rPr lang="en-US" altLang="zh-TW" sz="2300" dirty="0"/>
                  <a:t>	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</a:t>
                </a:r>
                <a:r>
                  <a:rPr lang="en-US" altLang="zh-TW" sz="2300" dirty="0" err="1">
                    <a:solidFill>
                      <a:srgbClr val="000000"/>
                    </a:solidFill>
                  </a:rPr>
                  <a:t>nonroot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Then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is </a:t>
                </a:r>
                <a:r>
                  <a:rPr lang="en-US" altLang="zh-TW" sz="2300" dirty="0" smtClean="0">
                    <a:solidFill>
                      <a:srgbClr val="000000"/>
                    </a:solidFill>
                  </a:rPr>
                  <a:t>a cut 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point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if and only if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u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has a child </a:t>
                </a:r>
                <a:r>
                  <a:rPr lang="en-US" altLang="zh-TW" sz="2300" i="1" dirty="0">
                    <a:solidFill>
                      <a:schemeClr val="bg1"/>
                    </a:solidFill>
                  </a:rPr>
                  <a:t>v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such that </a:t>
                </a:r>
                <a:r>
                  <a:rPr lang="en-US" altLang="zh-TW" sz="2300" i="1" dirty="0" err="1">
                    <a:solidFill>
                      <a:schemeClr val="bg1"/>
                    </a:solidFill>
                  </a:rPr>
                  <a:t>v.low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chemeClr val="bg1"/>
                    </a:solidFill>
                  </a:rPr>
                  <a:t>u.d</a:t>
                </a:r>
                <a:r>
                  <a:rPr lang="en-US" altLang="zh-TW" sz="2300" dirty="0"/>
                  <a:t>.</a:t>
                </a:r>
                <a:endParaRPr lang="zh-TW" altLang="en-US" sz="23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  <a:blipFill>
                <a:blip r:embed="rId2"/>
                <a:stretch>
                  <a:fillRect l="-987" t="-967" b="-2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527956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369000"/>
                <a:ext cx="8640000" cy="1979999"/>
              </a:xfrm>
            </p:spPr>
            <p:txBody>
              <a:bodyPr rIns="36000"/>
              <a:lstStyle/>
              <a:p>
                <a:pPr marL="0" lvl="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:r>
                  <a:rPr lang="en-US" altLang="zh-TW" sz="2300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 be a connected, undirected graph.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</a:t>
                </a:r>
                <a:r>
                  <a:rPr lang="en-US" altLang="zh-TW" sz="2300" dirty="0" err="1">
                    <a:solidFill>
                      <a:srgbClr val="000000"/>
                    </a:solidFill>
                  </a:rPr>
                  <a:t>nonroot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child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Then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chemeClr val="bg1"/>
                    </a:solidFill>
                  </a:rPr>
                  <a:t>v.low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0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sz="230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chemeClr val="bg1"/>
                    </a:solidFill>
                  </a:rPr>
                  <a:t>u.d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if and only if     there is no back edge from any descendant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to a proper ancestor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357188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369000"/>
                <a:ext cx="8640000" cy="1979999"/>
              </a:xfrm>
              <a:blipFill>
                <a:blip r:embed="rId2"/>
                <a:stretch>
                  <a:fillRect l="-987" t="-2778" r="-1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115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151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9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13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" name="AutoShape 56"/>
          <p:cNvCxnSpPr>
            <a:cxnSpLocks noChangeShapeType="1"/>
            <a:stCxn id="17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6" name="AutoShape 56"/>
          <p:cNvCxnSpPr>
            <a:cxnSpLocks noChangeShapeType="1"/>
            <a:stCxn id="14" idx="4"/>
            <a:endCxn id="15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>
            <a:off x="1332000" y="2349000"/>
            <a:ext cx="0" cy="108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" name="弧形接點 18"/>
          <p:cNvCxnSpPr>
            <a:stCxn id="10" idx="6"/>
            <a:endCxn id="15" idx="6"/>
          </p:cNvCxnSpPr>
          <p:nvPr/>
        </p:nvCxnSpPr>
        <p:spPr bwMode="auto">
          <a:xfrm flipH="1" flipV="1">
            <a:off x="151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8" idx="6"/>
            <a:endCxn id="9" idx="6"/>
          </p:cNvCxnSpPr>
          <p:nvPr/>
        </p:nvCxnSpPr>
        <p:spPr bwMode="auto">
          <a:xfrm flipH="1" flipV="1">
            <a:off x="133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1" name="弧形接點 20"/>
          <p:cNvCxnSpPr>
            <a:stCxn id="15" idx="6"/>
            <a:endCxn id="14" idx="6"/>
          </p:cNvCxnSpPr>
          <p:nvPr/>
        </p:nvCxnSpPr>
        <p:spPr bwMode="auto">
          <a:xfrm flipV="1">
            <a:off x="1512000" y="3609000"/>
            <a:ext cx="12700" cy="72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2" name="弧形接點 21"/>
          <p:cNvCxnSpPr>
            <a:stCxn id="7" idx="2"/>
            <a:endCxn id="5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3" name="弧形接點 22"/>
          <p:cNvCxnSpPr>
            <a:stCxn id="6" idx="2"/>
            <a:endCxn id="14" idx="2"/>
          </p:cNvCxnSpPr>
          <p:nvPr/>
        </p:nvCxnSpPr>
        <p:spPr bwMode="auto">
          <a:xfrm rot="10800000">
            <a:off x="115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4" name="弧形接點 23"/>
          <p:cNvCxnSpPr>
            <a:stCxn id="15" idx="2"/>
            <a:endCxn id="11" idx="2"/>
          </p:cNvCxnSpPr>
          <p:nvPr/>
        </p:nvCxnSpPr>
        <p:spPr bwMode="auto">
          <a:xfrm rot="10800000" flipH="1">
            <a:off x="115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26" name="Oval 51"/>
          <p:cNvSpPr>
            <a:spLocks noChangeArrowheads="1"/>
          </p:cNvSpPr>
          <p:nvPr/>
        </p:nvSpPr>
        <p:spPr bwMode="auto">
          <a:xfrm>
            <a:off x="331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8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30" name="AutoShape 56"/>
          <p:cNvCxnSpPr>
            <a:cxnSpLocks noChangeShapeType="1"/>
            <a:stCxn id="34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32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33" name="AutoShape 56"/>
          <p:cNvCxnSpPr>
            <a:cxnSpLocks noChangeShapeType="1"/>
            <a:stCxn id="31" idx="4"/>
            <a:endCxn id="32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35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6" name="弧形接點 35"/>
          <p:cNvCxnSpPr>
            <a:stCxn id="28" idx="6"/>
            <a:endCxn id="32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弧形接點 36"/>
          <p:cNvCxnSpPr>
            <a:stCxn id="32" idx="6"/>
            <a:endCxn id="31" idx="6"/>
          </p:cNvCxnSpPr>
          <p:nvPr/>
        </p:nvCxnSpPr>
        <p:spPr bwMode="auto">
          <a:xfrm flipV="1">
            <a:off x="3672000" y="3609000"/>
            <a:ext cx="12700" cy="72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弧形接點 37"/>
          <p:cNvCxnSpPr>
            <a:stCxn id="27" idx="2"/>
            <a:endCxn id="25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弧形接點 38"/>
          <p:cNvCxnSpPr>
            <a:stCxn id="26" idx="2"/>
            <a:endCxn id="31" idx="2"/>
          </p:cNvCxnSpPr>
          <p:nvPr/>
        </p:nvCxnSpPr>
        <p:spPr bwMode="auto">
          <a:xfrm rot="10800000">
            <a:off x="331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5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5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4" name="AutoShape 56"/>
          <p:cNvCxnSpPr>
            <a:cxnSpLocks noChangeShapeType="1"/>
            <a:stCxn id="5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5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57" name="AutoShape 56"/>
          <p:cNvCxnSpPr>
            <a:cxnSpLocks noChangeShapeType="1"/>
            <a:stCxn id="55" idx="4"/>
            <a:endCxn id="5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9" name="AutoShape 56"/>
          <p:cNvCxnSpPr>
            <a:cxnSpLocks noChangeShapeType="1"/>
          </p:cNvCxnSpPr>
          <p:nvPr/>
        </p:nvCxnSpPr>
        <p:spPr bwMode="auto">
          <a:xfrm>
            <a:off x="565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0" name="弧形接點 59"/>
          <p:cNvCxnSpPr>
            <a:stCxn id="52" idx="6"/>
            <a:endCxn id="5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1" name="弧形接點 60"/>
          <p:cNvCxnSpPr>
            <a:stCxn id="51" idx="2"/>
            <a:endCxn id="50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65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8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69" name="AutoShape 56"/>
          <p:cNvCxnSpPr>
            <a:cxnSpLocks noChangeShapeType="1"/>
            <a:stCxn id="73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0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71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72" name="AutoShape 56"/>
          <p:cNvCxnSpPr>
            <a:cxnSpLocks noChangeShapeType="1"/>
            <a:stCxn id="70" idx="4"/>
            <a:endCxn id="71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74" name="AutoShape 56"/>
          <p:cNvCxnSpPr>
            <a:cxnSpLocks noChangeShapeType="1"/>
          </p:cNvCxnSpPr>
          <p:nvPr/>
        </p:nvCxnSpPr>
        <p:spPr bwMode="auto">
          <a:xfrm>
            <a:off x="781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6" name="弧形接點 75"/>
          <p:cNvCxnSpPr>
            <a:stCxn id="66" idx="2"/>
            <a:endCxn id="65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730853810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內容版面配置區 3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369000"/>
                <a:ext cx="8640000" cy="1979999"/>
              </a:xfrm>
            </p:spPr>
            <p:txBody>
              <a:bodyPr rIns="36000"/>
              <a:lstStyle/>
              <a:p>
                <a:pPr marL="0" lvl="0" indent="0">
                  <a:spcBef>
                    <a:spcPts val="0"/>
                  </a:spcBef>
                  <a:spcAft>
                    <a:spcPts val="600"/>
                  </a:spcAft>
                  <a:buClr>
                    <a:srgbClr val="000000"/>
                  </a:buClr>
                </a:pPr>
                <a:r>
                  <a:rPr lang="en-US" altLang="zh-TW" sz="2300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 be a connected, undirected graph.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</a:t>
                </a:r>
                <a:r>
                  <a:rPr lang="en-US" altLang="zh-TW" sz="2300" dirty="0" err="1">
                    <a:solidFill>
                      <a:srgbClr val="000000"/>
                    </a:solidFill>
                  </a:rPr>
                  <a:t>nonroot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and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child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Then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rgbClr val="000000"/>
                    </a:solidFill>
                  </a:rPr>
                  <a:t>v.low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rgbClr val="000000"/>
                    </a:solidFill>
                  </a:rPr>
                  <a:t>u.d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if and only if     there is no back edge from any descendant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to a proper ancestor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</a:t>
                </a:r>
              </a:p>
              <a:p>
                <a:pPr marL="357188" lvl="0" indent="0">
                  <a:buClr>
                    <a:srgbClr val="000000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i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>
                          <a:solidFill>
                            <a:srgbClr val="000000"/>
                          </a:solidFill>
                        </a:rPr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i="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4" name="內容版面配置區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369000"/>
                <a:ext cx="8640000" cy="1979999"/>
              </a:xfrm>
              <a:blipFill>
                <a:blip r:embed="rId2"/>
                <a:stretch>
                  <a:fillRect l="-987" t="-2778" r="-14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51"/>
          <p:cNvSpPr>
            <a:spLocks noChangeArrowheads="1"/>
          </p:cNvSpPr>
          <p:nvPr/>
        </p:nvSpPr>
        <p:spPr bwMode="auto">
          <a:xfrm>
            <a:off x="97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6" name="Oval 51"/>
          <p:cNvSpPr>
            <a:spLocks noChangeArrowheads="1"/>
          </p:cNvSpPr>
          <p:nvPr/>
        </p:nvSpPr>
        <p:spPr bwMode="auto">
          <a:xfrm>
            <a:off x="115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7" name="Oval 51"/>
          <p:cNvSpPr>
            <a:spLocks noChangeArrowheads="1"/>
          </p:cNvSpPr>
          <p:nvPr/>
        </p:nvSpPr>
        <p:spPr bwMode="auto">
          <a:xfrm>
            <a:off x="79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8" name="Oval 51"/>
          <p:cNvSpPr>
            <a:spLocks noChangeArrowheads="1"/>
          </p:cNvSpPr>
          <p:nvPr/>
        </p:nvSpPr>
        <p:spPr bwMode="auto">
          <a:xfrm>
            <a:off x="1512000" y="59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9" name="Oval 51"/>
          <p:cNvSpPr>
            <a:spLocks noChangeArrowheads="1"/>
          </p:cNvSpPr>
          <p:nvPr/>
        </p:nvSpPr>
        <p:spPr bwMode="auto">
          <a:xfrm>
            <a:off x="972000" y="25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0" name="Oval 51"/>
          <p:cNvSpPr>
            <a:spLocks noChangeArrowheads="1"/>
          </p:cNvSpPr>
          <p:nvPr/>
        </p:nvSpPr>
        <p:spPr bwMode="auto">
          <a:xfrm>
            <a:off x="13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11" name="Oval 51"/>
          <p:cNvSpPr>
            <a:spLocks noChangeArrowheads="1"/>
          </p:cNvSpPr>
          <p:nvPr/>
        </p:nvSpPr>
        <p:spPr bwMode="auto">
          <a:xfrm>
            <a:off x="1332000" y="288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12" name="Line 40"/>
          <p:cNvSpPr>
            <a:spLocks noChangeShapeType="1"/>
          </p:cNvSpPr>
          <p:nvPr/>
        </p:nvSpPr>
        <p:spPr bwMode="auto">
          <a:xfrm>
            <a:off x="133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3" name="AutoShape 56"/>
          <p:cNvCxnSpPr>
            <a:cxnSpLocks noChangeShapeType="1"/>
            <a:stCxn id="17" idx="0"/>
          </p:cNvCxnSpPr>
          <p:nvPr/>
        </p:nvCxnSpPr>
        <p:spPr bwMode="auto">
          <a:xfrm flipV="1">
            <a:off x="43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4" name="Oval 51"/>
          <p:cNvSpPr>
            <a:spLocks noChangeArrowheads="1"/>
          </p:cNvSpPr>
          <p:nvPr/>
        </p:nvSpPr>
        <p:spPr bwMode="auto">
          <a:xfrm>
            <a:off x="115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15" name="Oval 51"/>
          <p:cNvSpPr>
            <a:spLocks noChangeArrowheads="1"/>
          </p:cNvSpPr>
          <p:nvPr/>
        </p:nvSpPr>
        <p:spPr bwMode="auto">
          <a:xfrm>
            <a:off x="115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16" name="AutoShape 56"/>
          <p:cNvCxnSpPr>
            <a:cxnSpLocks noChangeShapeType="1"/>
            <a:stCxn id="14" idx="4"/>
            <a:endCxn id="15" idx="0"/>
          </p:cNvCxnSpPr>
          <p:nvPr/>
        </p:nvCxnSpPr>
        <p:spPr bwMode="auto">
          <a:xfrm>
            <a:off x="133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7" name="Line 40"/>
          <p:cNvSpPr>
            <a:spLocks noChangeShapeType="1"/>
          </p:cNvSpPr>
          <p:nvPr/>
        </p:nvSpPr>
        <p:spPr bwMode="auto">
          <a:xfrm>
            <a:off x="43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18" name="AutoShape 56"/>
          <p:cNvCxnSpPr>
            <a:cxnSpLocks noChangeShapeType="1"/>
          </p:cNvCxnSpPr>
          <p:nvPr/>
        </p:nvCxnSpPr>
        <p:spPr bwMode="auto">
          <a:xfrm>
            <a:off x="1332000" y="2349000"/>
            <a:ext cx="0" cy="108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" name="弧形接點 18"/>
          <p:cNvCxnSpPr>
            <a:stCxn id="10" idx="6"/>
            <a:endCxn id="15" idx="6"/>
          </p:cNvCxnSpPr>
          <p:nvPr/>
        </p:nvCxnSpPr>
        <p:spPr bwMode="auto">
          <a:xfrm flipH="1" flipV="1">
            <a:off x="151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0" name="弧形接點 19"/>
          <p:cNvCxnSpPr>
            <a:stCxn id="8" idx="6"/>
            <a:endCxn id="9" idx="6"/>
          </p:cNvCxnSpPr>
          <p:nvPr/>
        </p:nvCxnSpPr>
        <p:spPr bwMode="auto">
          <a:xfrm flipH="1" flipV="1">
            <a:off x="1332000" y="2709000"/>
            <a:ext cx="540000" cy="3420000"/>
          </a:xfrm>
          <a:prstGeom prst="curvedConnector3">
            <a:avLst>
              <a:gd name="adj1" fmla="val -42333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1" name="弧形接點 20"/>
          <p:cNvCxnSpPr>
            <a:stCxn id="15" idx="6"/>
            <a:endCxn id="14" idx="6"/>
          </p:cNvCxnSpPr>
          <p:nvPr/>
        </p:nvCxnSpPr>
        <p:spPr bwMode="auto">
          <a:xfrm flipV="1">
            <a:off x="1512000" y="3609000"/>
            <a:ext cx="12700" cy="72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2" name="弧形接點 21"/>
          <p:cNvCxnSpPr>
            <a:stCxn id="7" idx="2"/>
            <a:endCxn id="5" idx="2"/>
          </p:cNvCxnSpPr>
          <p:nvPr/>
        </p:nvCxnSpPr>
        <p:spPr bwMode="auto">
          <a:xfrm rot="10800000" flipH="1">
            <a:off x="79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3" name="弧形接點 22"/>
          <p:cNvCxnSpPr>
            <a:stCxn id="6" idx="2"/>
            <a:endCxn id="14" idx="2"/>
          </p:cNvCxnSpPr>
          <p:nvPr/>
        </p:nvCxnSpPr>
        <p:spPr bwMode="auto">
          <a:xfrm rot="10800000">
            <a:off x="115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24" name="弧形接點 23"/>
          <p:cNvCxnSpPr>
            <a:stCxn id="15" idx="2"/>
            <a:endCxn id="11" idx="2"/>
          </p:cNvCxnSpPr>
          <p:nvPr/>
        </p:nvCxnSpPr>
        <p:spPr bwMode="auto">
          <a:xfrm rot="10800000" flipH="1">
            <a:off x="1152000" y="306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313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26" name="Oval 51"/>
          <p:cNvSpPr>
            <a:spLocks noChangeArrowheads="1"/>
          </p:cNvSpPr>
          <p:nvPr/>
        </p:nvSpPr>
        <p:spPr bwMode="auto">
          <a:xfrm>
            <a:off x="3312000" y="486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7" name="Oval 51"/>
          <p:cNvSpPr>
            <a:spLocks noChangeArrowheads="1"/>
          </p:cNvSpPr>
          <p:nvPr/>
        </p:nvSpPr>
        <p:spPr bwMode="auto">
          <a:xfrm>
            <a:off x="295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8" name="Oval 51"/>
          <p:cNvSpPr>
            <a:spLocks noChangeArrowheads="1"/>
          </p:cNvSpPr>
          <p:nvPr/>
        </p:nvSpPr>
        <p:spPr bwMode="auto">
          <a:xfrm>
            <a:off x="34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29" name="Line 40"/>
          <p:cNvSpPr>
            <a:spLocks noChangeShapeType="1"/>
          </p:cNvSpPr>
          <p:nvPr/>
        </p:nvSpPr>
        <p:spPr bwMode="auto">
          <a:xfrm>
            <a:off x="349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30" name="AutoShape 56"/>
          <p:cNvCxnSpPr>
            <a:cxnSpLocks noChangeShapeType="1"/>
            <a:stCxn id="34" idx="0"/>
          </p:cNvCxnSpPr>
          <p:nvPr/>
        </p:nvCxnSpPr>
        <p:spPr bwMode="auto">
          <a:xfrm flipV="1">
            <a:off x="259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1" name="Oval 51"/>
          <p:cNvSpPr>
            <a:spLocks noChangeArrowheads="1"/>
          </p:cNvSpPr>
          <p:nvPr/>
        </p:nvSpPr>
        <p:spPr bwMode="auto">
          <a:xfrm>
            <a:off x="331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32" name="Oval 51"/>
          <p:cNvSpPr>
            <a:spLocks noChangeArrowheads="1"/>
          </p:cNvSpPr>
          <p:nvPr/>
        </p:nvSpPr>
        <p:spPr bwMode="auto">
          <a:xfrm>
            <a:off x="331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33" name="AutoShape 56"/>
          <p:cNvCxnSpPr>
            <a:cxnSpLocks noChangeShapeType="1"/>
            <a:stCxn id="31" idx="4"/>
            <a:endCxn id="32" idx="0"/>
          </p:cNvCxnSpPr>
          <p:nvPr/>
        </p:nvCxnSpPr>
        <p:spPr bwMode="auto">
          <a:xfrm>
            <a:off x="349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34" name="Line 40"/>
          <p:cNvSpPr>
            <a:spLocks noChangeShapeType="1"/>
          </p:cNvSpPr>
          <p:nvPr/>
        </p:nvSpPr>
        <p:spPr bwMode="auto">
          <a:xfrm>
            <a:off x="259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35" name="AutoShape 56"/>
          <p:cNvCxnSpPr>
            <a:cxnSpLocks noChangeShapeType="1"/>
          </p:cNvCxnSpPr>
          <p:nvPr/>
        </p:nvCxnSpPr>
        <p:spPr bwMode="auto">
          <a:xfrm>
            <a:off x="349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36" name="弧形接點 35"/>
          <p:cNvCxnSpPr>
            <a:stCxn id="28" idx="6"/>
            <a:endCxn id="32" idx="6"/>
          </p:cNvCxnSpPr>
          <p:nvPr/>
        </p:nvCxnSpPr>
        <p:spPr bwMode="auto">
          <a:xfrm flipH="1" flipV="1">
            <a:off x="367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弧形接點 36"/>
          <p:cNvCxnSpPr>
            <a:stCxn id="32" idx="6"/>
            <a:endCxn id="31" idx="6"/>
          </p:cNvCxnSpPr>
          <p:nvPr/>
        </p:nvCxnSpPr>
        <p:spPr bwMode="auto">
          <a:xfrm flipV="1">
            <a:off x="3672000" y="3609000"/>
            <a:ext cx="12700" cy="72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弧形接點 37"/>
          <p:cNvCxnSpPr>
            <a:stCxn id="27" idx="2"/>
            <a:endCxn id="25" idx="2"/>
          </p:cNvCxnSpPr>
          <p:nvPr/>
        </p:nvCxnSpPr>
        <p:spPr bwMode="auto">
          <a:xfrm rot="10800000" flipH="1">
            <a:off x="295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弧形接點 38"/>
          <p:cNvCxnSpPr>
            <a:stCxn id="26" idx="2"/>
            <a:endCxn id="31" idx="2"/>
          </p:cNvCxnSpPr>
          <p:nvPr/>
        </p:nvCxnSpPr>
        <p:spPr bwMode="auto">
          <a:xfrm rot="10800000">
            <a:off x="3312000" y="3609000"/>
            <a:ext cx="12700" cy="1440000"/>
          </a:xfrm>
          <a:prstGeom prst="curvedConnector3">
            <a:avLst>
              <a:gd name="adj1" fmla="val 1800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50" name="Oval 51"/>
          <p:cNvSpPr>
            <a:spLocks noChangeArrowheads="1"/>
          </p:cNvSpPr>
          <p:nvPr/>
        </p:nvSpPr>
        <p:spPr bwMode="auto">
          <a:xfrm>
            <a:off x="529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51" name="Oval 51"/>
          <p:cNvSpPr>
            <a:spLocks noChangeArrowheads="1"/>
          </p:cNvSpPr>
          <p:nvPr/>
        </p:nvSpPr>
        <p:spPr bwMode="auto">
          <a:xfrm>
            <a:off x="511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56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53" name="Line 40"/>
          <p:cNvSpPr>
            <a:spLocks noChangeShapeType="1"/>
          </p:cNvSpPr>
          <p:nvPr/>
        </p:nvSpPr>
        <p:spPr bwMode="auto">
          <a:xfrm>
            <a:off x="565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4" name="AutoShape 56"/>
          <p:cNvCxnSpPr>
            <a:cxnSpLocks noChangeShapeType="1"/>
            <a:stCxn id="58" idx="0"/>
          </p:cNvCxnSpPr>
          <p:nvPr/>
        </p:nvCxnSpPr>
        <p:spPr bwMode="auto">
          <a:xfrm flipV="1">
            <a:off x="475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5" name="Oval 51"/>
          <p:cNvSpPr>
            <a:spLocks noChangeArrowheads="1"/>
          </p:cNvSpPr>
          <p:nvPr/>
        </p:nvSpPr>
        <p:spPr bwMode="auto">
          <a:xfrm>
            <a:off x="547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56" name="Oval 51"/>
          <p:cNvSpPr>
            <a:spLocks noChangeArrowheads="1"/>
          </p:cNvSpPr>
          <p:nvPr/>
        </p:nvSpPr>
        <p:spPr bwMode="auto">
          <a:xfrm>
            <a:off x="547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57" name="AutoShape 56"/>
          <p:cNvCxnSpPr>
            <a:cxnSpLocks noChangeShapeType="1"/>
            <a:stCxn id="55" idx="4"/>
            <a:endCxn id="56" idx="0"/>
          </p:cNvCxnSpPr>
          <p:nvPr/>
        </p:nvCxnSpPr>
        <p:spPr bwMode="auto">
          <a:xfrm>
            <a:off x="565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8" name="Line 40"/>
          <p:cNvSpPr>
            <a:spLocks noChangeShapeType="1"/>
          </p:cNvSpPr>
          <p:nvPr/>
        </p:nvSpPr>
        <p:spPr bwMode="auto">
          <a:xfrm>
            <a:off x="475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59" name="AutoShape 56"/>
          <p:cNvCxnSpPr>
            <a:cxnSpLocks noChangeShapeType="1"/>
          </p:cNvCxnSpPr>
          <p:nvPr/>
        </p:nvCxnSpPr>
        <p:spPr bwMode="auto">
          <a:xfrm>
            <a:off x="565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0" name="弧形接點 59"/>
          <p:cNvCxnSpPr>
            <a:stCxn id="52" idx="6"/>
            <a:endCxn id="56" idx="6"/>
          </p:cNvCxnSpPr>
          <p:nvPr/>
        </p:nvCxnSpPr>
        <p:spPr bwMode="auto">
          <a:xfrm flipH="1" flipV="1">
            <a:off x="5832000" y="4329000"/>
            <a:ext cx="180000" cy="126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61" name="弧形接點 60"/>
          <p:cNvCxnSpPr>
            <a:stCxn id="51" idx="2"/>
            <a:endCxn id="50" idx="2"/>
          </p:cNvCxnSpPr>
          <p:nvPr/>
        </p:nvCxnSpPr>
        <p:spPr bwMode="auto">
          <a:xfrm rot="10800000" flipH="1">
            <a:off x="511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sp>
        <p:nvSpPr>
          <p:cNvPr id="65" name="Oval 51"/>
          <p:cNvSpPr>
            <a:spLocks noChangeArrowheads="1"/>
          </p:cNvSpPr>
          <p:nvPr/>
        </p:nvSpPr>
        <p:spPr bwMode="auto">
          <a:xfrm>
            <a:off x="7452000" y="540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endParaRPr lang="en-US" altLang="zh-TW" sz="2200" i="1" dirty="0"/>
          </a:p>
        </p:txBody>
      </p:sp>
      <p:sp>
        <p:nvSpPr>
          <p:cNvPr id="66" name="Oval 51"/>
          <p:cNvSpPr>
            <a:spLocks noChangeArrowheads="1"/>
          </p:cNvSpPr>
          <p:nvPr/>
        </p:nvSpPr>
        <p:spPr bwMode="auto">
          <a:xfrm>
            <a:off x="7272000" y="61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bg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x</a:t>
            </a:r>
          </a:p>
        </p:txBody>
      </p:sp>
      <p:sp>
        <p:nvSpPr>
          <p:cNvPr id="68" name="Line 40"/>
          <p:cNvSpPr>
            <a:spLocks noChangeShapeType="1"/>
          </p:cNvSpPr>
          <p:nvPr/>
        </p:nvSpPr>
        <p:spPr bwMode="auto">
          <a:xfrm>
            <a:off x="7812000" y="4329000"/>
            <a:ext cx="900000" cy="216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69" name="AutoShape 56"/>
          <p:cNvCxnSpPr>
            <a:cxnSpLocks noChangeShapeType="1"/>
            <a:stCxn id="73" idx="0"/>
          </p:cNvCxnSpPr>
          <p:nvPr/>
        </p:nvCxnSpPr>
        <p:spPr bwMode="auto">
          <a:xfrm flipV="1">
            <a:off x="6912000" y="4329000"/>
            <a:ext cx="900000" cy="21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0" name="Oval 51"/>
          <p:cNvSpPr>
            <a:spLocks noChangeArrowheads="1"/>
          </p:cNvSpPr>
          <p:nvPr/>
        </p:nvSpPr>
        <p:spPr bwMode="auto">
          <a:xfrm>
            <a:off x="7632000" y="342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u</a:t>
            </a:r>
          </a:p>
        </p:txBody>
      </p:sp>
      <p:sp>
        <p:nvSpPr>
          <p:cNvPr id="71" name="Oval 51"/>
          <p:cNvSpPr>
            <a:spLocks noChangeArrowheads="1"/>
          </p:cNvSpPr>
          <p:nvPr/>
        </p:nvSpPr>
        <p:spPr bwMode="auto">
          <a:xfrm>
            <a:off x="7632000" y="4149000"/>
            <a:ext cx="36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0" bIns="54000" anchor="ctr"/>
          <a:lstStyle/>
          <a:p>
            <a:r>
              <a:rPr lang="en-US" altLang="zh-TW" sz="2200" i="1" dirty="0"/>
              <a:t>v</a:t>
            </a:r>
          </a:p>
        </p:txBody>
      </p:sp>
      <p:cxnSp>
        <p:nvCxnSpPr>
          <p:cNvPr id="72" name="AutoShape 56"/>
          <p:cNvCxnSpPr>
            <a:cxnSpLocks noChangeShapeType="1"/>
            <a:stCxn id="70" idx="4"/>
            <a:endCxn id="71" idx="0"/>
          </p:cNvCxnSpPr>
          <p:nvPr/>
        </p:nvCxnSpPr>
        <p:spPr bwMode="auto">
          <a:xfrm>
            <a:off x="7812000" y="3789000"/>
            <a:ext cx="0" cy="36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3" name="Line 40"/>
          <p:cNvSpPr>
            <a:spLocks noChangeShapeType="1"/>
          </p:cNvSpPr>
          <p:nvPr/>
        </p:nvSpPr>
        <p:spPr bwMode="auto">
          <a:xfrm>
            <a:off x="6912000" y="6489000"/>
            <a:ext cx="1800000" cy="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endParaRPr lang="zh-TW" altLang="en-US"/>
          </a:p>
        </p:txBody>
      </p:sp>
      <p:cxnSp>
        <p:nvCxnSpPr>
          <p:cNvPr id="74" name="AutoShape 56"/>
          <p:cNvCxnSpPr>
            <a:cxnSpLocks noChangeShapeType="1"/>
          </p:cNvCxnSpPr>
          <p:nvPr/>
        </p:nvCxnSpPr>
        <p:spPr bwMode="auto">
          <a:xfrm>
            <a:off x="7812000" y="2709000"/>
            <a:ext cx="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76" name="弧形接點 75"/>
          <p:cNvCxnSpPr>
            <a:stCxn id="66" idx="2"/>
            <a:endCxn id="65" idx="2"/>
          </p:cNvCxnSpPr>
          <p:nvPr/>
        </p:nvCxnSpPr>
        <p:spPr bwMode="auto">
          <a:xfrm rot="10800000" flipH="1">
            <a:off x="7272000" y="5589000"/>
            <a:ext cx="180000" cy="720000"/>
          </a:xfrm>
          <a:prstGeom prst="curvedConnector3">
            <a:avLst>
              <a:gd name="adj1" fmla="val -127000"/>
            </a:avLst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4906888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Articulation Points (Cut Points)</a:t>
            </a:r>
            <a:endParaRPr lang="zh-TW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</p:spPr>
            <p:txBody>
              <a:bodyPr/>
              <a:lstStyle/>
              <a:p>
                <a:pPr marL="0" indent="0"/>
                <a:r>
                  <a:rPr lang="en-US" altLang="zh-TW" sz="2300" dirty="0"/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z="2300" dirty="0"/>
                  <a:t> be a connected, undirected graph. </a:t>
                </a:r>
                <a:r>
                  <a:rPr lang="en-US" altLang="zh-TW" sz="2300" dirty="0" smtClean="0"/>
                  <a:t>A </a:t>
                </a:r>
                <a:r>
                  <a:rPr lang="en-US" altLang="zh-TW" sz="2300" i="1" dirty="0" smtClean="0">
                    <a:solidFill>
                      <a:srgbClr val="0000FF"/>
                    </a:solidFill>
                  </a:rPr>
                  <a:t>cut </a:t>
                </a:r>
                <a:r>
                  <a:rPr lang="en-US" altLang="zh-TW" sz="2300" i="1" dirty="0">
                    <a:solidFill>
                      <a:srgbClr val="0000FF"/>
                    </a:solidFill>
                  </a:rPr>
                  <a:t>point</a:t>
                </a:r>
                <a:r>
                  <a:rPr lang="en-US" altLang="zh-TW" sz="2300" dirty="0"/>
                  <a:t>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is a vertex whose removal disconnects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 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) be a depth-first tree of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a</a:t>
                </a:r>
                <a:r>
                  <a:rPr lang="en-US" altLang="zh-TW" sz="2300" b="1" dirty="0"/>
                  <a:t>.</a:t>
                </a:r>
                <a:r>
                  <a:rPr lang="en-US" altLang="zh-TW" sz="2300" dirty="0"/>
                  <a:t>	The root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</a:t>
                </a:r>
                <a:r>
                  <a:rPr lang="en-US" altLang="zh-TW" sz="2300" dirty="0" smtClean="0"/>
                  <a:t>if </a:t>
                </a:r>
                <a:r>
                  <a:rPr lang="en-US" altLang="zh-TW" sz="2300" dirty="0"/>
                  <a:t>it has at least two children in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b.</a:t>
                </a:r>
                <a:r>
                  <a:rPr lang="en-US" altLang="zh-TW" sz="2300" dirty="0"/>
                  <a:t>	Let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be a </a:t>
                </a:r>
                <a:r>
                  <a:rPr lang="en-US" altLang="zh-TW" sz="2300" dirty="0" err="1"/>
                  <a:t>nonroot</a:t>
                </a:r>
                <a:r>
                  <a:rPr lang="en-US" altLang="zh-TW" sz="2300" dirty="0"/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/>
                  <a:t>. Then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is </a:t>
                </a:r>
                <a:r>
                  <a:rPr lang="en-US" altLang="zh-TW" sz="2300" dirty="0" smtClean="0"/>
                  <a:t>a cut </a:t>
                </a:r>
                <a:r>
                  <a:rPr lang="en-US" altLang="zh-TW" sz="2300" dirty="0"/>
                  <a:t>point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if and only if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 has a child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 such that there is no back edge from any descendant of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 to a proper ancestor of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.</a:t>
                </a:r>
              </a:p>
              <a:p>
                <a:pPr marL="357188" indent="-357188"/>
                <a:r>
                  <a:rPr lang="en-US" altLang="zh-TW" sz="2300" b="1" i="1" dirty="0"/>
                  <a:t>c.</a:t>
                </a:r>
                <a:r>
                  <a:rPr lang="en-US" altLang="zh-TW" sz="2300" dirty="0"/>
                  <a:t>	Let</a:t>
                </a:r>
              </a:p>
              <a:p>
                <a:pPr marL="357188" indent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smtClean="0"/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300" dirty="0"/>
              </a:p>
              <a:p>
                <a:pPr marL="357188" indent="-357188"/>
                <a:r>
                  <a:rPr lang="en-US" altLang="zh-TW" sz="2300" b="1" i="1" dirty="0"/>
                  <a:t>d.</a:t>
                </a:r>
                <a:r>
                  <a:rPr lang="en-US" altLang="zh-TW" sz="2300" dirty="0"/>
                  <a:t>	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be a </a:t>
                </a:r>
                <a:r>
                  <a:rPr lang="en-US" altLang="zh-TW" sz="2300" dirty="0" err="1">
                    <a:solidFill>
                      <a:srgbClr val="000000"/>
                    </a:solidFill>
                  </a:rPr>
                  <a:t>nonroot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vertex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Then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is </a:t>
                </a:r>
                <a:r>
                  <a:rPr lang="en-US" altLang="zh-TW" sz="2300" dirty="0" smtClean="0">
                    <a:solidFill>
                      <a:srgbClr val="000000"/>
                    </a:solidFill>
                  </a:rPr>
                  <a:t>a cut 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point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if and only if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has a child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such that </a:t>
                </a:r>
                <a:r>
                  <a:rPr lang="en-US" altLang="zh-TW" sz="2300" i="1" dirty="0" err="1">
                    <a:solidFill>
                      <a:srgbClr val="000000"/>
                    </a:solidFill>
                  </a:rPr>
                  <a:t>v.low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≥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i="1" dirty="0" err="1">
                    <a:solidFill>
                      <a:srgbClr val="000000"/>
                    </a:solidFill>
                  </a:rPr>
                  <a:t>u.d</a:t>
                </a:r>
                <a:r>
                  <a:rPr lang="en-US" altLang="zh-TW" sz="2300" dirty="0"/>
                  <a:t>.</a:t>
                </a:r>
                <a:endParaRPr lang="zh-TW" altLang="en-US" sz="23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3"/>
                <a:ext cx="8640000" cy="5040588"/>
              </a:xfrm>
              <a:blipFill>
                <a:blip r:embed="rId2"/>
                <a:stretch>
                  <a:fillRect l="-987" t="-967" b="-205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178074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z="4400" dirty="0"/>
              <a:t>Bridges</a:t>
            </a:r>
            <a:endParaRPr lang="zh-TW" altLang="en-US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252000" y="1268412"/>
                <a:ext cx="8640000" cy="4320587"/>
              </a:xfrm>
            </p:spPr>
            <p:txBody>
              <a:bodyPr/>
              <a:lstStyle/>
              <a:p>
                <a:pPr marL="0" indent="0"/>
                <a:r>
                  <a:rPr lang="en-US" altLang="zh-TW" sz="2300" dirty="0"/>
                  <a:t>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spc="300" dirty="0">
                    <a:solidFill>
                      <a:srgbClr val="000000"/>
                    </a:solidFill>
                  </a:rPr>
                  <a:t>E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)</a:t>
                </a:r>
                <a:r>
                  <a:rPr lang="en-US" altLang="zh-TW" sz="2300" dirty="0"/>
                  <a:t> be a connected, undirected graph. A </a:t>
                </a:r>
                <a:r>
                  <a:rPr lang="en-US" altLang="zh-TW" sz="2300" i="1" dirty="0">
                    <a:solidFill>
                      <a:srgbClr val="0000FF"/>
                    </a:solidFill>
                  </a:rPr>
                  <a:t>bridge</a:t>
                </a:r>
                <a:r>
                  <a:rPr lang="en-US" altLang="zh-TW" sz="2300" dirty="0"/>
                  <a:t> of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 is an edge whose removal disconnects </a:t>
                </a:r>
                <a:r>
                  <a:rPr lang="en-US" altLang="zh-TW" sz="2300" i="1" dirty="0"/>
                  <a:t>G</a:t>
                </a:r>
                <a:r>
                  <a:rPr lang="en-US" altLang="zh-TW" sz="2300" dirty="0"/>
                  <a:t>. Let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</a:t>
                </a:r>
                <a:r>
                  <a:rPr lang="en-US" altLang="zh-TW" sz="23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 (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E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 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) be a depth-first tree of </a:t>
                </a:r>
                <a:r>
                  <a:rPr lang="en-US" altLang="zh-TW" sz="2300" i="1" dirty="0">
                    <a:solidFill>
                      <a:srgbClr val="000000"/>
                    </a:solidFill>
                    <a:sym typeface="Symbol" pitchFamily="18" charset="2"/>
                  </a:rPr>
                  <a:t>G</a:t>
                </a:r>
                <a:r>
                  <a:rPr lang="en-US" altLang="zh-TW" sz="2300" dirty="0">
                    <a:solidFill>
                      <a:srgbClr val="000000"/>
                    </a:solidFill>
                    <a:sym typeface="Symbol" pitchFamily="18" charset="2"/>
                  </a:rPr>
                  <a:t>.</a:t>
                </a:r>
              </a:p>
              <a:p>
                <a:pPr marL="357188" indent="-357188">
                  <a:spcBef>
                    <a:spcPts val="1200"/>
                  </a:spcBef>
                </a:pPr>
                <a:r>
                  <a:rPr lang="en-US" altLang="zh-TW" sz="2300" b="1" i="1" dirty="0"/>
                  <a:t>a</a:t>
                </a:r>
                <a:r>
                  <a:rPr lang="en-US" altLang="zh-TW" sz="2300" b="1" dirty="0"/>
                  <a:t>.</a:t>
                </a:r>
                <a:r>
                  <a:rPr lang="en-US" altLang="zh-TW" sz="2300" dirty="0"/>
                  <a:t>	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Let {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} be an edge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such that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is a child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</a:t>
                </a:r>
                <a:r>
                  <a:rPr lang="en-US" altLang="zh-TW" sz="2300" dirty="0"/>
                  <a:t>Then {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,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} is a bridge if and only if there is no back edge from any descendant of </a:t>
                </a:r>
                <a:r>
                  <a:rPr lang="en-US" altLang="zh-TW" sz="2300" i="1" dirty="0"/>
                  <a:t>v</a:t>
                </a:r>
                <a:r>
                  <a:rPr lang="en-US" altLang="zh-TW" sz="2300" dirty="0"/>
                  <a:t> to an ancestor of </a:t>
                </a:r>
                <a:r>
                  <a:rPr lang="en-US" altLang="zh-TW" sz="2300" i="1" dirty="0"/>
                  <a:t>u</a:t>
                </a:r>
                <a:r>
                  <a:rPr lang="en-US" altLang="zh-TW" sz="2300" dirty="0"/>
                  <a:t>.</a:t>
                </a:r>
              </a:p>
              <a:p>
                <a:pPr marL="357188" indent="-357188">
                  <a:spcBef>
                    <a:spcPts val="1200"/>
                  </a:spcBef>
                </a:pPr>
                <a:r>
                  <a:rPr lang="en-US" altLang="zh-TW" sz="2300" b="1" i="1" dirty="0"/>
                  <a:t>b.</a:t>
                </a:r>
                <a:r>
                  <a:rPr lang="en-US" altLang="zh-TW" sz="2300" dirty="0"/>
                  <a:t>	Let</a:t>
                </a:r>
              </a:p>
              <a:p>
                <a:pPr marL="357188" indent="0">
                  <a:spcBef>
                    <a:spcPts val="12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v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low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altLang="zh-TW" sz="23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TW" sz="2300" b="0" smtClean="0"/>
                        <m:t>min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TW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TW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/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                                                                               </m:t>
                              </m:r>
                            </m:e>
                            <m:e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: (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,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is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a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back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edge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for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some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descendant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x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of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v</m:t>
                              </m:r>
                              <m:r>
                                <m:rPr>
                                  <m:nor/>
                                </m:rPr>
                                <a:rPr lang="en-US" altLang="zh-TW" sz="2300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TW" sz="2300" dirty="0"/>
              </a:p>
              <a:p>
                <a:pPr marL="357188" indent="-357188">
                  <a:spcBef>
                    <a:spcPts val="1200"/>
                  </a:spcBef>
                </a:pPr>
                <a:r>
                  <a:rPr lang="en-US" altLang="zh-TW" sz="2300" b="1" i="1" dirty="0"/>
                  <a:t>c.</a:t>
                </a:r>
                <a:r>
                  <a:rPr lang="en-US" altLang="zh-TW" sz="2300" dirty="0"/>
                  <a:t>	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Let {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} be an edge of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G</a:t>
                </a:r>
                <a:r>
                  <a:rPr lang="en-US" altLang="zh-TW" sz="2300" baseline="-25000" dirty="0">
                    <a:solidFill>
                      <a:srgbClr val="000000"/>
                    </a:solidFill>
                    <a:sym typeface="Symbol" pitchFamily="18" charset="2"/>
                  </a:rPr>
                  <a:t>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such that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is a child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. Then {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u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, </a:t>
                </a:r>
                <a:r>
                  <a:rPr lang="en-US" altLang="zh-TW" sz="2300" i="1" dirty="0">
                    <a:solidFill>
                      <a:srgbClr val="000000"/>
                    </a:solidFill>
                  </a:rPr>
                  <a:t>v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} is a bridge if and only if </a:t>
                </a:r>
                <a:r>
                  <a:rPr lang="en-US" altLang="zh-TW" sz="2300" i="1" dirty="0" err="1">
                    <a:solidFill>
                      <a:srgbClr val="000000"/>
                    </a:solidFill>
                  </a:rPr>
                  <a:t>v.low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000" dirty="0">
                    <a:solidFill>
                      <a:srgbClr val="000000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r>
                  <a:rPr lang="en-US" altLang="zh-TW" sz="23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zh-TW" sz="2300" i="1" dirty="0" err="1"/>
                  <a:t>u.d</a:t>
                </a:r>
                <a:r>
                  <a:rPr lang="en-US" altLang="zh-TW" sz="2300" dirty="0"/>
                  <a:t>.</a:t>
                </a:r>
                <a:endParaRPr lang="zh-TW" altLang="en-US" sz="2300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000" y="1268412"/>
                <a:ext cx="8640000" cy="4320587"/>
              </a:xfrm>
              <a:blipFill>
                <a:blip r:embed="rId2"/>
                <a:stretch>
                  <a:fillRect l="-987" t="-1128" b="-691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88126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low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]();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parent =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new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]();</a:t>
            </a:r>
          </a:p>
          <a:p>
            <a:endParaRPr lang="en-US" altLang="zh-TW" dirty="0" smtClean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parent[ u ] = -1;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0;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n;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parent;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delete[]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d;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5196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++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613567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()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= 0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u = 0; u &lt;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n;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u++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u ] == 0 )</a:t>
            </a:r>
          </a:p>
          <a:p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 );</a:t>
            </a:r>
          </a:p>
          <a:p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void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d[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low[ </a:t>
            </a:r>
            <a:r>
              <a:rPr lang="pl-PL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pl-PL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++dfsTime;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d[ v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++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];</a:t>
            </a:r>
            <a:endParaRPr lang="en-US" altLang="zh-TW" dirty="0">
              <a:solidFill>
                <a:srgbClr val="000000"/>
              </a:solidFill>
              <a:latin typeface="Lucida Console" panose="020B0609040504020204" pitchFamily="49" charset="0"/>
              <a:ea typeface="細明體" panose="02020509000000000000" pitchFamily="49" charset="-120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 err="1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v );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low[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else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if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], d[ v ] );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23406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buClr>
                <a:srgbClr val="000000"/>
              </a:buClr>
            </a:pP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parent[ u ] ==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&gt;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   else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parent[ </a:t>
            </a:r>
            <a:r>
              <a:rPr lang="en-US" altLang="zh-TW" dirty="0" smtClean="0">
                <a:highlight>
                  <a:srgbClr val="FFFFFF"/>
                </a:highlight>
                <a:latin typeface="Lucida Console"/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==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low[ v ] &gt;= d[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>
              <a:solidFill>
                <a:srgbClr val="000000"/>
              </a:solidFill>
              <a:latin typeface="Lucida Console"/>
            </a:endParaRPr>
          </a:p>
        </p:txBody>
      </p:sp>
    </p:spTree>
    <p:extLst>
      <p:ext uri="{BB962C8B-B14F-4D97-AF65-F5344CB8AC3E}">
        <p14:creationId xmlns:p14="http://schemas.microsoft.com/office/powerpoint/2010/main" val="770606372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parent[ u ] ==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&gt;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else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parent[ </a:t>
            </a:r>
            <a:r>
              <a:rPr lang="en-US" altLang="zh-TW" dirty="0" smtClean="0">
                <a:highlight>
                  <a:srgbClr val="FFFFFF"/>
                </a:highlight>
                <a:latin typeface="Lucida Console"/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==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low[ v ] &gt;= d[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</p:txBody>
      </p:sp>
      <p:cxnSp>
        <p:nvCxnSpPr>
          <p:cNvPr id="3" name="AutoShape 57"/>
          <p:cNvCxnSpPr>
            <a:cxnSpLocks noChangeShapeType="1"/>
          </p:cNvCxnSpPr>
          <p:nvPr/>
        </p:nvCxnSpPr>
        <p:spPr bwMode="auto">
          <a:xfrm flipH="1" flipV="1">
            <a:off x="2232000" y="46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" name="AutoShape 56"/>
          <p:cNvCxnSpPr>
            <a:cxnSpLocks noChangeShapeType="1"/>
          </p:cNvCxnSpPr>
          <p:nvPr/>
        </p:nvCxnSpPr>
        <p:spPr bwMode="auto">
          <a:xfrm flipV="1">
            <a:off x="1152000" y="46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5" name="AutoShape 57"/>
          <p:cNvCxnSpPr>
            <a:cxnSpLocks noChangeShapeType="1"/>
          </p:cNvCxnSpPr>
          <p:nvPr/>
        </p:nvCxnSpPr>
        <p:spPr bwMode="auto">
          <a:xfrm flipH="1" flipV="1">
            <a:off x="3852000" y="3069000"/>
            <a:ext cx="1080000" cy="90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6" name="AutoShape 56"/>
          <p:cNvCxnSpPr>
            <a:cxnSpLocks noChangeShapeType="1"/>
          </p:cNvCxnSpPr>
          <p:nvPr/>
        </p:nvCxnSpPr>
        <p:spPr bwMode="auto">
          <a:xfrm flipV="1">
            <a:off x="2772000" y="3069000"/>
            <a:ext cx="1080000" cy="90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7" name="Line 40"/>
          <p:cNvSpPr>
            <a:spLocks noChangeShapeType="1"/>
          </p:cNvSpPr>
          <p:nvPr/>
        </p:nvSpPr>
        <p:spPr bwMode="auto">
          <a:xfrm>
            <a:off x="3132000" y="234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8" name="Line 40"/>
          <p:cNvSpPr>
            <a:spLocks noChangeShapeType="1"/>
          </p:cNvSpPr>
          <p:nvPr/>
        </p:nvSpPr>
        <p:spPr bwMode="auto">
          <a:xfrm>
            <a:off x="792000" y="23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9" name="Line 40"/>
          <p:cNvSpPr>
            <a:spLocks noChangeShapeType="1"/>
          </p:cNvSpPr>
          <p:nvPr/>
        </p:nvSpPr>
        <p:spPr bwMode="auto">
          <a:xfrm flipV="1">
            <a:off x="2412000" y="234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0" name="AutoShape 57"/>
          <p:cNvCxnSpPr>
            <a:cxnSpLocks noChangeShapeType="1"/>
          </p:cNvCxnSpPr>
          <p:nvPr/>
        </p:nvCxnSpPr>
        <p:spPr bwMode="auto">
          <a:xfrm flipH="1" flipV="1">
            <a:off x="1679791" y="162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1" name="Oval 39"/>
          <p:cNvSpPr>
            <a:spLocks noChangeArrowheads="1"/>
          </p:cNvSpPr>
          <p:nvPr/>
        </p:nvSpPr>
        <p:spPr bwMode="auto">
          <a:xfrm>
            <a:off x="2772000" y="21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12" name="Oval 49"/>
          <p:cNvSpPr>
            <a:spLocks noChangeArrowheads="1"/>
          </p:cNvSpPr>
          <p:nvPr/>
        </p:nvSpPr>
        <p:spPr bwMode="auto">
          <a:xfrm>
            <a:off x="972000" y="28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13" name="Oval 50"/>
          <p:cNvSpPr>
            <a:spLocks noChangeArrowheads="1"/>
          </p:cNvSpPr>
          <p:nvPr/>
        </p:nvSpPr>
        <p:spPr bwMode="auto">
          <a:xfrm>
            <a:off x="3492000" y="28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14" name="Oval 52"/>
          <p:cNvSpPr>
            <a:spLocks noChangeArrowheads="1"/>
          </p:cNvSpPr>
          <p:nvPr/>
        </p:nvSpPr>
        <p:spPr bwMode="auto">
          <a:xfrm>
            <a:off x="2052000" y="28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15" name="AutoShape 56"/>
          <p:cNvCxnSpPr>
            <a:cxnSpLocks noChangeShapeType="1"/>
          </p:cNvCxnSpPr>
          <p:nvPr/>
        </p:nvCxnSpPr>
        <p:spPr bwMode="auto">
          <a:xfrm flipV="1">
            <a:off x="792000" y="16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" name="Oval 39"/>
          <p:cNvSpPr>
            <a:spLocks noChangeArrowheads="1"/>
          </p:cNvSpPr>
          <p:nvPr/>
        </p:nvSpPr>
        <p:spPr bwMode="auto">
          <a:xfrm>
            <a:off x="1512000" y="14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17" name="Oval 51"/>
          <p:cNvSpPr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2772000" y="39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19" name="AutoShape 56"/>
          <p:cNvCxnSpPr>
            <a:cxnSpLocks noChangeShapeType="1"/>
          </p:cNvCxnSpPr>
          <p:nvPr/>
        </p:nvCxnSpPr>
        <p:spPr bwMode="auto">
          <a:xfrm flipV="1">
            <a:off x="2232000" y="396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0" name="Line 40"/>
          <p:cNvSpPr>
            <a:spLocks noChangeShapeType="1"/>
          </p:cNvSpPr>
          <p:nvPr/>
        </p:nvSpPr>
        <p:spPr bwMode="auto">
          <a:xfrm flipV="1">
            <a:off x="4392000" y="39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1" name="Oval 39"/>
          <p:cNvSpPr>
            <a:spLocks noChangeArrowheads="1"/>
          </p:cNvSpPr>
          <p:nvPr/>
        </p:nvSpPr>
        <p:spPr bwMode="auto">
          <a:xfrm>
            <a:off x="4572000" y="37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22" name="Oval 49"/>
          <p:cNvSpPr>
            <a:spLocks noChangeArrowheads="1"/>
          </p:cNvSpPr>
          <p:nvPr/>
        </p:nvSpPr>
        <p:spPr bwMode="auto">
          <a:xfrm>
            <a:off x="295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23" name="Oval 51"/>
          <p:cNvSpPr>
            <a:spLocks noChangeArrowheads="1"/>
          </p:cNvSpPr>
          <p:nvPr/>
        </p:nvSpPr>
        <p:spPr bwMode="auto">
          <a:xfrm>
            <a:off x="187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24" name="Oval 52"/>
          <p:cNvSpPr>
            <a:spLocks noChangeArrowheads="1"/>
          </p:cNvSpPr>
          <p:nvPr/>
        </p:nvSpPr>
        <p:spPr bwMode="auto">
          <a:xfrm>
            <a:off x="403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25" name="Oval 51"/>
          <p:cNvSpPr>
            <a:spLocks noChangeArrowheads="1"/>
          </p:cNvSpPr>
          <p:nvPr/>
        </p:nvSpPr>
        <p:spPr bwMode="auto">
          <a:xfrm>
            <a:off x="2412000" y="37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26" name="Line 40"/>
          <p:cNvSpPr>
            <a:spLocks noChangeShapeType="1"/>
          </p:cNvSpPr>
          <p:nvPr/>
        </p:nvSpPr>
        <p:spPr bwMode="auto">
          <a:xfrm>
            <a:off x="331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27" name="Line 40"/>
          <p:cNvSpPr>
            <a:spLocks noChangeShapeType="1"/>
          </p:cNvSpPr>
          <p:nvPr/>
        </p:nvSpPr>
        <p:spPr bwMode="auto">
          <a:xfrm>
            <a:off x="115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28" name="AutoShape 56"/>
          <p:cNvCxnSpPr>
            <a:cxnSpLocks noChangeShapeType="1"/>
          </p:cNvCxnSpPr>
          <p:nvPr/>
        </p:nvCxnSpPr>
        <p:spPr bwMode="auto">
          <a:xfrm flipV="1">
            <a:off x="612000" y="54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9" name="Line 40"/>
          <p:cNvSpPr>
            <a:spLocks noChangeShapeType="1"/>
          </p:cNvSpPr>
          <p:nvPr/>
        </p:nvSpPr>
        <p:spPr bwMode="auto">
          <a:xfrm flipV="1">
            <a:off x="277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30" name="Oval 39"/>
          <p:cNvSpPr>
            <a:spLocks noChangeArrowheads="1"/>
          </p:cNvSpPr>
          <p:nvPr/>
        </p:nvSpPr>
        <p:spPr bwMode="auto">
          <a:xfrm>
            <a:off x="2952000" y="52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31" name="Oval 49"/>
          <p:cNvSpPr>
            <a:spLocks noChangeArrowheads="1"/>
          </p:cNvSpPr>
          <p:nvPr/>
        </p:nvSpPr>
        <p:spPr bwMode="auto">
          <a:xfrm>
            <a:off x="133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32" name="Oval 50"/>
          <p:cNvSpPr>
            <a:spLocks noChangeArrowheads="1"/>
          </p:cNvSpPr>
          <p:nvPr/>
        </p:nvSpPr>
        <p:spPr bwMode="auto">
          <a:xfrm>
            <a:off x="349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33" name="Oval 51"/>
          <p:cNvSpPr>
            <a:spLocks noChangeArrowheads="1"/>
          </p:cNvSpPr>
          <p:nvPr/>
        </p:nvSpPr>
        <p:spPr bwMode="auto">
          <a:xfrm>
            <a:off x="25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34" name="Oval 52"/>
          <p:cNvSpPr>
            <a:spLocks noChangeArrowheads="1"/>
          </p:cNvSpPr>
          <p:nvPr/>
        </p:nvSpPr>
        <p:spPr bwMode="auto">
          <a:xfrm>
            <a:off x="241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35" name="Oval 51"/>
          <p:cNvSpPr>
            <a:spLocks noChangeArrowheads="1"/>
          </p:cNvSpPr>
          <p:nvPr/>
        </p:nvSpPr>
        <p:spPr bwMode="auto">
          <a:xfrm>
            <a:off x="792000" y="52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36" name="弧形接點 35"/>
          <p:cNvCxnSpPr>
            <a:stCxn id="21" idx="0"/>
            <a:endCxn id="16" idx="6"/>
          </p:cNvCxnSpPr>
          <p:nvPr/>
        </p:nvCxnSpPr>
        <p:spPr bwMode="auto">
          <a:xfrm rot="16200000" flipV="1">
            <a:off x="2502000" y="1359000"/>
            <a:ext cx="216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7" name="直線單箭頭接點 36"/>
          <p:cNvCxnSpPr>
            <a:stCxn id="12" idx="0"/>
            <a:endCxn id="16" idx="4"/>
          </p:cNvCxnSpPr>
          <p:nvPr/>
        </p:nvCxnSpPr>
        <p:spPr bwMode="auto">
          <a:xfrm flipV="1">
            <a:off x="1332000" y="18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8" name="直線單箭頭接點 37"/>
          <p:cNvCxnSpPr>
            <a:stCxn id="14" idx="0"/>
            <a:endCxn id="16" idx="4"/>
          </p:cNvCxnSpPr>
          <p:nvPr/>
        </p:nvCxnSpPr>
        <p:spPr bwMode="auto">
          <a:xfrm flipH="1" flipV="1">
            <a:off x="1872000" y="18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39" name="直線單箭頭接點 38"/>
          <p:cNvCxnSpPr>
            <a:stCxn id="24" idx="0"/>
            <a:endCxn id="13" idx="4"/>
          </p:cNvCxnSpPr>
          <p:nvPr/>
        </p:nvCxnSpPr>
        <p:spPr bwMode="auto">
          <a:xfrm flipH="1" flipV="1">
            <a:off x="3852000" y="3249000"/>
            <a:ext cx="54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0" name="直線單箭頭接點 39"/>
          <p:cNvCxnSpPr>
            <a:stCxn id="34" idx="0"/>
            <a:endCxn id="25" idx="4"/>
          </p:cNvCxnSpPr>
          <p:nvPr/>
        </p:nvCxnSpPr>
        <p:spPr bwMode="auto">
          <a:xfrm flipV="1">
            <a:off x="2772000" y="414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1" name="直線單箭頭接點 40"/>
          <p:cNvCxnSpPr>
            <a:stCxn id="31" idx="0"/>
            <a:endCxn id="23" idx="4"/>
          </p:cNvCxnSpPr>
          <p:nvPr/>
        </p:nvCxnSpPr>
        <p:spPr bwMode="auto">
          <a:xfrm flipV="1">
            <a:off x="1692000" y="48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42" name="弧形接點 41"/>
          <p:cNvCxnSpPr>
            <a:stCxn id="33" idx="0"/>
            <a:endCxn id="25" idx="2"/>
          </p:cNvCxnSpPr>
          <p:nvPr/>
        </p:nvCxnSpPr>
        <p:spPr bwMode="auto">
          <a:xfrm rot="5400000" flipH="1" flipV="1">
            <a:off x="522000" y="405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349369978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parent[ u ] ==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&gt;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lnSpc>
                <a:spcPct val="50000"/>
              </a:lnSpc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   else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for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</a:t>
            </a:r>
            <a:r>
              <a:rPr lang="en-US" altLang="zh-TW" dirty="0">
                <a:solidFill>
                  <a:srgbClr val="0000FF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int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[ </a:t>
            </a:r>
            <a:r>
              <a:rPr lang="en-US" altLang="zh-TW" dirty="0">
                <a:latin typeface="Lucida Console" panose="020B0609040504020204" pitchFamily="49" charset="0"/>
                <a:ea typeface="細明體" panose="02020509000000000000" pitchFamily="49" charset="-120"/>
              </a:rPr>
              <a:t>u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] )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parent[ </a:t>
            </a:r>
            <a:r>
              <a:rPr lang="en-US" altLang="zh-TW" dirty="0" smtClean="0">
                <a:highlight>
                  <a:srgbClr val="FFFFFF"/>
                </a:highlight>
                <a:latin typeface="Lucida Console"/>
              </a:rPr>
              <a:t>v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]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==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low[ v ] &gt;= d[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</a:t>
            </a:r>
            <a:r>
              <a:rPr lang="en-US" altLang="zh-TW" dirty="0">
                <a:highlight>
                  <a:srgbClr val="FFFFFF"/>
                </a:highlight>
                <a:latin typeface="Lucida Console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Lucida Console"/>
            </a:endParaRPr>
          </a:p>
        </p:txBody>
      </p:sp>
      <p:cxnSp>
        <p:nvCxnSpPr>
          <p:cNvPr id="43" name="AutoShape 57"/>
          <p:cNvCxnSpPr>
            <a:cxnSpLocks noChangeShapeType="1"/>
          </p:cNvCxnSpPr>
          <p:nvPr/>
        </p:nvCxnSpPr>
        <p:spPr bwMode="auto">
          <a:xfrm flipH="1" flipV="1">
            <a:off x="2232000" y="46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4" name="AutoShape 56"/>
          <p:cNvCxnSpPr>
            <a:cxnSpLocks noChangeShapeType="1"/>
          </p:cNvCxnSpPr>
          <p:nvPr/>
        </p:nvCxnSpPr>
        <p:spPr bwMode="auto">
          <a:xfrm flipV="1">
            <a:off x="1152000" y="468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5" name="AutoShape 57"/>
          <p:cNvCxnSpPr>
            <a:cxnSpLocks noChangeShapeType="1"/>
          </p:cNvCxnSpPr>
          <p:nvPr/>
        </p:nvCxnSpPr>
        <p:spPr bwMode="auto">
          <a:xfrm flipH="1" flipV="1">
            <a:off x="3852000" y="3069000"/>
            <a:ext cx="1080000" cy="90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46" name="AutoShape 56"/>
          <p:cNvCxnSpPr>
            <a:cxnSpLocks noChangeShapeType="1"/>
          </p:cNvCxnSpPr>
          <p:nvPr/>
        </p:nvCxnSpPr>
        <p:spPr bwMode="auto">
          <a:xfrm flipV="1">
            <a:off x="2772000" y="3069000"/>
            <a:ext cx="1080000" cy="90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47" name="Line 40"/>
          <p:cNvSpPr>
            <a:spLocks noChangeShapeType="1"/>
          </p:cNvSpPr>
          <p:nvPr/>
        </p:nvSpPr>
        <p:spPr bwMode="auto">
          <a:xfrm>
            <a:off x="3132000" y="234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8" name="Line 40"/>
          <p:cNvSpPr>
            <a:spLocks noChangeShapeType="1"/>
          </p:cNvSpPr>
          <p:nvPr/>
        </p:nvSpPr>
        <p:spPr bwMode="auto">
          <a:xfrm>
            <a:off x="792000" y="234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49" name="Line 40"/>
          <p:cNvSpPr>
            <a:spLocks noChangeShapeType="1"/>
          </p:cNvSpPr>
          <p:nvPr/>
        </p:nvSpPr>
        <p:spPr bwMode="auto">
          <a:xfrm flipV="1">
            <a:off x="2412000" y="2349000"/>
            <a:ext cx="72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0" name="AutoShape 57"/>
          <p:cNvCxnSpPr>
            <a:cxnSpLocks noChangeShapeType="1"/>
          </p:cNvCxnSpPr>
          <p:nvPr/>
        </p:nvCxnSpPr>
        <p:spPr bwMode="auto">
          <a:xfrm flipH="1" flipV="1">
            <a:off x="1679791" y="1624257"/>
            <a:ext cx="1452209" cy="724743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1" name="Oval 39"/>
          <p:cNvSpPr>
            <a:spLocks noChangeArrowheads="1"/>
          </p:cNvSpPr>
          <p:nvPr/>
        </p:nvSpPr>
        <p:spPr bwMode="auto">
          <a:xfrm>
            <a:off x="2772000" y="21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6/1</a:t>
            </a:r>
          </a:p>
        </p:txBody>
      </p:sp>
      <p:sp>
        <p:nvSpPr>
          <p:cNvPr id="52" name="Oval 49"/>
          <p:cNvSpPr>
            <a:spLocks noChangeArrowheads="1"/>
          </p:cNvSpPr>
          <p:nvPr/>
        </p:nvSpPr>
        <p:spPr bwMode="auto">
          <a:xfrm>
            <a:off x="972000" y="28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3/1</a:t>
            </a:r>
          </a:p>
        </p:txBody>
      </p:sp>
      <p:sp>
        <p:nvSpPr>
          <p:cNvPr id="53" name="Oval 50"/>
          <p:cNvSpPr>
            <a:spLocks noChangeArrowheads="1"/>
          </p:cNvSpPr>
          <p:nvPr/>
        </p:nvSpPr>
        <p:spPr bwMode="auto">
          <a:xfrm>
            <a:off x="3492000" y="2889000"/>
            <a:ext cx="72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9/1</a:t>
            </a:r>
          </a:p>
        </p:txBody>
      </p:sp>
      <p:sp>
        <p:nvSpPr>
          <p:cNvPr id="54" name="Oval 52"/>
          <p:cNvSpPr>
            <a:spLocks noChangeArrowheads="1"/>
          </p:cNvSpPr>
          <p:nvPr/>
        </p:nvSpPr>
        <p:spPr bwMode="auto">
          <a:xfrm>
            <a:off x="2052000" y="28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7/1</a:t>
            </a:r>
          </a:p>
        </p:txBody>
      </p:sp>
      <p:cxnSp>
        <p:nvCxnSpPr>
          <p:cNvPr id="55" name="AutoShape 56"/>
          <p:cNvCxnSpPr>
            <a:cxnSpLocks noChangeShapeType="1"/>
          </p:cNvCxnSpPr>
          <p:nvPr/>
        </p:nvCxnSpPr>
        <p:spPr bwMode="auto">
          <a:xfrm flipV="1">
            <a:off x="792000" y="1629000"/>
            <a:ext cx="108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56" name="Oval 39"/>
          <p:cNvSpPr>
            <a:spLocks noChangeArrowheads="1"/>
          </p:cNvSpPr>
          <p:nvPr/>
        </p:nvSpPr>
        <p:spPr bwMode="auto">
          <a:xfrm>
            <a:off x="1512000" y="1449000"/>
            <a:ext cx="72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1/1</a:t>
            </a:r>
          </a:p>
        </p:txBody>
      </p:sp>
      <p:sp>
        <p:nvSpPr>
          <p:cNvPr id="57" name="Oval 51"/>
          <p:cNvSpPr>
            <a:spLocks noChangeArrowheads="1"/>
          </p:cNvSpPr>
          <p:nvPr/>
        </p:nvSpPr>
        <p:spPr bwMode="auto">
          <a:xfrm>
            <a:off x="432000" y="216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2/1</a:t>
            </a:r>
          </a:p>
        </p:txBody>
      </p:sp>
      <p:sp>
        <p:nvSpPr>
          <p:cNvPr id="58" name="Line 40"/>
          <p:cNvSpPr>
            <a:spLocks noChangeShapeType="1"/>
          </p:cNvSpPr>
          <p:nvPr/>
        </p:nvSpPr>
        <p:spPr bwMode="auto">
          <a:xfrm>
            <a:off x="2772000" y="39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59" name="AutoShape 56"/>
          <p:cNvCxnSpPr>
            <a:cxnSpLocks noChangeShapeType="1"/>
          </p:cNvCxnSpPr>
          <p:nvPr/>
        </p:nvCxnSpPr>
        <p:spPr bwMode="auto">
          <a:xfrm flipV="1">
            <a:off x="2232000" y="396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0" name="Line 40"/>
          <p:cNvSpPr>
            <a:spLocks noChangeShapeType="1"/>
          </p:cNvSpPr>
          <p:nvPr/>
        </p:nvSpPr>
        <p:spPr bwMode="auto">
          <a:xfrm flipV="1">
            <a:off x="4392000" y="396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1" name="Oval 39"/>
          <p:cNvSpPr>
            <a:spLocks noChangeArrowheads="1"/>
          </p:cNvSpPr>
          <p:nvPr/>
        </p:nvSpPr>
        <p:spPr bwMode="auto">
          <a:xfrm>
            <a:off x="4572000" y="378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26/1</a:t>
            </a:r>
          </a:p>
        </p:txBody>
      </p:sp>
      <p:sp>
        <p:nvSpPr>
          <p:cNvPr id="62" name="Oval 49"/>
          <p:cNvSpPr>
            <a:spLocks noChangeArrowheads="1"/>
          </p:cNvSpPr>
          <p:nvPr/>
        </p:nvSpPr>
        <p:spPr bwMode="auto">
          <a:xfrm>
            <a:off x="295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24/24</a:t>
            </a:r>
          </a:p>
        </p:txBody>
      </p:sp>
      <p:sp>
        <p:nvSpPr>
          <p:cNvPr id="63" name="Oval 51"/>
          <p:cNvSpPr>
            <a:spLocks noChangeArrowheads="1"/>
          </p:cNvSpPr>
          <p:nvPr/>
        </p:nvSpPr>
        <p:spPr bwMode="auto">
          <a:xfrm>
            <a:off x="187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11/10</a:t>
            </a:r>
          </a:p>
        </p:txBody>
      </p:sp>
      <p:sp>
        <p:nvSpPr>
          <p:cNvPr id="64" name="Oval 52"/>
          <p:cNvSpPr>
            <a:spLocks noChangeArrowheads="1"/>
          </p:cNvSpPr>
          <p:nvPr/>
        </p:nvSpPr>
        <p:spPr bwMode="auto">
          <a:xfrm>
            <a:off x="4032000" y="450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27/9</a:t>
            </a:r>
          </a:p>
        </p:txBody>
      </p:sp>
      <p:sp>
        <p:nvSpPr>
          <p:cNvPr id="65" name="Oval 51"/>
          <p:cNvSpPr>
            <a:spLocks noChangeArrowheads="1"/>
          </p:cNvSpPr>
          <p:nvPr/>
        </p:nvSpPr>
        <p:spPr bwMode="auto">
          <a:xfrm>
            <a:off x="2412000" y="3789000"/>
            <a:ext cx="72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10/10</a:t>
            </a:r>
          </a:p>
        </p:txBody>
      </p:sp>
      <p:sp>
        <p:nvSpPr>
          <p:cNvPr id="66" name="Line 40"/>
          <p:cNvSpPr>
            <a:spLocks noChangeShapeType="1"/>
          </p:cNvSpPr>
          <p:nvPr/>
        </p:nvSpPr>
        <p:spPr bwMode="auto">
          <a:xfrm>
            <a:off x="331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67" name="Line 40"/>
          <p:cNvSpPr>
            <a:spLocks noChangeShapeType="1"/>
          </p:cNvSpPr>
          <p:nvPr/>
        </p:nvSpPr>
        <p:spPr bwMode="auto">
          <a:xfrm>
            <a:off x="115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cxnSp>
        <p:nvCxnSpPr>
          <p:cNvPr id="68" name="AutoShape 56"/>
          <p:cNvCxnSpPr>
            <a:cxnSpLocks noChangeShapeType="1"/>
          </p:cNvCxnSpPr>
          <p:nvPr/>
        </p:nvCxnSpPr>
        <p:spPr bwMode="auto">
          <a:xfrm flipV="1">
            <a:off x="612000" y="5409000"/>
            <a:ext cx="540000" cy="720000"/>
          </a:xfrm>
          <a:prstGeom prst="straightConnector1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69" name="Line 40"/>
          <p:cNvSpPr>
            <a:spLocks noChangeShapeType="1"/>
          </p:cNvSpPr>
          <p:nvPr/>
        </p:nvSpPr>
        <p:spPr bwMode="auto">
          <a:xfrm flipV="1">
            <a:off x="2772000" y="5409000"/>
            <a:ext cx="540000" cy="720000"/>
          </a:xfrm>
          <a:prstGeom prst="line">
            <a:avLst/>
          </a:prstGeom>
          <a:noFill/>
          <a:ln w="25400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新細明體" pitchFamily="18" charset="-120"/>
              <a:cs typeface="+mn-cs"/>
            </a:endParaRPr>
          </a:p>
        </p:txBody>
      </p:sp>
      <p:sp>
        <p:nvSpPr>
          <p:cNvPr id="70" name="Oval 39"/>
          <p:cNvSpPr>
            <a:spLocks noChangeArrowheads="1"/>
          </p:cNvSpPr>
          <p:nvPr/>
        </p:nvSpPr>
        <p:spPr bwMode="auto">
          <a:xfrm>
            <a:off x="2952000" y="5229000"/>
            <a:ext cx="720000" cy="360000"/>
          </a:xfrm>
          <a:prstGeom prst="ellipse">
            <a:avLst/>
          </a:prstGeom>
          <a:solidFill>
            <a:srgbClr val="FFC000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18/10</a:t>
            </a:r>
          </a:p>
        </p:txBody>
      </p:sp>
      <p:sp>
        <p:nvSpPr>
          <p:cNvPr id="71" name="Oval 49"/>
          <p:cNvSpPr>
            <a:spLocks noChangeArrowheads="1"/>
          </p:cNvSpPr>
          <p:nvPr/>
        </p:nvSpPr>
        <p:spPr bwMode="auto">
          <a:xfrm>
            <a:off x="133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15/11</a:t>
            </a:r>
          </a:p>
        </p:txBody>
      </p:sp>
      <p:sp>
        <p:nvSpPr>
          <p:cNvPr id="72" name="Oval 50"/>
          <p:cNvSpPr>
            <a:spLocks noChangeArrowheads="1"/>
          </p:cNvSpPr>
          <p:nvPr/>
        </p:nvSpPr>
        <p:spPr bwMode="auto">
          <a:xfrm>
            <a:off x="349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21/21</a:t>
            </a:r>
          </a:p>
        </p:txBody>
      </p:sp>
      <p:sp>
        <p:nvSpPr>
          <p:cNvPr id="73" name="Oval 51"/>
          <p:cNvSpPr>
            <a:spLocks noChangeArrowheads="1"/>
          </p:cNvSpPr>
          <p:nvPr/>
        </p:nvSpPr>
        <p:spPr bwMode="auto">
          <a:xfrm>
            <a:off x="25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13/10</a:t>
            </a:r>
          </a:p>
        </p:txBody>
      </p:sp>
      <p:sp>
        <p:nvSpPr>
          <p:cNvPr id="74" name="Oval 52"/>
          <p:cNvSpPr>
            <a:spLocks noChangeArrowheads="1"/>
          </p:cNvSpPr>
          <p:nvPr/>
        </p:nvSpPr>
        <p:spPr bwMode="auto">
          <a:xfrm>
            <a:off x="2412000" y="594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19/10</a:t>
            </a:r>
          </a:p>
        </p:txBody>
      </p:sp>
      <p:sp>
        <p:nvSpPr>
          <p:cNvPr id="75" name="Oval 51"/>
          <p:cNvSpPr>
            <a:spLocks noChangeArrowheads="1"/>
          </p:cNvSpPr>
          <p:nvPr/>
        </p:nvSpPr>
        <p:spPr bwMode="auto">
          <a:xfrm>
            <a:off x="792000" y="5229000"/>
            <a:ext cx="720000" cy="360000"/>
          </a:xfrm>
          <a:prstGeom prst="ellipse">
            <a:avLst/>
          </a:prstGeom>
          <a:solidFill>
            <a:schemeClr val="bg1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tIns="36000" bIns="5400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新細明體" pitchFamily="18" charset="-120"/>
                <a:cs typeface="+mn-cs"/>
              </a:rPr>
              <a:t>12/10</a:t>
            </a:r>
          </a:p>
        </p:txBody>
      </p:sp>
      <p:cxnSp>
        <p:nvCxnSpPr>
          <p:cNvPr id="76" name="弧形接點 75"/>
          <p:cNvCxnSpPr>
            <a:stCxn id="61" idx="0"/>
            <a:endCxn id="56" idx="6"/>
          </p:cNvCxnSpPr>
          <p:nvPr/>
        </p:nvCxnSpPr>
        <p:spPr bwMode="auto">
          <a:xfrm rot="16200000" flipV="1">
            <a:off x="2502000" y="1359000"/>
            <a:ext cx="2160000" cy="27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7" name="直線單箭頭接點 76"/>
          <p:cNvCxnSpPr>
            <a:stCxn id="52" idx="0"/>
            <a:endCxn id="56" idx="4"/>
          </p:cNvCxnSpPr>
          <p:nvPr/>
        </p:nvCxnSpPr>
        <p:spPr bwMode="auto">
          <a:xfrm flipV="1">
            <a:off x="1332000" y="18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8" name="直線單箭頭接點 77"/>
          <p:cNvCxnSpPr>
            <a:stCxn id="54" idx="0"/>
            <a:endCxn id="56" idx="4"/>
          </p:cNvCxnSpPr>
          <p:nvPr/>
        </p:nvCxnSpPr>
        <p:spPr bwMode="auto">
          <a:xfrm flipH="1" flipV="1">
            <a:off x="1872000" y="180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79" name="直線單箭頭接點 78"/>
          <p:cNvCxnSpPr>
            <a:stCxn id="64" idx="0"/>
            <a:endCxn id="53" idx="4"/>
          </p:cNvCxnSpPr>
          <p:nvPr/>
        </p:nvCxnSpPr>
        <p:spPr bwMode="auto">
          <a:xfrm flipH="1" flipV="1">
            <a:off x="3852000" y="3249000"/>
            <a:ext cx="540000" cy="126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0" name="直線單箭頭接點 79"/>
          <p:cNvCxnSpPr>
            <a:stCxn id="74" idx="0"/>
            <a:endCxn id="65" idx="4"/>
          </p:cNvCxnSpPr>
          <p:nvPr/>
        </p:nvCxnSpPr>
        <p:spPr bwMode="auto">
          <a:xfrm flipV="1">
            <a:off x="2772000" y="4149000"/>
            <a:ext cx="0" cy="180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1" name="直線單箭頭接點 80"/>
          <p:cNvCxnSpPr>
            <a:stCxn id="71" idx="0"/>
            <a:endCxn id="63" idx="4"/>
          </p:cNvCxnSpPr>
          <p:nvPr/>
        </p:nvCxnSpPr>
        <p:spPr bwMode="auto">
          <a:xfrm flipV="1">
            <a:off x="1692000" y="4869000"/>
            <a:ext cx="540000" cy="108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  <p:cxnSp>
        <p:nvCxnSpPr>
          <p:cNvPr id="82" name="弧形接點 81"/>
          <p:cNvCxnSpPr>
            <a:stCxn id="73" idx="0"/>
            <a:endCxn id="65" idx="2"/>
          </p:cNvCxnSpPr>
          <p:nvPr/>
        </p:nvCxnSpPr>
        <p:spPr bwMode="auto">
          <a:xfrm rot="5400000" flipH="1" flipV="1">
            <a:off x="522000" y="4059000"/>
            <a:ext cx="1980000" cy="1800000"/>
          </a:xfrm>
          <a:prstGeom prst="curvedConnector2">
            <a:avLst/>
          </a:prstGeom>
          <a:solidFill>
            <a:schemeClr val="accent1"/>
          </a:solidFill>
          <a:ln w="25400" cap="flat" cmpd="sng" algn="ctr">
            <a:solidFill>
              <a:srgbClr val="FF99FF"/>
            </a:solidFill>
            <a:prstDash val="solid"/>
            <a:miter lim="800000"/>
            <a:headEnd type="none" w="med" len="med"/>
            <a:tailEnd type="stealth" w="lg" len="lg"/>
          </a:ln>
          <a:effectLst/>
        </p:spPr>
      </p:cxnSp>
    </p:spTree>
    <p:extLst>
      <p:ext uri="{BB962C8B-B14F-4D97-AF65-F5344CB8AC3E}">
        <p14:creationId xmlns:p14="http://schemas.microsoft.com/office/powerpoint/2010/main" val="75136400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u++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d[ u ] = 0;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low[ u ] = 0;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= -1;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u ] = 0;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false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dfsTime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= 0;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u++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u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</a:t>
            </a:r>
            <a:r>
              <a:rPr lang="en-US" altLang="zh-TW" dirty="0" smtClean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computeLow</a:t>
            </a:r>
            <a:r>
              <a:rPr lang="en-US" altLang="zh-TW" dirty="0">
                <a:solidFill>
                  <a:srgbClr val="000000"/>
                </a:solidFill>
                <a:latin typeface="Lucida Console" panose="020B0609040504020204" pitchFamily="49" charset="0"/>
                <a:ea typeface="細明體" panose="02020509000000000000" pitchFamily="49" charset="-120"/>
              </a:rPr>
              <a:t>( u );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u ] &gt; 1 )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8018702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low[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d[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++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low[ v ]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!=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low[ v ] &gt;= d[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 smtClean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//            </a:t>
            </a:r>
            <a:r>
              <a:rPr lang="en-US" altLang="zh-TW" dirty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if( low[ v ] == d[ v ] || low[ v ] == d[ u ] )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469732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low[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d[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++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low[ v ]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!=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low[ v ] &gt;= d[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 smtClean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//            </a:t>
            </a:r>
            <a:r>
              <a:rPr lang="en-US" altLang="zh-TW" dirty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if( low[ v ] == d[ v ] || low[ v ] == d[ u ] )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!=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d[ u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u 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&gt;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2776825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low[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d[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]++;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low[ v ] );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!= v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fr-FR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fr-FR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fr-FR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fr-FR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!= -1 </a:t>
            </a:r>
            <a:r>
              <a:rPr lang="fr-FR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&amp;&amp; parent[ parent[ </a:t>
            </a:r>
            <a:r>
              <a:rPr lang="fr-FR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fr-FR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!= 0 )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&gt;= d[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)</a:t>
            </a:r>
          </a:p>
          <a:p>
            <a:r>
              <a:rPr lang="pl-PL" altLang="zh-TW" dirty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//      if( low[ u ] == d[ u ] || low[ u ] == d[ parent[ u ] ] )</a:t>
            </a:r>
            <a:endParaRPr lang="pl-PL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  <p:sp>
        <p:nvSpPr>
          <p:cNvPr id="2" name="內容版面配置區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lvl="0">
              <a:buClr>
                <a:srgbClr val="000000"/>
              </a:buClr>
            </a:pPr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= 0;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u++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d[ u ] == 0 )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{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u );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&gt; 1 )</a:t>
            </a:r>
          </a:p>
          <a:p>
            <a:pPr lvl="0">
              <a:buClr>
                <a:srgbClr val="000000"/>
              </a:buClr>
            </a:pP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[ u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Lucida Console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;</a:t>
            </a:r>
          </a:p>
          <a:p>
            <a:pPr lvl="0">
              <a:buClr>
                <a:srgbClr val="000000"/>
              </a:buClr>
            </a:pPr>
            <a:r>
              <a:rPr lang="zh-TW" alt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Lucida Console"/>
              </a:rPr>
              <a:t>}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1316294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low[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d[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]++;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low[ v ] );</a:t>
            </a:r>
          </a:p>
          <a:p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!=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low[ v ] &gt;= d[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en-US" altLang="zh-TW" dirty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//            if( low[ v ] == d[ v ] || low[ v ] == d[ u ] )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!= v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d[ v ] );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==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&gt; 1 )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= 0;</a:t>
            </a: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u++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u ] == 0 )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u );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23520734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void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low[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d[ </a:t>
            </a:r>
            <a:r>
              <a:rPr lang="pl-PL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pl-PL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++dfsTime;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v :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adjList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v ] == 0 )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]++;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parent[ v ] =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v );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low[ v ]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!= v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min(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], d[ v ] );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pPr>
              <a:lnSpc>
                <a:spcPct val="50000"/>
              </a:lnSpc>
            </a:pPr>
            <a:endParaRPr lang="zh-TW" altLang="en-US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parent[ u ] != -1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)</a:t>
            </a:r>
          </a:p>
          <a:p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{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parent[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!= 0 )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low[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&gt;= d[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)</a:t>
            </a:r>
          </a:p>
          <a:p>
            <a:r>
              <a:rPr lang="pl-PL" altLang="zh-TW" dirty="0">
                <a:solidFill>
                  <a:srgbClr val="008000"/>
                </a:solidFill>
                <a:highlight>
                  <a:srgbClr val="FFFFFF"/>
                </a:highlight>
                <a:latin typeface="+mn-ea"/>
              </a:rPr>
              <a:t>//         if( low[ u ] == d[ u ] || low[ u ] == d[ parent[ u ] ] )</a:t>
            </a:r>
            <a:endParaRPr lang="pl-PL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parent[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zh-TW" altLang="en-US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else</a:t>
            </a:r>
            <a:endParaRPr lang="en-US" altLang="zh-TW" dirty="0">
              <a:solidFill>
                <a:srgbClr val="000000"/>
              </a:solidFill>
              <a:highlight>
                <a:srgbClr val="FFFFFF"/>
              </a:highlight>
              <a:latin typeface="+mn-ea"/>
            </a:endParaRP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numChildren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&gt; 1 )</a:t>
            </a:r>
          </a:p>
          <a:p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isCutPoint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[ </a:t>
            </a:r>
            <a:r>
              <a:rPr lang="en-US" altLang="zh-TW" dirty="0">
                <a:solidFill>
                  <a:srgbClr val="808080"/>
                </a:solidFill>
                <a:highlight>
                  <a:srgbClr val="FFFFFF"/>
                </a:highlight>
                <a:latin typeface="+mn-ea"/>
              </a:rPr>
              <a:t>u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] =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true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;</a:t>
            </a:r>
          </a:p>
          <a:p>
            <a:pPr>
              <a:lnSpc>
                <a:spcPct val="50000"/>
              </a:lnSpc>
            </a:pP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}</a:t>
            </a:r>
            <a:endParaRPr lang="zh-TW" altLang="en-US" dirty="0">
              <a:latin typeface="+mn-ea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zh-TW" dirty="0" err="1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dfsTime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= 0;</a:t>
            </a:r>
          </a:p>
          <a:p>
            <a:r>
              <a:rPr lang="en-US" altLang="zh-TW" dirty="0" smtClean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for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</a:t>
            </a:r>
            <a:r>
              <a:rPr lang="en-US" altLang="zh-TW" dirty="0" err="1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int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u = 1; u &lt;= </a:t>
            </a:r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n; 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u++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</a:t>
            </a:r>
            <a:r>
              <a:rPr lang="en-US" altLang="zh-TW" dirty="0">
                <a:solidFill>
                  <a:srgbClr val="0000FF"/>
                </a:solidFill>
                <a:highlight>
                  <a:srgbClr val="FFFFFF"/>
                </a:highlight>
                <a:latin typeface="+mn-ea"/>
              </a:rPr>
              <a:t>if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d[ u ] == 0 )</a:t>
            </a:r>
          </a:p>
          <a:p>
            <a:r>
              <a:rPr lang="en-US" altLang="zh-TW" dirty="0" smtClean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      </a:t>
            </a:r>
            <a:r>
              <a:rPr lang="en-US" altLang="zh-TW" dirty="0" err="1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findCutPoints</a:t>
            </a:r>
            <a:r>
              <a:rPr lang="en-US" altLang="zh-TW" dirty="0">
                <a:solidFill>
                  <a:srgbClr val="000000"/>
                </a:solidFill>
                <a:highlight>
                  <a:srgbClr val="FFFFFF"/>
                </a:highlight>
                <a:latin typeface="+mn-ea"/>
              </a:rPr>
              <a:t>( u );</a:t>
            </a:r>
            <a:endParaRPr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38936256"/>
      </p:ext>
    </p:extLst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自訂 2">
      <a:majorFont>
        <a:latin typeface="Times New Roman"/>
        <a:ea typeface="Times New Roman"/>
        <a:cs typeface=""/>
      </a:majorFont>
      <a:minorFont>
        <a:latin typeface="Times New Roman"/>
        <a:ea typeface="Lucida Console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新細明體" pitchFamily="18" charset="-12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21731</TotalTime>
  <Words>13586</Words>
  <Application>Microsoft Office PowerPoint</Application>
  <PresentationFormat>投影片</PresentationFormat>
  <Paragraphs>2823</Paragraphs>
  <Slides>103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103</vt:i4>
      </vt:variant>
    </vt:vector>
  </HeadingPairs>
  <TitlesOfParts>
    <vt:vector size="112" baseType="lpstr">
      <vt:lpstr>細明體</vt:lpstr>
      <vt:lpstr>新細明體</vt:lpstr>
      <vt:lpstr>標楷體</vt:lpstr>
      <vt:lpstr>Cambria Math</vt:lpstr>
      <vt:lpstr>Lucida Console</vt:lpstr>
      <vt:lpstr>Symbol</vt:lpstr>
      <vt:lpstr>Times New Roman</vt:lpstr>
      <vt:lpstr>Wingdings</vt:lpstr>
      <vt:lpstr>Blends</vt:lpstr>
      <vt:lpstr>Bridges and Cut Points</vt:lpstr>
      <vt:lpstr>Bridges</vt:lpstr>
      <vt:lpstr>PowerPoint 簡報</vt:lpstr>
      <vt:lpstr>PowerPoint 簡報</vt:lpstr>
      <vt:lpstr>PowerPoint 簡報</vt:lpstr>
      <vt:lpstr>PowerPoint 簡報</vt:lpstr>
      <vt:lpstr>Bridges</vt:lpstr>
      <vt:lpstr>Bridges</vt:lpstr>
      <vt:lpstr>PowerPoint 簡報</vt:lpstr>
      <vt:lpstr>Bridges</vt:lpstr>
      <vt:lpstr>PowerPoint 簡報</vt:lpstr>
      <vt:lpstr>PowerPoint 簡報</vt:lpstr>
      <vt:lpstr>PowerPoint 簡報</vt:lpstr>
      <vt:lpstr>PowerPoint 簡報</vt:lpstr>
      <vt:lpstr>PowerPoint 簡報</vt:lpstr>
      <vt:lpstr>Bridges</vt:lpstr>
      <vt:lpstr>PowerPoint 簡報</vt:lpstr>
      <vt:lpstr>How to Compute u.low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Articulation Points (Cut Points)</vt:lpstr>
      <vt:lpstr>Articulation Points (Cut Points)</vt:lpstr>
      <vt:lpstr>PowerPoint 簡報</vt:lpstr>
      <vt:lpstr>PowerPoint 簡報</vt:lpstr>
      <vt:lpstr>PowerPoint 簡報</vt:lpstr>
      <vt:lpstr>Articulation Points (Cut Points)</vt:lpstr>
      <vt:lpstr>Articulation Points (Cut Points)</vt:lpstr>
      <vt:lpstr>Articulation Points (Cut Points)</vt:lpstr>
      <vt:lpstr>Articulation Points (Cut Points)</vt:lpstr>
      <vt:lpstr>Articulation Points (Cut Points)</vt:lpstr>
      <vt:lpstr>PowerPoint 簡報</vt:lpstr>
      <vt:lpstr>PowerPoint 簡報</vt:lpstr>
      <vt:lpstr>PowerPoint 簡報</vt:lpstr>
      <vt:lpstr>Articulation Points (Cut Points)</vt:lpstr>
      <vt:lpstr>PowerPoint 簡報</vt:lpstr>
      <vt:lpstr>PowerPoint 簡報</vt:lpstr>
      <vt:lpstr>Articulation Points (Cut Points)</vt:lpstr>
      <vt:lpstr>Bridges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NCTU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Li Tseng-Kuei</dc:creator>
  <cp:lastModifiedBy>james</cp:lastModifiedBy>
  <cp:revision>1017</cp:revision>
  <dcterms:created xsi:type="dcterms:W3CDTF">2001-09-06T13:56:50Z</dcterms:created>
  <dcterms:modified xsi:type="dcterms:W3CDTF">2025-11-26T11:22:41Z</dcterms:modified>
</cp:coreProperties>
</file>